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61" r:id="rId2"/>
    <p:sldId id="256" r:id="rId3"/>
    <p:sldId id="257" r:id="rId4"/>
    <p:sldId id="258" r:id="rId5"/>
    <p:sldId id="260" r:id="rId6"/>
    <p:sldId id="259" r:id="rId7"/>
    <p:sldId id="263" r:id="rId8"/>
    <p:sldId id="26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38CA47-ABC2-4AE2-AA8D-83A28E7074C3}" type="datetimeFigureOut">
              <a:rPr lang="en-US" smtClean="0"/>
              <a:t>5/28/2022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6C2A04-2DAE-461D-8F97-49DF001C69D3}" type="slidenum">
              <a:rPr lang="en-US" smtClean="0"/>
              <a:t>‹#›</a:t>
            </a:fld>
            <a:endParaRPr lang="en-US"/>
          </a:p>
        </p:txBody>
      </p:sp>
    </p:spTree>
    <p:extLst>
      <p:ext uri="{BB962C8B-B14F-4D97-AF65-F5344CB8AC3E}">
        <p14:creationId xmlns:p14="http://schemas.microsoft.com/office/powerpoint/2010/main" val="5392889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83898AC-0FDB-4687-8000-5A98ED884D70}" type="slidenum">
              <a:rPr lang="en-US" smtClean="0"/>
              <a:t>1</a:t>
            </a:fld>
            <a:endParaRPr lang="en-US"/>
          </a:p>
        </p:txBody>
      </p:sp>
    </p:spTree>
    <p:extLst>
      <p:ext uri="{BB962C8B-B14F-4D97-AF65-F5344CB8AC3E}">
        <p14:creationId xmlns:p14="http://schemas.microsoft.com/office/powerpoint/2010/main" val="47006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76C2A04-2DAE-461D-8F97-49DF001C69D3}" type="slidenum">
              <a:rPr lang="en-US" smtClean="0"/>
              <a:t>7</a:t>
            </a:fld>
            <a:endParaRPr lang="en-US"/>
          </a:p>
        </p:txBody>
      </p:sp>
    </p:spTree>
    <p:extLst>
      <p:ext uri="{BB962C8B-B14F-4D97-AF65-F5344CB8AC3E}">
        <p14:creationId xmlns:p14="http://schemas.microsoft.com/office/powerpoint/2010/main" val="39433241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83898AC-0FDB-4687-8000-5A98ED884D70}" type="slidenum">
              <a:rPr lang="en-US" smtClean="0"/>
              <a:t>8</a:t>
            </a:fld>
            <a:endParaRPr lang="en-US"/>
          </a:p>
        </p:txBody>
      </p:sp>
    </p:spTree>
    <p:extLst>
      <p:ext uri="{BB962C8B-B14F-4D97-AF65-F5344CB8AC3E}">
        <p14:creationId xmlns:p14="http://schemas.microsoft.com/office/powerpoint/2010/main" val="40204599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DEDF0-5A8A-8F63-410D-0B9A8A2942B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8027B0F-0383-F940-901F-54C52E5DC0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E40981E-0237-45DF-A793-E9F958790492}"/>
              </a:ext>
            </a:extLst>
          </p:cNvPr>
          <p:cNvSpPr>
            <a:spLocks noGrp="1"/>
          </p:cNvSpPr>
          <p:nvPr>
            <p:ph type="dt" sz="half" idx="10"/>
          </p:nvPr>
        </p:nvSpPr>
        <p:spPr/>
        <p:txBody>
          <a:bodyPr/>
          <a:lstStyle/>
          <a:p>
            <a:fld id="{C92E11EC-CFA3-464A-BB0B-BC43B55EE191}" type="datetimeFigureOut">
              <a:rPr lang="en-US" smtClean="0"/>
              <a:t>5/28/2022</a:t>
            </a:fld>
            <a:endParaRPr lang="en-US"/>
          </a:p>
        </p:txBody>
      </p:sp>
      <p:sp>
        <p:nvSpPr>
          <p:cNvPr id="5" name="Footer Placeholder 4">
            <a:extLst>
              <a:ext uri="{FF2B5EF4-FFF2-40B4-BE49-F238E27FC236}">
                <a16:creationId xmlns:a16="http://schemas.microsoft.com/office/drawing/2014/main" id="{E9C13C91-A857-154E-1B41-4E040E6D4A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25AB93-7F75-3F78-05DE-E2612AC5183A}"/>
              </a:ext>
            </a:extLst>
          </p:cNvPr>
          <p:cNvSpPr>
            <a:spLocks noGrp="1"/>
          </p:cNvSpPr>
          <p:nvPr>
            <p:ph type="sldNum" sz="quarter" idx="12"/>
          </p:nvPr>
        </p:nvSpPr>
        <p:spPr/>
        <p:txBody>
          <a:bodyPr/>
          <a:lstStyle/>
          <a:p>
            <a:fld id="{EB3832E1-E3DE-437E-92F9-EBFBCBA33286}" type="slidenum">
              <a:rPr lang="en-US" smtClean="0"/>
              <a:t>‹#›</a:t>
            </a:fld>
            <a:endParaRPr lang="en-US"/>
          </a:p>
        </p:txBody>
      </p:sp>
    </p:spTree>
    <p:extLst>
      <p:ext uri="{BB962C8B-B14F-4D97-AF65-F5344CB8AC3E}">
        <p14:creationId xmlns:p14="http://schemas.microsoft.com/office/powerpoint/2010/main" val="19474843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53D1A-870A-8ED3-8ED6-D38B01E473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9140099-B62D-04D4-0A4C-25C8D74E878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2343AD-6930-5B1D-B043-D45B7DF32A28}"/>
              </a:ext>
            </a:extLst>
          </p:cNvPr>
          <p:cNvSpPr>
            <a:spLocks noGrp="1"/>
          </p:cNvSpPr>
          <p:nvPr>
            <p:ph type="dt" sz="half" idx="10"/>
          </p:nvPr>
        </p:nvSpPr>
        <p:spPr/>
        <p:txBody>
          <a:bodyPr/>
          <a:lstStyle/>
          <a:p>
            <a:fld id="{C92E11EC-CFA3-464A-BB0B-BC43B55EE191}" type="datetimeFigureOut">
              <a:rPr lang="en-US" smtClean="0"/>
              <a:t>5/28/2022</a:t>
            </a:fld>
            <a:endParaRPr lang="en-US"/>
          </a:p>
        </p:txBody>
      </p:sp>
      <p:sp>
        <p:nvSpPr>
          <p:cNvPr id="5" name="Footer Placeholder 4">
            <a:extLst>
              <a:ext uri="{FF2B5EF4-FFF2-40B4-BE49-F238E27FC236}">
                <a16:creationId xmlns:a16="http://schemas.microsoft.com/office/drawing/2014/main" id="{7C6AB498-5AB6-897D-C084-4DDF91BA91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61465B-F8DE-9F14-BC84-093CA9B34D82}"/>
              </a:ext>
            </a:extLst>
          </p:cNvPr>
          <p:cNvSpPr>
            <a:spLocks noGrp="1"/>
          </p:cNvSpPr>
          <p:nvPr>
            <p:ph type="sldNum" sz="quarter" idx="12"/>
          </p:nvPr>
        </p:nvSpPr>
        <p:spPr/>
        <p:txBody>
          <a:bodyPr/>
          <a:lstStyle/>
          <a:p>
            <a:fld id="{EB3832E1-E3DE-437E-92F9-EBFBCBA33286}" type="slidenum">
              <a:rPr lang="en-US" smtClean="0"/>
              <a:t>‹#›</a:t>
            </a:fld>
            <a:endParaRPr lang="en-US"/>
          </a:p>
        </p:txBody>
      </p:sp>
    </p:spTree>
    <p:extLst>
      <p:ext uri="{BB962C8B-B14F-4D97-AF65-F5344CB8AC3E}">
        <p14:creationId xmlns:p14="http://schemas.microsoft.com/office/powerpoint/2010/main" val="24271287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321CD-8CEE-17BD-3896-DC748C829AE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6FBA8F9-FA2F-2ACD-C0E9-4722DEE2D70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897A94-7E64-9AB0-F579-F0189812134B}"/>
              </a:ext>
            </a:extLst>
          </p:cNvPr>
          <p:cNvSpPr>
            <a:spLocks noGrp="1"/>
          </p:cNvSpPr>
          <p:nvPr>
            <p:ph type="dt" sz="half" idx="10"/>
          </p:nvPr>
        </p:nvSpPr>
        <p:spPr/>
        <p:txBody>
          <a:bodyPr/>
          <a:lstStyle/>
          <a:p>
            <a:fld id="{C92E11EC-CFA3-464A-BB0B-BC43B55EE191}" type="datetimeFigureOut">
              <a:rPr lang="en-US" smtClean="0"/>
              <a:t>5/28/2022</a:t>
            </a:fld>
            <a:endParaRPr lang="en-US"/>
          </a:p>
        </p:txBody>
      </p:sp>
      <p:sp>
        <p:nvSpPr>
          <p:cNvPr id="5" name="Footer Placeholder 4">
            <a:extLst>
              <a:ext uri="{FF2B5EF4-FFF2-40B4-BE49-F238E27FC236}">
                <a16:creationId xmlns:a16="http://schemas.microsoft.com/office/drawing/2014/main" id="{DDA386C9-BAD6-86DA-8459-EA79725FF7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D9A595-6C8A-BE75-1B94-C65E7FD31F5A}"/>
              </a:ext>
            </a:extLst>
          </p:cNvPr>
          <p:cNvSpPr>
            <a:spLocks noGrp="1"/>
          </p:cNvSpPr>
          <p:nvPr>
            <p:ph type="sldNum" sz="quarter" idx="12"/>
          </p:nvPr>
        </p:nvSpPr>
        <p:spPr/>
        <p:txBody>
          <a:bodyPr/>
          <a:lstStyle/>
          <a:p>
            <a:fld id="{EB3832E1-E3DE-437E-92F9-EBFBCBA33286}" type="slidenum">
              <a:rPr lang="en-US" smtClean="0"/>
              <a:t>‹#›</a:t>
            </a:fld>
            <a:endParaRPr lang="en-US"/>
          </a:p>
        </p:txBody>
      </p:sp>
    </p:spTree>
    <p:extLst>
      <p:ext uri="{BB962C8B-B14F-4D97-AF65-F5344CB8AC3E}">
        <p14:creationId xmlns:p14="http://schemas.microsoft.com/office/powerpoint/2010/main" val="782340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D88A0-34BC-1883-7EB2-70F3869BDB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67C33A-A52D-ABCB-597C-9BBC428FA2E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ABF6035-1405-321A-9750-8CA3BC958A7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7B92AAC-EED8-FE4C-EDBD-3611FFB4C2A3}"/>
              </a:ext>
            </a:extLst>
          </p:cNvPr>
          <p:cNvSpPr>
            <a:spLocks noGrp="1"/>
          </p:cNvSpPr>
          <p:nvPr>
            <p:ph type="dt" sz="half" idx="10"/>
          </p:nvPr>
        </p:nvSpPr>
        <p:spPr/>
        <p:txBody>
          <a:bodyPr/>
          <a:lstStyle/>
          <a:p>
            <a:fld id="{C92E11EC-CFA3-464A-BB0B-BC43B55EE191}" type="datetimeFigureOut">
              <a:rPr lang="en-US" smtClean="0"/>
              <a:t>5/28/2022</a:t>
            </a:fld>
            <a:endParaRPr lang="en-US"/>
          </a:p>
        </p:txBody>
      </p:sp>
      <p:sp>
        <p:nvSpPr>
          <p:cNvPr id="6" name="Footer Placeholder 5">
            <a:extLst>
              <a:ext uri="{FF2B5EF4-FFF2-40B4-BE49-F238E27FC236}">
                <a16:creationId xmlns:a16="http://schemas.microsoft.com/office/drawing/2014/main" id="{98107C30-E824-0CB0-8181-C338467081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B41BC19-EBE0-3337-F996-D066972EF414}"/>
              </a:ext>
            </a:extLst>
          </p:cNvPr>
          <p:cNvSpPr>
            <a:spLocks noGrp="1"/>
          </p:cNvSpPr>
          <p:nvPr>
            <p:ph type="sldNum" sz="quarter" idx="12"/>
          </p:nvPr>
        </p:nvSpPr>
        <p:spPr/>
        <p:txBody>
          <a:bodyPr/>
          <a:lstStyle/>
          <a:p>
            <a:fld id="{EB3832E1-E3DE-437E-92F9-EBFBCBA33286}" type="slidenum">
              <a:rPr lang="en-US" smtClean="0"/>
              <a:t>‹#›</a:t>
            </a:fld>
            <a:endParaRPr lang="en-US"/>
          </a:p>
        </p:txBody>
      </p:sp>
    </p:spTree>
    <p:extLst>
      <p:ext uri="{BB962C8B-B14F-4D97-AF65-F5344CB8AC3E}">
        <p14:creationId xmlns:p14="http://schemas.microsoft.com/office/powerpoint/2010/main" val="20593830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B2AA5-30BA-E7D0-21D7-C110D73CA31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ABE3DC4-B0E2-C97B-1ABC-AB396524A39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626BA2B-F042-89AB-5813-79E64FF64E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23FDBD2-AB2C-8F2B-F586-49668223E6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6D2122-DB9F-1A7E-E65E-6CC1D2BCA8C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5E33B8A-964D-0ABF-848A-4E0533C0ADE9}"/>
              </a:ext>
            </a:extLst>
          </p:cNvPr>
          <p:cNvSpPr>
            <a:spLocks noGrp="1"/>
          </p:cNvSpPr>
          <p:nvPr>
            <p:ph type="dt" sz="half" idx="10"/>
          </p:nvPr>
        </p:nvSpPr>
        <p:spPr/>
        <p:txBody>
          <a:bodyPr/>
          <a:lstStyle/>
          <a:p>
            <a:fld id="{C92E11EC-CFA3-464A-BB0B-BC43B55EE191}" type="datetimeFigureOut">
              <a:rPr lang="en-US" smtClean="0"/>
              <a:t>5/28/2022</a:t>
            </a:fld>
            <a:endParaRPr lang="en-US"/>
          </a:p>
        </p:txBody>
      </p:sp>
      <p:sp>
        <p:nvSpPr>
          <p:cNvPr id="8" name="Footer Placeholder 7">
            <a:extLst>
              <a:ext uri="{FF2B5EF4-FFF2-40B4-BE49-F238E27FC236}">
                <a16:creationId xmlns:a16="http://schemas.microsoft.com/office/drawing/2014/main" id="{75C597F7-B608-683D-F8D4-7DB6AE41BD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6AF436F-59E9-AB9D-F3B2-BBF20CDD8C1A}"/>
              </a:ext>
            </a:extLst>
          </p:cNvPr>
          <p:cNvSpPr>
            <a:spLocks noGrp="1"/>
          </p:cNvSpPr>
          <p:nvPr>
            <p:ph type="sldNum" sz="quarter" idx="12"/>
          </p:nvPr>
        </p:nvSpPr>
        <p:spPr/>
        <p:txBody>
          <a:bodyPr/>
          <a:lstStyle/>
          <a:p>
            <a:fld id="{EB3832E1-E3DE-437E-92F9-EBFBCBA33286}" type="slidenum">
              <a:rPr lang="en-US" smtClean="0"/>
              <a:t>‹#›</a:t>
            </a:fld>
            <a:endParaRPr lang="en-US"/>
          </a:p>
        </p:txBody>
      </p:sp>
    </p:spTree>
    <p:extLst>
      <p:ext uri="{BB962C8B-B14F-4D97-AF65-F5344CB8AC3E}">
        <p14:creationId xmlns:p14="http://schemas.microsoft.com/office/powerpoint/2010/main" val="30175113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3E5B8-E0C8-4E6F-C492-4DF08C19E6C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E6CA719-0976-6175-DA94-AFE7D964DF56}"/>
              </a:ext>
            </a:extLst>
          </p:cNvPr>
          <p:cNvSpPr>
            <a:spLocks noGrp="1"/>
          </p:cNvSpPr>
          <p:nvPr>
            <p:ph type="dt" sz="half" idx="10"/>
          </p:nvPr>
        </p:nvSpPr>
        <p:spPr/>
        <p:txBody>
          <a:bodyPr/>
          <a:lstStyle/>
          <a:p>
            <a:fld id="{C92E11EC-CFA3-464A-BB0B-BC43B55EE191}" type="datetimeFigureOut">
              <a:rPr lang="en-US" smtClean="0"/>
              <a:t>5/28/2022</a:t>
            </a:fld>
            <a:endParaRPr lang="en-US"/>
          </a:p>
        </p:txBody>
      </p:sp>
      <p:sp>
        <p:nvSpPr>
          <p:cNvPr id="4" name="Footer Placeholder 3">
            <a:extLst>
              <a:ext uri="{FF2B5EF4-FFF2-40B4-BE49-F238E27FC236}">
                <a16:creationId xmlns:a16="http://schemas.microsoft.com/office/drawing/2014/main" id="{67765229-6155-65FA-0FA1-826CBEB14F6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C5A4279-31DB-A5EC-8C44-4EFEE6CE27D5}"/>
              </a:ext>
            </a:extLst>
          </p:cNvPr>
          <p:cNvSpPr>
            <a:spLocks noGrp="1"/>
          </p:cNvSpPr>
          <p:nvPr>
            <p:ph type="sldNum" sz="quarter" idx="12"/>
          </p:nvPr>
        </p:nvSpPr>
        <p:spPr/>
        <p:txBody>
          <a:bodyPr/>
          <a:lstStyle/>
          <a:p>
            <a:fld id="{EB3832E1-E3DE-437E-92F9-EBFBCBA33286}" type="slidenum">
              <a:rPr lang="en-US" smtClean="0"/>
              <a:t>‹#›</a:t>
            </a:fld>
            <a:endParaRPr lang="en-US"/>
          </a:p>
        </p:txBody>
      </p:sp>
    </p:spTree>
    <p:extLst>
      <p:ext uri="{BB962C8B-B14F-4D97-AF65-F5344CB8AC3E}">
        <p14:creationId xmlns:p14="http://schemas.microsoft.com/office/powerpoint/2010/main" val="23748545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D11BA4E-4B1A-7E53-17B0-68CE9CD230B5}"/>
              </a:ext>
            </a:extLst>
          </p:cNvPr>
          <p:cNvSpPr>
            <a:spLocks noGrp="1"/>
          </p:cNvSpPr>
          <p:nvPr>
            <p:ph type="dt" sz="half" idx="10"/>
          </p:nvPr>
        </p:nvSpPr>
        <p:spPr/>
        <p:txBody>
          <a:bodyPr/>
          <a:lstStyle/>
          <a:p>
            <a:fld id="{C92E11EC-CFA3-464A-BB0B-BC43B55EE191}" type="datetimeFigureOut">
              <a:rPr lang="en-US" smtClean="0"/>
              <a:t>5/28/2022</a:t>
            </a:fld>
            <a:endParaRPr lang="en-US"/>
          </a:p>
        </p:txBody>
      </p:sp>
      <p:sp>
        <p:nvSpPr>
          <p:cNvPr id="3" name="Footer Placeholder 2">
            <a:extLst>
              <a:ext uri="{FF2B5EF4-FFF2-40B4-BE49-F238E27FC236}">
                <a16:creationId xmlns:a16="http://schemas.microsoft.com/office/drawing/2014/main" id="{EF114F2B-D70B-1FE0-1856-1A2D86E72C1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0CF4560-05F6-EC59-00ED-9D43470547D9}"/>
              </a:ext>
            </a:extLst>
          </p:cNvPr>
          <p:cNvSpPr>
            <a:spLocks noGrp="1"/>
          </p:cNvSpPr>
          <p:nvPr>
            <p:ph type="sldNum" sz="quarter" idx="12"/>
          </p:nvPr>
        </p:nvSpPr>
        <p:spPr/>
        <p:txBody>
          <a:bodyPr/>
          <a:lstStyle/>
          <a:p>
            <a:fld id="{EB3832E1-E3DE-437E-92F9-EBFBCBA33286}" type="slidenum">
              <a:rPr lang="en-US" smtClean="0"/>
              <a:t>‹#›</a:t>
            </a:fld>
            <a:endParaRPr lang="en-US"/>
          </a:p>
        </p:txBody>
      </p:sp>
    </p:spTree>
    <p:extLst>
      <p:ext uri="{BB962C8B-B14F-4D97-AF65-F5344CB8AC3E}">
        <p14:creationId xmlns:p14="http://schemas.microsoft.com/office/powerpoint/2010/main" val="12423379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B1435-0AD3-1217-E351-C8CC6665D1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34CAD0D-D87B-5DF5-28DA-CD32729E93E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7701A89-0078-BA0C-6625-A61E1A606D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2B2B98-DE7F-5904-A246-8735F9AB00B0}"/>
              </a:ext>
            </a:extLst>
          </p:cNvPr>
          <p:cNvSpPr>
            <a:spLocks noGrp="1"/>
          </p:cNvSpPr>
          <p:nvPr>
            <p:ph type="dt" sz="half" idx="10"/>
          </p:nvPr>
        </p:nvSpPr>
        <p:spPr/>
        <p:txBody>
          <a:bodyPr/>
          <a:lstStyle/>
          <a:p>
            <a:fld id="{C92E11EC-CFA3-464A-BB0B-BC43B55EE191}" type="datetimeFigureOut">
              <a:rPr lang="en-US" smtClean="0"/>
              <a:t>5/28/2022</a:t>
            </a:fld>
            <a:endParaRPr lang="en-US"/>
          </a:p>
        </p:txBody>
      </p:sp>
      <p:sp>
        <p:nvSpPr>
          <p:cNvPr id="6" name="Footer Placeholder 5">
            <a:extLst>
              <a:ext uri="{FF2B5EF4-FFF2-40B4-BE49-F238E27FC236}">
                <a16:creationId xmlns:a16="http://schemas.microsoft.com/office/drawing/2014/main" id="{E317FC15-39CC-72A0-A1B4-D2DA3E931C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357F5E-E25C-E51D-5402-E411057FD06A}"/>
              </a:ext>
            </a:extLst>
          </p:cNvPr>
          <p:cNvSpPr>
            <a:spLocks noGrp="1"/>
          </p:cNvSpPr>
          <p:nvPr>
            <p:ph type="sldNum" sz="quarter" idx="12"/>
          </p:nvPr>
        </p:nvSpPr>
        <p:spPr/>
        <p:txBody>
          <a:bodyPr/>
          <a:lstStyle/>
          <a:p>
            <a:fld id="{EB3832E1-E3DE-437E-92F9-EBFBCBA33286}" type="slidenum">
              <a:rPr lang="en-US" smtClean="0"/>
              <a:t>‹#›</a:t>
            </a:fld>
            <a:endParaRPr lang="en-US"/>
          </a:p>
        </p:txBody>
      </p:sp>
    </p:spTree>
    <p:extLst>
      <p:ext uri="{BB962C8B-B14F-4D97-AF65-F5344CB8AC3E}">
        <p14:creationId xmlns:p14="http://schemas.microsoft.com/office/powerpoint/2010/main" val="952878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EFA7B-3FE5-1801-0CCE-91B2CB23CB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8B6F878-3341-A2E5-0FA1-C1ED2D230CE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1759767-A220-99A6-FA99-05D8EC4349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B6D3D2-E4B8-E65E-23B3-C0DEF34524B6}"/>
              </a:ext>
            </a:extLst>
          </p:cNvPr>
          <p:cNvSpPr>
            <a:spLocks noGrp="1"/>
          </p:cNvSpPr>
          <p:nvPr>
            <p:ph type="dt" sz="half" idx="10"/>
          </p:nvPr>
        </p:nvSpPr>
        <p:spPr/>
        <p:txBody>
          <a:bodyPr/>
          <a:lstStyle/>
          <a:p>
            <a:fld id="{C92E11EC-CFA3-464A-BB0B-BC43B55EE191}" type="datetimeFigureOut">
              <a:rPr lang="en-US" smtClean="0"/>
              <a:t>5/28/2022</a:t>
            </a:fld>
            <a:endParaRPr lang="en-US"/>
          </a:p>
        </p:txBody>
      </p:sp>
      <p:sp>
        <p:nvSpPr>
          <p:cNvPr id="6" name="Footer Placeholder 5">
            <a:extLst>
              <a:ext uri="{FF2B5EF4-FFF2-40B4-BE49-F238E27FC236}">
                <a16:creationId xmlns:a16="http://schemas.microsoft.com/office/drawing/2014/main" id="{02CD2ECC-96EF-B987-3FE7-3947F814B0C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9DAE9FA-6886-D32C-EB33-36D0EFF0D015}"/>
              </a:ext>
            </a:extLst>
          </p:cNvPr>
          <p:cNvSpPr>
            <a:spLocks noGrp="1"/>
          </p:cNvSpPr>
          <p:nvPr>
            <p:ph type="sldNum" sz="quarter" idx="12"/>
          </p:nvPr>
        </p:nvSpPr>
        <p:spPr/>
        <p:txBody>
          <a:bodyPr/>
          <a:lstStyle/>
          <a:p>
            <a:fld id="{EB3832E1-E3DE-437E-92F9-EBFBCBA33286}" type="slidenum">
              <a:rPr lang="en-US" smtClean="0"/>
              <a:t>‹#›</a:t>
            </a:fld>
            <a:endParaRPr lang="en-US"/>
          </a:p>
        </p:txBody>
      </p:sp>
    </p:spTree>
    <p:extLst>
      <p:ext uri="{BB962C8B-B14F-4D97-AF65-F5344CB8AC3E}">
        <p14:creationId xmlns:p14="http://schemas.microsoft.com/office/powerpoint/2010/main" val="16071946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368BE-3A70-4F8B-650A-8FE87524434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65EA2D2-B70D-2EE4-5B4F-A1A745EDF7D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E3EE9F-3AD1-C241-A722-8B466A96E59B}"/>
              </a:ext>
            </a:extLst>
          </p:cNvPr>
          <p:cNvSpPr>
            <a:spLocks noGrp="1"/>
          </p:cNvSpPr>
          <p:nvPr>
            <p:ph type="dt" sz="half" idx="10"/>
          </p:nvPr>
        </p:nvSpPr>
        <p:spPr/>
        <p:txBody>
          <a:bodyPr/>
          <a:lstStyle/>
          <a:p>
            <a:fld id="{C92E11EC-CFA3-464A-BB0B-BC43B55EE191}" type="datetimeFigureOut">
              <a:rPr lang="en-US" smtClean="0"/>
              <a:t>5/28/2022</a:t>
            </a:fld>
            <a:endParaRPr lang="en-US"/>
          </a:p>
        </p:txBody>
      </p:sp>
      <p:sp>
        <p:nvSpPr>
          <p:cNvPr id="5" name="Footer Placeholder 4">
            <a:extLst>
              <a:ext uri="{FF2B5EF4-FFF2-40B4-BE49-F238E27FC236}">
                <a16:creationId xmlns:a16="http://schemas.microsoft.com/office/drawing/2014/main" id="{A28B31B2-6C2B-6F0E-2383-AE63D48E79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30320E-701B-CCB5-DBE8-1BA510F28A19}"/>
              </a:ext>
            </a:extLst>
          </p:cNvPr>
          <p:cNvSpPr>
            <a:spLocks noGrp="1"/>
          </p:cNvSpPr>
          <p:nvPr>
            <p:ph type="sldNum" sz="quarter" idx="12"/>
          </p:nvPr>
        </p:nvSpPr>
        <p:spPr/>
        <p:txBody>
          <a:bodyPr/>
          <a:lstStyle/>
          <a:p>
            <a:fld id="{EB3832E1-E3DE-437E-92F9-EBFBCBA33286}" type="slidenum">
              <a:rPr lang="en-US" smtClean="0"/>
              <a:t>‹#›</a:t>
            </a:fld>
            <a:endParaRPr lang="en-US"/>
          </a:p>
        </p:txBody>
      </p:sp>
    </p:spTree>
    <p:extLst>
      <p:ext uri="{BB962C8B-B14F-4D97-AF65-F5344CB8AC3E}">
        <p14:creationId xmlns:p14="http://schemas.microsoft.com/office/powerpoint/2010/main" val="19304600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D77F05C-5F94-C4EF-B361-E9186693272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DDBCF06-4856-A55B-7C6A-943A6D9F26D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F5C4FA-CFBD-580A-1BEB-02B280144F5E}"/>
              </a:ext>
            </a:extLst>
          </p:cNvPr>
          <p:cNvSpPr>
            <a:spLocks noGrp="1"/>
          </p:cNvSpPr>
          <p:nvPr>
            <p:ph type="dt" sz="half" idx="10"/>
          </p:nvPr>
        </p:nvSpPr>
        <p:spPr/>
        <p:txBody>
          <a:bodyPr/>
          <a:lstStyle/>
          <a:p>
            <a:fld id="{C92E11EC-CFA3-464A-BB0B-BC43B55EE191}" type="datetimeFigureOut">
              <a:rPr lang="en-US" smtClean="0"/>
              <a:t>5/28/2022</a:t>
            </a:fld>
            <a:endParaRPr lang="en-US"/>
          </a:p>
        </p:txBody>
      </p:sp>
      <p:sp>
        <p:nvSpPr>
          <p:cNvPr id="5" name="Footer Placeholder 4">
            <a:extLst>
              <a:ext uri="{FF2B5EF4-FFF2-40B4-BE49-F238E27FC236}">
                <a16:creationId xmlns:a16="http://schemas.microsoft.com/office/drawing/2014/main" id="{3AC9648C-C058-C3F9-3FCA-1651C0B101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E64531-191A-BA37-3451-5BF499F1A4B1}"/>
              </a:ext>
            </a:extLst>
          </p:cNvPr>
          <p:cNvSpPr>
            <a:spLocks noGrp="1"/>
          </p:cNvSpPr>
          <p:nvPr>
            <p:ph type="sldNum" sz="quarter" idx="12"/>
          </p:nvPr>
        </p:nvSpPr>
        <p:spPr/>
        <p:txBody>
          <a:bodyPr/>
          <a:lstStyle/>
          <a:p>
            <a:fld id="{EB3832E1-E3DE-437E-92F9-EBFBCBA33286}" type="slidenum">
              <a:rPr lang="en-US" smtClean="0"/>
              <a:t>‹#›</a:t>
            </a:fld>
            <a:endParaRPr lang="en-US"/>
          </a:p>
        </p:txBody>
      </p:sp>
    </p:spTree>
    <p:extLst>
      <p:ext uri="{BB962C8B-B14F-4D97-AF65-F5344CB8AC3E}">
        <p14:creationId xmlns:p14="http://schemas.microsoft.com/office/powerpoint/2010/main" val="33708577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7F2966F-FF31-D291-302A-019A297425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F37E8E3-7098-A015-17D2-39B4DAECBFA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5503F9-B484-754D-AF0D-6458E02BB9F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92E11EC-CFA3-464A-BB0B-BC43B55EE191}" type="datetimeFigureOut">
              <a:rPr lang="en-US" smtClean="0"/>
              <a:t>5/28/2022</a:t>
            </a:fld>
            <a:endParaRPr lang="en-US"/>
          </a:p>
        </p:txBody>
      </p:sp>
      <p:sp>
        <p:nvSpPr>
          <p:cNvPr id="5" name="Footer Placeholder 4">
            <a:extLst>
              <a:ext uri="{FF2B5EF4-FFF2-40B4-BE49-F238E27FC236}">
                <a16:creationId xmlns:a16="http://schemas.microsoft.com/office/drawing/2014/main" id="{BF0BBAB5-2F16-EFE4-EC3A-3F73E45D65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35E3E78-E7B0-E68D-16FF-90EDF09B684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3832E1-E3DE-437E-92F9-EBFBCBA33286}" type="slidenum">
              <a:rPr lang="en-US" smtClean="0"/>
              <a:t>‹#›</a:t>
            </a:fld>
            <a:endParaRPr lang="en-US"/>
          </a:p>
        </p:txBody>
      </p:sp>
    </p:spTree>
    <p:extLst>
      <p:ext uri="{BB962C8B-B14F-4D97-AF65-F5344CB8AC3E}">
        <p14:creationId xmlns:p14="http://schemas.microsoft.com/office/powerpoint/2010/main" val="37986185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hyperlink" Target="Cost%20and%20Revenue%20Structure_Mohit%20Kiradoo_TAPMI.docx"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hyperlink" Target="https://www.linkedin.com/in/mohitkiradoo/"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C93039E7-1F94-4787-A276-94CB5732F18D}"/>
              </a:ext>
            </a:extLst>
          </p:cNvPr>
          <p:cNvSpPr/>
          <p:nvPr/>
        </p:nvSpPr>
        <p:spPr>
          <a:xfrm>
            <a:off x="2942895" y="1923017"/>
            <a:ext cx="6306207" cy="3142593"/>
          </a:xfrm>
          <a:prstGeom prst="roundRect">
            <a:avLst/>
          </a:prstGeom>
          <a:solidFill>
            <a:schemeClr val="bg1"/>
          </a:solidFill>
          <a:effectLst>
            <a:glow rad="228600">
              <a:schemeClr val="accent3">
                <a:satMod val="175000"/>
                <a:alpha val="40000"/>
              </a:schemeClr>
            </a:glow>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1">
            <a:extLst>
              <a:ext uri="{FF2B5EF4-FFF2-40B4-BE49-F238E27FC236}">
                <a16:creationId xmlns:a16="http://schemas.microsoft.com/office/drawing/2014/main" id="{CBF0192A-AF3A-4016-B0A6-63B3F88042A2}"/>
              </a:ext>
            </a:extLst>
          </p:cNvPr>
          <p:cNvSpPr>
            <a:spLocks noGrp="1"/>
          </p:cNvSpPr>
          <p:nvPr>
            <p:ph type="ctrTitle"/>
          </p:nvPr>
        </p:nvSpPr>
        <p:spPr>
          <a:xfrm>
            <a:off x="6044572" y="2514132"/>
            <a:ext cx="2102069" cy="620495"/>
          </a:xfrm>
        </p:spPr>
        <p:txBody>
          <a:bodyPr>
            <a:normAutofit fontScale="90000"/>
          </a:bodyPr>
          <a:lstStyle/>
          <a:p>
            <a:r>
              <a:rPr lang="en-IN" sz="4000" b="1" dirty="0"/>
              <a:t>Workezy</a:t>
            </a:r>
          </a:p>
        </p:txBody>
      </p:sp>
      <p:sp>
        <p:nvSpPr>
          <p:cNvPr id="3" name="Subtitle 2">
            <a:extLst>
              <a:ext uri="{FF2B5EF4-FFF2-40B4-BE49-F238E27FC236}">
                <a16:creationId xmlns:a16="http://schemas.microsoft.com/office/drawing/2014/main" id="{CA9934F3-29D2-4808-9C6E-BD0C4EB0DD68}"/>
              </a:ext>
            </a:extLst>
          </p:cNvPr>
          <p:cNvSpPr>
            <a:spLocks noGrp="1"/>
          </p:cNvSpPr>
          <p:nvPr>
            <p:ph type="subTitle" idx="1"/>
          </p:nvPr>
        </p:nvSpPr>
        <p:spPr>
          <a:xfrm>
            <a:off x="5821039" y="3007754"/>
            <a:ext cx="2549137" cy="532106"/>
          </a:xfrm>
        </p:spPr>
        <p:txBody>
          <a:bodyPr>
            <a:noAutofit/>
          </a:bodyPr>
          <a:lstStyle/>
          <a:p>
            <a:r>
              <a:rPr lang="en-IN" sz="2000" dirty="0"/>
              <a:t>Case Study Challenge</a:t>
            </a:r>
          </a:p>
        </p:txBody>
      </p:sp>
      <p:pic>
        <p:nvPicPr>
          <p:cNvPr id="11" name="Picture 10" descr="A person wearing glasses and a suit&#10;&#10;Description automatically generated with medium confidence">
            <a:extLst>
              <a:ext uri="{FF2B5EF4-FFF2-40B4-BE49-F238E27FC236}">
                <a16:creationId xmlns:a16="http://schemas.microsoft.com/office/drawing/2014/main" id="{A034D660-8DD3-4114-8E08-A7BE19B354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96908" y="2514132"/>
            <a:ext cx="1545205" cy="1829735"/>
          </a:xfrm>
          <a:prstGeom prst="rect">
            <a:avLst/>
          </a:prstGeom>
          <a:effectLst>
            <a:outerShdw blurRad="50800" dist="38100" dir="2700000" algn="tl" rotWithShape="0">
              <a:prstClr val="black">
                <a:alpha val="40000"/>
              </a:prstClr>
            </a:outerShdw>
          </a:effectLst>
        </p:spPr>
      </p:pic>
      <p:sp>
        <p:nvSpPr>
          <p:cNvPr id="15" name="Subtitle 2">
            <a:extLst>
              <a:ext uri="{FF2B5EF4-FFF2-40B4-BE49-F238E27FC236}">
                <a16:creationId xmlns:a16="http://schemas.microsoft.com/office/drawing/2014/main" id="{D6CBFF5F-823A-4EB1-A9E4-94A632137C42}"/>
              </a:ext>
            </a:extLst>
          </p:cNvPr>
          <p:cNvSpPr txBox="1">
            <a:spLocks/>
          </p:cNvSpPr>
          <p:nvPr/>
        </p:nvSpPr>
        <p:spPr>
          <a:xfrm>
            <a:off x="1787556" y="4381826"/>
            <a:ext cx="4763907" cy="29730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1600" b="1" dirty="0"/>
              <a:t>Mohit Kiradoo</a:t>
            </a:r>
          </a:p>
        </p:txBody>
      </p:sp>
      <p:sp>
        <p:nvSpPr>
          <p:cNvPr id="16" name="Subtitle 2">
            <a:extLst>
              <a:ext uri="{FF2B5EF4-FFF2-40B4-BE49-F238E27FC236}">
                <a16:creationId xmlns:a16="http://schemas.microsoft.com/office/drawing/2014/main" id="{A1F977C5-A5FE-4473-9D65-6AD681E0762E}"/>
              </a:ext>
            </a:extLst>
          </p:cNvPr>
          <p:cNvSpPr txBox="1">
            <a:spLocks/>
          </p:cNvSpPr>
          <p:nvPr/>
        </p:nvSpPr>
        <p:spPr>
          <a:xfrm>
            <a:off x="1743285" y="4616200"/>
            <a:ext cx="4763907" cy="29730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1600" b="1" dirty="0"/>
              <a:t>TAPMI</a:t>
            </a:r>
          </a:p>
        </p:txBody>
      </p:sp>
      <p:pic>
        <p:nvPicPr>
          <p:cNvPr id="6" name="Picture 5" descr="A picture containing text, clipart&#10;&#10;Description automatically generated">
            <a:extLst>
              <a:ext uri="{FF2B5EF4-FFF2-40B4-BE49-F238E27FC236}">
                <a16:creationId xmlns:a16="http://schemas.microsoft.com/office/drawing/2014/main" id="{5EB62CDD-9134-51CF-C22F-F3307BFF4EC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91419" y="3535211"/>
            <a:ext cx="3008376" cy="80772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0765498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F7065720-CF82-395F-CC07-09650BD11A08}"/>
              </a:ext>
            </a:extLst>
          </p:cNvPr>
          <p:cNvCxnSpPr>
            <a:cxnSpLocks/>
          </p:cNvCxnSpPr>
          <p:nvPr/>
        </p:nvCxnSpPr>
        <p:spPr>
          <a:xfrm>
            <a:off x="6096000" y="3113313"/>
            <a:ext cx="0" cy="3603174"/>
          </a:xfrm>
          <a:prstGeom prst="line">
            <a:avLst/>
          </a:prstGeom>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46C96B03-6A4A-A296-B439-39C253DBE848}"/>
              </a:ext>
            </a:extLst>
          </p:cNvPr>
          <p:cNvSpPr/>
          <p:nvPr/>
        </p:nvSpPr>
        <p:spPr>
          <a:xfrm>
            <a:off x="185059" y="3113313"/>
            <a:ext cx="5540828" cy="3603174"/>
          </a:xfrm>
          <a:prstGeom prst="rect">
            <a:avLst/>
          </a:prstGeom>
          <a:ln>
            <a:solidFill>
              <a:schemeClr val="accent1"/>
            </a:solidFill>
            <a:prstDash val="dash"/>
          </a:ln>
        </p:spPr>
        <p:style>
          <a:lnRef idx="2">
            <a:schemeClr val="accent6"/>
          </a:lnRef>
          <a:fillRef idx="1">
            <a:schemeClr val="lt1"/>
          </a:fillRef>
          <a:effectRef idx="0">
            <a:schemeClr val="accent6"/>
          </a:effectRef>
          <a:fontRef idx="minor">
            <a:schemeClr val="dk1"/>
          </a:fontRef>
        </p:style>
        <p:txBody>
          <a:bodyPr rtlCol="0" anchor="t"/>
          <a:lstStyle/>
          <a:p>
            <a:r>
              <a:rPr lang="en-IN" sz="1600" b="1" dirty="0"/>
              <a:t>SITUATION</a:t>
            </a:r>
          </a:p>
          <a:p>
            <a:endParaRPr lang="en-IN" sz="1600" b="1" dirty="0"/>
          </a:p>
          <a:p>
            <a:pPr marL="342900" indent="-342900">
              <a:buAutoNum type="arabicPeriod"/>
            </a:pPr>
            <a:r>
              <a:rPr lang="en-IN" sz="1600" dirty="0"/>
              <a:t>Marginal Growth Rate is decreasing even though booking is increasing month on month.</a:t>
            </a:r>
          </a:p>
          <a:p>
            <a:pPr marL="342900" indent="-342900">
              <a:buAutoNum type="arabicPeriod"/>
            </a:pPr>
            <a:r>
              <a:rPr lang="en-IN" sz="1600" dirty="0"/>
              <a:t>Overall growth of the company is being obstructed by the decreased marginal growth.</a:t>
            </a:r>
          </a:p>
          <a:p>
            <a:pPr marL="342900" indent="-342900">
              <a:buAutoNum type="arabicPeriod"/>
            </a:pPr>
            <a:r>
              <a:rPr lang="en-IN" sz="1600" dirty="0"/>
              <a:t>Lack of awareness among the consumers.</a:t>
            </a:r>
          </a:p>
          <a:p>
            <a:pPr marL="342900" indent="-342900">
              <a:buAutoNum type="arabicPeriod"/>
            </a:pPr>
            <a:r>
              <a:rPr lang="en-IN" sz="1600" dirty="0"/>
              <a:t>Booking for on demand services have been decreasing marginally.</a:t>
            </a:r>
          </a:p>
          <a:p>
            <a:pPr marL="342900" indent="-342900">
              <a:buAutoNum type="arabicPeriod"/>
            </a:pPr>
            <a:r>
              <a:rPr lang="en-IN" sz="1600" dirty="0"/>
              <a:t>Booking for monthly services is consistent but due to worker unavailability it remains unfulfilled.</a:t>
            </a:r>
          </a:p>
          <a:p>
            <a:pPr marL="342900" indent="-342900">
              <a:buAutoNum type="arabicPeriod"/>
            </a:pPr>
            <a:r>
              <a:rPr lang="en-IN" sz="1600" dirty="0"/>
              <a:t>Marketing ROI is lower than expected.</a:t>
            </a:r>
          </a:p>
          <a:p>
            <a:pPr marL="342900" indent="-342900">
              <a:buAutoNum type="arabicPeriod"/>
            </a:pPr>
            <a:r>
              <a:rPr lang="en-IN" sz="1600" dirty="0"/>
              <a:t>Bookings are majorly dependent on cold calling and pamphlet distribution.</a:t>
            </a:r>
          </a:p>
          <a:p>
            <a:pPr marL="342900" indent="-342900">
              <a:buAutoNum type="arabicPeriod"/>
            </a:pPr>
            <a:endParaRPr lang="en-US" sz="1600" dirty="0"/>
          </a:p>
        </p:txBody>
      </p:sp>
      <p:sp>
        <p:nvSpPr>
          <p:cNvPr id="16" name="Rectangle 15">
            <a:extLst>
              <a:ext uri="{FF2B5EF4-FFF2-40B4-BE49-F238E27FC236}">
                <a16:creationId xmlns:a16="http://schemas.microsoft.com/office/drawing/2014/main" id="{0AA429E7-468D-CF4D-F3B4-3AD341C0446D}"/>
              </a:ext>
            </a:extLst>
          </p:cNvPr>
          <p:cNvSpPr/>
          <p:nvPr/>
        </p:nvSpPr>
        <p:spPr>
          <a:xfrm>
            <a:off x="6466115" y="3113313"/>
            <a:ext cx="5540828" cy="3603174"/>
          </a:xfrm>
          <a:prstGeom prst="rect">
            <a:avLst/>
          </a:prstGeom>
          <a:ln>
            <a:solidFill>
              <a:schemeClr val="accent1"/>
            </a:solidFill>
            <a:prstDash val="dash"/>
          </a:ln>
        </p:spPr>
        <p:style>
          <a:lnRef idx="2">
            <a:schemeClr val="accent6"/>
          </a:lnRef>
          <a:fillRef idx="1">
            <a:schemeClr val="lt1"/>
          </a:fillRef>
          <a:effectRef idx="0">
            <a:schemeClr val="accent6"/>
          </a:effectRef>
          <a:fontRef idx="minor">
            <a:schemeClr val="dk1"/>
          </a:fontRef>
        </p:style>
        <p:txBody>
          <a:bodyPr rtlCol="0" anchor="t"/>
          <a:lstStyle/>
          <a:p>
            <a:r>
              <a:rPr lang="en-IN" sz="1600" b="1" dirty="0"/>
              <a:t>TASK</a:t>
            </a:r>
          </a:p>
          <a:p>
            <a:endParaRPr lang="en-IN" sz="1600" b="1" dirty="0"/>
          </a:p>
          <a:p>
            <a:pPr marL="342900" indent="-342900">
              <a:buAutoNum type="arabicPeriod"/>
            </a:pPr>
            <a:r>
              <a:rPr lang="en-IN" sz="1600" dirty="0"/>
              <a:t>To increase the awareness about the brand and different services among the consumers in Lucknow</a:t>
            </a:r>
          </a:p>
          <a:p>
            <a:pPr marL="342900" indent="-342900">
              <a:buAutoNum type="arabicPeriod"/>
            </a:pPr>
            <a:r>
              <a:rPr lang="en-IN" sz="1600" dirty="0"/>
              <a:t>To deliver the company’s USP and Brand Message among the consumers (Target Audience correctly)</a:t>
            </a:r>
          </a:p>
          <a:p>
            <a:pPr marL="342900" indent="-342900">
              <a:buAutoNum type="arabicPeriod"/>
            </a:pPr>
            <a:r>
              <a:rPr lang="en-IN" sz="1600" dirty="0"/>
              <a:t>Trend analysis and demand analysis of monthly services with existing data (internal and external) to forecast demand and accommodate workers availability</a:t>
            </a:r>
          </a:p>
          <a:p>
            <a:pPr marL="342900" indent="-342900">
              <a:buAutoNum type="arabicPeriod"/>
            </a:pPr>
            <a:r>
              <a:rPr lang="en-IN" sz="1600" dirty="0"/>
              <a:t>To increase the marketing ROI </a:t>
            </a:r>
          </a:p>
          <a:p>
            <a:pPr marL="342900" indent="-342900">
              <a:buAutoNum type="arabicPeriod"/>
            </a:pPr>
            <a:r>
              <a:rPr lang="en-IN" sz="1600" dirty="0"/>
              <a:t>To reduce dependence on cold calls for sales by creating a complete sales funnel with each steps clear and result oriented.</a:t>
            </a:r>
          </a:p>
          <a:p>
            <a:endParaRPr lang="en-IN" sz="1600" b="1" dirty="0"/>
          </a:p>
        </p:txBody>
      </p:sp>
      <p:sp>
        <p:nvSpPr>
          <p:cNvPr id="19" name="Rectangle 18">
            <a:extLst>
              <a:ext uri="{FF2B5EF4-FFF2-40B4-BE49-F238E27FC236}">
                <a16:creationId xmlns:a16="http://schemas.microsoft.com/office/drawing/2014/main" id="{AEC7E8C0-F94F-CB98-D9AC-E8787355E906}"/>
              </a:ext>
            </a:extLst>
          </p:cNvPr>
          <p:cNvSpPr/>
          <p:nvPr/>
        </p:nvSpPr>
        <p:spPr>
          <a:xfrm>
            <a:off x="185059" y="586345"/>
            <a:ext cx="11821881" cy="2340431"/>
          </a:xfrm>
          <a:prstGeom prst="rect">
            <a:avLst/>
          </a:prstGeom>
          <a:ln>
            <a:solidFill>
              <a:schemeClr val="accent1"/>
            </a:solidFill>
            <a:prstDash val="dash"/>
          </a:ln>
          <a:effectLst>
            <a:outerShdw blurRad="50800" dist="38100" dir="2700000" sx="92000" sy="92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t"/>
          <a:lstStyle/>
          <a:p>
            <a:r>
              <a:rPr lang="en-IN" b="1" dirty="0"/>
              <a:t>About the Company: Wokezy</a:t>
            </a:r>
          </a:p>
          <a:p>
            <a:r>
              <a:rPr lang="en-IN" b="1" dirty="0"/>
              <a:t>Type: </a:t>
            </a:r>
            <a:r>
              <a:rPr lang="en-IN" dirty="0"/>
              <a:t>On demand home services</a:t>
            </a:r>
          </a:p>
          <a:p>
            <a:r>
              <a:rPr lang="en-IN" b="1" dirty="0"/>
              <a:t>Services: </a:t>
            </a:r>
            <a:r>
              <a:rPr lang="en-IN" dirty="0"/>
              <a:t>Driver, Cook, Laundry Handwash, Plumber, Carpenter, Electrician, Salon, </a:t>
            </a:r>
          </a:p>
          <a:p>
            <a:r>
              <a:rPr lang="en-IN" dirty="0"/>
              <a:t>Electronics repair, House Cleaner, Massage, Car wash and Bathroom Cleaning</a:t>
            </a:r>
          </a:p>
          <a:p>
            <a:r>
              <a:rPr lang="en-IN" b="1" dirty="0"/>
              <a:t>Additional Services: </a:t>
            </a:r>
            <a:r>
              <a:rPr lang="en-IN" dirty="0"/>
              <a:t>Events (Holi, House parties etc)</a:t>
            </a:r>
            <a:endParaRPr lang="en-IN" b="1" dirty="0"/>
          </a:p>
          <a:p>
            <a:r>
              <a:rPr lang="en-IN" b="1" dirty="0"/>
              <a:t>Location of service: </a:t>
            </a:r>
            <a:r>
              <a:rPr lang="en-IN" dirty="0"/>
              <a:t>Lucknow</a:t>
            </a:r>
          </a:p>
          <a:p>
            <a:r>
              <a:rPr lang="en-IN" b="1" dirty="0"/>
              <a:t>Booking medium: </a:t>
            </a:r>
            <a:r>
              <a:rPr lang="en-IN" dirty="0"/>
              <a:t>App</a:t>
            </a:r>
          </a:p>
          <a:p>
            <a:r>
              <a:rPr lang="en-US" b="1" dirty="0"/>
              <a:t>Media Presence: </a:t>
            </a:r>
            <a:r>
              <a:rPr lang="en-US" dirty="0"/>
              <a:t>Website, App, Facebook, Instagram</a:t>
            </a:r>
            <a:endParaRPr lang="en-US" b="1" dirty="0"/>
          </a:p>
        </p:txBody>
      </p:sp>
      <p:pic>
        <p:nvPicPr>
          <p:cNvPr id="21" name="Picture 20" descr="Logo, icon&#10;&#10;Description automatically generated">
            <a:extLst>
              <a:ext uri="{FF2B5EF4-FFF2-40B4-BE49-F238E27FC236}">
                <a16:creationId xmlns:a16="http://schemas.microsoft.com/office/drawing/2014/main" id="{5D4428AE-B3D6-5C33-0628-6AA76BAEE2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61751" y="684997"/>
            <a:ext cx="2143125" cy="2143125"/>
          </a:xfrm>
          <a:prstGeom prst="rect">
            <a:avLst/>
          </a:prstGeom>
        </p:spPr>
      </p:pic>
      <p:grpSp>
        <p:nvGrpSpPr>
          <p:cNvPr id="22" name="Group 21">
            <a:extLst>
              <a:ext uri="{FF2B5EF4-FFF2-40B4-BE49-F238E27FC236}">
                <a16:creationId xmlns:a16="http://schemas.microsoft.com/office/drawing/2014/main" id="{9ECC780A-671D-2146-C342-25551B622DA4}"/>
              </a:ext>
            </a:extLst>
          </p:cNvPr>
          <p:cNvGrpSpPr/>
          <p:nvPr/>
        </p:nvGrpSpPr>
        <p:grpSpPr>
          <a:xfrm>
            <a:off x="0" y="942"/>
            <a:ext cx="12192000" cy="536077"/>
            <a:chOff x="0" y="-21869"/>
            <a:chExt cx="10579546" cy="536077"/>
          </a:xfrm>
        </p:grpSpPr>
        <p:sp>
          <p:nvSpPr>
            <p:cNvPr id="23" name="Pentagon 18">
              <a:extLst>
                <a:ext uri="{FF2B5EF4-FFF2-40B4-BE49-F238E27FC236}">
                  <a16:creationId xmlns:a16="http://schemas.microsoft.com/office/drawing/2014/main" id="{F004CACF-DA71-33E6-78B6-AD28B9A37E44}"/>
                </a:ext>
              </a:extLst>
            </p:cNvPr>
            <p:cNvSpPr/>
            <p:nvPr/>
          </p:nvSpPr>
          <p:spPr>
            <a:xfrm>
              <a:off x="8457282" y="-21869"/>
              <a:ext cx="2122264" cy="533258"/>
            </a:xfrm>
            <a:prstGeom prst="homePlat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t>        Gaps</a:t>
              </a:r>
            </a:p>
          </p:txBody>
        </p:sp>
        <p:sp>
          <p:nvSpPr>
            <p:cNvPr id="24" name="Pentagon 18">
              <a:extLst>
                <a:ext uri="{FF2B5EF4-FFF2-40B4-BE49-F238E27FC236}">
                  <a16:creationId xmlns:a16="http://schemas.microsoft.com/office/drawing/2014/main" id="{729584CD-91D7-8180-706D-9F2FB748F41D}"/>
                </a:ext>
              </a:extLst>
            </p:cNvPr>
            <p:cNvSpPr/>
            <p:nvPr/>
          </p:nvSpPr>
          <p:spPr>
            <a:xfrm>
              <a:off x="6447179" y="-21869"/>
              <a:ext cx="2541105" cy="533258"/>
            </a:xfrm>
            <a:prstGeom prst="homePlat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t>        Marketing</a:t>
              </a:r>
              <a:endParaRPr lang="en-IN" sz="2000" b="1" dirty="0"/>
            </a:p>
          </p:txBody>
        </p:sp>
        <p:grpSp>
          <p:nvGrpSpPr>
            <p:cNvPr id="25" name="Group 24">
              <a:extLst>
                <a:ext uri="{FF2B5EF4-FFF2-40B4-BE49-F238E27FC236}">
                  <a16:creationId xmlns:a16="http://schemas.microsoft.com/office/drawing/2014/main" id="{070B7C23-F699-A560-847D-B8403B13A3B7}"/>
                </a:ext>
              </a:extLst>
            </p:cNvPr>
            <p:cNvGrpSpPr/>
            <p:nvPr/>
          </p:nvGrpSpPr>
          <p:grpSpPr>
            <a:xfrm>
              <a:off x="0" y="-21869"/>
              <a:ext cx="7064096" cy="536077"/>
              <a:chOff x="0" y="9861"/>
              <a:chExt cx="7372069" cy="536077"/>
            </a:xfrm>
          </p:grpSpPr>
          <p:sp>
            <p:nvSpPr>
              <p:cNvPr id="26" name="Pentagon 18">
                <a:extLst>
                  <a:ext uri="{FF2B5EF4-FFF2-40B4-BE49-F238E27FC236}">
                    <a16:creationId xmlns:a16="http://schemas.microsoft.com/office/drawing/2014/main" id="{5F1ED260-3225-884F-1402-FB07DCB77BC0}"/>
                  </a:ext>
                </a:extLst>
              </p:cNvPr>
              <p:cNvSpPr/>
              <p:nvPr/>
            </p:nvSpPr>
            <p:spPr>
              <a:xfrm>
                <a:off x="4433001" y="9861"/>
                <a:ext cx="2939068" cy="533258"/>
              </a:xfrm>
              <a:prstGeom prst="homePlate">
                <a:avLst/>
              </a:prstGeom>
              <a:solidFill>
                <a:schemeClr val="accent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t>       Brand Awareness</a:t>
                </a:r>
                <a:endParaRPr lang="en-IN" sz="2000" b="1" dirty="0"/>
              </a:p>
            </p:txBody>
          </p:sp>
          <p:sp>
            <p:nvSpPr>
              <p:cNvPr id="27" name="Pentagon 18">
                <a:extLst>
                  <a:ext uri="{FF2B5EF4-FFF2-40B4-BE49-F238E27FC236}">
                    <a16:creationId xmlns:a16="http://schemas.microsoft.com/office/drawing/2014/main" id="{40CB1714-9DC8-F227-1A13-58DC9355E2E3}"/>
                  </a:ext>
                </a:extLst>
              </p:cNvPr>
              <p:cNvSpPr/>
              <p:nvPr/>
            </p:nvSpPr>
            <p:spPr>
              <a:xfrm>
                <a:off x="1983048" y="9861"/>
                <a:ext cx="2912745" cy="533258"/>
              </a:xfrm>
              <a:prstGeom prst="homePlate">
                <a:avLst/>
              </a:prstGeom>
              <a:solidFill>
                <a:schemeClr val="accent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         Lead Generation</a:t>
                </a:r>
              </a:p>
            </p:txBody>
          </p:sp>
          <p:sp>
            <p:nvSpPr>
              <p:cNvPr id="28" name="Pentagon 18">
                <a:extLst>
                  <a:ext uri="{FF2B5EF4-FFF2-40B4-BE49-F238E27FC236}">
                    <a16:creationId xmlns:a16="http://schemas.microsoft.com/office/drawing/2014/main" id="{1132C0AE-FC93-B069-1924-B2BD72B68579}"/>
                  </a:ext>
                </a:extLst>
              </p:cNvPr>
              <p:cNvSpPr/>
              <p:nvPr/>
            </p:nvSpPr>
            <p:spPr>
              <a:xfrm>
                <a:off x="0" y="12680"/>
                <a:ext cx="2600538" cy="533258"/>
              </a:xfrm>
              <a:prstGeom prst="homePlate">
                <a:avLst/>
              </a:prstGeom>
              <a:solidFill>
                <a:schemeClr val="accent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t>Situation and Task</a:t>
                </a:r>
                <a:endParaRPr lang="en-IN" sz="2000" b="1" dirty="0"/>
              </a:p>
            </p:txBody>
          </p:sp>
        </p:grpSp>
      </p:grpSp>
    </p:spTree>
    <p:extLst>
      <p:ext uri="{BB962C8B-B14F-4D97-AF65-F5344CB8AC3E}">
        <p14:creationId xmlns:p14="http://schemas.microsoft.com/office/powerpoint/2010/main" val="30139606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E456807-BC8E-666F-4602-98C0CF5D7BDC}"/>
              </a:ext>
            </a:extLst>
          </p:cNvPr>
          <p:cNvSpPr txBox="1"/>
          <p:nvPr/>
        </p:nvSpPr>
        <p:spPr>
          <a:xfrm>
            <a:off x="72548" y="581266"/>
            <a:ext cx="12027593" cy="400110"/>
          </a:xfrm>
          <a:prstGeom prst="rect">
            <a:avLst/>
          </a:prstGeom>
          <a:solidFill>
            <a:schemeClr val="accent2"/>
          </a:solidFill>
        </p:spPr>
        <p:txBody>
          <a:bodyPr wrap="square" rtlCol="0">
            <a:spAutoFit/>
          </a:bodyPr>
          <a:lstStyle/>
          <a:p>
            <a:pPr algn="ctr"/>
            <a:r>
              <a:rPr lang="en-IN" sz="2000" b="1" dirty="0">
                <a:solidFill>
                  <a:schemeClr val="bg1"/>
                </a:solidFill>
              </a:rPr>
              <a:t>Strategies for effective lead generation by tapping multiple avenues in both free and paid ways  </a:t>
            </a:r>
            <a:endParaRPr lang="en-US" sz="2000" b="1" dirty="0">
              <a:solidFill>
                <a:schemeClr val="bg1"/>
              </a:solidFill>
            </a:endParaRPr>
          </a:p>
        </p:txBody>
      </p:sp>
      <p:sp>
        <p:nvSpPr>
          <p:cNvPr id="15" name="TextBox 14">
            <a:extLst>
              <a:ext uri="{FF2B5EF4-FFF2-40B4-BE49-F238E27FC236}">
                <a16:creationId xmlns:a16="http://schemas.microsoft.com/office/drawing/2014/main" id="{F15F5AD5-8418-8831-8F25-B5DF4223C31A}"/>
              </a:ext>
            </a:extLst>
          </p:cNvPr>
          <p:cNvSpPr txBox="1"/>
          <p:nvPr/>
        </p:nvSpPr>
        <p:spPr>
          <a:xfrm>
            <a:off x="162838" y="1072593"/>
            <a:ext cx="5933162" cy="2308324"/>
          </a:xfrm>
          <a:prstGeom prst="rect">
            <a:avLst/>
          </a:prstGeom>
          <a:noFill/>
          <a:ln>
            <a:solidFill>
              <a:schemeClr val="tx1"/>
            </a:solidFill>
            <a:prstDash val="lgDash"/>
          </a:ln>
        </p:spPr>
        <p:txBody>
          <a:bodyPr wrap="square" rtlCol="0">
            <a:spAutoFit/>
          </a:bodyPr>
          <a:lstStyle/>
          <a:p>
            <a:r>
              <a:rPr lang="en-IN" sz="1600" b="1" dirty="0"/>
              <a:t>Attractive first-time onboarding followed by referral program: </a:t>
            </a:r>
            <a:r>
              <a:rPr lang="en-IN" sz="1600" dirty="0"/>
              <a:t>This could be the best way to get the details of the leads. Offer a free sample of your services </a:t>
            </a:r>
            <a:r>
              <a:rPr lang="en-IN" sz="1600" b="1" dirty="0">
                <a:highlight>
                  <a:srgbClr val="FFFF00"/>
                </a:highlight>
              </a:rPr>
              <a:t>(the way uber did at the start) </a:t>
            </a:r>
            <a:r>
              <a:rPr lang="en-IN" sz="1600" dirty="0"/>
              <a:t>or offer a discounted first service like </a:t>
            </a:r>
            <a:r>
              <a:rPr lang="en-IN" sz="1600" dirty="0">
                <a:highlight>
                  <a:srgbClr val="00FF00"/>
                </a:highlight>
              </a:rPr>
              <a:t>“</a:t>
            </a:r>
            <a:r>
              <a:rPr lang="en-IN" sz="1600" b="1" i="1" dirty="0">
                <a:highlight>
                  <a:srgbClr val="00FF00"/>
                </a:highlight>
              </a:rPr>
              <a:t>Book your first service for free or book your first service at 50% cost”</a:t>
            </a:r>
          </a:p>
          <a:p>
            <a:endParaRPr lang="en-IN" sz="1600" b="1" i="1" dirty="0"/>
          </a:p>
          <a:p>
            <a:r>
              <a:rPr lang="en-IN" sz="1600" b="1" i="1" dirty="0"/>
              <a:t>Result: </a:t>
            </a:r>
            <a:r>
              <a:rPr lang="en-IN" sz="1600" i="1" dirty="0"/>
              <a:t>Easy customer data to follow up, Fast customer onboarding, this followed by referral bonus will help in new customer acquisition and repeat purchase </a:t>
            </a:r>
            <a:endParaRPr lang="en-IN" sz="1600" b="1" i="1" dirty="0"/>
          </a:p>
        </p:txBody>
      </p:sp>
      <p:sp>
        <p:nvSpPr>
          <p:cNvPr id="20" name="TextBox 19">
            <a:extLst>
              <a:ext uri="{FF2B5EF4-FFF2-40B4-BE49-F238E27FC236}">
                <a16:creationId xmlns:a16="http://schemas.microsoft.com/office/drawing/2014/main" id="{B082E902-79EF-C394-95E8-62534E9C07FD}"/>
              </a:ext>
            </a:extLst>
          </p:cNvPr>
          <p:cNvSpPr txBox="1"/>
          <p:nvPr/>
        </p:nvSpPr>
        <p:spPr>
          <a:xfrm>
            <a:off x="6166979" y="2823924"/>
            <a:ext cx="5933162" cy="2308324"/>
          </a:xfrm>
          <a:prstGeom prst="rect">
            <a:avLst/>
          </a:prstGeom>
          <a:noFill/>
          <a:ln>
            <a:solidFill>
              <a:schemeClr val="tx1"/>
            </a:solidFill>
            <a:prstDash val="lgDash"/>
          </a:ln>
        </p:spPr>
        <p:txBody>
          <a:bodyPr wrap="square" rtlCol="0">
            <a:spAutoFit/>
          </a:bodyPr>
          <a:lstStyle/>
          <a:p>
            <a:r>
              <a:rPr lang="en-IN" sz="1600" b="1" dirty="0"/>
              <a:t>Google my business page with google map address: </a:t>
            </a:r>
            <a:r>
              <a:rPr lang="en-IN" sz="1600" dirty="0"/>
              <a:t>The google my business page of workezy is not updated. </a:t>
            </a:r>
            <a:r>
              <a:rPr lang="en-IN" sz="1600" dirty="0">
                <a:highlight>
                  <a:srgbClr val="FFFF00"/>
                </a:highlight>
              </a:rPr>
              <a:t>It is one of the cheapest way for both brand awareness and lead generation</a:t>
            </a:r>
            <a:r>
              <a:rPr lang="en-IN" sz="1600" dirty="0"/>
              <a:t>. By updating the google my business page with company address, photos, services details, keywords and reviews you will receive queries which could be followed up for conversion</a:t>
            </a:r>
          </a:p>
          <a:p>
            <a:endParaRPr lang="en-IN" sz="1600" b="1" i="1" dirty="0"/>
          </a:p>
          <a:p>
            <a:r>
              <a:rPr lang="en-IN" sz="1600" b="1" i="1" dirty="0"/>
              <a:t>Result: </a:t>
            </a:r>
            <a:r>
              <a:rPr lang="en-IN" sz="1600" i="1" dirty="0"/>
              <a:t>Free lead generation, Ranking in google without paying, easy to find, reviews will help in trust building</a:t>
            </a:r>
            <a:endParaRPr lang="en-IN" sz="1600" b="1" i="1" dirty="0"/>
          </a:p>
        </p:txBody>
      </p:sp>
      <p:sp>
        <p:nvSpPr>
          <p:cNvPr id="22" name="TextBox 21">
            <a:extLst>
              <a:ext uri="{FF2B5EF4-FFF2-40B4-BE49-F238E27FC236}">
                <a16:creationId xmlns:a16="http://schemas.microsoft.com/office/drawing/2014/main" id="{914EE210-4CB2-3DB6-27DE-91586FB70D16}"/>
              </a:ext>
            </a:extLst>
          </p:cNvPr>
          <p:cNvSpPr txBox="1"/>
          <p:nvPr/>
        </p:nvSpPr>
        <p:spPr>
          <a:xfrm>
            <a:off x="153182" y="4641561"/>
            <a:ext cx="5933162" cy="2062103"/>
          </a:xfrm>
          <a:prstGeom prst="rect">
            <a:avLst/>
          </a:prstGeom>
          <a:noFill/>
          <a:ln>
            <a:solidFill>
              <a:schemeClr val="tx1"/>
            </a:solidFill>
            <a:prstDash val="lgDash"/>
          </a:ln>
        </p:spPr>
        <p:txBody>
          <a:bodyPr wrap="square" rtlCol="0">
            <a:spAutoFit/>
          </a:bodyPr>
          <a:lstStyle/>
          <a:p>
            <a:r>
              <a:rPr lang="en-IN" sz="1600" b="1" dirty="0"/>
              <a:t>Need Survey by college interns/Ambassadors: </a:t>
            </a:r>
            <a:r>
              <a:rPr lang="en-IN" sz="1600" dirty="0"/>
              <a:t>This is again one of the cheapest ways of getting data. Hire interns from local colleges as ambassadors </a:t>
            </a:r>
            <a:r>
              <a:rPr lang="en-IN" sz="1600" dirty="0">
                <a:highlight>
                  <a:srgbClr val="FFFF00"/>
                </a:highlight>
              </a:rPr>
              <a:t>(just like Tinder, Red bull do) </a:t>
            </a:r>
            <a:r>
              <a:rPr lang="en-IN" sz="1600" dirty="0"/>
              <a:t>and prepare a google form with relevant questions to identify what is the need of your business in Lucknow and what are the customer pain points. </a:t>
            </a:r>
          </a:p>
          <a:p>
            <a:endParaRPr lang="en-IN" sz="1600" b="1" dirty="0"/>
          </a:p>
          <a:p>
            <a:r>
              <a:rPr lang="en-IN" sz="1600" b="1" i="1" dirty="0"/>
              <a:t>Result: </a:t>
            </a:r>
            <a:r>
              <a:rPr lang="en-IN" sz="1600" dirty="0"/>
              <a:t>This will help in 2 ways. First, free data to follow-up. Second, insights of consumer behaviour.</a:t>
            </a:r>
            <a:endParaRPr lang="en-IN" sz="1600" b="1" dirty="0"/>
          </a:p>
        </p:txBody>
      </p:sp>
      <p:pic>
        <p:nvPicPr>
          <p:cNvPr id="18" name="Picture 17" descr="Icon&#10;&#10;Description automatically generated">
            <a:extLst>
              <a:ext uri="{FF2B5EF4-FFF2-40B4-BE49-F238E27FC236}">
                <a16:creationId xmlns:a16="http://schemas.microsoft.com/office/drawing/2014/main" id="{76AED292-3225-2BAF-223C-963C17BB3F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17990" y="5461573"/>
            <a:ext cx="1242091" cy="1242091"/>
          </a:xfrm>
          <a:prstGeom prst="rect">
            <a:avLst/>
          </a:prstGeom>
        </p:spPr>
      </p:pic>
      <p:pic>
        <p:nvPicPr>
          <p:cNvPr id="24" name="Picture 23" descr="Logo, icon&#10;&#10;Description automatically generated">
            <a:extLst>
              <a:ext uri="{FF2B5EF4-FFF2-40B4-BE49-F238E27FC236}">
                <a16:creationId xmlns:a16="http://schemas.microsoft.com/office/drawing/2014/main" id="{3ADC6047-B35A-06F8-D9B6-FF01AAF11C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74779" y="3564108"/>
            <a:ext cx="894262" cy="894262"/>
          </a:xfrm>
          <a:prstGeom prst="rect">
            <a:avLst/>
          </a:prstGeom>
        </p:spPr>
      </p:pic>
      <p:pic>
        <p:nvPicPr>
          <p:cNvPr id="26" name="Picture 25" descr="Icon&#10;&#10;Description automatically generated">
            <a:extLst>
              <a:ext uri="{FF2B5EF4-FFF2-40B4-BE49-F238E27FC236}">
                <a16:creationId xmlns:a16="http://schemas.microsoft.com/office/drawing/2014/main" id="{ACB1EF3F-90A7-4D81-222E-C62B448E697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90697" y="1026565"/>
            <a:ext cx="1750364" cy="1750364"/>
          </a:xfrm>
          <a:prstGeom prst="rect">
            <a:avLst/>
          </a:prstGeom>
        </p:spPr>
      </p:pic>
      <p:sp>
        <p:nvSpPr>
          <p:cNvPr id="27" name="TextBox 26">
            <a:extLst>
              <a:ext uri="{FF2B5EF4-FFF2-40B4-BE49-F238E27FC236}">
                <a16:creationId xmlns:a16="http://schemas.microsoft.com/office/drawing/2014/main" id="{48C7F119-C615-A5F1-CF1A-D39CFAFB4992}"/>
              </a:ext>
            </a:extLst>
          </p:cNvPr>
          <p:cNvSpPr txBox="1"/>
          <p:nvPr/>
        </p:nvSpPr>
        <p:spPr>
          <a:xfrm>
            <a:off x="7777048" y="5573710"/>
            <a:ext cx="5162322" cy="1077218"/>
          </a:xfrm>
          <a:prstGeom prst="rect">
            <a:avLst/>
          </a:prstGeom>
          <a:noFill/>
        </p:spPr>
        <p:txBody>
          <a:bodyPr wrap="square" rtlCol="0">
            <a:spAutoFit/>
          </a:bodyPr>
          <a:lstStyle/>
          <a:p>
            <a:r>
              <a:rPr lang="en-IN" sz="3200" b="1" dirty="0">
                <a:solidFill>
                  <a:schemeClr val="accent5">
                    <a:lumMod val="75000"/>
                  </a:schemeClr>
                </a:solidFill>
                <a:latin typeface="Aharoni" panose="02010803020104030203" pitchFamily="2" charset="-79"/>
                <a:cs typeface="Aharoni" panose="02010803020104030203" pitchFamily="2" charset="-79"/>
              </a:rPr>
              <a:t>College Ambassador Program</a:t>
            </a:r>
            <a:endParaRPr lang="en-US" sz="3200" b="1" dirty="0">
              <a:solidFill>
                <a:schemeClr val="accent5">
                  <a:lumMod val="75000"/>
                </a:schemeClr>
              </a:solidFill>
              <a:latin typeface="Aharoni" panose="02010803020104030203" pitchFamily="2" charset="-79"/>
              <a:cs typeface="Aharoni" panose="02010803020104030203" pitchFamily="2" charset="-79"/>
            </a:endParaRPr>
          </a:p>
        </p:txBody>
      </p:sp>
      <p:sp>
        <p:nvSpPr>
          <p:cNvPr id="28" name="TextBox 27">
            <a:extLst>
              <a:ext uri="{FF2B5EF4-FFF2-40B4-BE49-F238E27FC236}">
                <a16:creationId xmlns:a16="http://schemas.microsoft.com/office/drawing/2014/main" id="{1FAEF00B-1230-4E2C-02F3-DF806ADD3A70}"/>
              </a:ext>
            </a:extLst>
          </p:cNvPr>
          <p:cNvSpPr txBox="1"/>
          <p:nvPr/>
        </p:nvSpPr>
        <p:spPr>
          <a:xfrm>
            <a:off x="8418399" y="1401684"/>
            <a:ext cx="3879621" cy="1200329"/>
          </a:xfrm>
          <a:prstGeom prst="rect">
            <a:avLst/>
          </a:prstGeom>
          <a:noFill/>
        </p:spPr>
        <p:txBody>
          <a:bodyPr wrap="square" rtlCol="0">
            <a:spAutoFit/>
          </a:bodyPr>
          <a:lstStyle/>
          <a:p>
            <a:r>
              <a:rPr lang="en-IN" sz="3600" b="1" dirty="0">
                <a:solidFill>
                  <a:srgbClr val="00B050"/>
                </a:solidFill>
                <a:latin typeface="Aharoni" panose="02010803020104030203" pitchFamily="2" charset="-79"/>
                <a:cs typeface="Aharoni" panose="02010803020104030203" pitchFamily="2" charset="-79"/>
              </a:rPr>
              <a:t>Get your first service free!!</a:t>
            </a:r>
            <a:endParaRPr lang="en-US" sz="3600" b="1" dirty="0">
              <a:solidFill>
                <a:srgbClr val="00B050"/>
              </a:solidFill>
              <a:latin typeface="Aharoni" panose="02010803020104030203" pitchFamily="2" charset="-79"/>
              <a:cs typeface="Aharoni" panose="02010803020104030203" pitchFamily="2" charset="-79"/>
            </a:endParaRPr>
          </a:p>
        </p:txBody>
      </p:sp>
      <p:sp>
        <p:nvSpPr>
          <p:cNvPr id="29" name="TextBox 28">
            <a:extLst>
              <a:ext uri="{FF2B5EF4-FFF2-40B4-BE49-F238E27FC236}">
                <a16:creationId xmlns:a16="http://schemas.microsoft.com/office/drawing/2014/main" id="{69C621C7-24E5-D1D3-1271-2D9961E8FAF7}"/>
              </a:ext>
            </a:extLst>
          </p:cNvPr>
          <p:cNvSpPr txBox="1"/>
          <p:nvPr/>
        </p:nvSpPr>
        <p:spPr>
          <a:xfrm>
            <a:off x="306298" y="3688073"/>
            <a:ext cx="4669512" cy="646331"/>
          </a:xfrm>
          <a:prstGeom prst="rect">
            <a:avLst/>
          </a:prstGeom>
          <a:noFill/>
        </p:spPr>
        <p:txBody>
          <a:bodyPr wrap="square" rtlCol="0">
            <a:spAutoFit/>
          </a:bodyPr>
          <a:lstStyle/>
          <a:p>
            <a:r>
              <a:rPr lang="en-IN" sz="3600" b="1" dirty="0">
                <a:solidFill>
                  <a:schemeClr val="accent1"/>
                </a:solidFill>
                <a:latin typeface="Aharoni" panose="02010803020104030203" pitchFamily="2" charset="-79"/>
                <a:cs typeface="Aharoni" panose="02010803020104030203" pitchFamily="2" charset="-79"/>
              </a:rPr>
              <a:t>Google My Business</a:t>
            </a:r>
            <a:endParaRPr lang="en-US" sz="3600" b="1" dirty="0">
              <a:solidFill>
                <a:schemeClr val="accent1"/>
              </a:solidFill>
              <a:latin typeface="Aharoni" panose="02010803020104030203" pitchFamily="2" charset="-79"/>
              <a:cs typeface="Aharoni" panose="02010803020104030203" pitchFamily="2" charset="-79"/>
            </a:endParaRPr>
          </a:p>
        </p:txBody>
      </p:sp>
      <p:grpSp>
        <p:nvGrpSpPr>
          <p:cNvPr id="30" name="Group 29">
            <a:extLst>
              <a:ext uri="{FF2B5EF4-FFF2-40B4-BE49-F238E27FC236}">
                <a16:creationId xmlns:a16="http://schemas.microsoft.com/office/drawing/2014/main" id="{343510AE-E85D-75AC-9094-9BA76C230382}"/>
              </a:ext>
            </a:extLst>
          </p:cNvPr>
          <p:cNvGrpSpPr/>
          <p:nvPr/>
        </p:nvGrpSpPr>
        <p:grpSpPr>
          <a:xfrm>
            <a:off x="-9656" y="1267"/>
            <a:ext cx="12192000" cy="536077"/>
            <a:chOff x="0" y="-21869"/>
            <a:chExt cx="10579546" cy="536077"/>
          </a:xfrm>
        </p:grpSpPr>
        <p:sp>
          <p:nvSpPr>
            <p:cNvPr id="31" name="Pentagon 18">
              <a:extLst>
                <a:ext uri="{FF2B5EF4-FFF2-40B4-BE49-F238E27FC236}">
                  <a16:creationId xmlns:a16="http://schemas.microsoft.com/office/drawing/2014/main" id="{D6790C0A-7F82-B575-578A-CC0AFB68AE05}"/>
                </a:ext>
              </a:extLst>
            </p:cNvPr>
            <p:cNvSpPr/>
            <p:nvPr/>
          </p:nvSpPr>
          <p:spPr>
            <a:xfrm>
              <a:off x="8457282" y="-21869"/>
              <a:ext cx="2122264" cy="533258"/>
            </a:xfrm>
            <a:prstGeom prst="homePlat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t>        Gaps</a:t>
              </a:r>
            </a:p>
          </p:txBody>
        </p:sp>
        <p:sp>
          <p:nvSpPr>
            <p:cNvPr id="32" name="Pentagon 18">
              <a:extLst>
                <a:ext uri="{FF2B5EF4-FFF2-40B4-BE49-F238E27FC236}">
                  <a16:creationId xmlns:a16="http://schemas.microsoft.com/office/drawing/2014/main" id="{8D4C566B-E3E2-E585-095D-EF9892D0BC3A}"/>
                </a:ext>
              </a:extLst>
            </p:cNvPr>
            <p:cNvSpPr/>
            <p:nvPr/>
          </p:nvSpPr>
          <p:spPr>
            <a:xfrm>
              <a:off x="6447179" y="-21869"/>
              <a:ext cx="2541105" cy="533258"/>
            </a:xfrm>
            <a:prstGeom prst="homePlat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t>         Marketing</a:t>
              </a:r>
              <a:endParaRPr lang="en-IN" sz="2000" b="1" dirty="0"/>
            </a:p>
          </p:txBody>
        </p:sp>
        <p:grpSp>
          <p:nvGrpSpPr>
            <p:cNvPr id="33" name="Group 32">
              <a:extLst>
                <a:ext uri="{FF2B5EF4-FFF2-40B4-BE49-F238E27FC236}">
                  <a16:creationId xmlns:a16="http://schemas.microsoft.com/office/drawing/2014/main" id="{1D8F9FF0-430D-495F-B252-1BE207F5CA0A}"/>
                </a:ext>
              </a:extLst>
            </p:cNvPr>
            <p:cNvGrpSpPr/>
            <p:nvPr/>
          </p:nvGrpSpPr>
          <p:grpSpPr>
            <a:xfrm>
              <a:off x="0" y="-21869"/>
              <a:ext cx="7064096" cy="536077"/>
              <a:chOff x="0" y="9861"/>
              <a:chExt cx="7372069" cy="536077"/>
            </a:xfrm>
          </p:grpSpPr>
          <p:sp>
            <p:nvSpPr>
              <p:cNvPr id="34" name="Pentagon 18">
                <a:extLst>
                  <a:ext uri="{FF2B5EF4-FFF2-40B4-BE49-F238E27FC236}">
                    <a16:creationId xmlns:a16="http://schemas.microsoft.com/office/drawing/2014/main" id="{BDBA1D3F-8BB5-FD20-6497-AEC6912FE9DD}"/>
                  </a:ext>
                </a:extLst>
              </p:cNvPr>
              <p:cNvSpPr/>
              <p:nvPr/>
            </p:nvSpPr>
            <p:spPr>
              <a:xfrm>
                <a:off x="4433001" y="9861"/>
                <a:ext cx="2939068" cy="533258"/>
              </a:xfrm>
              <a:prstGeom prst="homePlate">
                <a:avLst/>
              </a:prstGeom>
              <a:solidFill>
                <a:schemeClr val="accent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t>       Brand Awareness</a:t>
                </a:r>
                <a:endParaRPr lang="en-IN" sz="2000" b="1" dirty="0"/>
              </a:p>
            </p:txBody>
          </p:sp>
          <p:sp>
            <p:nvSpPr>
              <p:cNvPr id="35" name="Pentagon 18">
                <a:extLst>
                  <a:ext uri="{FF2B5EF4-FFF2-40B4-BE49-F238E27FC236}">
                    <a16:creationId xmlns:a16="http://schemas.microsoft.com/office/drawing/2014/main" id="{B2CC871B-D24C-E8AE-41F8-8ACCE7FE66C8}"/>
                  </a:ext>
                </a:extLst>
              </p:cNvPr>
              <p:cNvSpPr/>
              <p:nvPr/>
            </p:nvSpPr>
            <p:spPr>
              <a:xfrm>
                <a:off x="1983048" y="9861"/>
                <a:ext cx="2912745" cy="533258"/>
              </a:xfrm>
              <a:prstGeom prst="homePlate">
                <a:avLst/>
              </a:prstGeom>
              <a:solidFill>
                <a:schemeClr val="accent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         Lead Generation</a:t>
                </a:r>
              </a:p>
            </p:txBody>
          </p:sp>
          <p:sp>
            <p:nvSpPr>
              <p:cNvPr id="36" name="Pentagon 18">
                <a:extLst>
                  <a:ext uri="{FF2B5EF4-FFF2-40B4-BE49-F238E27FC236}">
                    <a16:creationId xmlns:a16="http://schemas.microsoft.com/office/drawing/2014/main" id="{71FC917B-CF59-1609-3870-C8EDA760F49D}"/>
                  </a:ext>
                </a:extLst>
              </p:cNvPr>
              <p:cNvSpPr/>
              <p:nvPr/>
            </p:nvSpPr>
            <p:spPr>
              <a:xfrm>
                <a:off x="0" y="12680"/>
                <a:ext cx="2600538" cy="533258"/>
              </a:xfrm>
              <a:prstGeom prst="homePlate">
                <a:avLst/>
              </a:prstGeom>
              <a:solidFill>
                <a:schemeClr val="accent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t>Situation and Task</a:t>
                </a:r>
                <a:endParaRPr lang="en-IN" sz="2000" b="1" dirty="0"/>
              </a:p>
            </p:txBody>
          </p:sp>
        </p:grpSp>
      </p:grpSp>
    </p:spTree>
    <p:extLst>
      <p:ext uri="{BB962C8B-B14F-4D97-AF65-F5344CB8AC3E}">
        <p14:creationId xmlns:p14="http://schemas.microsoft.com/office/powerpoint/2010/main" val="21199673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D163F94-57D8-0134-71F7-26A9AFD23D47}"/>
              </a:ext>
            </a:extLst>
          </p:cNvPr>
          <p:cNvGrpSpPr/>
          <p:nvPr/>
        </p:nvGrpSpPr>
        <p:grpSpPr>
          <a:xfrm>
            <a:off x="0" y="-905"/>
            <a:ext cx="12192000" cy="536077"/>
            <a:chOff x="0" y="-21869"/>
            <a:chExt cx="10579546" cy="536077"/>
          </a:xfrm>
        </p:grpSpPr>
        <p:sp>
          <p:nvSpPr>
            <p:cNvPr id="6" name="Pentagon 18">
              <a:extLst>
                <a:ext uri="{FF2B5EF4-FFF2-40B4-BE49-F238E27FC236}">
                  <a16:creationId xmlns:a16="http://schemas.microsoft.com/office/drawing/2014/main" id="{CC508F05-6394-20E7-D818-4071E4958C94}"/>
                </a:ext>
              </a:extLst>
            </p:cNvPr>
            <p:cNvSpPr/>
            <p:nvPr/>
          </p:nvSpPr>
          <p:spPr>
            <a:xfrm>
              <a:off x="8457282" y="-21869"/>
              <a:ext cx="2122264" cy="533258"/>
            </a:xfrm>
            <a:prstGeom prst="homePlat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t>        Gaps</a:t>
              </a:r>
            </a:p>
          </p:txBody>
        </p:sp>
        <p:sp>
          <p:nvSpPr>
            <p:cNvPr id="7" name="Pentagon 18">
              <a:extLst>
                <a:ext uri="{FF2B5EF4-FFF2-40B4-BE49-F238E27FC236}">
                  <a16:creationId xmlns:a16="http://schemas.microsoft.com/office/drawing/2014/main" id="{D90F203C-CF01-1B12-5F59-AF5D0310A003}"/>
                </a:ext>
              </a:extLst>
            </p:cNvPr>
            <p:cNvSpPr/>
            <p:nvPr/>
          </p:nvSpPr>
          <p:spPr>
            <a:xfrm>
              <a:off x="6447179" y="-21869"/>
              <a:ext cx="2541105" cy="533258"/>
            </a:xfrm>
            <a:prstGeom prst="homePlat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t>         Marketing</a:t>
              </a:r>
              <a:endParaRPr lang="en-IN" sz="2000" b="1" dirty="0"/>
            </a:p>
          </p:txBody>
        </p:sp>
        <p:grpSp>
          <p:nvGrpSpPr>
            <p:cNvPr id="8" name="Group 7">
              <a:extLst>
                <a:ext uri="{FF2B5EF4-FFF2-40B4-BE49-F238E27FC236}">
                  <a16:creationId xmlns:a16="http://schemas.microsoft.com/office/drawing/2014/main" id="{8AED5EBB-C156-4382-F9B4-9055C3D7834F}"/>
                </a:ext>
              </a:extLst>
            </p:cNvPr>
            <p:cNvGrpSpPr/>
            <p:nvPr/>
          </p:nvGrpSpPr>
          <p:grpSpPr>
            <a:xfrm>
              <a:off x="0" y="-21869"/>
              <a:ext cx="7064096" cy="536077"/>
              <a:chOff x="0" y="9861"/>
              <a:chExt cx="7372069" cy="536077"/>
            </a:xfrm>
          </p:grpSpPr>
          <p:sp>
            <p:nvSpPr>
              <p:cNvPr id="9" name="Pentagon 18">
                <a:extLst>
                  <a:ext uri="{FF2B5EF4-FFF2-40B4-BE49-F238E27FC236}">
                    <a16:creationId xmlns:a16="http://schemas.microsoft.com/office/drawing/2014/main" id="{139922F0-3C2C-FD25-AE87-5103FFCCB381}"/>
                  </a:ext>
                </a:extLst>
              </p:cNvPr>
              <p:cNvSpPr/>
              <p:nvPr/>
            </p:nvSpPr>
            <p:spPr>
              <a:xfrm>
                <a:off x="4433001" y="9861"/>
                <a:ext cx="2939068" cy="533258"/>
              </a:xfrm>
              <a:prstGeom prst="homePlate">
                <a:avLst/>
              </a:prstGeom>
              <a:solidFill>
                <a:schemeClr val="accent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t>       Brand Awareness</a:t>
                </a:r>
                <a:endParaRPr lang="en-IN" sz="2000" b="1" dirty="0"/>
              </a:p>
            </p:txBody>
          </p:sp>
          <p:sp>
            <p:nvSpPr>
              <p:cNvPr id="10" name="Pentagon 18">
                <a:extLst>
                  <a:ext uri="{FF2B5EF4-FFF2-40B4-BE49-F238E27FC236}">
                    <a16:creationId xmlns:a16="http://schemas.microsoft.com/office/drawing/2014/main" id="{05392A07-A645-172D-B400-E1837201A0CD}"/>
                  </a:ext>
                </a:extLst>
              </p:cNvPr>
              <p:cNvSpPr/>
              <p:nvPr/>
            </p:nvSpPr>
            <p:spPr>
              <a:xfrm>
                <a:off x="1983048" y="9861"/>
                <a:ext cx="2912745" cy="533258"/>
              </a:xfrm>
              <a:prstGeom prst="homePlate">
                <a:avLst/>
              </a:prstGeom>
              <a:solidFill>
                <a:schemeClr val="accent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         Lead Generation</a:t>
                </a:r>
              </a:p>
            </p:txBody>
          </p:sp>
          <p:sp>
            <p:nvSpPr>
              <p:cNvPr id="11" name="Pentagon 18">
                <a:extLst>
                  <a:ext uri="{FF2B5EF4-FFF2-40B4-BE49-F238E27FC236}">
                    <a16:creationId xmlns:a16="http://schemas.microsoft.com/office/drawing/2014/main" id="{6FC41895-3C41-27C5-96A7-86888EBFC0F3}"/>
                  </a:ext>
                </a:extLst>
              </p:cNvPr>
              <p:cNvSpPr/>
              <p:nvPr/>
            </p:nvSpPr>
            <p:spPr>
              <a:xfrm>
                <a:off x="0" y="12680"/>
                <a:ext cx="2600538" cy="533258"/>
              </a:xfrm>
              <a:prstGeom prst="homePlate">
                <a:avLst/>
              </a:prstGeom>
              <a:solidFill>
                <a:schemeClr val="accent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t>Situation and Task</a:t>
                </a:r>
                <a:endParaRPr lang="en-IN" sz="2000" b="1" dirty="0"/>
              </a:p>
            </p:txBody>
          </p:sp>
        </p:grpSp>
      </p:grpSp>
      <p:sp>
        <p:nvSpPr>
          <p:cNvPr id="3" name="TextBox 2">
            <a:extLst>
              <a:ext uri="{FF2B5EF4-FFF2-40B4-BE49-F238E27FC236}">
                <a16:creationId xmlns:a16="http://schemas.microsoft.com/office/drawing/2014/main" id="{7E456807-BC8E-666F-4602-98C0CF5D7BDC}"/>
              </a:ext>
            </a:extLst>
          </p:cNvPr>
          <p:cNvSpPr txBox="1"/>
          <p:nvPr/>
        </p:nvSpPr>
        <p:spPr>
          <a:xfrm>
            <a:off x="72548" y="581266"/>
            <a:ext cx="12027593" cy="400110"/>
          </a:xfrm>
          <a:prstGeom prst="rect">
            <a:avLst/>
          </a:prstGeom>
          <a:solidFill>
            <a:schemeClr val="accent2"/>
          </a:solidFill>
        </p:spPr>
        <p:txBody>
          <a:bodyPr wrap="square" rtlCol="0">
            <a:spAutoFit/>
          </a:bodyPr>
          <a:lstStyle/>
          <a:p>
            <a:pPr algn="ctr"/>
            <a:r>
              <a:rPr lang="en-IN" sz="2000" b="1" dirty="0">
                <a:solidFill>
                  <a:schemeClr val="bg1"/>
                </a:solidFill>
              </a:rPr>
              <a:t>Strategies for effective Brand Awareness by tapping different avenues in both free and paid ways   </a:t>
            </a:r>
            <a:endParaRPr lang="en-US" sz="2000" b="1" dirty="0">
              <a:solidFill>
                <a:schemeClr val="bg1"/>
              </a:solidFill>
            </a:endParaRPr>
          </a:p>
        </p:txBody>
      </p:sp>
      <p:sp>
        <p:nvSpPr>
          <p:cNvPr id="15" name="TextBox 14">
            <a:extLst>
              <a:ext uri="{FF2B5EF4-FFF2-40B4-BE49-F238E27FC236}">
                <a16:creationId xmlns:a16="http://schemas.microsoft.com/office/drawing/2014/main" id="{F15F5AD5-8418-8831-8F25-B5DF4223C31A}"/>
              </a:ext>
            </a:extLst>
          </p:cNvPr>
          <p:cNvSpPr txBox="1"/>
          <p:nvPr/>
        </p:nvSpPr>
        <p:spPr>
          <a:xfrm>
            <a:off x="162838" y="1061417"/>
            <a:ext cx="5933162" cy="2554545"/>
          </a:xfrm>
          <a:prstGeom prst="rect">
            <a:avLst/>
          </a:prstGeom>
          <a:noFill/>
          <a:ln>
            <a:solidFill>
              <a:schemeClr val="tx1"/>
            </a:solidFill>
            <a:prstDash val="lgDash"/>
          </a:ln>
        </p:spPr>
        <p:txBody>
          <a:bodyPr wrap="square" rtlCol="0">
            <a:spAutoFit/>
          </a:bodyPr>
          <a:lstStyle/>
          <a:p>
            <a:r>
              <a:rPr lang="en-IN" sz="1600" b="1" dirty="0"/>
              <a:t>Instagram Reels with Pain Points and Stories: </a:t>
            </a:r>
            <a:r>
              <a:rPr lang="en-IN" sz="1600" dirty="0"/>
              <a:t>As observed the Reels frequency on Workezy’s Instagram page is very low </a:t>
            </a:r>
            <a:r>
              <a:rPr lang="en-IN" sz="1600" dirty="0">
                <a:highlight>
                  <a:srgbClr val="FFFF00"/>
                </a:highlight>
              </a:rPr>
              <a:t>(Last reel was uploaded 2 week back)</a:t>
            </a:r>
            <a:r>
              <a:rPr lang="en-IN" sz="1600" dirty="0"/>
              <a:t>. Uploading frequent Instagram reels with </a:t>
            </a:r>
            <a:r>
              <a:rPr lang="en-IN" sz="1600" b="1" i="1" dirty="0"/>
              <a:t>subjects like customer pain points, user stories, services demo with trendy music and Lucknow hashtags </a:t>
            </a:r>
            <a:r>
              <a:rPr lang="en-IN" sz="1600" dirty="0"/>
              <a:t>is at present the cheapest way to increase brand awareness</a:t>
            </a:r>
          </a:p>
          <a:p>
            <a:endParaRPr lang="en-IN" sz="1600" b="1" i="1" dirty="0"/>
          </a:p>
          <a:p>
            <a:r>
              <a:rPr lang="en-IN" sz="1600" b="1" i="1" dirty="0"/>
              <a:t>Result: </a:t>
            </a:r>
            <a:r>
              <a:rPr lang="en-IN" sz="1600" dirty="0"/>
              <a:t>Increase in brand awareness, high chances of going viral, </a:t>
            </a:r>
            <a:r>
              <a:rPr lang="en-IN" sz="1600" dirty="0">
                <a:highlight>
                  <a:srgbClr val="FFFF00"/>
                </a:highlight>
              </a:rPr>
              <a:t>the paid version of this could be collaboration with local influencers for reels promotion</a:t>
            </a:r>
            <a:endParaRPr lang="en-IN" sz="1600" b="1" i="1" dirty="0">
              <a:highlight>
                <a:srgbClr val="FFFF00"/>
              </a:highlight>
            </a:endParaRPr>
          </a:p>
        </p:txBody>
      </p:sp>
      <p:sp>
        <p:nvSpPr>
          <p:cNvPr id="20" name="TextBox 19">
            <a:extLst>
              <a:ext uri="{FF2B5EF4-FFF2-40B4-BE49-F238E27FC236}">
                <a16:creationId xmlns:a16="http://schemas.microsoft.com/office/drawing/2014/main" id="{B082E902-79EF-C394-95E8-62534E9C07FD}"/>
              </a:ext>
            </a:extLst>
          </p:cNvPr>
          <p:cNvSpPr txBox="1"/>
          <p:nvPr/>
        </p:nvSpPr>
        <p:spPr>
          <a:xfrm>
            <a:off x="6175590" y="2584163"/>
            <a:ext cx="5933162" cy="2554545"/>
          </a:xfrm>
          <a:prstGeom prst="rect">
            <a:avLst/>
          </a:prstGeom>
          <a:noFill/>
          <a:ln>
            <a:solidFill>
              <a:schemeClr val="tx1"/>
            </a:solidFill>
            <a:prstDash val="lgDash"/>
          </a:ln>
        </p:spPr>
        <p:txBody>
          <a:bodyPr wrap="square" rtlCol="0">
            <a:spAutoFit/>
          </a:bodyPr>
          <a:lstStyle/>
          <a:p>
            <a:r>
              <a:rPr lang="en-IN" sz="1600" b="1" dirty="0"/>
              <a:t>PPC ads with relevant keywords: </a:t>
            </a:r>
            <a:r>
              <a:rPr lang="en-IN" sz="1600" dirty="0"/>
              <a:t>The relevant keywords and google searches for Workezy could be </a:t>
            </a:r>
            <a:r>
              <a:rPr lang="en-IN" sz="1600" b="1" i="1" dirty="0">
                <a:highlight>
                  <a:srgbClr val="FFFF00"/>
                </a:highlight>
              </a:rPr>
              <a:t>“Home services in Lucknow”, “ Drivers to hire in Lucknow”, “Electronics repair at home” etc</a:t>
            </a:r>
            <a:r>
              <a:rPr lang="en-IN" sz="1600" b="1" i="1" dirty="0"/>
              <a:t> </a:t>
            </a:r>
            <a:r>
              <a:rPr lang="en-IN" sz="1600" dirty="0"/>
              <a:t>as observed, presence of Workezy on these keywords is very low. Either you could hire in house digital marketing interns or can outsource with any agency. Initially it will be costly but much needed. Also listing on websites like </a:t>
            </a:r>
            <a:r>
              <a:rPr lang="en-IN" sz="1600" dirty="0">
                <a:highlight>
                  <a:srgbClr val="FFFF00"/>
                </a:highlight>
              </a:rPr>
              <a:t>Justdial and Sulekha </a:t>
            </a:r>
            <a:r>
              <a:rPr lang="en-IN" sz="1600" dirty="0"/>
              <a:t>is a must do</a:t>
            </a:r>
          </a:p>
          <a:p>
            <a:endParaRPr lang="en-IN" sz="1600" b="1" i="1" dirty="0"/>
          </a:p>
          <a:p>
            <a:r>
              <a:rPr lang="en-IN" sz="1600" b="1" i="1" dirty="0"/>
              <a:t>Result: </a:t>
            </a:r>
            <a:r>
              <a:rPr lang="en-IN" sz="1600" dirty="0"/>
              <a:t>Ranking on google search, Rich leads and boost in brand awareness</a:t>
            </a:r>
            <a:endParaRPr lang="en-IN" sz="1600" b="1" i="1" dirty="0"/>
          </a:p>
        </p:txBody>
      </p:sp>
      <p:sp>
        <p:nvSpPr>
          <p:cNvPr id="22" name="TextBox 21">
            <a:extLst>
              <a:ext uri="{FF2B5EF4-FFF2-40B4-BE49-F238E27FC236}">
                <a16:creationId xmlns:a16="http://schemas.microsoft.com/office/drawing/2014/main" id="{914EE210-4CB2-3DB6-27DE-91586FB70D16}"/>
              </a:ext>
            </a:extLst>
          </p:cNvPr>
          <p:cNvSpPr txBox="1"/>
          <p:nvPr/>
        </p:nvSpPr>
        <p:spPr>
          <a:xfrm>
            <a:off x="153182" y="4191618"/>
            <a:ext cx="5933162" cy="2554545"/>
          </a:xfrm>
          <a:prstGeom prst="rect">
            <a:avLst/>
          </a:prstGeom>
          <a:noFill/>
          <a:ln>
            <a:solidFill>
              <a:schemeClr val="tx1"/>
            </a:solidFill>
            <a:prstDash val="lgDash"/>
          </a:ln>
        </p:spPr>
        <p:txBody>
          <a:bodyPr wrap="square" rtlCol="0">
            <a:spAutoFit/>
          </a:bodyPr>
          <a:lstStyle/>
          <a:p>
            <a:r>
              <a:rPr lang="en-IN" sz="1600" b="1" dirty="0"/>
              <a:t>Pamphlets and Paper inserts with minimum words Ad Copy and Scratch offer: </a:t>
            </a:r>
            <a:r>
              <a:rPr lang="en-IN" sz="1600" dirty="0"/>
              <a:t>Pamphlets and Paper inserts are useful but impossible to track ROI and too much crowded. Two best ways to make the most out of these are </a:t>
            </a:r>
            <a:r>
              <a:rPr lang="en-IN" sz="1600" dirty="0">
                <a:highlight>
                  <a:srgbClr val="FFFF00"/>
                </a:highlight>
              </a:rPr>
              <a:t>1) Minimum words (8-10) Ad Copy (To attract) 2) Scratch offer (To convert and track).</a:t>
            </a:r>
          </a:p>
          <a:p>
            <a:endParaRPr lang="en-IN" sz="1600" b="1" dirty="0"/>
          </a:p>
          <a:p>
            <a:r>
              <a:rPr lang="en-IN" sz="1600" b="1" i="1" dirty="0"/>
              <a:t>Result: </a:t>
            </a:r>
            <a:r>
              <a:rPr lang="en-IN" sz="1600" dirty="0"/>
              <a:t>This will enable ROI tracking for these activities and also increase brand awareness by placing these pamphlets and inserts in potential catchments (IT Parks, Bachelors Appartements, Nuclear Family areas, Malls, Theatres etc)</a:t>
            </a:r>
            <a:endParaRPr lang="en-IN" sz="1600" b="1" i="1" dirty="0"/>
          </a:p>
        </p:txBody>
      </p:sp>
      <p:pic>
        <p:nvPicPr>
          <p:cNvPr id="5" name="Graphic 4" descr="Cursor with solid fill">
            <a:extLst>
              <a:ext uri="{FF2B5EF4-FFF2-40B4-BE49-F238E27FC236}">
                <a16:creationId xmlns:a16="http://schemas.microsoft.com/office/drawing/2014/main" id="{3D81C652-CDFE-DD07-A677-EFE998718AA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406276" y="3600280"/>
            <a:ext cx="591338" cy="591338"/>
          </a:xfrm>
          <a:prstGeom prst="rect">
            <a:avLst/>
          </a:prstGeom>
        </p:spPr>
      </p:pic>
      <p:pic>
        <p:nvPicPr>
          <p:cNvPr id="14" name="Picture 13" descr="Shape&#10;&#10;Description automatically generated with low confidence">
            <a:extLst>
              <a:ext uri="{FF2B5EF4-FFF2-40B4-BE49-F238E27FC236}">
                <a16:creationId xmlns:a16="http://schemas.microsoft.com/office/drawing/2014/main" id="{3C8FA211-3760-3BA7-FAE9-A7C571CD0FA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67801" y="1313211"/>
            <a:ext cx="925627" cy="925627"/>
          </a:xfrm>
          <a:prstGeom prst="rect">
            <a:avLst/>
          </a:prstGeom>
        </p:spPr>
      </p:pic>
      <p:pic>
        <p:nvPicPr>
          <p:cNvPr id="17" name="Picture 16" descr="Shape&#10;&#10;Description automatically generated with low confidence">
            <a:extLst>
              <a:ext uri="{FF2B5EF4-FFF2-40B4-BE49-F238E27FC236}">
                <a16:creationId xmlns:a16="http://schemas.microsoft.com/office/drawing/2014/main" id="{80EB6A62-69B3-7624-CA25-E351F01024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67801" y="5455555"/>
            <a:ext cx="1130181" cy="1130181"/>
          </a:xfrm>
          <a:prstGeom prst="rect">
            <a:avLst/>
          </a:prstGeom>
        </p:spPr>
      </p:pic>
      <p:sp>
        <p:nvSpPr>
          <p:cNvPr id="21" name="TextBox 20">
            <a:extLst>
              <a:ext uri="{FF2B5EF4-FFF2-40B4-BE49-F238E27FC236}">
                <a16:creationId xmlns:a16="http://schemas.microsoft.com/office/drawing/2014/main" id="{993B1565-EA26-E942-967C-3595682A578B}"/>
              </a:ext>
            </a:extLst>
          </p:cNvPr>
          <p:cNvSpPr txBox="1"/>
          <p:nvPr/>
        </p:nvSpPr>
        <p:spPr>
          <a:xfrm>
            <a:off x="2296886" y="3634339"/>
            <a:ext cx="3247992" cy="523220"/>
          </a:xfrm>
          <a:prstGeom prst="rect">
            <a:avLst/>
          </a:prstGeom>
          <a:noFill/>
        </p:spPr>
        <p:txBody>
          <a:bodyPr wrap="square" rtlCol="0">
            <a:spAutoFit/>
          </a:bodyPr>
          <a:lstStyle/>
          <a:p>
            <a:r>
              <a:rPr lang="en-IN" sz="2800" b="1" dirty="0">
                <a:solidFill>
                  <a:schemeClr val="accent1"/>
                </a:solidFill>
                <a:latin typeface="Aharoni" panose="02010803020104030203" pitchFamily="2" charset="-79"/>
                <a:cs typeface="Aharoni" panose="02010803020104030203" pitchFamily="2" charset="-79"/>
              </a:rPr>
              <a:t>Targeted PPC Ads</a:t>
            </a:r>
            <a:endParaRPr lang="en-US" sz="2800" b="1" dirty="0">
              <a:solidFill>
                <a:schemeClr val="accent1"/>
              </a:solidFill>
              <a:latin typeface="Aharoni" panose="02010803020104030203" pitchFamily="2" charset="-79"/>
              <a:cs typeface="Aharoni" panose="02010803020104030203" pitchFamily="2" charset="-79"/>
            </a:endParaRPr>
          </a:p>
        </p:txBody>
      </p:sp>
      <p:sp>
        <p:nvSpPr>
          <p:cNvPr id="23" name="TextBox 22">
            <a:extLst>
              <a:ext uri="{FF2B5EF4-FFF2-40B4-BE49-F238E27FC236}">
                <a16:creationId xmlns:a16="http://schemas.microsoft.com/office/drawing/2014/main" id="{F5A2D338-1608-4B2A-9457-395B626755AC}"/>
              </a:ext>
            </a:extLst>
          </p:cNvPr>
          <p:cNvSpPr txBox="1"/>
          <p:nvPr/>
        </p:nvSpPr>
        <p:spPr>
          <a:xfrm>
            <a:off x="7497982" y="1298970"/>
            <a:ext cx="4443647" cy="954107"/>
          </a:xfrm>
          <a:prstGeom prst="rect">
            <a:avLst/>
          </a:prstGeom>
          <a:noFill/>
        </p:spPr>
        <p:txBody>
          <a:bodyPr wrap="square" rtlCol="0">
            <a:spAutoFit/>
          </a:bodyPr>
          <a:lstStyle/>
          <a:p>
            <a:r>
              <a:rPr lang="en-IN" sz="2800" b="1" dirty="0">
                <a:solidFill>
                  <a:srgbClr val="C00000"/>
                </a:solidFill>
                <a:latin typeface="Aharoni" panose="02010803020104030203" pitchFamily="2" charset="-79"/>
                <a:cs typeface="Aharoni" panose="02010803020104030203" pitchFamily="2" charset="-79"/>
              </a:rPr>
              <a:t>Use cases and Story Telling on reels</a:t>
            </a:r>
            <a:endParaRPr lang="en-US" sz="2800" b="1" dirty="0">
              <a:solidFill>
                <a:srgbClr val="C00000"/>
              </a:solidFill>
              <a:latin typeface="Aharoni" panose="02010803020104030203" pitchFamily="2" charset="-79"/>
              <a:cs typeface="Aharoni" panose="02010803020104030203" pitchFamily="2" charset="-79"/>
            </a:endParaRPr>
          </a:p>
        </p:txBody>
      </p:sp>
      <p:sp>
        <p:nvSpPr>
          <p:cNvPr id="24" name="TextBox 23">
            <a:extLst>
              <a:ext uri="{FF2B5EF4-FFF2-40B4-BE49-F238E27FC236}">
                <a16:creationId xmlns:a16="http://schemas.microsoft.com/office/drawing/2014/main" id="{6EC9CFC5-71F9-63BB-19F7-C03E27FAE776}"/>
              </a:ext>
            </a:extLst>
          </p:cNvPr>
          <p:cNvSpPr txBox="1"/>
          <p:nvPr/>
        </p:nvSpPr>
        <p:spPr>
          <a:xfrm>
            <a:off x="7656494" y="5543591"/>
            <a:ext cx="4443647" cy="954107"/>
          </a:xfrm>
          <a:prstGeom prst="rect">
            <a:avLst/>
          </a:prstGeom>
          <a:noFill/>
        </p:spPr>
        <p:txBody>
          <a:bodyPr wrap="square" rtlCol="0">
            <a:spAutoFit/>
          </a:bodyPr>
          <a:lstStyle/>
          <a:p>
            <a:r>
              <a:rPr lang="en-IN" sz="2800" b="1" dirty="0">
                <a:solidFill>
                  <a:srgbClr val="7030A0"/>
                </a:solidFill>
                <a:latin typeface="Aharoni" panose="02010803020104030203" pitchFamily="2" charset="-79"/>
                <a:cs typeface="Aharoni" panose="02010803020104030203" pitchFamily="2" charset="-79"/>
              </a:rPr>
              <a:t>Modern Pamphlets and Inserts</a:t>
            </a:r>
            <a:endParaRPr lang="en-US" sz="2800" b="1" dirty="0">
              <a:solidFill>
                <a:srgbClr val="7030A0"/>
              </a:solidFill>
              <a:latin typeface="Aharoni" panose="02010803020104030203" pitchFamily="2" charset="-79"/>
              <a:cs typeface="Aharoni" panose="02010803020104030203" pitchFamily="2" charset="-79"/>
            </a:endParaRPr>
          </a:p>
        </p:txBody>
      </p:sp>
    </p:spTree>
    <p:extLst>
      <p:ext uri="{BB962C8B-B14F-4D97-AF65-F5344CB8AC3E}">
        <p14:creationId xmlns:p14="http://schemas.microsoft.com/office/powerpoint/2010/main" val="4369899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D163F94-57D8-0134-71F7-26A9AFD23D47}"/>
              </a:ext>
            </a:extLst>
          </p:cNvPr>
          <p:cNvGrpSpPr/>
          <p:nvPr/>
        </p:nvGrpSpPr>
        <p:grpSpPr>
          <a:xfrm>
            <a:off x="0" y="-904"/>
            <a:ext cx="12192000" cy="536077"/>
            <a:chOff x="0" y="-21869"/>
            <a:chExt cx="10579546" cy="536077"/>
          </a:xfrm>
        </p:grpSpPr>
        <p:sp>
          <p:nvSpPr>
            <p:cNvPr id="6" name="Pentagon 18">
              <a:extLst>
                <a:ext uri="{FF2B5EF4-FFF2-40B4-BE49-F238E27FC236}">
                  <a16:creationId xmlns:a16="http://schemas.microsoft.com/office/drawing/2014/main" id="{CC508F05-6394-20E7-D818-4071E4958C94}"/>
                </a:ext>
              </a:extLst>
            </p:cNvPr>
            <p:cNvSpPr/>
            <p:nvPr/>
          </p:nvSpPr>
          <p:spPr>
            <a:xfrm>
              <a:off x="8457282" y="-21869"/>
              <a:ext cx="2122264" cy="533258"/>
            </a:xfrm>
            <a:prstGeom prst="homePlat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t>        Gaps</a:t>
              </a:r>
            </a:p>
          </p:txBody>
        </p:sp>
        <p:sp>
          <p:nvSpPr>
            <p:cNvPr id="7" name="Pentagon 18">
              <a:extLst>
                <a:ext uri="{FF2B5EF4-FFF2-40B4-BE49-F238E27FC236}">
                  <a16:creationId xmlns:a16="http://schemas.microsoft.com/office/drawing/2014/main" id="{D90F203C-CF01-1B12-5F59-AF5D0310A003}"/>
                </a:ext>
              </a:extLst>
            </p:cNvPr>
            <p:cNvSpPr/>
            <p:nvPr/>
          </p:nvSpPr>
          <p:spPr>
            <a:xfrm>
              <a:off x="6447179" y="-21869"/>
              <a:ext cx="2541105" cy="533258"/>
            </a:xfrm>
            <a:prstGeom prst="homePlate">
              <a:avLst/>
            </a:prstGeom>
            <a:solidFill>
              <a:schemeClr val="accent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t>         Marketing</a:t>
              </a:r>
              <a:endParaRPr lang="en-IN" sz="2000" b="1" dirty="0"/>
            </a:p>
          </p:txBody>
        </p:sp>
        <p:grpSp>
          <p:nvGrpSpPr>
            <p:cNvPr id="8" name="Group 7">
              <a:extLst>
                <a:ext uri="{FF2B5EF4-FFF2-40B4-BE49-F238E27FC236}">
                  <a16:creationId xmlns:a16="http://schemas.microsoft.com/office/drawing/2014/main" id="{8AED5EBB-C156-4382-F9B4-9055C3D7834F}"/>
                </a:ext>
              </a:extLst>
            </p:cNvPr>
            <p:cNvGrpSpPr/>
            <p:nvPr/>
          </p:nvGrpSpPr>
          <p:grpSpPr>
            <a:xfrm>
              <a:off x="0" y="-21869"/>
              <a:ext cx="7064096" cy="536077"/>
              <a:chOff x="0" y="9861"/>
              <a:chExt cx="7372069" cy="536077"/>
            </a:xfrm>
          </p:grpSpPr>
          <p:sp>
            <p:nvSpPr>
              <p:cNvPr id="9" name="Pentagon 18">
                <a:extLst>
                  <a:ext uri="{FF2B5EF4-FFF2-40B4-BE49-F238E27FC236}">
                    <a16:creationId xmlns:a16="http://schemas.microsoft.com/office/drawing/2014/main" id="{139922F0-3C2C-FD25-AE87-5103FFCCB381}"/>
                  </a:ext>
                </a:extLst>
              </p:cNvPr>
              <p:cNvSpPr/>
              <p:nvPr/>
            </p:nvSpPr>
            <p:spPr>
              <a:xfrm>
                <a:off x="4433001" y="9861"/>
                <a:ext cx="2939068" cy="533258"/>
              </a:xfrm>
              <a:prstGeom prst="homePlate">
                <a:avLst/>
              </a:prstGeom>
              <a:solidFill>
                <a:schemeClr val="accent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t>       Brand Awareness</a:t>
                </a:r>
                <a:endParaRPr lang="en-IN" sz="2000" b="1" dirty="0"/>
              </a:p>
            </p:txBody>
          </p:sp>
          <p:sp>
            <p:nvSpPr>
              <p:cNvPr id="10" name="Pentagon 18">
                <a:extLst>
                  <a:ext uri="{FF2B5EF4-FFF2-40B4-BE49-F238E27FC236}">
                    <a16:creationId xmlns:a16="http://schemas.microsoft.com/office/drawing/2014/main" id="{05392A07-A645-172D-B400-E1837201A0CD}"/>
                  </a:ext>
                </a:extLst>
              </p:cNvPr>
              <p:cNvSpPr/>
              <p:nvPr/>
            </p:nvSpPr>
            <p:spPr>
              <a:xfrm>
                <a:off x="1983048" y="9861"/>
                <a:ext cx="2912745" cy="533258"/>
              </a:xfrm>
              <a:prstGeom prst="homePlate">
                <a:avLst/>
              </a:prstGeom>
              <a:solidFill>
                <a:schemeClr val="accent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         Lead Generation</a:t>
                </a:r>
              </a:p>
            </p:txBody>
          </p:sp>
          <p:sp>
            <p:nvSpPr>
              <p:cNvPr id="11" name="Pentagon 18">
                <a:extLst>
                  <a:ext uri="{FF2B5EF4-FFF2-40B4-BE49-F238E27FC236}">
                    <a16:creationId xmlns:a16="http://schemas.microsoft.com/office/drawing/2014/main" id="{6FC41895-3C41-27C5-96A7-86888EBFC0F3}"/>
                  </a:ext>
                </a:extLst>
              </p:cNvPr>
              <p:cNvSpPr/>
              <p:nvPr/>
            </p:nvSpPr>
            <p:spPr>
              <a:xfrm>
                <a:off x="0" y="12680"/>
                <a:ext cx="2600538" cy="533258"/>
              </a:xfrm>
              <a:prstGeom prst="homePlate">
                <a:avLst/>
              </a:prstGeom>
              <a:solidFill>
                <a:schemeClr val="accent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t>Situation and Task</a:t>
                </a:r>
                <a:endParaRPr lang="en-IN" sz="2000" b="1" dirty="0"/>
              </a:p>
            </p:txBody>
          </p:sp>
        </p:grpSp>
      </p:grpSp>
      <p:sp>
        <p:nvSpPr>
          <p:cNvPr id="3" name="TextBox 2">
            <a:extLst>
              <a:ext uri="{FF2B5EF4-FFF2-40B4-BE49-F238E27FC236}">
                <a16:creationId xmlns:a16="http://schemas.microsoft.com/office/drawing/2014/main" id="{7E456807-BC8E-666F-4602-98C0CF5D7BDC}"/>
              </a:ext>
            </a:extLst>
          </p:cNvPr>
          <p:cNvSpPr txBox="1"/>
          <p:nvPr/>
        </p:nvSpPr>
        <p:spPr>
          <a:xfrm>
            <a:off x="72548" y="581266"/>
            <a:ext cx="12027593" cy="400110"/>
          </a:xfrm>
          <a:prstGeom prst="rect">
            <a:avLst/>
          </a:prstGeom>
          <a:solidFill>
            <a:schemeClr val="accent2"/>
          </a:solidFill>
        </p:spPr>
        <p:txBody>
          <a:bodyPr wrap="square" rtlCol="0">
            <a:spAutoFit/>
          </a:bodyPr>
          <a:lstStyle/>
          <a:p>
            <a:pPr algn="ctr"/>
            <a:r>
              <a:rPr lang="en-IN" sz="2000" b="1" dirty="0">
                <a:solidFill>
                  <a:schemeClr val="bg1"/>
                </a:solidFill>
              </a:rPr>
              <a:t>Strategies for effective Marketing and Promotion by tapping different avenues in both free and paid ways   </a:t>
            </a:r>
            <a:endParaRPr lang="en-US" sz="2000" b="1" dirty="0">
              <a:solidFill>
                <a:schemeClr val="bg1"/>
              </a:solidFill>
            </a:endParaRPr>
          </a:p>
        </p:txBody>
      </p:sp>
      <p:sp>
        <p:nvSpPr>
          <p:cNvPr id="15" name="TextBox 14">
            <a:extLst>
              <a:ext uri="{FF2B5EF4-FFF2-40B4-BE49-F238E27FC236}">
                <a16:creationId xmlns:a16="http://schemas.microsoft.com/office/drawing/2014/main" id="{F15F5AD5-8418-8831-8F25-B5DF4223C31A}"/>
              </a:ext>
            </a:extLst>
          </p:cNvPr>
          <p:cNvSpPr txBox="1"/>
          <p:nvPr/>
        </p:nvSpPr>
        <p:spPr>
          <a:xfrm>
            <a:off x="162838" y="1061417"/>
            <a:ext cx="5933162" cy="1815882"/>
          </a:xfrm>
          <a:prstGeom prst="rect">
            <a:avLst/>
          </a:prstGeom>
          <a:noFill/>
          <a:ln>
            <a:solidFill>
              <a:schemeClr val="tx1"/>
            </a:solidFill>
            <a:prstDash val="lgDash"/>
          </a:ln>
        </p:spPr>
        <p:txBody>
          <a:bodyPr wrap="square" rtlCol="0">
            <a:spAutoFit/>
          </a:bodyPr>
          <a:lstStyle/>
          <a:p>
            <a:r>
              <a:rPr lang="en-IN" sz="1600" b="1" dirty="0"/>
              <a:t>Email Marketing: </a:t>
            </a:r>
            <a:r>
              <a:rPr lang="en-IN" sz="1600" dirty="0"/>
              <a:t>Customized email marketing pushing the on demand services with seasonal trends </a:t>
            </a:r>
            <a:r>
              <a:rPr lang="en-IN" sz="1600" dirty="0">
                <a:highlight>
                  <a:srgbClr val="FFFF00"/>
                </a:highlight>
              </a:rPr>
              <a:t>(Free tool – HubSpot free email marketing tool). (Note: The Email Copy should be sharply targeted and to the point)</a:t>
            </a:r>
          </a:p>
          <a:p>
            <a:endParaRPr lang="en-IN" sz="1600" b="1" i="1" dirty="0"/>
          </a:p>
          <a:p>
            <a:r>
              <a:rPr lang="en-IN" sz="1600" b="1" i="1" dirty="0"/>
              <a:t>Result: </a:t>
            </a:r>
            <a:r>
              <a:rPr lang="en-IN" sz="1600" dirty="0"/>
              <a:t>Increase in brand awareness, High chances of conversion with Call to action, Tracking.</a:t>
            </a:r>
            <a:endParaRPr lang="en-IN" sz="1600" b="1" i="1" dirty="0">
              <a:highlight>
                <a:srgbClr val="FFFF00"/>
              </a:highlight>
            </a:endParaRPr>
          </a:p>
        </p:txBody>
      </p:sp>
      <p:sp>
        <p:nvSpPr>
          <p:cNvPr id="20" name="TextBox 19">
            <a:extLst>
              <a:ext uri="{FF2B5EF4-FFF2-40B4-BE49-F238E27FC236}">
                <a16:creationId xmlns:a16="http://schemas.microsoft.com/office/drawing/2014/main" id="{B082E902-79EF-C394-95E8-62534E9C07FD}"/>
              </a:ext>
            </a:extLst>
          </p:cNvPr>
          <p:cNvSpPr txBox="1"/>
          <p:nvPr/>
        </p:nvSpPr>
        <p:spPr>
          <a:xfrm>
            <a:off x="6148570" y="3234229"/>
            <a:ext cx="5933162" cy="1323439"/>
          </a:xfrm>
          <a:prstGeom prst="rect">
            <a:avLst/>
          </a:prstGeom>
          <a:noFill/>
          <a:ln>
            <a:solidFill>
              <a:schemeClr val="tx1"/>
            </a:solidFill>
            <a:prstDash val="lgDash"/>
          </a:ln>
        </p:spPr>
        <p:txBody>
          <a:bodyPr wrap="square" rtlCol="0">
            <a:spAutoFit/>
          </a:bodyPr>
          <a:lstStyle/>
          <a:p>
            <a:r>
              <a:rPr lang="en-IN" sz="1600" b="1" dirty="0"/>
              <a:t>YouTube and Blog Promotion: </a:t>
            </a:r>
            <a:r>
              <a:rPr lang="en-IN" sz="1600" dirty="0"/>
              <a:t>This is one of the easiest way to reach mass in the local region. Collaboration with </a:t>
            </a:r>
            <a:r>
              <a:rPr lang="en-IN" sz="1600" dirty="0">
                <a:highlight>
                  <a:srgbClr val="FFFF00"/>
                </a:highlight>
              </a:rPr>
              <a:t>Lucknow based popular youtubers and bloggers having a wide reach.</a:t>
            </a:r>
          </a:p>
          <a:p>
            <a:endParaRPr lang="en-IN" sz="1600" b="1" i="1" dirty="0"/>
          </a:p>
          <a:p>
            <a:r>
              <a:rPr lang="en-IN" sz="1600" b="1" i="1" dirty="0"/>
              <a:t>Result: </a:t>
            </a:r>
            <a:r>
              <a:rPr lang="en-IN" sz="1600" dirty="0"/>
              <a:t>Wider reach, brand awareness and long term presence</a:t>
            </a:r>
            <a:endParaRPr lang="en-IN" sz="1600" b="1" i="1" dirty="0"/>
          </a:p>
        </p:txBody>
      </p:sp>
      <p:sp>
        <p:nvSpPr>
          <p:cNvPr id="22" name="TextBox 21">
            <a:extLst>
              <a:ext uri="{FF2B5EF4-FFF2-40B4-BE49-F238E27FC236}">
                <a16:creationId xmlns:a16="http://schemas.microsoft.com/office/drawing/2014/main" id="{914EE210-4CB2-3DB6-27DE-91586FB70D16}"/>
              </a:ext>
            </a:extLst>
          </p:cNvPr>
          <p:cNvSpPr txBox="1"/>
          <p:nvPr/>
        </p:nvSpPr>
        <p:spPr>
          <a:xfrm>
            <a:off x="162838" y="5027580"/>
            <a:ext cx="5933162" cy="1569660"/>
          </a:xfrm>
          <a:prstGeom prst="rect">
            <a:avLst/>
          </a:prstGeom>
          <a:noFill/>
          <a:ln>
            <a:solidFill>
              <a:schemeClr val="tx1"/>
            </a:solidFill>
            <a:prstDash val="lgDash"/>
          </a:ln>
        </p:spPr>
        <p:txBody>
          <a:bodyPr wrap="square" rtlCol="0">
            <a:spAutoFit/>
          </a:bodyPr>
          <a:lstStyle/>
          <a:p>
            <a:r>
              <a:rPr lang="en-IN" sz="1600" b="1" dirty="0"/>
              <a:t>Sponsoring local college events: </a:t>
            </a:r>
            <a:r>
              <a:rPr lang="en-IN" sz="1600" dirty="0"/>
              <a:t>College events sponsorships acts as a barter system. Workezy can do these college sponsorships for these activities like – </a:t>
            </a:r>
            <a:r>
              <a:rPr lang="en-IN" sz="1600" dirty="0">
                <a:highlight>
                  <a:srgbClr val="FFFF00"/>
                </a:highlight>
              </a:rPr>
              <a:t>App downloads, App reviews, Surveys for data and insights, Kiosks at colleges etc</a:t>
            </a:r>
          </a:p>
          <a:p>
            <a:endParaRPr lang="en-IN" sz="1600" b="1" dirty="0"/>
          </a:p>
          <a:p>
            <a:r>
              <a:rPr lang="en-IN" sz="1600" b="1" i="1" dirty="0"/>
              <a:t>Result: </a:t>
            </a:r>
            <a:r>
              <a:rPr lang="en-IN" sz="1600" dirty="0"/>
              <a:t>Wider reach, brand promotion and word of mouth.</a:t>
            </a:r>
            <a:endParaRPr lang="en-IN" sz="1600" b="1" i="1" dirty="0"/>
          </a:p>
        </p:txBody>
      </p:sp>
      <p:sp>
        <p:nvSpPr>
          <p:cNvPr id="21" name="TextBox 20">
            <a:extLst>
              <a:ext uri="{FF2B5EF4-FFF2-40B4-BE49-F238E27FC236}">
                <a16:creationId xmlns:a16="http://schemas.microsoft.com/office/drawing/2014/main" id="{993B1565-EA26-E942-967C-3595682A578B}"/>
              </a:ext>
            </a:extLst>
          </p:cNvPr>
          <p:cNvSpPr txBox="1"/>
          <p:nvPr/>
        </p:nvSpPr>
        <p:spPr>
          <a:xfrm>
            <a:off x="272142" y="3379168"/>
            <a:ext cx="4833257" cy="1200329"/>
          </a:xfrm>
          <a:prstGeom prst="rect">
            <a:avLst/>
          </a:prstGeom>
          <a:noFill/>
        </p:spPr>
        <p:txBody>
          <a:bodyPr wrap="square" rtlCol="0">
            <a:spAutoFit/>
          </a:bodyPr>
          <a:lstStyle/>
          <a:p>
            <a:r>
              <a:rPr lang="en-IN" sz="3600" b="1" dirty="0">
                <a:solidFill>
                  <a:schemeClr val="accent1"/>
                </a:solidFill>
                <a:latin typeface="Aharoni" panose="02010803020104030203" pitchFamily="2" charset="-79"/>
                <a:cs typeface="Aharoni" panose="02010803020104030203" pitchFamily="2" charset="-79"/>
              </a:rPr>
              <a:t>Local YouTube Channels and Blogs</a:t>
            </a:r>
            <a:endParaRPr lang="en-US" sz="3600" b="1" dirty="0">
              <a:solidFill>
                <a:schemeClr val="accent1"/>
              </a:solidFill>
              <a:latin typeface="Aharoni" panose="02010803020104030203" pitchFamily="2" charset="-79"/>
              <a:cs typeface="Aharoni" panose="02010803020104030203" pitchFamily="2" charset="-79"/>
            </a:endParaRPr>
          </a:p>
        </p:txBody>
      </p:sp>
      <p:sp>
        <p:nvSpPr>
          <p:cNvPr id="23" name="TextBox 22">
            <a:extLst>
              <a:ext uri="{FF2B5EF4-FFF2-40B4-BE49-F238E27FC236}">
                <a16:creationId xmlns:a16="http://schemas.microsoft.com/office/drawing/2014/main" id="{F5A2D338-1608-4B2A-9457-395B626755AC}"/>
              </a:ext>
            </a:extLst>
          </p:cNvPr>
          <p:cNvSpPr txBox="1"/>
          <p:nvPr/>
        </p:nvSpPr>
        <p:spPr>
          <a:xfrm>
            <a:off x="7629438" y="1642984"/>
            <a:ext cx="4443647" cy="646331"/>
          </a:xfrm>
          <a:prstGeom prst="rect">
            <a:avLst/>
          </a:prstGeom>
          <a:noFill/>
        </p:spPr>
        <p:txBody>
          <a:bodyPr wrap="square" rtlCol="0">
            <a:spAutoFit/>
          </a:bodyPr>
          <a:lstStyle/>
          <a:p>
            <a:r>
              <a:rPr lang="en-IN" sz="3600" b="1" dirty="0">
                <a:solidFill>
                  <a:srgbClr val="C00000"/>
                </a:solidFill>
                <a:latin typeface="Aharoni" panose="02010803020104030203" pitchFamily="2" charset="-79"/>
                <a:cs typeface="Aharoni" panose="02010803020104030203" pitchFamily="2" charset="-79"/>
              </a:rPr>
              <a:t>Email Marketing</a:t>
            </a:r>
            <a:endParaRPr lang="en-US" sz="3600" b="1" dirty="0">
              <a:solidFill>
                <a:srgbClr val="C00000"/>
              </a:solidFill>
              <a:latin typeface="Aharoni" panose="02010803020104030203" pitchFamily="2" charset="-79"/>
              <a:cs typeface="Aharoni" panose="02010803020104030203" pitchFamily="2" charset="-79"/>
            </a:endParaRPr>
          </a:p>
        </p:txBody>
      </p:sp>
      <p:sp>
        <p:nvSpPr>
          <p:cNvPr id="24" name="TextBox 23">
            <a:extLst>
              <a:ext uri="{FF2B5EF4-FFF2-40B4-BE49-F238E27FC236}">
                <a16:creationId xmlns:a16="http://schemas.microsoft.com/office/drawing/2014/main" id="{6EC9CFC5-71F9-63BB-19F7-C03E27FAE776}"/>
              </a:ext>
            </a:extLst>
          </p:cNvPr>
          <p:cNvSpPr txBox="1"/>
          <p:nvPr/>
        </p:nvSpPr>
        <p:spPr>
          <a:xfrm>
            <a:off x="7777875" y="5257621"/>
            <a:ext cx="4622592" cy="1200329"/>
          </a:xfrm>
          <a:prstGeom prst="rect">
            <a:avLst/>
          </a:prstGeom>
          <a:noFill/>
        </p:spPr>
        <p:txBody>
          <a:bodyPr wrap="square" rtlCol="0">
            <a:spAutoFit/>
          </a:bodyPr>
          <a:lstStyle/>
          <a:p>
            <a:r>
              <a:rPr lang="en-IN" sz="3600" b="1" dirty="0">
                <a:solidFill>
                  <a:srgbClr val="7030A0"/>
                </a:solidFill>
                <a:latin typeface="Aharoni" panose="02010803020104030203" pitchFamily="2" charset="-79"/>
                <a:cs typeface="Aharoni" panose="02010803020104030203" pitchFamily="2" charset="-79"/>
              </a:rPr>
              <a:t>College event sponsorships</a:t>
            </a:r>
            <a:endParaRPr lang="en-US" sz="3600" b="1" dirty="0">
              <a:solidFill>
                <a:srgbClr val="7030A0"/>
              </a:solidFill>
              <a:latin typeface="Aharoni" panose="02010803020104030203" pitchFamily="2" charset="-79"/>
              <a:cs typeface="Aharoni" panose="02010803020104030203" pitchFamily="2" charset="-79"/>
            </a:endParaRPr>
          </a:p>
        </p:txBody>
      </p:sp>
      <p:pic>
        <p:nvPicPr>
          <p:cNvPr id="18" name="Picture 17" descr="A picture containing text&#10;&#10;Description automatically generated">
            <a:extLst>
              <a:ext uri="{FF2B5EF4-FFF2-40B4-BE49-F238E27FC236}">
                <a16:creationId xmlns:a16="http://schemas.microsoft.com/office/drawing/2014/main" id="{215139D2-D17A-95D5-8BB3-A43D0D5395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40438" y="5338444"/>
            <a:ext cx="1019113" cy="1019113"/>
          </a:xfrm>
          <a:prstGeom prst="rect">
            <a:avLst/>
          </a:prstGeom>
        </p:spPr>
      </p:pic>
      <p:pic>
        <p:nvPicPr>
          <p:cNvPr id="25" name="Picture 24" descr="Logo, icon&#10;&#10;Description automatically generated">
            <a:extLst>
              <a:ext uri="{FF2B5EF4-FFF2-40B4-BE49-F238E27FC236}">
                <a16:creationId xmlns:a16="http://schemas.microsoft.com/office/drawing/2014/main" id="{78F423FF-C292-1AB1-D74F-8474C2F926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73411" y="3475386"/>
            <a:ext cx="954107" cy="954107"/>
          </a:xfrm>
          <a:prstGeom prst="rect">
            <a:avLst/>
          </a:prstGeom>
        </p:spPr>
      </p:pic>
      <p:pic>
        <p:nvPicPr>
          <p:cNvPr id="27" name="Picture 26" descr="A picture containing text, first-aid kit, businesscard, vector graphics&#10;&#10;Description automatically generated">
            <a:extLst>
              <a:ext uri="{FF2B5EF4-FFF2-40B4-BE49-F238E27FC236}">
                <a16:creationId xmlns:a16="http://schemas.microsoft.com/office/drawing/2014/main" id="{5D6BB2EB-3A68-8BC4-712E-C718D4F590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40438" y="1478844"/>
            <a:ext cx="974609" cy="974609"/>
          </a:xfrm>
          <a:prstGeom prst="rect">
            <a:avLst/>
          </a:prstGeom>
        </p:spPr>
      </p:pic>
    </p:spTree>
    <p:extLst>
      <p:ext uri="{BB962C8B-B14F-4D97-AF65-F5344CB8AC3E}">
        <p14:creationId xmlns:p14="http://schemas.microsoft.com/office/powerpoint/2010/main" val="33004494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D163F94-57D8-0134-71F7-26A9AFD23D47}"/>
              </a:ext>
            </a:extLst>
          </p:cNvPr>
          <p:cNvGrpSpPr/>
          <p:nvPr/>
        </p:nvGrpSpPr>
        <p:grpSpPr>
          <a:xfrm>
            <a:off x="0" y="2"/>
            <a:ext cx="12192000" cy="536077"/>
            <a:chOff x="0" y="-21869"/>
            <a:chExt cx="10579546" cy="536077"/>
          </a:xfrm>
        </p:grpSpPr>
        <p:sp>
          <p:nvSpPr>
            <p:cNvPr id="6" name="Pentagon 18">
              <a:extLst>
                <a:ext uri="{FF2B5EF4-FFF2-40B4-BE49-F238E27FC236}">
                  <a16:creationId xmlns:a16="http://schemas.microsoft.com/office/drawing/2014/main" id="{CC508F05-6394-20E7-D818-4071E4958C94}"/>
                </a:ext>
              </a:extLst>
            </p:cNvPr>
            <p:cNvSpPr/>
            <p:nvPr/>
          </p:nvSpPr>
          <p:spPr>
            <a:xfrm>
              <a:off x="8457282" y="-21869"/>
              <a:ext cx="2122264" cy="533258"/>
            </a:xfrm>
            <a:prstGeom prst="homePlate">
              <a:avLst/>
            </a:prstGeom>
            <a:solidFill>
              <a:schemeClr val="accent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t>        Gaps</a:t>
              </a:r>
            </a:p>
          </p:txBody>
        </p:sp>
        <p:sp>
          <p:nvSpPr>
            <p:cNvPr id="7" name="Pentagon 18">
              <a:extLst>
                <a:ext uri="{FF2B5EF4-FFF2-40B4-BE49-F238E27FC236}">
                  <a16:creationId xmlns:a16="http://schemas.microsoft.com/office/drawing/2014/main" id="{D90F203C-CF01-1B12-5F59-AF5D0310A003}"/>
                </a:ext>
              </a:extLst>
            </p:cNvPr>
            <p:cNvSpPr/>
            <p:nvPr/>
          </p:nvSpPr>
          <p:spPr>
            <a:xfrm>
              <a:off x="6447179" y="-21869"/>
              <a:ext cx="2541105" cy="533258"/>
            </a:xfrm>
            <a:prstGeom prst="homePlate">
              <a:avLst/>
            </a:prstGeom>
            <a:solidFill>
              <a:schemeClr val="accent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t>         Marketing</a:t>
              </a:r>
              <a:endParaRPr lang="en-IN" sz="2000" b="1" dirty="0"/>
            </a:p>
          </p:txBody>
        </p:sp>
        <p:grpSp>
          <p:nvGrpSpPr>
            <p:cNvPr id="8" name="Group 7">
              <a:extLst>
                <a:ext uri="{FF2B5EF4-FFF2-40B4-BE49-F238E27FC236}">
                  <a16:creationId xmlns:a16="http://schemas.microsoft.com/office/drawing/2014/main" id="{8AED5EBB-C156-4382-F9B4-9055C3D7834F}"/>
                </a:ext>
              </a:extLst>
            </p:cNvPr>
            <p:cNvGrpSpPr/>
            <p:nvPr/>
          </p:nvGrpSpPr>
          <p:grpSpPr>
            <a:xfrm>
              <a:off x="0" y="-21869"/>
              <a:ext cx="7064096" cy="536077"/>
              <a:chOff x="0" y="9861"/>
              <a:chExt cx="7372069" cy="536077"/>
            </a:xfrm>
          </p:grpSpPr>
          <p:sp>
            <p:nvSpPr>
              <p:cNvPr id="9" name="Pentagon 18">
                <a:extLst>
                  <a:ext uri="{FF2B5EF4-FFF2-40B4-BE49-F238E27FC236}">
                    <a16:creationId xmlns:a16="http://schemas.microsoft.com/office/drawing/2014/main" id="{139922F0-3C2C-FD25-AE87-5103FFCCB381}"/>
                  </a:ext>
                </a:extLst>
              </p:cNvPr>
              <p:cNvSpPr/>
              <p:nvPr/>
            </p:nvSpPr>
            <p:spPr>
              <a:xfrm>
                <a:off x="4433001" y="9861"/>
                <a:ext cx="2939068" cy="533258"/>
              </a:xfrm>
              <a:prstGeom prst="homePlate">
                <a:avLst/>
              </a:prstGeom>
              <a:solidFill>
                <a:schemeClr val="accent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t>       Brand Awareness</a:t>
                </a:r>
                <a:endParaRPr lang="en-IN" sz="2000" b="1" dirty="0"/>
              </a:p>
            </p:txBody>
          </p:sp>
          <p:sp>
            <p:nvSpPr>
              <p:cNvPr id="10" name="Pentagon 18">
                <a:extLst>
                  <a:ext uri="{FF2B5EF4-FFF2-40B4-BE49-F238E27FC236}">
                    <a16:creationId xmlns:a16="http://schemas.microsoft.com/office/drawing/2014/main" id="{05392A07-A645-172D-B400-E1837201A0CD}"/>
                  </a:ext>
                </a:extLst>
              </p:cNvPr>
              <p:cNvSpPr/>
              <p:nvPr/>
            </p:nvSpPr>
            <p:spPr>
              <a:xfrm>
                <a:off x="1983048" y="9861"/>
                <a:ext cx="2912745" cy="533258"/>
              </a:xfrm>
              <a:prstGeom prst="homePlate">
                <a:avLst/>
              </a:prstGeom>
              <a:solidFill>
                <a:schemeClr val="accent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         Lead Generation</a:t>
                </a:r>
              </a:p>
            </p:txBody>
          </p:sp>
          <p:sp>
            <p:nvSpPr>
              <p:cNvPr id="11" name="Pentagon 18">
                <a:extLst>
                  <a:ext uri="{FF2B5EF4-FFF2-40B4-BE49-F238E27FC236}">
                    <a16:creationId xmlns:a16="http://schemas.microsoft.com/office/drawing/2014/main" id="{6FC41895-3C41-27C5-96A7-86888EBFC0F3}"/>
                  </a:ext>
                </a:extLst>
              </p:cNvPr>
              <p:cNvSpPr/>
              <p:nvPr/>
            </p:nvSpPr>
            <p:spPr>
              <a:xfrm>
                <a:off x="0" y="12680"/>
                <a:ext cx="2600538" cy="533258"/>
              </a:xfrm>
              <a:prstGeom prst="homePlate">
                <a:avLst/>
              </a:prstGeom>
              <a:solidFill>
                <a:schemeClr val="accent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t>Situation and Task</a:t>
                </a:r>
                <a:endParaRPr lang="en-IN" sz="2000" b="1" dirty="0"/>
              </a:p>
            </p:txBody>
          </p:sp>
        </p:grpSp>
      </p:grpSp>
      <p:sp>
        <p:nvSpPr>
          <p:cNvPr id="3" name="TextBox 2">
            <a:extLst>
              <a:ext uri="{FF2B5EF4-FFF2-40B4-BE49-F238E27FC236}">
                <a16:creationId xmlns:a16="http://schemas.microsoft.com/office/drawing/2014/main" id="{7E456807-BC8E-666F-4602-98C0CF5D7BDC}"/>
              </a:ext>
            </a:extLst>
          </p:cNvPr>
          <p:cNvSpPr txBox="1"/>
          <p:nvPr/>
        </p:nvSpPr>
        <p:spPr>
          <a:xfrm>
            <a:off x="72548" y="581266"/>
            <a:ext cx="12027593" cy="400110"/>
          </a:xfrm>
          <a:prstGeom prst="rect">
            <a:avLst/>
          </a:prstGeom>
          <a:solidFill>
            <a:schemeClr val="accent2"/>
          </a:solidFill>
        </p:spPr>
        <p:txBody>
          <a:bodyPr wrap="square" rtlCol="0">
            <a:spAutoFit/>
          </a:bodyPr>
          <a:lstStyle/>
          <a:p>
            <a:pPr algn="ctr"/>
            <a:r>
              <a:rPr lang="en-IN" sz="2000" b="1" dirty="0">
                <a:solidFill>
                  <a:schemeClr val="bg1"/>
                </a:solidFill>
              </a:rPr>
              <a:t>Potential GAPS and their solutions</a:t>
            </a:r>
            <a:endParaRPr lang="en-US" sz="2000" b="1" dirty="0">
              <a:solidFill>
                <a:schemeClr val="bg1"/>
              </a:solidFill>
            </a:endParaRPr>
          </a:p>
        </p:txBody>
      </p:sp>
      <p:graphicFrame>
        <p:nvGraphicFramePr>
          <p:cNvPr id="2" name="Table 12">
            <a:extLst>
              <a:ext uri="{FF2B5EF4-FFF2-40B4-BE49-F238E27FC236}">
                <a16:creationId xmlns:a16="http://schemas.microsoft.com/office/drawing/2014/main" id="{D79C6080-7633-6527-8FE1-7895F8416C7E}"/>
              </a:ext>
            </a:extLst>
          </p:cNvPr>
          <p:cNvGraphicFramePr>
            <a:graphicFrameLocks noGrp="1"/>
          </p:cNvGraphicFramePr>
          <p:nvPr>
            <p:extLst>
              <p:ext uri="{D42A27DB-BD31-4B8C-83A1-F6EECF244321}">
                <p14:modId xmlns:p14="http://schemas.microsoft.com/office/powerpoint/2010/main" val="282461379"/>
              </p:ext>
            </p:extLst>
          </p:nvPr>
        </p:nvGraphicFramePr>
        <p:xfrm>
          <a:off x="72548" y="1091880"/>
          <a:ext cx="12027594" cy="5674360"/>
        </p:xfrm>
        <a:graphic>
          <a:graphicData uri="http://schemas.openxmlformats.org/drawingml/2006/table">
            <a:tbl>
              <a:tblPr firstRow="1" bandRow="1">
                <a:tableStyleId>{21E4AEA4-8DFA-4A89-87EB-49C32662AFE0}</a:tableStyleId>
              </a:tblPr>
              <a:tblGrid>
                <a:gridCol w="6013797">
                  <a:extLst>
                    <a:ext uri="{9D8B030D-6E8A-4147-A177-3AD203B41FA5}">
                      <a16:colId xmlns:a16="http://schemas.microsoft.com/office/drawing/2014/main" val="2322320959"/>
                    </a:ext>
                  </a:extLst>
                </a:gridCol>
                <a:gridCol w="6013797">
                  <a:extLst>
                    <a:ext uri="{9D8B030D-6E8A-4147-A177-3AD203B41FA5}">
                      <a16:colId xmlns:a16="http://schemas.microsoft.com/office/drawing/2014/main" val="2627863097"/>
                    </a:ext>
                  </a:extLst>
                </a:gridCol>
              </a:tblGrid>
              <a:tr h="370840">
                <a:tc>
                  <a:txBody>
                    <a:bodyPr/>
                    <a:lstStyle/>
                    <a:p>
                      <a:r>
                        <a:rPr lang="en-IN" dirty="0"/>
                        <a:t>Gaps</a:t>
                      </a:r>
                      <a:endParaRPr lang="en-US" dirty="0"/>
                    </a:p>
                  </a:txBody>
                  <a:tcPr/>
                </a:tc>
                <a:tc>
                  <a:txBody>
                    <a:bodyPr/>
                    <a:lstStyle/>
                    <a:p>
                      <a:r>
                        <a:rPr lang="en-IN" dirty="0"/>
                        <a:t>Solutions</a:t>
                      </a:r>
                      <a:endParaRPr lang="en-US" dirty="0"/>
                    </a:p>
                  </a:txBody>
                  <a:tcPr/>
                </a:tc>
                <a:extLst>
                  <a:ext uri="{0D108BD9-81ED-4DB2-BD59-A6C34878D82A}">
                    <a16:rowId xmlns:a16="http://schemas.microsoft.com/office/drawing/2014/main" val="42075810"/>
                  </a:ext>
                </a:extLst>
              </a:tr>
              <a:tr h="370840">
                <a:tc>
                  <a:txBody>
                    <a:bodyPr/>
                    <a:lstStyle/>
                    <a:p>
                      <a:r>
                        <a:rPr lang="en-IN" dirty="0"/>
                        <a:t>Less reviews on Google App and no response from Workezy</a:t>
                      </a:r>
                    </a:p>
                    <a:p>
                      <a:endParaRPr lang="en-IN" dirty="0"/>
                    </a:p>
                    <a:p>
                      <a:endParaRPr lang="en-IN" dirty="0"/>
                    </a:p>
                    <a:p>
                      <a:endParaRPr lang="en-IN" dirty="0"/>
                    </a:p>
                  </a:txBody>
                  <a:tcPr/>
                </a:tc>
                <a:tc>
                  <a:txBody>
                    <a:bodyPr/>
                    <a:lstStyle/>
                    <a:p>
                      <a:r>
                        <a:rPr lang="en-IN" dirty="0"/>
                        <a:t>Play Store reviews are one of the drivers of app installation. Workezy need to increase the reviews on Play Store by encouraging users to share feedback and responding the reviews on time</a:t>
                      </a:r>
                      <a:endParaRPr lang="en-US" dirty="0"/>
                    </a:p>
                  </a:txBody>
                  <a:tcPr/>
                </a:tc>
                <a:extLst>
                  <a:ext uri="{0D108BD9-81ED-4DB2-BD59-A6C34878D82A}">
                    <a16:rowId xmlns:a16="http://schemas.microsoft.com/office/drawing/2014/main" val="402077500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No option for booking through website. Users don’t readily install the app and bookings only through app restricts the inbound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a:txBody>
                  <a:tcPr/>
                </a:tc>
                <a:tc>
                  <a:txBody>
                    <a:bodyPr/>
                    <a:lstStyle/>
                    <a:p>
                      <a:r>
                        <a:rPr lang="en-IN" dirty="0"/>
                        <a:t>Booking feature (Add to cart) to be enabled on Website. This will also help in retargeting on social media. For example: If a user added driver service in cart but did not checkout then we can retarget him/her on social media for the same service</a:t>
                      </a:r>
                      <a:endParaRPr lang="en-US" dirty="0"/>
                    </a:p>
                  </a:txBody>
                  <a:tcPr/>
                </a:tc>
                <a:extLst>
                  <a:ext uri="{0D108BD9-81ED-4DB2-BD59-A6C34878D82A}">
                    <a16:rowId xmlns:a16="http://schemas.microsoft.com/office/drawing/2014/main" val="4247864007"/>
                  </a:ext>
                </a:extLst>
              </a:tr>
              <a:tr h="370840">
                <a:tc>
                  <a:txBody>
                    <a:bodyPr/>
                    <a:lstStyle/>
                    <a:p>
                      <a:r>
                        <a:rPr lang="en-IN" dirty="0"/>
                        <a:t>No Loyalty Program. A point-based loyalty program helps in user retention</a:t>
                      </a:r>
                    </a:p>
                    <a:p>
                      <a:endParaRPr lang="en-IN" dirty="0"/>
                    </a:p>
                    <a:p>
                      <a:endParaRPr lang="en-IN" dirty="0"/>
                    </a:p>
                  </a:txBody>
                  <a:tcPr/>
                </a:tc>
                <a:tc>
                  <a:txBody>
                    <a:bodyPr/>
                    <a:lstStyle/>
                    <a:p>
                      <a:r>
                        <a:rPr lang="en-IN" dirty="0"/>
                        <a:t>A point-based in app loyalty program based on earn and burn model.</a:t>
                      </a:r>
                      <a:endParaRPr lang="en-US" dirty="0"/>
                    </a:p>
                  </a:txBody>
                  <a:tcPr/>
                </a:tc>
                <a:extLst>
                  <a:ext uri="{0D108BD9-81ED-4DB2-BD59-A6C34878D82A}">
                    <a16:rowId xmlns:a16="http://schemas.microsoft.com/office/drawing/2014/main" val="908383115"/>
                  </a:ext>
                </a:extLst>
              </a:tr>
              <a:tr h="370840">
                <a:tc>
                  <a:txBody>
                    <a:bodyPr/>
                    <a:lstStyle/>
                    <a:p>
                      <a:r>
                        <a:rPr lang="en-IN" dirty="0"/>
                        <a:t>No Cross Selling on App. Cross selling of complimentary services increase the basket size and ultimately the revenue</a:t>
                      </a:r>
                    </a:p>
                    <a:p>
                      <a:endParaRPr lang="en-IN" dirty="0"/>
                    </a:p>
                    <a:p>
                      <a:endParaRPr lang="en-US" dirty="0"/>
                    </a:p>
                    <a:p>
                      <a:endParaRPr lang="en-US" dirty="0"/>
                    </a:p>
                  </a:txBody>
                  <a:tcPr/>
                </a:tc>
                <a:tc>
                  <a:txBody>
                    <a:bodyPr/>
                    <a:lstStyle/>
                    <a:p>
                      <a:r>
                        <a:rPr lang="en-IN" dirty="0"/>
                        <a:t>Introducing combos or packages with complimentary services like (Haircut + Shaving + Massage) with attractive offers</a:t>
                      </a:r>
                      <a:endParaRPr lang="en-US" dirty="0"/>
                    </a:p>
                  </a:txBody>
                  <a:tcPr/>
                </a:tc>
                <a:extLst>
                  <a:ext uri="{0D108BD9-81ED-4DB2-BD59-A6C34878D82A}">
                    <a16:rowId xmlns:a16="http://schemas.microsoft.com/office/drawing/2014/main" val="1559568212"/>
                  </a:ext>
                </a:extLst>
              </a:tr>
            </a:tbl>
          </a:graphicData>
        </a:graphic>
      </p:graphicFrame>
      <p:pic>
        <p:nvPicPr>
          <p:cNvPr id="18" name="Picture 17" descr="Icon&#10;&#10;Description automatically generated">
            <a:extLst>
              <a:ext uri="{FF2B5EF4-FFF2-40B4-BE49-F238E27FC236}">
                <a16:creationId xmlns:a16="http://schemas.microsoft.com/office/drawing/2014/main" id="{AF16FE9C-55FD-304C-9866-DAE0D63D8A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6572" y="5979120"/>
            <a:ext cx="631066" cy="631066"/>
          </a:xfrm>
          <a:prstGeom prst="rect">
            <a:avLst/>
          </a:prstGeom>
        </p:spPr>
      </p:pic>
      <p:pic>
        <p:nvPicPr>
          <p:cNvPr id="25" name="Picture 24" descr="Shape&#10;&#10;Description automatically generated with low confidence">
            <a:extLst>
              <a:ext uri="{FF2B5EF4-FFF2-40B4-BE49-F238E27FC236}">
                <a16:creationId xmlns:a16="http://schemas.microsoft.com/office/drawing/2014/main" id="{2C01F63F-E323-AB21-CD5D-141CCB9D8D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24411" y="4559230"/>
            <a:ext cx="606762" cy="606762"/>
          </a:xfrm>
          <a:prstGeom prst="rect">
            <a:avLst/>
          </a:prstGeom>
        </p:spPr>
      </p:pic>
      <p:pic>
        <p:nvPicPr>
          <p:cNvPr id="27" name="Picture 26" descr="Icon&#10;&#10;Description automatically generated">
            <a:extLst>
              <a:ext uri="{FF2B5EF4-FFF2-40B4-BE49-F238E27FC236}">
                <a16:creationId xmlns:a16="http://schemas.microsoft.com/office/drawing/2014/main" id="{8F5BE6CF-CDE1-0661-9809-3BF1702E786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8781" y="3314498"/>
            <a:ext cx="734928" cy="734928"/>
          </a:xfrm>
          <a:prstGeom prst="rect">
            <a:avLst/>
          </a:prstGeom>
        </p:spPr>
      </p:pic>
      <p:pic>
        <p:nvPicPr>
          <p:cNvPr id="29" name="Picture 28" descr="A picture containing icon&#10;&#10;Description automatically generated">
            <a:extLst>
              <a:ext uri="{FF2B5EF4-FFF2-40B4-BE49-F238E27FC236}">
                <a16:creationId xmlns:a16="http://schemas.microsoft.com/office/drawing/2014/main" id="{DA09B755-FE2C-D36B-9B24-6B32F32546F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1858" y="1909599"/>
            <a:ext cx="561835" cy="561835"/>
          </a:xfrm>
          <a:prstGeom prst="rect">
            <a:avLst/>
          </a:prstGeom>
        </p:spPr>
      </p:pic>
    </p:spTree>
    <p:extLst>
      <p:ext uri="{BB962C8B-B14F-4D97-AF65-F5344CB8AC3E}">
        <p14:creationId xmlns:p14="http://schemas.microsoft.com/office/powerpoint/2010/main" val="19267470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E456807-BC8E-666F-4602-98C0CF5D7BDC}"/>
              </a:ext>
            </a:extLst>
          </p:cNvPr>
          <p:cNvSpPr txBox="1"/>
          <p:nvPr/>
        </p:nvSpPr>
        <p:spPr>
          <a:xfrm>
            <a:off x="72548" y="109296"/>
            <a:ext cx="12027593" cy="400110"/>
          </a:xfrm>
          <a:prstGeom prst="rect">
            <a:avLst/>
          </a:prstGeom>
          <a:solidFill>
            <a:schemeClr val="accent2"/>
          </a:solidFill>
        </p:spPr>
        <p:txBody>
          <a:bodyPr wrap="square" rtlCol="0">
            <a:spAutoFit/>
          </a:bodyPr>
          <a:lstStyle/>
          <a:p>
            <a:pPr algn="ctr"/>
            <a:r>
              <a:rPr lang="en-IN" sz="2000" b="1" dirty="0">
                <a:solidFill>
                  <a:schemeClr val="bg1"/>
                </a:solidFill>
              </a:rPr>
              <a:t>Cost and Revenue Structure</a:t>
            </a:r>
            <a:endParaRPr lang="en-US" sz="2000" b="1" dirty="0">
              <a:solidFill>
                <a:schemeClr val="bg1"/>
              </a:solidFill>
            </a:endParaRPr>
          </a:p>
        </p:txBody>
      </p:sp>
      <p:sp>
        <p:nvSpPr>
          <p:cNvPr id="12" name="TextBox 11">
            <a:hlinkClick r:id="rId3" action="ppaction://hlinkfile"/>
            <a:extLst>
              <a:ext uri="{FF2B5EF4-FFF2-40B4-BE49-F238E27FC236}">
                <a16:creationId xmlns:a16="http://schemas.microsoft.com/office/drawing/2014/main" id="{FA19401D-C17C-F580-8A68-96E737D024CA}"/>
              </a:ext>
            </a:extLst>
          </p:cNvPr>
          <p:cNvSpPr txBox="1"/>
          <p:nvPr/>
        </p:nvSpPr>
        <p:spPr>
          <a:xfrm>
            <a:off x="2820629" y="3244334"/>
            <a:ext cx="6531429" cy="369332"/>
          </a:xfrm>
          <a:prstGeom prst="rect">
            <a:avLst/>
          </a:prstGeom>
          <a:noFill/>
        </p:spPr>
        <p:txBody>
          <a:bodyPr wrap="square" rtlCol="0">
            <a:spAutoFit/>
          </a:bodyPr>
          <a:lstStyle/>
          <a:p>
            <a:pPr algn="ctr"/>
            <a:r>
              <a:rPr lang="en-US" dirty="0">
                <a:hlinkClick r:id="rId3" action="ppaction://hlinkfile"/>
              </a:rPr>
              <a:t>Cost and Revenue </a:t>
            </a:r>
            <a:r>
              <a:rPr lang="en-US" dirty="0" err="1">
                <a:hlinkClick r:id="rId3" action="ppaction://hlinkfile"/>
              </a:rPr>
              <a:t>Structure_Mohit</a:t>
            </a:r>
            <a:r>
              <a:rPr lang="en-US" dirty="0">
                <a:hlinkClick r:id="rId3" action="ppaction://hlinkfile"/>
              </a:rPr>
              <a:t> Kiradoo_TAPMI.docx</a:t>
            </a:r>
            <a:endParaRPr lang="en-US" dirty="0"/>
          </a:p>
        </p:txBody>
      </p:sp>
    </p:spTree>
    <p:extLst>
      <p:ext uri="{BB962C8B-B14F-4D97-AF65-F5344CB8AC3E}">
        <p14:creationId xmlns:p14="http://schemas.microsoft.com/office/powerpoint/2010/main" val="4155175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C93039E7-1F94-4787-A276-94CB5732F18D}"/>
              </a:ext>
            </a:extLst>
          </p:cNvPr>
          <p:cNvSpPr/>
          <p:nvPr/>
        </p:nvSpPr>
        <p:spPr>
          <a:xfrm>
            <a:off x="2942896" y="1857703"/>
            <a:ext cx="6306207" cy="3142593"/>
          </a:xfrm>
          <a:prstGeom prst="roundRect">
            <a:avLst/>
          </a:prstGeom>
          <a:solidFill>
            <a:schemeClr val="bg1"/>
          </a:solidFill>
          <a:effectLst>
            <a:glow rad="228600">
              <a:schemeClr val="accent3">
                <a:satMod val="175000"/>
                <a:alpha val="40000"/>
              </a:schemeClr>
            </a:glow>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1">
            <a:extLst>
              <a:ext uri="{FF2B5EF4-FFF2-40B4-BE49-F238E27FC236}">
                <a16:creationId xmlns:a16="http://schemas.microsoft.com/office/drawing/2014/main" id="{CBF0192A-AF3A-4016-B0A6-63B3F88042A2}"/>
              </a:ext>
            </a:extLst>
          </p:cNvPr>
          <p:cNvSpPr>
            <a:spLocks noGrp="1"/>
          </p:cNvSpPr>
          <p:nvPr>
            <p:ph type="ctrTitle"/>
          </p:nvPr>
        </p:nvSpPr>
        <p:spPr>
          <a:xfrm>
            <a:off x="3125698" y="2326917"/>
            <a:ext cx="5940599" cy="1550567"/>
          </a:xfrm>
        </p:spPr>
        <p:txBody>
          <a:bodyPr>
            <a:noAutofit/>
          </a:bodyPr>
          <a:lstStyle/>
          <a:p>
            <a:r>
              <a:rPr lang="en-IN" sz="8800" b="1" dirty="0"/>
              <a:t>Thank You!</a:t>
            </a:r>
          </a:p>
        </p:txBody>
      </p:sp>
      <p:sp>
        <p:nvSpPr>
          <p:cNvPr id="3" name="Subtitle 2">
            <a:extLst>
              <a:ext uri="{FF2B5EF4-FFF2-40B4-BE49-F238E27FC236}">
                <a16:creationId xmlns:a16="http://schemas.microsoft.com/office/drawing/2014/main" id="{CA9934F3-29D2-4808-9C6E-BD0C4EB0DD68}"/>
              </a:ext>
            </a:extLst>
          </p:cNvPr>
          <p:cNvSpPr>
            <a:spLocks noGrp="1"/>
          </p:cNvSpPr>
          <p:nvPr>
            <p:ph type="subTitle" idx="1"/>
          </p:nvPr>
        </p:nvSpPr>
        <p:spPr>
          <a:xfrm>
            <a:off x="2578502" y="4080645"/>
            <a:ext cx="7034990" cy="532106"/>
          </a:xfrm>
        </p:spPr>
        <p:txBody>
          <a:bodyPr>
            <a:noAutofit/>
          </a:bodyPr>
          <a:lstStyle/>
          <a:p>
            <a:r>
              <a:rPr lang="en-IN" sz="2000" dirty="0"/>
              <a:t>LinkedIn - </a:t>
            </a:r>
            <a:r>
              <a:rPr lang="en-IN" sz="2000" dirty="0">
                <a:hlinkClick r:id="rId3"/>
              </a:rPr>
              <a:t>https://www.linkedin.com/in/mohitkiradoo/</a:t>
            </a:r>
            <a:endParaRPr lang="en-IN" sz="2000" dirty="0"/>
          </a:p>
        </p:txBody>
      </p:sp>
    </p:spTree>
    <p:extLst>
      <p:ext uri="{BB962C8B-B14F-4D97-AF65-F5344CB8AC3E}">
        <p14:creationId xmlns:p14="http://schemas.microsoft.com/office/powerpoint/2010/main" val="19088766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2371</TotalTime>
  <Words>1313</Words>
  <Application>Microsoft Office PowerPoint</Application>
  <PresentationFormat>Widescreen</PresentationFormat>
  <Paragraphs>112</Paragraphs>
  <Slides>8</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Aharoni</vt:lpstr>
      <vt:lpstr>Arial</vt:lpstr>
      <vt:lpstr>Calibri</vt:lpstr>
      <vt:lpstr>Calibri Light</vt:lpstr>
      <vt:lpstr>Office Theme</vt:lpstr>
      <vt:lpstr>Workezy</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Mohit Kiradoo</dc:creator>
  <cp:lastModifiedBy>Mohit Kiradoo</cp:lastModifiedBy>
  <cp:revision>12</cp:revision>
  <dcterms:created xsi:type="dcterms:W3CDTF">2022-05-23T04:25:39Z</dcterms:created>
  <dcterms:modified xsi:type="dcterms:W3CDTF">2022-05-28T19:32:08Z</dcterms:modified>
</cp:coreProperties>
</file>