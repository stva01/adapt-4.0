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
  </p:notesMasterIdLst>
  <p:sldIdLst>
    <p:sldId id="256" r:id="rId2"/>
    <p:sldId id="259" r:id="rId3"/>
    <p:sldId id="260"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E001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B5F3712-76F0-4183-963F-D82388E78518}" type="datetimeFigureOut">
              <a:rPr lang="en-IN" smtClean="0"/>
              <a:t>04-09-2022</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E11640-E5A0-426D-9B6B-2C154918B575}" type="slidenum">
              <a:rPr lang="en-IN" smtClean="0"/>
              <a:t>‹#›</a:t>
            </a:fld>
            <a:endParaRPr lang="en-IN"/>
          </a:p>
        </p:txBody>
      </p:sp>
    </p:spTree>
    <p:extLst>
      <p:ext uri="{BB962C8B-B14F-4D97-AF65-F5344CB8AC3E}">
        <p14:creationId xmlns:p14="http://schemas.microsoft.com/office/powerpoint/2010/main" val="13835637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36DFE-DA72-2C28-AAB8-3E80BEA68AE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F691B10-EEA9-4ABB-9443-3644E84026D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31E2F29-ECE1-D56A-1396-C21CB371A486}"/>
              </a:ext>
            </a:extLst>
          </p:cNvPr>
          <p:cNvSpPr>
            <a:spLocks noGrp="1"/>
          </p:cNvSpPr>
          <p:nvPr>
            <p:ph type="dt" sz="half" idx="10"/>
          </p:nvPr>
        </p:nvSpPr>
        <p:spPr/>
        <p:txBody>
          <a:bodyPr/>
          <a:lstStyle/>
          <a:p>
            <a:fld id="{A20C581C-02C6-4209-9D74-934B7ABA2589}" type="datetimeFigureOut">
              <a:rPr lang="en-IN" smtClean="0"/>
              <a:t>04-09-2022</a:t>
            </a:fld>
            <a:endParaRPr lang="en-IN"/>
          </a:p>
        </p:txBody>
      </p:sp>
      <p:sp>
        <p:nvSpPr>
          <p:cNvPr id="5" name="Footer Placeholder 4">
            <a:extLst>
              <a:ext uri="{FF2B5EF4-FFF2-40B4-BE49-F238E27FC236}">
                <a16:creationId xmlns:a16="http://schemas.microsoft.com/office/drawing/2014/main" id="{33EB38EF-1F52-878B-B75E-69EA0AFA434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E4A61C6-BEC3-ADE1-14DD-7F096FBF8A45}"/>
              </a:ext>
            </a:extLst>
          </p:cNvPr>
          <p:cNvSpPr>
            <a:spLocks noGrp="1"/>
          </p:cNvSpPr>
          <p:nvPr>
            <p:ph type="sldNum" sz="quarter" idx="12"/>
          </p:nvPr>
        </p:nvSpPr>
        <p:spPr/>
        <p:txBody>
          <a:bodyPr/>
          <a:lstStyle/>
          <a:p>
            <a:fld id="{FF32DCC4-7EBC-4B73-8090-7AB1BDB7BB13}" type="slidenum">
              <a:rPr lang="en-IN" smtClean="0"/>
              <a:t>‹#›</a:t>
            </a:fld>
            <a:endParaRPr lang="en-IN"/>
          </a:p>
        </p:txBody>
      </p:sp>
    </p:spTree>
    <p:extLst>
      <p:ext uri="{BB962C8B-B14F-4D97-AF65-F5344CB8AC3E}">
        <p14:creationId xmlns:p14="http://schemas.microsoft.com/office/powerpoint/2010/main" val="27305700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25549-CA1A-03C0-ABDA-991F3F31615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7E8F31F-E247-2373-4C3E-85C4D3ECE85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330CE9B-E3D5-1FDA-05F4-005E2B1BF727}"/>
              </a:ext>
            </a:extLst>
          </p:cNvPr>
          <p:cNvSpPr>
            <a:spLocks noGrp="1"/>
          </p:cNvSpPr>
          <p:nvPr>
            <p:ph type="dt" sz="half" idx="10"/>
          </p:nvPr>
        </p:nvSpPr>
        <p:spPr/>
        <p:txBody>
          <a:bodyPr/>
          <a:lstStyle/>
          <a:p>
            <a:fld id="{A20C581C-02C6-4209-9D74-934B7ABA2589}" type="datetimeFigureOut">
              <a:rPr lang="en-IN" smtClean="0"/>
              <a:t>04-09-2022</a:t>
            </a:fld>
            <a:endParaRPr lang="en-IN"/>
          </a:p>
        </p:txBody>
      </p:sp>
      <p:sp>
        <p:nvSpPr>
          <p:cNvPr id="5" name="Footer Placeholder 4">
            <a:extLst>
              <a:ext uri="{FF2B5EF4-FFF2-40B4-BE49-F238E27FC236}">
                <a16:creationId xmlns:a16="http://schemas.microsoft.com/office/drawing/2014/main" id="{BC7CB8BA-EEC9-AD91-7759-BC68EF8E1FF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92072D4-3277-5407-D8CC-FC315A54BBED}"/>
              </a:ext>
            </a:extLst>
          </p:cNvPr>
          <p:cNvSpPr>
            <a:spLocks noGrp="1"/>
          </p:cNvSpPr>
          <p:nvPr>
            <p:ph type="sldNum" sz="quarter" idx="12"/>
          </p:nvPr>
        </p:nvSpPr>
        <p:spPr/>
        <p:txBody>
          <a:bodyPr/>
          <a:lstStyle/>
          <a:p>
            <a:fld id="{FF32DCC4-7EBC-4B73-8090-7AB1BDB7BB13}" type="slidenum">
              <a:rPr lang="en-IN" smtClean="0"/>
              <a:t>‹#›</a:t>
            </a:fld>
            <a:endParaRPr lang="en-IN"/>
          </a:p>
        </p:txBody>
      </p:sp>
    </p:spTree>
    <p:extLst>
      <p:ext uri="{BB962C8B-B14F-4D97-AF65-F5344CB8AC3E}">
        <p14:creationId xmlns:p14="http://schemas.microsoft.com/office/powerpoint/2010/main" val="42444877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FCED7-DD09-0AAD-0531-93E50D76FEC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44BBF8B-695D-A3BF-3257-01F057526F8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AED4ED0-821A-7807-E70E-42136CABEA89}"/>
              </a:ext>
            </a:extLst>
          </p:cNvPr>
          <p:cNvSpPr>
            <a:spLocks noGrp="1"/>
          </p:cNvSpPr>
          <p:nvPr>
            <p:ph type="dt" sz="half" idx="10"/>
          </p:nvPr>
        </p:nvSpPr>
        <p:spPr/>
        <p:txBody>
          <a:bodyPr/>
          <a:lstStyle/>
          <a:p>
            <a:fld id="{A20C581C-02C6-4209-9D74-934B7ABA2589}" type="datetimeFigureOut">
              <a:rPr lang="en-IN" smtClean="0"/>
              <a:t>04-09-2022</a:t>
            </a:fld>
            <a:endParaRPr lang="en-IN"/>
          </a:p>
        </p:txBody>
      </p:sp>
      <p:sp>
        <p:nvSpPr>
          <p:cNvPr id="5" name="Footer Placeholder 4">
            <a:extLst>
              <a:ext uri="{FF2B5EF4-FFF2-40B4-BE49-F238E27FC236}">
                <a16:creationId xmlns:a16="http://schemas.microsoft.com/office/drawing/2014/main" id="{487FCE15-C607-EA57-B321-EF59EA01473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56EE273-FE41-4ECF-A580-D91B9513D2C7}"/>
              </a:ext>
            </a:extLst>
          </p:cNvPr>
          <p:cNvSpPr>
            <a:spLocks noGrp="1"/>
          </p:cNvSpPr>
          <p:nvPr>
            <p:ph type="sldNum" sz="quarter" idx="12"/>
          </p:nvPr>
        </p:nvSpPr>
        <p:spPr/>
        <p:txBody>
          <a:bodyPr/>
          <a:lstStyle/>
          <a:p>
            <a:fld id="{FF32DCC4-7EBC-4B73-8090-7AB1BDB7BB13}" type="slidenum">
              <a:rPr lang="en-IN" smtClean="0"/>
              <a:t>‹#›</a:t>
            </a:fld>
            <a:endParaRPr lang="en-IN"/>
          </a:p>
        </p:txBody>
      </p:sp>
    </p:spTree>
    <p:extLst>
      <p:ext uri="{BB962C8B-B14F-4D97-AF65-F5344CB8AC3E}">
        <p14:creationId xmlns:p14="http://schemas.microsoft.com/office/powerpoint/2010/main" val="34760213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B3F4B7-7284-6233-F55A-71B8F1BCAF5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D9EFF6E-56A8-04DF-112B-89C5F12EE7E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32A77D1-8578-935F-FDCF-FFFD31155CD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A21F586-A5FE-762D-04D1-EED58E60CCC9}"/>
              </a:ext>
            </a:extLst>
          </p:cNvPr>
          <p:cNvSpPr>
            <a:spLocks noGrp="1"/>
          </p:cNvSpPr>
          <p:nvPr>
            <p:ph type="dt" sz="half" idx="10"/>
          </p:nvPr>
        </p:nvSpPr>
        <p:spPr/>
        <p:txBody>
          <a:bodyPr/>
          <a:lstStyle/>
          <a:p>
            <a:fld id="{A20C581C-02C6-4209-9D74-934B7ABA2589}" type="datetimeFigureOut">
              <a:rPr lang="en-IN" smtClean="0"/>
              <a:t>04-09-2022</a:t>
            </a:fld>
            <a:endParaRPr lang="en-IN"/>
          </a:p>
        </p:txBody>
      </p:sp>
      <p:sp>
        <p:nvSpPr>
          <p:cNvPr id="6" name="Footer Placeholder 5">
            <a:extLst>
              <a:ext uri="{FF2B5EF4-FFF2-40B4-BE49-F238E27FC236}">
                <a16:creationId xmlns:a16="http://schemas.microsoft.com/office/drawing/2014/main" id="{12E01117-B646-B6B7-5B7E-AC4996DC59B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4F4B0BC-6021-D2EE-58E3-E7121E3EBAE5}"/>
              </a:ext>
            </a:extLst>
          </p:cNvPr>
          <p:cNvSpPr>
            <a:spLocks noGrp="1"/>
          </p:cNvSpPr>
          <p:nvPr>
            <p:ph type="sldNum" sz="quarter" idx="12"/>
          </p:nvPr>
        </p:nvSpPr>
        <p:spPr/>
        <p:txBody>
          <a:bodyPr/>
          <a:lstStyle/>
          <a:p>
            <a:fld id="{FF32DCC4-7EBC-4B73-8090-7AB1BDB7BB13}" type="slidenum">
              <a:rPr lang="en-IN" smtClean="0"/>
              <a:t>‹#›</a:t>
            </a:fld>
            <a:endParaRPr lang="en-IN"/>
          </a:p>
        </p:txBody>
      </p:sp>
    </p:spTree>
    <p:extLst>
      <p:ext uri="{BB962C8B-B14F-4D97-AF65-F5344CB8AC3E}">
        <p14:creationId xmlns:p14="http://schemas.microsoft.com/office/powerpoint/2010/main" val="6362290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CDF97-1188-1A30-16F2-943C01F82D3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3744F59-DB79-5C96-5AD8-503032F4992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9EC8D77-B3BE-6672-47C4-CE278BBF4B0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ED0DFA5-F76C-ED54-6D78-39677E27B34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B608FE1-3C09-AD91-FF39-8B4DAECC6AC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33BADA3-DDB8-F377-FC2D-109BCA791C96}"/>
              </a:ext>
            </a:extLst>
          </p:cNvPr>
          <p:cNvSpPr>
            <a:spLocks noGrp="1"/>
          </p:cNvSpPr>
          <p:nvPr>
            <p:ph type="dt" sz="half" idx="10"/>
          </p:nvPr>
        </p:nvSpPr>
        <p:spPr/>
        <p:txBody>
          <a:bodyPr/>
          <a:lstStyle/>
          <a:p>
            <a:fld id="{A20C581C-02C6-4209-9D74-934B7ABA2589}" type="datetimeFigureOut">
              <a:rPr lang="en-IN" smtClean="0"/>
              <a:t>04-09-2022</a:t>
            </a:fld>
            <a:endParaRPr lang="en-IN"/>
          </a:p>
        </p:txBody>
      </p:sp>
      <p:sp>
        <p:nvSpPr>
          <p:cNvPr id="8" name="Footer Placeholder 7">
            <a:extLst>
              <a:ext uri="{FF2B5EF4-FFF2-40B4-BE49-F238E27FC236}">
                <a16:creationId xmlns:a16="http://schemas.microsoft.com/office/drawing/2014/main" id="{67A61AA1-4358-9AEC-DBDF-297DDD50475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560FD0E-A143-DC12-DD92-D77A5E1380C5}"/>
              </a:ext>
            </a:extLst>
          </p:cNvPr>
          <p:cNvSpPr>
            <a:spLocks noGrp="1"/>
          </p:cNvSpPr>
          <p:nvPr>
            <p:ph type="sldNum" sz="quarter" idx="12"/>
          </p:nvPr>
        </p:nvSpPr>
        <p:spPr/>
        <p:txBody>
          <a:bodyPr/>
          <a:lstStyle/>
          <a:p>
            <a:fld id="{FF32DCC4-7EBC-4B73-8090-7AB1BDB7BB13}" type="slidenum">
              <a:rPr lang="en-IN" smtClean="0"/>
              <a:t>‹#›</a:t>
            </a:fld>
            <a:endParaRPr lang="en-IN"/>
          </a:p>
        </p:txBody>
      </p:sp>
    </p:spTree>
    <p:extLst>
      <p:ext uri="{BB962C8B-B14F-4D97-AF65-F5344CB8AC3E}">
        <p14:creationId xmlns:p14="http://schemas.microsoft.com/office/powerpoint/2010/main" val="14473563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A76EB-9B9F-8217-FA4D-F39572AAA0D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B488189-1D9A-0F28-DC0D-FA6F4BA9E940}"/>
              </a:ext>
            </a:extLst>
          </p:cNvPr>
          <p:cNvSpPr>
            <a:spLocks noGrp="1"/>
          </p:cNvSpPr>
          <p:nvPr>
            <p:ph type="dt" sz="half" idx="10"/>
          </p:nvPr>
        </p:nvSpPr>
        <p:spPr/>
        <p:txBody>
          <a:bodyPr/>
          <a:lstStyle/>
          <a:p>
            <a:fld id="{A20C581C-02C6-4209-9D74-934B7ABA2589}" type="datetimeFigureOut">
              <a:rPr lang="en-IN" smtClean="0"/>
              <a:t>04-09-2022</a:t>
            </a:fld>
            <a:endParaRPr lang="en-IN"/>
          </a:p>
        </p:txBody>
      </p:sp>
      <p:sp>
        <p:nvSpPr>
          <p:cNvPr id="4" name="Footer Placeholder 3">
            <a:extLst>
              <a:ext uri="{FF2B5EF4-FFF2-40B4-BE49-F238E27FC236}">
                <a16:creationId xmlns:a16="http://schemas.microsoft.com/office/drawing/2014/main" id="{EDD65E64-5DCC-0AA0-D6F3-7C3389AE03A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9938DFA-F85A-0DB5-3757-A1F21C4D7A43}"/>
              </a:ext>
            </a:extLst>
          </p:cNvPr>
          <p:cNvSpPr>
            <a:spLocks noGrp="1"/>
          </p:cNvSpPr>
          <p:nvPr>
            <p:ph type="sldNum" sz="quarter" idx="12"/>
          </p:nvPr>
        </p:nvSpPr>
        <p:spPr/>
        <p:txBody>
          <a:bodyPr/>
          <a:lstStyle/>
          <a:p>
            <a:fld id="{FF32DCC4-7EBC-4B73-8090-7AB1BDB7BB13}" type="slidenum">
              <a:rPr lang="en-IN" smtClean="0"/>
              <a:t>‹#›</a:t>
            </a:fld>
            <a:endParaRPr lang="en-IN"/>
          </a:p>
        </p:txBody>
      </p:sp>
    </p:spTree>
    <p:extLst>
      <p:ext uri="{BB962C8B-B14F-4D97-AF65-F5344CB8AC3E}">
        <p14:creationId xmlns:p14="http://schemas.microsoft.com/office/powerpoint/2010/main" val="30638371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1E52DFC-435C-0666-BFAB-DAC0C22662F7}"/>
              </a:ext>
            </a:extLst>
          </p:cNvPr>
          <p:cNvSpPr>
            <a:spLocks noGrp="1"/>
          </p:cNvSpPr>
          <p:nvPr>
            <p:ph type="dt" sz="half" idx="10"/>
          </p:nvPr>
        </p:nvSpPr>
        <p:spPr/>
        <p:txBody>
          <a:bodyPr/>
          <a:lstStyle/>
          <a:p>
            <a:fld id="{A20C581C-02C6-4209-9D74-934B7ABA2589}" type="datetimeFigureOut">
              <a:rPr lang="en-IN" smtClean="0"/>
              <a:t>04-09-2022</a:t>
            </a:fld>
            <a:endParaRPr lang="en-IN"/>
          </a:p>
        </p:txBody>
      </p:sp>
      <p:sp>
        <p:nvSpPr>
          <p:cNvPr id="3" name="Footer Placeholder 2">
            <a:extLst>
              <a:ext uri="{FF2B5EF4-FFF2-40B4-BE49-F238E27FC236}">
                <a16:creationId xmlns:a16="http://schemas.microsoft.com/office/drawing/2014/main" id="{3C5ACB1D-C42D-CA7A-B30E-7FA5EBFDF96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4B8B701-2AD7-A164-CF0A-1A73FC2DF089}"/>
              </a:ext>
            </a:extLst>
          </p:cNvPr>
          <p:cNvSpPr>
            <a:spLocks noGrp="1"/>
          </p:cNvSpPr>
          <p:nvPr>
            <p:ph type="sldNum" sz="quarter" idx="12"/>
          </p:nvPr>
        </p:nvSpPr>
        <p:spPr/>
        <p:txBody>
          <a:bodyPr/>
          <a:lstStyle/>
          <a:p>
            <a:fld id="{FF32DCC4-7EBC-4B73-8090-7AB1BDB7BB13}" type="slidenum">
              <a:rPr lang="en-IN" smtClean="0"/>
              <a:t>‹#›</a:t>
            </a:fld>
            <a:endParaRPr lang="en-IN"/>
          </a:p>
        </p:txBody>
      </p:sp>
    </p:spTree>
    <p:extLst>
      <p:ext uri="{BB962C8B-B14F-4D97-AF65-F5344CB8AC3E}">
        <p14:creationId xmlns:p14="http://schemas.microsoft.com/office/powerpoint/2010/main" val="35417409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058F0-ECCD-822E-5E70-19688CAF54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5024CDA-F1AB-1F80-156A-E57679D7319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D41A139-F8DF-C892-BDE6-600AB9AA00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A96EF19-3462-3B0C-89C5-BFFCB90B5FA0}"/>
              </a:ext>
            </a:extLst>
          </p:cNvPr>
          <p:cNvSpPr>
            <a:spLocks noGrp="1"/>
          </p:cNvSpPr>
          <p:nvPr>
            <p:ph type="dt" sz="half" idx="10"/>
          </p:nvPr>
        </p:nvSpPr>
        <p:spPr/>
        <p:txBody>
          <a:bodyPr/>
          <a:lstStyle/>
          <a:p>
            <a:fld id="{A20C581C-02C6-4209-9D74-934B7ABA2589}" type="datetimeFigureOut">
              <a:rPr lang="en-IN" smtClean="0"/>
              <a:t>04-09-2022</a:t>
            </a:fld>
            <a:endParaRPr lang="en-IN"/>
          </a:p>
        </p:txBody>
      </p:sp>
      <p:sp>
        <p:nvSpPr>
          <p:cNvPr id="6" name="Footer Placeholder 5">
            <a:extLst>
              <a:ext uri="{FF2B5EF4-FFF2-40B4-BE49-F238E27FC236}">
                <a16:creationId xmlns:a16="http://schemas.microsoft.com/office/drawing/2014/main" id="{A151D425-EFB3-86FB-848A-65A96F63393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5A014D2-1C76-F691-4757-B9ED6683CC40}"/>
              </a:ext>
            </a:extLst>
          </p:cNvPr>
          <p:cNvSpPr>
            <a:spLocks noGrp="1"/>
          </p:cNvSpPr>
          <p:nvPr>
            <p:ph type="sldNum" sz="quarter" idx="12"/>
          </p:nvPr>
        </p:nvSpPr>
        <p:spPr/>
        <p:txBody>
          <a:bodyPr/>
          <a:lstStyle/>
          <a:p>
            <a:fld id="{FF32DCC4-7EBC-4B73-8090-7AB1BDB7BB13}" type="slidenum">
              <a:rPr lang="en-IN" smtClean="0"/>
              <a:t>‹#›</a:t>
            </a:fld>
            <a:endParaRPr lang="en-IN"/>
          </a:p>
        </p:txBody>
      </p:sp>
    </p:spTree>
    <p:extLst>
      <p:ext uri="{BB962C8B-B14F-4D97-AF65-F5344CB8AC3E}">
        <p14:creationId xmlns:p14="http://schemas.microsoft.com/office/powerpoint/2010/main" val="36852174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3385B-C59A-AE73-92A5-46085790DC1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9FDCEF0-307B-5EE9-7237-E9ACA93A85F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A843E7B-C73F-4DB9-D3DF-11A59F5510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454BC3-F21D-8E7B-E555-98BF2BCED2C6}"/>
              </a:ext>
            </a:extLst>
          </p:cNvPr>
          <p:cNvSpPr>
            <a:spLocks noGrp="1"/>
          </p:cNvSpPr>
          <p:nvPr>
            <p:ph type="dt" sz="half" idx="10"/>
          </p:nvPr>
        </p:nvSpPr>
        <p:spPr/>
        <p:txBody>
          <a:bodyPr/>
          <a:lstStyle/>
          <a:p>
            <a:fld id="{A20C581C-02C6-4209-9D74-934B7ABA2589}" type="datetimeFigureOut">
              <a:rPr lang="en-IN" smtClean="0"/>
              <a:t>04-09-2022</a:t>
            </a:fld>
            <a:endParaRPr lang="en-IN"/>
          </a:p>
        </p:txBody>
      </p:sp>
      <p:sp>
        <p:nvSpPr>
          <p:cNvPr id="6" name="Footer Placeholder 5">
            <a:extLst>
              <a:ext uri="{FF2B5EF4-FFF2-40B4-BE49-F238E27FC236}">
                <a16:creationId xmlns:a16="http://schemas.microsoft.com/office/drawing/2014/main" id="{26E0F0B7-F40D-5FEE-DDC3-76E7EB6D6BB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F98D82A-C714-6775-522C-E98C350F969C}"/>
              </a:ext>
            </a:extLst>
          </p:cNvPr>
          <p:cNvSpPr>
            <a:spLocks noGrp="1"/>
          </p:cNvSpPr>
          <p:nvPr>
            <p:ph type="sldNum" sz="quarter" idx="12"/>
          </p:nvPr>
        </p:nvSpPr>
        <p:spPr/>
        <p:txBody>
          <a:bodyPr/>
          <a:lstStyle/>
          <a:p>
            <a:fld id="{FF32DCC4-7EBC-4B73-8090-7AB1BDB7BB13}" type="slidenum">
              <a:rPr lang="en-IN" smtClean="0"/>
              <a:t>‹#›</a:t>
            </a:fld>
            <a:endParaRPr lang="en-IN"/>
          </a:p>
        </p:txBody>
      </p:sp>
    </p:spTree>
    <p:extLst>
      <p:ext uri="{BB962C8B-B14F-4D97-AF65-F5344CB8AC3E}">
        <p14:creationId xmlns:p14="http://schemas.microsoft.com/office/powerpoint/2010/main" val="35343984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ACBCC2-8762-EA00-E5D0-F8FE6271E62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DA02E18-1107-156C-F67A-2CA64D708CF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1F84540-92E9-F902-F254-545CB7CDD94E}"/>
              </a:ext>
            </a:extLst>
          </p:cNvPr>
          <p:cNvSpPr>
            <a:spLocks noGrp="1"/>
          </p:cNvSpPr>
          <p:nvPr>
            <p:ph type="dt" sz="half" idx="10"/>
          </p:nvPr>
        </p:nvSpPr>
        <p:spPr/>
        <p:txBody>
          <a:bodyPr/>
          <a:lstStyle/>
          <a:p>
            <a:fld id="{A20C581C-02C6-4209-9D74-934B7ABA2589}" type="datetimeFigureOut">
              <a:rPr lang="en-IN" smtClean="0"/>
              <a:t>04-09-2022</a:t>
            </a:fld>
            <a:endParaRPr lang="en-IN"/>
          </a:p>
        </p:txBody>
      </p:sp>
      <p:sp>
        <p:nvSpPr>
          <p:cNvPr id="5" name="Footer Placeholder 4">
            <a:extLst>
              <a:ext uri="{FF2B5EF4-FFF2-40B4-BE49-F238E27FC236}">
                <a16:creationId xmlns:a16="http://schemas.microsoft.com/office/drawing/2014/main" id="{6EDD6F4F-2DA9-07A0-5C97-4E5492AE567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A0C28A4-4920-65B3-B3EA-4A1F9C4034D7}"/>
              </a:ext>
            </a:extLst>
          </p:cNvPr>
          <p:cNvSpPr>
            <a:spLocks noGrp="1"/>
          </p:cNvSpPr>
          <p:nvPr>
            <p:ph type="sldNum" sz="quarter" idx="12"/>
          </p:nvPr>
        </p:nvSpPr>
        <p:spPr/>
        <p:txBody>
          <a:bodyPr/>
          <a:lstStyle/>
          <a:p>
            <a:fld id="{FF32DCC4-7EBC-4B73-8090-7AB1BDB7BB13}" type="slidenum">
              <a:rPr lang="en-IN" smtClean="0"/>
              <a:t>‹#›</a:t>
            </a:fld>
            <a:endParaRPr lang="en-IN"/>
          </a:p>
        </p:txBody>
      </p:sp>
    </p:spTree>
    <p:extLst>
      <p:ext uri="{BB962C8B-B14F-4D97-AF65-F5344CB8AC3E}">
        <p14:creationId xmlns:p14="http://schemas.microsoft.com/office/powerpoint/2010/main" val="16886877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83BF48-A618-7179-7F32-661B204FC5C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4C6B533-2AE2-2E6D-0838-62F208CF975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6BA8D19-DAFF-5DDA-6CC7-1FEAD2FE8624}"/>
              </a:ext>
            </a:extLst>
          </p:cNvPr>
          <p:cNvSpPr>
            <a:spLocks noGrp="1"/>
          </p:cNvSpPr>
          <p:nvPr>
            <p:ph type="dt" sz="half" idx="10"/>
          </p:nvPr>
        </p:nvSpPr>
        <p:spPr/>
        <p:txBody>
          <a:bodyPr/>
          <a:lstStyle/>
          <a:p>
            <a:fld id="{A20C581C-02C6-4209-9D74-934B7ABA2589}" type="datetimeFigureOut">
              <a:rPr lang="en-IN" smtClean="0"/>
              <a:t>04-09-2022</a:t>
            </a:fld>
            <a:endParaRPr lang="en-IN"/>
          </a:p>
        </p:txBody>
      </p:sp>
      <p:sp>
        <p:nvSpPr>
          <p:cNvPr id="5" name="Footer Placeholder 4">
            <a:extLst>
              <a:ext uri="{FF2B5EF4-FFF2-40B4-BE49-F238E27FC236}">
                <a16:creationId xmlns:a16="http://schemas.microsoft.com/office/drawing/2014/main" id="{24B895E8-ADF3-10EA-4769-EC93F753E61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CDF825E-237F-BD89-D774-BFA14CDC1AD6}"/>
              </a:ext>
            </a:extLst>
          </p:cNvPr>
          <p:cNvSpPr>
            <a:spLocks noGrp="1"/>
          </p:cNvSpPr>
          <p:nvPr>
            <p:ph type="sldNum" sz="quarter" idx="12"/>
          </p:nvPr>
        </p:nvSpPr>
        <p:spPr/>
        <p:txBody>
          <a:bodyPr/>
          <a:lstStyle/>
          <a:p>
            <a:fld id="{FF32DCC4-7EBC-4B73-8090-7AB1BDB7BB13}" type="slidenum">
              <a:rPr lang="en-IN" smtClean="0"/>
              <a:t>‹#›</a:t>
            </a:fld>
            <a:endParaRPr lang="en-IN"/>
          </a:p>
        </p:txBody>
      </p:sp>
    </p:spTree>
    <p:extLst>
      <p:ext uri="{BB962C8B-B14F-4D97-AF65-F5344CB8AC3E}">
        <p14:creationId xmlns:p14="http://schemas.microsoft.com/office/powerpoint/2010/main" val="35303716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027454-D16F-824A-CFDB-0421A8DAEA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F32AEBC-4975-1B8C-41AB-B7E8800C03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47FD7EE-637A-A0A5-3F38-0D82546B6D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20C581C-02C6-4209-9D74-934B7ABA2589}" type="datetimeFigureOut">
              <a:rPr lang="en-IN" smtClean="0"/>
              <a:t>04-09-2022</a:t>
            </a:fld>
            <a:endParaRPr lang="en-IN"/>
          </a:p>
        </p:txBody>
      </p:sp>
      <p:sp>
        <p:nvSpPr>
          <p:cNvPr id="5" name="Footer Placeholder 4">
            <a:extLst>
              <a:ext uri="{FF2B5EF4-FFF2-40B4-BE49-F238E27FC236}">
                <a16:creationId xmlns:a16="http://schemas.microsoft.com/office/drawing/2014/main" id="{ED7637C2-56CF-09E2-B4A5-C31C91583BC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70CED04-5A52-ADB4-6B95-4C95619D7AC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32DCC4-7EBC-4B73-8090-7AB1BDB7BB13}" type="slidenum">
              <a:rPr lang="en-IN" smtClean="0"/>
              <a:t>‹#›</a:t>
            </a:fld>
            <a:endParaRPr lang="en-IN"/>
          </a:p>
        </p:txBody>
      </p:sp>
    </p:spTree>
    <p:extLst>
      <p:ext uri="{BB962C8B-B14F-4D97-AF65-F5344CB8AC3E}">
        <p14:creationId xmlns:p14="http://schemas.microsoft.com/office/powerpoint/2010/main" val="36092883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hyperlink" Target="https://docs.google.com/spreadsheets/d/10U3KtGyORzil6crJvBM1HmUV2sbJ3RfL0uez4Vb2ExA/edit?usp=sharing"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1DA4F412-A710-C228-1275-5EE61B1636B4}"/>
              </a:ext>
            </a:extLst>
          </p:cNvPr>
          <p:cNvSpPr/>
          <p:nvPr/>
        </p:nvSpPr>
        <p:spPr>
          <a:xfrm>
            <a:off x="2107893" y="1816958"/>
            <a:ext cx="7976206" cy="4438188"/>
          </a:xfrm>
          <a:prstGeom prst="roundRect">
            <a:avLst/>
          </a:prstGeom>
          <a:solidFill>
            <a:schemeClr val="bg1"/>
          </a:solidFill>
          <a:effectLst>
            <a:glow rad="228600">
              <a:schemeClr val="accent3">
                <a:satMod val="175000"/>
                <a:alpha val="40000"/>
              </a:schemeClr>
            </a:glow>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11" name="Group 10">
            <a:extLst>
              <a:ext uri="{FF2B5EF4-FFF2-40B4-BE49-F238E27FC236}">
                <a16:creationId xmlns:a16="http://schemas.microsoft.com/office/drawing/2014/main" id="{BBA6A82C-B6FE-65A0-8E56-1DAE98A437D3}"/>
              </a:ext>
            </a:extLst>
          </p:cNvPr>
          <p:cNvGrpSpPr/>
          <p:nvPr/>
        </p:nvGrpSpPr>
        <p:grpSpPr>
          <a:xfrm>
            <a:off x="3714041" y="3759917"/>
            <a:ext cx="4763907" cy="1460084"/>
            <a:chOff x="3983420" y="3303309"/>
            <a:chExt cx="4225159" cy="1114106"/>
          </a:xfrm>
        </p:grpSpPr>
        <p:pic>
          <p:nvPicPr>
            <p:cNvPr id="12" name="Picture 11" descr="A person with long hair wearing glasses&#10;&#10;Description automatically generated with low confidence">
              <a:extLst>
                <a:ext uri="{FF2B5EF4-FFF2-40B4-BE49-F238E27FC236}">
                  <a16:creationId xmlns:a16="http://schemas.microsoft.com/office/drawing/2014/main" id="{70D9F2FD-B7E9-7368-6DE5-605433E80C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67721" y="3303310"/>
              <a:ext cx="940858" cy="1114104"/>
            </a:xfrm>
            <a:prstGeom prst="rect">
              <a:avLst/>
            </a:prstGeom>
            <a:effectLst>
              <a:outerShdw blurRad="50800" dist="38100" dir="2700000" algn="tl" rotWithShape="0">
                <a:prstClr val="black">
                  <a:alpha val="40000"/>
                </a:prstClr>
              </a:outerShdw>
            </a:effectLst>
          </p:spPr>
        </p:pic>
        <p:pic>
          <p:nvPicPr>
            <p:cNvPr id="13" name="Picture 12" descr="A person in a suit and tie&#10;&#10;Description automatically generated">
              <a:extLst>
                <a:ext uri="{FF2B5EF4-FFF2-40B4-BE49-F238E27FC236}">
                  <a16:creationId xmlns:a16="http://schemas.microsoft.com/office/drawing/2014/main" id="{628B75E4-35E3-D867-9B0C-D71EE71962F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83420" y="3303311"/>
              <a:ext cx="940859" cy="1114104"/>
            </a:xfrm>
            <a:prstGeom prst="rect">
              <a:avLst/>
            </a:prstGeom>
            <a:effectLst>
              <a:outerShdw blurRad="50800" dist="38100" dir="2700000" algn="tl" rotWithShape="0">
                <a:prstClr val="black">
                  <a:alpha val="40000"/>
                </a:prstClr>
              </a:outerShdw>
            </a:effectLst>
          </p:spPr>
        </p:pic>
        <p:pic>
          <p:nvPicPr>
            <p:cNvPr id="14" name="Picture 13" descr="A person wearing glasses and a suit&#10;&#10;Description automatically generated with medium confidence">
              <a:extLst>
                <a:ext uri="{FF2B5EF4-FFF2-40B4-BE49-F238E27FC236}">
                  <a16:creationId xmlns:a16="http://schemas.microsoft.com/office/drawing/2014/main" id="{9B3CBDB3-B1E4-C7B5-E47B-E3782D33335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625571" y="3303309"/>
              <a:ext cx="940858" cy="1114105"/>
            </a:xfrm>
            <a:prstGeom prst="rect">
              <a:avLst/>
            </a:prstGeom>
            <a:effectLst>
              <a:outerShdw blurRad="50800" dist="38100" dir="2700000" algn="tl" rotWithShape="0">
                <a:prstClr val="black">
                  <a:alpha val="40000"/>
                </a:prstClr>
              </a:outerShdw>
            </a:effectLst>
          </p:spPr>
        </p:pic>
      </p:grpSp>
      <p:sp>
        <p:nvSpPr>
          <p:cNvPr id="15" name="Subtitle 2">
            <a:extLst>
              <a:ext uri="{FF2B5EF4-FFF2-40B4-BE49-F238E27FC236}">
                <a16:creationId xmlns:a16="http://schemas.microsoft.com/office/drawing/2014/main" id="{91115779-A9C9-3D51-89E6-A9EC6C863068}"/>
              </a:ext>
            </a:extLst>
          </p:cNvPr>
          <p:cNvSpPr txBox="1">
            <a:spLocks/>
          </p:cNvSpPr>
          <p:nvPr/>
        </p:nvSpPr>
        <p:spPr>
          <a:xfrm>
            <a:off x="3594310" y="5398958"/>
            <a:ext cx="5070719" cy="29312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IN" sz="1600" b="1" dirty="0"/>
              <a:t>Devesh Sinha               Mohit Kiradoo                Kajal Gupta</a:t>
            </a:r>
          </a:p>
        </p:txBody>
      </p:sp>
      <p:sp>
        <p:nvSpPr>
          <p:cNvPr id="16" name="Subtitle 2">
            <a:extLst>
              <a:ext uri="{FF2B5EF4-FFF2-40B4-BE49-F238E27FC236}">
                <a16:creationId xmlns:a16="http://schemas.microsoft.com/office/drawing/2014/main" id="{12EF152B-AB93-B366-D6F6-C08C9F1E04F8}"/>
              </a:ext>
            </a:extLst>
          </p:cNvPr>
          <p:cNvSpPr txBox="1">
            <a:spLocks/>
          </p:cNvSpPr>
          <p:nvPr/>
        </p:nvSpPr>
        <p:spPr>
          <a:xfrm>
            <a:off x="3714042" y="5844324"/>
            <a:ext cx="4763907" cy="29730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sz="2000" b="1" dirty="0"/>
              <a:t>T. A. Pai Management Institute</a:t>
            </a:r>
          </a:p>
        </p:txBody>
      </p:sp>
      <p:sp>
        <p:nvSpPr>
          <p:cNvPr id="17" name="Subtitle 2">
            <a:extLst>
              <a:ext uri="{FF2B5EF4-FFF2-40B4-BE49-F238E27FC236}">
                <a16:creationId xmlns:a16="http://schemas.microsoft.com/office/drawing/2014/main" id="{DFB02B7C-4F97-0D17-071E-915AD48B82DF}"/>
              </a:ext>
            </a:extLst>
          </p:cNvPr>
          <p:cNvSpPr txBox="1">
            <a:spLocks/>
          </p:cNvSpPr>
          <p:nvPr/>
        </p:nvSpPr>
        <p:spPr>
          <a:xfrm>
            <a:off x="4337951" y="1637999"/>
            <a:ext cx="3516090" cy="357918"/>
          </a:xfrm>
          <a:prstGeom prst="rect">
            <a:avLst/>
          </a:prstGeom>
          <a:solidFill>
            <a:schemeClr val="bg1"/>
          </a:solidFill>
        </p:spPr>
        <p:style>
          <a:lnRef idx="2">
            <a:schemeClr val="accent2">
              <a:shade val="50000"/>
            </a:schemeClr>
          </a:lnRef>
          <a:fillRef idx="1">
            <a:schemeClr val="accent2"/>
          </a:fillRef>
          <a:effectRef idx="0">
            <a:schemeClr val="accent2"/>
          </a:effectRef>
          <a:fontRef idx="minor">
            <a:schemeClr val="lt1"/>
          </a:fontRef>
        </p:style>
        <p:txBody>
          <a:bodyPr vert="horz" lIns="91440" tIns="45720" rIns="91440" bIns="45720" rtlCol="0" anchor="b">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sz="1800" b="1" dirty="0"/>
              <a:t>Team SORTED</a:t>
            </a:r>
          </a:p>
        </p:txBody>
      </p:sp>
      <p:pic>
        <p:nvPicPr>
          <p:cNvPr id="3" name="Picture 2">
            <a:extLst>
              <a:ext uri="{FF2B5EF4-FFF2-40B4-BE49-F238E27FC236}">
                <a16:creationId xmlns:a16="http://schemas.microsoft.com/office/drawing/2014/main" id="{77FE6A2B-58F4-3BDD-7E8A-C64C526E183F}"/>
              </a:ext>
            </a:extLst>
          </p:cNvPr>
          <p:cNvPicPr>
            <a:picLocks noChangeAspect="1"/>
          </p:cNvPicPr>
          <p:nvPr/>
        </p:nvPicPr>
        <p:blipFill>
          <a:blip r:embed="rId6"/>
          <a:stretch>
            <a:fillRect/>
          </a:stretch>
        </p:blipFill>
        <p:spPr>
          <a:xfrm>
            <a:off x="10429534" y="83975"/>
            <a:ext cx="1607959" cy="1044030"/>
          </a:xfrm>
          <a:prstGeom prst="rect">
            <a:avLst/>
          </a:prstGeom>
        </p:spPr>
      </p:pic>
      <p:sp>
        <p:nvSpPr>
          <p:cNvPr id="8" name="TextBox 7">
            <a:extLst>
              <a:ext uri="{FF2B5EF4-FFF2-40B4-BE49-F238E27FC236}">
                <a16:creationId xmlns:a16="http://schemas.microsoft.com/office/drawing/2014/main" id="{DCC77BD6-5C16-ECED-F386-407DC1836A72}"/>
              </a:ext>
            </a:extLst>
          </p:cNvPr>
          <p:cNvSpPr txBox="1"/>
          <p:nvPr/>
        </p:nvSpPr>
        <p:spPr>
          <a:xfrm>
            <a:off x="9900783" y="1008653"/>
            <a:ext cx="2136710" cy="369332"/>
          </a:xfrm>
          <a:prstGeom prst="rect">
            <a:avLst/>
          </a:prstGeom>
          <a:noFill/>
        </p:spPr>
        <p:txBody>
          <a:bodyPr wrap="square" rtlCol="0">
            <a:spAutoFit/>
          </a:bodyPr>
          <a:lstStyle/>
          <a:p>
            <a:pPr algn="ctr"/>
            <a:r>
              <a:rPr lang="en-IN" dirty="0"/>
              <a:t>#ThirstForInnovation</a:t>
            </a:r>
          </a:p>
        </p:txBody>
      </p:sp>
      <p:sp>
        <p:nvSpPr>
          <p:cNvPr id="18" name="Title 17">
            <a:extLst>
              <a:ext uri="{FF2B5EF4-FFF2-40B4-BE49-F238E27FC236}">
                <a16:creationId xmlns:a16="http://schemas.microsoft.com/office/drawing/2014/main" id="{7B8B2DC8-74C4-E434-A50B-C37D2F7A6ED3}"/>
              </a:ext>
            </a:extLst>
          </p:cNvPr>
          <p:cNvSpPr>
            <a:spLocks noGrp="1"/>
          </p:cNvSpPr>
          <p:nvPr>
            <p:ph type="ctrTitle"/>
          </p:nvPr>
        </p:nvSpPr>
        <p:spPr>
          <a:xfrm>
            <a:off x="1557669" y="862516"/>
            <a:ext cx="9144000" cy="2387600"/>
          </a:xfrm>
        </p:spPr>
        <p:txBody>
          <a:bodyPr/>
          <a:lstStyle/>
          <a:p>
            <a:r>
              <a:rPr lang="en-IN" b="1" dirty="0"/>
              <a:t>HCCB Disrupt Season 1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F733BBFB-22B0-E593-A1D9-84ABD2A62A93}"/>
              </a:ext>
            </a:extLst>
          </p:cNvPr>
          <p:cNvSpPr/>
          <p:nvPr/>
        </p:nvSpPr>
        <p:spPr>
          <a:xfrm>
            <a:off x="139957" y="147270"/>
            <a:ext cx="4572000" cy="1242882"/>
          </a:xfrm>
          <a:prstGeom prst="round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1200" dirty="0">
                <a:solidFill>
                  <a:schemeClr val="tx1"/>
                </a:solidFill>
                <a:latin typeface="Gotham"/>
              </a:rPr>
              <a:t>HCBL is facing problems in the transportation due to inflation in oil prices and high carbon emissions, as their logistics movement is primarily driven by diesel trucks.</a:t>
            </a:r>
          </a:p>
          <a:p>
            <a:pPr algn="just"/>
            <a:r>
              <a:rPr lang="en-US" sz="1200" dirty="0">
                <a:solidFill>
                  <a:schemeClr val="tx1"/>
                </a:solidFill>
                <a:latin typeface="Gotham"/>
              </a:rPr>
              <a:t>A thorough analysis of the present situation and feasible solutions to meet the short term and long-term objectives of the company is required.</a:t>
            </a:r>
            <a:endParaRPr lang="en-IN" sz="1200" dirty="0">
              <a:solidFill>
                <a:schemeClr val="tx1"/>
              </a:solidFill>
              <a:latin typeface="Gotham"/>
            </a:endParaRPr>
          </a:p>
        </p:txBody>
      </p:sp>
      <p:sp>
        <p:nvSpPr>
          <p:cNvPr id="5" name="Rectangle: Rounded Corners 4">
            <a:extLst>
              <a:ext uri="{FF2B5EF4-FFF2-40B4-BE49-F238E27FC236}">
                <a16:creationId xmlns:a16="http://schemas.microsoft.com/office/drawing/2014/main" id="{E848C58C-FC57-61DA-905A-93D0E96086AB}"/>
              </a:ext>
            </a:extLst>
          </p:cNvPr>
          <p:cNvSpPr/>
          <p:nvPr/>
        </p:nvSpPr>
        <p:spPr>
          <a:xfrm>
            <a:off x="284411" y="9330"/>
            <a:ext cx="4222275" cy="226515"/>
          </a:xfrm>
          <a:prstGeom prst="round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latin typeface="Gotham"/>
              </a:rPr>
              <a:t>Overview</a:t>
            </a:r>
          </a:p>
        </p:txBody>
      </p:sp>
      <p:sp>
        <p:nvSpPr>
          <p:cNvPr id="6" name="Rectangle: Rounded Corners 5">
            <a:extLst>
              <a:ext uri="{FF2B5EF4-FFF2-40B4-BE49-F238E27FC236}">
                <a16:creationId xmlns:a16="http://schemas.microsoft.com/office/drawing/2014/main" id="{E766F8DE-4835-EB60-0F2B-2B15DEFB1A49}"/>
              </a:ext>
            </a:extLst>
          </p:cNvPr>
          <p:cNvSpPr/>
          <p:nvPr/>
        </p:nvSpPr>
        <p:spPr>
          <a:xfrm>
            <a:off x="5159829" y="186768"/>
            <a:ext cx="6522098" cy="1197162"/>
          </a:xfrm>
          <a:prstGeom prst="round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latin typeface="Gotham"/>
            </a:endParaRPr>
          </a:p>
        </p:txBody>
      </p:sp>
      <p:sp>
        <p:nvSpPr>
          <p:cNvPr id="8" name="Rectangle 7">
            <a:extLst>
              <a:ext uri="{FF2B5EF4-FFF2-40B4-BE49-F238E27FC236}">
                <a16:creationId xmlns:a16="http://schemas.microsoft.com/office/drawing/2014/main" id="{09A3BDC3-EEE1-BD7D-6313-6602DEE89DED}"/>
              </a:ext>
            </a:extLst>
          </p:cNvPr>
          <p:cNvSpPr/>
          <p:nvPr/>
        </p:nvSpPr>
        <p:spPr>
          <a:xfrm>
            <a:off x="5312061" y="298810"/>
            <a:ext cx="1479764" cy="531845"/>
          </a:xfrm>
          <a:prstGeom prst="rect">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latin typeface="Gotham"/>
              </a:rPr>
              <a:t>Dominated by diesel driven trucks</a:t>
            </a:r>
          </a:p>
        </p:txBody>
      </p:sp>
      <p:sp>
        <p:nvSpPr>
          <p:cNvPr id="9" name="Rectangle 8">
            <a:extLst>
              <a:ext uri="{FF2B5EF4-FFF2-40B4-BE49-F238E27FC236}">
                <a16:creationId xmlns:a16="http://schemas.microsoft.com/office/drawing/2014/main" id="{9A4A769D-0EB1-7E49-1A88-A9B6E1E028FB}"/>
              </a:ext>
            </a:extLst>
          </p:cNvPr>
          <p:cNvSpPr/>
          <p:nvPr/>
        </p:nvSpPr>
        <p:spPr>
          <a:xfrm>
            <a:off x="7600214" y="826196"/>
            <a:ext cx="1479764" cy="531845"/>
          </a:xfrm>
          <a:prstGeom prst="rect">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latin typeface="Gotham"/>
              </a:rPr>
              <a:t>High carbon emissions</a:t>
            </a:r>
          </a:p>
        </p:txBody>
      </p:sp>
      <p:sp>
        <p:nvSpPr>
          <p:cNvPr id="10" name="Rectangle 9">
            <a:extLst>
              <a:ext uri="{FF2B5EF4-FFF2-40B4-BE49-F238E27FC236}">
                <a16:creationId xmlns:a16="http://schemas.microsoft.com/office/drawing/2014/main" id="{AC4D83F0-E58A-06B8-BA47-575767E2F424}"/>
              </a:ext>
            </a:extLst>
          </p:cNvPr>
          <p:cNvSpPr/>
          <p:nvPr/>
        </p:nvSpPr>
        <p:spPr>
          <a:xfrm>
            <a:off x="7600214" y="280774"/>
            <a:ext cx="1479764" cy="531845"/>
          </a:xfrm>
          <a:prstGeom prst="rect">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latin typeface="Gotham"/>
              </a:rPr>
              <a:t>High volatility in fuel prices </a:t>
            </a:r>
          </a:p>
        </p:txBody>
      </p:sp>
      <p:sp>
        <p:nvSpPr>
          <p:cNvPr id="11" name="Rectangle 10">
            <a:extLst>
              <a:ext uri="{FF2B5EF4-FFF2-40B4-BE49-F238E27FC236}">
                <a16:creationId xmlns:a16="http://schemas.microsoft.com/office/drawing/2014/main" id="{9A060B83-2A01-1AB8-022D-AF600A89C930}"/>
              </a:ext>
            </a:extLst>
          </p:cNvPr>
          <p:cNvSpPr/>
          <p:nvPr/>
        </p:nvSpPr>
        <p:spPr>
          <a:xfrm>
            <a:off x="9888367" y="274931"/>
            <a:ext cx="1479764" cy="531845"/>
          </a:xfrm>
          <a:prstGeom prst="rect">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latin typeface="Gotham"/>
              </a:rPr>
              <a:t>Rising transportation cost</a:t>
            </a:r>
          </a:p>
        </p:txBody>
      </p:sp>
      <p:sp>
        <p:nvSpPr>
          <p:cNvPr id="12" name="Arrow: Right 11">
            <a:extLst>
              <a:ext uri="{FF2B5EF4-FFF2-40B4-BE49-F238E27FC236}">
                <a16:creationId xmlns:a16="http://schemas.microsoft.com/office/drawing/2014/main" id="{1B540EE8-3B31-E0B4-A3F5-3C9E23409476}"/>
              </a:ext>
            </a:extLst>
          </p:cNvPr>
          <p:cNvSpPr/>
          <p:nvPr/>
        </p:nvSpPr>
        <p:spPr>
          <a:xfrm>
            <a:off x="6850895" y="467328"/>
            <a:ext cx="684150" cy="179688"/>
          </a:xfrm>
          <a:prstGeom prst="rightArrow">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latin typeface="Gotham"/>
            </a:endParaRPr>
          </a:p>
        </p:txBody>
      </p:sp>
      <p:graphicFrame>
        <p:nvGraphicFramePr>
          <p:cNvPr id="18" name="Table 7">
            <a:extLst>
              <a:ext uri="{FF2B5EF4-FFF2-40B4-BE49-F238E27FC236}">
                <a16:creationId xmlns:a16="http://schemas.microsoft.com/office/drawing/2014/main" id="{899ACEAA-67AC-59EA-EAF9-E0AC88BD128D}"/>
              </a:ext>
            </a:extLst>
          </p:cNvPr>
          <p:cNvGraphicFramePr>
            <a:graphicFrameLocks noGrp="1"/>
          </p:cNvGraphicFramePr>
          <p:nvPr>
            <p:extLst>
              <p:ext uri="{D42A27DB-BD31-4B8C-83A1-F6EECF244321}">
                <p14:modId xmlns:p14="http://schemas.microsoft.com/office/powerpoint/2010/main" val="1868415776"/>
              </p:ext>
            </p:extLst>
          </p:nvPr>
        </p:nvGraphicFramePr>
        <p:xfrm>
          <a:off x="4012165" y="1769725"/>
          <a:ext cx="8089638" cy="1312039"/>
        </p:xfrm>
        <a:graphic>
          <a:graphicData uri="http://schemas.openxmlformats.org/drawingml/2006/table">
            <a:tbl>
              <a:tblPr firstRow="1" bandRow="1">
                <a:tableStyleId>{93296810-A885-4BE3-A3E7-6D5BEEA58F35}</a:tableStyleId>
              </a:tblPr>
              <a:tblGrid>
                <a:gridCol w="1155662">
                  <a:extLst>
                    <a:ext uri="{9D8B030D-6E8A-4147-A177-3AD203B41FA5}">
                      <a16:colId xmlns:a16="http://schemas.microsoft.com/office/drawing/2014/main" val="4199169457"/>
                    </a:ext>
                  </a:extLst>
                </a:gridCol>
                <a:gridCol w="1155662">
                  <a:extLst>
                    <a:ext uri="{9D8B030D-6E8A-4147-A177-3AD203B41FA5}">
                      <a16:colId xmlns:a16="http://schemas.microsoft.com/office/drawing/2014/main" val="4126099113"/>
                    </a:ext>
                  </a:extLst>
                </a:gridCol>
                <a:gridCol w="1024620">
                  <a:extLst>
                    <a:ext uri="{9D8B030D-6E8A-4147-A177-3AD203B41FA5}">
                      <a16:colId xmlns:a16="http://schemas.microsoft.com/office/drawing/2014/main" val="2199795410"/>
                    </a:ext>
                  </a:extLst>
                </a:gridCol>
                <a:gridCol w="1235115">
                  <a:extLst>
                    <a:ext uri="{9D8B030D-6E8A-4147-A177-3AD203B41FA5}">
                      <a16:colId xmlns:a16="http://schemas.microsoft.com/office/drawing/2014/main" val="420219534"/>
                    </a:ext>
                  </a:extLst>
                </a:gridCol>
                <a:gridCol w="1207255">
                  <a:extLst>
                    <a:ext uri="{9D8B030D-6E8A-4147-A177-3AD203B41FA5}">
                      <a16:colId xmlns:a16="http://schemas.microsoft.com/office/drawing/2014/main" val="2332127809"/>
                    </a:ext>
                  </a:extLst>
                </a:gridCol>
                <a:gridCol w="1155662">
                  <a:extLst>
                    <a:ext uri="{9D8B030D-6E8A-4147-A177-3AD203B41FA5}">
                      <a16:colId xmlns:a16="http://schemas.microsoft.com/office/drawing/2014/main" val="2470558015"/>
                    </a:ext>
                  </a:extLst>
                </a:gridCol>
                <a:gridCol w="1155662">
                  <a:extLst>
                    <a:ext uri="{9D8B030D-6E8A-4147-A177-3AD203B41FA5}">
                      <a16:colId xmlns:a16="http://schemas.microsoft.com/office/drawing/2014/main" val="875252475"/>
                    </a:ext>
                  </a:extLst>
                </a:gridCol>
              </a:tblGrid>
              <a:tr h="364484">
                <a:tc>
                  <a:txBody>
                    <a:bodyPr/>
                    <a:lstStyle/>
                    <a:p>
                      <a:pPr algn="ctr" fontAlgn="b"/>
                      <a:endParaRPr lang="en-IN" sz="1200" b="1" i="0" u="none" strike="noStrike" dirty="0">
                        <a:solidFill>
                          <a:schemeClr val="bg1"/>
                        </a:solidFill>
                        <a:effectLst/>
                        <a:latin typeface="Gotham"/>
                      </a:endParaRPr>
                    </a:p>
                  </a:txBody>
                  <a:tcPr marL="7620" marR="7620" marT="7620" marB="0" anchor="ctr"/>
                </a:tc>
                <a:tc>
                  <a:txBody>
                    <a:bodyPr/>
                    <a:lstStyle/>
                    <a:p>
                      <a:pPr algn="ctr" fontAlgn="b"/>
                      <a:r>
                        <a:rPr lang="en-IN" sz="1200" b="1" u="none" strike="noStrike" dirty="0">
                          <a:solidFill>
                            <a:srgbClr val="000000"/>
                          </a:solidFill>
                          <a:effectLst/>
                          <a:latin typeface="Gotham"/>
                        </a:rPr>
                        <a:t>Units</a:t>
                      </a:r>
                      <a:endParaRPr lang="en-IN" sz="1200" b="1" i="0" u="none" strike="noStrike" dirty="0">
                        <a:solidFill>
                          <a:srgbClr val="000000"/>
                        </a:solidFill>
                        <a:effectLst/>
                        <a:latin typeface="Gotham"/>
                      </a:endParaRPr>
                    </a:p>
                  </a:txBody>
                  <a:tcPr marL="7620" marR="7620" marT="7620" marB="0" anchor="ctr"/>
                </a:tc>
                <a:tc>
                  <a:txBody>
                    <a:bodyPr/>
                    <a:lstStyle/>
                    <a:p>
                      <a:pPr algn="ctr" fontAlgn="b"/>
                      <a:r>
                        <a:rPr lang="en-IN" sz="1200" b="1" u="none" strike="noStrike" dirty="0">
                          <a:solidFill>
                            <a:srgbClr val="000000"/>
                          </a:solidFill>
                          <a:effectLst/>
                          <a:latin typeface="Gotham"/>
                        </a:rPr>
                        <a:t>Average trip distance(km)</a:t>
                      </a:r>
                      <a:endParaRPr lang="en-IN" sz="1200" b="1" i="0" u="none" strike="noStrike" dirty="0">
                        <a:solidFill>
                          <a:srgbClr val="000000"/>
                        </a:solidFill>
                        <a:effectLst/>
                        <a:latin typeface="Gotham"/>
                      </a:endParaRPr>
                    </a:p>
                  </a:txBody>
                  <a:tcPr marL="7620" marR="7620" marT="7620" marB="0" anchor="ctr"/>
                </a:tc>
                <a:tc>
                  <a:txBody>
                    <a:bodyPr/>
                    <a:lstStyle/>
                    <a:p>
                      <a:pPr algn="ctr" fontAlgn="b"/>
                      <a:r>
                        <a:rPr lang="en-IN" sz="1200" b="1" u="none" strike="noStrike" dirty="0">
                          <a:solidFill>
                            <a:srgbClr val="000000"/>
                          </a:solidFill>
                          <a:effectLst/>
                          <a:latin typeface="Gotham"/>
                        </a:rPr>
                        <a:t>Fuel Consumption per trip(l)</a:t>
                      </a:r>
                      <a:endParaRPr lang="en-IN" sz="1200" b="1" i="0" u="none" strike="noStrike" dirty="0">
                        <a:solidFill>
                          <a:srgbClr val="000000"/>
                        </a:solidFill>
                        <a:effectLst/>
                        <a:latin typeface="Gotham"/>
                      </a:endParaRPr>
                    </a:p>
                  </a:txBody>
                  <a:tcPr marL="7620" marR="7620" marT="7620" marB="0" anchor="ctr"/>
                </a:tc>
                <a:tc>
                  <a:txBody>
                    <a:bodyPr/>
                    <a:lstStyle/>
                    <a:p>
                      <a:pPr algn="ctr" fontAlgn="b"/>
                      <a:r>
                        <a:rPr lang="en-US" sz="1200" b="1" u="none" strike="noStrike" dirty="0">
                          <a:solidFill>
                            <a:srgbClr val="000000"/>
                          </a:solidFill>
                          <a:effectLst/>
                          <a:latin typeface="Gotham"/>
                        </a:rPr>
                        <a:t>Fuel Cost incurred per trip(₹)</a:t>
                      </a:r>
                      <a:endParaRPr lang="en-US" sz="1200" b="1" i="0" u="none" strike="noStrike" dirty="0">
                        <a:solidFill>
                          <a:srgbClr val="000000"/>
                        </a:solidFill>
                        <a:effectLst/>
                        <a:latin typeface="Gotham"/>
                      </a:endParaRPr>
                    </a:p>
                  </a:txBody>
                  <a:tcPr marL="7620" marR="7620" marT="7620" marB="0" anchor="ctr"/>
                </a:tc>
                <a:tc>
                  <a:txBody>
                    <a:bodyPr/>
                    <a:lstStyle/>
                    <a:p>
                      <a:pPr algn="ctr" fontAlgn="b"/>
                      <a:r>
                        <a:rPr lang="en-IN" sz="1200" b="1" u="none" strike="noStrike" dirty="0">
                          <a:solidFill>
                            <a:srgbClr val="000000"/>
                          </a:solidFill>
                          <a:effectLst/>
                          <a:latin typeface="Gotham"/>
                        </a:rPr>
                        <a:t>Total freight cost(₹)</a:t>
                      </a:r>
                      <a:endParaRPr lang="en-IN" sz="1200" b="1" i="0" u="none" strike="noStrike" dirty="0">
                        <a:solidFill>
                          <a:srgbClr val="000000"/>
                        </a:solidFill>
                        <a:effectLst/>
                        <a:latin typeface="Gotham"/>
                      </a:endParaRPr>
                    </a:p>
                  </a:txBody>
                  <a:tcPr marL="7620" marR="7620" marT="7620" marB="0" anchor="ctr"/>
                </a:tc>
                <a:tc>
                  <a:txBody>
                    <a:bodyPr/>
                    <a:lstStyle/>
                    <a:p>
                      <a:pPr algn="ctr" fontAlgn="b"/>
                      <a:r>
                        <a:rPr lang="en-IN" sz="1200" b="1" u="none" strike="noStrike" dirty="0">
                          <a:solidFill>
                            <a:srgbClr val="000000"/>
                          </a:solidFill>
                          <a:effectLst/>
                          <a:latin typeface="Gotham"/>
                        </a:rPr>
                        <a:t>Carbon Emission per trip(kg)</a:t>
                      </a:r>
                      <a:endParaRPr lang="en-IN" sz="1200" b="1" i="0" u="none" strike="noStrike" dirty="0">
                        <a:solidFill>
                          <a:srgbClr val="000000"/>
                        </a:solidFill>
                        <a:effectLst/>
                        <a:latin typeface="Gotham"/>
                      </a:endParaRPr>
                    </a:p>
                  </a:txBody>
                  <a:tcPr marL="7620" marR="7620" marT="7620" marB="0" anchor="ctr"/>
                </a:tc>
                <a:extLst>
                  <a:ext uri="{0D108BD9-81ED-4DB2-BD59-A6C34878D82A}">
                    <a16:rowId xmlns:a16="http://schemas.microsoft.com/office/drawing/2014/main" val="2008677770"/>
                  </a:ext>
                </a:extLst>
              </a:tr>
              <a:tr h="278263">
                <a:tc>
                  <a:txBody>
                    <a:bodyPr/>
                    <a:lstStyle/>
                    <a:p>
                      <a:pPr algn="ctr" fontAlgn="b"/>
                      <a:r>
                        <a:rPr lang="en-IN" sz="1200" b="0" u="none" strike="noStrike" dirty="0">
                          <a:solidFill>
                            <a:srgbClr val="000000"/>
                          </a:solidFill>
                          <a:effectLst/>
                          <a:latin typeface="Gotham"/>
                        </a:rPr>
                        <a:t>Intra unit</a:t>
                      </a:r>
                      <a:endParaRPr lang="en-IN" sz="1200" b="0" i="0" u="none" strike="noStrike" dirty="0">
                        <a:solidFill>
                          <a:srgbClr val="000000"/>
                        </a:solidFill>
                        <a:effectLst/>
                        <a:latin typeface="Gotham"/>
                      </a:endParaRPr>
                    </a:p>
                  </a:txBody>
                  <a:tcPr marL="7620" marR="7620" marT="7620" marB="0" anchor="ctr"/>
                </a:tc>
                <a:tc>
                  <a:txBody>
                    <a:bodyPr/>
                    <a:lstStyle/>
                    <a:p>
                      <a:pPr algn="ctr" fontAlgn="b"/>
                      <a:r>
                        <a:rPr lang="en-IN" sz="1200" b="0" u="none" strike="noStrike" dirty="0">
                          <a:solidFill>
                            <a:srgbClr val="000000"/>
                          </a:solidFill>
                          <a:effectLst/>
                          <a:latin typeface="Gotham"/>
                        </a:rPr>
                        <a:t>220</a:t>
                      </a:r>
                      <a:endParaRPr lang="en-IN" sz="1200" b="0" i="0" u="none" strike="noStrike" dirty="0">
                        <a:solidFill>
                          <a:srgbClr val="000000"/>
                        </a:solidFill>
                        <a:effectLst/>
                        <a:latin typeface="Gotham"/>
                      </a:endParaRPr>
                    </a:p>
                  </a:txBody>
                  <a:tcPr marL="7620" marR="7620" marT="7620" marB="0" anchor="ctr"/>
                </a:tc>
                <a:tc>
                  <a:txBody>
                    <a:bodyPr/>
                    <a:lstStyle/>
                    <a:p>
                      <a:pPr algn="ctr" fontAlgn="b"/>
                      <a:r>
                        <a:rPr lang="en-IN" sz="1200" b="0" u="none" strike="noStrike">
                          <a:solidFill>
                            <a:srgbClr val="000000"/>
                          </a:solidFill>
                          <a:effectLst/>
                          <a:latin typeface="Gotham"/>
                        </a:rPr>
                        <a:t>30</a:t>
                      </a:r>
                      <a:endParaRPr lang="en-IN" sz="1200" b="0" i="0" u="none" strike="noStrike">
                        <a:solidFill>
                          <a:srgbClr val="000000"/>
                        </a:solidFill>
                        <a:effectLst/>
                        <a:latin typeface="Gotham"/>
                      </a:endParaRPr>
                    </a:p>
                  </a:txBody>
                  <a:tcPr marL="7620" marR="7620" marT="7620" marB="0" anchor="ctr"/>
                </a:tc>
                <a:tc>
                  <a:txBody>
                    <a:bodyPr/>
                    <a:lstStyle/>
                    <a:p>
                      <a:pPr algn="ctr" fontAlgn="b"/>
                      <a:r>
                        <a:rPr lang="en-IN" sz="1200" b="0" u="none" strike="noStrike">
                          <a:solidFill>
                            <a:srgbClr val="000000"/>
                          </a:solidFill>
                          <a:effectLst/>
                          <a:latin typeface="Gotham"/>
                        </a:rPr>
                        <a:t>1467</a:t>
                      </a:r>
                      <a:endParaRPr lang="en-IN" sz="1200" b="0" i="0" u="none" strike="noStrike">
                        <a:solidFill>
                          <a:srgbClr val="000000"/>
                        </a:solidFill>
                        <a:effectLst/>
                        <a:latin typeface="Gotham"/>
                      </a:endParaRPr>
                    </a:p>
                  </a:txBody>
                  <a:tcPr marL="7620" marR="7620" marT="7620" marB="0" anchor="ctr"/>
                </a:tc>
                <a:tc>
                  <a:txBody>
                    <a:bodyPr/>
                    <a:lstStyle/>
                    <a:p>
                      <a:pPr algn="ctr" fontAlgn="b"/>
                      <a:r>
                        <a:rPr lang="en-IN" sz="1200" b="0" u="none" strike="noStrike" dirty="0">
                          <a:solidFill>
                            <a:srgbClr val="000000"/>
                          </a:solidFill>
                          <a:effectLst/>
                          <a:latin typeface="Gotham"/>
                        </a:rPr>
                        <a:t>1,32,000</a:t>
                      </a:r>
                      <a:endParaRPr lang="en-IN" sz="1200" b="0" i="0" u="none" strike="noStrike" dirty="0">
                        <a:solidFill>
                          <a:srgbClr val="000000"/>
                        </a:solidFill>
                        <a:effectLst/>
                        <a:latin typeface="Gotham"/>
                      </a:endParaRPr>
                    </a:p>
                  </a:txBody>
                  <a:tcPr marL="7620" marR="7620" marT="7620" marB="0" anchor="ctr"/>
                </a:tc>
                <a:tc>
                  <a:txBody>
                    <a:bodyPr/>
                    <a:lstStyle/>
                    <a:p>
                      <a:pPr algn="ctr" fontAlgn="b"/>
                      <a:r>
                        <a:rPr lang="en-IN" sz="1200" b="0" u="none" strike="noStrike" dirty="0">
                          <a:solidFill>
                            <a:srgbClr val="000000"/>
                          </a:solidFill>
                          <a:effectLst/>
                          <a:latin typeface="Gotham"/>
                        </a:rPr>
                        <a:t>3,77,143</a:t>
                      </a:r>
                      <a:endParaRPr lang="en-IN" sz="1200" b="0" i="0" u="none" strike="noStrike" dirty="0">
                        <a:solidFill>
                          <a:srgbClr val="000000"/>
                        </a:solidFill>
                        <a:effectLst/>
                        <a:latin typeface="Gotham"/>
                      </a:endParaRPr>
                    </a:p>
                  </a:txBody>
                  <a:tcPr marL="7620" marR="7620" marT="7620" marB="0" anchor="ctr"/>
                </a:tc>
                <a:tc>
                  <a:txBody>
                    <a:bodyPr/>
                    <a:lstStyle/>
                    <a:p>
                      <a:pPr algn="ctr" fontAlgn="b"/>
                      <a:r>
                        <a:rPr lang="en-IN" sz="1200" b="0" u="none" strike="noStrike" dirty="0">
                          <a:solidFill>
                            <a:srgbClr val="000000"/>
                          </a:solidFill>
                          <a:effectLst/>
                          <a:latin typeface="Gotham"/>
                        </a:rPr>
                        <a:t>3,960</a:t>
                      </a:r>
                      <a:endParaRPr lang="en-IN" sz="1200" b="0" i="0" u="none" strike="noStrike" dirty="0">
                        <a:solidFill>
                          <a:srgbClr val="000000"/>
                        </a:solidFill>
                        <a:effectLst/>
                        <a:latin typeface="Gotham"/>
                      </a:endParaRPr>
                    </a:p>
                  </a:txBody>
                  <a:tcPr marL="7620" marR="7620" marT="7620" marB="0" anchor="ctr"/>
                </a:tc>
                <a:extLst>
                  <a:ext uri="{0D108BD9-81ED-4DB2-BD59-A6C34878D82A}">
                    <a16:rowId xmlns:a16="http://schemas.microsoft.com/office/drawing/2014/main" val="271150071"/>
                  </a:ext>
                </a:extLst>
              </a:tr>
              <a:tr h="287016">
                <a:tc>
                  <a:txBody>
                    <a:bodyPr/>
                    <a:lstStyle/>
                    <a:p>
                      <a:pPr algn="ctr" fontAlgn="b"/>
                      <a:r>
                        <a:rPr lang="en-IN" sz="1200" b="0" u="none" strike="noStrike" dirty="0">
                          <a:solidFill>
                            <a:srgbClr val="000000"/>
                          </a:solidFill>
                          <a:effectLst/>
                          <a:latin typeface="Gotham"/>
                        </a:rPr>
                        <a:t>Inter unit</a:t>
                      </a:r>
                      <a:endParaRPr lang="en-IN" sz="1200" b="0" i="0" u="none" strike="noStrike" dirty="0">
                        <a:solidFill>
                          <a:srgbClr val="000000"/>
                        </a:solidFill>
                        <a:effectLst/>
                        <a:latin typeface="Gotham"/>
                      </a:endParaRPr>
                    </a:p>
                  </a:txBody>
                  <a:tcPr marL="7620" marR="7620" marT="7620" marB="0" anchor="ctr"/>
                </a:tc>
                <a:tc>
                  <a:txBody>
                    <a:bodyPr/>
                    <a:lstStyle/>
                    <a:p>
                      <a:pPr algn="ctr" fontAlgn="b"/>
                      <a:r>
                        <a:rPr lang="en-IN" sz="1200" b="0" u="none" strike="noStrike">
                          <a:solidFill>
                            <a:srgbClr val="000000"/>
                          </a:solidFill>
                          <a:effectLst/>
                          <a:latin typeface="Gotham"/>
                        </a:rPr>
                        <a:t>435</a:t>
                      </a:r>
                      <a:endParaRPr lang="en-IN" sz="1200" b="0" i="0" u="none" strike="noStrike">
                        <a:solidFill>
                          <a:srgbClr val="000000"/>
                        </a:solidFill>
                        <a:effectLst/>
                        <a:latin typeface="Gotham"/>
                      </a:endParaRPr>
                    </a:p>
                  </a:txBody>
                  <a:tcPr marL="7620" marR="7620" marT="7620" marB="0" anchor="ctr"/>
                </a:tc>
                <a:tc>
                  <a:txBody>
                    <a:bodyPr/>
                    <a:lstStyle/>
                    <a:p>
                      <a:pPr algn="ctr" fontAlgn="b"/>
                      <a:r>
                        <a:rPr lang="en-IN" sz="1200" b="0" u="none" strike="noStrike">
                          <a:solidFill>
                            <a:srgbClr val="000000"/>
                          </a:solidFill>
                          <a:effectLst/>
                          <a:latin typeface="Gotham"/>
                        </a:rPr>
                        <a:t>490</a:t>
                      </a:r>
                      <a:endParaRPr lang="en-IN" sz="1200" b="0" i="0" u="none" strike="noStrike">
                        <a:solidFill>
                          <a:srgbClr val="000000"/>
                        </a:solidFill>
                        <a:effectLst/>
                        <a:latin typeface="Gotham"/>
                      </a:endParaRPr>
                    </a:p>
                  </a:txBody>
                  <a:tcPr marL="7620" marR="7620" marT="7620" marB="0" anchor="ctr"/>
                </a:tc>
                <a:tc>
                  <a:txBody>
                    <a:bodyPr/>
                    <a:lstStyle/>
                    <a:p>
                      <a:pPr algn="ctr" fontAlgn="b"/>
                      <a:r>
                        <a:rPr lang="en-IN" sz="1200" b="0" u="none" strike="noStrike">
                          <a:solidFill>
                            <a:srgbClr val="000000"/>
                          </a:solidFill>
                          <a:effectLst/>
                          <a:latin typeface="Gotham"/>
                        </a:rPr>
                        <a:t>85260</a:t>
                      </a:r>
                      <a:endParaRPr lang="en-IN" sz="1200" b="0" i="0" u="none" strike="noStrike">
                        <a:solidFill>
                          <a:srgbClr val="000000"/>
                        </a:solidFill>
                        <a:effectLst/>
                        <a:latin typeface="Gotham"/>
                      </a:endParaRPr>
                    </a:p>
                  </a:txBody>
                  <a:tcPr marL="7620" marR="7620" marT="7620" marB="0" anchor="ctr"/>
                </a:tc>
                <a:tc>
                  <a:txBody>
                    <a:bodyPr/>
                    <a:lstStyle/>
                    <a:p>
                      <a:pPr algn="ctr" fontAlgn="b"/>
                      <a:r>
                        <a:rPr lang="en-IN" sz="1200" b="0" u="none" strike="noStrike" dirty="0">
                          <a:solidFill>
                            <a:srgbClr val="000000"/>
                          </a:solidFill>
                          <a:effectLst/>
                          <a:latin typeface="Gotham"/>
                        </a:rPr>
                        <a:t>76,73,400</a:t>
                      </a:r>
                      <a:endParaRPr lang="en-IN" sz="1200" b="0" i="0" u="none" strike="noStrike" dirty="0">
                        <a:solidFill>
                          <a:srgbClr val="000000"/>
                        </a:solidFill>
                        <a:effectLst/>
                        <a:latin typeface="Gotham"/>
                      </a:endParaRPr>
                    </a:p>
                  </a:txBody>
                  <a:tcPr marL="7620" marR="7620" marT="7620" marB="0" anchor="ctr"/>
                </a:tc>
                <a:tc>
                  <a:txBody>
                    <a:bodyPr/>
                    <a:lstStyle/>
                    <a:p>
                      <a:pPr algn="ctr" fontAlgn="b"/>
                      <a:r>
                        <a:rPr lang="en-IN" sz="1200" b="0" u="none" strike="noStrike" dirty="0">
                          <a:solidFill>
                            <a:srgbClr val="000000"/>
                          </a:solidFill>
                          <a:effectLst/>
                          <a:latin typeface="Gotham"/>
                        </a:rPr>
                        <a:t>1,70,52,000</a:t>
                      </a:r>
                      <a:endParaRPr lang="en-IN" sz="1200" b="0" i="0" u="none" strike="noStrike" dirty="0">
                        <a:solidFill>
                          <a:srgbClr val="000000"/>
                        </a:solidFill>
                        <a:effectLst/>
                        <a:latin typeface="Gotham"/>
                      </a:endParaRPr>
                    </a:p>
                  </a:txBody>
                  <a:tcPr marL="7620" marR="7620" marT="7620" marB="0" anchor="ctr"/>
                </a:tc>
                <a:tc>
                  <a:txBody>
                    <a:bodyPr/>
                    <a:lstStyle/>
                    <a:p>
                      <a:pPr algn="ctr" fontAlgn="b"/>
                      <a:r>
                        <a:rPr lang="en-IN" sz="1200" b="0" u="none" strike="noStrike" dirty="0">
                          <a:solidFill>
                            <a:srgbClr val="000000"/>
                          </a:solidFill>
                          <a:effectLst/>
                          <a:latin typeface="Gotham"/>
                        </a:rPr>
                        <a:t>2,30,202</a:t>
                      </a:r>
                      <a:endParaRPr lang="en-IN" sz="1200" b="0" i="0" u="none" strike="noStrike" dirty="0">
                        <a:solidFill>
                          <a:srgbClr val="000000"/>
                        </a:solidFill>
                        <a:effectLst/>
                        <a:latin typeface="Gotham"/>
                      </a:endParaRPr>
                    </a:p>
                  </a:txBody>
                  <a:tcPr marL="7620" marR="7620" marT="7620" marB="0" anchor="ctr"/>
                </a:tc>
                <a:extLst>
                  <a:ext uri="{0D108BD9-81ED-4DB2-BD59-A6C34878D82A}">
                    <a16:rowId xmlns:a16="http://schemas.microsoft.com/office/drawing/2014/main" val="758582632"/>
                  </a:ext>
                </a:extLst>
              </a:tr>
              <a:tr h="366981">
                <a:tc>
                  <a:txBody>
                    <a:bodyPr/>
                    <a:lstStyle/>
                    <a:p>
                      <a:pPr algn="ctr" fontAlgn="b"/>
                      <a:r>
                        <a:rPr lang="en-IN" sz="1200" b="0" u="none" strike="noStrike" dirty="0">
                          <a:solidFill>
                            <a:srgbClr val="000000"/>
                          </a:solidFill>
                          <a:effectLst/>
                          <a:latin typeface="Gotham"/>
                        </a:rPr>
                        <a:t>Customer movement</a:t>
                      </a:r>
                      <a:endParaRPr lang="en-IN" sz="1200" b="0" i="0" u="none" strike="noStrike" dirty="0">
                        <a:solidFill>
                          <a:srgbClr val="000000"/>
                        </a:solidFill>
                        <a:effectLst/>
                        <a:latin typeface="Gotham"/>
                      </a:endParaRPr>
                    </a:p>
                  </a:txBody>
                  <a:tcPr marL="7620" marR="7620" marT="7620" marB="0" anchor="ctr"/>
                </a:tc>
                <a:tc>
                  <a:txBody>
                    <a:bodyPr/>
                    <a:lstStyle/>
                    <a:p>
                      <a:pPr algn="ctr" fontAlgn="b"/>
                      <a:r>
                        <a:rPr lang="en-IN" sz="1200" b="0" u="none" strike="noStrike" dirty="0">
                          <a:solidFill>
                            <a:srgbClr val="000000"/>
                          </a:solidFill>
                          <a:effectLst/>
                          <a:latin typeface="Gotham"/>
                        </a:rPr>
                        <a:t>1345</a:t>
                      </a:r>
                      <a:endParaRPr lang="en-IN" sz="1200" b="0" i="0" u="none" strike="noStrike" dirty="0">
                        <a:solidFill>
                          <a:srgbClr val="000000"/>
                        </a:solidFill>
                        <a:effectLst/>
                        <a:latin typeface="Gotham"/>
                      </a:endParaRPr>
                    </a:p>
                  </a:txBody>
                  <a:tcPr marL="7620" marR="7620" marT="7620" marB="0" anchor="ctr"/>
                </a:tc>
                <a:tc>
                  <a:txBody>
                    <a:bodyPr/>
                    <a:lstStyle/>
                    <a:p>
                      <a:pPr algn="ctr" fontAlgn="b"/>
                      <a:r>
                        <a:rPr lang="en-IN" sz="1200" b="0" u="none" strike="noStrike" dirty="0">
                          <a:solidFill>
                            <a:srgbClr val="000000"/>
                          </a:solidFill>
                          <a:effectLst/>
                          <a:latin typeface="Gotham"/>
                        </a:rPr>
                        <a:t>248</a:t>
                      </a:r>
                      <a:endParaRPr lang="en-IN" sz="1200" b="0" i="0" u="none" strike="noStrike" dirty="0">
                        <a:solidFill>
                          <a:srgbClr val="000000"/>
                        </a:solidFill>
                        <a:effectLst/>
                        <a:latin typeface="Gotham"/>
                      </a:endParaRPr>
                    </a:p>
                  </a:txBody>
                  <a:tcPr marL="7620" marR="7620" marT="7620" marB="0" anchor="ctr"/>
                </a:tc>
                <a:tc>
                  <a:txBody>
                    <a:bodyPr/>
                    <a:lstStyle/>
                    <a:p>
                      <a:pPr algn="ctr" fontAlgn="b"/>
                      <a:r>
                        <a:rPr lang="en-IN" sz="1200" b="0" u="none" strike="noStrike">
                          <a:solidFill>
                            <a:srgbClr val="000000"/>
                          </a:solidFill>
                          <a:effectLst/>
                          <a:latin typeface="Gotham"/>
                        </a:rPr>
                        <a:t>133424</a:t>
                      </a:r>
                      <a:endParaRPr lang="en-IN" sz="1200" b="0" i="0" u="none" strike="noStrike">
                        <a:solidFill>
                          <a:srgbClr val="000000"/>
                        </a:solidFill>
                        <a:effectLst/>
                        <a:latin typeface="Gotham"/>
                      </a:endParaRPr>
                    </a:p>
                  </a:txBody>
                  <a:tcPr marL="7620" marR="7620" marT="7620" marB="0" anchor="ctr"/>
                </a:tc>
                <a:tc>
                  <a:txBody>
                    <a:bodyPr/>
                    <a:lstStyle/>
                    <a:p>
                      <a:pPr algn="ctr" fontAlgn="b"/>
                      <a:r>
                        <a:rPr lang="en-IN" sz="1200" b="0" u="none" strike="noStrike" dirty="0">
                          <a:solidFill>
                            <a:srgbClr val="000000"/>
                          </a:solidFill>
                          <a:effectLst/>
                          <a:latin typeface="Gotham"/>
                        </a:rPr>
                        <a:t>1,20,08,160</a:t>
                      </a:r>
                      <a:endParaRPr lang="en-IN" sz="1200" b="0" i="0" u="none" strike="noStrike" dirty="0">
                        <a:solidFill>
                          <a:srgbClr val="000000"/>
                        </a:solidFill>
                        <a:effectLst/>
                        <a:latin typeface="Gotham"/>
                      </a:endParaRPr>
                    </a:p>
                  </a:txBody>
                  <a:tcPr marL="7620" marR="7620" marT="7620" marB="0" anchor="ctr"/>
                </a:tc>
                <a:tc>
                  <a:txBody>
                    <a:bodyPr/>
                    <a:lstStyle/>
                    <a:p>
                      <a:pPr algn="ctr" fontAlgn="b"/>
                      <a:r>
                        <a:rPr lang="en-IN" sz="1200" b="0" u="none" strike="noStrike" dirty="0">
                          <a:solidFill>
                            <a:srgbClr val="000000"/>
                          </a:solidFill>
                          <a:effectLst/>
                          <a:latin typeface="Gotham"/>
                        </a:rPr>
                        <a:t>2,66,84,800</a:t>
                      </a:r>
                      <a:endParaRPr lang="en-IN" sz="1200" b="0" i="0" u="none" strike="noStrike" dirty="0">
                        <a:solidFill>
                          <a:srgbClr val="000000"/>
                        </a:solidFill>
                        <a:effectLst/>
                        <a:latin typeface="Gotham"/>
                      </a:endParaRPr>
                    </a:p>
                  </a:txBody>
                  <a:tcPr marL="7620" marR="7620" marT="7620" marB="0" anchor="ctr"/>
                </a:tc>
                <a:tc>
                  <a:txBody>
                    <a:bodyPr/>
                    <a:lstStyle/>
                    <a:p>
                      <a:pPr algn="ctr" fontAlgn="b"/>
                      <a:r>
                        <a:rPr lang="en-IN" sz="1200" b="0" u="none" strike="noStrike" dirty="0">
                          <a:solidFill>
                            <a:srgbClr val="000000"/>
                          </a:solidFill>
                          <a:effectLst/>
                          <a:latin typeface="Gotham"/>
                        </a:rPr>
                        <a:t>3,60,245</a:t>
                      </a:r>
                      <a:endParaRPr lang="en-IN" sz="1200" b="0" i="0" u="none" strike="noStrike" dirty="0">
                        <a:solidFill>
                          <a:srgbClr val="000000"/>
                        </a:solidFill>
                        <a:effectLst/>
                        <a:latin typeface="Gotham"/>
                      </a:endParaRPr>
                    </a:p>
                  </a:txBody>
                  <a:tcPr marL="7620" marR="7620" marT="7620" marB="0" anchor="ctr"/>
                </a:tc>
                <a:extLst>
                  <a:ext uri="{0D108BD9-81ED-4DB2-BD59-A6C34878D82A}">
                    <a16:rowId xmlns:a16="http://schemas.microsoft.com/office/drawing/2014/main" val="3004296212"/>
                  </a:ext>
                </a:extLst>
              </a:tr>
            </a:tbl>
          </a:graphicData>
        </a:graphic>
      </p:graphicFrame>
      <p:sp>
        <p:nvSpPr>
          <p:cNvPr id="19" name="TextBox 18">
            <a:extLst>
              <a:ext uri="{FF2B5EF4-FFF2-40B4-BE49-F238E27FC236}">
                <a16:creationId xmlns:a16="http://schemas.microsoft.com/office/drawing/2014/main" id="{9D82F65E-0F5F-2565-7A86-347CFCBE0FD1}"/>
              </a:ext>
            </a:extLst>
          </p:cNvPr>
          <p:cNvSpPr txBox="1"/>
          <p:nvPr/>
        </p:nvSpPr>
        <p:spPr>
          <a:xfrm>
            <a:off x="139957" y="1769724"/>
            <a:ext cx="3788229" cy="646331"/>
          </a:xfrm>
          <a:prstGeom prst="rect">
            <a:avLst/>
          </a:prstGeom>
          <a:noFill/>
          <a:ln>
            <a:solidFill>
              <a:schemeClr val="accent4"/>
            </a:solidFill>
          </a:ln>
        </p:spPr>
        <p:txBody>
          <a:bodyPr wrap="square" rtlCol="0">
            <a:spAutoFit/>
          </a:bodyPr>
          <a:lstStyle/>
          <a:p>
            <a:r>
              <a:rPr lang="en-IN" sz="1200" dirty="0">
                <a:latin typeface="Gotham"/>
              </a:rPr>
              <a:t>Assumptions:</a:t>
            </a:r>
          </a:p>
          <a:p>
            <a:pPr marL="285750" indent="-285750">
              <a:buFont typeface="Arial" panose="020B0604020202020204" pitchFamily="34" charset="0"/>
              <a:buChar char="•"/>
            </a:pPr>
            <a:r>
              <a:rPr lang="en-IN" sz="1200" dirty="0">
                <a:latin typeface="Gotham"/>
              </a:rPr>
              <a:t>Average cost of diesel has been considered to be ₹90</a:t>
            </a:r>
          </a:p>
          <a:p>
            <a:pPr marL="285750" indent="-285750">
              <a:buFont typeface="Arial" panose="020B0604020202020204" pitchFamily="34" charset="0"/>
              <a:buChar char="•"/>
            </a:pPr>
            <a:r>
              <a:rPr lang="en-IN" sz="1200" dirty="0">
                <a:latin typeface="Gotham"/>
              </a:rPr>
              <a:t>Total freight costs are back-calculated from fuel cost</a:t>
            </a:r>
          </a:p>
        </p:txBody>
      </p:sp>
      <p:sp>
        <p:nvSpPr>
          <p:cNvPr id="22" name="TextBox 21">
            <a:extLst>
              <a:ext uri="{FF2B5EF4-FFF2-40B4-BE49-F238E27FC236}">
                <a16:creationId xmlns:a16="http://schemas.microsoft.com/office/drawing/2014/main" id="{3FB0250B-F998-978D-8287-6C19DF71E632}"/>
              </a:ext>
            </a:extLst>
          </p:cNvPr>
          <p:cNvSpPr txBox="1"/>
          <p:nvPr/>
        </p:nvSpPr>
        <p:spPr>
          <a:xfrm>
            <a:off x="139957" y="2471019"/>
            <a:ext cx="3788229" cy="646331"/>
          </a:xfrm>
          <a:prstGeom prst="rect">
            <a:avLst/>
          </a:prstGeom>
          <a:noFill/>
          <a:ln>
            <a:solidFill>
              <a:schemeClr val="accent6">
                <a:lumMod val="75000"/>
              </a:schemeClr>
            </a:solidFill>
          </a:ln>
        </p:spPr>
        <p:txBody>
          <a:bodyPr wrap="square" rtlCol="0">
            <a:spAutoFit/>
          </a:bodyPr>
          <a:lstStyle/>
          <a:p>
            <a:r>
              <a:rPr lang="en-IN" sz="1200" b="1" dirty="0">
                <a:latin typeface="Gotham"/>
              </a:rPr>
              <a:t>Annual diesel consumption:</a:t>
            </a:r>
            <a:r>
              <a:rPr lang="en-IN" sz="1200" dirty="0">
                <a:latin typeface="Gotham"/>
              </a:rPr>
              <a:t> 3.68 cr litres</a:t>
            </a:r>
          </a:p>
          <a:p>
            <a:r>
              <a:rPr lang="en-IN" sz="1200" b="1" dirty="0">
                <a:latin typeface="Gotham"/>
              </a:rPr>
              <a:t>Approx Cost incurred in fuel consumption: </a:t>
            </a:r>
            <a:r>
              <a:rPr lang="en-IN" sz="1200" dirty="0">
                <a:latin typeface="Gotham"/>
              </a:rPr>
              <a:t>₹331 cr</a:t>
            </a:r>
          </a:p>
          <a:p>
            <a:r>
              <a:rPr lang="en-IN" sz="1200" b="1" dirty="0">
                <a:latin typeface="Gotham"/>
              </a:rPr>
              <a:t>Annual approx. carbon emission:</a:t>
            </a:r>
            <a:r>
              <a:rPr lang="en-IN" sz="1200" dirty="0">
                <a:latin typeface="Gotham"/>
              </a:rPr>
              <a:t> 39626 T</a:t>
            </a:r>
          </a:p>
        </p:txBody>
      </p:sp>
      <p:sp>
        <p:nvSpPr>
          <p:cNvPr id="29" name="Arrow: Right 28">
            <a:extLst>
              <a:ext uri="{FF2B5EF4-FFF2-40B4-BE49-F238E27FC236}">
                <a16:creationId xmlns:a16="http://schemas.microsoft.com/office/drawing/2014/main" id="{4333C369-3AFA-F0F2-EFE6-55CCE3DD55BF}"/>
              </a:ext>
            </a:extLst>
          </p:cNvPr>
          <p:cNvSpPr/>
          <p:nvPr/>
        </p:nvSpPr>
        <p:spPr>
          <a:xfrm>
            <a:off x="9145147" y="467328"/>
            <a:ext cx="684150" cy="179688"/>
          </a:xfrm>
          <a:prstGeom prst="rightArrow">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latin typeface="Gotham"/>
            </a:endParaRPr>
          </a:p>
        </p:txBody>
      </p:sp>
      <p:sp>
        <p:nvSpPr>
          <p:cNvPr id="32" name="Arrow: Bent-Up 31">
            <a:extLst>
              <a:ext uri="{FF2B5EF4-FFF2-40B4-BE49-F238E27FC236}">
                <a16:creationId xmlns:a16="http://schemas.microsoft.com/office/drawing/2014/main" id="{776A5BDB-D554-1836-8F78-EF3B8925C2EA}"/>
              </a:ext>
            </a:extLst>
          </p:cNvPr>
          <p:cNvSpPr/>
          <p:nvPr/>
        </p:nvSpPr>
        <p:spPr>
          <a:xfrm rot="5400000">
            <a:off x="6622670" y="312711"/>
            <a:ext cx="344986" cy="1479763"/>
          </a:xfrm>
          <a:prstGeom prst="bentUpArrow">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latin typeface="Gotham"/>
            </a:endParaRPr>
          </a:p>
        </p:txBody>
      </p:sp>
      <p:sp>
        <p:nvSpPr>
          <p:cNvPr id="33" name="Rectangle: Rounded Corners 32">
            <a:extLst>
              <a:ext uri="{FF2B5EF4-FFF2-40B4-BE49-F238E27FC236}">
                <a16:creationId xmlns:a16="http://schemas.microsoft.com/office/drawing/2014/main" id="{1F63113F-82EA-0C78-07C1-D4ACA6B1E344}"/>
              </a:ext>
            </a:extLst>
          </p:cNvPr>
          <p:cNvSpPr/>
          <p:nvPr/>
        </p:nvSpPr>
        <p:spPr>
          <a:xfrm>
            <a:off x="5312061" y="3109"/>
            <a:ext cx="6173924" cy="226515"/>
          </a:xfrm>
          <a:prstGeom prst="round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latin typeface="Gotham"/>
              </a:rPr>
              <a:t>Problems in logistics of HCBL</a:t>
            </a:r>
          </a:p>
        </p:txBody>
      </p:sp>
      <p:sp>
        <p:nvSpPr>
          <p:cNvPr id="36" name="Rectangle: Rounded Corners 35">
            <a:extLst>
              <a:ext uri="{FF2B5EF4-FFF2-40B4-BE49-F238E27FC236}">
                <a16:creationId xmlns:a16="http://schemas.microsoft.com/office/drawing/2014/main" id="{CFB9E04F-6D86-4792-9893-70EEAC6A0423}"/>
              </a:ext>
            </a:extLst>
          </p:cNvPr>
          <p:cNvSpPr/>
          <p:nvPr/>
        </p:nvSpPr>
        <p:spPr>
          <a:xfrm>
            <a:off x="139957" y="1455278"/>
            <a:ext cx="11961848" cy="259482"/>
          </a:xfrm>
          <a:prstGeom prst="round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latin typeface="Gotham"/>
              </a:rPr>
              <a:t>Analyzing the current situation at HCBL</a:t>
            </a:r>
          </a:p>
        </p:txBody>
      </p:sp>
      <p:sp>
        <p:nvSpPr>
          <p:cNvPr id="40" name="Rectangle: Rounded Corners 39">
            <a:extLst>
              <a:ext uri="{FF2B5EF4-FFF2-40B4-BE49-F238E27FC236}">
                <a16:creationId xmlns:a16="http://schemas.microsoft.com/office/drawing/2014/main" id="{CCAA6FC1-435A-780E-6EFE-D96951C72351}"/>
              </a:ext>
            </a:extLst>
          </p:cNvPr>
          <p:cNvSpPr/>
          <p:nvPr/>
        </p:nvSpPr>
        <p:spPr>
          <a:xfrm>
            <a:off x="139956" y="3168790"/>
            <a:ext cx="11961847" cy="247800"/>
          </a:xfrm>
          <a:prstGeom prst="round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latin typeface="Gotham"/>
              </a:rPr>
              <a:t>Assessing the feasibility of alternative fuels on 4 parameters: Availability, cost, emissions, vehicle compatibility</a:t>
            </a:r>
          </a:p>
        </p:txBody>
      </p:sp>
      <p:graphicFrame>
        <p:nvGraphicFramePr>
          <p:cNvPr id="41" name="Table 40">
            <a:extLst>
              <a:ext uri="{FF2B5EF4-FFF2-40B4-BE49-F238E27FC236}">
                <a16:creationId xmlns:a16="http://schemas.microsoft.com/office/drawing/2014/main" id="{DD0C2234-9BB5-ADE4-DA1E-DA9D706E2E8D}"/>
              </a:ext>
            </a:extLst>
          </p:cNvPr>
          <p:cNvGraphicFramePr>
            <a:graphicFrameLocks noGrp="1"/>
          </p:cNvGraphicFramePr>
          <p:nvPr>
            <p:extLst>
              <p:ext uri="{D42A27DB-BD31-4B8C-83A1-F6EECF244321}">
                <p14:modId xmlns:p14="http://schemas.microsoft.com/office/powerpoint/2010/main" val="116288253"/>
              </p:ext>
            </p:extLst>
          </p:nvPr>
        </p:nvGraphicFramePr>
        <p:xfrm>
          <a:off x="146353" y="3757193"/>
          <a:ext cx="5019873" cy="2491659"/>
        </p:xfrm>
        <a:graphic>
          <a:graphicData uri="http://schemas.openxmlformats.org/drawingml/2006/table">
            <a:tbl>
              <a:tblPr/>
              <a:tblGrid>
                <a:gridCol w="1223981">
                  <a:extLst>
                    <a:ext uri="{9D8B030D-6E8A-4147-A177-3AD203B41FA5}">
                      <a16:colId xmlns:a16="http://schemas.microsoft.com/office/drawing/2014/main" val="1622819021"/>
                    </a:ext>
                  </a:extLst>
                </a:gridCol>
                <a:gridCol w="1053554">
                  <a:extLst>
                    <a:ext uri="{9D8B030D-6E8A-4147-A177-3AD203B41FA5}">
                      <a16:colId xmlns:a16="http://schemas.microsoft.com/office/drawing/2014/main" val="1548562551"/>
                    </a:ext>
                  </a:extLst>
                </a:gridCol>
                <a:gridCol w="1998653">
                  <a:extLst>
                    <a:ext uri="{9D8B030D-6E8A-4147-A177-3AD203B41FA5}">
                      <a16:colId xmlns:a16="http://schemas.microsoft.com/office/drawing/2014/main" val="2456172601"/>
                    </a:ext>
                  </a:extLst>
                </a:gridCol>
                <a:gridCol w="743685">
                  <a:extLst>
                    <a:ext uri="{9D8B030D-6E8A-4147-A177-3AD203B41FA5}">
                      <a16:colId xmlns:a16="http://schemas.microsoft.com/office/drawing/2014/main" val="145718829"/>
                    </a:ext>
                  </a:extLst>
                </a:gridCol>
              </a:tblGrid>
              <a:tr h="473099">
                <a:tc>
                  <a:txBody>
                    <a:bodyPr/>
                    <a:lstStyle/>
                    <a:p>
                      <a:pPr algn="ctr" fontAlgn="b"/>
                      <a:r>
                        <a:rPr lang="en-IN" sz="1100" b="1" i="0" u="none" strike="noStrike">
                          <a:solidFill>
                            <a:srgbClr val="000000"/>
                          </a:solidFill>
                          <a:effectLst/>
                          <a:latin typeface="Gotham"/>
                        </a:rPr>
                        <a:t>Fuel</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100" b="1" i="0" u="none" strike="noStrike">
                          <a:solidFill>
                            <a:srgbClr val="000000"/>
                          </a:solidFill>
                          <a:effectLst/>
                          <a:latin typeface="Gotham"/>
                        </a:rPr>
                        <a:t>Current Status</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100" b="1" i="0" u="none" strike="noStrike">
                          <a:solidFill>
                            <a:srgbClr val="000000"/>
                          </a:solidFill>
                          <a:effectLst/>
                          <a:latin typeface="Gotham"/>
                        </a:rPr>
                        <a:t>Timeline of Implementation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100" b="1" i="0" u="none" strike="noStrike" dirty="0">
                          <a:solidFill>
                            <a:srgbClr val="000000"/>
                          </a:solidFill>
                          <a:effectLst/>
                          <a:latin typeface="Gotham"/>
                        </a:rPr>
                        <a:t>Score*(5)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55623250"/>
                  </a:ext>
                </a:extLst>
              </a:tr>
              <a:tr h="252320">
                <a:tc>
                  <a:txBody>
                    <a:bodyPr/>
                    <a:lstStyle/>
                    <a:p>
                      <a:pPr algn="ctr" fontAlgn="b"/>
                      <a:r>
                        <a:rPr lang="en-IN" sz="1100" b="0" i="0" u="none" strike="noStrike" dirty="0">
                          <a:solidFill>
                            <a:srgbClr val="000000"/>
                          </a:solidFill>
                          <a:effectLst/>
                          <a:latin typeface="Gotham"/>
                        </a:rPr>
                        <a:t>Ethanol blending</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100" b="0" i="0" u="none" strike="noStrike">
                          <a:solidFill>
                            <a:srgbClr val="000000"/>
                          </a:solidFill>
                          <a:effectLst/>
                          <a:latin typeface="Gotham"/>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en-IN" sz="1100" b="0" i="0" u="none" strike="noStrike">
                          <a:solidFill>
                            <a:srgbClr val="000000"/>
                          </a:solidFill>
                          <a:effectLst/>
                          <a:latin typeface="Gotham"/>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en-IN" sz="1100" b="0" i="0" u="none" strike="noStrike" dirty="0">
                          <a:solidFill>
                            <a:srgbClr val="000000"/>
                          </a:solidFill>
                          <a:effectLst/>
                          <a:latin typeface="Gotham"/>
                        </a:rPr>
                        <a:t>4</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27275985"/>
                  </a:ext>
                </a:extLst>
              </a:tr>
              <a:tr h="252320">
                <a:tc>
                  <a:txBody>
                    <a:bodyPr/>
                    <a:lstStyle/>
                    <a:p>
                      <a:pPr algn="ctr" fontAlgn="b"/>
                      <a:r>
                        <a:rPr lang="en-IN" sz="1100" b="0" i="0" u="none" strike="noStrike">
                          <a:solidFill>
                            <a:srgbClr val="000000"/>
                          </a:solidFill>
                          <a:effectLst/>
                          <a:latin typeface="Gotham"/>
                        </a:rPr>
                        <a:t>Biodiesel</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100" b="0" i="0" u="none" strike="noStrike">
                          <a:solidFill>
                            <a:srgbClr val="000000"/>
                          </a:solidFill>
                          <a:effectLst/>
                          <a:latin typeface="Gotham"/>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b"/>
                      <a:r>
                        <a:rPr lang="en-IN" sz="1100" b="0" i="0" u="none" strike="noStrike">
                          <a:solidFill>
                            <a:srgbClr val="000000"/>
                          </a:solidFill>
                          <a:effectLst/>
                          <a:latin typeface="Gotham"/>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ctr" fontAlgn="b"/>
                      <a:r>
                        <a:rPr lang="en-IN" sz="1100" b="0" i="0" u="none" strike="noStrike">
                          <a:solidFill>
                            <a:srgbClr val="000000"/>
                          </a:solidFill>
                          <a:effectLst/>
                          <a:latin typeface="Gotham"/>
                        </a:rPr>
                        <a:t>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69250146"/>
                  </a:ext>
                </a:extLst>
              </a:tr>
              <a:tr h="252320">
                <a:tc>
                  <a:txBody>
                    <a:bodyPr/>
                    <a:lstStyle/>
                    <a:p>
                      <a:pPr algn="ctr" fontAlgn="b"/>
                      <a:r>
                        <a:rPr lang="en-IN" sz="1100" b="0" i="0" u="none" strike="noStrike">
                          <a:solidFill>
                            <a:srgbClr val="000000"/>
                          </a:solidFill>
                          <a:effectLst/>
                          <a:latin typeface="Gotham"/>
                        </a:rPr>
                        <a:t>Methanol</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100" b="0" i="0" u="none" strike="noStrike">
                          <a:solidFill>
                            <a:srgbClr val="000000"/>
                          </a:solidFill>
                          <a:effectLst/>
                          <a:latin typeface="Gotham"/>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b"/>
                      <a:r>
                        <a:rPr lang="en-IN" sz="1100" b="0" i="0" u="none" strike="noStrike">
                          <a:solidFill>
                            <a:srgbClr val="000000"/>
                          </a:solidFill>
                          <a:effectLst/>
                          <a:latin typeface="Gotham"/>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0009"/>
                    </a:solidFill>
                  </a:tcPr>
                </a:tc>
                <a:tc>
                  <a:txBody>
                    <a:bodyPr/>
                    <a:lstStyle/>
                    <a:p>
                      <a:pPr algn="ctr" fontAlgn="b"/>
                      <a:r>
                        <a:rPr lang="en-IN" sz="1100" b="0" i="0" u="none" strike="noStrike">
                          <a:solidFill>
                            <a:srgbClr val="000000"/>
                          </a:solidFill>
                          <a:effectLst/>
                          <a:latin typeface="Gotham"/>
                        </a:rPr>
                        <a:t>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2672803"/>
                  </a:ext>
                </a:extLst>
              </a:tr>
              <a:tr h="252320">
                <a:tc>
                  <a:txBody>
                    <a:bodyPr/>
                    <a:lstStyle/>
                    <a:p>
                      <a:pPr algn="ctr" fontAlgn="b"/>
                      <a:r>
                        <a:rPr lang="en-IN" sz="1100" b="0" i="0" u="none" strike="noStrike">
                          <a:solidFill>
                            <a:srgbClr val="000000"/>
                          </a:solidFill>
                          <a:effectLst/>
                          <a:latin typeface="Gotham"/>
                        </a:rPr>
                        <a:t>CNG</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100" b="0" i="0" u="none" strike="noStrike">
                          <a:solidFill>
                            <a:srgbClr val="000000"/>
                          </a:solidFill>
                          <a:effectLst/>
                          <a:latin typeface="Gotham"/>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en-IN" sz="1100" b="0" i="0" u="none" strike="noStrike">
                          <a:solidFill>
                            <a:srgbClr val="000000"/>
                          </a:solidFill>
                          <a:effectLst/>
                          <a:latin typeface="Gotham"/>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b"/>
                      <a:r>
                        <a:rPr lang="en-IN" sz="1100" b="0" i="0" u="none" strike="noStrike">
                          <a:solidFill>
                            <a:srgbClr val="000000"/>
                          </a:solidFill>
                          <a:effectLst/>
                          <a:latin typeface="Gotham"/>
                        </a:rPr>
                        <a:t>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46389797"/>
                  </a:ext>
                </a:extLst>
              </a:tr>
              <a:tr h="252320">
                <a:tc>
                  <a:txBody>
                    <a:bodyPr/>
                    <a:lstStyle/>
                    <a:p>
                      <a:pPr algn="ctr" fontAlgn="b"/>
                      <a:r>
                        <a:rPr lang="en-IN" sz="1100" b="0" i="0" u="none" strike="noStrike">
                          <a:solidFill>
                            <a:srgbClr val="000000"/>
                          </a:solidFill>
                          <a:effectLst/>
                          <a:latin typeface="Gotham"/>
                        </a:rPr>
                        <a:t>LNG</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100" b="0" i="0" u="none" strike="noStrike">
                          <a:solidFill>
                            <a:srgbClr val="000000"/>
                          </a:solidFill>
                          <a:effectLst/>
                          <a:latin typeface="Gotham"/>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b"/>
                      <a:r>
                        <a:rPr lang="en-IN" sz="1100" b="0" i="0" u="none" strike="noStrike">
                          <a:solidFill>
                            <a:srgbClr val="000000"/>
                          </a:solidFill>
                          <a:effectLst/>
                          <a:latin typeface="Gotham"/>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0009"/>
                    </a:solidFill>
                  </a:tcPr>
                </a:tc>
                <a:tc>
                  <a:txBody>
                    <a:bodyPr/>
                    <a:lstStyle/>
                    <a:p>
                      <a:pPr algn="ctr" fontAlgn="b"/>
                      <a:r>
                        <a:rPr lang="en-IN" sz="1100" b="0" i="0" u="none" strike="noStrike">
                          <a:solidFill>
                            <a:srgbClr val="000000"/>
                          </a:solidFill>
                          <a:effectLst/>
                          <a:latin typeface="Gotham"/>
                        </a:rPr>
                        <a:t>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46642909"/>
                  </a:ext>
                </a:extLst>
              </a:tr>
              <a:tr h="252320">
                <a:tc>
                  <a:txBody>
                    <a:bodyPr/>
                    <a:lstStyle/>
                    <a:p>
                      <a:pPr algn="ctr" fontAlgn="b"/>
                      <a:r>
                        <a:rPr lang="en-IN" sz="1100" b="0" i="0" u="none" strike="noStrike">
                          <a:solidFill>
                            <a:srgbClr val="000000"/>
                          </a:solidFill>
                          <a:effectLst/>
                          <a:latin typeface="Gotham"/>
                        </a:rPr>
                        <a:t>Hydrogen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100" b="0" i="0" u="none" strike="noStrike">
                          <a:solidFill>
                            <a:srgbClr val="000000"/>
                          </a:solidFill>
                          <a:effectLst/>
                          <a:latin typeface="Gotham"/>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0009"/>
                    </a:solidFill>
                  </a:tcPr>
                </a:tc>
                <a:tc>
                  <a:txBody>
                    <a:bodyPr/>
                    <a:lstStyle/>
                    <a:p>
                      <a:pPr algn="ctr" fontAlgn="b"/>
                      <a:r>
                        <a:rPr lang="en-IN" sz="1100" b="0" i="0" u="none" strike="noStrike">
                          <a:solidFill>
                            <a:srgbClr val="000000"/>
                          </a:solidFill>
                          <a:effectLst/>
                          <a:latin typeface="Gotham"/>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0009"/>
                    </a:solidFill>
                  </a:tcPr>
                </a:tc>
                <a:tc>
                  <a:txBody>
                    <a:bodyPr/>
                    <a:lstStyle/>
                    <a:p>
                      <a:pPr algn="ctr" fontAlgn="b"/>
                      <a:r>
                        <a:rPr lang="en-IN" sz="1100" b="0" i="0" u="none" strike="noStrike">
                          <a:solidFill>
                            <a:srgbClr val="000000"/>
                          </a:solidFill>
                          <a:effectLst/>
                          <a:latin typeface="Gotham"/>
                        </a:rPr>
                        <a:t>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5504871"/>
                  </a:ext>
                </a:extLst>
              </a:tr>
              <a:tr h="252320">
                <a:tc>
                  <a:txBody>
                    <a:bodyPr/>
                    <a:lstStyle/>
                    <a:p>
                      <a:pPr algn="ctr" fontAlgn="b"/>
                      <a:r>
                        <a:rPr lang="en-IN" sz="1100" b="0" i="0" u="none" strike="noStrike">
                          <a:solidFill>
                            <a:srgbClr val="000000"/>
                          </a:solidFill>
                          <a:effectLst/>
                          <a:latin typeface="Gotham"/>
                        </a:rPr>
                        <a:t>LPG</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100" b="0" i="0" u="none" strike="noStrike">
                          <a:solidFill>
                            <a:srgbClr val="000000"/>
                          </a:solidFill>
                          <a:effectLst/>
                          <a:latin typeface="Gotham"/>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b"/>
                      <a:r>
                        <a:rPr lang="en-IN" sz="1100" b="0" i="0" u="none" strike="noStrike">
                          <a:solidFill>
                            <a:srgbClr val="000000"/>
                          </a:solidFill>
                          <a:effectLst/>
                          <a:latin typeface="Gotham"/>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0009"/>
                    </a:solidFill>
                  </a:tcPr>
                </a:tc>
                <a:tc>
                  <a:txBody>
                    <a:bodyPr/>
                    <a:lstStyle/>
                    <a:p>
                      <a:pPr algn="ctr" fontAlgn="b"/>
                      <a:r>
                        <a:rPr lang="en-IN" sz="1100" b="0" i="0" u="none" strike="noStrike">
                          <a:solidFill>
                            <a:srgbClr val="000000"/>
                          </a:solidFill>
                          <a:effectLst/>
                          <a:latin typeface="Gotham"/>
                        </a:rPr>
                        <a:t>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43810615"/>
                  </a:ext>
                </a:extLst>
              </a:tr>
              <a:tr h="252320">
                <a:tc>
                  <a:txBody>
                    <a:bodyPr/>
                    <a:lstStyle/>
                    <a:p>
                      <a:pPr algn="ctr" fontAlgn="b"/>
                      <a:r>
                        <a:rPr lang="en-IN" sz="1100" b="0" i="0" u="none" strike="noStrike">
                          <a:solidFill>
                            <a:srgbClr val="000000"/>
                          </a:solidFill>
                          <a:effectLst/>
                          <a:latin typeface="Gotham"/>
                        </a:rPr>
                        <a:t>EV</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100" b="0" i="0" u="none" strike="noStrike" dirty="0">
                          <a:solidFill>
                            <a:srgbClr val="000000"/>
                          </a:solidFill>
                          <a:effectLst/>
                          <a:latin typeface="Gotham"/>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en-IN" sz="1100" b="0" i="0" u="none" strike="noStrike">
                          <a:solidFill>
                            <a:srgbClr val="000000"/>
                          </a:solidFill>
                          <a:effectLst/>
                          <a:latin typeface="Gotham"/>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b"/>
                      <a:r>
                        <a:rPr lang="en-IN" sz="1100" b="0" i="0" u="none" strike="noStrike" dirty="0">
                          <a:solidFill>
                            <a:srgbClr val="000000"/>
                          </a:solidFill>
                          <a:effectLst/>
                          <a:latin typeface="Gotham"/>
                        </a:rPr>
                        <a:t>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26481733"/>
                  </a:ext>
                </a:extLst>
              </a:tr>
            </a:tbl>
          </a:graphicData>
        </a:graphic>
      </p:graphicFrame>
      <p:graphicFrame>
        <p:nvGraphicFramePr>
          <p:cNvPr id="46" name="Table 45">
            <a:extLst>
              <a:ext uri="{FF2B5EF4-FFF2-40B4-BE49-F238E27FC236}">
                <a16:creationId xmlns:a16="http://schemas.microsoft.com/office/drawing/2014/main" id="{80A3953F-A93C-AC2E-E59C-DF97DE12492C}"/>
              </a:ext>
            </a:extLst>
          </p:cNvPr>
          <p:cNvGraphicFramePr>
            <a:graphicFrameLocks noGrp="1"/>
          </p:cNvGraphicFramePr>
          <p:nvPr>
            <p:extLst>
              <p:ext uri="{D42A27DB-BD31-4B8C-83A1-F6EECF244321}">
                <p14:modId xmlns:p14="http://schemas.microsoft.com/office/powerpoint/2010/main" val="2664309528"/>
              </p:ext>
            </p:extLst>
          </p:nvPr>
        </p:nvGraphicFramePr>
        <p:xfrm>
          <a:off x="5422306" y="5195228"/>
          <a:ext cx="1377038" cy="914400"/>
        </p:xfrm>
        <a:graphic>
          <a:graphicData uri="http://schemas.openxmlformats.org/drawingml/2006/table">
            <a:tbl>
              <a:tblPr/>
              <a:tblGrid>
                <a:gridCol w="688519">
                  <a:extLst>
                    <a:ext uri="{9D8B030D-6E8A-4147-A177-3AD203B41FA5}">
                      <a16:colId xmlns:a16="http://schemas.microsoft.com/office/drawing/2014/main" val="680650186"/>
                    </a:ext>
                  </a:extLst>
                </a:gridCol>
                <a:gridCol w="688519">
                  <a:extLst>
                    <a:ext uri="{9D8B030D-6E8A-4147-A177-3AD203B41FA5}">
                      <a16:colId xmlns:a16="http://schemas.microsoft.com/office/drawing/2014/main" val="2267530922"/>
                    </a:ext>
                  </a:extLst>
                </a:gridCol>
              </a:tblGrid>
              <a:tr h="182880">
                <a:tc>
                  <a:txBody>
                    <a:bodyPr/>
                    <a:lstStyle/>
                    <a:p>
                      <a:pPr algn="l" fontAlgn="b"/>
                      <a:r>
                        <a:rPr lang="en-IN" sz="1100" b="1" i="0" u="none" strike="noStrike" dirty="0">
                          <a:solidFill>
                            <a:srgbClr val="000000"/>
                          </a:solidFill>
                          <a:effectLst/>
                          <a:latin typeface="Calibri" panose="020F0502020204030204" pitchFamily="34" charset="0"/>
                        </a:rPr>
                        <a:t>Timeline:</a:t>
                      </a:r>
                    </a:p>
                  </a:txBody>
                  <a:tcPr marL="7620" marR="7620" marT="7620" marB="0" anchor="b">
                    <a:lnL>
                      <a:noFill/>
                    </a:lnL>
                    <a:lnR>
                      <a:noFill/>
                    </a:lnR>
                    <a:lnT>
                      <a:noFill/>
                    </a:lnT>
                    <a:lnB>
                      <a:noFill/>
                    </a:lnB>
                  </a:tcPr>
                </a:tc>
                <a:tc>
                  <a:txBody>
                    <a:bodyPr/>
                    <a:lstStyle/>
                    <a:p>
                      <a:pPr algn="l" fontAlgn="b"/>
                      <a:endParaRPr lang="en-IN"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extLst>
                  <a:ext uri="{0D108BD9-81ED-4DB2-BD59-A6C34878D82A}">
                    <a16:rowId xmlns:a16="http://schemas.microsoft.com/office/drawing/2014/main" val="2089990339"/>
                  </a:ext>
                </a:extLst>
              </a:tr>
              <a:tr h="182880">
                <a:tc>
                  <a:txBody>
                    <a:bodyPr/>
                    <a:lstStyle/>
                    <a:p>
                      <a:pPr algn="l" fontAlgn="b"/>
                      <a:r>
                        <a:rPr lang="en-IN" sz="1100" b="0" i="0" u="none" strike="noStrike">
                          <a:solidFill>
                            <a:srgbClr val="000000"/>
                          </a:solidFill>
                          <a:effectLst/>
                          <a:latin typeface="Calibri" panose="020F0502020204030204" pitchFamily="34" charset="0"/>
                        </a:rPr>
                        <a:t>&lt;1 yr</a:t>
                      </a:r>
                    </a:p>
                  </a:txBody>
                  <a:tcPr marL="7620" marR="7620" marT="7620" marB="0" anchor="b">
                    <a:lnL>
                      <a:noFill/>
                    </a:lnL>
                    <a:lnR>
                      <a:noFill/>
                    </a:lnR>
                    <a:lnT>
                      <a:noFill/>
                    </a:lnT>
                    <a:lnB>
                      <a:noFill/>
                    </a:lnB>
                  </a:tcPr>
                </a:tc>
                <a:tc>
                  <a:txBody>
                    <a:bodyPr/>
                    <a:lstStyle/>
                    <a:p>
                      <a:pPr algn="l" fontAlgn="b"/>
                      <a:r>
                        <a:rPr lang="en-IN" sz="1100" b="0" i="0" u="none" strike="noStrike" dirty="0">
                          <a:solidFill>
                            <a:srgbClr val="000000"/>
                          </a:solidFill>
                          <a:effectLst/>
                          <a:latin typeface="Calibri" panose="020F0502020204030204" pitchFamily="34" charset="0"/>
                        </a:rPr>
                        <a:t> </a:t>
                      </a:r>
                    </a:p>
                  </a:txBody>
                  <a:tcPr marL="7620" marR="7620" marT="7620" marB="0" anchor="b">
                    <a:lnL>
                      <a:noFill/>
                    </a:lnL>
                    <a:lnR>
                      <a:noFill/>
                    </a:lnR>
                    <a:lnT>
                      <a:noFill/>
                    </a:lnT>
                    <a:lnB>
                      <a:noFill/>
                    </a:lnB>
                    <a:solidFill>
                      <a:srgbClr val="00B050"/>
                    </a:solidFill>
                  </a:tcPr>
                </a:tc>
                <a:extLst>
                  <a:ext uri="{0D108BD9-81ED-4DB2-BD59-A6C34878D82A}">
                    <a16:rowId xmlns:a16="http://schemas.microsoft.com/office/drawing/2014/main" val="1966420259"/>
                  </a:ext>
                </a:extLst>
              </a:tr>
              <a:tr h="182880">
                <a:tc>
                  <a:txBody>
                    <a:bodyPr/>
                    <a:lstStyle/>
                    <a:p>
                      <a:pPr algn="l" fontAlgn="b"/>
                      <a:r>
                        <a:rPr lang="en-IN" sz="1100" b="0" i="0" u="none" strike="noStrike">
                          <a:solidFill>
                            <a:srgbClr val="000000"/>
                          </a:solidFill>
                          <a:effectLst/>
                          <a:latin typeface="Calibri" panose="020F0502020204030204" pitchFamily="34" charset="0"/>
                        </a:rPr>
                        <a:t>1-2 yr</a:t>
                      </a:r>
                    </a:p>
                  </a:txBody>
                  <a:tcPr marL="7620" marR="7620" marT="7620"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 </a:t>
                      </a:r>
                    </a:p>
                  </a:txBody>
                  <a:tcPr marL="7620" marR="7620" marT="7620" marB="0" anchor="b">
                    <a:lnL>
                      <a:noFill/>
                    </a:lnL>
                    <a:lnR>
                      <a:noFill/>
                    </a:lnR>
                    <a:lnT>
                      <a:noFill/>
                    </a:lnT>
                    <a:lnB>
                      <a:noFill/>
                    </a:lnB>
                    <a:solidFill>
                      <a:srgbClr val="FFC000"/>
                    </a:solidFill>
                  </a:tcPr>
                </a:tc>
                <a:extLst>
                  <a:ext uri="{0D108BD9-81ED-4DB2-BD59-A6C34878D82A}">
                    <a16:rowId xmlns:a16="http://schemas.microsoft.com/office/drawing/2014/main" val="1684754970"/>
                  </a:ext>
                </a:extLst>
              </a:tr>
              <a:tr h="182880">
                <a:tc>
                  <a:txBody>
                    <a:bodyPr/>
                    <a:lstStyle/>
                    <a:p>
                      <a:pPr algn="l" fontAlgn="b"/>
                      <a:r>
                        <a:rPr lang="en-IN" sz="1100" b="0" i="0" u="none" strike="noStrike">
                          <a:solidFill>
                            <a:srgbClr val="000000"/>
                          </a:solidFill>
                          <a:effectLst/>
                          <a:latin typeface="Calibri" panose="020F0502020204030204" pitchFamily="34" charset="0"/>
                        </a:rPr>
                        <a:t>&gt;2 yr</a:t>
                      </a:r>
                    </a:p>
                  </a:txBody>
                  <a:tcPr marL="7620" marR="7620" marT="7620"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 </a:t>
                      </a:r>
                    </a:p>
                  </a:txBody>
                  <a:tcPr marL="7620" marR="7620" marT="7620" marB="0" anchor="b">
                    <a:lnL>
                      <a:noFill/>
                    </a:lnL>
                    <a:lnR>
                      <a:noFill/>
                    </a:lnR>
                    <a:lnT>
                      <a:noFill/>
                    </a:lnT>
                    <a:lnB>
                      <a:noFill/>
                    </a:lnB>
                    <a:solidFill>
                      <a:srgbClr val="0070C0"/>
                    </a:solidFill>
                  </a:tcPr>
                </a:tc>
                <a:extLst>
                  <a:ext uri="{0D108BD9-81ED-4DB2-BD59-A6C34878D82A}">
                    <a16:rowId xmlns:a16="http://schemas.microsoft.com/office/drawing/2014/main" val="942795152"/>
                  </a:ext>
                </a:extLst>
              </a:tr>
              <a:tr h="182880">
                <a:tc>
                  <a:txBody>
                    <a:bodyPr/>
                    <a:lstStyle/>
                    <a:p>
                      <a:pPr algn="l" fontAlgn="b"/>
                      <a:r>
                        <a:rPr lang="en-IN" sz="1100" b="0" i="0" u="none" strike="noStrike" dirty="0">
                          <a:solidFill>
                            <a:srgbClr val="000000"/>
                          </a:solidFill>
                          <a:effectLst/>
                          <a:latin typeface="Calibri" panose="020F0502020204030204" pitchFamily="34" charset="0"/>
                        </a:rPr>
                        <a:t>&gt;5 yr</a:t>
                      </a:r>
                    </a:p>
                  </a:txBody>
                  <a:tcPr marL="7620" marR="7620" marT="7620" marB="0" anchor="b">
                    <a:lnL>
                      <a:noFill/>
                    </a:lnL>
                    <a:lnR>
                      <a:noFill/>
                    </a:lnR>
                    <a:lnT>
                      <a:noFill/>
                    </a:lnT>
                    <a:lnB>
                      <a:noFill/>
                    </a:lnB>
                  </a:tcPr>
                </a:tc>
                <a:tc>
                  <a:txBody>
                    <a:bodyPr/>
                    <a:lstStyle/>
                    <a:p>
                      <a:pPr algn="l" fontAlgn="b"/>
                      <a:r>
                        <a:rPr lang="en-IN" sz="1100" b="0" i="0" u="none" strike="noStrike" dirty="0">
                          <a:solidFill>
                            <a:srgbClr val="000000"/>
                          </a:solidFill>
                          <a:effectLst/>
                          <a:latin typeface="Calibri" panose="020F0502020204030204" pitchFamily="34" charset="0"/>
                        </a:rPr>
                        <a:t> </a:t>
                      </a:r>
                    </a:p>
                  </a:txBody>
                  <a:tcPr marL="7620" marR="7620" marT="7620" marB="0" anchor="b">
                    <a:lnL>
                      <a:noFill/>
                    </a:lnL>
                    <a:lnR>
                      <a:noFill/>
                    </a:lnR>
                    <a:lnT>
                      <a:noFill/>
                    </a:lnT>
                    <a:lnB>
                      <a:noFill/>
                    </a:lnB>
                    <a:solidFill>
                      <a:srgbClr val="F40009"/>
                    </a:solidFill>
                  </a:tcPr>
                </a:tc>
                <a:extLst>
                  <a:ext uri="{0D108BD9-81ED-4DB2-BD59-A6C34878D82A}">
                    <a16:rowId xmlns:a16="http://schemas.microsoft.com/office/drawing/2014/main" val="1195281392"/>
                  </a:ext>
                </a:extLst>
              </a:tr>
            </a:tbl>
          </a:graphicData>
        </a:graphic>
      </p:graphicFrame>
      <p:sp>
        <p:nvSpPr>
          <p:cNvPr id="47" name="TextBox 46">
            <a:extLst>
              <a:ext uri="{FF2B5EF4-FFF2-40B4-BE49-F238E27FC236}">
                <a16:creationId xmlns:a16="http://schemas.microsoft.com/office/drawing/2014/main" id="{4B02D5FD-57F2-B2A6-8EB8-4A5191ABFD1B}"/>
              </a:ext>
            </a:extLst>
          </p:cNvPr>
          <p:cNvSpPr txBox="1"/>
          <p:nvPr/>
        </p:nvSpPr>
        <p:spPr>
          <a:xfrm>
            <a:off x="5694185" y="3744460"/>
            <a:ext cx="715515" cy="276999"/>
          </a:xfrm>
          <a:prstGeom prst="rect">
            <a:avLst/>
          </a:prstGeom>
          <a:noFill/>
        </p:spPr>
        <p:txBody>
          <a:bodyPr wrap="square" rtlCol="0">
            <a:spAutoFit/>
          </a:bodyPr>
          <a:lstStyle/>
          <a:p>
            <a:r>
              <a:rPr lang="en-IN" sz="1200" b="1" dirty="0">
                <a:latin typeface="Gotham"/>
              </a:rPr>
              <a:t>Legend</a:t>
            </a:r>
          </a:p>
        </p:txBody>
      </p:sp>
      <p:sp>
        <p:nvSpPr>
          <p:cNvPr id="48" name="TextBox 47">
            <a:extLst>
              <a:ext uri="{FF2B5EF4-FFF2-40B4-BE49-F238E27FC236}">
                <a16:creationId xmlns:a16="http://schemas.microsoft.com/office/drawing/2014/main" id="{AC637B75-D122-45C3-B82D-68668A78FE58}"/>
              </a:ext>
            </a:extLst>
          </p:cNvPr>
          <p:cNvSpPr txBox="1"/>
          <p:nvPr/>
        </p:nvSpPr>
        <p:spPr>
          <a:xfrm>
            <a:off x="7211092" y="3441411"/>
            <a:ext cx="934533" cy="276999"/>
          </a:xfrm>
          <a:prstGeom prst="rect">
            <a:avLst/>
          </a:prstGeom>
          <a:solidFill>
            <a:schemeClr val="accent5"/>
          </a:solidFill>
        </p:spPr>
        <p:txBody>
          <a:bodyPr wrap="square" rtlCol="0">
            <a:spAutoFit/>
          </a:bodyPr>
          <a:lstStyle/>
          <a:p>
            <a:r>
              <a:rPr lang="en-IN" sz="1200" b="1" dirty="0">
                <a:solidFill>
                  <a:schemeClr val="bg1"/>
                </a:solidFill>
                <a:latin typeface="Gotham"/>
              </a:rPr>
              <a:t>2. Fuel Cost</a:t>
            </a:r>
          </a:p>
        </p:txBody>
      </p:sp>
      <p:sp>
        <p:nvSpPr>
          <p:cNvPr id="50" name="TextBox 49">
            <a:extLst>
              <a:ext uri="{FF2B5EF4-FFF2-40B4-BE49-F238E27FC236}">
                <a16:creationId xmlns:a16="http://schemas.microsoft.com/office/drawing/2014/main" id="{1FE7A63D-1E53-CF09-C334-CC2824E7F9F7}"/>
              </a:ext>
            </a:extLst>
          </p:cNvPr>
          <p:cNvSpPr txBox="1"/>
          <p:nvPr/>
        </p:nvSpPr>
        <p:spPr>
          <a:xfrm>
            <a:off x="139956" y="3441411"/>
            <a:ext cx="1147667" cy="276999"/>
          </a:xfrm>
          <a:prstGeom prst="rect">
            <a:avLst/>
          </a:prstGeom>
          <a:solidFill>
            <a:schemeClr val="accent5"/>
          </a:solidFill>
        </p:spPr>
        <p:txBody>
          <a:bodyPr wrap="square" rtlCol="0">
            <a:spAutoFit/>
          </a:bodyPr>
          <a:lstStyle/>
          <a:p>
            <a:r>
              <a:rPr lang="en-IN" sz="1200" b="1" dirty="0">
                <a:solidFill>
                  <a:schemeClr val="bg1"/>
                </a:solidFill>
                <a:latin typeface="Gotham"/>
              </a:rPr>
              <a:t>1. Availability</a:t>
            </a:r>
          </a:p>
        </p:txBody>
      </p:sp>
      <p:graphicFrame>
        <p:nvGraphicFramePr>
          <p:cNvPr id="52" name="Table 51">
            <a:extLst>
              <a:ext uri="{FF2B5EF4-FFF2-40B4-BE49-F238E27FC236}">
                <a16:creationId xmlns:a16="http://schemas.microsoft.com/office/drawing/2014/main" id="{44B06838-C722-95C1-5E8E-2F88F036B267}"/>
              </a:ext>
            </a:extLst>
          </p:cNvPr>
          <p:cNvGraphicFramePr>
            <a:graphicFrameLocks noGrp="1"/>
          </p:cNvGraphicFramePr>
          <p:nvPr>
            <p:extLst>
              <p:ext uri="{D42A27DB-BD31-4B8C-83A1-F6EECF244321}">
                <p14:modId xmlns:p14="http://schemas.microsoft.com/office/powerpoint/2010/main" val="3296955965"/>
              </p:ext>
            </p:extLst>
          </p:nvPr>
        </p:nvGraphicFramePr>
        <p:xfrm>
          <a:off x="5397500" y="3958194"/>
          <a:ext cx="1397000" cy="1097280"/>
        </p:xfrm>
        <a:graphic>
          <a:graphicData uri="http://schemas.openxmlformats.org/drawingml/2006/table">
            <a:tbl>
              <a:tblPr/>
              <a:tblGrid>
                <a:gridCol w="787400">
                  <a:extLst>
                    <a:ext uri="{9D8B030D-6E8A-4147-A177-3AD203B41FA5}">
                      <a16:colId xmlns:a16="http://schemas.microsoft.com/office/drawing/2014/main" val="2507761331"/>
                    </a:ext>
                  </a:extLst>
                </a:gridCol>
                <a:gridCol w="609600">
                  <a:extLst>
                    <a:ext uri="{9D8B030D-6E8A-4147-A177-3AD203B41FA5}">
                      <a16:colId xmlns:a16="http://schemas.microsoft.com/office/drawing/2014/main" val="3502524539"/>
                    </a:ext>
                  </a:extLst>
                </a:gridCol>
              </a:tblGrid>
              <a:tr h="182880">
                <a:tc>
                  <a:txBody>
                    <a:bodyPr/>
                    <a:lstStyle/>
                    <a:p>
                      <a:pPr algn="l" fontAlgn="b"/>
                      <a:r>
                        <a:rPr lang="en-IN" sz="1100" b="1" i="0" u="none" strike="noStrike" dirty="0">
                          <a:solidFill>
                            <a:srgbClr val="000000"/>
                          </a:solidFill>
                          <a:effectLst/>
                          <a:latin typeface="Calibri" panose="020F0502020204030204" pitchFamily="34" charset="0"/>
                        </a:rPr>
                        <a:t>Status:</a:t>
                      </a:r>
                    </a:p>
                  </a:txBody>
                  <a:tcPr marL="7620" marR="7620" marT="7620" marB="0" anchor="b">
                    <a:lnL>
                      <a:noFill/>
                    </a:lnL>
                    <a:lnR>
                      <a:noFill/>
                    </a:lnR>
                    <a:lnT>
                      <a:noFill/>
                    </a:lnT>
                    <a:lnB>
                      <a:noFill/>
                    </a:lnB>
                  </a:tcPr>
                </a:tc>
                <a:tc>
                  <a:txBody>
                    <a:bodyPr/>
                    <a:lstStyle/>
                    <a:p>
                      <a:pPr algn="l" fontAlgn="b"/>
                      <a:endParaRPr lang="en-IN"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extLst>
                  <a:ext uri="{0D108BD9-81ED-4DB2-BD59-A6C34878D82A}">
                    <a16:rowId xmlns:a16="http://schemas.microsoft.com/office/drawing/2014/main" val="2681954763"/>
                  </a:ext>
                </a:extLst>
              </a:tr>
              <a:tr h="182880">
                <a:tc>
                  <a:txBody>
                    <a:bodyPr/>
                    <a:lstStyle/>
                    <a:p>
                      <a:pPr algn="l" fontAlgn="b"/>
                      <a:r>
                        <a:rPr lang="en-IN" sz="1100" b="0" i="0" u="none" strike="noStrike">
                          <a:solidFill>
                            <a:srgbClr val="000000"/>
                          </a:solidFill>
                          <a:effectLst/>
                          <a:latin typeface="Calibri" panose="020F0502020204030204" pitchFamily="34" charset="0"/>
                        </a:rPr>
                        <a:t>Nascent</a:t>
                      </a:r>
                    </a:p>
                  </a:txBody>
                  <a:tcPr marL="7620" marR="7620" marT="7620"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 </a:t>
                      </a:r>
                    </a:p>
                  </a:txBody>
                  <a:tcPr marL="7620" marR="7620" marT="7620" marB="0" anchor="b">
                    <a:lnL>
                      <a:noFill/>
                    </a:lnL>
                    <a:lnR>
                      <a:noFill/>
                    </a:lnR>
                    <a:lnT>
                      <a:noFill/>
                    </a:lnT>
                    <a:lnB>
                      <a:noFill/>
                    </a:lnB>
                    <a:solidFill>
                      <a:srgbClr val="F40009"/>
                    </a:solidFill>
                  </a:tcPr>
                </a:tc>
                <a:extLst>
                  <a:ext uri="{0D108BD9-81ED-4DB2-BD59-A6C34878D82A}">
                    <a16:rowId xmlns:a16="http://schemas.microsoft.com/office/drawing/2014/main" val="953658549"/>
                  </a:ext>
                </a:extLst>
              </a:tr>
              <a:tr h="182880">
                <a:tc>
                  <a:txBody>
                    <a:bodyPr/>
                    <a:lstStyle/>
                    <a:p>
                      <a:pPr algn="l" fontAlgn="b"/>
                      <a:r>
                        <a:rPr lang="en-IN" sz="1100" b="0" i="0" u="none" strike="noStrike">
                          <a:solidFill>
                            <a:srgbClr val="000000"/>
                          </a:solidFill>
                          <a:effectLst/>
                          <a:latin typeface="Calibri" panose="020F0502020204030204" pitchFamily="34" charset="0"/>
                        </a:rPr>
                        <a:t>Introduction </a:t>
                      </a:r>
                    </a:p>
                  </a:txBody>
                  <a:tcPr marL="7620" marR="7620" marT="7620"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 </a:t>
                      </a:r>
                    </a:p>
                  </a:txBody>
                  <a:tcPr marL="7620" marR="7620" marT="7620" marB="0" anchor="b">
                    <a:lnL>
                      <a:noFill/>
                    </a:lnL>
                    <a:lnR>
                      <a:noFill/>
                    </a:lnR>
                    <a:lnT>
                      <a:noFill/>
                    </a:lnT>
                    <a:lnB>
                      <a:noFill/>
                    </a:lnB>
                    <a:solidFill>
                      <a:srgbClr val="FFC000"/>
                    </a:solidFill>
                  </a:tcPr>
                </a:tc>
                <a:extLst>
                  <a:ext uri="{0D108BD9-81ED-4DB2-BD59-A6C34878D82A}">
                    <a16:rowId xmlns:a16="http://schemas.microsoft.com/office/drawing/2014/main" val="4003705476"/>
                  </a:ext>
                </a:extLst>
              </a:tr>
              <a:tr h="182880">
                <a:tc>
                  <a:txBody>
                    <a:bodyPr/>
                    <a:lstStyle/>
                    <a:p>
                      <a:pPr algn="l" fontAlgn="b"/>
                      <a:r>
                        <a:rPr lang="en-IN" sz="1100" b="0" i="0" u="none" strike="noStrike">
                          <a:solidFill>
                            <a:srgbClr val="000000"/>
                          </a:solidFill>
                          <a:effectLst/>
                          <a:latin typeface="Calibri" panose="020F0502020204030204" pitchFamily="34" charset="0"/>
                        </a:rPr>
                        <a:t>Growth </a:t>
                      </a:r>
                    </a:p>
                  </a:txBody>
                  <a:tcPr marL="7620" marR="7620" marT="7620"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 </a:t>
                      </a:r>
                    </a:p>
                  </a:txBody>
                  <a:tcPr marL="7620" marR="7620" marT="7620" marB="0" anchor="b">
                    <a:lnL>
                      <a:noFill/>
                    </a:lnL>
                    <a:lnR>
                      <a:noFill/>
                    </a:lnR>
                    <a:lnT>
                      <a:noFill/>
                    </a:lnT>
                    <a:lnB>
                      <a:noFill/>
                    </a:lnB>
                    <a:solidFill>
                      <a:srgbClr val="00B050"/>
                    </a:solidFill>
                  </a:tcPr>
                </a:tc>
                <a:extLst>
                  <a:ext uri="{0D108BD9-81ED-4DB2-BD59-A6C34878D82A}">
                    <a16:rowId xmlns:a16="http://schemas.microsoft.com/office/drawing/2014/main" val="1659771245"/>
                  </a:ext>
                </a:extLst>
              </a:tr>
              <a:tr h="182880">
                <a:tc>
                  <a:txBody>
                    <a:bodyPr/>
                    <a:lstStyle/>
                    <a:p>
                      <a:pPr algn="l" fontAlgn="b"/>
                      <a:r>
                        <a:rPr lang="en-IN" sz="1100" b="0" i="0" u="none" strike="noStrike" dirty="0">
                          <a:solidFill>
                            <a:srgbClr val="000000"/>
                          </a:solidFill>
                          <a:effectLst/>
                          <a:latin typeface="Calibri" panose="020F0502020204030204" pitchFamily="34" charset="0"/>
                        </a:rPr>
                        <a:t>Maturity</a:t>
                      </a:r>
                    </a:p>
                  </a:txBody>
                  <a:tcPr marL="7620" marR="7620" marT="7620" marB="0" anchor="b">
                    <a:lnL>
                      <a:noFill/>
                    </a:lnL>
                    <a:lnR>
                      <a:noFill/>
                    </a:lnR>
                    <a:lnT>
                      <a:noFill/>
                    </a:lnT>
                    <a:lnB>
                      <a:noFill/>
                    </a:lnB>
                  </a:tcPr>
                </a:tc>
                <a:tc>
                  <a:txBody>
                    <a:bodyPr/>
                    <a:lstStyle/>
                    <a:p>
                      <a:pPr algn="l" fontAlgn="b"/>
                      <a:r>
                        <a:rPr lang="en-IN" sz="1100" b="0" i="0" u="none" strike="noStrike">
                          <a:solidFill>
                            <a:srgbClr val="0070C0"/>
                          </a:solidFill>
                          <a:effectLst/>
                          <a:latin typeface="Calibri" panose="020F0502020204030204" pitchFamily="34" charset="0"/>
                        </a:rPr>
                        <a:t> </a:t>
                      </a:r>
                    </a:p>
                  </a:txBody>
                  <a:tcPr marL="7620" marR="7620" marT="7620" marB="0" anchor="b">
                    <a:lnL>
                      <a:noFill/>
                    </a:lnL>
                    <a:lnR>
                      <a:noFill/>
                    </a:lnR>
                    <a:lnT>
                      <a:noFill/>
                    </a:lnT>
                    <a:lnB>
                      <a:noFill/>
                    </a:lnB>
                    <a:solidFill>
                      <a:srgbClr val="0070C0"/>
                    </a:solidFill>
                  </a:tcPr>
                </a:tc>
                <a:extLst>
                  <a:ext uri="{0D108BD9-81ED-4DB2-BD59-A6C34878D82A}">
                    <a16:rowId xmlns:a16="http://schemas.microsoft.com/office/drawing/2014/main" val="3074617510"/>
                  </a:ext>
                </a:extLst>
              </a:tr>
              <a:tr h="182880">
                <a:tc>
                  <a:txBody>
                    <a:bodyPr/>
                    <a:lstStyle/>
                    <a:p>
                      <a:pPr algn="l" fontAlgn="b"/>
                      <a:r>
                        <a:rPr lang="en-IN" sz="1100" b="0" i="0" u="none" strike="noStrike">
                          <a:solidFill>
                            <a:srgbClr val="000000"/>
                          </a:solidFill>
                          <a:effectLst/>
                          <a:latin typeface="Calibri" panose="020F0502020204030204" pitchFamily="34" charset="0"/>
                        </a:rPr>
                        <a:t>Decline</a:t>
                      </a:r>
                    </a:p>
                  </a:txBody>
                  <a:tcPr marL="7620" marR="7620" marT="7620" marB="0" anchor="b">
                    <a:lnL>
                      <a:noFill/>
                    </a:lnL>
                    <a:lnR>
                      <a:noFill/>
                    </a:lnR>
                    <a:lnT>
                      <a:noFill/>
                    </a:lnT>
                    <a:lnB>
                      <a:noFill/>
                    </a:lnB>
                  </a:tcPr>
                </a:tc>
                <a:tc>
                  <a:txBody>
                    <a:bodyPr/>
                    <a:lstStyle/>
                    <a:p>
                      <a:pPr algn="l" fontAlgn="b"/>
                      <a:r>
                        <a:rPr lang="en-IN" sz="1100" b="0" i="0" u="none" strike="noStrike" dirty="0">
                          <a:solidFill>
                            <a:srgbClr val="000000"/>
                          </a:solidFill>
                          <a:effectLst/>
                          <a:latin typeface="Calibri" panose="020F0502020204030204" pitchFamily="34" charset="0"/>
                        </a:rPr>
                        <a:t> </a:t>
                      </a:r>
                    </a:p>
                  </a:txBody>
                  <a:tcPr marL="7620" marR="7620" marT="7620" marB="0" anchor="b">
                    <a:lnL>
                      <a:noFill/>
                    </a:lnL>
                    <a:lnR>
                      <a:noFill/>
                    </a:lnR>
                    <a:lnT>
                      <a:noFill/>
                    </a:lnT>
                    <a:lnB>
                      <a:noFill/>
                    </a:lnB>
                    <a:solidFill>
                      <a:srgbClr val="833C0C"/>
                    </a:solidFill>
                  </a:tcPr>
                </a:tc>
                <a:extLst>
                  <a:ext uri="{0D108BD9-81ED-4DB2-BD59-A6C34878D82A}">
                    <a16:rowId xmlns:a16="http://schemas.microsoft.com/office/drawing/2014/main" val="3886358262"/>
                  </a:ext>
                </a:extLst>
              </a:tr>
            </a:tbl>
          </a:graphicData>
        </a:graphic>
      </p:graphicFrame>
      <p:graphicFrame>
        <p:nvGraphicFramePr>
          <p:cNvPr id="54" name="Table 53">
            <a:extLst>
              <a:ext uri="{FF2B5EF4-FFF2-40B4-BE49-F238E27FC236}">
                <a16:creationId xmlns:a16="http://schemas.microsoft.com/office/drawing/2014/main" id="{DF135C9E-E992-0F51-DF31-173207B5835E}"/>
              </a:ext>
            </a:extLst>
          </p:cNvPr>
          <p:cNvGraphicFramePr>
            <a:graphicFrameLocks noGrp="1"/>
          </p:cNvGraphicFramePr>
          <p:nvPr>
            <p:extLst>
              <p:ext uri="{D42A27DB-BD31-4B8C-83A1-F6EECF244321}">
                <p14:modId xmlns:p14="http://schemas.microsoft.com/office/powerpoint/2010/main" val="848864082"/>
              </p:ext>
            </p:extLst>
          </p:nvPr>
        </p:nvGraphicFramePr>
        <p:xfrm>
          <a:off x="7220246" y="3757193"/>
          <a:ext cx="4722757" cy="2058726"/>
        </p:xfrm>
        <a:graphic>
          <a:graphicData uri="http://schemas.openxmlformats.org/drawingml/2006/table">
            <a:tbl>
              <a:tblPr/>
              <a:tblGrid>
                <a:gridCol w="1203541">
                  <a:extLst>
                    <a:ext uri="{9D8B030D-6E8A-4147-A177-3AD203B41FA5}">
                      <a16:colId xmlns:a16="http://schemas.microsoft.com/office/drawing/2014/main" val="2065167131"/>
                    </a:ext>
                  </a:extLst>
                </a:gridCol>
                <a:gridCol w="1203541">
                  <a:extLst>
                    <a:ext uri="{9D8B030D-6E8A-4147-A177-3AD203B41FA5}">
                      <a16:colId xmlns:a16="http://schemas.microsoft.com/office/drawing/2014/main" val="911802325"/>
                    </a:ext>
                  </a:extLst>
                </a:gridCol>
                <a:gridCol w="700796">
                  <a:extLst>
                    <a:ext uri="{9D8B030D-6E8A-4147-A177-3AD203B41FA5}">
                      <a16:colId xmlns:a16="http://schemas.microsoft.com/office/drawing/2014/main" val="2302192900"/>
                    </a:ext>
                  </a:extLst>
                </a:gridCol>
                <a:gridCol w="883613">
                  <a:extLst>
                    <a:ext uri="{9D8B030D-6E8A-4147-A177-3AD203B41FA5}">
                      <a16:colId xmlns:a16="http://schemas.microsoft.com/office/drawing/2014/main" val="1723981080"/>
                    </a:ext>
                  </a:extLst>
                </a:gridCol>
                <a:gridCol w="731266">
                  <a:extLst>
                    <a:ext uri="{9D8B030D-6E8A-4147-A177-3AD203B41FA5}">
                      <a16:colId xmlns:a16="http://schemas.microsoft.com/office/drawing/2014/main" val="811561430"/>
                    </a:ext>
                  </a:extLst>
                </a:gridCol>
              </a:tblGrid>
              <a:tr h="384906">
                <a:tc>
                  <a:txBody>
                    <a:bodyPr/>
                    <a:lstStyle/>
                    <a:p>
                      <a:pPr algn="ctr" fontAlgn="b"/>
                      <a:r>
                        <a:rPr lang="en-IN" sz="1200" b="1" i="0" u="none" strike="noStrike" dirty="0">
                          <a:solidFill>
                            <a:srgbClr val="000000"/>
                          </a:solidFill>
                          <a:effectLst/>
                          <a:latin typeface="Gotham"/>
                        </a:rPr>
                        <a:t>Fuel</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200" b="1" i="0" u="none" strike="noStrike">
                          <a:solidFill>
                            <a:srgbClr val="000000"/>
                          </a:solidFill>
                          <a:effectLst/>
                          <a:latin typeface="Gotham"/>
                        </a:rPr>
                        <a:t>Fuel Cost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200" b="1" i="0" u="none" strike="noStrike">
                          <a:solidFill>
                            <a:srgbClr val="000000"/>
                          </a:solidFill>
                          <a:effectLst/>
                          <a:latin typeface="Gotham"/>
                        </a:rPr>
                        <a:t>Mileage</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200" b="1" i="0" u="none" strike="noStrike">
                          <a:solidFill>
                            <a:srgbClr val="000000"/>
                          </a:solidFill>
                          <a:effectLst/>
                          <a:latin typeface="Gotham"/>
                        </a:rPr>
                        <a:t>Cost per km</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200" b="1" i="0" u="none" strike="noStrike" dirty="0">
                          <a:solidFill>
                            <a:srgbClr val="000000"/>
                          </a:solidFill>
                          <a:effectLst/>
                          <a:latin typeface="Gotham"/>
                        </a:rPr>
                        <a:t>Score*(5)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32646995"/>
                  </a:ext>
                </a:extLst>
              </a:tr>
              <a:tr h="299160">
                <a:tc>
                  <a:txBody>
                    <a:bodyPr/>
                    <a:lstStyle/>
                    <a:p>
                      <a:pPr algn="ctr" fontAlgn="b"/>
                      <a:r>
                        <a:rPr lang="en-IN" sz="1200" b="0" i="0" u="none" strike="noStrike">
                          <a:solidFill>
                            <a:srgbClr val="000000"/>
                          </a:solidFill>
                          <a:effectLst/>
                          <a:latin typeface="Gotham"/>
                        </a:rPr>
                        <a:t>Ethanol blending</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200" b="0" i="0" u="none" strike="noStrike">
                          <a:solidFill>
                            <a:srgbClr val="000000"/>
                          </a:solidFill>
                          <a:effectLst/>
                          <a:latin typeface="Gotham"/>
                        </a:rPr>
                        <a:t>82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200" b="0" i="0" u="none" strike="noStrike">
                          <a:solidFill>
                            <a:srgbClr val="000000"/>
                          </a:solidFill>
                          <a:effectLst/>
                          <a:latin typeface="Gotham"/>
                        </a:rPr>
                        <a:t>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200" b="0" i="0" u="none" strike="noStrike">
                          <a:solidFill>
                            <a:srgbClr val="000000"/>
                          </a:solidFill>
                          <a:effectLst/>
                          <a:latin typeface="Gotham"/>
                        </a:rPr>
                        <a:t>27.333333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200" b="0" i="0" u="none" strike="noStrike">
                          <a:solidFill>
                            <a:srgbClr val="000000"/>
                          </a:solidFill>
                          <a:effectLst/>
                          <a:latin typeface="Gotham"/>
                        </a:rPr>
                        <a:t>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02184990"/>
                  </a:ext>
                </a:extLst>
              </a:tr>
              <a:tr h="196380">
                <a:tc>
                  <a:txBody>
                    <a:bodyPr/>
                    <a:lstStyle/>
                    <a:p>
                      <a:pPr algn="ctr" fontAlgn="b"/>
                      <a:r>
                        <a:rPr lang="en-IN" sz="1200" b="0" i="0" u="none" strike="noStrike">
                          <a:solidFill>
                            <a:srgbClr val="000000"/>
                          </a:solidFill>
                          <a:effectLst/>
                          <a:latin typeface="Gotham"/>
                        </a:rPr>
                        <a:t>Biodiesel</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200" b="0" i="0" u="none" strike="noStrike">
                          <a:solidFill>
                            <a:srgbClr val="000000"/>
                          </a:solidFill>
                          <a:effectLst/>
                          <a:latin typeface="Gotham"/>
                        </a:rPr>
                        <a:t>75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200" b="0" i="0" u="none" strike="noStrike">
                          <a:solidFill>
                            <a:srgbClr val="000000"/>
                          </a:solidFill>
                          <a:effectLst/>
                          <a:latin typeface="Gotham"/>
                        </a:rPr>
                        <a:t>18.4</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200" b="0" i="0" u="none" strike="noStrike">
                          <a:solidFill>
                            <a:srgbClr val="000000"/>
                          </a:solidFill>
                          <a:effectLst/>
                          <a:latin typeface="Gotham"/>
                        </a:rPr>
                        <a:t>4.076087</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200" b="0" i="0" u="none" strike="noStrike">
                          <a:solidFill>
                            <a:srgbClr val="000000"/>
                          </a:solidFill>
                          <a:effectLst/>
                          <a:latin typeface="Gotham"/>
                        </a:rPr>
                        <a:t>4</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32937684"/>
                  </a:ext>
                </a:extLst>
              </a:tr>
              <a:tr h="196380">
                <a:tc>
                  <a:txBody>
                    <a:bodyPr/>
                    <a:lstStyle/>
                    <a:p>
                      <a:pPr algn="ctr" fontAlgn="b"/>
                      <a:r>
                        <a:rPr lang="en-IN" sz="1200" b="0" i="0" u="none" strike="noStrike">
                          <a:solidFill>
                            <a:srgbClr val="000000"/>
                          </a:solidFill>
                          <a:effectLst/>
                          <a:latin typeface="Gotham"/>
                        </a:rPr>
                        <a:t>Methanol</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200" b="0" i="0" u="none" strike="noStrike">
                          <a:solidFill>
                            <a:srgbClr val="000000"/>
                          </a:solidFill>
                          <a:effectLst/>
                          <a:latin typeface="Gotham"/>
                        </a:rPr>
                        <a:t>28</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200" b="0" i="0" u="none" strike="noStrike">
                          <a:solidFill>
                            <a:srgbClr val="000000"/>
                          </a:solidFill>
                          <a:effectLst/>
                          <a:latin typeface="Gotham"/>
                        </a:rPr>
                        <a:t>4.04</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200" b="0" i="0" u="none" strike="noStrike">
                          <a:solidFill>
                            <a:srgbClr val="000000"/>
                          </a:solidFill>
                          <a:effectLst/>
                          <a:latin typeface="Gotham"/>
                        </a:rPr>
                        <a:t>6.9306931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200" b="0" i="0" u="none" strike="noStrike">
                          <a:solidFill>
                            <a:srgbClr val="000000"/>
                          </a:solidFill>
                          <a:effectLst/>
                          <a:latin typeface="Gotham"/>
                        </a:rPr>
                        <a:t>4</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29475853"/>
                  </a:ext>
                </a:extLst>
              </a:tr>
              <a:tr h="196380">
                <a:tc>
                  <a:txBody>
                    <a:bodyPr/>
                    <a:lstStyle/>
                    <a:p>
                      <a:pPr algn="ctr" fontAlgn="b"/>
                      <a:r>
                        <a:rPr lang="en-IN" sz="1200" b="0" i="0" u="none" strike="noStrike">
                          <a:solidFill>
                            <a:srgbClr val="000000"/>
                          </a:solidFill>
                          <a:effectLst/>
                          <a:latin typeface="Gotham"/>
                        </a:rPr>
                        <a:t>CNG</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200" b="0" i="0" u="none" strike="noStrike">
                          <a:solidFill>
                            <a:srgbClr val="000000"/>
                          </a:solidFill>
                          <a:effectLst/>
                          <a:latin typeface="Gotham"/>
                        </a:rPr>
                        <a:t>86</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200" b="0" i="0" u="none" strike="noStrike">
                          <a:solidFill>
                            <a:srgbClr val="000000"/>
                          </a:solidFill>
                          <a:effectLst/>
                          <a:latin typeface="Gotham"/>
                        </a:rPr>
                        <a:t>11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200" b="0" i="0" u="none" strike="noStrike">
                          <a:solidFill>
                            <a:srgbClr val="000000"/>
                          </a:solidFill>
                          <a:effectLst/>
                          <a:latin typeface="Gotham"/>
                        </a:rPr>
                        <a:t>7.8181818</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200" b="0" i="0" u="none" strike="noStrike">
                          <a:solidFill>
                            <a:srgbClr val="000000"/>
                          </a:solidFill>
                          <a:effectLst/>
                          <a:latin typeface="Gotham"/>
                        </a:rPr>
                        <a:t>4</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11606069"/>
                  </a:ext>
                </a:extLst>
              </a:tr>
              <a:tr h="196380">
                <a:tc>
                  <a:txBody>
                    <a:bodyPr/>
                    <a:lstStyle/>
                    <a:p>
                      <a:pPr algn="ctr" fontAlgn="b"/>
                      <a:r>
                        <a:rPr lang="en-IN" sz="1200" b="0" i="0" u="none" strike="noStrike">
                          <a:solidFill>
                            <a:srgbClr val="000000"/>
                          </a:solidFill>
                          <a:effectLst/>
                          <a:latin typeface="Gotham"/>
                        </a:rPr>
                        <a:t>LNG</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200" b="0" i="0" u="none" strike="noStrike">
                          <a:solidFill>
                            <a:srgbClr val="000000"/>
                          </a:solidFill>
                          <a:effectLst/>
                          <a:latin typeface="Gotham"/>
                        </a:rPr>
                        <a:t>6</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200" b="0" i="0" u="none" strike="noStrike">
                          <a:solidFill>
                            <a:srgbClr val="000000"/>
                          </a:solidFill>
                          <a:effectLst/>
                          <a:latin typeface="Gotham"/>
                        </a:rPr>
                        <a:t>1.105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200" b="0" i="0" u="none" strike="noStrike">
                          <a:solidFill>
                            <a:srgbClr val="000000"/>
                          </a:solidFill>
                          <a:effectLst/>
                          <a:latin typeface="Gotham"/>
                        </a:rPr>
                        <a:t>5.4298643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200" b="0" i="0" u="none" strike="noStrike">
                          <a:solidFill>
                            <a:srgbClr val="000000"/>
                          </a:solidFill>
                          <a:effectLst/>
                          <a:latin typeface="Gotham"/>
                        </a:rPr>
                        <a:t>4</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04576978"/>
                  </a:ext>
                </a:extLst>
              </a:tr>
              <a:tr h="196380">
                <a:tc>
                  <a:txBody>
                    <a:bodyPr/>
                    <a:lstStyle/>
                    <a:p>
                      <a:pPr algn="ctr" fontAlgn="b"/>
                      <a:r>
                        <a:rPr lang="en-IN" sz="1200" b="0" i="0" u="none" strike="noStrike">
                          <a:solidFill>
                            <a:srgbClr val="000000"/>
                          </a:solidFill>
                          <a:effectLst/>
                          <a:latin typeface="Gotham"/>
                        </a:rPr>
                        <a:t>Hydrogen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200" b="0" i="0" u="none" strike="noStrike">
                          <a:solidFill>
                            <a:srgbClr val="000000"/>
                          </a:solidFill>
                          <a:effectLst/>
                          <a:latin typeface="Gotham"/>
                        </a:rPr>
                        <a:t>325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200" b="0" i="0" u="none" strike="noStrike">
                          <a:solidFill>
                            <a:srgbClr val="000000"/>
                          </a:solidFill>
                          <a:effectLst/>
                          <a:latin typeface="Gotham"/>
                        </a:rPr>
                        <a:t>100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200" b="0" i="0" u="none" strike="noStrike">
                          <a:solidFill>
                            <a:srgbClr val="000000"/>
                          </a:solidFill>
                          <a:effectLst/>
                          <a:latin typeface="Gotham"/>
                        </a:rPr>
                        <a:t>3.25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200" b="0" i="0" u="none" strike="noStrike">
                          <a:solidFill>
                            <a:srgbClr val="000000"/>
                          </a:solidFill>
                          <a:effectLst/>
                          <a:latin typeface="Gotham"/>
                        </a:rPr>
                        <a:t>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64666749"/>
                  </a:ext>
                </a:extLst>
              </a:tr>
              <a:tr h="196380">
                <a:tc>
                  <a:txBody>
                    <a:bodyPr/>
                    <a:lstStyle/>
                    <a:p>
                      <a:pPr algn="ctr" fontAlgn="b"/>
                      <a:r>
                        <a:rPr lang="en-IN" sz="1200" b="0" i="0" u="none" strike="noStrike">
                          <a:solidFill>
                            <a:srgbClr val="000000"/>
                          </a:solidFill>
                          <a:effectLst/>
                          <a:latin typeface="Gotham"/>
                        </a:rPr>
                        <a:t>LPG</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200" b="0" i="0" u="none" strike="noStrike">
                          <a:solidFill>
                            <a:srgbClr val="000000"/>
                          </a:solidFill>
                          <a:effectLst/>
                          <a:latin typeface="Gotham"/>
                        </a:rPr>
                        <a:t>1000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200" b="0" i="0" u="none" strike="noStrike">
                          <a:solidFill>
                            <a:srgbClr val="000000"/>
                          </a:solidFill>
                          <a:effectLst/>
                          <a:latin typeface="Gotham"/>
                        </a:rPr>
                        <a:t>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200" b="0" i="0" u="none" strike="noStrike">
                          <a:solidFill>
                            <a:srgbClr val="000000"/>
                          </a:solidFill>
                          <a:effectLst/>
                          <a:latin typeface="Gotham"/>
                        </a:rPr>
                        <a:t>40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200" b="0" i="0" u="none" strike="noStrike">
                          <a:solidFill>
                            <a:srgbClr val="000000"/>
                          </a:solidFill>
                          <a:effectLst/>
                          <a:latin typeface="Gotham"/>
                        </a:rPr>
                        <a:t>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59098949"/>
                  </a:ext>
                </a:extLst>
              </a:tr>
              <a:tr h="196380">
                <a:tc>
                  <a:txBody>
                    <a:bodyPr/>
                    <a:lstStyle/>
                    <a:p>
                      <a:pPr algn="ctr" fontAlgn="b"/>
                      <a:r>
                        <a:rPr lang="en-IN" sz="1200" b="0" i="0" u="none" strike="noStrike" dirty="0">
                          <a:solidFill>
                            <a:srgbClr val="000000"/>
                          </a:solidFill>
                          <a:effectLst/>
                          <a:latin typeface="Gotham"/>
                        </a:rPr>
                        <a:t>EV</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200" b="0" i="0" u="none" strike="noStrike">
                          <a:solidFill>
                            <a:srgbClr val="000000"/>
                          </a:solidFill>
                          <a:effectLst/>
                          <a:latin typeface="Gotham"/>
                        </a:rPr>
                        <a:t>6 per unit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200" b="0" i="0" u="none" strike="noStrike">
                          <a:solidFill>
                            <a:srgbClr val="000000"/>
                          </a:solidFill>
                          <a:effectLst/>
                          <a:latin typeface="Gotham"/>
                        </a:rPr>
                        <a:t>150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200" b="0" i="0" u="none" strike="noStrike">
                          <a:solidFill>
                            <a:srgbClr val="000000"/>
                          </a:solidFill>
                          <a:effectLst/>
                          <a:latin typeface="Gotham"/>
                        </a:rPr>
                        <a:t>1.2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200" b="0" i="0" u="none" strike="noStrike" dirty="0">
                          <a:solidFill>
                            <a:srgbClr val="000000"/>
                          </a:solidFill>
                          <a:effectLst/>
                          <a:latin typeface="Gotham"/>
                        </a:rPr>
                        <a:t>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44611754"/>
                  </a:ext>
                </a:extLst>
              </a:tr>
            </a:tbl>
          </a:graphicData>
        </a:graphic>
      </p:graphicFrame>
      <p:sp>
        <p:nvSpPr>
          <p:cNvPr id="55" name="Rectangle 54">
            <a:extLst>
              <a:ext uri="{FF2B5EF4-FFF2-40B4-BE49-F238E27FC236}">
                <a16:creationId xmlns:a16="http://schemas.microsoft.com/office/drawing/2014/main" id="{5322B355-9943-D3BF-55AB-90A98715A87F}"/>
              </a:ext>
            </a:extLst>
          </p:cNvPr>
          <p:cNvSpPr/>
          <p:nvPr/>
        </p:nvSpPr>
        <p:spPr>
          <a:xfrm>
            <a:off x="5296687" y="3744460"/>
            <a:ext cx="1628276" cy="2507050"/>
          </a:xfrm>
          <a:prstGeom prst="rect">
            <a:avLst/>
          </a:prstGeom>
          <a:no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Gotham"/>
            </a:endParaRPr>
          </a:p>
        </p:txBody>
      </p:sp>
      <p:cxnSp>
        <p:nvCxnSpPr>
          <p:cNvPr id="57" name="Straight Connector 56">
            <a:extLst>
              <a:ext uri="{FF2B5EF4-FFF2-40B4-BE49-F238E27FC236}">
                <a16:creationId xmlns:a16="http://schemas.microsoft.com/office/drawing/2014/main" id="{CAAB76FC-916F-5D14-CD0D-71FFD6A46507}"/>
              </a:ext>
            </a:extLst>
          </p:cNvPr>
          <p:cNvCxnSpPr>
            <a:cxnSpLocks/>
          </p:cNvCxnSpPr>
          <p:nvPr/>
        </p:nvCxnSpPr>
        <p:spPr>
          <a:xfrm>
            <a:off x="7072604" y="3486509"/>
            <a:ext cx="0" cy="3156052"/>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DC2C4D85-49AB-4F79-3C5B-74CE5D8D19F9}"/>
              </a:ext>
            </a:extLst>
          </p:cNvPr>
          <p:cNvSpPr txBox="1"/>
          <p:nvPr/>
        </p:nvSpPr>
        <p:spPr>
          <a:xfrm>
            <a:off x="139956" y="6270169"/>
            <a:ext cx="6812823" cy="461665"/>
          </a:xfrm>
          <a:prstGeom prst="rect">
            <a:avLst/>
          </a:prstGeom>
          <a:noFill/>
          <a:ln>
            <a:solidFill>
              <a:srgbClr val="92D050"/>
            </a:solidFill>
          </a:ln>
        </p:spPr>
        <p:txBody>
          <a:bodyPr wrap="square" rtlCol="0">
            <a:spAutoFit/>
          </a:bodyPr>
          <a:lstStyle/>
          <a:p>
            <a:r>
              <a:rPr lang="en-IN" sz="1200" dirty="0">
                <a:latin typeface="Gotham"/>
              </a:rPr>
              <a:t>Currently, GoI has been pushing for E20 blending with diesel with a phased rollout by Apr 2023. In a push to keep carbon emissions under control, electric vehicles are also steadily acquiring the automotive space.</a:t>
            </a:r>
          </a:p>
        </p:txBody>
      </p:sp>
      <p:sp>
        <p:nvSpPr>
          <p:cNvPr id="3" name="TextBox 2">
            <a:extLst>
              <a:ext uri="{FF2B5EF4-FFF2-40B4-BE49-F238E27FC236}">
                <a16:creationId xmlns:a16="http://schemas.microsoft.com/office/drawing/2014/main" id="{885332EC-BE85-B120-89B1-DDDF54588953}"/>
              </a:ext>
            </a:extLst>
          </p:cNvPr>
          <p:cNvSpPr txBox="1"/>
          <p:nvPr/>
        </p:nvSpPr>
        <p:spPr>
          <a:xfrm>
            <a:off x="7220246" y="6611165"/>
            <a:ext cx="5119396" cy="276999"/>
          </a:xfrm>
          <a:prstGeom prst="rect">
            <a:avLst/>
          </a:prstGeom>
          <a:noFill/>
        </p:spPr>
        <p:txBody>
          <a:bodyPr wrap="square" rtlCol="0">
            <a:spAutoFit/>
          </a:bodyPr>
          <a:lstStyle/>
          <a:p>
            <a:r>
              <a:rPr lang="en-IN" sz="1200" dirty="0">
                <a:latin typeface="Gotham"/>
              </a:rPr>
              <a:t>*Scores have been assigned based on the parameters considered for evaluation</a:t>
            </a:r>
          </a:p>
        </p:txBody>
      </p:sp>
      <p:sp>
        <p:nvSpPr>
          <p:cNvPr id="4" name="TextBox 3">
            <a:extLst>
              <a:ext uri="{FF2B5EF4-FFF2-40B4-BE49-F238E27FC236}">
                <a16:creationId xmlns:a16="http://schemas.microsoft.com/office/drawing/2014/main" id="{8B3BCAAB-AB2F-C8B5-67D2-21B6DACCA6F7}"/>
              </a:ext>
            </a:extLst>
          </p:cNvPr>
          <p:cNvSpPr txBox="1"/>
          <p:nvPr/>
        </p:nvSpPr>
        <p:spPr>
          <a:xfrm>
            <a:off x="7220246" y="5915608"/>
            <a:ext cx="4722751" cy="461665"/>
          </a:xfrm>
          <a:prstGeom prst="rect">
            <a:avLst/>
          </a:prstGeom>
          <a:noFill/>
          <a:ln>
            <a:solidFill>
              <a:srgbClr val="92D050"/>
            </a:solidFill>
          </a:ln>
        </p:spPr>
        <p:txBody>
          <a:bodyPr wrap="square" rtlCol="0">
            <a:spAutoFit/>
          </a:bodyPr>
          <a:lstStyle/>
          <a:p>
            <a:r>
              <a:rPr lang="en-IN" sz="1200" dirty="0">
                <a:latin typeface="Gotham"/>
              </a:rPr>
              <a:t>Electric vehicles are the most economical in terms of fuel cost, followed by hydrogen-powered vehicles(green hydrogen)</a:t>
            </a:r>
          </a:p>
        </p:txBody>
      </p:sp>
    </p:spTree>
    <p:extLst>
      <p:ext uri="{BB962C8B-B14F-4D97-AF65-F5344CB8AC3E}">
        <p14:creationId xmlns:p14="http://schemas.microsoft.com/office/powerpoint/2010/main" val="40155798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D9870AE3-57E4-859D-4A6B-E6D9184B2D15}"/>
              </a:ext>
            </a:extLst>
          </p:cNvPr>
          <p:cNvSpPr/>
          <p:nvPr/>
        </p:nvSpPr>
        <p:spPr>
          <a:xfrm>
            <a:off x="102632" y="5704"/>
            <a:ext cx="11961847" cy="247800"/>
          </a:xfrm>
          <a:prstGeom prst="round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latin typeface="Gotham"/>
              </a:rPr>
              <a:t>Assessing the feasibility of alternative fuels on 4 parameters: Availability, cost, emissions, vehicle compatibility</a:t>
            </a:r>
          </a:p>
        </p:txBody>
      </p:sp>
      <p:sp>
        <p:nvSpPr>
          <p:cNvPr id="7" name="TextBox 6">
            <a:extLst>
              <a:ext uri="{FF2B5EF4-FFF2-40B4-BE49-F238E27FC236}">
                <a16:creationId xmlns:a16="http://schemas.microsoft.com/office/drawing/2014/main" id="{C5240543-FF78-2E84-C2D7-DDB5FBA30A94}"/>
              </a:ext>
            </a:extLst>
          </p:cNvPr>
          <p:cNvSpPr txBox="1"/>
          <p:nvPr/>
        </p:nvSpPr>
        <p:spPr>
          <a:xfrm>
            <a:off x="102632" y="283080"/>
            <a:ext cx="979720" cy="276999"/>
          </a:xfrm>
          <a:prstGeom prst="rect">
            <a:avLst/>
          </a:prstGeom>
          <a:solidFill>
            <a:schemeClr val="accent5"/>
          </a:solidFill>
        </p:spPr>
        <p:txBody>
          <a:bodyPr wrap="square" rtlCol="0">
            <a:spAutoFit/>
          </a:bodyPr>
          <a:lstStyle/>
          <a:p>
            <a:r>
              <a:rPr lang="en-IN" sz="1200" b="1" dirty="0">
                <a:latin typeface="Gotham"/>
              </a:rPr>
              <a:t>3. Emissions</a:t>
            </a:r>
          </a:p>
        </p:txBody>
      </p:sp>
      <p:sp>
        <p:nvSpPr>
          <p:cNvPr id="9" name="TextBox 8">
            <a:extLst>
              <a:ext uri="{FF2B5EF4-FFF2-40B4-BE49-F238E27FC236}">
                <a16:creationId xmlns:a16="http://schemas.microsoft.com/office/drawing/2014/main" id="{F30D7CE4-26E6-BD57-F34C-0699AA567C6E}"/>
              </a:ext>
            </a:extLst>
          </p:cNvPr>
          <p:cNvSpPr txBox="1"/>
          <p:nvPr/>
        </p:nvSpPr>
        <p:spPr>
          <a:xfrm>
            <a:off x="4523847" y="285997"/>
            <a:ext cx="1741719" cy="276999"/>
          </a:xfrm>
          <a:prstGeom prst="rect">
            <a:avLst/>
          </a:prstGeom>
          <a:solidFill>
            <a:schemeClr val="accent5"/>
          </a:solidFill>
        </p:spPr>
        <p:txBody>
          <a:bodyPr wrap="square" rtlCol="0">
            <a:spAutoFit/>
          </a:bodyPr>
          <a:lstStyle/>
          <a:p>
            <a:r>
              <a:rPr lang="en-IN" sz="1200" b="1" dirty="0">
                <a:latin typeface="Gotham"/>
              </a:rPr>
              <a:t>4. Vehicle compatibility</a:t>
            </a:r>
          </a:p>
        </p:txBody>
      </p:sp>
      <p:graphicFrame>
        <p:nvGraphicFramePr>
          <p:cNvPr id="11" name="Table 10">
            <a:extLst>
              <a:ext uri="{FF2B5EF4-FFF2-40B4-BE49-F238E27FC236}">
                <a16:creationId xmlns:a16="http://schemas.microsoft.com/office/drawing/2014/main" id="{9C1B602B-4874-E687-27A6-107396791DC2}"/>
              </a:ext>
            </a:extLst>
          </p:cNvPr>
          <p:cNvGraphicFramePr>
            <a:graphicFrameLocks noGrp="1"/>
          </p:cNvGraphicFramePr>
          <p:nvPr>
            <p:extLst>
              <p:ext uri="{D42A27DB-BD31-4B8C-83A1-F6EECF244321}">
                <p14:modId xmlns:p14="http://schemas.microsoft.com/office/powerpoint/2010/main" val="1625519738"/>
              </p:ext>
            </p:extLst>
          </p:nvPr>
        </p:nvGraphicFramePr>
        <p:xfrm>
          <a:off x="115462" y="589655"/>
          <a:ext cx="3738077" cy="1699614"/>
        </p:xfrm>
        <a:graphic>
          <a:graphicData uri="http://schemas.openxmlformats.org/drawingml/2006/table">
            <a:tbl>
              <a:tblPr firstRow="1" bandRow="1">
                <a:tableStyleId>{93296810-A885-4BE3-A3E7-6D5BEEA58F35}</a:tableStyleId>
              </a:tblPr>
              <a:tblGrid>
                <a:gridCol w="1036169">
                  <a:extLst>
                    <a:ext uri="{9D8B030D-6E8A-4147-A177-3AD203B41FA5}">
                      <a16:colId xmlns:a16="http://schemas.microsoft.com/office/drawing/2014/main" val="3771745935"/>
                    </a:ext>
                  </a:extLst>
                </a:gridCol>
                <a:gridCol w="1796900">
                  <a:extLst>
                    <a:ext uri="{9D8B030D-6E8A-4147-A177-3AD203B41FA5}">
                      <a16:colId xmlns:a16="http://schemas.microsoft.com/office/drawing/2014/main" val="589727280"/>
                    </a:ext>
                  </a:extLst>
                </a:gridCol>
                <a:gridCol w="905008">
                  <a:extLst>
                    <a:ext uri="{9D8B030D-6E8A-4147-A177-3AD203B41FA5}">
                      <a16:colId xmlns:a16="http://schemas.microsoft.com/office/drawing/2014/main" val="579759805"/>
                    </a:ext>
                  </a:extLst>
                </a:gridCol>
              </a:tblGrid>
              <a:tr h="188846">
                <a:tc>
                  <a:txBody>
                    <a:bodyPr/>
                    <a:lstStyle/>
                    <a:p>
                      <a:pPr algn="ctr" fontAlgn="b"/>
                      <a:r>
                        <a:rPr lang="en-IN" sz="1100" b="1" u="none" strike="noStrike" dirty="0">
                          <a:solidFill>
                            <a:srgbClr val="000000"/>
                          </a:solidFill>
                          <a:effectLst/>
                          <a:latin typeface="Gotham"/>
                        </a:rPr>
                        <a:t>Fuel</a:t>
                      </a:r>
                      <a:endParaRPr lang="en-IN" sz="1100" b="1" i="0" u="none" strike="noStrike" dirty="0">
                        <a:solidFill>
                          <a:srgbClr val="000000"/>
                        </a:solidFill>
                        <a:effectLst/>
                        <a:latin typeface="Gotham"/>
                      </a:endParaRPr>
                    </a:p>
                  </a:txBody>
                  <a:tcPr marL="7620" marR="7620" marT="7620" marB="0" anchor="b"/>
                </a:tc>
                <a:tc>
                  <a:txBody>
                    <a:bodyPr/>
                    <a:lstStyle/>
                    <a:p>
                      <a:pPr algn="ctr" fontAlgn="b"/>
                      <a:r>
                        <a:rPr lang="en-IN" sz="1100" b="1" u="none" strike="noStrike">
                          <a:solidFill>
                            <a:srgbClr val="000000"/>
                          </a:solidFill>
                          <a:effectLst/>
                          <a:latin typeface="Gotham"/>
                        </a:rPr>
                        <a:t>Reduction in Carbon Emission</a:t>
                      </a:r>
                      <a:endParaRPr lang="en-IN" sz="1100" b="1" i="0" u="none" strike="noStrike">
                        <a:solidFill>
                          <a:srgbClr val="000000"/>
                        </a:solidFill>
                        <a:effectLst/>
                        <a:latin typeface="Gotham"/>
                      </a:endParaRPr>
                    </a:p>
                  </a:txBody>
                  <a:tcPr marL="7620" marR="7620" marT="7620" marB="0" anchor="b"/>
                </a:tc>
                <a:tc>
                  <a:txBody>
                    <a:bodyPr/>
                    <a:lstStyle/>
                    <a:p>
                      <a:pPr algn="ctr" fontAlgn="b"/>
                      <a:r>
                        <a:rPr lang="en-IN" sz="1100" b="1" u="none" strike="noStrike">
                          <a:solidFill>
                            <a:srgbClr val="000000"/>
                          </a:solidFill>
                          <a:effectLst/>
                          <a:latin typeface="Gotham"/>
                        </a:rPr>
                        <a:t>Score</a:t>
                      </a:r>
                      <a:endParaRPr lang="en-IN" sz="1100" b="1" i="0" u="none" strike="noStrike">
                        <a:solidFill>
                          <a:srgbClr val="000000"/>
                        </a:solidFill>
                        <a:effectLst/>
                        <a:latin typeface="Gotham"/>
                      </a:endParaRPr>
                    </a:p>
                  </a:txBody>
                  <a:tcPr marL="7620" marR="7620" marT="7620" marB="0" anchor="b"/>
                </a:tc>
                <a:extLst>
                  <a:ext uri="{0D108BD9-81ED-4DB2-BD59-A6C34878D82A}">
                    <a16:rowId xmlns:a16="http://schemas.microsoft.com/office/drawing/2014/main" val="55838561"/>
                  </a:ext>
                </a:extLst>
              </a:tr>
              <a:tr h="188846">
                <a:tc>
                  <a:txBody>
                    <a:bodyPr/>
                    <a:lstStyle/>
                    <a:p>
                      <a:pPr algn="ctr" fontAlgn="b"/>
                      <a:r>
                        <a:rPr lang="en-IN" sz="1100" b="0" u="none" strike="noStrike">
                          <a:solidFill>
                            <a:srgbClr val="000000"/>
                          </a:solidFill>
                          <a:effectLst/>
                          <a:latin typeface="Gotham"/>
                        </a:rPr>
                        <a:t>Ethanol blending</a:t>
                      </a:r>
                      <a:endParaRPr lang="en-IN" sz="1100" b="0" i="0" u="none" strike="noStrike">
                        <a:solidFill>
                          <a:srgbClr val="000000"/>
                        </a:solidFill>
                        <a:effectLst/>
                        <a:latin typeface="Gotham"/>
                      </a:endParaRPr>
                    </a:p>
                  </a:txBody>
                  <a:tcPr marL="7620" marR="7620" marT="7620" marB="0" anchor="b"/>
                </a:tc>
                <a:tc>
                  <a:txBody>
                    <a:bodyPr/>
                    <a:lstStyle/>
                    <a:p>
                      <a:pPr algn="ctr" fontAlgn="b"/>
                      <a:r>
                        <a:rPr lang="en-IN" sz="1100" b="0" u="none" strike="noStrike">
                          <a:solidFill>
                            <a:srgbClr val="000000"/>
                          </a:solidFill>
                          <a:effectLst/>
                          <a:latin typeface="Gotham"/>
                        </a:rPr>
                        <a:t>30%</a:t>
                      </a:r>
                      <a:endParaRPr lang="en-IN" sz="1100" b="0" i="0" u="none" strike="noStrike">
                        <a:solidFill>
                          <a:srgbClr val="000000"/>
                        </a:solidFill>
                        <a:effectLst/>
                        <a:latin typeface="Gotham"/>
                      </a:endParaRPr>
                    </a:p>
                  </a:txBody>
                  <a:tcPr marL="7620" marR="7620" marT="7620" marB="0" anchor="b"/>
                </a:tc>
                <a:tc>
                  <a:txBody>
                    <a:bodyPr/>
                    <a:lstStyle/>
                    <a:p>
                      <a:pPr algn="ctr" fontAlgn="b"/>
                      <a:r>
                        <a:rPr lang="en-IN" sz="1100" b="0" u="none" strike="noStrike">
                          <a:solidFill>
                            <a:srgbClr val="000000"/>
                          </a:solidFill>
                          <a:effectLst/>
                          <a:latin typeface="Gotham"/>
                        </a:rPr>
                        <a:t>2</a:t>
                      </a:r>
                      <a:endParaRPr lang="en-IN" sz="1100" b="0" i="0" u="none" strike="noStrike">
                        <a:solidFill>
                          <a:srgbClr val="000000"/>
                        </a:solidFill>
                        <a:effectLst/>
                        <a:latin typeface="Gotham"/>
                      </a:endParaRPr>
                    </a:p>
                  </a:txBody>
                  <a:tcPr marL="7620" marR="7620" marT="7620" marB="0" anchor="b"/>
                </a:tc>
                <a:extLst>
                  <a:ext uri="{0D108BD9-81ED-4DB2-BD59-A6C34878D82A}">
                    <a16:rowId xmlns:a16="http://schemas.microsoft.com/office/drawing/2014/main" val="290950915"/>
                  </a:ext>
                </a:extLst>
              </a:tr>
              <a:tr h="188846">
                <a:tc>
                  <a:txBody>
                    <a:bodyPr/>
                    <a:lstStyle/>
                    <a:p>
                      <a:pPr algn="ctr" fontAlgn="b"/>
                      <a:r>
                        <a:rPr lang="en-IN" sz="1100" b="0" u="none" strike="noStrike">
                          <a:solidFill>
                            <a:srgbClr val="000000"/>
                          </a:solidFill>
                          <a:effectLst/>
                          <a:latin typeface="Gotham"/>
                        </a:rPr>
                        <a:t>Biodiesel</a:t>
                      </a:r>
                      <a:endParaRPr lang="en-IN" sz="1100" b="0" i="0" u="none" strike="noStrike">
                        <a:solidFill>
                          <a:srgbClr val="000000"/>
                        </a:solidFill>
                        <a:effectLst/>
                        <a:latin typeface="Gotham"/>
                      </a:endParaRPr>
                    </a:p>
                  </a:txBody>
                  <a:tcPr marL="7620" marR="7620" marT="7620" marB="0" anchor="b"/>
                </a:tc>
                <a:tc>
                  <a:txBody>
                    <a:bodyPr/>
                    <a:lstStyle/>
                    <a:p>
                      <a:pPr algn="ctr" fontAlgn="b"/>
                      <a:r>
                        <a:rPr lang="en-IN" sz="1100" b="0" u="none" strike="noStrike">
                          <a:solidFill>
                            <a:srgbClr val="000000"/>
                          </a:solidFill>
                          <a:effectLst/>
                          <a:latin typeface="Gotham"/>
                        </a:rPr>
                        <a:t>72%</a:t>
                      </a:r>
                      <a:endParaRPr lang="en-IN" sz="1100" b="0" i="0" u="none" strike="noStrike">
                        <a:solidFill>
                          <a:srgbClr val="000000"/>
                        </a:solidFill>
                        <a:effectLst/>
                        <a:latin typeface="Gotham"/>
                      </a:endParaRPr>
                    </a:p>
                  </a:txBody>
                  <a:tcPr marL="7620" marR="7620" marT="7620" marB="0" anchor="b"/>
                </a:tc>
                <a:tc>
                  <a:txBody>
                    <a:bodyPr/>
                    <a:lstStyle/>
                    <a:p>
                      <a:pPr algn="ctr" fontAlgn="b"/>
                      <a:r>
                        <a:rPr lang="en-IN" sz="1100" b="0" u="none" strike="noStrike">
                          <a:solidFill>
                            <a:srgbClr val="000000"/>
                          </a:solidFill>
                          <a:effectLst/>
                          <a:latin typeface="Gotham"/>
                        </a:rPr>
                        <a:t>5</a:t>
                      </a:r>
                      <a:endParaRPr lang="en-IN" sz="1100" b="0" i="0" u="none" strike="noStrike">
                        <a:solidFill>
                          <a:srgbClr val="000000"/>
                        </a:solidFill>
                        <a:effectLst/>
                        <a:latin typeface="Gotham"/>
                      </a:endParaRPr>
                    </a:p>
                  </a:txBody>
                  <a:tcPr marL="7620" marR="7620" marT="7620" marB="0" anchor="b"/>
                </a:tc>
                <a:extLst>
                  <a:ext uri="{0D108BD9-81ED-4DB2-BD59-A6C34878D82A}">
                    <a16:rowId xmlns:a16="http://schemas.microsoft.com/office/drawing/2014/main" val="3239273826"/>
                  </a:ext>
                </a:extLst>
              </a:tr>
              <a:tr h="188846">
                <a:tc>
                  <a:txBody>
                    <a:bodyPr/>
                    <a:lstStyle/>
                    <a:p>
                      <a:pPr algn="ctr" fontAlgn="b"/>
                      <a:r>
                        <a:rPr lang="en-IN" sz="1100" b="0" u="none" strike="noStrike">
                          <a:solidFill>
                            <a:srgbClr val="000000"/>
                          </a:solidFill>
                          <a:effectLst/>
                          <a:latin typeface="Gotham"/>
                        </a:rPr>
                        <a:t>Methanol</a:t>
                      </a:r>
                      <a:endParaRPr lang="en-IN" sz="1100" b="0" i="0" u="none" strike="noStrike">
                        <a:solidFill>
                          <a:srgbClr val="000000"/>
                        </a:solidFill>
                        <a:effectLst/>
                        <a:latin typeface="Gotham"/>
                      </a:endParaRPr>
                    </a:p>
                  </a:txBody>
                  <a:tcPr marL="7620" marR="7620" marT="7620" marB="0" anchor="b"/>
                </a:tc>
                <a:tc>
                  <a:txBody>
                    <a:bodyPr/>
                    <a:lstStyle/>
                    <a:p>
                      <a:pPr algn="ctr" fontAlgn="b"/>
                      <a:r>
                        <a:rPr lang="en-IN" sz="1100" b="0" u="none" strike="noStrike">
                          <a:solidFill>
                            <a:srgbClr val="000000"/>
                          </a:solidFill>
                          <a:effectLst/>
                          <a:latin typeface="Gotham"/>
                        </a:rPr>
                        <a:t>65%-95%</a:t>
                      </a:r>
                      <a:endParaRPr lang="en-IN" sz="1100" b="0" i="0" u="none" strike="noStrike">
                        <a:solidFill>
                          <a:srgbClr val="000000"/>
                        </a:solidFill>
                        <a:effectLst/>
                        <a:latin typeface="Gotham"/>
                      </a:endParaRPr>
                    </a:p>
                  </a:txBody>
                  <a:tcPr marL="7620" marR="7620" marT="7620" marB="0" anchor="b"/>
                </a:tc>
                <a:tc>
                  <a:txBody>
                    <a:bodyPr/>
                    <a:lstStyle/>
                    <a:p>
                      <a:pPr algn="ctr" fontAlgn="b"/>
                      <a:r>
                        <a:rPr lang="en-IN" sz="1100" b="0" u="none" strike="noStrike">
                          <a:solidFill>
                            <a:srgbClr val="000000"/>
                          </a:solidFill>
                          <a:effectLst/>
                          <a:latin typeface="Gotham"/>
                        </a:rPr>
                        <a:t>3</a:t>
                      </a:r>
                      <a:endParaRPr lang="en-IN" sz="1100" b="0" i="0" u="none" strike="noStrike">
                        <a:solidFill>
                          <a:srgbClr val="000000"/>
                        </a:solidFill>
                        <a:effectLst/>
                        <a:latin typeface="Gotham"/>
                      </a:endParaRPr>
                    </a:p>
                  </a:txBody>
                  <a:tcPr marL="7620" marR="7620" marT="7620" marB="0" anchor="b"/>
                </a:tc>
                <a:extLst>
                  <a:ext uri="{0D108BD9-81ED-4DB2-BD59-A6C34878D82A}">
                    <a16:rowId xmlns:a16="http://schemas.microsoft.com/office/drawing/2014/main" val="2079863075"/>
                  </a:ext>
                </a:extLst>
              </a:tr>
              <a:tr h="188846">
                <a:tc>
                  <a:txBody>
                    <a:bodyPr/>
                    <a:lstStyle/>
                    <a:p>
                      <a:pPr algn="ctr" fontAlgn="b"/>
                      <a:r>
                        <a:rPr lang="en-IN" sz="1100" b="0" u="none" strike="noStrike">
                          <a:solidFill>
                            <a:srgbClr val="000000"/>
                          </a:solidFill>
                          <a:effectLst/>
                          <a:latin typeface="Gotham"/>
                        </a:rPr>
                        <a:t>CNG</a:t>
                      </a:r>
                      <a:endParaRPr lang="en-IN" sz="1100" b="0" i="0" u="none" strike="noStrike">
                        <a:solidFill>
                          <a:srgbClr val="000000"/>
                        </a:solidFill>
                        <a:effectLst/>
                        <a:latin typeface="Gotham"/>
                      </a:endParaRPr>
                    </a:p>
                  </a:txBody>
                  <a:tcPr marL="7620" marR="7620" marT="7620" marB="0" anchor="b"/>
                </a:tc>
                <a:tc>
                  <a:txBody>
                    <a:bodyPr/>
                    <a:lstStyle/>
                    <a:p>
                      <a:pPr algn="ctr" fontAlgn="b"/>
                      <a:r>
                        <a:rPr lang="en-IN" sz="1100" b="0" u="none" strike="noStrike">
                          <a:solidFill>
                            <a:srgbClr val="000000"/>
                          </a:solidFill>
                          <a:effectLst/>
                          <a:latin typeface="Gotham"/>
                        </a:rPr>
                        <a:t>5%-10%</a:t>
                      </a:r>
                      <a:endParaRPr lang="en-IN" sz="1100" b="0" i="0" u="none" strike="noStrike">
                        <a:solidFill>
                          <a:srgbClr val="000000"/>
                        </a:solidFill>
                        <a:effectLst/>
                        <a:latin typeface="Gotham"/>
                      </a:endParaRPr>
                    </a:p>
                  </a:txBody>
                  <a:tcPr marL="7620" marR="7620" marT="7620" marB="0" anchor="b"/>
                </a:tc>
                <a:tc>
                  <a:txBody>
                    <a:bodyPr/>
                    <a:lstStyle/>
                    <a:p>
                      <a:pPr algn="ctr" fontAlgn="b"/>
                      <a:r>
                        <a:rPr lang="en-IN" sz="1100" b="0" u="none" strike="noStrike" dirty="0">
                          <a:solidFill>
                            <a:srgbClr val="000000"/>
                          </a:solidFill>
                          <a:effectLst/>
                          <a:latin typeface="Gotham"/>
                        </a:rPr>
                        <a:t>1</a:t>
                      </a:r>
                      <a:endParaRPr lang="en-IN" sz="1100" b="0" i="0" u="none" strike="noStrike" dirty="0">
                        <a:solidFill>
                          <a:srgbClr val="000000"/>
                        </a:solidFill>
                        <a:effectLst/>
                        <a:latin typeface="Gotham"/>
                      </a:endParaRPr>
                    </a:p>
                  </a:txBody>
                  <a:tcPr marL="7620" marR="7620" marT="7620" marB="0" anchor="b"/>
                </a:tc>
                <a:extLst>
                  <a:ext uri="{0D108BD9-81ED-4DB2-BD59-A6C34878D82A}">
                    <a16:rowId xmlns:a16="http://schemas.microsoft.com/office/drawing/2014/main" val="2878861085"/>
                  </a:ext>
                </a:extLst>
              </a:tr>
              <a:tr h="188846">
                <a:tc>
                  <a:txBody>
                    <a:bodyPr/>
                    <a:lstStyle/>
                    <a:p>
                      <a:pPr algn="ctr" fontAlgn="b"/>
                      <a:r>
                        <a:rPr lang="en-IN" sz="1100" b="0" u="none" strike="noStrike" dirty="0">
                          <a:solidFill>
                            <a:srgbClr val="000000"/>
                          </a:solidFill>
                          <a:effectLst/>
                          <a:latin typeface="Gotham"/>
                        </a:rPr>
                        <a:t>LNG</a:t>
                      </a:r>
                      <a:endParaRPr lang="en-IN" sz="1100" b="0" i="0" u="none" strike="noStrike" dirty="0">
                        <a:solidFill>
                          <a:srgbClr val="000000"/>
                        </a:solidFill>
                        <a:effectLst/>
                        <a:latin typeface="Gotham"/>
                      </a:endParaRPr>
                    </a:p>
                  </a:txBody>
                  <a:tcPr marL="7620" marR="7620" marT="7620" marB="0" anchor="b"/>
                </a:tc>
                <a:tc>
                  <a:txBody>
                    <a:bodyPr/>
                    <a:lstStyle/>
                    <a:p>
                      <a:pPr algn="ctr" fontAlgn="b"/>
                      <a:r>
                        <a:rPr lang="en-IN" sz="1100" b="0" u="none" strike="noStrike">
                          <a:solidFill>
                            <a:srgbClr val="000000"/>
                          </a:solidFill>
                          <a:effectLst/>
                          <a:latin typeface="Gotham"/>
                        </a:rPr>
                        <a:t>25%</a:t>
                      </a:r>
                      <a:endParaRPr lang="en-IN" sz="1100" b="0" i="0" u="none" strike="noStrike">
                        <a:solidFill>
                          <a:srgbClr val="000000"/>
                        </a:solidFill>
                        <a:effectLst/>
                        <a:latin typeface="Gotham"/>
                      </a:endParaRPr>
                    </a:p>
                  </a:txBody>
                  <a:tcPr marL="7620" marR="7620" marT="7620" marB="0" anchor="b"/>
                </a:tc>
                <a:tc>
                  <a:txBody>
                    <a:bodyPr/>
                    <a:lstStyle/>
                    <a:p>
                      <a:pPr algn="ctr" fontAlgn="b"/>
                      <a:r>
                        <a:rPr lang="en-IN" sz="1100" b="0" u="none" strike="noStrike">
                          <a:solidFill>
                            <a:srgbClr val="000000"/>
                          </a:solidFill>
                          <a:effectLst/>
                          <a:latin typeface="Gotham"/>
                        </a:rPr>
                        <a:t>2</a:t>
                      </a:r>
                      <a:endParaRPr lang="en-IN" sz="1100" b="0" i="0" u="none" strike="noStrike">
                        <a:solidFill>
                          <a:srgbClr val="000000"/>
                        </a:solidFill>
                        <a:effectLst/>
                        <a:latin typeface="Gotham"/>
                      </a:endParaRPr>
                    </a:p>
                  </a:txBody>
                  <a:tcPr marL="7620" marR="7620" marT="7620" marB="0" anchor="b"/>
                </a:tc>
                <a:extLst>
                  <a:ext uri="{0D108BD9-81ED-4DB2-BD59-A6C34878D82A}">
                    <a16:rowId xmlns:a16="http://schemas.microsoft.com/office/drawing/2014/main" val="3031206253"/>
                  </a:ext>
                </a:extLst>
              </a:tr>
              <a:tr h="188846">
                <a:tc>
                  <a:txBody>
                    <a:bodyPr/>
                    <a:lstStyle/>
                    <a:p>
                      <a:pPr algn="ctr" fontAlgn="b"/>
                      <a:r>
                        <a:rPr lang="en-IN" sz="1100" b="0" u="none" strike="noStrike">
                          <a:solidFill>
                            <a:srgbClr val="000000"/>
                          </a:solidFill>
                          <a:effectLst/>
                          <a:latin typeface="Gotham"/>
                        </a:rPr>
                        <a:t>Hydrogen</a:t>
                      </a:r>
                      <a:endParaRPr lang="en-IN" sz="1100" b="0" i="0" u="none" strike="noStrike">
                        <a:solidFill>
                          <a:srgbClr val="000000"/>
                        </a:solidFill>
                        <a:effectLst/>
                        <a:latin typeface="Gotham"/>
                      </a:endParaRPr>
                    </a:p>
                  </a:txBody>
                  <a:tcPr marL="7620" marR="7620" marT="7620" marB="0" anchor="b"/>
                </a:tc>
                <a:tc>
                  <a:txBody>
                    <a:bodyPr/>
                    <a:lstStyle/>
                    <a:p>
                      <a:pPr algn="ctr" fontAlgn="b"/>
                      <a:r>
                        <a:rPr lang="en-IN" sz="1100" b="0" u="none" strike="noStrike">
                          <a:solidFill>
                            <a:srgbClr val="000000"/>
                          </a:solidFill>
                          <a:effectLst/>
                          <a:latin typeface="Gotham"/>
                        </a:rPr>
                        <a:t>33%-35%</a:t>
                      </a:r>
                      <a:endParaRPr lang="en-IN" sz="1100" b="0" i="0" u="none" strike="noStrike">
                        <a:solidFill>
                          <a:srgbClr val="000000"/>
                        </a:solidFill>
                        <a:effectLst/>
                        <a:latin typeface="Gotham"/>
                      </a:endParaRPr>
                    </a:p>
                  </a:txBody>
                  <a:tcPr marL="7620" marR="7620" marT="7620" marB="0" anchor="b"/>
                </a:tc>
                <a:tc>
                  <a:txBody>
                    <a:bodyPr/>
                    <a:lstStyle/>
                    <a:p>
                      <a:pPr algn="ctr" fontAlgn="b"/>
                      <a:r>
                        <a:rPr lang="en-IN" sz="1100" b="0" u="none" strike="noStrike">
                          <a:solidFill>
                            <a:srgbClr val="000000"/>
                          </a:solidFill>
                          <a:effectLst/>
                          <a:latin typeface="Gotham"/>
                        </a:rPr>
                        <a:t>2</a:t>
                      </a:r>
                      <a:endParaRPr lang="en-IN" sz="1100" b="0" i="0" u="none" strike="noStrike">
                        <a:solidFill>
                          <a:srgbClr val="000000"/>
                        </a:solidFill>
                        <a:effectLst/>
                        <a:latin typeface="Gotham"/>
                      </a:endParaRPr>
                    </a:p>
                  </a:txBody>
                  <a:tcPr marL="7620" marR="7620" marT="7620" marB="0" anchor="b"/>
                </a:tc>
                <a:extLst>
                  <a:ext uri="{0D108BD9-81ED-4DB2-BD59-A6C34878D82A}">
                    <a16:rowId xmlns:a16="http://schemas.microsoft.com/office/drawing/2014/main" val="238519614"/>
                  </a:ext>
                </a:extLst>
              </a:tr>
              <a:tr h="188846">
                <a:tc>
                  <a:txBody>
                    <a:bodyPr/>
                    <a:lstStyle/>
                    <a:p>
                      <a:pPr algn="ctr" fontAlgn="b"/>
                      <a:r>
                        <a:rPr lang="en-IN" sz="1100" b="0" u="none" strike="noStrike">
                          <a:solidFill>
                            <a:srgbClr val="000000"/>
                          </a:solidFill>
                          <a:effectLst/>
                          <a:latin typeface="Gotham"/>
                        </a:rPr>
                        <a:t>LPG</a:t>
                      </a:r>
                      <a:endParaRPr lang="en-IN" sz="1100" b="0" i="0" u="none" strike="noStrike">
                        <a:solidFill>
                          <a:srgbClr val="000000"/>
                        </a:solidFill>
                        <a:effectLst/>
                        <a:latin typeface="Gotham"/>
                      </a:endParaRPr>
                    </a:p>
                  </a:txBody>
                  <a:tcPr marL="7620" marR="7620" marT="7620" marB="0" anchor="b"/>
                </a:tc>
                <a:tc>
                  <a:txBody>
                    <a:bodyPr/>
                    <a:lstStyle/>
                    <a:p>
                      <a:pPr algn="ctr" fontAlgn="b"/>
                      <a:r>
                        <a:rPr lang="en-IN" sz="1100" b="0" u="none" strike="noStrike" dirty="0">
                          <a:solidFill>
                            <a:srgbClr val="000000"/>
                          </a:solidFill>
                          <a:effectLst/>
                          <a:latin typeface="Gotham"/>
                        </a:rPr>
                        <a:t>60%</a:t>
                      </a:r>
                      <a:endParaRPr lang="en-IN" sz="1100" b="0" i="0" u="none" strike="noStrike" dirty="0">
                        <a:solidFill>
                          <a:srgbClr val="000000"/>
                        </a:solidFill>
                        <a:effectLst/>
                        <a:latin typeface="Gotham"/>
                      </a:endParaRPr>
                    </a:p>
                  </a:txBody>
                  <a:tcPr marL="7620" marR="7620" marT="7620" marB="0" anchor="b"/>
                </a:tc>
                <a:tc>
                  <a:txBody>
                    <a:bodyPr/>
                    <a:lstStyle/>
                    <a:p>
                      <a:pPr algn="ctr" fontAlgn="b"/>
                      <a:r>
                        <a:rPr lang="en-IN" sz="1100" b="0" u="none" strike="noStrike">
                          <a:solidFill>
                            <a:srgbClr val="000000"/>
                          </a:solidFill>
                          <a:effectLst/>
                          <a:latin typeface="Gotham"/>
                        </a:rPr>
                        <a:t>4</a:t>
                      </a:r>
                      <a:endParaRPr lang="en-IN" sz="1100" b="0" i="0" u="none" strike="noStrike">
                        <a:solidFill>
                          <a:srgbClr val="000000"/>
                        </a:solidFill>
                        <a:effectLst/>
                        <a:latin typeface="Gotham"/>
                      </a:endParaRPr>
                    </a:p>
                  </a:txBody>
                  <a:tcPr marL="7620" marR="7620" marT="7620" marB="0" anchor="b"/>
                </a:tc>
                <a:extLst>
                  <a:ext uri="{0D108BD9-81ED-4DB2-BD59-A6C34878D82A}">
                    <a16:rowId xmlns:a16="http://schemas.microsoft.com/office/drawing/2014/main" val="1904065080"/>
                  </a:ext>
                </a:extLst>
              </a:tr>
              <a:tr h="188846">
                <a:tc>
                  <a:txBody>
                    <a:bodyPr/>
                    <a:lstStyle/>
                    <a:p>
                      <a:pPr algn="ctr" fontAlgn="b"/>
                      <a:r>
                        <a:rPr lang="en-IN" sz="1100" b="0" u="none" strike="noStrike" dirty="0">
                          <a:solidFill>
                            <a:srgbClr val="000000"/>
                          </a:solidFill>
                          <a:effectLst/>
                          <a:latin typeface="Gotham"/>
                        </a:rPr>
                        <a:t>EV</a:t>
                      </a:r>
                      <a:endParaRPr lang="en-IN" sz="1100" b="0" i="0" u="none" strike="noStrike" dirty="0">
                        <a:solidFill>
                          <a:srgbClr val="000000"/>
                        </a:solidFill>
                        <a:effectLst/>
                        <a:latin typeface="Gotham"/>
                      </a:endParaRPr>
                    </a:p>
                  </a:txBody>
                  <a:tcPr marL="7620" marR="7620" marT="7620" marB="0" anchor="b"/>
                </a:tc>
                <a:tc>
                  <a:txBody>
                    <a:bodyPr/>
                    <a:lstStyle/>
                    <a:p>
                      <a:pPr algn="ctr" fontAlgn="b"/>
                      <a:r>
                        <a:rPr lang="en-IN" sz="1100" b="0" u="none" strike="noStrike" dirty="0">
                          <a:solidFill>
                            <a:srgbClr val="000000"/>
                          </a:solidFill>
                          <a:effectLst/>
                          <a:latin typeface="Gotham"/>
                        </a:rPr>
                        <a:t>100%</a:t>
                      </a:r>
                      <a:endParaRPr lang="en-IN" sz="1100" b="0" i="0" u="none" strike="noStrike" dirty="0">
                        <a:solidFill>
                          <a:srgbClr val="000000"/>
                        </a:solidFill>
                        <a:effectLst/>
                        <a:latin typeface="Gotham"/>
                      </a:endParaRPr>
                    </a:p>
                  </a:txBody>
                  <a:tcPr marL="7620" marR="7620" marT="7620" marB="0" anchor="b"/>
                </a:tc>
                <a:tc>
                  <a:txBody>
                    <a:bodyPr/>
                    <a:lstStyle/>
                    <a:p>
                      <a:pPr algn="ctr" fontAlgn="b"/>
                      <a:r>
                        <a:rPr lang="en-IN" sz="1100" b="0" u="none" strike="noStrike" dirty="0">
                          <a:solidFill>
                            <a:srgbClr val="000000"/>
                          </a:solidFill>
                          <a:effectLst/>
                          <a:latin typeface="Gotham"/>
                        </a:rPr>
                        <a:t>5</a:t>
                      </a:r>
                      <a:endParaRPr lang="en-IN" sz="1100" b="0" i="0" u="none" strike="noStrike" dirty="0">
                        <a:solidFill>
                          <a:srgbClr val="000000"/>
                        </a:solidFill>
                        <a:effectLst/>
                        <a:latin typeface="Gotham"/>
                      </a:endParaRPr>
                    </a:p>
                  </a:txBody>
                  <a:tcPr marL="7620" marR="7620" marT="7620" marB="0" anchor="b"/>
                </a:tc>
                <a:extLst>
                  <a:ext uri="{0D108BD9-81ED-4DB2-BD59-A6C34878D82A}">
                    <a16:rowId xmlns:a16="http://schemas.microsoft.com/office/drawing/2014/main" val="738595657"/>
                  </a:ext>
                </a:extLst>
              </a:tr>
            </a:tbl>
          </a:graphicData>
        </a:graphic>
      </p:graphicFrame>
      <p:graphicFrame>
        <p:nvGraphicFramePr>
          <p:cNvPr id="15" name="Table 14">
            <a:extLst>
              <a:ext uri="{FF2B5EF4-FFF2-40B4-BE49-F238E27FC236}">
                <a16:creationId xmlns:a16="http://schemas.microsoft.com/office/drawing/2014/main" id="{45FEA0E1-37CC-3032-49D7-DBBBC67FCEED}"/>
              </a:ext>
            </a:extLst>
          </p:cNvPr>
          <p:cNvGraphicFramePr>
            <a:graphicFrameLocks noGrp="1"/>
          </p:cNvGraphicFramePr>
          <p:nvPr>
            <p:extLst>
              <p:ext uri="{D42A27DB-BD31-4B8C-83A1-F6EECF244321}">
                <p14:modId xmlns:p14="http://schemas.microsoft.com/office/powerpoint/2010/main" val="1882468001"/>
              </p:ext>
            </p:extLst>
          </p:nvPr>
        </p:nvGraphicFramePr>
        <p:xfrm>
          <a:off x="10403633" y="1324587"/>
          <a:ext cx="1660846" cy="889430"/>
        </p:xfrm>
        <a:graphic>
          <a:graphicData uri="http://schemas.openxmlformats.org/drawingml/2006/table">
            <a:tbl>
              <a:tblPr/>
              <a:tblGrid>
                <a:gridCol w="1007706">
                  <a:extLst>
                    <a:ext uri="{9D8B030D-6E8A-4147-A177-3AD203B41FA5}">
                      <a16:colId xmlns:a16="http://schemas.microsoft.com/office/drawing/2014/main" val="680650186"/>
                    </a:ext>
                  </a:extLst>
                </a:gridCol>
                <a:gridCol w="653140">
                  <a:extLst>
                    <a:ext uri="{9D8B030D-6E8A-4147-A177-3AD203B41FA5}">
                      <a16:colId xmlns:a16="http://schemas.microsoft.com/office/drawing/2014/main" val="2267530922"/>
                    </a:ext>
                  </a:extLst>
                </a:gridCol>
              </a:tblGrid>
              <a:tr h="177886">
                <a:tc>
                  <a:txBody>
                    <a:bodyPr/>
                    <a:lstStyle/>
                    <a:p>
                      <a:pPr algn="l" fontAlgn="b"/>
                      <a:r>
                        <a:rPr lang="en-IN" sz="1100" b="1" i="0" u="none" strike="noStrike" dirty="0">
                          <a:solidFill>
                            <a:srgbClr val="000000"/>
                          </a:solidFill>
                          <a:effectLst/>
                          <a:latin typeface="Calibri" panose="020F0502020204030204" pitchFamily="34" charset="0"/>
                        </a:rPr>
                        <a:t>Timeline:</a:t>
                      </a:r>
                    </a:p>
                  </a:txBody>
                  <a:tcPr marL="7620" marR="7620" marT="7620" marB="0" anchor="b">
                    <a:lnL>
                      <a:noFill/>
                    </a:lnL>
                    <a:lnR>
                      <a:noFill/>
                    </a:lnR>
                    <a:lnT>
                      <a:noFill/>
                    </a:lnT>
                    <a:lnB>
                      <a:noFill/>
                    </a:lnB>
                  </a:tcPr>
                </a:tc>
                <a:tc>
                  <a:txBody>
                    <a:bodyPr/>
                    <a:lstStyle/>
                    <a:p>
                      <a:pPr algn="l" fontAlgn="b"/>
                      <a:endParaRPr lang="en-IN"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tcPr>
                </a:tc>
                <a:extLst>
                  <a:ext uri="{0D108BD9-81ED-4DB2-BD59-A6C34878D82A}">
                    <a16:rowId xmlns:a16="http://schemas.microsoft.com/office/drawing/2014/main" val="2089990339"/>
                  </a:ext>
                </a:extLst>
              </a:tr>
              <a:tr h="177886">
                <a:tc>
                  <a:txBody>
                    <a:bodyPr/>
                    <a:lstStyle/>
                    <a:p>
                      <a:pPr algn="l" fontAlgn="b"/>
                      <a:r>
                        <a:rPr lang="en-IN" sz="1100" b="0" i="0" u="none" strike="noStrike">
                          <a:solidFill>
                            <a:srgbClr val="000000"/>
                          </a:solidFill>
                          <a:effectLst/>
                          <a:latin typeface="Calibri" panose="020F0502020204030204" pitchFamily="34" charset="0"/>
                        </a:rPr>
                        <a:t>&lt;1 yr</a:t>
                      </a:r>
                    </a:p>
                  </a:txBody>
                  <a:tcPr marL="7620" marR="7620" marT="7620" marB="0" anchor="b">
                    <a:lnL>
                      <a:noFill/>
                    </a:lnL>
                    <a:lnR>
                      <a:noFill/>
                    </a:lnR>
                    <a:lnT>
                      <a:noFill/>
                    </a:lnT>
                    <a:lnB>
                      <a:noFill/>
                    </a:lnB>
                  </a:tcPr>
                </a:tc>
                <a:tc>
                  <a:txBody>
                    <a:bodyPr/>
                    <a:lstStyle/>
                    <a:p>
                      <a:pPr algn="l" fontAlgn="b"/>
                      <a:r>
                        <a:rPr lang="en-IN" sz="1100" b="0" i="0" u="none" strike="noStrike" dirty="0">
                          <a:solidFill>
                            <a:srgbClr val="000000"/>
                          </a:solidFill>
                          <a:effectLst/>
                          <a:latin typeface="Calibri" panose="020F0502020204030204" pitchFamily="34" charset="0"/>
                        </a:rPr>
                        <a:t> </a:t>
                      </a:r>
                    </a:p>
                  </a:txBody>
                  <a:tcPr marL="7620" marR="7620" marT="7620" marB="0" anchor="b">
                    <a:lnL>
                      <a:noFill/>
                    </a:lnL>
                    <a:lnR>
                      <a:noFill/>
                    </a:lnR>
                    <a:lnT>
                      <a:noFill/>
                    </a:lnT>
                    <a:lnB>
                      <a:noFill/>
                    </a:lnB>
                    <a:solidFill>
                      <a:srgbClr val="00B050"/>
                    </a:solidFill>
                  </a:tcPr>
                </a:tc>
                <a:extLst>
                  <a:ext uri="{0D108BD9-81ED-4DB2-BD59-A6C34878D82A}">
                    <a16:rowId xmlns:a16="http://schemas.microsoft.com/office/drawing/2014/main" val="1966420259"/>
                  </a:ext>
                </a:extLst>
              </a:tr>
              <a:tr h="177886">
                <a:tc>
                  <a:txBody>
                    <a:bodyPr/>
                    <a:lstStyle/>
                    <a:p>
                      <a:pPr algn="l" fontAlgn="b"/>
                      <a:r>
                        <a:rPr lang="en-IN" sz="1100" b="0" i="0" u="none" strike="noStrike">
                          <a:solidFill>
                            <a:srgbClr val="000000"/>
                          </a:solidFill>
                          <a:effectLst/>
                          <a:latin typeface="Calibri" panose="020F0502020204030204" pitchFamily="34" charset="0"/>
                        </a:rPr>
                        <a:t>1-2 yr</a:t>
                      </a:r>
                    </a:p>
                  </a:txBody>
                  <a:tcPr marL="7620" marR="7620" marT="7620"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 </a:t>
                      </a:r>
                    </a:p>
                  </a:txBody>
                  <a:tcPr marL="7620" marR="7620" marT="7620" marB="0" anchor="b">
                    <a:lnL>
                      <a:noFill/>
                    </a:lnL>
                    <a:lnR>
                      <a:noFill/>
                    </a:lnR>
                    <a:lnT>
                      <a:noFill/>
                    </a:lnT>
                    <a:lnB>
                      <a:noFill/>
                    </a:lnB>
                    <a:solidFill>
                      <a:srgbClr val="FFC000"/>
                    </a:solidFill>
                  </a:tcPr>
                </a:tc>
                <a:extLst>
                  <a:ext uri="{0D108BD9-81ED-4DB2-BD59-A6C34878D82A}">
                    <a16:rowId xmlns:a16="http://schemas.microsoft.com/office/drawing/2014/main" val="1684754970"/>
                  </a:ext>
                </a:extLst>
              </a:tr>
              <a:tr h="177886">
                <a:tc>
                  <a:txBody>
                    <a:bodyPr/>
                    <a:lstStyle/>
                    <a:p>
                      <a:pPr algn="l" fontAlgn="b"/>
                      <a:r>
                        <a:rPr lang="en-IN" sz="1100" b="0" i="0" u="none" strike="noStrike">
                          <a:solidFill>
                            <a:srgbClr val="000000"/>
                          </a:solidFill>
                          <a:effectLst/>
                          <a:latin typeface="Calibri" panose="020F0502020204030204" pitchFamily="34" charset="0"/>
                        </a:rPr>
                        <a:t>&gt;2 yr</a:t>
                      </a:r>
                    </a:p>
                  </a:txBody>
                  <a:tcPr marL="7620" marR="7620" marT="7620"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 </a:t>
                      </a:r>
                    </a:p>
                  </a:txBody>
                  <a:tcPr marL="7620" marR="7620" marT="7620" marB="0" anchor="b">
                    <a:lnL>
                      <a:noFill/>
                    </a:lnL>
                    <a:lnR>
                      <a:noFill/>
                    </a:lnR>
                    <a:lnT>
                      <a:noFill/>
                    </a:lnT>
                    <a:lnB>
                      <a:noFill/>
                    </a:lnB>
                    <a:solidFill>
                      <a:srgbClr val="0070C0"/>
                    </a:solidFill>
                  </a:tcPr>
                </a:tc>
                <a:extLst>
                  <a:ext uri="{0D108BD9-81ED-4DB2-BD59-A6C34878D82A}">
                    <a16:rowId xmlns:a16="http://schemas.microsoft.com/office/drawing/2014/main" val="942795152"/>
                  </a:ext>
                </a:extLst>
              </a:tr>
              <a:tr h="177886">
                <a:tc>
                  <a:txBody>
                    <a:bodyPr/>
                    <a:lstStyle/>
                    <a:p>
                      <a:pPr algn="l" fontAlgn="b"/>
                      <a:r>
                        <a:rPr lang="en-IN" sz="1100" b="0" i="0" u="none" strike="noStrike" dirty="0">
                          <a:solidFill>
                            <a:srgbClr val="000000"/>
                          </a:solidFill>
                          <a:effectLst/>
                          <a:latin typeface="Calibri" panose="020F0502020204030204" pitchFamily="34" charset="0"/>
                        </a:rPr>
                        <a:t>&gt;5 yr</a:t>
                      </a:r>
                    </a:p>
                  </a:txBody>
                  <a:tcPr marL="7620" marR="7620" marT="7620" marB="0" anchor="b">
                    <a:lnL>
                      <a:noFill/>
                    </a:lnL>
                    <a:lnR>
                      <a:noFill/>
                    </a:lnR>
                    <a:lnT>
                      <a:noFill/>
                    </a:lnT>
                    <a:lnB>
                      <a:noFill/>
                    </a:lnB>
                  </a:tcPr>
                </a:tc>
                <a:tc>
                  <a:txBody>
                    <a:bodyPr/>
                    <a:lstStyle/>
                    <a:p>
                      <a:pPr algn="l" fontAlgn="b"/>
                      <a:r>
                        <a:rPr lang="en-IN" sz="1100" b="0" i="0" u="none" strike="noStrike" dirty="0">
                          <a:solidFill>
                            <a:srgbClr val="000000"/>
                          </a:solidFill>
                          <a:effectLst/>
                          <a:latin typeface="Calibri" panose="020F0502020204030204" pitchFamily="34" charset="0"/>
                        </a:rPr>
                        <a:t> </a:t>
                      </a:r>
                    </a:p>
                  </a:txBody>
                  <a:tcPr marL="7620" marR="7620" marT="7620" marB="0" anchor="b">
                    <a:lnL>
                      <a:noFill/>
                    </a:lnL>
                    <a:lnR>
                      <a:noFill/>
                    </a:lnR>
                    <a:lnT>
                      <a:noFill/>
                    </a:lnT>
                    <a:lnB>
                      <a:noFill/>
                    </a:lnB>
                    <a:solidFill>
                      <a:srgbClr val="F40009"/>
                    </a:solidFill>
                  </a:tcPr>
                </a:tc>
                <a:extLst>
                  <a:ext uri="{0D108BD9-81ED-4DB2-BD59-A6C34878D82A}">
                    <a16:rowId xmlns:a16="http://schemas.microsoft.com/office/drawing/2014/main" val="1195281392"/>
                  </a:ext>
                </a:extLst>
              </a:tr>
            </a:tbl>
          </a:graphicData>
        </a:graphic>
      </p:graphicFrame>
      <p:graphicFrame>
        <p:nvGraphicFramePr>
          <p:cNvPr id="17" name="Table 16">
            <a:extLst>
              <a:ext uri="{FF2B5EF4-FFF2-40B4-BE49-F238E27FC236}">
                <a16:creationId xmlns:a16="http://schemas.microsoft.com/office/drawing/2014/main" id="{E013971D-AA9F-C793-14E5-60548B0356F0}"/>
              </a:ext>
            </a:extLst>
          </p:cNvPr>
          <p:cNvGraphicFramePr>
            <a:graphicFrameLocks noGrp="1"/>
          </p:cNvGraphicFramePr>
          <p:nvPr>
            <p:extLst>
              <p:ext uri="{D42A27DB-BD31-4B8C-83A1-F6EECF244321}">
                <p14:modId xmlns:p14="http://schemas.microsoft.com/office/powerpoint/2010/main" val="2239985735"/>
              </p:ext>
            </p:extLst>
          </p:nvPr>
        </p:nvGraphicFramePr>
        <p:xfrm>
          <a:off x="10403633" y="715763"/>
          <a:ext cx="1660846" cy="571500"/>
        </p:xfrm>
        <a:graphic>
          <a:graphicData uri="http://schemas.openxmlformats.org/drawingml/2006/table">
            <a:tbl>
              <a:tblPr/>
              <a:tblGrid>
                <a:gridCol w="830423">
                  <a:extLst>
                    <a:ext uri="{9D8B030D-6E8A-4147-A177-3AD203B41FA5}">
                      <a16:colId xmlns:a16="http://schemas.microsoft.com/office/drawing/2014/main" val="4218120723"/>
                    </a:ext>
                  </a:extLst>
                </a:gridCol>
                <a:gridCol w="830423">
                  <a:extLst>
                    <a:ext uri="{9D8B030D-6E8A-4147-A177-3AD203B41FA5}">
                      <a16:colId xmlns:a16="http://schemas.microsoft.com/office/drawing/2014/main" val="402712913"/>
                    </a:ext>
                  </a:extLst>
                </a:gridCol>
              </a:tblGrid>
              <a:tr h="173081">
                <a:tc gridSpan="2">
                  <a:txBody>
                    <a:bodyPr/>
                    <a:lstStyle/>
                    <a:p>
                      <a:pPr algn="l" fontAlgn="b"/>
                      <a:endParaRPr lang="en-IN" sz="1200" b="0" i="0" u="none" strike="noStrike" dirty="0">
                        <a:solidFill>
                          <a:srgbClr val="000000"/>
                        </a:solidFill>
                        <a:effectLst/>
                        <a:latin typeface="Gotham"/>
                      </a:endParaRPr>
                    </a:p>
                  </a:txBody>
                  <a:tcPr marL="7620" marR="7620" marT="7620" marB="0" anchor="b">
                    <a:lnL>
                      <a:noFill/>
                    </a:lnL>
                    <a:lnR>
                      <a:noFill/>
                    </a:lnR>
                    <a:lnT>
                      <a:noFill/>
                    </a:lnT>
                    <a:lnB>
                      <a:noFill/>
                    </a:lnB>
                  </a:tcPr>
                </a:tc>
                <a:tc hMerge="1">
                  <a:txBody>
                    <a:bodyPr/>
                    <a:lstStyle/>
                    <a:p>
                      <a:endParaRPr lang="en-IN"/>
                    </a:p>
                  </a:txBody>
                  <a:tcPr/>
                </a:tc>
                <a:extLst>
                  <a:ext uri="{0D108BD9-81ED-4DB2-BD59-A6C34878D82A}">
                    <a16:rowId xmlns:a16="http://schemas.microsoft.com/office/drawing/2014/main" val="1261436323"/>
                  </a:ext>
                </a:extLst>
              </a:tr>
              <a:tr h="173081">
                <a:tc>
                  <a:txBody>
                    <a:bodyPr/>
                    <a:lstStyle/>
                    <a:p>
                      <a:pPr algn="l" fontAlgn="b"/>
                      <a:r>
                        <a:rPr lang="en-IN" sz="1200" b="0" i="0" u="none" strike="noStrike" dirty="0">
                          <a:solidFill>
                            <a:srgbClr val="000000"/>
                          </a:solidFill>
                          <a:effectLst/>
                          <a:latin typeface="Gotham"/>
                        </a:rPr>
                        <a:t>Yes</a:t>
                      </a:r>
                    </a:p>
                  </a:txBody>
                  <a:tcPr marL="7620" marR="7620" marT="7620" marB="0" anchor="b">
                    <a:lnL>
                      <a:noFill/>
                    </a:lnL>
                    <a:lnR>
                      <a:noFill/>
                    </a:lnR>
                    <a:lnT>
                      <a:noFill/>
                    </a:lnT>
                    <a:lnB>
                      <a:noFill/>
                    </a:lnB>
                  </a:tcPr>
                </a:tc>
                <a:tc>
                  <a:txBody>
                    <a:bodyPr/>
                    <a:lstStyle/>
                    <a:p>
                      <a:pPr algn="l" fontAlgn="b"/>
                      <a:r>
                        <a:rPr lang="en-IN" sz="1200" b="0" i="0" u="none" strike="noStrike" dirty="0">
                          <a:solidFill>
                            <a:srgbClr val="000000"/>
                          </a:solidFill>
                          <a:effectLst/>
                          <a:latin typeface="Gotham"/>
                        </a:rPr>
                        <a:t> </a:t>
                      </a:r>
                    </a:p>
                  </a:txBody>
                  <a:tcPr marL="7620" marR="7620" marT="7620" marB="0" anchor="b">
                    <a:lnL>
                      <a:noFill/>
                    </a:lnL>
                    <a:lnR>
                      <a:noFill/>
                    </a:lnR>
                    <a:lnT>
                      <a:noFill/>
                    </a:lnT>
                    <a:lnB>
                      <a:noFill/>
                    </a:lnB>
                    <a:solidFill>
                      <a:srgbClr val="00B050"/>
                    </a:solidFill>
                  </a:tcPr>
                </a:tc>
                <a:extLst>
                  <a:ext uri="{0D108BD9-81ED-4DB2-BD59-A6C34878D82A}">
                    <a16:rowId xmlns:a16="http://schemas.microsoft.com/office/drawing/2014/main" val="3720517119"/>
                  </a:ext>
                </a:extLst>
              </a:tr>
              <a:tr h="173081">
                <a:tc>
                  <a:txBody>
                    <a:bodyPr/>
                    <a:lstStyle/>
                    <a:p>
                      <a:pPr algn="l" fontAlgn="b"/>
                      <a:r>
                        <a:rPr lang="en-IN" sz="1200" b="0" i="0" u="none" strike="noStrike">
                          <a:solidFill>
                            <a:srgbClr val="000000"/>
                          </a:solidFill>
                          <a:effectLst/>
                          <a:latin typeface="Gotham"/>
                        </a:rPr>
                        <a:t>No</a:t>
                      </a:r>
                    </a:p>
                  </a:txBody>
                  <a:tcPr marL="7620" marR="7620" marT="7620" marB="0" anchor="b">
                    <a:lnL>
                      <a:noFill/>
                    </a:lnL>
                    <a:lnR>
                      <a:noFill/>
                    </a:lnR>
                    <a:lnT>
                      <a:noFill/>
                    </a:lnT>
                    <a:lnB>
                      <a:noFill/>
                    </a:lnB>
                  </a:tcPr>
                </a:tc>
                <a:tc>
                  <a:txBody>
                    <a:bodyPr/>
                    <a:lstStyle/>
                    <a:p>
                      <a:pPr algn="l" fontAlgn="b"/>
                      <a:r>
                        <a:rPr lang="en-IN" sz="1200" b="0" i="0" u="none" strike="noStrike" dirty="0">
                          <a:solidFill>
                            <a:srgbClr val="000000"/>
                          </a:solidFill>
                          <a:effectLst/>
                          <a:latin typeface="Gotham"/>
                        </a:rPr>
                        <a:t> </a:t>
                      </a:r>
                    </a:p>
                  </a:txBody>
                  <a:tcPr marL="7620" marR="7620" marT="7620" marB="0" anchor="b">
                    <a:lnL>
                      <a:noFill/>
                    </a:lnL>
                    <a:lnR>
                      <a:noFill/>
                    </a:lnR>
                    <a:lnT>
                      <a:noFill/>
                    </a:lnT>
                    <a:lnB>
                      <a:noFill/>
                    </a:lnB>
                    <a:solidFill>
                      <a:srgbClr val="F40009"/>
                    </a:solidFill>
                  </a:tcPr>
                </a:tc>
                <a:extLst>
                  <a:ext uri="{0D108BD9-81ED-4DB2-BD59-A6C34878D82A}">
                    <a16:rowId xmlns:a16="http://schemas.microsoft.com/office/drawing/2014/main" val="3422516523"/>
                  </a:ext>
                </a:extLst>
              </a:tr>
            </a:tbl>
          </a:graphicData>
        </a:graphic>
      </p:graphicFrame>
      <p:sp>
        <p:nvSpPr>
          <p:cNvPr id="19" name="TextBox 18">
            <a:extLst>
              <a:ext uri="{FF2B5EF4-FFF2-40B4-BE49-F238E27FC236}">
                <a16:creationId xmlns:a16="http://schemas.microsoft.com/office/drawing/2014/main" id="{3BB1AD86-01EF-E24A-6C72-7D4B6F5B547A}"/>
              </a:ext>
            </a:extLst>
          </p:cNvPr>
          <p:cNvSpPr txBox="1"/>
          <p:nvPr/>
        </p:nvSpPr>
        <p:spPr>
          <a:xfrm>
            <a:off x="10326266" y="480592"/>
            <a:ext cx="1987418" cy="461665"/>
          </a:xfrm>
          <a:prstGeom prst="rect">
            <a:avLst/>
          </a:prstGeom>
          <a:noFill/>
        </p:spPr>
        <p:txBody>
          <a:bodyPr wrap="square" rtlCol="0">
            <a:spAutoFit/>
          </a:bodyPr>
          <a:lstStyle/>
          <a:p>
            <a:r>
              <a:rPr lang="en-IN" sz="1200" b="1" dirty="0">
                <a:latin typeface="Gotham"/>
              </a:rPr>
              <a:t>Vehicle compatibility/Availability:</a:t>
            </a:r>
          </a:p>
        </p:txBody>
      </p:sp>
      <p:graphicFrame>
        <p:nvGraphicFramePr>
          <p:cNvPr id="25" name="Table 24">
            <a:extLst>
              <a:ext uri="{FF2B5EF4-FFF2-40B4-BE49-F238E27FC236}">
                <a16:creationId xmlns:a16="http://schemas.microsoft.com/office/drawing/2014/main" id="{C1375CB9-2A72-25B2-6407-E02D87B62BCE}"/>
              </a:ext>
            </a:extLst>
          </p:cNvPr>
          <p:cNvGraphicFramePr>
            <a:graphicFrameLocks noGrp="1"/>
          </p:cNvGraphicFramePr>
          <p:nvPr>
            <p:extLst>
              <p:ext uri="{D42A27DB-BD31-4B8C-83A1-F6EECF244321}">
                <p14:modId xmlns:p14="http://schemas.microsoft.com/office/powerpoint/2010/main" val="3079630925"/>
              </p:ext>
            </p:extLst>
          </p:nvPr>
        </p:nvGraphicFramePr>
        <p:xfrm>
          <a:off x="115462" y="2771171"/>
          <a:ext cx="7895314" cy="439002"/>
        </p:xfrm>
        <a:graphic>
          <a:graphicData uri="http://schemas.openxmlformats.org/drawingml/2006/table">
            <a:tbl>
              <a:tblPr/>
              <a:tblGrid>
                <a:gridCol w="1139952">
                  <a:extLst>
                    <a:ext uri="{9D8B030D-6E8A-4147-A177-3AD203B41FA5}">
                      <a16:colId xmlns:a16="http://schemas.microsoft.com/office/drawing/2014/main" val="2473120839"/>
                    </a:ext>
                  </a:extLst>
                </a:gridCol>
                <a:gridCol w="1133814">
                  <a:extLst>
                    <a:ext uri="{9D8B030D-6E8A-4147-A177-3AD203B41FA5}">
                      <a16:colId xmlns:a16="http://schemas.microsoft.com/office/drawing/2014/main" val="812664874"/>
                    </a:ext>
                  </a:extLst>
                </a:gridCol>
                <a:gridCol w="862053">
                  <a:extLst>
                    <a:ext uri="{9D8B030D-6E8A-4147-A177-3AD203B41FA5}">
                      <a16:colId xmlns:a16="http://schemas.microsoft.com/office/drawing/2014/main" val="2898755767"/>
                    </a:ext>
                  </a:extLst>
                </a:gridCol>
                <a:gridCol w="910618">
                  <a:extLst>
                    <a:ext uri="{9D8B030D-6E8A-4147-A177-3AD203B41FA5}">
                      <a16:colId xmlns:a16="http://schemas.microsoft.com/office/drawing/2014/main" val="585461198"/>
                    </a:ext>
                  </a:extLst>
                </a:gridCol>
                <a:gridCol w="1104883">
                  <a:extLst>
                    <a:ext uri="{9D8B030D-6E8A-4147-A177-3AD203B41FA5}">
                      <a16:colId xmlns:a16="http://schemas.microsoft.com/office/drawing/2014/main" val="1542828467"/>
                    </a:ext>
                  </a:extLst>
                </a:gridCol>
                <a:gridCol w="770552">
                  <a:extLst>
                    <a:ext uri="{9D8B030D-6E8A-4147-A177-3AD203B41FA5}">
                      <a16:colId xmlns:a16="http://schemas.microsoft.com/office/drawing/2014/main" val="4292126641"/>
                    </a:ext>
                  </a:extLst>
                </a:gridCol>
                <a:gridCol w="807852">
                  <a:extLst>
                    <a:ext uri="{9D8B030D-6E8A-4147-A177-3AD203B41FA5}">
                      <a16:colId xmlns:a16="http://schemas.microsoft.com/office/drawing/2014/main" val="580707723"/>
                    </a:ext>
                  </a:extLst>
                </a:gridCol>
                <a:gridCol w="582795">
                  <a:extLst>
                    <a:ext uri="{9D8B030D-6E8A-4147-A177-3AD203B41FA5}">
                      <a16:colId xmlns:a16="http://schemas.microsoft.com/office/drawing/2014/main" val="1008688007"/>
                    </a:ext>
                  </a:extLst>
                </a:gridCol>
                <a:gridCol w="582795">
                  <a:extLst>
                    <a:ext uri="{9D8B030D-6E8A-4147-A177-3AD203B41FA5}">
                      <a16:colId xmlns:a16="http://schemas.microsoft.com/office/drawing/2014/main" val="1707059197"/>
                    </a:ext>
                  </a:extLst>
                </a:gridCol>
              </a:tblGrid>
              <a:tr h="219501">
                <a:tc>
                  <a:txBody>
                    <a:bodyPr/>
                    <a:lstStyle/>
                    <a:p>
                      <a:pPr algn="ctr" fontAlgn="b"/>
                      <a:r>
                        <a:rPr lang="en-IN" sz="1200" b="1" i="0" u="none" strike="noStrike" dirty="0">
                          <a:solidFill>
                            <a:srgbClr val="000000"/>
                          </a:solidFill>
                          <a:effectLst/>
                          <a:latin typeface="Gotham"/>
                        </a:rPr>
                        <a:t>Fuel</a:t>
                      </a:r>
                    </a:p>
                  </a:txBody>
                  <a:tcPr marL="7620" marR="7620" marT="7620"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200" b="0" i="0" u="none" strike="noStrike">
                          <a:solidFill>
                            <a:srgbClr val="000000"/>
                          </a:solidFill>
                          <a:effectLst/>
                          <a:latin typeface="Gotham"/>
                        </a:rPr>
                        <a:t>Ethanol blending</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200" b="0" i="0" u="none" strike="noStrike">
                          <a:solidFill>
                            <a:srgbClr val="000000"/>
                          </a:solidFill>
                          <a:effectLst/>
                          <a:latin typeface="Gotham"/>
                        </a:rPr>
                        <a:t>Biodiesel</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200" b="0" i="0" u="none" strike="noStrike">
                          <a:solidFill>
                            <a:srgbClr val="000000"/>
                          </a:solidFill>
                          <a:effectLst/>
                          <a:latin typeface="Gotham"/>
                        </a:rPr>
                        <a:t>Methanol</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200" b="0" i="0" u="none" strike="noStrike">
                          <a:solidFill>
                            <a:srgbClr val="000000"/>
                          </a:solidFill>
                          <a:effectLst/>
                          <a:latin typeface="Gotham"/>
                        </a:rPr>
                        <a:t>CNG</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200" b="0" i="0" u="none" strike="noStrike">
                          <a:solidFill>
                            <a:srgbClr val="000000"/>
                          </a:solidFill>
                          <a:effectLst/>
                          <a:latin typeface="Gotham"/>
                        </a:rPr>
                        <a:t>LNG</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200" b="0" i="0" u="none" strike="noStrike">
                          <a:solidFill>
                            <a:srgbClr val="000000"/>
                          </a:solidFill>
                          <a:effectLst/>
                          <a:latin typeface="Gotham"/>
                        </a:rPr>
                        <a:t>Hydrogen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200" b="0" i="0" u="none" strike="noStrike">
                          <a:solidFill>
                            <a:srgbClr val="000000"/>
                          </a:solidFill>
                          <a:effectLst/>
                          <a:latin typeface="Gotham"/>
                        </a:rPr>
                        <a:t>LPG</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200" b="0" i="0" u="none" strike="noStrike">
                          <a:solidFill>
                            <a:srgbClr val="000000"/>
                          </a:solidFill>
                          <a:effectLst/>
                          <a:latin typeface="Gotham"/>
                        </a:rPr>
                        <a:t>EV</a:t>
                      </a:r>
                    </a:p>
                  </a:txBody>
                  <a:tcPr marL="7620" marR="7620" marT="7620"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95417259"/>
                  </a:ext>
                </a:extLst>
              </a:tr>
              <a:tr h="219501">
                <a:tc>
                  <a:txBody>
                    <a:bodyPr/>
                    <a:lstStyle/>
                    <a:p>
                      <a:pPr algn="ctr" fontAlgn="b"/>
                      <a:r>
                        <a:rPr lang="en-IN" sz="1200" b="1" i="0" u="none" strike="noStrike">
                          <a:solidFill>
                            <a:srgbClr val="000000"/>
                          </a:solidFill>
                          <a:effectLst/>
                          <a:latin typeface="Gotham"/>
                        </a:rPr>
                        <a:t>Aggregated score</a:t>
                      </a:r>
                    </a:p>
                  </a:txBody>
                  <a:tcPr marL="7620" marR="7620" marT="7620"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200" b="0" i="0" u="none" strike="noStrike">
                          <a:solidFill>
                            <a:srgbClr val="000000"/>
                          </a:solidFill>
                          <a:effectLst/>
                          <a:latin typeface="Gotham"/>
                        </a:rPr>
                        <a:t>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200" b="0" i="0" u="none" strike="noStrike">
                          <a:solidFill>
                            <a:srgbClr val="000000"/>
                          </a:solidFill>
                          <a:effectLst/>
                          <a:latin typeface="Gotham"/>
                        </a:rPr>
                        <a:t>3.75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200" b="0" i="0" u="none" strike="noStrike">
                          <a:solidFill>
                            <a:srgbClr val="000000"/>
                          </a:solidFill>
                          <a:effectLst/>
                          <a:latin typeface="Gotham"/>
                        </a:rPr>
                        <a:t>2.25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200" b="0" i="0" u="none" strike="noStrike">
                          <a:solidFill>
                            <a:srgbClr val="000000"/>
                          </a:solidFill>
                          <a:effectLst/>
                          <a:latin typeface="Gotham"/>
                        </a:rPr>
                        <a:t>2.75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200" b="0" i="0" u="none" strike="noStrike">
                          <a:solidFill>
                            <a:srgbClr val="000000"/>
                          </a:solidFill>
                          <a:effectLst/>
                          <a:latin typeface="Gotham"/>
                        </a:rPr>
                        <a:t>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200" b="0" i="0" u="none" strike="noStrike" dirty="0">
                          <a:solidFill>
                            <a:srgbClr val="000000"/>
                          </a:solidFill>
                          <a:effectLst/>
                          <a:latin typeface="Gotham"/>
                        </a:rPr>
                        <a:t>2.25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200" b="0" i="0" u="none" strike="noStrike">
                          <a:solidFill>
                            <a:srgbClr val="000000"/>
                          </a:solidFill>
                          <a:effectLst/>
                          <a:latin typeface="Gotham"/>
                        </a:rPr>
                        <a:t>1.75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200" b="0" i="0" u="none" strike="noStrike" dirty="0">
                          <a:solidFill>
                            <a:srgbClr val="000000"/>
                          </a:solidFill>
                          <a:effectLst/>
                          <a:latin typeface="Gotham"/>
                        </a:rPr>
                        <a:t>4</a:t>
                      </a:r>
                    </a:p>
                  </a:txBody>
                  <a:tcPr marL="7620" marR="7620" marT="7620"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95203121"/>
                  </a:ext>
                </a:extLst>
              </a:tr>
            </a:tbl>
          </a:graphicData>
        </a:graphic>
      </p:graphicFrame>
      <p:sp>
        <p:nvSpPr>
          <p:cNvPr id="26" name="TextBox 25">
            <a:extLst>
              <a:ext uri="{FF2B5EF4-FFF2-40B4-BE49-F238E27FC236}">
                <a16:creationId xmlns:a16="http://schemas.microsoft.com/office/drawing/2014/main" id="{90916D1A-78A4-781C-F899-7309F22D1596}"/>
              </a:ext>
            </a:extLst>
          </p:cNvPr>
          <p:cNvSpPr txBox="1"/>
          <p:nvPr/>
        </p:nvSpPr>
        <p:spPr>
          <a:xfrm>
            <a:off x="8431771" y="2603581"/>
            <a:ext cx="3657597" cy="646331"/>
          </a:xfrm>
          <a:prstGeom prst="rect">
            <a:avLst/>
          </a:prstGeom>
          <a:noFill/>
          <a:ln w="19050">
            <a:solidFill>
              <a:srgbClr val="92D050"/>
            </a:solidFill>
          </a:ln>
        </p:spPr>
        <p:txBody>
          <a:bodyPr wrap="square" rtlCol="0">
            <a:spAutoFit/>
          </a:bodyPr>
          <a:lstStyle/>
          <a:p>
            <a:r>
              <a:rPr lang="en-IN" sz="1200" dirty="0">
                <a:latin typeface="Gotham"/>
              </a:rPr>
              <a:t>Based on the aggregated scores, EV or biodiesel will be the most favoured alternative option, followed by Ethanol blended diesel. </a:t>
            </a:r>
          </a:p>
        </p:txBody>
      </p:sp>
      <p:graphicFrame>
        <p:nvGraphicFramePr>
          <p:cNvPr id="28" name="Table 27">
            <a:extLst>
              <a:ext uri="{FF2B5EF4-FFF2-40B4-BE49-F238E27FC236}">
                <a16:creationId xmlns:a16="http://schemas.microsoft.com/office/drawing/2014/main" id="{4E3A5C03-73A5-BADB-18B3-E6F1EA753E38}"/>
              </a:ext>
            </a:extLst>
          </p:cNvPr>
          <p:cNvGraphicFramePr>
            <a:graphicFrameLocks noGrp="1"/>
          </p:cNvGraphicFramePr>
          <p:nvPr>
            <p:extLst>
              <p:ext uri="{D42A27DB-BD31-4B8C-83A1-F6EECF244321}">
                <p14:modId xmlns:p14="http://schemas.microsoft.com/office/powerpoint/2010/main" val="562343462"/>
              </p:ext>
            </p:extLst>
          </p:nvPr>
        </p:nvGraphicFramePr>
        <p:xfrm>
          <a:off x="4523847" y="589655"/>
          <a:ext cx="5639389" cy="1984816"/>
        </p:xfrm>
        <a:graphic>
          <a:graphicData uri="http://schemas.openxmlformats.org/drawingml/2006/table">
            <a:tbl>
              <a:tblPr firstRow="1" bandRow="1">
                <a:tableStyleId>{93296810-A885-4BE3-A3E7-6D5BEEA58F35}</a:tableStyleId>
              </a:tblPr>
              <a:tblGrid>
                <a:gridCol w="1216678">
                  <a:extLst>
                    <a:ext uri="{9D8B030D-6E8A-4147-A177-3AD203B41FA5}">
                      <a16:colId xmlns:a16="http://schemas.microsoft.com/office/drawing/2014/main" val="628350042"/>
                    </a:ext>
                  </a:extLst>
                </a:gridCol>
                <a:gridCol w="1841755">
                  <a:extLst>
                    <a:ext uri="{9D8B030D-6E8A-4147-A177-3AD203B41FA5}">
                      <a16:colId xmlns:a16="http://schemas.microsoft.com/office/drawing/2014/main" val="1522284612"/>
                    </a:ext>
                  </a:extLst>
                </a:gridCol>
                <a:gridCol w="1716336">
                  <a:extLst>
                    <a:ext uri="{9D8B030D-6E8A-4147-A177-3AD203B41FA5}">
                      <a16:colId xmlns:a16="http://schemas.microsoft.com/office/drawing/2014/main" val="986573090"/>
                    </a:ext>
                  </a:extLst>
                </a:gridCol>
                <a:gridCol w="864620">
                  <a:extLst>
                    <a:ext uri="{9D8B030D-6E8A-4147-A177-3AD203B41FA5}">
                      <a16:colId xmlns:a16="http://schemas.microsoft.com/office/drawing/2014/main" val="844933473"/>
                    </a:ext>
                  </a:extLst>
                </a:gridCol>
              </a:tblGrid>
              <a:tr h="345682">
                <a:tc>
                  <a:txBody>
                    <a:bodyPr/>
                    <a:lstStyle/>
                    <a:p>
                      <a:pPr algn="ctr" fontAlgn="b"/>
                      <a:r>
                        <a:rPr lang="en-IN" sz="1200" b="1" u="none" strike="noStrike" dirty="0">
                          <a:solidFill>
                            <a:srgbClr val="000000"/>
                          </a:solidFill>
                          <a:effectLst/>
                          <a:latin typeface="Gotham"/>
                        </a:rPr>
                        <a:t>Fuel</a:t>
                      </a:r>
                      <a:endParaRPr lang="en-IN" sz="1200" b="1" i="0" u="none" strike="noStrike" dirty="0">
                        <a:solidFill>
                          <a:srgbClr val="000000"/>
                        </a:solidFill>
                        <a:effectLst/>
                        <a:latin typeface="Gotham"/>
                      </a:endParaRPr>
                    </a:p>
                  </a:txBody>
                  <a:tcPr marL="7620" marR="7620" marT="7620" marB="0" anchor="ctr"/>
                </a:tc>
                <a:tc>
                  <a:txBody>
                    <a:bodyPr/>
                    <a:lstStyle/>
                    <a:p>
                      <a:pPr algn="ctr" fontAlgn="b"/>
                      <a:r>
                        <a:rPr lang="en-IN" sz="1200" b="1" u="none" strike="noStrike">
                          <a:solidFill>
                            <a:srgbClr val="000000"/>
                          </a:solidFill>
                          <a:effectLst/>
                          <a:latin typeface="Gotham"/>
                        </a:rPr>
                        <a:t>Vehicle Compatibility/Availability</a:t>
                      </a:r>
                      <a:endParaRPr lang="en-IN" sz="1200" b="1" i="0" u="none" strike="noStrike">
                        <a:solidFill>
                          <a:srgbClr val="000000"/>
                        </a:solidFill>
                        <a:effectLst/>
                        <a:latin typeface="Gotham"/>
                      </a:endParaRPr>
                    </a:p>
                  </a:txBody>
                  <a:tcPr marL="7620" marR="7620" marT="7620" marB="0" anchor="ctr"/>
                </a:tc>
                <a:tc>
                  <a:txBody>
                    <a:bodyPr/>
                    <a:lstStyle/>
                    <a:p>
                      <a:pPr algn="ctr" fontAlgn="b"/>
                      <a:r>
                        <a:rPr lang="en-IN" sz="1200" b="1" u="none" strike="noStrike">
                          <a:solidFill>
                            <a:srgbClr val="000000"/>
                          </a:solidFill>
                          <a:effectLst/>
                          <a:latin typeface="Gotham"/>
                        </a:rPr>
                        <a:t>Timeline of Implementation</a:t>
                      </a:r>
                      <a:endParaRPr lang="en-IN" sz="1200" b="1" i="0" u="none" strike="noStrike">
                        <a:solidFill>
                          <a:srgbClr val="000000"/>
                        </a:solidFill>
                        <a:effectLst/>
                        <a:latin typeface="Gotham"/>
                      </a:endParaRPr>
                    </a:p>
                  </a:txBody>
                  <a:tcPr marL="7620" marR="7620" marT="7620" marB="0" anchor="ctr"/>
                </a:tc>
                <a:tc>
                  <a:txBody>
                    <a:bodyPr/>
                    <a:lstStyle/>
                    <a:p>
                      <a:pPr algn="ctr" fontAlgn="b"/>
                      <a:r>
                        <a:rPr lang="en-IN" sz="1200" b="1" u="none" strike="noStrike">
                          <a:solidFill>
                            <a:srgbClr val="000000"/>
                          </a:solidFill>
                          <a:effectLst/>
                          <a:latin typeface="Gotham"/>
                        </a:rPr>
                        <a:t>Score</a:t>
                      </a:r>
                      <a:endParaRPr lang="en-IN" sz="1200" b="1" i="0" u="none" strike="noStrike">
                        <a:solidFill>
                          <a:srgbClr val="000000"/>
                        </a:solidFill>
                        <a:effectLst/>
                        <a:latin typeface="Gotham"/>
                      </a:endParaRPr>
                    </a:p>
                  </a:txBody>
                  <a:tcPr marL="7620" marR="7620" marT="7620" marB="0" anchor="ctr"/>
                </a:tc>
                <a:extLst>
                  <a:ext uri="{0D108BD9-81ED-4DB2-BD59-A6C34878D82A}">
                    <a16:rowId xmlns:a16="http://schemas.microsoft.com/office/drawing/2014/main" val="2644051845"/>
                  </a:ext>
                </a:extLst>
              </a:tr>
              <a:tr h="277936">
                <a:tc>
                  <a:txBody>
                    <a:bodyPr/>
                    <a:lstStyle/>
                    <a:p>
                      <a:pPr algn="ctr" fontAlgn="b"/>
                      <a:r>
                        <a:rPr lang="en-IN" sz="1200" b="0" u="none" strike="noStrike">
                          <a:solidFill>
                            <a:srgbClr val="000000"/>
                          </a:solidFill>
                          <a:effectLst/>
                          <a:latin typeface="Gotham"/>
                        </a:rPr>
                        <a:t>Ethanol blending</a:t>
                      </a:r>
                      <a:endParaRPr lang="en-IN" sz="1200" b="0" i="0" u="none" strike="noStrike">
                        <a:solidFill>
                          <a:srgbClr val="000000"/>
                        </a:solidFill>
                        <a:effectLst/>
                        <a:latin typeface="Gotham"/>
                      </a:endParaRPr>
                    </a:p>
                  </a:txBody>
                  <a:tcPr marL="7620" marR="7620" marT="7620" marB="0" anchor="ctr"/>
                </a:tc>
                <a:tc>
                  <a:txBody>
                    <a:bodyPr/>
                    <a:lstStyle/>
                    <a:p>
                      <a:pPr algn="ctr" fontAlgn="b"/>
                      <a:r>
                        <a:rPr lang="en-IN" sz="1200" b="0" u="none" strike="noStrike" dirty="0">
                          <a:solidFill>
                            <a:srgbClr val="000000"/>
                          </a:solidFill>
                          <a:effectLst/>
                          <a:latin typeface="Gotham"/>
                        </a:rPr>
                        <a:t>Yes</a:t>
                      </a:r>
                      <a:endParaRPr lang="en-IN" sz="1200" b="0" i="0" u="none" strike="noStrike" dirty="0">
                        <a:solidFill>
                          <a:srgbClr val="000000"/>
                        </a:solidFill>
                        <a:effectLst/>
                        <a:latin typeface="Gotham"/>
                      </a:endParaRPr>
                    </a:p>
                  </a:txBody>
                  <a:tcPr marL="7620" marR="7620" marT="7620" marB="0" anchor="ctr"/>
                </a:tc>
                <a:tc>
                  <a:txBody>
                    <a:bodyPr/>
                    <a:lstStyle/>
                    <a:p>
                      <a:pPr algn="ctr" fontAlgn="b"/>
                      <a:r>
                        <a:rPr lang="en-IN" sz="1200" b="0" u="none" strike="noStrike">
                          <a:solidFill>
                            <a:srgbClr val="000000"/>
                          </a:solidFill>
                          <a:effectLst/>
                          <a:latin typeface="Gotham"/>
                        </a:rPr>
                        <a:t>&lt;1 yr</a:t>
                      </a:r>
                      <a:endParaRPr lang="en-IN" sz="1200" b="0" i="0" u="none" strike="noStrike">
                        <a:solidFill>
                          <a:srgbClr val="000000"/>
                        </a:solidFill>
                        <a:effectLst/>
                        <a:latin typeface="Gotham"/>
                      </a:endParaRPr>
                    </a:p>
                  </a:txBody>
                  <a:tcPr marL="7620" marR="7620" marT="7620" marB="0" anchor="ctr"/>
                </a:tc>
                <a:tc>
                  <a:txBody>
                    <a:bodyPr/>
                    <a:lstStyle/>
                    <a:p>
                      <a:pPr algn="ctr" fontAlgn="b"/>
                      <a:r>
                        <a:rPr lang="en-IN" sz="1200" b="0" u="none" strike="noStrike">
                          <a:solidFill>
                            <a:srgbClr val="000000"/>
                          </a:solidFill>
                          <a:effectLst/>
                          <a:latin typeface="Gotham"/>
                        </a:rPr>
                        <a:t>4</a:t>
                      </a:r>
                      <a:endParaRPr lang="en-IN" sz="1200" b="0" i="0" u="none" strike="noStrike">
                        <a:solidFill>
                          <a:srgbClr val="000000"/>
                        </a:solidFill>
                        <a:effectLst/>
                        <a:latin typeface="Gotham"/>
                      </a:endParaRPr>
                    </a:p>
                  </a:txBody>
                  <a:tcPr marL="7620" marR="7620" marT="7620" marB="0" anchor="ctr"/>
                </a:tc>
                <a:extLst>
                  <a:ext uri="{0D108BD9-81ED-4DB2-BD59-A6C34878D82A}">
                    <a16:rowId xmlns:a16="http://schemas.microsoft.com/office/drawing/2014/main" val="2017710804"/>
                  </a:ext>
                </a:extLst>
              </a:tr>
              <a:tr h="176368">
                <a:tc>
                  <a:txBody>
                    <a:bodyPr/>
                    <a:lstStyle/>
                    <a:p>
                      <a:pPr algn="ctr" fontAlgn="b"/>
                      <a:r>
                        <a:rPr lang="en-IN" sz="1200" b="0" u="none" strike="noStrike">
                          <a:solidFill>
                            <a:srgbClr val="000000"/>
                          </a:solidFill>
                          <a:effectLst/>
                          <a:latin typeface="Gotham"/>
                        </a:rPr>
                        <a:t>Biodiesel</a:t>
                      </a:r>
                      <a:endParaRPr lang="en-IN" sz="1200" b="0" i="0" u="none" strike="noStrike">
                        <a:solidFill>
                          <a:srgbClr val="000000"/>
                        </a:solidFill>
                        <a:effectLst/>
                        <a:latin typeface="Gotham"/>
                      </a:endParaRPr>
                    </a:p>
                  </a:txBody>
                  <a:tcPr marL="7620" marR="7620" marT="7620" marB="0" anchor="ctr"/>
                </a:tc>
                <a:tc>
                  <a:txBody>
                    <a:bodyPr/>
                    <a:lstStyle/>
                    <a:p>
                      <a:pPr algn="ctr" fontAlgn="b"/>
                      <a:r>
                        <a:rPr lang="en-IN" sz="1200" b="0" u="none" strike="noStrike">
                          <a:solidFill>
                            <a:srgbClr val="000000"/>
                          </a:solidFill>
                          <a:effectLst/>
                          <a:latin typeface="Gotham"/>
                        </a:rPr>
                        <a:t>Yes</a:t>
                      </a:r>
                      <a:endParaRPr lang="en-IN" sz="1200" b="0" i="0" u="none" strike="noStrike">
                        <a:solidFill>
                          <a:srgbClr val="000000"/>
                        </a:solidFill>
                        <a:effectLst/>
                        <a:latin typeface="Gotham"/>
                      </a:endParaRPr>
                    </a:p>
                  </a:txBody>
                  <a:tcPr marL="7620" marR="7620" marT="7620" marB="0" anchor="ctr"/>
                </a:tc>
                <a:tc>
                  <a:txBody>
                    <a:bodyPr/>
                    <a:lstStyle/>
                    <a:p>
                      <a:pPr algn="ctr" fontAlgn="b"/>
                      <a:r>
                        <a:rPr lang="en-IN" sz="1200" b="0" u="none" strike="noStrike">
                          <a:solidFill>
                            <a:srgbClr val="000000"/>
                          </a:solidFill>
                          <a:effectLst/>
                          <a:latin typeface="Gotham"/>
                        </a:rPr>
                        <a:t>&lt;1 yr</a:t>
                      </a:r>
                      <a:endParaRPr lang="en-IN" sz="1200" b="0" i="0" u="none" strike="noStrike">
                        <a:solidFill>
                          <a:srgbClr val="000000"/>
                        </a:solidFill>
                        <a:effectLst/>
                        <a:latin typeface="Gotham"/>
                      </a:endParaRPr>
                    </a:p>
                  </a:txBody>
                  <a:tcPr marL="7620" marR="7620" marT="7620" marB="0" anchor="ctr"/>
                </a:tc>
                <a:tc>
                  <a:txBody>
                    <a:bodyPr/>
                    <a:lstStyle/>
                    <a:p>
                      <a:pPr algn="ctr" fontAlgn="b"/>
                      <a:r>
                        <a:rPr lang="en-IN" sz="1200" b="0" u="none" strike="noStrike">
                          <a:solidFill>
                            <a:srgbClr val="000000"/>
                          </a:solidFill>
                          <a:effectLst/>
                          <a:latin typeface="Gotham"/>
                        </a:rPr>
                        <a:t>4</a:t>
                      </a:r>
                      <a:endParaRPr lang="en-IN" sz="1200" b="0" i="0" u="none" strike="noStrike">
                        <a:solidFill>
                          <a:srgbClr val="000000"/>
                        </a:solidFill>
                        <a:effectLst/>
                        <a:latin typeface="Gotham"/>
                      </a:endParaRPr>
                    </a:p>
                  </a:txBody>
                  <a:tcPr marL="7620" marR="7620" marT="7620" marB="0" anchor="ctr"/>
                </a:tc>
                <a:extLst>
                  <a:ext uri="{0D108BD9-81ED-4DB2-BD59-A6C34878D82A}">
                    <a16:rowId xmlns:a16="http://schemas.microsoft.com/office/drawing/2014/main" val="1979105317"/>
                  </a:ext>
                </a:extLst>
              </a:tr>
              <a:tr h="176368">
                <a:tc>
                  <a:txBody>
                    <a:bodyPr/>
                    <a:lstStyle/>
                    <a:p>
                      <a:pPr algn="ctr" fontAlgn="b"/>
                      <a:r>
                        <a:rPr lang="en-IN" sz="1200" b="0" u="none" strike="noStrike">
                          <a:solidFill>
                            <a:srgbClr val="000000"/>
                          </a:solidFill>
                          <a:effectLst/>
                          <a:latin typeface="Gotham"/>
                        </a:rPr>
                        <a:t>Methanol</a:t>
                      </a:r>
                      <a:endParaRPr lang="en-IN" sz="1200" b="0" i="0" u="none" strike="noStrike">
                        <a:solidFill>
                          <a:srgbClr val="000000"/>
                        </a:solidFill>
                        <a:effectLst/>
                        <a:latin typeface="Gotham"/>
                      </a:endParaRPr>
                    </a:p>
                  </a:txBody>
                  <a:tcPr marL="7620" marR="7620" marT="7620" marB="0" anchor="ctr"/>
                </a:tc>
                <a:tc>
                  <a:txBody>
                    <a:bodyPr/>
                    <a:lstStyle/>
                    <a:p>
                      <a:pPr algn="ctr" fontAlgn="b"/>
                      <a:r>
                        <a:rPr lang="en-IN" sz="1200" b="0" u="none" strike="noStrike">
                          <a:solidFill>
                            <a:srgbClr val="000000"/>
                          </a:solidFill>
                          <a:effectLst/>
                          <a:latin typeface="Gotham"/>
                        </a:rPr>
                        <a:t>No</a:t>
                      </a:r>
                      <a:endParaRPr lang="en-IN" sz="1200" b="0" i="0" u="none" strike="noStrike">
                        <a:solidFill>
                          <a:srgbClr val="000000"/>
                        </a:solidFill>
                        <a:effectLst/>
                        <a:latin typeface="Gotham"/>
                      </a:endParaRPr>
                    </a:p>
                  </a:txBody>
                  <a:tcPr marL="7620" marR="7620" marT="7620" marB="0" anchor="ctr"/>
                </a:tc>
                <a:tc>
                  <a:txBody>
                    <a:bodyPr/>
                    <a:lstStyle/>
                    <a:p>
                      <a:pPr algn="ctr" fontAlgn="b"/>
                      <a:r>
                        <a:rPr lang="en-IN" sz="1200" b="0" u="none" strike="noStrike">
                          <a:solidFill>
                            <a:srgbClr val="000000"/>
                          </a:solidFill>
                          <a:effectLst/>
                          <a:latin typeface="Gotham"/>
                        </a:rPr>
                        <a:t>&gt;5 yr</a:t>
                      </a:r>
                      <a:endParaRPr lang="en-IN" sz="1200" b="0" i="0" u="none" strike="noStrike">
                        <a:solidFill>
                          <a:srgbClr val="000000"/>
                        </a:solidFill>
                        <a:effectLst/>
                        <a:latin typeface="Gotham"/>
                      </a:endParaRPr>
                    </a:p>
                  </a:txBody>
                  <a:tcPr marL="7620" marR="7620" marT="7620" marB="0" anchor="ctr"/>
                </a:tc>
                <a:tc>
                  <a:txBody>
                    <a:bodyPr/>
                    <a:lstStyle/>
                    <a:p>
                      <a:pPr algn="ctr" fontAlgn="b"/>
                      <a:r>
                        <a:rPr lang="en-IN" sz="1200" b="0" u="none" strike="noStrike">
                          <a:solidFill>
                            <a:srgbClr val="000000"/>
                          </a:solidFill>
                          <a:effectLst/>
                          <a:latin typeface="Gotham"/>
                        </a:rPr>
                        <a:t>1</a:t>
                      </a:r>
                      <a:endParaRPr lang="en-IN" sz="1200" b="0" i="0" u="none" strike="noStrike">
                        <a:solidFill>
                          <a:srgbClr val="000000"/>
                        </a:solidFill>
                        <a:effectLst/>
                        <a:latin typeface="Gotham"/>
                      </a:endParaRPr>
                    </a:p>
                  </a:txBody>
                  <a:tcPr marL="7620" marR="7620" marT="7620" marB="0" anchor="ctr"/>
                </a:tc>
                <a:extLst>
                  <a:ext uri="{0D108BD9-81ED-4DB2-BD59-A6C34878D82A}">
                    <a16:rowId xmlns:a16="http://schemas.microsoft.com/office/drawing/2014/main" val="2242686446"/>
                  </a:ext>
                </a:extLst>
              </a:tr>
              <a:tr h="176368">
                <a:tc>
                  <a:txBody>
                    <a:bodyPr/>
                    <a:lstStyle/>
                    <a:p>
                      <a:pPr algn="ctr" fontAlgn="b"/>
                      <a:r>
                        <a:rPr lang="en-IN" sz="1200" b="0" u="none" strike="noStrike">
                          <a:solidFill>
                            <a:srgbClr val="000000"/>
                          </a:solidFill>
                          <a:effectLst/>
                          <a:latin typeface="Gotham"/>
                        </a:rPr>
                        <a:t>CNG</a:t>
                      </a:r>
                      <a:endParaRPr lang="en-IN" sz="1200" b="0" i="0" u="none" strike="noStrike">
                        <a:solidFill>
                          <a:srgbClr val="000000"/>
                        </a:solidFill>
                        <a:effectLst/>
                        <a:latin typeface="Gotham"/>
                      </a:endParaRPr>
                    </a:p>
                  </a:txBody>
                  <a:tcPr marL="7620" marR="7620" marT="7620" marB="0" anchor="ctr"/>
                </a:tc>
                <a:tc>
                  <a:txBody>
                    <a:bodyPr/>
                    <a:lstStyle/>
                    <a:p>
                      <a:pPr algn="ctr" fontAlgn="b"/>
                      <a:r>
                        <a:rPr lang="en-IN" sz="1200" b="0" u="none" strike="noStrike">
                          <a:solidFill>
                            <a:srgbClr val="000000"/>
                          </a:solidFill>
                          <a:effectLst/>
                          <a:latin typeface="Gotham"/>
                        </a:rPr>
                        <a:t>Yes</a:t>
                      </a:r>
                      <a:endParaRPr lang="en-IN" sz="1200" b="0" i="0" u="none" strike="noStrike">
                        <a:solidFill>
                          <a:srgbClr val="000000"/>
                        </a:solidFill>
                        <a:effectLst/>
                        <a:latin typeface="Gotham"/>
                      </a:endParaRPr>
                    </a:p>
                  </a:txBody>
                  <a:tcPr marL="7620" marR="7620" marT="7620" marB="0" anchor="ctr"/>
                </a:tc>
                <a:tc>
                  <a:txBody>
                    <a:bodyPr/>
                    <a:lstStyle/>
                    <a:p>
                      <a:pPr algn="ctr" fontAlgn="b"/>
                      <a:r>
                        <a:rPr lang="en-IN" sz="1200" b="0" u="none" strike="noStrike">
                          <a:solidFill>
                            <a:srgbClr val="000000"/>
                          </a:solidFill>
                          <a:effectLst/>
                          <a:latin typeface="Gotham"/>
                        </a:rPr>
                        <a:t>1-2 yr</a:t>
                      </a:r>
                      <a:endParaRPr lang="en-IN" sz="1200" b="0" i="0" u="none" strike="noStrike">
                        <a:solidFill>
                          <a:srgbClr val="000000"/>
                        </a:solidFill>
                        <a:effectLst/>
                        <a:latin typeface="Gotham"/>
                      </a:endParaRPr>
                    </a:p>
                  </a:txBody>
                  <a:tcPr marL="7620" marR="7620" marT="7620" marB="0" anchor="ctr"/>
                </a:tc>
                <a:tc>
                  <a:txBody>
                    <a:bodyPr/>
                    <a:lstStyle/>
                    <a:p>
                      <a:pPr algn="ctr" fontAlgn="b"/>
                      <a:r>
                        <a:rPr lang="en-IN" sz="1200" b="0" u="none" strike="noStrike">
                          <a:solidFill>
                            <a:srgbClr val="000000"/>
                          </a:solidFill>
                          <a:effectLst/>
                          <a:latin typeface="Gotham"/>
                        </a:rPr>
                        <a:t>3</a:t>
                      </a:r>
                      <a:endParaRPr lang="en-IN" sz="1200" b="0" i="0" u="none" strike="noStrike">
                        <a:solidFill>
                          <a:srgbClr val="000000"/>
                        </a:solidFill>
                        <a:effectLst/>
                        <a:latin typeface="Gotham"/>
                      </a:endParaRPr>
                    </a:p>
                  </a:txBody>
                  <a:tcPr marL="7620" marR="7620" marT="7620" marB="0" anchor="ctr"/>
                </a:tc>
                <a:extLst>
                  <a:ext uri="{0D108BD9-81ED-4DB2-BD59-A6C34878D82A}">
                    <a16:rowId xmlns:a16="http://schemas.microsoft.com/office/drawing/2014/main" val="3260709995"/>
                  </a:ext>
                </a:extLst>
              </a:tr>
              <a:tr h="176368">
                <a:tc>
                  <a:txBody>
                    <a:bodyPr/>
                    <a:lstStyle/>
                    <a:p>
                      <a:pPr algn="ctr" fontAlgn="b"/>
                      <a:r>
                        <a:rPr lang="en-IN" sz="1200" b="0" u="none" strike="noStrike">
                          <a:solidFill>
                            <a:srgbClr val="000000"/>
                          </a:solidFill>
                          <a:effectLst/>
                          <a:latin typeface="Gotham"/>
                        </a:rPr>
                        <a:t>LNG</a:t>
                      </a:r>
                      <a:endParaRPr lang="en-IN" sz="1200" b="0" i="0" u="none" strike="noStrike">
                        <a:solidFill>
                          <a:srgbClr val="000000"/>
                        </a:solidFill>
                        <a:effectLst/>
                        <a:latin typeface="Gotham"/>
                      </a:endParaRPr>
                    </a:p>
                  </a:txBody>
                  <a:tcPr marL="7620" marR="7620" marT="7620" marB="0" anchor="ctr"/>
                </a:tc>
                <a:tc>
                  <a:txBody>
                    <a:bodyPr/>
                    <a:lstStyle/>
                    <a:p>
                      <a:pPr algn="ctr" fontAlgn="b"/>
                      <a:r>
                        <a:rPr lang="en-IN" sz="1200" b="0" u="none" strike="noStrike">
                          <a:solidFill>
                            <a:srgbClr val="000000"/>
                          </a:solidFill>
                          <a:effectLst/>
                          <a:latin typeface="Gotham"/>
                        </a:rPr>
                        <a:t>No</a:t>
                      </a:r>
                      <a:endParaRPr lang="en-IN" sz="1200" b="0" i="0" u="none" strike="noStrike">
                        <a:solidFill>
                          <a:srgbClr val="000000"/>
                        </a:solidFill>
                        <a:effectLst/>
                        <a:latin typeface="Gotham"/>
                      </a:endParaRPr>
                    </a:p>
                  </a:txBody>
                  <a:tcPr marL="7620" marR="7620" marT="7620" marB="0" anchor="ctr"/>
                </a:tc>
                <a:tc>
                  <a:txBody>
                    <a:bodyPr/>
                    <a:lstStyle/>
                    <a:p>
                      <a:pPr algn="ctr" fontAlgn="b"/>
                      <a:r>
                        <a:rPr lang="en-IN" sz="1200" b="0" u="none" strike="noStrike">
                          <a:solidFill>
                            <a:srgbClr val="000000"/>
                          </a:solidFill>
                          <a:effectLst/>
                          <a:latin typeface="Gotham"/>
                        </a:rPr>
                        <a:t>&gt; 5 yr</a:t>
                      </a:r>
                      <a:endParaRPr lang="en-IN" sz="1200" b="0" i="0" u="none" strike="noStrike">
                        <a:solidFill>
                          <a:srgbClr val="000000"/>
                        </a:solidFill>
                        <a:effectLst/>
                        <a:latin typeface="Gotham"/>
                      </a:endParaRPr>
                    </a:p>
                  </a:txBody>
                  <a:tcPr marL="7620" marR="7620" marT="7620" marB="0" anchor="ctr"/>
                </a:tc>
                <a:tc>
                  <a:txBody>
                    <a:bodyPr/>
                    <a:lstStyle/>
                    <a:p>
                      <a:pPr algn="ctr" fontAlgn="b"/>
                      <a:r>
                        <a:rPr lang="en-IN" sz="1200" b="0" u="none" strike="noStrike">
                          <a:solidFill>
                            <a:srgbClr val="000000"/>
                          </a:solidFill>
                          <a:effectLst/>
                          <a:latin typeface="Gotham"/>
                        </a:rPr>
                        <a:t>1</a:t>
                      </a:r>
                      <a:endParaRPr lang="en-IN" sz="1200" b="0" i="0" u="none" strike="noStrike">
                        <a:solidFill>
                          <a:srgbClr val="000000"/>
                        </a:solidFill>
                        <a:effectLst/>
                        <a:latin typeface="Gotham"/>
                      </a:endParaRPr>
                    </a:p>
                  </a:txBody>
                  <a:tcPr marL="7620" marR="7620" marT="7620" marB="0" anchor="ctr"/>
                </a:tc>
                <a:extLst>
                  <a:ext uri="{0D108BD9-81ED-4DB2-BD59-A6C34878D82A}">
                    <a16:rowId xmlns:a16="http://schemas.microsoft.com/office/drawing/2014/main" val="1841858680"/>
                  </a:ext>
                </a:extLst>
              </a:tr>
              <a:tr h="176368">
                <a:tc>
                  <a:txBody>
                    <a:bodyPr/>
                    <a:lstStyle/>
                    <a:p>
                      <a:pPr algn="ctr" fontAlgn="b"/>
                      <a:r>
                        <a:rPr lang="en-IN" sz="1200" b="0" u="none" strike="noStrike">
                          <a:solidFill>
                            <a:srgbClr val="000000"/>
                          </a:solidFill>
                          <a:effectLst/>
                          <a:latin typeface="Gotham"/>
                        </a:rPr>
                        <a:t>Hydrogen</a:t>
                      </a:r>
                      <a:endParaRPr lang="en-IN" sz="1200" b="0" i="0" u="none" strike="noStrike">
                        <a:solidFill>
                          <a:srgbClr val="000000"/>
                        </a:solidFill>
                        <a:effectLst/>
                        <a:latin typeface="Gotham"/>
                      </a:endParaRPr>
                    </a:p>
                  </a:txBody>
                  <a:tcPr marL="7620" marR="7620" marT="7620" marB="0" anchor="ctr"/>
                </a:tc>
                <a:tc>
                  <a:txBody>
                    <a:bodyPr/>
                    <a:lstStyle/>
                    <a:p>
                      <a:pPr algn="ctr" fontAlgn="b"/>
                      <a:r>
                        <a:rPr lang="en-IN" sz="1200" b="0" u="none" strike="noStrike">
                          <a:solidFill>
                            <a:srgbClr val="000000"/>
                          </a:solidFill>
                          <a:effectLst/>
                          <a:latin typeface="Gotham"/>
                        </a:rPr>
                        <a:t>Yes</a:t>
                      </a:r>
                      <a:endParaRPr lang="en-IN" sz="1200" b="0" i="0" u="none" strike="noStrike">
                        <a:solidFill>
                          <a:srgbClr val="000000"/>
                        </a:solidFill>
                        <a:effectLst/>
                        <a:latin typeface="Gotham"/>
                      </a:endParaRPr>
                    </a:p>
                  </a:txBody>
                  <a:tcPr marL="7620" marR="7620" marT="7620" marB="0" anchor="ctr"/>
                </a:tc>
                <a:tc>
                  <a:txBody>
                    <a:bodyPr/>
                    <a:lstStyle/>
                    <a:p>
                      <a:pPr algn="ctr" fontAlgn="b"/>
                      <a:r>
                        <a:rPr lang="en-IN" sz="1200" b="0" u="none" strike="noStrike">
                          <a:solidFill>
                            <a:srgbClr val="000000"/>
                          </a:solidFill>
                          <a:effectLst/>
                          <a:latin typeface="Gotham"/>
                        </a:rPr>
                        <a:t>&gt; 5 yr</a:t>
                      </a:r>
                      <a:endParaRPr lang="en-IN" sz="1200" b="0" i="0" u="none" strike="noStrike">
                        <a:solidFill>
                          <a:srgbClr val="000000"/>
                        </a:solidFill>
                        <a:effectLst/>
                        <a:latin typeface="Gotham"/>
                      </a:endParaRPr>
                    </a:p>
                  </a:txBody>
                  <a:tcPr marL="7620" marR="7620" marT="7620" marB="0" anchor="ctr"/>
                </a:tc>
                <a:tc>
                  <a:txBody>
                    <a:bodyPr/>
                    <a:lstStyle/>
                    <a:p>
                      <a:pPr algn="ctr" fontAlgn="b"/>
                      <a:r>
                        <a:rPr lang="en-IN" sz="1200" b="0" u="none" strike="noStrike">
                          <a:solidFill>
                            <a:srgbClr val="000000"/>
                          </a:solidFill>
                          <a:effectLst/>
                          <a:latin typeface="Gotham"/>
                        </a:rPr>
                        <a:t>1</a:t>
                      </a:r>
                      <a:endParaRPr lang="en-IN" sz="1200" b="0" i="0" u="none" strike="noStrike">
                        <a:solidFill>
                          <a:srgbClr val="000000"/>
                        </a:solidFill>
                        <a:effectLst/>
                        <a:latin typeface="Gotham"/>
                      </a:endParaRPr>
                    </a:p>
                  </a:txBody>
                  <a:tcPr marL="7620" marR="7620" marT="7620" marB="0" anchor="ctr"/>
                </a:tc>
                <a:extLst>
                  <a:ext uri="{0D108BD9-81ED-4DB2-BD59-A6C34878D82A}">
                    <a16:rowId xmlns:a16="http://schemas.microsoft.com/office/drawing/2014/main" val="2685639426"/>
                  </a:ext>
                </a:extLst>
              </a:tr>
              <a:tr h="176368">
                <a:tc>
                  <a:txBody>
                    <a:bodyPr/>
                    <a:lstStyle/>
                    <a:p>
                      <a:pPr algn="ctr" fontAlgn="b"/>
                      <a:r>
                        <a:rPr lang="en-IN" sz="1200" b="0" u="none" strike="noStrike">
                          <a:solidFill>
                            <a:srgbClr val="000000"/>
                          </a:solidFill>
                          <a:effectLst/>
                          <a:latin typeface="Gotham"/>
                        </a:rPr>
                        <a:t>LPG</a:t>
                      </a:r>
                      <a:endParaRPr lang="en-IN" sz="1200" b="0" i="0" u="none" strike="noStrike">
                        <a:solidFill>
                          <a:srgbClr val="000000"/>
                        </a:solidFill>
                        <a:effectLst/>
                        <a:latin typeface="Gotham"/>
                      </a:endParaRPr>
                    </a:p>
                  </a:txBody>
                  <a:tcPr marL="7620" marR="7620" marT="7620" marB="0" anchor="ctr"/>
                </a:tc>
                <a:tc>
                  <a:txBody>
                    <a:bodyPr/>
                    <a:lstStyle/>
                    <a:p>
                      <a:pPr algn="ctr" fontAlgn="b"/>
                      <a:r>
                        <a:rPr lang="en-IN" sz="1200" b="0" u="none" strike="noStrike">
                          <a:solidFill>
                            <a:srgbClr val="000000"/>
                          </a:solidFill>
                          <a:effectLst/>
                          <a:latin typeface="Gotham"/>
                        </a:rPr>
                        <a:t>Yes</a:t>
                      </a:r>
                      <a:endParaRPr lang="en-IN" sz="1200" b="0" i="0" u="none" strike="noStrike">
                        <a:solidFill>
                          <a:srgbClr val="000000"/>
                        </a:solidFill>
                        <a:effectLst/>
                        <a:latin typeface="Gotham"/>
                      </a:endParaRPr>
                    </a:p>
                  </a:txBody>
                  <a:tcPr marL="7620" marR="7620" marT="7620" marB="0" anchor="ctr"/>
                </a:tc>
                <a:tc>
                  <a:txBody>
                    <a:bodyPr/>
                    <a:lstStyle/>
                    <a:p>
                      <a:pPr algn="ctr" fontAlgn="b"/>
                      <a:r>
                        <a:rPr lang="en-IN" sz="1200" b="0" u="none" strike="noStrike">
                          <a:solidFill>
                            <a:srgbClr val="000000"/>
                          </a:solidFill>
                          <a:effectLst/>
                          <a:latin typeface="Gotham"/>
                        </a:rPr>
                        <a:t>&gt; 5 yr</a:t>
                      </a:r>
                      <a:endParaRPr lang="en-IN" sz="1200" b="0" i="0" u="none" strike="noStrike">
                        <a:solidFill>
                          <a:srgbClr val="000000"/>
                        </a:solidFill>
                        <a:effectLst/>
                        <a:latin typeface="Gotham"/>
                      </a:endParaRPr>
                    </a:p>
                  </a:txBody>
                  <a:tcPr marL="7620" marR="7620" marT="7620" marB="0" anchor="ctr"/>
                </a:tc>
                <a:tc>
                  <a:txBody>
                    <a:bodyPr/>
                    <a:lstStyle/>
                    <a:p>
                      <a:pPr algn="ctr" fontAlgn="b"/>
                      <a:r>
                        <a:rPr lang="en-IN" sz="1200" b="0" u="none" strike="noStrike">
                          <a:solidFill>
                            <a:srgbClr val="000000"/>
                          </a:solidFill>
                          <a:effectLst/>
                          <a:latin typeface="Gotham"/>
                        </a:rPr>
                        <a:t>1</a:t>
                      </a:r>
                      <a:endParaRPr lang="en-IN" sz="1200" b="0" i="0" u="none" strike="noStrike">
                        <a:solidFill>
                          <a:srgbClr val="000000"/>
                        </a:solidFill>
                        <a:effectLst/>
                        <a:latin typeface="Gotham"/>
                      </a:endParaRPr>
                    </a:p>
                  </a:txBody>
                  <a:tcPr marL="7620" marR="7620" marT="7620" marB="0" anchor="ctr"/>
                </a:tc>
                <a:extLst>
                  <a:ext uri="{0D108BD9-81ED-4DB2-BD59-A6C34878D82A}">
                    <a16:rowId xmlns:a16="http://schemas.microsoft.com/office/drawing/2014/main" val="3880112474"/>
                  </a:ext>
                </a:extLst>
              </a:tr>
              <a:tr h="176368">
                <a:tc>
                  <a:txBody>
                    <a:bodyPr/>
                    <a:lstStyle/>
                    <a:p>
                      <a:pPr algn="ctr" fontAlgn="b"/>
                      <a:r>
                        <a:rPr lang="en-IN" sz="1200" b="0" u="none" strike="noStrike" dirty="0">
                          <a:solidFill>
                            <a:srgbClr val="000000"/>
                          </a:solidFill>
                          <a:effectLst/>
                          <a:latin typeface="Gotham"/>
                        </a:rPr>
                        <a:t>EV</a:t>
                      </a:r>
                      <a:endParaRPr lang="en-IN" sz="1200" b="0" i="0" u="none" strike="noStrike" dirty="0">
                        <a:solidFill>
                          <a:srgbClr val="000000"/>
                        </a:solidFill>
                        <a:effectLst/>
                        <a:latin typeface="Gotham"/>
                      </a:endParaRPr>
                    </a:p>
                  </a:txBody>
                  <a:tcPr marL="7620" marR="7620" marT="7620" marB="0" anchor="ctr"/>
                </a:tc>
                <a:tc>
                  <a:txBody>
                    <a:bodyPr/>
                    <a:lstStyle/>
                    <a:p>
                      <a:pPr algn="ctr" fontAlgn="b"/>
                      <a:r>
                        <a:rPr lang="en-IN" sz="1200" b="0" u="none" strike="noStrike">
                          <a:solidFill>
                            <a:srgbClr val="000000"/>
                          </a:solidFill>
                          <a:effectLst/>
                          <a:latin typeface="Gotham"/>
                        </a:rPr>
                        <a:t>Yes</a:t>
                      </a:r>
                      <a:endParaRPr lang="en-IN" sz="1200" b="0" i="0" u="none" strike="noStrike">
                        <a:solidFill>
                          <a:srgbClr val="000000"/>
                        </a:solidFill>
                        <a:effectLst/>
                        <a:latin typeface="Gotham"/>
                      </a:endParaRPr>
                    </a:p>
                  </a:txBody>
                  <a:tcPr marL="7620" marR="7620" marT="7620" marB="0" anchor="ctr"/>
                </a:tc>
                <a:tc>
                  <a:txBody>
                    <a:bodyPr/>
                    <a:lstStyle/>
                    <a:p>
                      <a:pPr algn="ctr" fontAlgn="b"/>
                      <a:r>
                        <a:rPr lang="en-IN" sz="1200" b="0" u="none" strike="noStrike">
                          <a:solidFill>
                            <a:srgbClr val="000000"/>
                          </a:solidFill>
                          <a:effectLst/>
                          <a:latin typeface="Gotham"/>
                        </a:rPr>
                        <a:t>1-2 yr</a:t>
                      </a:r>
                      <a:endParaRPr lang="en-IN" sz="1200" b="0" i="0" u="none" strike="noStrike">
                        <a:solidFill>
                          <a:srgbClr val="000000"/>
                        </a:solidFill>
                        <a:effectLst/>
                        <a:latin typeface="Gotham"/>
                      </a:endParaRPr>
                    </a:p>
                  </a:txBody>
                  <a:tcPr marL="7620" marR="7620" marT="7620" marB="0" anchor="ctr"/>
                </a:tc>
                <a:tc>
                  <a:txBody>
                    <a:bodyPr/>
                    <a:lstStyle/>
                    <a:p>
                      <a:pPr algn="ctr" fontAlgn="b"/>
                      <a:r>
                        <a:rPr lang="en-IN" sz="1200" b="0" u="none" strike="noStrike" dirty="0">
                          <a:solidFill>
                            <a:srgbClr val="000000"/>
                          </a:solidFill>
                          <a:effectLst/>
                          <a:latin typeface="Gotham"/>
                        </a:rPr>
                        <a:t>3</a:t>
                      </a:r>
                      <a:endParaRPr lang="en-IN" sz="1200" b="0" i="0" u="none" strike="noStrike" dirty="0">
                        <a:solidFill>
                          <a:srgbClr val="000000"/>
                        </a:solidFill>
                        <a:effectLst/>
                        <a:latin typeface="Gotham"/>
                      </a:endParaRPr>
                    </a:p>
                  </a:txBody>
                  <a:tcPr marL="7620" marR="7620" marT="7620" marB="0" anchor="ctr"/>
                </a:tc>
                <a:extLst>
                  <a:ext uri="{0D108BD9-81ED-4DB2-BD59-A6C34878D82A}">
                    <a16:rowId xmlns:a16="http://schemas.microsoft.com/office/drawing/2014/main" val="4119401360"/>
                  </a:ext>
                </a:extLst>
              </a:tr>
            </a:tbl>
          </a:graphicData>
        </a:graphic>
      </p:graphicFrame>
      <p:sp>
        <p:nvSpPr>
          <p:cNvPr id="30" name="Rectangle: Rounded Corners 29">
            <a:extLst>
              <a:ext uri="{FF2B5EF4-FFF2-40B4-BE49-F238E27FC236}">
                <a16:creationId xmlns:a16="http://schemas.microsoft.com/office/drawing/2014/main" id="{0EDF0BFD-F261-EFC9-A354-A9B9625AFEE6}"/>
              </a:ext>
            </a:extLst>
          </p:cNvPr>
          <p:cNvSpPr/>
          <p:nvPr/>
        </p:nvSpPr>
        <p:spPr>
          <a:xfrm>
            <a:off x="102631" y="3264026"/>
            <a:ext cx="11961847" cy="247800"/>
          </a:xfrm>
          <a:prstGeom prst="round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latin typeface="Gotham"/>
              </a:rPr>
              <a:t>Recommendations</a:t>
            </a:r>
          </a:p>
        </p:txBody>
      </p:sp>
      <p:graphicFrame>
        <p:nvGraphicFramePr>
          <p:cNvPr id="32" name="Table 31">
            <a:extLst>
              <a:ext uri="{FF2B5EF4-FFF2-40B4-BE49-F238E27FC236}">
                <a16:creationId xmlns:a16="http://schemas.microsoft.com/office/drawing/2014/main" id="{F403D75C-8059-7C45-C0EB-04BE5DA620A8}"/>
              </a:ext>
            </a:extLst>
          </p:cNvPr>
          <p:cNvGraphicFramePr>
            <a:graphicFrameLocks noGrp="1"/>
          </p:cNvGraphicFramePr>
          <p:nvPr>
            <p:extLst>
              <p:ext uri="{D42A27DB-BD31-4B8C-83A1-F6EECF244321}">
                <p14:modId xmlns:p14="http://schemas.microsoft.com/office/powerpoint/2010/main" val="1969921820"/>
              </p:ext>
            </p:extLst>
          </p:nvPr>
        </p:nvGraphicFramePr>
        <p:xfrm>
          <a:off x="190110" y="3695259"/>
          <a:ext cx="4114800" cy="723900"/>
        </p:xfrm>
        <a:graphic>
          <a:graphicData uri="http://schemas.openxmlformats.org/drawingml/2006/table">
            <a:tbl>
              <a:tblPr/>
              <a:tblGrid>
                <a:gridCol w="1625600">
                  <a:extLst>
                    <a:ext uri="{9D8B030D-6E8A-4147-A177-3AD203B41FA5}">
                      <a16:colId xmlns:a16="http://schemas.microsoft.com/office/drawing/2014/main" val="624527212"/>
                    </a:ext>
                  </a:extLst>
                </a:gridCol>
                <a:gridCol w="889000">
                  <a:extLst>
                    <a:ext uri="{9D8B030D-6E8A-4147-A177-3AD203B41FA5}">
                      <a16:colId xmlns:a16="http://schemas.microsoft.com/office/drawing/2014/main" val="353513075"/>
                    </a:ext>
                  </a:extLst>
                </a:gridCol>
                <a:gridCol w="889000">
                  <a:extLst>
                    <a:ext uri="{9D8B030D-6E8A-4147-A177-3AD203B41FA5}">
                      <a16:colId xmlns:a16="http://schemas.microsoft.com/office/drawing/2014/main" val="520492118"/>
                    </a:ext>
                  </a:extLst>
                </a:gridCol>
                <a:gridCol w="711200">
                  <a:extLst>
                    <a:ext uri="{9D8B030D-6E8A-4147-A177-3AD203B41FA5}">
                      <a16:colId xmlns:a16="http://schemas.microsoft.com/office/drawing/2014/main" val="3221396765"/>
                    </a:ext>
                  </a:extLst>
                </a:gridCol>
              </a:tblGrid>
              <a:tr h="157559">
                <a:tc>
                  <a:txBody>
                    <a:bodyPr/>
                    <a:lstStyle/>
                    <a:p>
                      <a:pPr algn="ctr" fontAlgn="b"/>
                      <a:r>
                        <a:rPr lang="en-IN" sz="1100" b="1" i="0" u="none" strike="noStrike">
                          <a:solidFill>
                            <a:srgbClr val="000000"/>
                          </a:solidFill>
                          <a:effectLst/>
                          <a:latin typeface="Gotham"/>
                        </a:rPr>
                        <a:t>Fuel</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100" b="1" i="0" u="none" strike="noStrike" dirty="0">
                          <a:solidFill>
                            <a:srgbClr val="000000"/>
                          </a:solidFill>
                          <a:effectLst/>
                          <a:latin typeface="Gotham"/>
                        </a:rPr>
                        <a:t>Diesel</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100" b="1" i="0" u="none" strike="noStrike">
                          <a:solidFill>
                            <a:srgbClr val="000000"/>
                          </a:solidFill>
                          <a:effectLst/>
                          <a:latin typeface="Gotham"/>
                        </a:rPr>
                        <a:t>Biodiesel</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100" b="1" i="0" u="none" strike="noStrike">
                          <a:solidFill>
                            <a:srgbClr val="000000"/>
                          </a:solidFill>
                          <a:effectLst/>
                          <a:latin typeface="Gotham"/>
                        </a:rPr>
                        <a:t>EV</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25597575"/>
                  </a:ext>
                </a:extLst>
              </a:tr>
              <a:tr h="182880">
                <a:tc>
                  <a:txBody>
                    <a:bodyPr/>
                    <a:lstStyle/>
                    <a:p>
                      <a:pPr algn="ctr" fontAlgn="b"/>
                      <a:r>
                        <a:rPr lang="en-US" sz="1100" b="0" i="0" u="none" strike="noStrike">
                          <a:solidFill>
                            <a:srgbClr val="000000"/>
                          </a:solidFill>
                          <a:effectLst/>
                          <a:latin typeface="Gotham"/>
                        </a:rPr>
                        <a:t>Fuel cost per trip(Intra)</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100" b="0" i="0" u="none" strike="noStrike">
                          <a:solidFill>
                            <a:srgbClr val="000000"/>
                          </a:solidFill>
                          <a:effectLst/>
                          <a:latin typeface="Gotham"/>
                        </a:rPr>
                        <a:t>₹ 2,37,600.00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100" b="0" i="0" u="none" strike="noStrike">
                          <a:solidFill>
                            <a:srgbClr val="000000"/>
                          </a:solidFill>
                          <a:effectLst/>
                          <a:latin typeface="Gotham"/>
                        </a:rPr>
                        <a:t>₹ 26,902.17</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100" b="0" i="0" u="none" strike="noStrike">
                          <a:solidFill>
                            <a:srgbClr val="000000"/>
                          </a:solidFill>
                          <a:effectLst/>
                          <a:latin typeface="Gotham"/>
                        </a:rPr>
                        <a:t>₹ 264.00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61899287"/>
                  </a:ext>
                </a:extLst>
              </a:tr>
              <a:tr h="182880">
                <a:tc>
                  <a:txBody>
                    <a:bodyPr/>
                    <a:lstStyle/>
                    <a:p>
                      <a:pPr algn="ctr" fontAlgn="b"/>
                      <a:r>
                        <a:rPr lang="en-US" sz="1100" b="0" i="0" u="none" strike="noStrike">
                          <a:solidFill>
                            <a:srgbClr val="000000"/>
                          </a:solidFill>
                          <a:effectLst/>
                          <a:latin typeface="Gotham"/>
                        </a:rPr>
                        <a:t>Fuel cost per trip(Inter)</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100" b="0" i="0" u="none" strike="noStrike">
                          <a:solidFill>
                            <a:srgbClr val="000000"/>
                          </a:solidFill>
                          <a:effectLst/>
                          <a:latin typeface="Gotham"/>
                        </a:rPr>
                        <a:t>₹ 46,19,700.00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100" b="0" i="0" u="none" strike="noStrike">
                          <a:solidFill>
                            <a:srgbClr val="000000"/>
                          </a:solidFill>
                          <a:effectLst/>
                          <a:latin typeface="Gotham"/>
                        </a:rPr>
                        <a:t>₹ 5,23,063.86</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100" b="0" i="0" u="none" strike="noStrike">
                          <a:solidFill>
                            <a:srgbClr val="000000"/>
                          </a:solidFill>
                          <a:effectLst/>
                          <a:latin typeface="Gotham"/>
                        </a:rPr>
                        <a:t>₹ 5,133.00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55784629"/>
                  </a:ext>
                </a:extLst>
              </a:tr>
              <a:tr h="182880">
                <a:tc>
                  <a:txBody>
                    <a:bodyPr/>
                    <a:lstStyle/>
                    <a:p>
                      <a:pPr algn="ctr" fontAlgn="b"/>
                      <a:r>
                        <a:rPr lang="en-US" sz="1100" b="0" i="0" u="none" strike="noStrike">
                          <a:solidFill>
                            <a:srgbClr val="000000"/>
                          </a:solidFill>
                          <a:effectLst/>
                          <a:latin typeface="Gotham"/>
                        </a:rPr>
                        <a:t>Fuel cost per trip(customer)</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100" b="0" i="0" u="none" strike="noStrike">
                          <a:solidFill>
                            <a:srgbClr val="000000"/>
                          </a:solidFill>
                          <a:effectLst/>
                          <a:latin typeface="Gotham"/>
                        </a:rPr>
                        <a:t>₹ 66,71,200.00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100" b="0" i="0" u="none" strike="noStrike">
                          <a:solidFill>
                            <a:srgbClr val="000000"/>
                          </a:solidFill>
                          <a:effectLst/>
                          <a:latin typeface="Gotham"/>
                        </a:rPr>
                        <a:t>₹ 13,59,619.57</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100" b="0" i="0" u="none" strike="noStrike" dirty="0">
                          <a:solidFill>
                            <a:srgbClr val="000000"/>
                          </a:solidFill>
                          <a:effectLst/>
                          <a:latin typeface="Gotham"/>
                        </a:rPr>
                        <a:t>₹ 13,342.40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67763956"/>
                  </a:ext>
                </a:extLst>
              </a:tr>
            </a:tbl>
          </a:graphicData>
        </a:graphic>
      </p:graphicFrame>
      <p:sp>
        <p:nvSpPr>
          <p:cNvPr id="33" name="TextBox 32">
            <a:extLst>
              <a:ext uri="{FF2B5EF4-FFF2-40B4-BE49-F238E27FC236}">
                <a16:creationId xmlns:a16="http://schemas.microsoft.com/office/drawing/2014/main" id="{DD93F0C1-8EE6-3834-1F57-D200B9DBF8CE}"/>
              </a:ext>
            </a:extLst>
          </p:cNvPr>
          <p:cNvSpPr txBox="1"/>
          <p:nvPr/>
        </p:nvSpPr>
        <p:spPr>
          <a:xfrm>
            <a:off x="190110" y="4449296"/>
            <a:ext cx="4114799" cy="461665"/>
          </a:xfrm>
          <a:prstGeom prst="rect">
            <a:avLst/>
          </a:prstGeom>
          <a:noFill/>
          <a:ln>
            <a:solidFill>
              <a:srgbClr val="92D050"/>
            </a:solidFill>
          </a:ln>
        </p:spPr>
        <p:txBody>
          <a:bodyPr wrap="square" rtlCol="0">
            <a:spAutoFit/>
          </a:bodyPr>
          <a:lstStyle/>
          <a:p>
            <a:r>
              <a:rPr lang="en-IN" sz="1200" dirty="0">
                <a:latin typeface="Gotham"/>
              </a:rPr>
              <a:t>Approximately 99% cost reduction in fuel cost is observed if switched to EV.</a:t>
            </a:r>
          </a:p>
        </p:txBody>
      </p:sp>
      <p:sp>
        <p:nvSpPr>
          <p:cNvPr id="35" name="TextBox 34">
            <a:extLst>
              <a:ext uri="{FF2B5EF4-FFF2-40B4-BE49-F238E27FC236}">
                <a16:creationId xmlns:a16="http://schemas.microsoft.com/office/drawing/2014/main" id="{78EB1DC6-2A84-8B6F-DAEA-BCA18B26B080}"/>
              </a:ext>
            </a:extLst>
          </p:cNvPr>
          <p:cNvSpPr txBox="1"/>
          <p:nvPr/>
        </p:nvSpPr>
        <p:spPr>
          <a:xfrm>
            <a:off x="4480340" y="3624584"/>
            <a:ext cx="2687769" cy="1200329"/>
          </a:xfrm>
          <a:prstGeom prst="rect">
            <a:avLst/>
          </a:prstGeom>
          <a:noFill/>
          <a:ln>
            <a:solidFill>
              <a:srgbClr val="FFC000"/>
            </a:solidFill>
          </a:ln>
        </p:spPr>
        <p:txBody>
          <a:bodyPr wrap="square" rtlCol="0">
            <a:spAutoFit/>
          </a:bodyPr>
          <a:lstStyle/>
          <a:p>
            <a:r>
              <a:rPr lang="en-IN" sz="1200" dirty="0">
                <a:latin typeface="Gotham"/>
              </a:rPr>
              <a:t>If change in fleet is to be considered EV is not be feasible in Intra and Inter unit movements as vehicles of required payload capacity are not available currently. Also, average distance of trip is high for Inter unit movement.</a:t>
            </a:r>
          </a:p>
        </p:txBody>
      </p:sp>
      <p:sp>
        <p:nvSpPr>
          <p:cNvPr id="37" name="TextBox 36">
            <a:extLst>
              <a:ext uri="{FF2B5EF4-FFF2-40B4-BE49-F238E27FC236}">
                <a16:creationId xmlns:a16="http://schemas.microsoft.com/office/drawing/2014/main" id="{C57AB05B-C6F8-86C4-1554-F38D6C3E0A9F}"/>
              </a:ext>
            </a:extLst>
          </p:cNvPr>
          <p:cNvSpPr txBox="1"/>
          <p:nvPr/>
        </p:nvSpPr>
        <p:spPr>
          <a:xfrm>
            <a:off x="7246957" y="3620211"/>
            <a:ext cx="2369628" cy="1200329"/>
          </a:xfrm>
          <a:prstGeom prst="rect">
            <a:avLst/>
          </a:prstGeom>
          <a:noFill/>
          <a:ln>
            <a:solidFill>
              <a:srgbClr val="FFC000"/>
            </a:solidFill>
          </a:ln>
        </p:spPr>
        <p:txBody>
          <a:bodyPr wrap="square" rtlCol="0">
            <a:spAutoFit/>
          </a:bodyPr>
          <a:lstStyle/>
          <a:p>
            <a:r>
              <a:rPr lang="en-IN" sz="1200" dirty="0">
                <a:latin typeface="Gotham"/>
              </a:rPr>
              <a:t>Considering change in fleet for customer movement(low CAPEX)</a:t>
            </a:r>
          </a:p>
          <a:p>
            <a:r>
              <a:rPr lang="en-IN" sz="1200" dirty="0">
                <a:latin typeface="Gotham"/>
              </a:rPr>
              <a:t>Vehicle: Tata Ace EV</a:t>
            </a:r>
          </a:p>
          <a:p>
            <a:r>
              <a:rPr lang="en-IN" sz="1200" dirty="0">
                <a:latin typeface="Gotham"/>
              </a:rPr>
              <a:t>Payload Capacity: 600 kg</a:t>
            </a:r>
          </a:p>
          <a:p>
            <a:r>
              <a:rPr lang="en-IN" sz="1200" dirty="0">
                <a:latin typeface="Gotham"/>
              </a:rPr>
              <a:t>Mileage: 154 km on a single charge</a:t>
            </a:r>
          </a:p>
          <a:p>
            <a:r>
              <a:rPr lang="en-IN" sz="1200" dirty="0">
                <a:latin typeface="Gotham"/>
              </a:rPr>
              <a:t>Cost per unit: </a:t>
            </a:r>
            <a:r>
              <a:rPr lang="en-IN" sz="1200" b="0" i="0" u="none" strike="noStrike" dirty="0">
                <a:solidFill>
                  <a:srgbClr val="000000"/>
                </a:solidFill>
                <a:effectLst/>
                <a:latin typeface="Gotham"/>
              </a:rPr>
              <a:t>₹ </a:t>
            </a:r>
            <a:r>
              <a:rPr lang="en-IN" sz="1200" dirty="0">
                <a:latin typeface="Gotham"/>
              </a:rPr>
              <a:t>6.6L</a:t>
            </a:r>
          </a:p>
        </p:txBody>
      </p:sp>
      <p:sp>
        <p:nvSpPr>
          <p:cNvPr id="38" name="TextBox 37">
            <a:extLst>
              <a:ext uri="{FF2B5EF4-FFF2-40B4-BE49-F238E27FC236}">
                <a16:creationId xmlns:a16="http://schemas.microsoft.com/office/drawing/2014/main" id="{8AD17568-66A9-D217-64D4-D97987B53EE5}"/>
              </a:ext>
            </a:extLst>
          </p:cNvPr>
          <p:cNvSpPr txBox="1"/>
          <p:nvPr/>
        </p:nvSpPr>
        <p:spPr>
          <a:xfrm>
            <a:off x="9888597" y="3588162"/>
            <a:ext cx="2175881" cy="646331"/>
          </a:xfrm>
          <a:prstGeom prst="rect">
            <a:avLst/>
          </a:prstGeom>
          <a:noFill/>
          <a:ln w="19050">
            <a:solidFill>
              <a:srgbClr val="00B050"/>
            </a:solidFill>
          </a:ln>
        </p:spPr>
        <p:txBody>
          <a:bodyPr wrap="square" rtlCol="0">
            <a:spAutoFit/>
          </a:bodyPr>
          <a:lstStyle/>
          <a:p>
            <a:r>
              <a:rPr lang="en-IN" sz="1200" b="1" dirty="0">
                <a:latin typeface="Gotham"/>
              </a:rPr>
              <a:t>Recommendation #1:</a:t>
            </a:r>
            <a:r>
              <a:rPr lang="en-IN" sz="1200" dirty="0">
                <a:latin typeface="Gotham"/>
              </a:rPr>
              <a:t> Phased switching to EV for customer movement for vehicles &gt;8 yr old</a:t>
            </a:r>
          </a:p>
        </p:txBody>
      </p:sp>
      <p:sp>
        <p:nvSpPr>
          <p:cNvPr id="40" name="Rectangle 39">
            <a:extLst>
              <a:ext uri="{FF2B5EF4-FFF2-40B4-BE49-F238E27FC236}">
                <a16:creationId xmlns:a16="http://schemas.microsoft.com/office/drawing/2014/main" id="{82BC8D43-0211-F612-D48F-1865B1C0245E}"/>
              </a:ext>
            </a:extLst>
          </p:cNvPr>
          <p:cNvSpPr/>
          <p:nvPr/>
        </p:nvSpPr>
        <p:spPr>
          <a:xfrm>
            <a:off x="102631" y="3580096"/>
            <a:ext cx="9610536" cy="1372445"/>
          </a:xfrm>
          <a:prstGeom prst="rect">
            <a:avLst/>
          </a:prstGeom>
          <a:noFill/>
          <a:ln>
            <a:solidFill>
              <a:schemeClr val="tx1">
                <a:lumMod val="95000"/>
                <a:lumOff val="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Gotham"/>
            </a:endParaRPr>
          </a:p>
        </p:txBody>
      </p:sp>
      <p:cxnSp>
        <p:nvCxnSpPr>
          <p:cNvPr id="42" name="Straight Arrow Connector 41">
            <a:extLst>
              <a:ext uri="{FF2B5EF4-FFF2-40B4-BE49-F238E27FC236}">
                <a16:creationId xmlns:a16="http://schemas.microsoft.com/office/drawing/2014/main" id="{3E07414E-F110-711F-1B4E-0306F7E7EDF3}"/>
              </a:ext>
            </a:extLst>
          </p:cNvPr>
          <p:cNvCxnSpPr>
            <a:cxnSpLocks/>
          </p:cNvCxnSpPr>
          <p:nvPr/>
        </p:nvCxnSpPr>
        <p:spPr>
          <a:xfrm>
            <a:off x="9717176" y="3951613"/>
            <a:ext cx="21591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B719A025-AC2D-363C-7239-1735D427F940}"/>
              </a:ext>
            </a:extLst>
          </p:cNvPr>
          <p:cNvSpPr txBox="1"/>
          <p:nvPr/>
        </p:nvSpPr>
        <p:spPr>
          <a:xfrm>
            <a:off x="9879265" y="4310378"/>
            <a:ext cx="2194547" cy="1200329"/>
          </a:xfrm>
          <a:prstGeom prst="rect">
            <a:avLst/>
          </a:prstGeom>
          <a:noFill/>
          <a:ln>
            <a:solidFill>
              <a:srgbClr val="00B0F0"/>
            </a:solidFill>
          </a:ln>
        </p:spPr>
        <p:txBody>
          <a:bodyPr wrap="square" rtlCol="0">
            <a:spAutoFit/>
          </a:bodyPr>
          <a:lstStyle/>
          <a:p>
            <a:r>
              <a:rPr lang="en-IN" sz="1200" dirty="0">
                <a:latin typeface="Gotham"/>
              </a:rPr>
              <a:t>Cost of replacing 30% of the fleet = </a:t>
            </a:r>
            <a:r>
              <a:rPr lang="en-IN" sz="1200" b="0" i="0" u="none" strike="noStrike" dirty="0">
                <a:solidFill>
                  <a:srgbClr val="000000"/>
                </a:solidFill>
                <a:effectLst/>
                <a:latin typeface="Gotham"/>
              </a:rPr>
              <a:t> ₹ 71,90,37,000</a:t>
            </a:r>
          </a:p>
          <a:p>
            <a:r>
              <a:rPr lang="en-IN" sz="1200" dirty="0">
                <a:solidFill>
                  <a:srgbClr val="000000"/>
                </a:solidFill>
                <a:latin typeface="Gotham"/>
              </a:rPr>
              <a:t>Risks: Availability of charging stations</a:t>
            </a:r>
          </a:p>
          <a:p>
            <a:r>
              <a:rPr lang="en-IN" sz="1200" dirty="0">
                <a:solidFill>
                  <a:srgbClr val="000000"/>
                </a:solidFill>
                <a:latin typeface="Gotham"/>
              </a:rPr>
              <a:t>Possible solution: In-house charging station at plants</a:t>
            </a:r>
            <a:endParaRPr lang="en-IN" sz="1200" dirty="0">
              <a:latin typeface="Gotham"/>
            </a:endParaRPr>
          </a:p>
        </p:txBody>
      </p:sp>
      <p:sp>
        <p:nvSpPr>
          <p:cNvPr id="10" name="TextBox 9">
            <a:extLst>
              <a:ext uri="{FF2B5EF4-FFF2-40B4-BE49-F238E27FC236}">
                <a16:creationId xmlns:a16="http://schemas.microsoft.com/office/drawing/2014/main" id="{D39DAFAF-ECD0-BB1D-865F-BD742ADBAE06}"/>
              </a:ext>
            </a:extLst>
          </p:cNvPr>
          <p:cNvSpPr txBox="1"/>
          <p:nvPr/>
        </p:nvSpPr>
        <p:spPr>
          <a:xfrm>
            <a:off x="102631" y="5022360"/>
            <a:ext cx="1996757" cy="1569660"/>
          </a:xfrm>
          <a:prstGeom prst="rect">
            <a:avLst/>
          </a:prstGeom>
          <a:noFill/>
          <a:ln w="19050">
            <a:solidFill>
              <a:srgbClr val="92D050"/>
            </a:solidFill>
          </a:ln>
        </p:spPr>
        <p:txBody>
          <a:bodyPr wrap="square">
            <a:spAutoFit/>
          </a:bodyPr>
          <a:lstStyle/>
          <a:p>
            <a:r>
              <a:rPr lang="en-IN" sz="1200" b="1" dirty="0">
                <a:latin typeface="Gotham"/>
              </a:rPr>
              <a:t>Recommendation #2:</a:t>
            </a:r>
          </a:p>
          <a:p>
            <a:r>
              <a:rPr lang="en-IN" sz="1200" dirty="0">
                <a:latin typeface="Gotham"/>
              </a:rPr>
              <a:t>E20 blend with diesel </a:t>
            </a:r>
          </a:p>
          <a:p>
            <a:r>
              <a:rPr lang="en-IN" sz="1200" b="1" dirty="0">
                <a:latin typeface="Gotham"/>
              </a:rPr>
              <a:t>Benefits:</a:t>
            </a:r>
          </a:p>
          <a:p>
            <a:r>
              <a:rPr lang="en-IN" sz="1200" dirty="0">
                <a:latin typeface="Gotham"/>
              </a:rPr>
              <a:t>10% reduction in fuel cost</a:t>
            </a:r>
          </a:p>
          <a:p>
            <a:r>
              <a:rPr lang="en-IN" sz="1200" dirty="0">
                <a:latin typeface="Gotham"/>
              </a:rPr>
              <a:t>30% reduction in emissions</a:t>
            </a:r>
          </a:p>
          <a:p>
            <a:r>
              <a:rPr lang="en-IN" sz="1200" b="1" dirty="0">
                <a:latin typeface="Gotham"/>
              </a:rPr>
              <a:t>Risks:</a:t>
            </a:r>
            <a:r>
              <a:rPr lang="en-IN" sz="1200" dirty="0">
                <a:latin typeface="Gotham"/>
              </a:rPr>
              <a:t> E20 blend to be available in phased manner only post Apr 2023</a:t>
            </a:r>
          </a:p>
        </p:txBody>
      </p:sp>
      <p:sp>
        <p:nvSpPr>
          <p:cNvPr id="12" name="TextBox 11">
            <a:extLst>
              <a:ext uri="{FF2B5EF4-FFF2-40B4-BE49-F238E27FC236}">
                <a16:creationId xmlns:a16="http://schemas.microsoft.com/office/drawing/2014/main" id="{6AC43C00-F920-0AA7-1B4B-CD4288C44ABB}"/>
              </a:ext>
            </a:extLst>
          </p:cNvPr>
          <p:cNvSpPr txBox="1"/>
          <p:nvPr/>
        </p:nvSpPr>
        <p:spPr>
          <a:xfrm>
            <a:off x="2247509" y="5022360"/>
            <a:ext cx="2407298" cy="1754326"/>
          </a:xfrm>
          <a:prstGeom prst="rect">
            <a:avLst/>
          </a:prstGeom>
          <a:noFill/>
          <a:ln w="19050">
            <a:solidFill>
              <a:srgbClr val="92D050"/>
            </a:solidFill>
          </a:ln>
        </p:spPr>
        <p:txBody>
          <a:bodyPr wrap="square" rtlCol="0">
            <a:spAutoFit/>
          </a:bodyPr>
          <a:lstStyle/>
          <a:p>
            <a:r>
              <a:rPr lang="en-IN" sz="1200" b="1" dirty="0">
                <a:latin typeface="Gotham"/>
              </a:rPr>
              <a:t>Recommendation #3:</a:t>
            </a:r>
          </a:p>
          <a:p>
            <a:r>
              <a:rPr lang="en-IN" sz="1200" dirty="0">
                <a:latin typeface="Gotham"/>
              </a:rPr>
              <a:t>Exploring the scope of Carry &amp; Forward (C&amp;F) Agent</a:t>
            </a:r>
          </a:p>
          <a:p>
            <a:r>
              <a:rPr lang="en-IN" sz="1200" dirty="0">
                <a:latin typeface="Gotham"/>
              </a:rPr>
              <a:t>Choosing 500 C&amp;F Agents from 5500+ distributors</a:t>
            </a:r>
          </a:p>
          <a:p>
            <a:r>
              <a:rPr lang="en-IN" sz="1200" dirty="0">
                <a:latin typeface="Gotham"/>
              </a:rPr>
              <a:t>Collaboration for with Pepsi and similar companies for distribution</a:t>
            </a:r>
          </a:p>
          <a:p>
            <a:r>
              <a:rPr lang="en-IN" sz="1200" b="1" dirty="0">
                <a:latin typeface="Gotham"/>
              </a:rPr>
              <a:t>Risks:</a:t>
            </a:r>
            <a:r>
              <a:rPr lang="en-IN" sz="1200" dirty="0">
                <a:latin typeface="Gotham"/>
              </a:rPr>
              <a:t> Storage charges, bottom line affected</a:t>
            </a:r>
          </a:p>
        </p:txBody>
      </p:sp>
      <p:grpSp>
        <p:nvGrpSpPr>
          <p:cNvPr id="56" name="Group 55">
            <a:extLst>
              <a:ext uri="{FF2B5EF4-FFF2-40B4-BE49-F238E27FC236}">
                <a16:creationId xmlns:a16="http://schemas.microsoft.com/office/drawing/2014/main" id="{40CE0745-BC89-7382-8C98-7C7FBE7D2D79}"/>
              </a:ext>
            </a:extLst>
          </p:cNvPr>
          <p:cNvGrpSpPr/>
          <p:nvPr/>
        </p:nvGrpSpPr>
        <p:grpSpPr>
          <a:xfrm>
            <a:off x="4793596" y="5681700"/>
            <a:ext cx="7115135" cy="1067839"/>
            <a:chOff x="4802928" y="5582138"/>
            <a:chExt cx="7115135" cy="1067839"/>
          </a:xfrm>
        </p:grpSpPr>
        <p:sp>
          <p:nvSpPr>
            <p:cNvPr id="13" name="Rectangle 12">
              <a:extLst>
                <a:ext uri="{FF2B5EF4-FFF2-40B4-BE49-F238E27FC236}">
                  <a16:creationId xmlns:a16="http://schemas.microsoft.com/office/drawing/2014/main" id="{ED2EC3A2-196A-B759-78D8-9662D62FA9F6}"/>
                </a:ext>
              </a:extLst>
            </p:cNvPr>
            <p:cNvSpPr/>
            <p:nvPr/>
          </p:nvSpPr>
          <p:spPr>
            <a:xfrm>
              <a:off x="4802928" y="5582138"/>
              <a:ext cx="7108920" cy="20283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latin typeface="Gotham"/>
                </a:rPr>
                <a:t>Timeline of Implementation</a:t>
              </a:r>
            </a:p>
          </p:txBody>
        </p:sp>
        <p:sp>
          <p:nvSpPr>
            <p:cNvPr id="14" name="Rectangle 13">
              <a:extLst>
                <a:ext uri="{FF2B5EF4-FFF2-40B4-BE49-F238E27FC236}">
                  <a16:creationId xmlns:a16="http://schemas.microsoft.com/office/drawing/2014/main" id="{6069365B-E56D-431E-A06E-1D23E8823004}"/>
                </a:ext>
              </a:extLst>
            </p:cNvPr>
            <p:cNvSpPr/>
            <p:nvPr/>
          </p:nvSpPr>
          <p:spPr>
            <a:xfrm>
              <a:off x="4802929" y="5822302"/>
              <a:ext cx="1719170" cy="168505"/>
            </a:xfrm>
            <a:prstGeom prst="rect">
              <a:avLst/>
            </a:prstGeom>
            <a:solidFill>
              <a:srgbClr val="FE00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latin typeface="Gotham"/>
                </a:rPr>
                <a:t>2022</a:t>
              </a:r>
            </a:p>
          </p:txBody>
        </p:sp>
        <p:sp>
          <p:nvSpPr>
            <p:cNvPr id="23" name="Rectangle 22">
              <a:extLst>
                <a:ext uri="{FF2B5EF4-FFF2-40B4-BE49-F238E27FC236}">
                  <a16:creationId xmlns:a16="http://schemas.microsoft.com/office/drawing/2014/main" id="{647F2B26-AFAF-F165-6202-522F614993CC}"/>
                </a:ext>
              </a:extLst>
            </p:cNvPr>
            <p:cNvSpPr/>
            <p:nvPr/>
          </p:nvSpPr>
          <p:spPr>
            <a:xfrm>
              <a:off x="6596216" y="5822302"/>
              <a:ext cx="1719170" cy="168505"/>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latin typeface="Gotham"/>
                </a:rPr>
                <a:t>2023</a:t>
              </a:r>
            </a:p>
          </p:txBody>
        </p:sp>
        <p:sp>
          <p:nvSpPr>
            <p:cNvPr id="27" name="Rectangle 26">
              <a:extLst>
                <a:ext uri="{FF2B5EF4-FFF2-40B4-BE49-F238E27FC236}">
                  <a16:creationId xmlns:a16="http://schemas.microsoft.com/office/drawing/2014/main" id="{6A723650-7E8F-F535-021A-1C07136382C5}"/>
                </a:ext>
              </a:extLst>
            </p:cNvPr>
            <p:cNvSpPr/>
            <p:nvPr/>
          </p:nvSpPr>
          <p:spPr>
            <a:xfrm>
              <a:off x="8385116" y="5822302"/>
              <a:ext cx="1719170" cy="16850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latin typeface="Gotham"/>
                </a:rPr>
                <a:t>2024</a:t>
              </a:r>
            </a:p>
          </p:txBody>
        </p:sp>
        <p:sp>
          <p:nvSpPr>
            <p:cNvPr id="31" name="Rectangle 30">
              <a:extLst>
                <a:ext uri="{FF2B5EF4-FFF2-40B4-BE49-F238E27FC236}">
                  <a16:creationId xmlns:a16="http://schemas.microsoft.com/office/drawing/2014/main" id="{5DF3B536-55FB-3590-8EEF-097F38F7D04A}"/>
                </a:ext>
              </a:extLst>
            </p:cNvPr>
            <p:cNvSpPr/>
            <p:nvPr/>
          </p:nvSpPr>
          <p:spPr>
            <a:xfrm>
              <a:off x="10174016" y="5822303"/>
              <a:ext cx="1737832" cy="16772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latin typeface="Gotham"/>
                </a:rPr>
                <a:t>2025/26</a:t>
              </a:r>
            </a:p>
          </p:txBody>
        </p:sp>
        <p:sp>
          <p:nvSpPr>
            <p:cNvPr id="36" name="Rectangle 35">
              <a:extLst>
                <a:ext uri="{FF2B5EF4-FFF2-40B4-BE49-F238E27FC236}">
                  <a16:creationId xmlns:a16="http://schemas.microsoft.com/office/drawing/2014/main" id="{4850225B-EE44-D028-BF48-62F112F63C3F}"/>
                </a:ext>
              </a:extLst>
            </p:cNvPr>
            <p:cNvSpPr/>
            <p:nvPr/>
          </p:nvSpPr>
          <p:spPr>
            <a:xfrm>
              <a:off x="6096000" y="6037663"/>
              <a:ext cx="5815848" cy="1640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latin typeface="Gotham"/>
                </a:rPr>
                <a:t>Recommendation #1</a:t>
              </a:r>
            </a:p>
          </p:txBody>
        </p:sp>
        <p:sp>
          <p:nvSpPr>
            <p:cNvPr id="41" name="Rectangle 40">
              <a:extLst>
                <a:ext uri="{FF2B5EF4-FFF2-40B4-BE49-F238E27FC236}">
                  <a16:creationId xmlns:a16="http://schemas.microsoft.com/office/drawing/2014/main" id="{D82C5A24-71A9-3B5D-6B0F-5E3309AD667E}"/>
                </a:ext>
              </a:extLst>
            </p:cNvPr>
            <p:cNvSpPr/>
            <p:nvPr/>
          </p:nvSpPr>
          <p:spPr>
            <a:xfrm>
              <a:off x="7265618" y="6264291"/>
              <a:ext cx="4652445" cy="1640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latin typeface="Gotham"/>
                </a:rPr>
                <a:t>Recommendation #2</a:t>
              </a:r>
            </a:p>
          </p:txBody>
        </p:sp>
        <p:sp>
          <p:nvSpPr>
            <p:cNvPr id="45" name="Rectangle 44">
              <a:extLst>
                <a:ext uri="{FF2B5EF4-FFF2-40B4-BE49-F238E27FC236}">
                  <a16:creationId xmlns:a16="http://schemas.microsoft.com/office/drawing/2014/main" id="{0C146E56-17FC-250B-6FBF-6F4D272D5483}"/>
                </a:ext>
              </a:extLst>
            </p:cNvPr>
            <p:cNvSpPr/>
            <p:nvPr/>
          </p:nvSpPr>
          <p:spPr>
            <a:xfrm>
              <a:off x="6083554" y="6485926"/>
              <a:ext cx="4020732" cy="1640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latin typeface="Gotham"/>
                </a:rPr>
                <a:t>Recommendation #3</a:t>
              </a:r>
            </a:p>
          </p:txBody>
        </p:sp>
      </p:grpSp>
      <p:sp>
        <p:nvSpPr>
          <p:cNvPr id="46" name="TextBox 45">
            <a:extLst>
              <a:ext uri="{FF2B5EF4-FFF2-40B4-BE49-F238E27FC236}">
                <a16:creationId xmlns:a16="http://schemas.microsoft.com/office/drawing/2014/main" id="{5EF4C7A8-5E19-2295-2854-605EFE5528B9}"/>
              </a:ext>
            </a:extLst>
          </p:cNvPr>
          <p:cNvSpPr txBox="1"/>
          <p:nvPr/>
        </p:nvSpPr>
        <p:spPr>
          <a:xfrm>
            <a:off x="96373" y="2477153"/>
            <a:ext cx="4377708" cy="276999"/>
          </a:xfrm>
          <a:prstGeom prst="rect">
            <a:avLst/>
          </a:prstGeom>
          <a:solidFill>
            <a:srgbClr val="92D050"/>
          </a:solidFill>
        </p:spPr>
        <p:txBody>
          <a:bodyPr wrap="square" rtlCol="0">
            <a:spAutoFit/>
          </a:bodyPr>
          <a:lstStyle/>
          <a:p>
            <a:r>
              <a:rPr lang="en-IN" sz="1200" dirty="0">
                <a:latin typeface="Gotham"/>
              </a:rPr>
              <a:t>Aggregating scores of alternative fuels based on the 4 parameters</a:t>
            </a:r>
          </a:p>
        </p:txBody>
      </p:sp>
      <p:cxnSp>
        <p:nvCxnSpPr>
          <p:cNvPr id="53" name="Straight Arrow Connector 52">
            <a:extLst>
              <a:ext uri="{FF2B5EF4-FFF2-40B4-BE49-F238E27FC236}">
                <a16:creationId xmlns:a16="http://schemas.microsoft.com/office/drawing/2014/main" id="{9B0FCA19-8C83-BB4D-4572-132B3E30492B}"/>
              </a:ext>
            </a:extLst>
          </p:cNvPr>
          <p:cNvCxnSpPr/>
          <p:nvPr/>
        </p:nvCxnSpPr>
        <p:spPr>
          <a:xfrm>
            <a:off x="8010776" y="2990672"/>
            <a:ext cx="474365"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55" name="Rectangle 54">
            <a:extLst>
              <a:ext uri="{FF2B5EF4-FFF2-40B4-BE49-F238E27FC236}">
                <a16:creationId xmlns:a16="http://schemas.microsoft.com/office/drawing/2014/main" id="{5EB8FDB5-EE43-4B8D-A8F9-DBA4F51C6357}"/>
              </a:ext>
            </a:extLst>
          </p:cNvPr>
          <p:cNvSpPr/>
          <p:nvPr/>
        </p:nvSpPr>
        <p:spPr>
          <a:xfrm>
            <a:off x="10326266" y="506192"/>
            <a:ext cx="1763102" cy="1844701"/>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Gotham"/>
            </a:endParaRPr>
          </a:p>
        </p:txBody>
      </p:sp>
      <p:sp>
        <p:nvSpPr>
          <p:cNvPr id="58" name="TextBox 57">
            <a:extLst>
              <a:ext uri="{FF2B5EF4-FFF2-40B4-BE49-F238E27FC236}">
                <a16:creationId xmlns:a16="http://schemas.microsoft.com/office/drawing/2014/main" id="{3BD4E1D5-73F3-3D82-3740-F548817A3E35}"/>
              </a:ext>
            </a:extLst>
          </p:cNvPr>
          <p:cNvSpPr txBox="1"/>
          <p:nvPr/>
        </p:nvSpPr>
        <p:spPr>
          <a:xfrm>
            <a:off x="-34781" y="6611039"/>
            <a:ext cx="2407298" cy="276999"/>
          </a:xfrm>
          <a:prstGeom prst="rect">
            <a:avLst/>
          </a:prstGeom>
          <a:noFill/>
        </p:spPr>
        <p:txBody>
          <a:bodyPr wrap="square" rtlCol="0">
            <a:spAutoFit/>
          </a:bodyPr>
          <a:lstStyle/>
          <a:p>
            <a:r>
              <a:rPr lang="en-IN" sz="1200" b="1" dirty="0">
                <a:latin typeface="Gotham"/>
              </a:rPr>
              <a:t>For further details, refer </a:t>
            </a:r>
            <a:r>
              <a:rPr lang="en-IN" sz="1200" b="1" dirty="0">
                <a:latin typeface="Gotham"/>
                <a:hlinkClick r:id="rId2"/>
              </a:rPr>
              <a:t>Appendix</a:t>
            </a:r>
            <a:endParaRPr lang="en-IN" sz="1200" b="1" dirty="0">
              <a:latin typeface="Gotham"/>
            </a:endParaRPr>
          </a:p>
        </p:txBody>
      </p:sp>
      <p:sp>
        <p:nvSpPr>
          <p:cNvPr id="60" name="TextBox 59">
            <a:extLst>
              <a:ext uri="{FF2B5EF4-FFF2-40B4-BE49-F238E27FC236}">
                <a16:creationId xmlns:a16="http://schemas.microsoft.com/office/drawing/2014/main" id="{B925F9CB-7D76-0ACC-829A-C005EDCEDD39}"/>
              </a:ext>
            </a:extLst>
          </p:cNvPr>
          <p:cNvSpPr txBox="1"/>
          <p:nvPr/>
        </p:nvSpPr>
        <p:spPr>
          <a:xfrm>
            <a:off x="4802927" y="5003286"/>
            <a:ext cx="4813657" cy="646331"/>
          </a:xfrm>
          <a:prstGeom prst="rect">
            <a:avLst/>
          </a:prstGeom>
          <a:noFill/>
          <a:ln w="19050">
            <a:solidFill>
              <a:srgbClr val="FF0000"/>
            </a:solidFill>
            <a:prstDash val="dash"/>
          </a:ln>
        </p:spPr>
        <p:txBody>
          <a:bodyPr wrap="square" rtlCol="0">
            <a:spAutoFit/>
          </a:bodyPr>
          <a:lstStyle/>
          <a:p>
            <a:r>
              <a:rPr lang="en-IN" sz="1200" b="1" dirty="0">
                <a:latin typeface="Gotham"/>
              </a:rPr>
              <a:t>Impact on emissions:</a:t>
            </a:r>
          </a:p>
          <a:p>
            <a:pPr marL="171450" indent="-171450">
              <a:buFont typeface="Arial" panose="020B0604020202020204" pitchFamily="34" charset="0"/>
              <a:buChar char="•"/>
            </a:pPr>
            <a:r>
              <a:rPr lang="en-IN" sz="1200" dirty="0">
                <a:latin typeface="Gotham"/>
              </a:rPr>
              <a:t>52% reduction on carbon emissions from current scenario(EV)</a:t>
            </a:r>
          </a:p>
          <a:p>
            <a:pPr marL="171450" indent="-171450">
              <a:buFont typeface="Arial" panose="020B0604020202020204" pitchFamily="34" charset="0"/>
              <a:buChar char="•"/>
            </a:pPr>
            <a:r>
              <a:rPr lang="en-IN" sz="1200" dirty="0">
                <a:latin typeface="Gotham"/>
              </a:rPr>
              <a:t>22% increase in carbon emissions from current scenario(E20 blend)</a:t>
            </a:r>
          </a:p>
        </p:txBody>
      </p:sp>
    </p:spTree>
    <p:extLst>
      <p:ext uri="{BB962C8B-B14F-4D97-AF65-F5344CB8AC3E}">
        <p14:creationId xmlns:p14="http://schemas.microsoft.com/office/powerpoint/2010/main" val="33602386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4626</TotalTime>
  <Words>944</Words>
  <Application>Microsoft Office PowerPoint</Application>
  <PresentationFormat>Widescreen</PresentationFormat>
  <Paragraphs>306</Paragraphs>
  <Slides>3</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Arial</vt:lpstr>
      <vt:lpstr>Calibri</vt:lpstr>
      <vt:lpstr>Calibri Light</vt:lpstr>
      <vt:lpstr>Gotham</vt:lpstr>
      <vt:lpstr>Office Theme</vt:lpstr>
      <vt:lpstr>HCCB Disrupt Season 1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Devesh Sinha</dc:creator>
  <cp:lastModifiedBy>Devesh Sinha</cp:lastModifiedBy>
  <cp:revision>12</cp:revision>
  <dcterms:created xsi:type="dcterms:W3CDTF">2022-08-30T11:56:58Z</dcterms:created>
  <dcterms:modified xsi:type="dcterms:W3CDTF">2022-09-04T16:10:12Z</dcterms:modified>
</cp:coreProperties>
</file>