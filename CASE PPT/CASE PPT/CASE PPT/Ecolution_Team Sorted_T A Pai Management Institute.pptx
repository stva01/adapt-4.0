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5" r:id="rId2"/>
    <p:sldId id="264" r:id="rId3"/>
    <p:sldId id="266" r:id="rId4"/>
    <p:sldId id="268" r:id="rId5"/>
    <p:sldId id="272" r:id="rId6"/>
    <p:sldId id="270" r:id="rId7"/>
    <p:sldId id="269" r:id="rId8"/>
    <p:sldId id="273" r:id="rId9"/>
    <p:sldId id="274" r:id="rId10"/>
    <p:sldId id="278" r:id="rId11"/>
    <p:sldId id="279" r:id="rId12"/>
    <p:sldId id="267" r:id="rId13"/>
    <p:sldId id="281" r:id="rId14"/>
    <p:sldId id="282" r:id="rId15"/>
    <p:sldId id="28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ohit\Desktop\New%20Microsoft%20Excel%20Workshe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dirty="0">
                <a:solidFill>
                  <a:schemeClr val="bg1"/>
                </a:solidFill>
              </a:rPr>
              <a:t>EXPECTED INSTALLATION</a:t>
            </a:r>
            <a:r>
              <a:rPr lang="en-IN" sz="1600" b="1" baseline="0" dirty="0">
                <a:solidFill>
                  <a:schemeClr val="bg1"/>
                </a:solidFill>
              </a:rPr>
              <a:t> OF 20GW </a:t>
            </a:r>
            <a:r>
              <a:rPr lang="en-IN" sz="1600" b="1" dirty="0">
                <a:solidFill>
                  <a:schemeClr val="bg1"/>
                </a:solidFill>
              </a:rPr>
              <a:t>ROOFTOP</a:t>
            </a:r>
            <a:r>
              <a:rPr lang="en-IN" sz="1600" b="1" baseline="0" dirty="0">
                <a:solidFill>
                  <a:schemeClr val="bg1"/>
                </a:solidFill>
              </a:rPr>
              <a:t> SOLAR(RTS) CAPACITY BY 2022</a:t>
            </a:r>
            <a:endParaRPr lang="en-IN" sz="1600" b="1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Industrial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Sheet1!$B$1:$K$1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2022E</c:v>
                </c:pt>
              </c:strCache>
            </c:strRef>
          </c:cat>
          <c:val>
            <c:numRef>
              <c:f>Sheet1!$B$2:$K$2</c:f>
              <c:numCache>
                <c:formatCode>General</c:formatCode>
                <c:ptCount val="10"/>
                <c:pt idx="0">
                  <c:v>21</c:v>
                </c:pt>
                <c:pt idx="1">
                  <c:v>45</c:v>
                </c:pt>
                <c:pt idx="2">
                  <c:v>121</c:v>
                </c:pt>
                <c:pt idx="3">
                  <c:v>268</c:v>
                </c:pt>
                <c:pt idx="4">
                  <c:v>455</c:v>
                </c:pt>
                <c:pt idx="5">
                  <c:v>780</c:v>
                </c:pt>
                <c:pt idx="6">
                  <c:v>905</c:v>
                </c:pt>
                <c:pt idx="7">
                  <c:v>1200</c:v>
                </c:pt>
                <c:pt idx="8">
                  <c:v>1400</c:v>
                </c:pt>
                <c:pt idx="9">
                  <c:v>1750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C0-483A-A5CD-7B426A7C08CF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Commercial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Sheet1!$B$1:$K$1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2022E</c:v>
                </c:pt>
              </c:strCache>
            </c:strRef>
          </c:cat>
          <c:val>
            <c:numRef>
              <c:f>Sheet1!$B$3:$K$3</c:f>
              <c:numCache>
                <c:formatCode>General</c:formatCode>
                <c:ptCount val="10"/>
                <c:pt idx="0">
                  <c:v>20</c:v>
                </c:pt>
                <c:pt idx="1">
                  <c:v>37</c:v>
                </c:pt>
                <c:pt idx="2">
                  <c:v>83</c:v>
                </c:pt>
                <c:pt idx="3">
                  <c:v>128</c:v>
                </c:pt>
                <c:pt idx="4">
                  <c:v>220</c:v>
                </c:pt>
                <c:pt idx="5">
                  <c:v>380</c:v>
                </c:pt>
                <c:pt idx="6">
                  <c:v>486</c:v>
                </c:pt>
                <c:pt idx="7">
                  <c:v>630</c:v>
                </c:pt>
                <c:pt idx="8">
                  <c:v>780</c:v>
                </c:pt>
                <c:pt idx="9">
                  <c:v>880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C0-483A-A5CD-7B426A7C08CF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Government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Sheet1!$B$1:$K$1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2022E</c:v>
                </c:pt>
              </c:strCache>
            </c:strRef>
          </c:cat>
          <c:val>
            <c:numRef>
              <c:f>Sheet1!$B$4:$K$4</c:f>
              <c:numCache>
                <c:formatCode>General</c:formatCode>
                <c:ptCount val="10"/>
                <c:pt idx="0">
                  <c:v>7</c:v>
                </c:pt>
                <c:pt idx="1">
                  <c:v>21</c:v>
                </c:pt>
                <c:pt idx="2">
                  <c:v>35</c:v>
                </c:pt>
                <c:pt idx="3">
                  <c:v>82</c:v>
                </c:pt>
                <c:pt idx="4">
                  <c:v>300</c:v>
                </c:pt>
                <c:pt idx="5">
                  <c:v>620</c:v>
                </c:pt>
                <c:pt idx="6">
                  <c:v>780</c:v>
                </c:pt>
                <c:pt idx="7">
                  <c:v>690</c:v>
                </c:pt>
                <c:pt idx="8">
                  <c:v>945</c:v>
                </c:pt>
                <c:pt idx="9">
                  <c:v>990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C0-483A-A5CD-7B426A7C08CF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Residential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cat>
            <c:strRef>
              <c:f>Sheet1!$B$1:$K$1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2022E</c:v>
                </c:pt>
              </c:strCache>
            </c:strRef>
          </c:cat>
          <c:val>
            <c:numRef>
              <c:f>Sheet1!$B$5:$K$5</c:f>
              <c:numCache>
                <c:formatCode>General</c:formatCode>
                <c:ptCount val="10"/>
                <c:pt idx="0">
                  <c:v>31</c:v>
                </c:pt>
                <c:pt idx="1">
                  <c:v>66</c:v>
                </c:pt>
                <c:pt idx="2">
                  <c:v>98</c:v>
                </c:pt>
                <c:pt idx="3">
                  <c:v>120</c:v>
                </c:pt>
                <c:pt idx="4">
                  <c:v>138</c:v>
                </c:pt>
                <c:pt idx="5">
                  <c:v>265</c:v>
                </c:pt>
                <c:pt idx="6">
                  <c:v>363</c:v>
                </c:pt>
                <c:pt idx="7">
                  <c:v>510</c:v>
                </c:pt>
                <c:pt idx="8">
                  <c:v>850</c:v>
                </c:pt>
                <c:pt idx="9">
                  <c:v>1120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5C0-483A-A5CD-7B426A7C08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08479631"/>
        <c:axId val="1507526303"/>
      </c:barChart>
      <c:catAx>
        <c:axId val="1508479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7526303"/>
        <c:crosses val="autoZero"/>
        <c:auto val="1"/>
        <c:lblAlgn val="ctr"/>
        <c:lblOffset val="100"/>
        <c:noMultiLvlLbl val="0"/>
      </c:catAx>
      <c:valAx>
        <c:axId val="15075263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0847963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9900"/>
    </a:solidFill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7636102253808"/>
          <c:y val="0.2996829953718082"/>
          <c:w val="0.34255832355589511"/>
          <c:h val="0.55252923082881455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FF99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280-4559-9D8F-46434933D4D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280-4559-9D8F-46434933D4D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280-4559-9D8F-46434933D4D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Sheet1!$A$26:$A$28</c:f>
              <c:strCache>
                <c:ptCount val="3"/>
                <c:pt idx="0">
                  <c:v>Wind</c:v>
                </c:pt>
                <c:pt idx="1">
                  <c:v>Solar</c:v>
                </c:pt>
                <c:pt idx="2">
                  <c:v>Other Renewables</c:v>
                </c:pt>
              </c:strCache>
            </c:strRef>
          </c:cat>
          <c:val>
            <c:numRef>
              <c:f>Sheet1!$B$26:$B$28</c:f>
              <c:numCache>
                <c:formatCode>0%</c:formatCode>
                <c:ptCount val="3"/>
                <c:pt idx="0">
                  <c:v>0.4</c:v>
                </c:pt>
                <c:pt idx="1">
                  <c:v>0.38</c:v>
                </c:pt>
                <c:pt idx="2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80-4559-9D8F-46434933D4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8689541585469937E-2"/>
          <c:y val="0.86274696920863625"/>
          <c:w val="0.7089220311616351"/>
          <c:h val="0.128628351966120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Industry Wise Potential In East India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Sheet3!$A$7</c:f>
              <c:strCache>
                <c:ptCount val="1"/>
                <c:pt idx="0">
                  <c:v>West Bengal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Sheet3!$B$6:$Q$6</c:f>
              <c:strCache>
                <c:ptCount val="16"/>
                <c:pt idx="0">
                  <c:v>Iron and Steel</c:v>
                </c:pt>
                <c:pt idx="1">
                  <c:v>Jute</c:v>
                </c:pt>
                <c:pt idx="2">
                  <c:v>Cotton and Textile</c:v>
                </c:pt>
                <c:pt idx="3">
                  <c:v>Food and Beverages</c:v>
                </c:pt>
                <c:pt idx="4">
                  <c:v>IT</c:v>
                </c:pt>
                <c:pt idx="5">
                  <c:v>Mining</c:v>
                </c:pt>
                <c:pt idx="6">
                  <c:v>Engineering</c:v>
                </c:pt>
                <c:pt idx="7">
                  <c:v>Chemical</c:v>
                </c:pt>
                <c:pt idx="8">
                  <c:v>Handloom</c:v>
                </c:pt>
                <c:pt idx="9">
                  <c:v>Cement</c:v>
                </c:pt>
                <c:pt idx="10">
                  <c:v>Ceramic Paints</c:v>
                </c:pt>
                <c:pt idx="11">
                  <c:v>Aluminium</c:v>
                </c:pt>
                <c:pt idx="12">
                  <c:v>Fertilizer plants</c:v>
                </c:pt>
                <c:pt idx="13">
                  <c:v>Agro based</c:v>
                </c:pt>
                <c:pt idx="14">
                  <c:v>Manufacturing </c:v>
                </c:pt>
                <c:pt idx="15">
                  <c:v>Healthcare</c:v>
                </c:pt>
              </c:strCache>
            </c:strRef>
          </c:cat>
          <c:val>
            <c:numRef>
              <c:f>Sheet3!$B$7:$Q$7</c:f>
              <c:numCache>
                <c:formatCode>0%</c:formatCode>
                <c:ptCount val="16"/>
                <c:pt idx="0">
                  <c:v>0.16</c:v>
                </c:pt>
                <c:pt idx="1">
                  <c:v>0.24</c:v>
                </c:pt>
                <c:pt idx="2">
                  <c:v>0.3</c:v>
                </c:pt>
                <c:pt idx="3">
                  <c:v>0.15</c:v>
                </c:pt>
                <c:pt idx="4">
                  <c:v>0.15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83-43B4-9D85-3EBEDFAFBEF0}"/>
            </c:ext>
          </c:extLst>
        </c:ser>
        <c:ser>
          <c:idx val="1"/>
          <c:order val="1"/>
          <c:tx>
            <c:strRef>
              <c:f>Sheet3!$A$8</c:f>
              <c:strCache>
                <c:ptCount val="1"/>
                <c:pt idx="0">
                  <c:v>Jharkhand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Sheet3!$B$6:$Q$6</c:f>
              <c:strCache>
                <c:ptCount val="16"/>
                <c:pt idx="0">
                  <c:v>Iron and Steel</c:v>
                </c:pt>
                <c:pt idx="1">
                  <c:v>Jute</c:v>
                </c:pt>
                <c:pt idx="2">
                  <c:v>Cotton and Textile</c:v>
                </c:pt>
                <c:pt idx="3">
                  <c:v>Food and Beverages</c:v>
                </c:pt>
                <c:pt idx="4">
                  <c:v>IT</c:v>
                </c:pt>
                <c:pt idx="5">
                  <c:v>Mining</c:v>
                </c:pt>
                <c:pt idx="6">
                  <c:v>Engineering</c:v>
                </c:pt>
                <c:pt idx="7">
                  <c:v>Chemical</c:v>
                </c:pt>
                <c:pt idx="8">
                  <c:v>Handloom</c:v>
                </c:pt>
                <c:pt idx="9">
                  <c:v>Cement</c:v>
                </c:pt>
                <c:pt idx="10">
                  <c:v>Ceramic Paints</c:v>
                </c:pt>
                <c:pt idx="11">
                  <c:v>Aluminium</c:v>
                </c:pt>
                <c:pt idx="12">
                  <c:v>Fertilizer plants</c:v>
                </c:pt>
                <c:pt idx="13">
                  <c:v>Agro based</c:v>
                </c:pt>
                <c:pt idx="14">
                  <c:v>Manufacturing </c:v>
                </c:pt>
                <c:pt idx="15">
                  <c:v>Healthcare</c:v>
                </c:pt>
              </c:strCache>
            </c:strRef>
          </c:cat>
          <c:val>
            <c:numRef>
              <c:f>Sheet3!$B$8:$Q$8</c:f>
              <c:numCache>
                <c:formatCode>General</c:formatCode>
                <c:ptCount val="16"/>
                <c:pt idx="0" formatCode="0%">
                  <c:v>0.22</c:v>
                </c:pt>
                <c:pt idx="1">
                  <c:v>0</c:v>
                </c:pt>
                <c:pt idx="2">
                  <c:v>0</c:v>
                </c:pt>
                <c:pt idx="3" formatCode="0%">
                  <c:v>0.1</c:v>
                </c:pt>
                <c:pt idx="4" formatCode="0%">
                  <c:v>0.02</c:v>
                </c:pt>
                <c:pt idx="5" formatCode="0%">
                  <c:v>0.3</c:v>
                </c:pt>
                <c:pt idx="6" formatCode="0%">
                  <c:v>0.16</c:v>
                </c:pt>
                <c:pt idx="7" formatCode="0%">
                  <c:v>0.13</c:v>
                </c:pt>
                <c:pt idx="8" formatCode="0%">
                  <c:v>7.0000000000000007E-2</c:v>
                </c:pt>
                <c:pt idx="9" formatCode="0%">
                  <c:v>0</c:v>
                </c:pt>
                <c:pt idx="10" formatCode="0%">
                  <c:v>0</c:v>
                </c:pt>
                <c:pt idx="11" formatCode="0%">
                  <c:v>0</c:v>
                </c:pt>
                <c:pt idx="12" formatCode="0%">
                  <c:v>0</c:v>
                </c:pt>
                <c:pt idx="13" formatCode="0%">
                  <c:v>0</c:v>
                </c:pt>
                <c:pt idx="14" formatCode="0%">
                  <c:v>0</c:v>
                </c:pt>
                <c:pt idx="15" formatCode="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83-43B4-9D85-3EBEDFAFBEF0}"/>
            </c:ext>
          </c:extLst>
        </c:ser>
        <c:ser>
          <c:idx val="2"/>
          <c:order val="2"/>
          <c:tx>
            <c:strRef>
              <c:f>Sheet3!$A$9</c:f>
              <c:strCache>
                <c:ptCount val="1"/>
                <c:pt idx="0">
                  <c:v>Odisha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Sheet3!$B$6:$Q$6</c:f>
              <c:strCache>
                <c:ptCount val="16"/>
                <c:pt idx="0">
                  <c:v>Iron and Steel</c:v>
                </c:pt>
                <c:pt idx="1">
                  <c:v>Jute</c:v>
                </c:pt>
                <c:pt idx="2">
                  <c:v>Cotton and Textile</c:v>
                </c:pt>
                <c:pt idx="3">
                  <c:v>Food and Beverages</c:v>
                </c:pt>
                <c:pt idx="4">
                  <c:v>IT</c:v>
                </c:pt>
                <c:pt idx="5">
                  <c:v>Mining</c:v>
                </c:pt>
                <c:pt idx="6">
                  <c:v>Engineering</c:v>
                </c:pt>
                <c:pt idx="7">
                  <c:v>Chemical</c:v>
                </c:pt>
                <c:pt idx="8">
                  <c:v>Handloom</c:v>
                </c:pt>
                <c:pt idx="9">
                  <c:v>Cement</c:v>
                </c:pt>
                <c:pt idx="10">
                  <c:v>Ceramic Paints</c:v>
                </c:pt>
                <c:pt idx="11">
                  <c:v>Aluminium</c:v>
                </c:pt>
                <c:pt idx="12">
                  <c:v>Fertilizer plants</c:v>
                </c:pt>
                <c:pt idx="13">
                  <c:v>Agro based</c:v>
                </c:pt>
                <c:pt idx="14">
                  <c:v>Manufacturing </c:v>
                </c:pt>
                <c:pt idx="15">
                  <c:v>Healthcare</c:v>
                </c:pt>
              </c:strCache>
            </c:strRef>
          </c:cat>
          <c:val>
            <c:numRef>
              <c:f>Sheet3!$B$9:$Q$9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 formatCode="0%">
                  <c:v>0.02</c:v>
                </c:pt>
                <c:pt idx="4" formatCode="0%">
                  <c:v>0.05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 formatCode="0%">
                  <c:v>0.3</c:v>
                </c:pt>
                <c:pt idx="10" formatCode="0%">
                  <c:v>0.22</c:v>
                </c:pt>
                <c:pt idx="11" formatCode="0%">
                  <c:v>0.18</c:v>
                </c:pt>
                <c:pt idx="12" formatCode="0%">
                  <c:v>0.15</c:v>
                </c:pt>
                <c:pt idx="13" formatCode="0%">
                  <c:v>0.08</c:v>
                </c:pt>
                <c:pt idx="14" formatCode="0%">
                  <c:v>0</c:v>
                </c:pt>
                <c:pt idx="15" formatCode="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F83-43B4-9D85-3EBEDFAFBEF0}"/>
            </c:ext>
          </c:extLst>
        </c:ser>
        <c:ser>
          <c:idx val="3"/>
          <c:order val="3"/>
          <c:tx>
            <c:strRef>
              <c:f>Sheet3!$A$10</c:f>
              <c:strCache>
                <c:ptCount val="1"/>
                <c:pt idx="0">
                  <c:v>Bihar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Sheet3!$B$6:$Q$6</c:f>
              <c:strCache>
                <c:ptCount val="16"/>
                <c:pt idx="0">
                  <c:v>Iron and Steel</c:v>
                </c:pt>
                <c:pt idx="1">
                  <c:v>Jute</c:v>
                </c:pt>
                <c:pt idx="2">
                  <c:v>Cotton and Textile</c:v>
                </c:pt>
                <c:pt idx="3">
                  <c:v>Food and Beverages</c:v>
                </c:pt>
                <c:pt idx="4">
                  <c:v>IT</c:v>
                </c:pt>
                <c:pt idx="5">
                  <c:v>Mining</c:v>
                </c:pt>
                <c:pt idx="6">
                  <c:v>Engineering</c:v>
                </c:pt>
                <c:pt idx="7">
                  <c:v>Chemical</c:v>
                </c:pt>
                <c:pt idx="8">
                  <c:v>Handloom</c:v>
                </c:pt>
                <c:pt idx="9">
                  <c:v>Cement</c:v>
                </c:pt>
                <c:pt idx="10">
                  <c:v>Ceramic Paints</c:v>
                </c:pt>
                <c:pt idx="11">
                  <c:v>Aluminium</c:v>
                </c:pt>
                <c:pt idx="12">
                  <c:v>Fertilizer plants</c:v>
                </c:pt>
                <c:pt idx="13">
                  <c:v>Agro based</c:v>
                </c:pt>
                <c:pt idx="14">
                  <c:v>Manufacturing </c:v>
                </c:pt>
                <c:pt idx="15">
                  <c:v>Healthcare</c:v>
                </c:pt>
              </c:strCache>
            </c:strRef>
          </c:cat>
          <c:val>
            <c:numRef>
              <c:f>Sheet3!$B$10:$Q$10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 formatCode="0%">
                  <c:v>0.3</c:v>
                </c:pt>
                <c:pt idx="4" formatCode="0%">
                  <c:v>0.04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 formatCode="0%">
                  <c:v>0</c:v>
                </c:pt>
                <c:pt idx="10" formatCode="0%">
                  <c:v>0</c:v>
                </c:pt>
                <c:pt idx="11" formatCode="0%">
                  <c:v>0</c:v>
                </c:pt>
                <c:pt idx="12" formatCode="0%">
                  <c:v>0</c:v>
                </c:pt>
                <c:pt idx="13" formatCode="0%">
                  <c:v>0</c:v>
                </c:pt>
                <c:pt idx="14" formatCode="0%">
                  <c:v>0.55000000000000004</c:v>
                </c:pt>
                <c:pt idx="15" formatCode="0%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F83-43B4-9D85-3EBEDFAFB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107184623"/>
        <c:axId val="2107185455"/>
      </c:barChart>
      <c:catAx>
        <c:axId val="21071846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7185455"/>
        <c:crosses val="autoZero"/>
        <c:auto val="1"/>
        <c:lblAlgn val="ctr"/>
        <c:lblOffset val="100"/>
        <c:noMultiLvlLbl val="0"/>
      </c:catAx>
      <c:valAx>
        <c:axId val="2107185455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2107184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Solar Rooftop Installations over the years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Sheet3!$A$3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Sheet3!$B$2:$K$2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2022Q1</c:v>
                </c:pt>
              </c:strCache>
            </c:strRef>
          </c:cat>
          <c:val>
            <c:numRef>
              <c:f>Sheet3!$B$3:$K$3</c:f>
              <c:numCache>
                <c:formatCode>General</c:formatCode>
                <c:ptCount val="10"/>
                <c:pt idx="0">
                  <c:v>87</c:v>
                </c:pt>
                <c:pt idx="1">
                  <c:v>170</c:v>
                </c:pt>
                <c:pt idx="2">
                  <c:v>264</c:v>
                </c:pt>
                <c:pt idx="3">
                  <c:v>469</c:v>
                </c:pt>
                <c:pt idx="4">
                  <c:v>638</c:v>
                </c:pt>
                <c:pt idx="5">
                  <c:v>814</c:v>
                </c:pt>
                <c:pt idx="6">
                  <c:v>1110</c:v>
                </c:pt>
                <c:pt idx="7">
                  <c:v>1345.96</c:v>
                </c:pt>
                <c:pt idx="8">
                  <c:v>1275</c:v>
                </c:pt>
                <c:pt idx="9">
                  <c:v>323.76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0B-4702-99D1-920F4DE29701}"/>
            </c:ext>
          </c:extLst>
        </c:ser>
        <c:ser>
          <c:idx val="1"/>
          <c:order val="1"/>
          <c:tx>
            <c:strRef>
              <c:f>Sheet3!$A$4</c:f>
              <c:strCache>
                <c:ptCount val="1"/>
                <c:pt idx="0">
                  <c:v>OPEX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Sheet3!$B$2:$K$2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2022Q1</c:v>
                </c:pt>
              </c:strCache>
            </c:strRef>
          </c:cat>
          <c:val>
            <c:numRef>
              <c:f>Sheet3!$B$4:$K$4</c:f>
              <c:numCache>
                <c:formatCode>General</c:formatCode>
                <c:ptCount val="10"/>
                <c:pt idx="0">
                  <c:v>2.61</c:v>
                </c:pt>
                <c:pt idx="1">
                  <c:v>13.6</c:v>
                </c:pt>
                <c:pt idx="2">
                  <c:v>34.32</c:v>
                </c:pt>
                <c:pt idx="3">
                  <c:v>56</c:v>
                </c:pt>
                <c:pt idx="4">
                  <c:v>102</c:v>
                </c:pt>
                <c:pt idx="5">
                  <c:v>187.22</c:v>
                </c:pt>
                <c:pt idx="6">
                  <c:v>390</c:v>
                </c:pt>
                <c:pt idx="7">
                  <c:v>402.04</c:v>
                </c:pt>
                <c:pt idx="8">
                  <c:v>425</c:v>
                </c:pt>
                <c:pt idx="9">
                  <c:v>132.24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0B-4702-99D1-920F4DE297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3693375"/>
        <c:axId val="1693695039"/>
      </c:barChart>
      <c:lineChart>
        <c:grouping val="standard"/>
        <c:varyColors val="0"/>
        <c:ser>
          <c:idx val="2"/>
          <c:order val="2"/>
          <c:tx>
            <c:strRef>
              <c:f>Sheet3!$A$5</c:f>
              <c:strCache>
                <c:ptCount val="1"/>
                <c:pt idx="0">
                  <c:v>% share of OPEX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Sheet3!$B$2:$K$2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2022Q1</c:v>
                </c:pt>
              </c:strCache>
            </c:strRef>
          </c:cat>
          <c:val>
            <c:numRef>
              <c:f>Sheet3!$B$5:$K$5</c:f>
              <c:numCache>
                <c:formatCode>0%</c:formatCode>
                <c:ptCount val="10"/>
                <c:pt idx="0">
                  <c:v>0.03</c:v>
                </c:pt>
                <c:pt idx="1">
                  <c:v>0.08</c:v>
                </c:pt>
                <c:pt idx="2">
                  <c:v>0.13</c:v>
                </c:pt>
                <c:pt idx="3">
                  <c:v>0.10666666666666667</c:v>
                </c:pt>
                <c:pt idx="4" formatCode="General">
                  <c:v>0.13783783783783785</c:v>
                </c:pt>
                <c:pt idx="5">
                  <c:v>0.23</c:v>
                </c:pt>
                <c:pt idx="6">
                  <c:v>0.26</c:v>
                </c:pt>
                <c:pt idx="7">
                  <c:v>0.23</c:v>
                </c:pt>
                <c:pt idx="8">
                  <c:v>0.25</c:v>
                </c:pt>
                <c:pt idx="9">
                  <c:v>0.28999999999999998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60B-4702-99D1-920F4DE297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3695455"/>
        <c:axId val="1693698783"/>
      </c:lineChart>
      <c:catAx>
        <c:axId val="16936933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695039"/>
        <c:crosses val="autoZero"/>
        <c:auto val="1"/>
        <c:lblAlgn val="ctr"/>
        <c:lblOffset val="100"/>
        <c:noMultiLvlLbl val="0"/>
      </c:catAx>
      <c:valAx>
        <c:axId val="169369503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693375"/>
        <c:crosses val="autoZero"/>
        <c:crossBetween val="midCat"/>
      </c:valAx>
      <c:valAx>
        <c:axId val="1693698783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695455"/>
        <c:crosses val="max"/>
        <c:crossBetween val="between"/>
      </c:valAx>
      <c:catAx>
        <c:axId val="16936954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93698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9900"/>
    </a:solidFill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Solar Rooftop Installations by Sector in FY22Q1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35E-45B4-80EE-5958077AEC8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35E-45B4-80EE-5958077AEC8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35E-45B4-80EE-5958077AEC8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35E-45B4-80EE-5958077AEC8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Sheet3!$A$37:$A$40</c:f>
              <c:strCache>
                <c:ptCount val="4"/>
                <c:pt idx="0">
                  <c:v>Industrial</c:v>
                </c:pt>
                <c:pt idx="1">
                  <c:v>Commercial</c:v>
                </c:pt>
                <c:pt idx="2">
                  <c:v>Residential</c:v>
                </c:pt>
                <c:pt idx="3">
                  <c:v>Government</c:v>
                </c:pt>
              </c:strCache>
            </c:strRef>
          </c:cat>
          <c:val>
            <c:numRef>
              <c:f>Sheet3!$B$37:$B$40</c:f>
              <c:numCache>
                <c:formatCode>0%</c:formatCode>
                <c:ptCount val="4"/>
                <c:pt idx="0">
                  <c:v>0.47</c:v>
                </c:pt>
                <c:pt idx="1">
                  <c:v>0.28999999999999998</c:v>
                </c:pt>
                <c:pt idx="2">
                  <c:v>0.22</c:v>
                </c:pt>
                <c:pt idx="3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5E-45B4-80EE-5958077AEC8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6895934964053227"/>
          <c:y val="0.34754428616144245"/>
          <c:w val="0.22647917548860072"/>
          <c:h val="0.352263974402465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9900"/>
    </a:solidFill>
    <a:ln>
      <a:noFill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Weightages of the five parameters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6923286149184603E-2"/>
          <c:y val="0.18228274085385507"/>
          <c:w val="0.45812687293327098"/>
          <c:h val="0.7487746977587803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936-4F1A-80B3-A9BAF2258AD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936-4F1A-80B3-A9BAF2258AD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936-4F1A-80B3-A9BAF2258AD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936-4F1A-80B3-A9BAF2258AD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936-4F1A-80B3-A9BAF2258AD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Investment climate</c:v>
                </c:pt>
                <c:pt idx="1">
                  <c:v>Robustness of policy framework</c:v>
                </c:pt>
                <c:pt idx="2">
                  <c:v>Effectiveness of policy support</c:v>
                </c:pt>
                <c:pt idx="3">
                  <c:v>Consumer Experience</c:v>
                </c:pt>
                <c:pt idx="4">
                  <c:v>Business Ecosystem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 formatCode="0.00%">
                  <c:v>0.16800000000000001</c:v>
                </c:pt>
                <c:pt idx="1">
                  <c:v>0.2</c:v>
                </c:pt>
                <c:pt idx="2" formatCode="0.00%">
                  <c:v>0.26300000000000001</c:v>
                </c:pt>
                <c:pt idx="3" formatCode="0.00%">
                  <c:v>0.26300000000000001</c:v>
                </c:pt>
                <c:pt idx="4" formatCode="0.00%">
                  <c:v>0.106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936-4F1A-80B3-A9BAF2258A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8842556987830308"/>
          <c:y val="0.23497203384242188"/>
          <c:w val="0.39430281493328329"/>
          <c:h val="0.652805469793660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28575">
      <a:solidFill>
        <a:srgbClr val="0070C0"/>
      </a:solidFill>
      <a:prstDash val="dash"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Sheet2!$A$2:$A$4</cx:f>
        <cx:lvl ptCount="3">
          <cx:pt idx="0">Ultra mega park solar projects</cx:pt>
          <cx:pt idx="1">Rooftop solar projects</cx:pt>
          <cx:pt idx="2">Utility scale solar project</cx:pt>
        </cx:lvl>
      </cx:strDim>
      <cx:numDim type="val">
        <cx:f>Sheet2!$B$2:$B$4</cx:f>
        <cx:lvl ptCount="3" formatCode="General">
          <cx:pt idx="0">40</cx:pt>
          <cx:pt idx="1">40</cx:pt>
          <cx:pt idx="2">20</cx:pt>
        </cx:lvl>
      </cx:numDim>
    </cx:data>
  </cx:chartData>
  <cx:chart>
    <cx:title pos="t" align="ctr" overlay="0">
      <cx:tx>
        <cx:txData>
          <cx:v>Reaching India's Solar Energy target of 100 GW, 2022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1000" b="1">
              <a:solidFill>
                <a:schemeClr val="bg1"/>
              </a:solidFill>
            </a:defRPr>
          </a:pPr>
          <a:r>
            <a:rPr lang="en-US" sz="1000" b="1" i="0" u="none" strike="noStrike" baseline="0" dirty="0">
              <a:solidFill>
                <a:schemeClr val="bg1"/>
              </a:solidFill>
              <a:latin typeface="Calibri" panose="020F0502020204030204"/>
            </a:rPr>
            <a:t>Reaching India's Solar Energy target of 100 GW, 2022</a:t>
          </a:r>
        </a:p>
      </cx:txPr>
    </cx:title>
    <cx:plotArea>
      <cx:plotAreaRegion>
        <cx:series layoutId="waterfall" uniqueId="{F5E9DBD8-D4D3-486B-8D6B-9CCC8EAB1592}">
          <cx:spPr>
            <a:solidFill>
              <a:srgbClr val="FF9900"/>
            </a:solidFill>
          </cx:spPr>
          <cx:dataLabels pos="outEnd"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>
                    <a:solidFill>
                      <a:schemeClr val="bg1"/>
                    </a:solidFill>
                  </a:defRPr>
                </a:pPr>
                <a:endParaRPr lang="en-US" sz="900" b="0" i="0" u="none" strike="noStrike" baseline="0">
                  <a:solidFill>
                    <a:schemeClr val="bg1"/>
                  </a:solidFill>
                  <a:latin typeface="Calibri" panose="020F0502020204030204"/>
                </a:endParaRPr>
              </a:p>
            </cx:txPr>
            <cx:visibility seriesName="0" categoryName="0" value="1"/>
          </cx:dataLabels>
          <cx:dataId val="0"/>
          <cx:layoutPr>
            <cx:subtotals/>
          </cx:layoutPr>
        </cx:series>
      </cx:plotAreaRegion>
      <cx:axis id="0">
        <cx:catScaling gapWidth="0.5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>
                <a:solidFill>
                  <a:schemeClr val="bg1"/>
                </a:solidFill>
              </a:defRPr>
            </a:pPr>
            <a:endParaRPr lang="en-US" sz="900" b="0" i="0" u="none" strike="noStrike" baseline="0">
              <a:solidFill>
                <a:schemeClr val="bg1"/>
              </a:solidFill>
              <a:latin typeface="Calibri" panose="020F0502020204030204"/>
            </a:endParaRPr>
          </a:p>
        </cx:txPr>
      </cx:axis>
      <cx:axis id="1" hidden="1">
        <cx:valScaling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>
        <a:solidFill>
          <a:srgbClr val="FF9900"/>
        </a:solidFill>
      </dgm:spPr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/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/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/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/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/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/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>
        <a:solidFill>
          <a:srgbClr val="FF9900"/>
        </a:solidFill>
      </dgm:spPr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/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/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/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/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/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/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>
        <a:solidFill>
          <a:srgbClr val="FF9900"/>
        </a:solidFill>
      </dgm:spPr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/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/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/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/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/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/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/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>
        <a:solidFill>
          <a:srgbClr val="FF9900"/>
        </a:solidFill>
      </dgm:spPr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/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/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/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/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/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/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>
        <a:solidFill>
          <a:srgbClr val="FF9900"/>
        </a:solidFill>
      </dgm:spPr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/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34DB841-CAA7-45F1-A8C9-8750972E800C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D16155-D6AE-473F-A54A-63B9D0B66BBF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Identification of business goals</a:t>
          </a:r>
          <a:endParaRPr lang="en-US" sz="1400" dirty="0"/>
        </a:p>
      </dgm:t>
    </dgm:pt>
    <dgm:pt modelId="{93E93C90-6D1A-4A38-914D-8F45F9603B4B}" type="parTrans" cxnId="{B98720BC-337E-4BB4-A6AB-E64F5FA7EA84}">
      <dgm:prSet/>
      <dgm:spPr/>
      <dgm:t>
        <a:bodyPr/>
        <a:lstStyle/>
        <a:p>
          <a:endParaRPr lang="en-US"/>
        </a:p>
      </dgm:t>
    </dgm:pt>
    <dgm:pt modelId="{4B6B03D2-E870-443C-9637-82C6F7BECBCB}" type="sibTrans" cxnId="{B98720BC-337E-4BB4-A6AB-E64F5FA7EA84}">
      <dgm:prSet/>
      <dgm:spPr>
        <a:solidFill>
          <a:srgbClr val="FF9900"/>
        </a:solidFill>
      </dgm:spPr>
      <dgm:t>
        <a:bodyPr/>
        <a:lstStyle/>
        <a:p>
          <a:endParaRPr lang="en-US" sz="1400"/>
        </a:p>
      </dgm:t>
    </dgm:pt>
    <dgm:pt modelId="{29A255B3-3A90-437C-8249-BC93798ED551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Stating marketing objectives at broad</a:t>
          </a:r>
          <a:endParaRPr lang="en-US" sz="1400" dirty="0"/>
        </a:p>
      </dgm:t>
    </dgm:pt>
    <dgm:pt modelId="{21385070-59DB-4195-B755-3FC223714AD8}" type="parTrans" cxnId="{D23873A9-1CC5-4927-B1DA-017B9FCB90BC}">
      <dgm:prSet/>
      <dgm:spPr/>
      <dgm:t>
        <a:bodyPr/>
        <a:lstStyle/>
        <a:p>
          <a:endParaRPr lang="en-US"/>
        </a:p>
      </dgm:t>
    </dgm:pt>
    <dgm:pt modelId="{48D6EBBA-8B23-4CCE-AD8E-5188A4DC2DE8}" type="sibTrans" cxnId="{D23873A9-1CC5-4927-B1DA-017B9FCB90BC}">
      <dgm:prSet/>
      <dgm:spPr>
        <a:solidFill>
          <a:srgbClr val="FF9900"/>
        </a:solidFill>
      </dgm:spPr>
      <dgm:t>
        <a:bodyPr/>
        <a:lstStyle/>
        <a:p>
          <a:endParaRPr lang="en-US" sz="1400"/>
        </a:p>
      </dgm:t>
    </dgm:pt>
    <dgm:pt modelId="{2B230E95-E249-43B3-93A4-CD0549001C66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Extensive market research</a:t>
          </a:r>
          <a:endParaRPr lang="en-US" sz="1400" dirty="0"/>
        </a:p>
      </dgm:t>
    </dgm:pt>
    <dgm:pt modelId="{8FF81754-CCEE-484A-8085-8CE47B7BFD7A}" type="parTrans" cxnId="{9F68738B-28D8-4C84-ACF7-E90559414B08}">
      <dgm:prSet/>
      <dgm:spPr/>
      <dgm:t>
        <a:bodyPr/>
        <a:lstStyle/>
        <a:p>
          <a:endParaRPr lang="en-US"/>
        </a:p>
      </dgm:t>
    </dgm:pt>
    <dgm:pt modelId="{01814DA7-9474-42E8-B907-340AAAFDB66B}" type="sibTrans" cxnId="{9F68738B-28D8-4C84-ACF7-E90559414B08}">
      <dgm:prSet/>
      <dgm:spPr>
        <a:solidFill>
          <a:srgbClr val="FF9900"/>
        </a:solidFill>
      </dgm:spPr>
      <dgm:t>
        <a:bodyPr/>
        <a:lstStyle/>
        <a:p>
          <a:endParaRPr lang="en-US" sz="1400"/>
        </a:p>
      </dgm:t>
    </dgm:pt>
    <dgm:pt modelId="{F2AB6811-4BDB-4FB2-B564-7F3D17143D39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Potential customer profiling</a:t>
          </a:r>
          <a:endParaRPr lang="en-US" sz="1400" dirty="0"/>
        </a:p>
      </dgm:t>
    </dgm:pt>
    <dgm:pt modelId="{935FB100-5AB3-4D93-87CC-2ADE193DC9BC}" type="parTrans" cxnId="{726EF73D-7E63-4179-9B23-4B20CFBF717A}">
      <dgm:prSet/>
      <dgm:spPr/>
      <dgm:t>
        <a:bodyPr/>
        <a:lstStyle/>
        <a:p>
          <a:endParaRPr lang="en-US"/>
        </a:p>
      </dgm:t>
    </dgm:pt>
    <dgm:pt modelId="{2AD3664E-D8DA-41D7-A33D-2AA2F2CA96FA}" type="sibTrans" cxnId="{726EF73D-7E63-4179-9B23-4B20CFBF717A}">
      <dgm:prSet/>
      <dgm:spPr>
        <a:solidFill>
          <a:srgbClr val="FF9900"/>
        </a:solidFill>
      </dgm:spPr>
      <dgm:t>
        <a:bodyPr/>
        <a:lstStyle/>
        <a:p>
          <a:endParaRPr lang="en-US" sz="1400"/>
        </a:p>
      </dgm:t>
    </dgm:pt>
    <dgm:pt modelId="{E7CB791F-122B-4D2B-98CC-2B979DBBE047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Competition mapping</a:t>
          </a:r>
          <a:endParaRPr lang="en-US" sz="1400" dirty="0"/>
        </a:p>
      </dgm:t>
    </dgm:pt>
    <dgm:pt modelId="{E6222163-6B75-4588-8EC6-4AA8BC38A1F7}" type="parTrans" cxnId="{031502D2-7B5C-4592-8212-01A44690DF21}">
      <dgm:prSet/>
      <dgm:spPr/>
      <dgm:t>
        <a:bodyPr/>
        <a:lstStyle/>
        <a:p>
          <a:endParaRPr lang="en-US"/>
        </a:p>
      </dgm:t>
    </dgm:pt>
    <dgm:pt modelId="{9B81FB5E-3354-4426-A109-64CE51EBD3CC}" type="sibTrans" cxnId="{031502D2-7B5C-4592-8212-01A44690DF21}">
      <dgm:prSet/>
      <dgm:spPr>
        <a:solidFill>
          <a:srgbClr val="FF9900"/>
        </a:solidFill>
      </dgm:spPr>
      <dgm:t>
        <a:bodyPr/>
        <a:lstStyle/>
        <a:p>
          <a:endParaRPr lang="en-US" sz="1400"/>
        </a:p>
      </dgm:t>
    </dgm:pt>
    <dgm:pt modelId="{54B32307-9970-46BE-B72E-F1A08C7E1BAF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Value proposition with 7 P’s</a:t>
          </a:r>
          <a:endParaRPr lang="en-US" sz="1400" dirty="0"/>
        </a:p>
      </dgm:t>
    </dgm:pt>
    <dgm:pt modelId="{590D0BFC-DD03-44CA-A3A8-A6C48CB46019}" type="parTrans" cxnId="{39E26A92-8644-410A-9E97-F0715F123DE3}">
      <dgm:prSet/>
      <dgm:spPr/>
      <dgm:t>
        <a:bodyPr/>
        <a:lstStyle/>
        <a:p>
          <a:endParaRPr lang="en-US"/>
        </a:p>
      </dgm:t>
    </dgm:pt>
    <dgm:pt modelId="{53CEE943-7605-4307-B98C-7116F27E76FC}" type="sibTrans" cxnId="{39E26A92-8644-410A-9E97-F0715F123DE3}">
      <dgm:prSet/>
      <dgm:spPr>
        <a:solidFill>
          <a:srgbClr val="FF9900"/>
        </a:solidFill>
      </dgm:spPr>
      <dgm:t>
        <a:bodyPr/>
        <a:lstStyle/>
        <a:p>
          <a:endParaRPr lang="en-US" sz="1400"/>
        </a:p>
      </dgm:t>
    </dgm:pt>
    <dgm:pt modelId="{5AE757B0-242E-4551-B8E4-A989CBB9D5BF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Development of marketing strategies according to customer journey</a:t>
          </a:r>
          <a:endParaRPr lang="en-US" sz="1400" dirty="0"/>
        </a:p>
      </dgm:t>
    </dgm:pt>
    <dgm:pt modelId="{18A36E39-FB48-4BB9-AC35-C2FA2C796331}" type="parTrans" cxnId="{4FC6F317-8969-4973-9266-C1E62DB66260}">
      <dgm:prSet/>
      <dgm:spPr/>
      <dgm:t>
        <a:bodyPr/>
        <a:lstStyle/>
        <a:p>
          <a:endParaRPr lang="en-US"/>
        </a:p>
      </dgm:t>
    </dgm:pt>
    <dgm:pt modelId="{9A6F056E-967B-48DE-BDFC-AA2CC4344D28}" type="sibTrans" cxnId="{4FC6F317-8969-4973-9266-C1E62DB66260}">
      <dgm:prSet/>
      <dgm:spPr>
        <a:solidFill>
          <a:srgbClr val="FF9900"/>
        </a:solidFill>
      </dgm:spPr>
      <dgm:t>
        <a:bodyPr/>
        <a:lstStyle/>
        <a:p>
          <a:endParaRPr lang="en-US" sz="1400"/>
        </a:p>
      </dgm:t>
    </dgm:pt>
    <dgm:pt modelId="{9CA3FDF2-F7FD-4EB1-9A45-9F286861DE4B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Testing of different ideas</a:t>
          </a:r>
          <a:endParaRPr lang="en-US" sz="1400" dirty="0"/>
        </a:p>
      </dgm:t>
    </dgm:pt>
    <dgm:pt modelId="{B1E5B239-5B99-43F3-A2EF-45574DABE128}" type="parTrans" cxnId="{A3296BF5-85B8-4EE7-9C3E-5BE931AAC55F}">
      <dgm:prSet/>
      <dgm:spPr/>
      <dgm:t>
        <a:bodyPr/>
        <a:lstStyle/>
        <a:p>
          <a:endParaRPr lang="en-US"/>
        </a:p>
      </dgm:t>
    </dgm:pt>
    <dgm:pt modelId="{E2C975FD-9DE6-487C-9F4E-F5DEEC486F99}" type="sibTrans" cxnId="{A3296BF5-85B8-4EE7-9C3E-5BE931AAC55F}">
      <dgm:prSet/>
      <dgm:spPr>
        <a:solidFill>
          <a:srgbClr val="FF9900"/>
        </a:solidFill>
      </dgm:spPr>
      <dgm:t>
        <a:bodyPr/>
        <a:lstStyle/>
        <a:p>
          <a:endParaRPr lang="en-US" sz="1400"/>
        </a:p>
      </dgm:t>
    </dgm:pt>
    <dgm:pt modelId="{32AEF52B-9C69-4D29-8552-9D958810CF96}">
      <dgm:prSet phldrT="[Text]" custT="1"/>
      <dgm:spPr>
        <a:solidFill>
          <a:srgbClr val="2E75B6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</dgm:spPr>
      <dgm:t>
        <a:bodyPr/>
        <a:lstStyle/>
        <a:p>
          <a:r>
            <a:rPr lang="en-IN" sz="1400" dirty="0"/>
            <a:t>Feedback and improvisation</a:t>
          </a:r>
          <a:endParaRPr lang="en-US" sz="1400" dirty="0"/>
        </a:p>
      </dgm:t>
    </dgm:pt>
    <dgm:pt modelId="{20B41E5C-2888-4A15-A77E-B4A03C44ADFC}" type="parTrans" cxnId="{CA3D32A9-717F-4F17-8EC8-6315FCDC0564}">
      <dgm:prSet/>
      <dgm:spPr/>
      <dgm:t>
        <a:bodyPr/>
        <a:lstStyle/>
        <a:p>
          <a:endParaRPr lang="en-US"/>
        </a:p>
      </dgm:t>
    </dgm:pt>
    <dgm:pt modelId="{11781C0E-CB75-43BE-B595-E87762BB30F8}" type="sibTrans" cxnId="{CA3D32A9-717F-4F17-8EC8-6315FCDC0564}">
      <dgm:prSet/>
      <dgm:spPr/>
      <dgm:t>
        <a:bodyPr/>
        <a:lstStyle/>
        <a:p>
          <a:endParaRPr lang="en-US"/>
        </a:p>
      </dgm:t>
    </dgm:pt>
    <dgm:pt modelId="{0857E23A-70E8-4242-9242-D4586D1667E8}" type="pres">
      <dgm:prSet presAssocID="{F34DB841-CAA7-45F1-A8C9-8750972E800C}" presName="Name0" presStyleCnt="0">
        <dgm:presLayoutVars>
          <dgm:dir/>
          <dgm:resizeHandles/>
        </dgm:presLayoutVars>
      </dgm:prSet>
      <dgm:spPr/>
    </dgm:pt>
    <dgm:pt modelId="{8936666B-1C2A-44C2-83AA-E3B0CEA18665}" type="pres">
      <dgm:prSet presAssocID="{D0D16155-D6AE-473F-A54A-63B9D0B66BBF}" presName="compNode" presStyleCnt="0"/>
      <dgm:spPr/>
    </dgm:pt>
    <dgm:pt modelId="{1330BD19-E3A2-4E7E-BF8C-F5F7E4ACE1A6}" type="pres">
      <dgm:prSet presAssocID="{D0D16155-D6AE-473F-A54A-63B9D0B66BBF}" presName="dummyConnPt" presStyleCnt="0"/>
      <dgm:spPr/>
    </dgm:pt>
    <dgm:pt modelId="{4E05AAE9-D1DE-4FD2-BECF-B17DEAC21FB6}" type="pres">
      <dgm:prSet presAssocID="{D0D16155-D6AE-473F-A54A-63B9D0B66BBF}" presName="node" presStyleLbl="node1" presStyleIdx="0" presStyleCnt="9" custScaleX="134258">
        <dgm:presLayoutVars>
          <dgm:bulletEnabled val="1"/>
        </dgm:presLayoutVars>
      </dgm:prSet>
      <dgm:spPr/>
    </dgm:pt>
    <dgm:pt modelId="{2CB1AB4E-5019-466B-AC7E-C3FD232C220B}" type="pres">
      <dgm:prSet presAssocID="{4B6B03D2-E870-443C-9637-82C6F7BECBCB}" presName="sibTrans" presStyleLbl="bgSibTrans2D1" presStyleIdx="0" presStyleCnt="8" custScaleX="134258"/>
      <dgm:spPr/>
    </dgm:pt>
    <dgm:pt modelId="{A7F1ABBF-FC6C-427A-9002-75E5C91FE674}" type="pres">
      <dgm:prSet presAssocID="{29A255B3-3A90-437C-8249-BC93798ED551}" presName="compNode" presStyleCnt="0"/>
      <dgm:spPr/>
    </dgm:pt>
    <dgm:pt modelId="{CE87092D-3755-4BE8-AE73-3AAD20D1AA96}" type="pres">
      <dgm:prSet presAssocID="{29A255B3-3A90-437C-8249-BC93798ED551}" presName="dummyConnPt" presStyleCnt="0"/>
      <dgm:spPr/>
    </dgm:pt>
    <dgm:pt modelId="{4EDB3861-9074-4021-B066-DC7CB9CA816A}" type="pres">
      <dgm:prSet presAssocID="{29A255B3-3A90-437C-8249-BC93798ED551}" presName="node" presStyleLbl="node1" presStyleIdx="1" presStyleCnt="9" custScaleX="134258">
        <dgm:presLayoutVars>
          <dgm:bulletEnabled val="1"/>
        </dgm:presLayoutVars>
      </dgm:prSet>
      <dgm:spPr/>
    </dgm:pt>
    <dgm:pt modelId="{2002BD3A-B56C-43BC-A0A9-4F8D24CF08D1}" type="pres">
      <dgm:prSet presAssocID="{48D6EBBA-8B23-4CCE-AD8E-5188A4DC2DE8}" presName="sibTrans" presStyleLbl="bgSibTrans2D1" presStyleIdx="1" presStyleCnt="8" custScaleX="134258"/>
      <dgm:spPr/>
    </dgm:pt>
    <dgm:pt modelId="{730ADFF9-A902-4FB1-BE6C-D55B56AB29FF}" type="pres">
      <dgm:prSet presAssocID="{2B230E95-E249-43B3-93A4-CD0549001C66}" presName="compNode" presStyleCnt="0"/>
      <dgm:spPr/>
    </dgm:pt>
    <dgm:pt modelId="{A1D26E47-4229-415D-8FCA-6FCBA9AF0FF2}" type="pres">
      <dgm:prSet presAssocID="{2B230E95-E249-43B3-93A4-CD0549001C66}" presName="dummyConnPt" presStyleCnt="0"/>
      <dgm:spPr/>
    </dgm:pt>
    <dgm:pt modelId="{84222504-84A2-4D7D-BC5A-3D5D024C58B1}" type="pres">
      <dgm:prSet presAssocID="{2B230E95-E249-43B3-93A4-CD0549001C66}" presName="node" presStyleLbl="node1" presStyleIdx="2" presStyleCnt="9" custScaleX="134258">
        <dgm:presLayoutVars>
          <dgm:bulletEnabled val="1"/>
        </dgm:presLayoutVars>
      </dgm:prSet>
      <dgm:spPr/>
    </dgm:pt>
    <dgm:pt modelId="{2DF688B6-52B8-4B68-AD5A-AAA1610A0E01}" type="pres">
      <dgm:prSet presAssocID="{01814DA7-9474-42E8-B907-340AAAFDB66B}" presName="sibTrans" presStyleLbl="bgSibTrans2D1" presStyleIdx="2" presStyleCnt="8" custScaleX="134258"/>
      <dgm:spPr/>
    </dgm:pt>
    <dgm:pt modelId="{AB1A9CF3-6798-43C6-B4FA-EF92BC57376B}" type="pres">
      <dgm:prSet presAssocID="{F2AB6811-4BDB-4FB2-B564-7F3D17143D39}" presName="compNode" presStyleCnt="0"/>
      <dgm:spPr/>
    </dgm:pt>
    <dgm:pt modelId="{610376BD-35F5-4BB7-AC53-34C0F7F55A03}" type="pres">
      <dgm:prSet presAssocID="{F2AB6811-4BDB-4FB2-B564-7F3D17143D39}" presName="dummyConnPt" presStyleCnt="0"/>
      <dgm:spPr/>
    </dgm:pt>
    <dgm:pt modelId="{86A08147-E75D-4F6A-9991-6D2437FC916C}" type="pres">
      <dgm:prSet presAssocID="{F2AB6811-4BDB-4FB2-B564-7F3D17143D39}" presName="node" presStyleLbl="node1" presStyleIdx="3" presStyleCnt="9" custScaleX="134258">
        <dgm:presLayoutVars>
          <dgm:bulletEnabled val="1"/>
        </dgm:presLayoutVars>
      </dgm:prSet>
      <dgm:spPr/>
    </dgm:pt>
    <dgm:pt modelId="{44E4D20D-8021-44AA-9D90-483FE4E7D1E4}" type="pres">
      <dgm:prSet presAssocID="{2AD3664E-D8DA-41D7-A33D-2AA2F2CA96FA}" presName="sibTrans" presStyleLbl="bgSibTrans2D1" presStyleIdx="3" presStyleCnt="8" custScaleX="134258"/>
      <dgm:spPr/>
    </dgm:pt>
    <dgm:pt modelId="{C1778A58-16AA-4C05-A5EE-EC17B5BF7840}" type="pres">
      <dgm:prSet presAssocID="{E7CB791F-122B-4D2B-98CC-2B979DBBE047}" presName="compNode" presStyleCnt="0"/>
      <dgm:spPr/>
    </dgm:pt>
    <dgm:pt modelId="{2CD75283-4D01-4B51-9259-09E6674A3202}" type="pres">
      <dgm:prSet presAssocID="{E7CB791F-122B-4D2B-98CC-2B979DBBE047}" presName="dummyConnPt" presStyleCnt="0"/>
      <dgm:spPr/>
    </dgm:pt>
    <dgm:pt modelId="{247E1F08-79C3-45AF-86FF-21F0645A85C0}" type="pres">
      <dgm:prSet presAssocID="{E7CB791F-122B-4D2B-98CC-2B979DBBE047}" presName="node" presStyleLbl="node1" presStyleIdx="4" presStyleCnt="9" custScaleX="134258">
        <dgm:presLayoutVars>
          <dgm:bulletEnabled val="1"/>
        </dgm:presLayoutVars>
      </dgm:prSet>
      <dgm:spPr/>
    </dgm:pt>
    <dgm:pt modelId="{0AF5F032-C0EA-414F-8AF7-D677A14EDD3C}" type="pres">
      <dgm:prSet presAssocID="{9B81FB5E-3354-4426-A109-64CE51EBD3CC}" presName="sibTrans" presStyleLbl="bgSibTrans2D1" presStyleIdx="4" presStyleCnt="8" custScaleX="134258"/>
      <dgm:spPr/>
    </dgm:pt>
    <dgm:pt modelId="{B260437E-1EE2-4527-B0E2-D0406640713B}" type="pres">
      <dgm:prSet presAssocID="{54B32307-9970-46BE-B72E-F1A08C7E1BAF}" presName="compNode" presStyleCnt="0"/>
      <dgm:spPr/>
    </dgm:pt>
    <dgm:pt modelId="{8B3588AD-D4BD-4636-81C1-B8F27670E94E}" type="pres">
      <dgm:prSet presAssocID="{54B32307-9970-46BE-B72E-F1A08C7E1BAF}" presName="dummyConnPt" presStyleCnt="0"/>
      <dgm:spPr/>
    </dgm:pt>
    <dgm:pt modelId="{4D6002CA-3F1A-4198-8D22-3B1DCFA29A0F}" type="pres">
      <dgm:prSet presAssocID="{54B32307-9970-46BE-B72E-F1A08C7E1BAF}" presName="node" presStyleLbl="node1" presStyleIdx="5" presStyleCnt="9" custScaleX="134258">
        <dgm:presLayoutVars>
          <dgm:bulletEnabled val="1"/>
        </dgm:presLayoutVars>
      </dgm:prSet>
      <dgm:spPr/>
    </dgm:pt>
    <dgm:pt modelId="{7C5ABC22-4A64-4F86-86C4-44C675863C91}" type="pres">
      <dgm:prSet presAssocID="{53CEE943-7605-4307-B98C-7116F27E76FC}" presName="sibTrans" presStyleLbl="bgSibTrans2D1" presStyleIdx="5" presStyleCnt="8" custScaleX="134258"/>
      <dgm:spPr/>
    </dgm:pt>
    <dgm:pt modelId="{CBB15810-7E3A-4404-BB59-6ADAE16E26BF}" type="pres">
      <dgm:prSet presAssocID="{5AE757B0-242E-4551-B8E4-A989CBB9D5BF}" presName="compNode" presStyleCnt="0"/>
      <dgm:spPr/>
    </dgm:pt>
    <dgm:pt modelId="{FF960E6F-FA0F-4BE6-B24E-08CD79D7617C}" type="pres">
      <dgm:prSet presAssocID="{5AE757B0-242E-4551-B8E4-A989CBB9D5BF}" presName="dummyConnPt" presStyleCnt="0"/>
      <dgm:spPr/>
    </dgm:pt>
    <dgm:pt modelId="{5C7BD8EF-7CDF-4453-82A4-D70C8D85AB2B}" type="pres">
      <dgm:prSet presAssocID="{5AE757B0-242E-4551-B8E4-A989CBB9D5BF}" presName="node" presStyleLbl="node1" presStyleIdx="6" presStyleCnt="9" custScaleX="134258">
        <dgm:presLayoutVars>
          <dgm:bulletEnabled val="1"/>
        </dgm:presLayoutVars>
      </dgm:prSet>
      <dgm:spPr/>
    </dgm:pt>
    <dgm:pt modelId="{94716134-09FA-4393-9068-BD3F37D15F30}" type="pres">
      <dgm:prSet presAssocID="{9A6F056E-967B-48DE-BDFC-AA2CC4344D28}" presName="sibTrans" presStyleLbl="bgSibTrans2D1" presStyleIdx="6" presStyleCnt="8" custScaleX="134258"/>
      <dgm:spPr/>
    </dgm:pt>
    <dgm:pt modelId="{278F5D7B-B98E-40E3-AC78-F24CCA033D44}" type="pres">
      <dgm:prSet presAssocID="{9CA3FDF2-F7FD-4EB1-9A45-9F286861DE4B}" presName="compNode" presStyleCnt="0"/>
      <dgm:spPr/>
    </dgm:pt>
    <dgm:pt modelId="{05EA9A2A-C8D6-4157-AEA3-5515F8D57173}" type="pres">
      <dgm:prSet presAssocID="{9CA3FDF2-F7FD-4EB1-9A45-9F286861DE4B}" presName="dummyConnPt" presStyleCnt="0"/>
      <dgm:spPr/>
    </dgm:pt>
    <dgm:pt modelId="{0B1D3882-E2EB-4836-9D74-74FE74E2C889}" type="pres">
      <dgm:prSet presAssocID="{9CA3FDF2-F7FD-4EB1-9A45-9F286861DE4B}" presName="node" presStyleLbl="node1" presStyleIdx="7" presStyleCnt="9" custScaleX="134258">
        <dgm:presLayoutVars>
          <dgm:bulletEnabled val="1"/>
        </dgm:presLayoutVars>
      </dgm:prSet>
      <dgm:spPr/>
    </dgm:pt>
    <dgm:pt modelId="{6A76C65F-251D-4807-A900-E3E6D34DD047}" type="pres">
      <dgm:prSet presAssocID="{E2C975FD-9DE6-487C-9F4E-F5DEEC486F99}" presName="sibTrans" presStyleLbl="bgSibTrans2D1" presStyleIdx="7" presStyleCnt="8" custScaleX="134258"/>
      <dgm:spPr/>
    </dgm:pt>
    <dgm:pt modelId="{484F1A5E-41C6-4920-B1E2-1DB0AE195A47}" type="pres">
      <dgm:prSet presAssocID="{32AEF52B-9C69-4D29-8552-9D958810CF96}" presName="compNode" presStyleCnt="0"/>
      <dgm:spPr/>
    </dgm:pt>
    <dgm:pt modelId="{80991874-F2AE-4909-9C3F-94E1234C1AE0}" type="pres">
      <dgm:prSet presAssocID="{32AEF52B-9C69-4D29-8552-9D958810CF96}" presName="dummyConnPt" presStyleCnt="0"/>
      <dgm:spPr/>
    </dgm:pt>
    <dgm:pt modelId="{4E6AF923-7659-4B19-8BC1-4F070126D55E}" type="pres">
      <dgm:prSet presAssocID="{32AEF52B-9C69-4D29-8552-9D958810CF96}" presName="node" presStyleLbl="node1" presStyleIdx="8" presStyleCnt="9" custScaleX="134258">
        <dgm:presLayoutVars>
          <dgm:bulletEnabled val="1"/>
        </dgm:presLayoutVars>
      </dgm:prSet>
      <dgm:spPr/>
    </dgm:pt>
  </dgm:ptLst>
  <dgm:cxnLst>
    <dgm:cxn modelId="{270F1B0C-9071-4DB2-BD06-CD0FFE1CC937}" type="presOf" srcId="{32AEF52B-9C69-4D29-8552-9D958810CF96}" destId="{4E6AF923-7659-4B19-8BC1-4F070126D55E}" srcOrd="0" destOrd="0" presId="urn:microsoft.com/office/officeart/2005/8/layout/bProcess4"/>
    <dgm:cxn modelId="{1B980F0E-F2CA-4751-916C-CB38651BA5EA}" type="presOf" srcId="{E2C975FD-9DE6-487C-9F4E-F5DEEC486F99}" destId="{6A76C65F-251D-4807-A900-E3E6D34DD047}" srcOrd="0" destOrd="0" presId="urn:microsoft.com/office/officeart/2005/8/layout/bProcess4"/>
    <dgm:cxn modelId="{91274C13-DDD5-44F7-9C69-5547BF86400E}" type="presOf" srcId="{29A255B3-3A90-437C-8249-BC93798ED551}" destId="{4EDB3861-9074-4021-B066-DC7CB9CA816A}" srcOrd="0" destOrd="0" presId="urn:microsoft.com/office/officeart/2005/8/layout/bProcess4"/>
    <dgm:cxn modelId="{4FC6F317-8969-4973-9266-C1E62DB66260}" srcId="{F34DB841-CAA7-45F1-A8C9-8750972E800C}" destId="{5AE757B0-242E-4551-B8E4-A989CBB9D5BF}" srcOrd="6" destOrd="0" parTransId="{18A36E39-FB48-4BB9-AC35-C2FA2C796331}" sibTransId="{9A6F056E-967B-48DE-BDFC-AA2CC4344D28}"/>
    <dgm:cxn modelId="{2BDDA32A-6AB3-4DA9-9367-5F652D3F3032}" type="presOf" srcId="{2B230E95-E249-43B3-93A4-CD0549001C66}" destId="{84222504-84A2-4D7D-BC5A-3D5D024C58B1}" srcOrd="0" destOrd="0" presId="urn:microsoft.com/office/officeart/2005/8/layout/bProcess4"/>
    <dgm:cxn modelId="{195F8D35-D03F-402D-8B8D-1CFD6FAFE58F}" type="presOf" srcId="{48D6EBBA-8B23-4CCE-AD8E-5188A4DC2DE8}" destId="{2002BD3A-B56C-43BC-A0A9-4F8D24CF08D1}" srcOrd="0" destOrd="0" presId="urn:microsoft.com/office/officeart/2005/8/layout/bProcess4"/>
    <dgm:cxn modelId="{726EF73D-7E63-4179-9B23-4B20CFBF717A}" srcId="{F34DB841-CAA7-45F1-A8C9-8750972E800C}" destId="{F2AB6811-4BDB-4FB2-B564-7F3D17143D39}" srcOrd="3" destOrd="0" parTransId="{935FB100-5AB3-4D93-87CC-2ADE193DC9BC}" sibTransId="{2AD3664E-D8DA-41D7-A33D-2AA2F2CA96FA}"/>
    <dgm:cxn modelId="{34CF6F50-0262-49B8-88CD-CA863DF7FBAF}" type="presOf" srcId="{4B6B03D2-E870-443C-9637-82C6F7BECBCB}" destId="{2CB1AB4E-5019-466B-AC7E-C3FD232C220B}" srcOrd="0" destOrd="0" presId="urn:microsoft.com/office/officeart/2005/8/layout/bProcess4"/>
    <dgm:cxn modelId="{DF537F52-5AC0-4344-9E65-4CDDDCC3ABFC}" type="presOf" srcId="{9B81FB5E-3354-4426-A109-64CE51EBD3CC}" destId="{0AF5F032-C0EA-414F-8AF7-D677A14EDD3C}" srcOrd="0" destOrd="0" presId="urn:microsoft.com/office/officeart/2005/8/layout/bProcess4"/>
    <dgm:cxn modelId="{2ED5887F-19D9-4FA1-93D9-833D3EF16B72}" type="presOf" srcId="{E7CB791F-122B-4D2B-98CC-2B979DBBE047}" destId="{247E1F08-79C3-45AF-86FF-21F0645A85C0}" srcOrd="0" destOrd="0" presId="urn:microsoft.com/office/officeart/2005/8/layout/bProcess4"/>
    <dgm:cxn modelId="{33922A87-283F-4C5A-8B3D-DF35DD0A309A}" type="presOf" srcId="{F34DB841-CAA7-45F1-A8C9-8750972E800C}" destId="{0857E23A-70E8-4242-9242-D4586D1667E8}" srcOrd="0" destOrd="0" presId="urn:microsoft.com/office/officeart/2005/8/layout/bProcess4"/>
    <dgm:cxn modelId="{9F68738B-28D8-4C84-ACF7-E90559414B08}" srcId="{F34DB841-CAA7-45F1-A8C9-8750972E800C}" destId="{2B230E95-E249-43B3-93A4-CD0549001C66}" srcOrd="2" destOrd="0" parTransId="{8FF81754-CCEE-484A-8085-8CE47B7BFD7A}" sibTransId="{01814DA7-9474-42E8-B907-340AAAFDB66B}"/>
    <dgm:cxn modelId="{39E26A92-8644-410A-9E97-F0715F123DE3}" srcId="{F34DB841-CAA7-45F1-A8C9-8750972E800C}" destId="{54B32307-9970-46BE-B72E-F1A08C7E1BAF}" srcOrd="5" destOrd="0" parTransId="{590D0BFC-DD03-44CA-A3A8-A6C48CB46019}" sibTransId="{53CEE943-7605-4307-B98C-7116F27E76FC}"/>
    <dgm:cxn modelId="{54B59D93-6D70-4994-BA7B-FE0D63F774BE}" type="presOf" srcId="{54B32307-9970-46BE-B72E-F1A08C7E1BAF}" destId="{4D6002CA-3F1A-4198-8D22-3B1DCFA29A0F}" srcOrd="0" destOrd="0" presId="urn:microsoft.com/office/officeart/2005/8/layout/bProcess4"/>
    <dgm:cxn modelId="{AEAF399A-915B-4009-B55D-E2813EC2676C}" type="presOf" srcId="{5AE757B0-242E-4551-B8E4-A989CBB9D5BF}" destId="{5C7BD8EF-7CDF-4453-82A4-D70C8D85AB2B}" srcOrd="0" destOrd="0" presId="urn:microsoft.com/office/officeart/2005/8/layout/bProcess4"/>
    <dgm:cxn modelId="{A6DFD89A-2DA2-49D6-A0E4-3C70C6F435F2}" type="presOf" srcId="{2AD3664E-D8DA-41D7-A33D-2AA2F2CA96FA}" destId="{44E4D20D-8021-44AA-9D90-483FE4E7D1E4}" srcOrd="0" destOrd="0" presId="urn:microsoft.com/office/officeart/2005/8/layout/bProcess4"/>
    <dgm:cxn modelId="{CA3D32A9-717F-4F17-8EC8-6315FCDC0564}" srcId="{F34DB841-CAA7-45F1-A8C9-8750972E800C}" destId="{32AEF52B-9C69-4D29-8552-9D958810CF96}" srcOrd="8" destOrd="0" parTransId="{20B41E5C-2888-4A15-A77E-B4A03C44ADFC}" sibTransId="{11781C0E-CB75-43BE-B595-E87762BB30F8}"/>
    <dgm:cxn modelId="{D23873A9-1CC5-4927-B1DA-017B9FCB90BC}" srcId="{F34DB841-CAA7-45F1-A8C9-8750972E800C}" destId="{29A255B3-3A90-437C-8249-BC93798ED551}" srcOrd="1" destOrd="0" parTransId="{21385070-59DB-4195-B755-3FC223714AD8}" sibTransId="{48D6EBBA-8B23-4CCE-AD8E-5188A4DC2DE8}"/>
    <dgm:cxn modelId="{2D6E7CB5-641D-4211-9C6A-A61DF2B1456B}" type="presOf" srcId="{D0D16155-D6AE-473F-A54A-63B9D0B66BBF}" destId="{4E05AAE9-D1DE-4FD2-BECF-B17DEAC21FB6}" srcOrd="0" destOrd="0" presId="urn:microsoft.com/office/officeart/2005/8/layout/bProcess4"/>
    <dgm:cxn modelId="{B98720BC-337E-4BB4-A6AB-E64F5FA7EA84}" srcId="{F34DB841-CAA7-45F1-A8C9-8750972E800C}" destId="{D0D16155-D6AE-473F-A54A-63B9D0B66BBF}" srcOrd="0" destOrd="0" parTransId="{93E93C90-6D1A-4A38-914D-8F45F9603B4B}" sibTransId="{4B6B03D2-E870-443C-9637-82C6F7BECBCB}"/>
    <dgm:cxn modelId="{477FA1C7-D3BB-4A70-B602-37F31095F63C}" type="presOf" srcId="{53CEE943-7605-4307-B98C-7116F27E76FC}" destId="{7C5ABC22-4A64-4F86-86C4-44C675863C91}" srcOrd="0" destOrd="0" presId="urn:microsoft.com/office/officeart/2005/8/layout/bProcess4"/>
    <dgm:cxn modelId="{2FEC92CA-58EE-4FA6-8498-15A03ED31898}" type="presOf" srcId="{01814DA7-9474-42E8-B907-340AAAFDB66B}" destId="{2DF688B6-52B8-4B68-AD5A-AAA1610A0E01}" srcOrd="0" destOrd="0" presId="urn:microsoft.com/office/officeart/2005/8/layout/bProcess4"/>
    <dgm:cxn modelId="{031502D2-7B5C-4592-8212-01A44690DF21}" srcId="{F34DB841-CAA7-45F1-A8C9-8750972E800C}" destId="{E7CB791F-122B-4D2B-98CC-2B979DBBE047}" srcOrd="4" destOrd="0" parTransId="{E6222163-6B75-4588-8EC6-4AA8BC38A1F7}" sibTransId="{9B81FB5E-3354-4426-A109-64CE51EBD3CC}"/>
    <dgm:cxn modelId="{CD3D45F2-FAB0-40E0-A89F-0E97FB342F8A}" type="presOf" srcId="{9A6F056E-967B-48DE-BDFC-AA2CC4344D28}" destId="{94716134-09FA-4393-9068-BD3F37D15F30}" srcOrd="0" destOrd="0" presId="urn:microsoft.com/office/officeart/2005/8/layout/bProcess4"/>
    <dgm:cxn modelId="{4EDC8DF3-0916-4154-9793-3A8A3367725B}" type="presOf" srcId="{9CA3FDF2-F7FD-4EB1-9A45-9F286861DE4B}" destId="{0B1D3882-E2EB-4836-9D74-74FE74E2C889}" srcOrd="0" destOrd="0" presId="urn:microsoft.com/office/officeart/2005/8/layout/bProcess4"/>
    <dgm:cxn modelId="{A3296BF5-85B8-4EE7-9C3E-5BE931AAC55F}" srcId="{F34DB841-CAA7-45F1-A8C9-8750972E800C}" destId="{9CA3FDF2-F7FD-4EB1-9A45-9F286861DE4B}" srcOrd="7" destOrd="0" parTransId="{B1E5B239-5B99-43F3-A2EF-45574DABE128}" sibTransId="{E2C975FD-9DE6-487C-9F4E-F5DEEC486F99}"/>
    <dgm:cxn modelId="{12899EF9-467A-4045-AAEF-D6A83B498357}" type="presOf" srcId="{F2AB6811-4BDB-4FB2-B564-7F3D17143D39}" destId="{86A08147-E75D-4F6A-9991-6D2437FC916C}" srcOrd="0" destOrd="0" presId="urn:microsoft.com/office/officeart/2005/8/layout/bProcess4"/>
    <dgm:cxn modelId="{045A7CCB-D469-4B44-8BA9-892A32C181C8}" type="presParOf" srcId="{0857E23A-70E8-4242-9242-D4586D1667E8}" destId="{8936666B-1C2A-44C2-83AA-E3B0CEA18665}" srcOrd="0" destOrd="0" presId="urn:microsoft.com/office/officeart/2005/8/layout/bProcess4"/>
    <dgm:cxn modelId="{4C2FD066-CB97-4C88-9194-FB12029AF689}" type="presParOf" srcId="{8936666B-1C2A-44C2-83AA-E3B0CEA18665}" destId="{1330BD19-E3A2-4E7E-BF8C-F5F7E4ACE1A6}" srcOrd="0" destOrd="0" presId="urn:microsoft.com/office/officeart/2005/8/layout/bProcess4"/>
    <dgm:cxn modelId="{B2B754F4-8754-4538-BC75-25FE35046ED2}" type="presParOf" srcId="{8936666B-1C2A-44C2-83AA-E3B0CEA18665}" destId="{4E05AAE9-D1DE-4FD2-BECF-B17DEAC21FB6}" srcOrd="1" destOrd="0" presId="urn:microsoft.com/office/officeart/2005/8/layout/bProcess4"/>
    <dgm:cxn modelId="{A69E88DD-6EB6-4584-87B7-140594885B01}" type="presParOf" srcId="{0857E23A-70E8-4242-9242-D4586D1667E8}" destId="{2CB1AB4E-5019-466B-AC7E-C3FD232C220B}" srcOrd="1" destOrd="0" presId="urn:microsoft.com/office/officeart/2005/8/layout/bProcess4"/>
    <dgm:cxn modelId="{EBA865F0-CE48-4E6A-B55A-78A36897070F}" type="presParOf" srcId="{0857E23A-70E8-4242-9242-D4586D1667E8}" destId="{A7F1ABBF-FC6C-427A-9002-75E5C91FE674}" srcOrd="2" destOrd="0" presId="urn:microsoft.com/office/officeart/2005/8/layout/bProcess4"/>
    <dgm:cxn modelId="{92D57673-580C-4F26-9970-D1E9DB9754B4}" type="presParOf" srcId="{A7F1ABBF-FC6C-427A-9002-75E5C91FE674}" destId="{CE87092D-3755-4BE8-AE73-3AAD20D1AA96}" srcOrd="0" destOrd="0" presId="urn:microsoft.com/office/officeart/2005/8/layout/bProcess4"/>
    <dgm:cxn modelId="{5D9B70FF-0358-471C-A0C1-3969B192E46B}" type="presParOf" srcId="{A7F1ABBF-FC6C-427A-9002-75E5C91FE674}" destId="{4EDB3861-9074-4021-B066-DC7CB9CA816A}" srcOrd="1" destOrd="0" presId="urn:microsoft.com/office/officeart/2005/8/layout/bProcess4"/>
    <dgm:cxn modelId="{B7B32CDC-1862-4432-8127-E033181195F6}" type="presParOf" srcId="{0857E23A-70E8-4242-9242-D4586D1667E8}" destId="{2002BD3A-B56C-43BC-A0A9-4F8D24CF08D1}" srcOrd="3" destOrd="0" presId="urn:microsoft.com/office/officeart/2005/8/layout/bProcess4"/>
    <dgm:cxn modelId="{3E2C5337-AC88-467A-968F-37D8F789505D}" type="presParOf" srcId="{0857E23A-70E8-4242-9242-D4586D1667E8}" destId="{730ADFF9-A902-4FB1-BE6C-D55B56AB29FF}" srcOrd="4" destOrd="0" presId="urn:microsoft.com/office/officeart/2005/8/layout/bProcess4"/>
    <dgm:cxn modelId="{442BED95-7F8E-4F0C-A68E-9AC77F32850C}" type="presParOf" srcId="{730ADFF9-A902-4FB1-BE6C-D55B56AB29FF}" destId="{A1D26E47-4229-415D-8FCA-6FCBA9AF0FF2}" srcOrd="0" destOrd="0" presId="urn:microsoft.com/office/officeart/2005/8/layout/bProcess4"/>
    <dgm:cxn modelId="{AB6F3FC6-E24F-4A06-BC2D-22E8AD74E7AD}" type="presParOf" srcId="{730ADFF9-A902-4FB1-BE6C-D55B56AB29FF}" destId="{84222504-84A2-4D7D-BC5A-3D5D024C58B1}" srcOrd="1" destOrd="0" presId="urn:microsoft.com/office/officeart/2005/8/layout/bProcess4"/>
    <dgm:cxn modelId="{E0C4BD47-D36A-4F11-B287-490C2AEE3855}" type="presParOf" srcId="{0857E23A-70E8-4242-9242-D4586D1667E8}" destId="{2DF688B6-52B8-4B68-AD5A-AAA1610A0E01}" srcOrd="5" destOrd="0" presId="urn:microsoft.com/office/officeart/2005/8/layout/bProcess4"/>
    <dgm:cxn modelId="{D266C00C-ED0D-42E5-864D-559A638FF039}" type="presParOf" srcId="{0857E23A-70E8-4242-9242-D4586D1667E8}" destId="{AB1A9CF3-6798-43C6-B4FA-EF92BC57376B}" srcOrd="6" destOrd="0" presId="urn:microsoft.com/office/officeart/2005/8/layout/bProcess4"/>
    <dgm:cxn modelId="{51223D3F-4390-4A8F-B8F0-FEA1CDE05E22}" type="presParOf" srcId="{AB1A9CF3-6798-43C6-B4FA-EF92BC57376B}" destId="{610376BD-35F5-4BB7-AC53-34C0F7F55A03}" srcOrd="0" destOrd="0" presId="urn:microsoft.com/office/officeart/2005/8/layout/bProcess4"/>
    <dgm:cxn modelId="{C87D0DFE-8A55-4C4C-9829-7C3A4E57BFBD}" type="presParOf" srcId="{AB1A9CF3-6798-43C6-B4FA-EF92BC57376B}" destId="{86A08147-E75D-4F6A-9991-6D2437FC916C}" srcOrd="1" destOrd="0" presId="urn:microsoft.com/office/officeart/2005/8/layout/bProcess4"/>
    <dgm:cxn modelId="{A4C1F5CC-2C8C-4DA6-B215-A0FF2AA3C362}" type="presParOf" srcId="{0857E23A-70E8-4242-9242-D4586D1667E8}" destId="{44E4D20D-8021-44AA-9D90-483FE4E7D1E4}" srcOrd="7" destOrd="0" presId="urn:microsoft.com/office/officeart/2005/8/layout/bProcess4"/>
    <dgm:cxn modelId="{5DD37D82-0C62-4089-B41D-2702F1E14F41}" type="presParOf" srcId="{0857E23A-70E8-4242-9242-D4586D1667E8}" destId="{C1778A58-16AA-4C05-A5EE-EC17B5BF7840}" srcOrd="8" destOrd="0" presId="urn:microsoft.com/office/officeart/2005/8/layout/bProcess4"/>
    <dgm:cxn modelId="{B649B196-862A-4CF0-B785-4C163640F42E}" type="presParOf" srcId="{C1778A58-16AA-4C05-A5EE-EC17B5BF7840}" destId="{2CD75283-4D01-4B51-9259-09E6674A3202}" srcOrd="0" destOrd="0" presId="urn:microsoft.com/office/officeart/2005/8/layout/bProcess4"/>
    <dgm:cxn modelId="{4E6F4757-3C3F-4403-A171-2375D48AC0C2}" type="presParOf" srcId="{C1778A58-16AA-4C05-A5EE-EC17B5BF7840}" destId="{247E1F08-79C3-45AF-86FF-21F0645A85C0}" srcOrd="1" destOrd="0" presId="urn:microsoft.com/office/officeart/2005/8/layout/bProcess4"/>
    <dgm:cxn modelId="{D1037E7F-5546-48E5-AE68-E89F79DBA7F2}" type="presParOf" srcId="{0857E23A-70E8-4242-9242-D4586D1667E8}" destId="{0AF5F032-C0EA-414F-8AF7-D677A14EDD3C}" srcOrd="9" destOrd="0" presId="urn:microsoft.com/office/officeart/2005/8/layout/bProcess4"/>
    <dgm:cxn modelId="{9E04DD3E-DA49-4850-9DC0-FEE1CACD0756}" type="presParOf" srcId="{0857E23A-70E8-4242-9242-D4586D1667E8}" destId="{B260437E-1EE2-4527-B0E2-D0406640713B}" srcOrd="10" destOrd="0" presId="urn:microsoft.com/office/officeart/2005/8/layout/bProcess4"/>
    <dgm:cxn modelId="{3422EEE7-E905-4069-B462-5D15101B9110}" type="presParOf" srcId="{B260437E-1EE2-4527-B0E2-D0406640713B}" destId="{8B3588AD-D4BD-4636-81C1-B8F27670E94E}" srcOrd="0" destOrd="0" presId="urn:microsoft.com/office/officeart/2005/8/layout/bProcess4"/>
    <dgm:cxn modelId="{1C250622-6730-4F6A-B036-E828B161C618}" type="presParOf" srcId="{B260437E-1EE2-4527-B0E2-D0406640713B}" destId="{4D6002CA-3F1A-4198-8D22-3B1DCFA29A0F}" srcOrd="1" destOrd="0" presId="urn:microsoft.com/office/officeart/2005/8/layout/bProcess4"/>
    <dgm:cxn modelId="{2B7898D9-1B9E-4FD5-BEA8-3CE32401E00F}" type="presParOf" srcId="{0857E23A-70E8-4242-9242-D4586D1667E8}" destId="{7C5ABC22-4A64-4F86-86C4-44C675863C91}" srcOrd="11" destOrd="0" presId="urn:microsoft.com/office/officeart/2005/8/layout/bProcess4"/>
    <dgm:cxn modelId="{6B9C5C5A-52C1-4DE7-BE95-7A726C57F867}" type="presParOf" srcId="{0857E23A-70E8-4242-9242-D4586D1667E8}" destId="{CBB15810-7E3A-4404-BB59-6ADAE16E26BF}" srcOrd="12" destOrd="0" presId="urn:microsoft.com/office/officeart/2005/8/layout/bProcess4"/>
    <dgm:cxn modelId="{384032A8-1DD4-4B94-8AB4-B534246732DC}" type="presParOf" srcId="{CBB15810-7E3A-4404-BB59-6ADAE16E26BF}" destId="{FF960E6F-FA0F-4BE6-B24E-08CD79D7617C}" srcOrd="0" destOrd="0" presId="urn:microsoft.com/office/officeart/2005/8/layout/bProcess4"/>
    <dgm:cxn modelId="{BB4A1EBE-8DEA-4E71-B1FE-9467B7235088}" type="presParOf" srcId="{CBB15810-7E3A-4404-BB59-6ADAE16E26BF}" destId="{5C7BD8EF-7CDF-4453-82A4-D70C8D85AB2B}" srcOrd="1" destOrd="0" presId="urn:microsoft.com/office/officeart/2005/8/layout/bProcess4"/>
    <dgm:cxn modelId="{A0E0A2F9-BBE0-427F-8F6F-B14C8593D6CC}" type="presParOf" srcId="{0857E23A-70E8-4242-9242-D4586D1667E8}" destId="{94716134-09FA-4393-9068-BD3F37D15F30}" srcOrd="13" destOrd="0" presId="urn:microsoft.com/office/officeart/2005/8/layout/bProcess4"/>
    <dgm:cxn modelId="{FE823D75-C746-40F8-8D34-3BDD610BC4D0}" type="presParOf" srcId="{0857E23A-70E8-4242-9242-D4586D1667E8}" destId="{278F5D7B-B98E-40E3-AC78-F24CCA033D44}" srcOrd="14" destOrd="0" presId="urn:microsoft.com/office/officeart/2005/8/layout/bProcess4"/>
    <dgm:cxn modelId="{2B0D8D7A-1F99-4C12-BB66-D3577F11BFF5}" type="presParOf" srcId="{278F5D7B-B98E-40E3-AC78-F24CCA033D44}" destId="{05EA9A2A-C8D6-4157-AEA3-5515F8D57173}" srcOrd="0" destOrd="0" presId="urn:microsoft.com/office/officeart/2005/8/layout/bProcess4"/>
    <dgm:cxn modelId="{DBCB92B3-0FAC-4F7B-9FBB-3165DACCB453}" type="presParOf" srcId="{278F5D7B-B98E-40E3-AC78-F24CCA033D44}" destId="{0B1D3882-E2EB-4836-9D74-74FE74E2C889}" srcOrd="1" destOrd="0" presId="urn:microsoft.com/office/officeart/2005/8/layout/bProcess4"/>
    <dgm:cxn modelId="{AD67A8A9-818B-4D4D-9ACF-99465AF05FF5}" type="presParOf" srcId="{0857E23A-70E8-4242-9242-D4586D1667E8}" destId="{6A76C65F-251D-4807-A900-E3E6D34DD047}" srcOrd="15" destOrd="0" presId="urn:microsoft.com/office/officeart/2005/8/layout/bProcess4"/>
    <dgm:cxn modelId="{39167455-5937-4725-B39F-B99E5C6CD534}" type="presParOf" srcId="{0857E23A-70E8-4242-9242-D4586D1667E8}" destId="{484F1A5E-41C6-4920-B1E2-1DB0AE195A47}" srcOrd="16" destOrd="0" presId="urn:microsoft.com/office/officeart/2005/8/layout/bProcess4"/>
    <dgm:cxn modelId="{56725EF3-8665-410A-8E73-024123CF1498}" type="presParOf" srcId="{484F1A5E-41C6-4920-B1E2-1DB0AE195A47}" destId="{80991874-F2AE-4909-9C3F-94E1234C1AE0}" srcOrd="0" destOrd="0" presId="urn:microsoft.com/office/officeart/2005/8/layout/bProcess4"/>
    <dgm:cxn modelId="{F25561FB-68B0-4992-905C-2C10E27D888A}" type="presParOf" srcId="{484F1A5E-41C6-4920-B1E2-1DB0AE195A47}" destId="{4E6AF923-7659-4B19-8BC1-4F070126D55E}" srcOrd="1" destOrd="0" presId="urn:microsoft.com/office/officeart/2005/8/layout/bProcess4"/>
  </dgm:cxnLst>
  <dgm:bg>
    <a:effectLst>
      <a:outerShdw blurRad="63500" sx="102000" sy="102000" algn="ctr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700E9B5-75B8-4441-AF18-A94D32D5621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878679-08CD-445D-AA73-0F6DBEE28A51}">
      <dgm:prSet phldrT="[Text]"/>
      <dgm:spPr>
        <a:solidFill>
          <a:srgbClr val="FF990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IN" b="1" dirty="0"/>
            <a:t>PESTEL Analysis </a:t>
          </a:r>
          <a:r>
            <a:rPr lang="en-IN" dirty="0"/>
            <a:t>for a clear understanding of the external environment</a:t>
          </a:r>
          <a:endParaRPr lang="en-US" dirty="0"/>
        </a:p>
      </dgm:t>
    </dgm:pt>
    <dgm:pt modelId="{396B9A46-9411-458C-BA0D-ED19E8A12B70}" type="parTrans" cxnId="{6FC7E636-C963-44AE-8E89-D9E6A61F45B1}">
      <dgm:prSet/>
      <dgm:spPr/>
      <dgm:t>
        <a:bodyPr/>
        <a:lstStyle/>
        <a:p>
          <a:endParaRPr lang="en-US"/>
        </a:p>
      </dgm:t>
    </dgm:pt>
    <dgm:pt modelId="{7E652A03-59C0-4B13-A9B7-DA0E6768D1BB}" type="sibTrans" cxnId="{6FC7E636-C963-44AE-8E89-D9E6A61F45B1}">
      <dgm:prSet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en-US"/>
        </a:p>
      </dgm:t>
    </dgm:pt>
    <dgm:pt modelId="{CB7C1C7F-07CF-4CBF-B10C-FE0CB35345B8}">
      <dgm:prSet phldrT="[Text]"/>
      <dgm:spPr>
        <a:solidFill>
          <a:srgbClr val="FF990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IN" b="1" dirty="0"/>
            <a:t>PERCEPTUAL MAP </a:t>
          </a:r>
          <a:r>
            <a:rPr lang="en-IN" b="0" dirty="0"/>
            <a:t>to bring out the value proposition efficiently</a:t>
          </a:r>
          <a:endParaRPr lang="en-US" b="1" dirty="0"/>
        </a:p>
      </dgm:t>
    </dgm:pt>
    <dgm:pt modelId="{C9AF7EA5-E6C7-4E68-826C-2A7CE553FD35}" type="parTrans" cxnId="{C7F24241-1C09-4841-909B-6150F185DC45}">
      <dgm:prSet/>
      <dgm:spPr/>
      <dgm:t>
        <a:bodyPr/>
        <a:lstStyle/>
        <a:p>
          <a:endParaRPr lang="en-US"/>
        </a:p>
      </dgm:t>
    </dgm:pt>
    <dgm:pt modelId="{E5695420-EE9B-4A92-B1A1-2EF1ED748460}" type="sibTrans" cxnId="{C7F24241-1C09-4841-909B-6150F185DC45}">
      <dgm:prSet/>
      <dgm:spPr/>
      <dgm:t>
        <a:bodyPr/>
        <a:lstStyle/>
        <a:p>
          <a:endParaRPr lang="en-US"/>
        </a:p>
      </dgm:t>
    </dgm:pt>
    <dgm:pt modelId="{19465F32-4D94-469A-826E-4AA343463602}">
      <dgm:prSet phldrT="[Text]"/>
      <dgm:spPr>
        <a:solidFill>
          <a:srgbClr val="FF9900"/>
        </a:solidFill>
        <a:effectLst>
          <a:outerShdw blurRad="63500" sx="102000" sy="102000" algn="ctr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IN" b="1" dirty="0"/>
            <a:t>NEED Analysis </a:t>
          </a:r>
          <a:r>
            <a:rPr lang="en-IN" b="0" dirty="0"/>
            <a:t>to understand the potential customer pain points</a:t>
          </a:r>
          <a:endParaRPr lang="en-US" b="1" dirty="0"/>
        </a:p>
      </dgm:t>
    </dgm:pt>
    <dgm:pt modelId="{091D9588-6289-4235-9821-651A183B44DB}" type="parTrans" cxnId="{629DD3E5-D0CC-4E59-944B-5EB5476E0B0C}">
      <dgm:prSet/>
      <dgm:spPr/>
      <dgm:t>
        <a:bodyPr/>
        <a:lstStyle/>
        <a:p>
          <a:endParaRPr lang="en-US"/>
        </a:p>
      </dgm:t>
    </dgm:pt>
    <dgm:pt modelId="{4C21DA17-65B5-4624-8292-62E6346853C2}" type="sibTrans" cxnId="{629DD3E5-D0CC-4E59-944B-5EB5476E0B0C}">
      <dgm:prSet/>
      <dgm:spPr/>
      <dgm:t>
        <a:bodyPr/>
        <a:lstStyle/>
        <a:p>
          <a:endParaRPr lang="en-US"/>
        </a:p>
      </dgm:t>
    </dgm:pt>
    <dgm:pt modelId="{FA1211BC-77BC-4CDE-8BF0-6039180C6D6E}" type="pres">
      <dgm:prSet presAssocID="{A700E9B5-75B8-4441-AF18-A94D32D56213}" presName="Name0" presStyleCnt="0">
        <dgm:presLayoutVars>
          <dgm:chMax val="7"/>
          <dgm:chPref val="7"/>
          <dgm:dir/>
        </dgm:presLayoutVars>
      </dgm:prSet>
      <dgm:spPr/>
    </dgm:pt>
    <dgm:pt modelId="{85C3E4B3-8FBA-4469-A9FF-32BC779E05DE}" type="pres">
      <dgm:prSet presAssocID="{A700E9B5-75B8-4441-AF18-A94D32D56213}" presName="Name1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CE4036A0-D66D-4ED4-AE01-231717811112}" type="pres">
      <dgm:prSet presAssocID="{A700E9B5-75B8-4441-AF18-A94D32D56213}" presName="cycle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B97FCCA3-844C-4AD1-981C-4B5B2E4156DE}" type="pres">
      <dgm:prSet presAssocID="{A700E9B5-75B8-4441-AF18-A94D32D56213}" presName="srcNode" presStyleLbl="node1" presStyleIdx="0" presStyleCnt="3"/>
      <dgm:spPr>
        <a:scene3d>
          <a:camera prst="orthographicFront"/>
          <a:lightRig rig="threePt" dir="t"/>
        </a:scene3d>
        <a:sp3d>
          <a:bevelT/>
        </a:sp3d>
      </dgm:spPr>
    </dgm:pt>
    <dgm:pt modelId="{35AEF506-2044-4AD4-B557-370F2BDC3A6D}" type="pres">
      <dgm:prSet presAssocID="{A700E9B5-75B8-4441-AF18-A94D32D56213}" presName="conn" presStyleLbl="parChTrans1D2" presStyleIdx="0" presStyleCnt="1"/>
      <dgm:spPr/>
    </dgm:pt>
    <dgm:pt modelId="{FACD0870-0774-4E52-9B84-8D748512D6FA}" type="pres">
      <dgm:prSet presAssocID="{A700E9B5-75B8-4441-AF18-A94D32D56213}" presName="extraNode" presStyleLbl="node1" presStyleIdx="0" presStyleCnt="3"/>
      <dgm:spPr>
        <a:scene3d>
          <a:camera prst="orthographicFront"/>
          <a:lightRig rig="threePt" dir="t"/>
        </a:scene3d>
        <a:sp3d>
          <a:bevelT/>
        </a:sp3d>
      </dgm:spPr>
    </dgm:pt>
    <dgm:pt modelId="{0E10614F-9E83-4A0C-8BC9-48641C609857}" type="pres">
      <dgm:prSet presAssocID="{A700E9B5-75B8-4441-AF18-A94D32D56213}" presName="dstNode" presStyleLbl="node1" presStyleIdx="0" presStyleCnt="3"/>
      <dgm:spPr>
        <a:scene3d>
          <a:camera prst="orthographicFront"/>
          <a:lightRig rig="threePt" dir="t"/>
        </a:scene3d>
        <a:sp3d>
          <a:bevelT/>
        </a:sp3d>
      </dgm:spPr>
    </dgm:pt>
    <dgm:pt modelId="{33EE19D9-89A7-4687-8A62-BC8321BC17BF}" type="pres">
      <dgm:prSet presAssocID="{8C878679-08CD-445D-AA73-0F6DBEE28A51}" presName="text_1" presStyleLbl="node1" presStyleIdx="0" presStyleCnt="3">
        <dgm:presLayoutVars>
          <dgm:bulletEnabled val="1"/>
        </dgm:presLayoutVars>
      </dgm:prSet>
      <dgm:spPr/>
    </dgm:pt>
    <dgm:pt modelId="{13AE312A-33CD-40AC-A9B4-945838B7C2D6}" type="pres">
      <dgm:prSet presAssocID="{8C878679-08CD-445D-AA73-0F6DBEE28A51}" presName="accent_1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3214410C-3C3A-429E-A12E-B5156CBB240E}" type="pres">
      <dgm:prSet presAssocID="{8C878679-08CD-445D-AA73-0F6DBEE28A51}" presName="accentRepeatNode" presStyleLbl="solidFgAcc1" presStyleIdx="0" presStyleCnt="3"/>
      <dgm:spPr>
        <a:scene3d>
          <a:camera prst="orthographicFront"/>
          <a:lightRig rig="threePt" dir="t"/>
        </a:scene3d>
        <a:sp3d>
          <a:bevelT/>
        </a:sp3d>
      </dgm:spPr>
    </dgm:pt>
    <dgm:pt modelId="{0F558991-7F1B-411B-86CD-4D10BF398795}" type="pres">
      <dgm:prSet presAssocID="{CB7C1C7F-07CF-4CBF-B10C-FE0CB35345B8}" presName="text_2" presStyleLbl="node1" presStyleIdx="1" presStyleCnt="3">
        <dgm:presLayoutVars>
          <dgm:bulletEnabled val="1"/>
        </dgm:presLayoutVars>
      </dgm:prSet>
      <dgm:spPr/>
    </dgm:pt>
    <dgm:pt modelId="{51DF05D7-3525-4B2B-9E56-61942496BD44}" type="pres">
      <dgm:prSet presAssocID="{CB7C1C7F-07CF-4CBF-B10C-FE0CB35345B8}" presName="accent_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825E5A96-FA17-4301-97DC-703578104179}" type="pres">
      <dgm:prSet presAssocID="{CB7C1C7F-07CF-4CBF-B10C-FE0CB35345B8}" presName="accentRepeatNode" presStyleLbl="solidFgAcc1" presStyleIdx="1" presStyleCnt="3"/>
      <dgm:spPr>
        <a:scene3d>
          <a:camera prst="orthographicFront"/>
          <a:lightRig rig="threePt" dir="t"/>
        </a:scene3d>
        <a:sp3d>
          <a:bevelT/>
        </a:sp3d>
      </dgm:spPr>
    </dgm:pt>
    <dgm:pt modelId="{483047AD-1925-4966-985E-86E27BF4D142}" type="pres">
      <dgm:prSet presAssocID="{19465F32-4D94-469A-826E-4AA343463602}" presName="text_3" presStyleLbl="node1" presStyleIdx="2" presStyleCnt="3">
        <dgm:presLayoutVars>
          <dgm:bulletEnabled val="1"/>
        </dgm:presLayoutVars>
      </dgm:prSet>
      <dgm:spPr/>
    </dgm:pt>
    <dgm:pt modelId="{D4B0B310-0F0A-493A-9302-ACB31EECEDB3}" type="pres">
      <dgm:prSet presAssocID="{19465F32-4D94-469A-826E-4AA343463602}" presName="accent_3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7F93E73A-6C1E-43D6-9EC7-9856F460CEED}" type="pres">
      <dgm:prSet presAssocID="{19465F32-4D94-469A-826E-4AA343463602}" presName="accentRepeatNode" presStyleLbl="solidFgAcc1" presStyleIdx="2" presStyleCnt="3"/>
      <dgm:spPr>
        <a:scene3d>
          <a:camera prst="orthographicFront"/>
          <a:lightRig rig="threePt" dir="t"/>
        </a:scene3d>
        <a:sp3d>
          <a:bevelT/>
        </a:sp3d>
      </dgm:spPr>
    </dgm:pt>
  </dgm:ptLst>
  <dgm:cxnLst>
    <dgm:cxn modelId="{7360A515-67F2-42DA-B585-36203D1DC05E}" type="presOf" srcId="{7E652A03-59C0-4B13-A9B7-DA0E6768D1BB}" destId="{35AEF506-2044-4AD4-B557-370F2BDC3A6D}" srcOrd="0" destOrd="0" presId="urn:microsoft.com/office/officeart/2008/layout/VerticalCurvedList"/>
    <dgm:cxn modelId="{ADBCB42E-2E14-44A5-942D-58D22E3A290F}" type="presOf" srcId="{19465F32-4D94-469A-826E-4AA343463602}" destId="{483047AD-1925-4966-985E-86E27BF4D142}" srcOrd="0" destOrd="0" presId="urn:microsoft.com/office/officeart/2008/layout/VerticalCurvedList"/>
    <dgm:cxn modelId="{6FC7E636-C963-44AE-8E89-D9E6A61F45B1}" srcId="{A700E9B5-75B8-4441-AF18-A94D32D56213}" destId="{8C878679-08CD-445D-AA73-0F6DBEE28A51}" srcOrd="0" destOrd="0" parTransId="{396B9A46-9411-458C-BA0D-ED19E8A12B70}" sibTransId="{7E652A03-59C0-4B13-A9B7-DA0E6768D1BB}"/>
    <dgm:cxn modelId="{C7F24241-1C09-4841-909B-6150F185DC45}" srcId="{A700E9B5-75B8-4441-AF18-A94D32D56213}" destId="{CB7C1C7F-07CF-4CBF-B10C-FE0CB35345B8}" srcOrd="1" destOrd="0" parTransId="{C9AF7EA5-E6C7-4E68-826C-2A7CE553FD35}" sibTransId="{E5695420-EE9B-4A92-B1A1-2EF1ED748460}"/>
    <dgm:cxn modelId="{2EED498A-2A4C-4D57-BE0D-6810111ED47F}" type="presOf" srcId="{CB7C1C7F-07CF-4CBF-B10C-FE0CB35345B8}" destId="{0F558991-7F1B-411B-86CD-4D10BF398795}" srcOrd="0" destOrd="0" presId="urn:microsoft.com/office/officeart/2008/layout/VerticalCurvedList"/>
    <dgm:cxn modelId="{1D792C8B-6F68-44A2-83EC-9D088CD6E41B}" type="presOf" srcId="{A700E9B5-75B8-4441-AF18-A94D32D56213}" destId="{FA1211BC-77BC-4CDE-8BF0-6039180C6D6E}" srcOrd="0" destOrd="0" presId="urn:microsoft.com/office/officeart/2008/layout/VerticalCurvedList"/>
    <dgm:cxn modelId="{8A7B15E3-FB80-44A8-86FE-DC612D407779}" type="presOf" srcId="{8C878679-08CD-445D-AA73-0F6DBEE28A51}" destId="{33EE19D9-89A7-4687-8A62-BC8321BC17BF}" srcOrd="0" destOrd="0" presId="urn:microsoft.com/office/officeart/2008/layout/VerticalCurvedList"/>
    <dgm:cxn modelId="{629DD3E5-D0CC-4E59-944B-5EB5476E0B0C}" srcId="{A700E9B5-75B8-4441-AF18-A94D32D56213}" destId="{19465F32-4D94-469A-826E-4AA343463602}" srcOrd="2" destOrd="0" parTransId="{091D9588-6289-4235-9821-651A183B44DB}" sibTransId="{4C21DA17-65B5-4624-8292-62E6346853C2}"/>
    <dgm:cxn modelId="{47495CFE-4207-444E-A976-5EBD4CF5CA16}" type="presParOf" srcId="{FA1211BC-77BC-4CDE-8BF0-6039180C6D6E}" destId="{85C3E4B3-8FBA-4469-A9FF-32BC779E05DE}" srcOrd="0" destOrd="0" presId="urn:microsoft.com/office/officeart/2008/layout/VerticalCurvedList"/>
    <dgm:cxn modelId="{4D2C72C9-8DA7-43F2-9B05-43E5341EDAF5}" type="presParOf" srcId="{85C3E4B3-8FBA-4469-A9FF-32BC779E05DE}" destId="{CE4036A0-D66D-4ED4-AE01-231717811112}" srcOrd="0" destOrd="0" presId="urn:microsoft.com/office/officeart/2008/layout/VerticalCurvedList"/>
    <dgm:cxn modelId="{4D78C8DB-82D2-4ADA-968D-395ABDBA59D0}" type="presParOf" srcId="{CE4036A0-D66D-4ED4-AE01-231717811112}" destId="{B97FCCA3-844C-4AD1-981C-4B5B2E4156DE}" srcOrd="0" destOrd="0" presId="urn:microsoft.com/office/officeart/2008/layout/VerticalCurvedList"/>
    <dgm:cxn modelId="{8A3E0E8D-5886-4010-AD12-4B1C07D63101}" type="presParOf" srcId="{CE4036A0-D66D-4ED4-AE01-231717811112}" destId="{35AEF506-2044-4AD4-B557-370F2BDC3A6D}" srcOrd="1" destOrd="0" presId="urn:microsoft.com/office/officeart/2008/layout/VerticalCurvedList"/>
    <dgm:cxn modelId="{06C12BBC-1122-4398-8D22-09A063CC56AE}" type="presParOf" srcId="{CE4036A0-D66D-4ED4-AE01-231717811112}" destId="{FACD0870-0774-4E52-9B84-8D748512D6FA}" srcOrd="2" destOrd="0" presId="urn:microsoft.com/office/officeart/2008/layout/VerticalCurvedList"/>
    <dgm:cxn modelId="{473F66A5-E797-4F01-BBF1-5030C994AEE3}" type="presParOf" srcId="{CE4036A0-D66D-4ED4-AE01-231717811112}" destId="{0E10614F-9E83-4A0C-8BC9-48641C609857}" srcOrd="3" destOrd="0" presId="urn:microsoft.com/office/officeart/2008/layout/VerticalCurvedList"/>
    <dgm:cxn modelId="{F77A44F0-2D4E-4DA3-8475-4F17CE4937C5}" type="presParOf" srcId="{85C3E4B3-8FBA-4469-A9FF-32BC779E05DE}" destId="{33EE19D9-89A7-4687-8A62-BC8321BC17BF}" srcOrd="1" destOrd="0" presId="urn:microsoft.com/office/officeart/2008/layout/VerticalCurvedList"/>
    <dgm:cxn modelId="{C4A8D6BE-14D6-4980-8BFF-152A9FBF78F4}" type="presParOf" srcId="{85C3E4B3-8FBA-4469-A9FF-32BC779E05DE}" destId="{13AE312A-33CD-40AC-A9B4-945838B7C2D6}" srcOrd="2" destOrd="0" presId="urn:microsoft.com/office/officeart/2008/layout/VerticalCurvedList"/>
    <dgm:cxn modelId="{161028C5-3A5C-43FB-AA94-4708C16FAC6D}" type="presParOf" srcId="{13AE312A-33CD-40AC-A9B4-945838B7C2D6}" destId="{3214410C-3C3A-429E-A12E-B5156CBB240E}" srcOrd="0" destOrd="0" presId="urn:microsoft.com/office/officeart/2008/layout/VerticalCurvedList"/>
    <dgm:cxn modelId="{F8AD35C9-EE6F-4CE7-A48C-135613DD7871}" type="presParOf" srcId="{85C3E4B3-8FBA-4469-A9FF-32BC779E05DE}" destId="{0F558991-7F1B-411B-86CD-4D10BF398795}" srcOrd="3" destOrd="0" presId="urn:microsoft.com/office/officeart/2008/layout/VerticalCurvedList"/>
    <dgm:cxn modelId="{B2646B74-0965-41E8-844C-7FB3122BCA4C}" type="presParOf" srcId="{85C3E4B3-8FBA-4469-A9FF-32BC779E05DE}" destId="{51DF05D7-3525-4B2B-9E56-61942496BD44}" srcOrd="4" destOrd="0" presId="urn:microsoft.com/office/officeart/2008/layout/VerticalCurvedList"/>
    <dgm:cxn modelId="{76A515F6-0A5E-4489-8C03-11EF9AA2253D}" type="presParOf" srcId="{51DF05D7-3525-4B2B-9E56-61942496BD44}" destId="{825E5A96-FA17-4301-97DC-703578104179}" srcOrd="0" destOrd="0" presId="urn:microsoft.com/office/officeart/2008/layout/VerticalCurvedList"/>
    <dgm:cxn modelId="{5B6B9F49-28BC-4648-8A48-6D6C6727FF6C}" type="presParOf" srcId="{85C3E4B3-8FBA-4469-A9FF-32BC779E05DE}" destId="{483047AD-1925-4966-985E-86E27BF4D142}" srcOrd="5" destOrd="0" presId="urn:microsoft.com/office/officeart/2008/layout/VerticalCurvedList"/>
    <dgm:cxn modelId="{9D348B1D-F8E8-4CCB-81A3-10F23CE91E38}" type="presParOf" srcId="{85C3E4B3-8FBA-4469-A9FF-32BC779E05DE}" destId="{D4B0B310-0F0A-493A-9302-ACB31EECEDB3}" srcOrd="6" destOrd="0" presId="urn:microsoft.com/office/officeart/2008/layout/VerticalCurvedList"/>
    <dgm:cxn modelId="{30DF3613-CD6A-4EFB-8173-1A15FD9A032A}" type="presParOf" srcId="{D4B0B310-0F0A-493A-9302-ACB31EECEDB3}" destId="{7F93E73A-6C1E-43D6-9EC7-9856F460CEED}" srcOrd="0" destOrd="0" presId="urn:microsoft.com/office/officeart/2008/layout/VerticalCurvedList"/>
  </dgm:cxnLst>
  <dgm:bg>
    <a:effectLst>
      <a:outerShdw blurRad="63500" sx="102000" sy="102000" algn="ctr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/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/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>
        <a:solidFill>
          <a:srgbClr val="FF9900"/>
        </a:solidFill>
      </dgm:spPr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/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/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/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/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/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/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/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/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>
        <a:solidFill>
          <a:srgbClr val="FF9900"/>
        </a:solidFill>
      </dgm:spPr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/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/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/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/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/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>
        <a:solidFill>
          <a:srgbClr val="FF9900"/>
        </a:solidFill>
      </dgm:spPr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E0C06C9-6565-4DAC-94D6-0001D7A34877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8E1E165-165E-4190-8F27-01CB3B71BDD0}">
      <dgm:prSet phldrT="[Text]"/>
      <dgm:spPr>
        <a:solidFill>
          <a:srgbClr val="FF9900"/>
        </a:solidFill>
      </dgm:spPr>
      <dgm:t>
        <a:bodyPr/>
        <a:lstStyle/>
        <a:p>
          <a:r>
            <a:rPr lang="en-IN" dirty="0"/>
            <a:t>Regulatory Intervention</a:t>
          </a:r>
        </a:p>
      </dgm:t>
    </dgm:pt>
    <dgm:pt modelId="{40AB50CD-D837-44CE-9403-251DD61546E4}" type="parTrans" cxnId="{FC8779FE-9AC2-41C7-9D43-030A29B11D90}">
      <dgm:prSet/>
      <dgm:spPr/>
      <dgm:t>
        <a:bodyPr/>
        <a:lstStyle/>
        <a:p>
          <a:endParaRPr lang="en-IN"/>
        </a:p>
      </dgm:t>
    </dgm:pt>
    <dgm:pt modelId="{45E4D740-286C-4627-9BDA-35E11F4307A9}" type="sibTrans" cxnId="{FC8779FE-9AC2-41C7-9D43-030A29B11D90}">
      <dgm:prSet/>
      <dgm:spPr/>
      <dgm:t>
        <a:bodyPr/>
        <a:lstStyle/>
        <a:p>
          <a:endParaRPr lang="en-IN"/>
        </a:p>
      </dgm:t>
    </dgm:pt>
    <dgm:pt modelId="{5C532C15-2C38-4F5C-8EBE-20216CF6BBFF}">
      <dgm:prSet phldrT="[Text]"/>
      <dgm:spPr>
        <a:solidFill>
          <a:srgbClr val="FF9900"/>
        </a:solidFill>
      </dgm:spPr>
      <dgm:t>
        <a:bodyPr/>
        <a:lstStyle/>
        <a:p>
          <a:r>
            <a:rPr lang="en-IN" dirty="0"/>
            <a:t>Regulated or Un-Regulated Business?</a:t>
          </a:r>
        </a:p>
      </dgm:t>
    </dgm:pt>
    <dgm:pt modelId="{6E035C4E-D7CF-4C7A-8CA0-4C32E14DD8F1}" type="parTrans" cxnId="{D0197B0D-850A-4F4D-B326-7F62D3018C43}">
      <dgm:prSet/>
      <dgm:spPr/>
      <dgm:t>
        <a:bodyPr/>
        <a:lstStyle/>
        <a:p>
          <a:endParaRPr lang="en-IN"/>
        </a:p>
      </dgm:t>
    </dgm:pt>
    <dgm:pt modelId="{B4EBE424-D39B-4B5D-A340-26DA2B98CACF}" type="sibTrans" cxnId="{D0197B0D-850A-4F4D-B326-7F62D3018C43}">
      <dgm:prSet/>
      <dgm:spPr/>
      <dgm:t>
        <a:bodyPr/>
        <a:lstStyle/>
        <a:p>
          <a:endParaRPr lang="en-IN"/>
        </a:p>
      </dgm:t>
    </dgm:pt>
    <dgm:pt modelId="{95884CC6-F972-4023-8473-3B3F5F6F608B}">
      <dgm:prSet phldrT="[Text]"/>
      <dgm:spPr>
        <a:solidFill>
          <a:srgbClr val="FF9900"/>
        </a:solidFill>
      </dgm:spPr>
      <dgm:t>
        <a:bodyPr/>
        <a:lstStyle/>
        <a:p>
          <a:r>
            <a:rPr lang="en-IN" dirty="0"/>
            <a:t>CAPEX approval</a:t>
          </a:r>
        </a:p>
      </dgm:t>
    </dgm:pt>
    <dgm:pt modelId="{BA3D311D-BB83-4F9F-ACEB-EC3C117318E2}" type="parTrans" cxnId="{CC5DA603-8662-473B-9CB9-3F2877DA4959}">
      <dgm:prSet/>
      <dgm:spPr/>
      <dgm:t>
        <a:bodyPr/>
        <a:lstStyle/>
        <a:p>
          <a:endParaRPr lang="en-IN"/>
        </a:p>
      </dgm:t>
    </dgm:pt>
    <dgm:pt modelId="{DBF326C6-6890-43CE-8EF4-076444202B4A}" type="sibTrans" cxnId="{CC5DA603-8662-473B-9CB9-3F2877DA4959}">
      <dgm:prSet/>
      <dgm:spPr/>
      <dgm:t>
        <a:bodyPr/>
        <a:lstStyle/>
        <a:p>
          <a:endParaRPr lang="en-IN"/>
        </a:p>
      </dgm:t>
    </dgm:pt>
    <dgm:pt modelId="{8FA7E63D-1DE2-409B-B013-EC94B00D6B80}">
      <dgm:prSet phldrT="[Text]"/>
      <dgm:spPr>
        <a:solidFill>
          <a:srgbClr val="FF9900"/>
        </a:solidFill>
      </dgm:spPr>
      <dgm:t>
        <a:bodyPr/>
        <a:lstStyle/>
        <a:p>
          <a:r>
            <a:rPr lang="en-IN" dirty="0"/>
            <a:t>Treatment of gains/losses from UBMs</a:t>
          </a:r>
        </a:p>
      </dgm:t>
    </dgm:pt>
    <dgm:pt modelId="{38C976BD-5504-4EA2-BAE9-40CCB7DFA6C9}" type="parTrans" cxnId="{40635053-FBE8-4659-A1FD-75E1EAC145C0}">
      <dgm:prSet/>
      <dgm:spPr/>
      <dgm:t>
        <a:bodyPr/>
        <a:lstStyle/>
        <a:p>
          <a:endParaRPr lang="en-IN"/>
        </a:p>
      </dgm:t>
    </dgm:pt>
    <dgm:pt modelId="{10AEC6F7-37BE-448E-8DF6-EF48A650A5F6}" type="sibTrans" cxnId="{40635053-FBE8-4659-A1FD-75E1EAC145C0}">
      <dgm:prSet/>
      <dgm:spPr/>
      <dgm:t>
        <a:bodyPr/>
        <a:lstStyle/>
        <a:p>
          <a:endParaRPr lang="en-IN"/>
        </a:p>
      </dgm:t>
    </dgm:pt>
    <dgm:pt modelId="{EF00486D-30EC-44B4-8824-4DBF9EB214D5}">
      <dgm:prSet phldrT="[Text]"/>
      <dgm:spPr>
        <a:solidFill>
          <a:srgbClr val="FF9900"/>
        </a:solidFill>
      </dgm:spPr>
      <dgm:t>
        <a:bodyPr/>
        <a:lstStyle/>
        <a:p>
          <a:r>
            <a:rPr lang="en-IN" dirty="0"/>
            <a:t>Other regulatory issues?</a:t>
          </a:r>
        </a:p>
      </dgm:t>
    </dgm:pt>
    <dgm:pt modelId="{24066C86-527B-4476-B35C-9B80FC301A0F}" type="parTrans" cxnId="{87C105CD-883A-4C93-92B3-1CB784DFD070}">
      <dgm:prSet/>
      <dgm:spPr/>
      <dgm:t>
        <a:bodyPr/>
        <a:lstStyle/>
        <a:p>
          <a:endParaRPr lang="en-IN"/>
        </a:p>
      </dgm:t>
    </dgm:pt>
    <dgm:pt modelId="{C0A4803B-1139-4129-9718-26D12F827197}" type="sibTrans" cxnId="{87C105CD-883A-4C93-92B3-1CB784DFD070}">
      <dgm:prSet/>
      <dgm:spPr/>
      <dgm:t>
        <a:bodyPr/>
        <a:lstStyle/>
        <a:p>
          <a:endParaRPr lang="en-IN"/>
        </a:p>
      </dgm:t>
    </dgm:pt>
    <dgm:pt modelId="{3102D64F-7966-4FCA-869D-8096082FEF31}">
      <dgm:prSet phldrT="[Text]"/>
      <dgm:spPr>
        <a:solidFill>
          <a:srgbClr val="FF9900"/>
        </a:solidFill>
      </dgm:spPr>
      <dgm:t>
        <a:bodyPr/>
        <a:lstStyle/>
        <a:p>
          <a:r>
            <a:rPr lang="en-IN" dirty="0"/>
            <a:t>Allocation of costs/assets?</a:t>
          </a:r>
        </a:p>
      </dgm:t>
    </dgm:pt>
    <dgm:pt modelId="{DA5D21A1-F4B2-45C1-913D-400A77180091}" type="parTrans" cxnId="{C66F62B3-EEF7-4723-86A0-037506E27FF8}">
      <dgm:prSet/>
      <dgm:spPr/>
      <dgm:t>
        <a:bodyPr/>
        <a:lstStyle/>
        <a:p>
          <a:endParaRPr lang="en-IN"/>
        </a:p>
      </dgm:t>
    </dgm:pt>
    <dgm:pt modelId="{4DCB3DA7-A231-4DDD-A4A5-D29BEE9AB9D3}" type="sibTrans" cxnId="{C66F62B3-EEF7-4723-86A0-037506E27FF8}">
      <dgm:prSet/>
      <dgm:spPr/>
      <dgm:t>
        <a:bodyPr/>
        <a:lstStyle/>
        <a:p>
          <a:endParaRPr lang="en-IN"/>
        </a:p>
      </dgm:t>
    </dgm:pt>
    <dgm:pt modelId="{1942BF52-588C-4871-906B-E938F08F7576}">
      <dgm:prSet phldrT="[Text]"/>
      <dgm:spPr>
        <a:solidFill>
          <a:srgbClr val="FF9900"/>
        </a:solidFill>
      </dgm:spPr>
      <dgm:t>
        <a:bodyPr/>
        <a:lstStyle/>
        <a:p>
          <a:r>
            <a:rPr lang="en-IN" dirty="0"/>
            <a:t>Rate of RoE</a:t>
          </a:r>
        </a:p>
      </dgm:t>
    </dgm:pt>
    <dgm:pt modelId="{02D73240-86BE-450A-A615-FF331D0F0819}" type="parTrans" cxnId="{8001A546-F608-4264-9790-8D3C651B67BC}">
      <dgm:prSet/>
      <dgm:spPr/>
      <dgm:t>
        <a:bodyPr/>
        <a:lstStyle/>
        <a:p>
          <a:endParaRPr lang="en-IN"/>
        </a:p>
      </dgm:t>
    </dgm:pt>
    <dgm:pt modelId="{A5214996-C45A-4D3B-B434-0FAAB66EBFD7}" type="sibTrans" cxnId="{8001A546-F608-4264-9790-8D3C651B67BC}">
      <dgm:prSet/>
      <dgm:spPr/>
      <dgm:t>
        <a:bodyPr/>
        <a:lstStyle/>
        <a:p>
          <a:endParaRPr lang="en-IN"/>
        </a:p>
      </dgm:t>
    </dgm:pt>
    <dgm:pt modelId="{C042A67A-4BCE-4EF8-9748-D17AA71C76ED}" type="pres">
      <dgm:prSet presAssocID="{FE0C06C9-6565-4DAC-94D6-0001D7A34877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3CA0CF5-D8D3-4D44-BB02-F6173DA84CEB}" type="pres">
      <dgm:prSet presAssocID="{B8E1E165-165E-4190-8F27-01CB3B71BDD0}" presName="Parent" presStyleLbl="node0" presStyleIdx="0" presStyleCnt="1">
        <dgm:presLayoutVars>
          <dgm:chMax val="6"/>
          <dgm:chPref val="6"/>
        </dgm:presLayoutVars>
      </dgm:prSet>
      <dgm:spPr/>
    </dgm:pt>
    <dgm:pt modelId="{22C9EADF-4CD9-405E-8972-0B745DC8D3DC}" type="pres">
      <dgm:prSet presAssocID="{5C532C15-2C38-4F5C-8EBE-20216CF6BBFF}" presName="Accent1" presStyleCnt="0"/>
      <dgm:spPr/>
    </dgm:pt>
    <dgm:pt modelId="{0F5049B5-4E55-435D-80FB-4CBA6DED30B2}" type="pres">
      <dgm:prSet presAssocID="{5C532C15-2C38-4F5C-8EBE-20216CF6BBFF}" presName="Accent" presStyleLbl="bgShp" presStyleIdx="0" presStyleCnt="6"/>
      <dgm:spPr/>
    </dgm:pt>
    <dgm:pt modelId="{10EDDDB9-4465-488D-A710-1C68DC6C2D92}" type="pres">
      <dgm:prSet presAssocID="{5C532C15-2C38-4F5C-8EBE-20216CF6BBFF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6BE6186F-596A-428A-9FA0-6BD5EFA586AC}" type="pres">
      <dgm:prSet presAssocID="{95884CC6-F972-4023-8473-3B3F5F6F608B}" presName="Accent2" presStyleCnt="0"/>
      <dgm:spPr/>
    </dgm:pt>
    <dgm:pt modelId="{6FD326A8-F857-457F-A295-86A47CDB82A8}" type="pres">
      <dgm:prSet presAssocID="{95884CC6-F972-4023-8473-3B3F5F6F608B}" presName="Accent" presStyleLbl="bgShp" presStyleIdx="1" presStyleCnt="6"/>
      <dgm:spPr>
        <a:solidFill>
          <a:srgbClr val="4472C4"/>
        </a:solidFill>
      </dgm:spPr>
    </dgm:pt>
    <dgm:pt modelId="{F55D7CF3-E0A8-4F5A-9E7B-8B8D832E5ABE}" type="pres">
      <dgm:prSet presAssocID="{95884CC6-F972-4023-8473-3B3F5F6F608B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FB814815-36C7-4F61-A255-FC9829CE3332}" type="pres">
      <dgm:prSet presAssocID="{8FA7E63D-1DE2-409B-B013-EC94B00D6B80}" presName="Accent3" presStyleCnt="0"/>
      <dgm:spPr/>
    </dgm:pt>
    <dgm:pt modelId="{77F7A240-6926-450A-925B-6F0716F8796D}" type="pres">
      <dgm:prSet presAssocID="{8FA7E63D-1DE2-409B-B013-EC94B00D6B80}" presName="Accent" presStyleLbl="bgShp" presStyleIdx="2" presStyleCnt="6"/>
      <dgm:spPr>
        <a:solidFill>
          <a:srgbClr val="4472C4"/>
        </a:solidFill>
      </dgm:spPr>
    </dgm:pt>
    <dgm:pt modelId="{4FF4365B-5A88-49AB-BE67-EA77651D50FE}" type="pres">
      <dgm:prSet presAssocID="{8FA7E63D-1DE2-409B-B013-EC94B00D6B80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8BEEB39-8E49-4308-9612-DC197EAC0014}" type="pres">
      <dgm:prSet presAssocID="{EF00486D-30EC-44B4-8824-4DBF9EB214D5}" presName="Accent4" presStyleCnt="0"/>
      <dgm:spPr/>
    </dgm:pt>
    <dgm:pt modelId="{71E407CA-1ED8-4290-9015-4206985FE524}" type="pres">
      <dgm:prSet presAssocID="{EF00486D-30EC-44B4-8824-4DBF9EB214D5}" presName="Accent" presStyleLbl="bgShp" presStyleIdx="3" presStyleCnt="6"/>
      <dgm:spPr>
        <a:solidFill>
          <a:srgbClr val="4472C4"/>
        </a:solidFill>
      </dgm:spPr>
    </dgm:pt>
    <dgm:pt modelId="{2195567F-7E2E-4F85-A02B-82C8DB1397D9}" type="pres">
      <dgm:prSet presAssocID="{EF00486D-30EC-44B4-8824-4DBF9EB214D5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B60ADAE6-A9A0-4EDD-9F2D-93B142D3AB01}" type="pres">
      <dgm:prSet presAssocID="{3102D64F-7966-4FCA-869D-8096082FEF31}" presName="Accent5" presStyleCnt="0"/>
      <dgm:spPr/>
    </dgm:pt>
    <dgm:pt modelId="{30C95E36-B8B1-471C-B63C-990BD5DFC611}" type="pres">
      <dgm:prSet presAssocID="{3102D64F-7966-4FCA-869D-8096082FEF31}" presName="Accent" presStyleLbl="bgShp" presStyleIdx="4" presStyleCnt="6"/>
      <dgm:spPr>
        <a:solidFill>
          <a:srgbClr val="4472C4"/>
        </a:solidFill>
      </dgm:spPr>
    </dgm:pt>
    <dgm:pt modelId="{936FE6D7-1EAB-4EF7-A1D0-4AFD0E0AC5DD}" type="pres">
      <dgm:prSet presAssocID="{3102D64F-7966-4FCA-869D-8096082FEF31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E53F1698-8C52-4A60-AB9D-8F6C69322B86}" type="pres">
      <dgm:prSet presAssocID="{1942BF52-588C-4871-906B-E938F08F7576}" presName="Accent6" presStyleCnt="0"/>
      <dgm:spPr/>
    </dgm:pt>
    <dgm:pt modelId="{3FEDB154-F6A6-4736-AD24-398AF08D14F9}" type="pres">
      <dgm:prSet presAssocID="{1942BF52-588C-4871-906B-E938F08F7576}" presName="Accent" presStyleLbl="bgShp" presStyleIdx="5" presStyleCnt="6"/>
      <dgm:spPr>
        <a:solidFill>
          <a:srgbClr val="4472C4"/>
        </a:solidFill>
      </dgm:spPr>
    </dgm:pt>
    <dgm:pt modelId="{8B1F80A9-FB94-43AC-9980-E6CEC2547979}" type="pres">
      <dgm:prSet presAssocID="{1942BF52-588C-4871-906B-E938F08F7576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CC5DA603-8662-473B-9CB9-3F2877DA4959}" srcId="{B8E1E165-165E-4190-8F27-01CB3B71BDD0}" destId="{95884CC6-F972-4023-8473-3B3F5F6F608B}" srcOrd="1" destOrd="0" parTransId="{BA3D311D-BB83-4F9F-ACEB-EC3C117318E2}" sibTransId="{DBF326C6-6890-43CE-8EF4-076444202B4A}"/>
    <dgm:cxn modelId="{D0197B0D-850A-4F4D-B326-7F62D3018C43}" srcId="{B8E1E165-165E-4190-8F27-01CB3B71BDD0}" destId="{5C532C15-2C38-4F5C-8EBE-20216CF6BBFF}" srcOrd="0" destOrd="0" parTransId="{6E035C4E-D7CF-4C7A-8CA0-4C32E14DD8F1}" sibTransId="{B4EBE424-D39B-4B5D-A340-26DA2B98CACF}"/>
    <dgm:cxn modelId="{7822BE12-AD28-49A7-ACC6-23235E5DDBAF}" type="presOf" srcId="{EF00486D-30EC-44B4-8824-4DBF9EB214D5}" destId="{2195567F-7E2E-4F85-A02B-82C8DB1397D9}" srcOrd="0" destOrd="0" presId="urn:microsoft.com/office/officeart/2011/layout/HexagonRadial"/>
    <dgm:cxn modelId="{7FDE3A32-CB32-4F34-B289-EEE9EAD243BA}" type="presOf" srcId="{FE0C06C9-6565-4DAC-94D6-0001D7A34877}" destId="{C042A67A-4BCE-4EF8-9748-D17AA71C76ED}" srcOrd="0" destOrd="0" presId="urn:microsoft.com/office/officeart/2011/layout/HexagonRadial"/>
    <dgm:cxn modelId="{19D04C37-49C5-4876-AC98-C1771A6F2E41}" type="presOf" srcId="{5C532C15-2C38-4F5C-8EBE-20216CF6BBFF}" destId="{10EDDDB9-4465-488D-A710-1C68DC6C2D92}" srcOrd="0" destOrd="0" presId="urn:microsoft.com/office/officeart/2011/layout/HexagonRadial"/>
    <dgm:cxn modelId="{31792A63-83DA-4233-8C11-076E8F1821BE}" type="presOf" srcId="{1942BF52-588C-4871-906B-E938F08F7576}" destId="{8B1F80A9-FB94-43AC-9980-E6CEC2547979}" srcOrd="0" destOrd="0" presId="urn:microsoft.com/office/officeart/2011/layout/HexagonRadial"/>
    <dgm:cxn modelId="{8001A546-F608-4264-9790-8D3C651B67BC}" srcId="{B8E1E165-165E-4190-8F27-01CB3B71BDD0}" destId="{1942BF52-588C-4871-906B-E938F08F7576}" srcOrd="5" destOrd="0" parTransId="{02D73240-86BE-450A-A615-FF331D0F0819}" sibTransId="{A5214996-C45A-4D3B-B434-0FAAB66EBFD7}"/>
    <dgm:cxn modelId="{40635053-FBE8-4659-A1FD-75E1EAC145C0}" srcId="{B8E1E165-165E-4190-8F27-01CB3B71BDD0}" destId="{8FA7E63D-1DE2-409B-B013-EC94B00D6B80}" srcOrd="2" destOrd="0" parTransId="{38C976BD-5504-4EA2-BAE9-40CCB7DFA6C9}" sibTransId="{10AEC6F7-37BE-448E-8DF6-EF48A650A5F6}"/>
    <dgm:cxn modelId="{C66F62B3-EEF7-4723-86A0-037506E27FF8}" srcId="{B8E1E165-165E-4190-8F27-01CB3B71BDD0}" destId="{3102D64F-7966-4FCA-869D-8096082FEF31}" srcOrd="4" destOrd="0" parTransId="{DA5D21A1-F4B2-45C1-913D-400A77180091}" sibTransId="{4DCB3DA7-A231-4DDD-A4A5-D29BEE9AB9D3}"/>
    <dgm:cxn modelId="{5473F4B3-A258-49FB-BFEB-0C1959991D1B}" type="presOf" srcId="{B8E1E165-165E-4190-8F27-01CB3B71BDD0}" destId="{23CA0CF5-D8D3-4D44-BB02-F6173DA84CEB}" srcOrd="0" destOrd="0" presId="urn:microsoft.com/office/officeart/2011/layout/HexagonRadial"/>
    <dgm:cxn modelId="{C8F994C2-A132-4291-B177-BDFDF5684289}" type="presOf" srcId="{8FA7E63D-1DE2-409B-B013-EC94B00D6B80}" destId="{4FF4365B-5A88-49AB-BE67-EA77651D50FE}" srcOrd="0" destOrd="0" presId="urn:microsoft.com/office/officeart/2011/layout/HexagonRadial"/>
    <dgm:cxn modelId="{87C105CD-883A-4C93-92B3-1CB784DFD070}" srcId="{B8E1E165-165E-4190-8F27-01CB3B71BDD0}" destId="{EF00486D-30EC-44B4-8824-4DBF9EB214D5}" srcOrd="3" destOrd="0" parTransId="{24066C86-527B-4476-B35C-9B80FC301A0F}" sibTransId="{C0A4803B-1139-4129-9718-26D12F827197}"/>
    <dgm:cxn modelId="{8303DEDD-FAC2-45E5-9989-51E1E4C87BEB}" type="presOf" srcId="{95884CC6-F972-4023-8473-3B3F5F6F608B}" destId="{F55D7CF3-E0A8-4F5A-9E7B-8B8D832E5ABE}" srcOrd="0" destOrd="0" presId="urn:microsoft.com/office/officeart/2011/layout/HexagonRadial"/>
    <dgm:cxn modelId="{C1E4E2F6-9741-4E74-AC9D-6164D814D9E1}" type="presOf" srcId="{3102D64F-7966-4FCA-869D-8096082FEF31}" destId="{936FE6D7-1EAB-4EF7-A1D0-4AFD0E0AC5DD}" srcOrd="0" destOrd="0" presId="urn:microsoft.com/office/officeart/2011/layout/HexagonRadial"/>
    <dgm:cxn modelId="{FC8779FE-9AC2-41C7-9D43-030A29B11D90}" srcId="{FE0C06C9-6565-4DAC-94D6-0001D7A34877}" destId="{B8E1E165-165E-4190-8F27-01CB3B71BDD0}" srcOrd="0" destOrd="0" parTransId="{40AB50CD-D837-44CE-9403-251DD61546E4}" sibTransId="{45E4D740-286C-4627-9BDA-35E11F4307A9}"/>
    <dgm:cxn modelId="{987EC972-F3BA-447B-8135-E44C8A5FA673}" type="presParOf" srcId="{C042A67A-4BCE-4EF8-9748-D17AA71C76ED}" destId="{23CA0CF5-D8D3-4D44-BB02-F6173DA84CEB}" srcOrd="0" destOrd="0" presId="urn:microsoft.com/office/officeart/2011/layout/HexagonRadial"/>
    <dgm:cxn modelId="{FE679483-6FFB-4D99-9092-60AAF0AC9E38}" type="presParOf" srcId="{C042A67A-4BCE-4EF8-9748-D17AA71C76ED}" destId="{22C9EADF-4CD9-405E-8972-0B745DC8D3DC}" srcOrd="1" destOrd="0" presId="urn:microsoft.com/office/officeart/2011/layout/HexagonRadial"/>
    <dgm:cxn modelId="{28DEEC8A-FFCD-4704-8A1C-17CBE97627F5}" type="presParOf" srcId="{22C9EADF-4CD9-405E-8972-0B745DC8D3DC}" destId="{0F5049B5-4E55-435D-80FB-4CBA6DED30B2}" srcOrd="0" destOrd="0" presId="urn:microsoft.com/office/officeart/2011/layout/HexagonRadial"/>
    <dgm:cxn modelId="{385847C6-0B72-4FC5-BD60-40044E560C40}" type="presParOf" srcId="{C042A67A-4BCE-4EF8-9748-D17AA71C76ED}" destId="{10EDDDB9-4465-488D-A710-1C68DC6C2D92}" srcOrd="2" destOrd="0" presId="urn:microsoft.com/office/officeart/2011/layout/HexagonRadial"/>
    <dgm:cxn modelId="{E6696ABB-3551-466F-A7A5-81E8CDD38F3F}" type="presParOf" srcId="{C042A67A-4BCE-4EF8-9748-D17AA71C76ED}" destId="{6BE6186F-596A-428A-9FA0-6BD5EFA586AC}" srcOrd="3" destOrd="0" presId="urn:microsoft.com/office/officeart/2011/layout/HexagonRadial"/>
    <dgm:cxn modelId="{38E9A043-C697-4CF5-A119-659E0CB47ED8}" type="presParOf" srcId="{6BE6186F-596A-428A-9FA0-6BD5EFA586AC}" destId="{6FD326A8-F857-457F-A295-86A47CDB82A8}" srcOrd="0" destOrd="0" presId="urn:microsoft.com/office/officeart/2011/layout/HexagonRadial"/>
    <dgm:cxn modelId="{288EA166-203E-4578-B322-D1B734848211}" type="presParOf" srcId="{C042A67A-4BCE-4EF8-9748-D17AA71C76ED}" destId="{F55D7CF3-E0A8-4F5A-9E7B-8B8D832E5ABE}" srcOrd="4" destOrd="0" presId="urn:microsoft.com/office/officeart/2011/layout/HexagonRadial"/>
    <dgm:cxn modelId="{A8F8DC5E-DBE7-4534-9678-A550BBB69056}" type="presParOf" srcId="{C042A67A-4BCE-4EF8-9748-D17AA71C76ED}" destId="{FB814815-36C7-4F61-A255-FC9829CE3332}" srcOrd="5" destOrd="0" presId="urn:microsoft.com/office/officeart/2011/layout/HexagonRadial"/>
    <dgm:cxn modelId="{7A72972A-8BD2-4D54-A13F-400F0850AA43}" type="presParOf" srcId="{FB814815-36C7-4F61-A255-FC9829CE3332}" destId="{77F7A240-6926-450A-925B-6F0716F8796D}" srcOrd="0" destOrd="0" presId="urn:microsoft.com/office/officeart/2011/layout/HexagonRadial"/>
    <dgm:cxn modelId="{5696E6B4-85E1-45E2-8352-F542D9C44321}" type="presParOf" srcId="{C042A67A-4BCE-4EF8-9748-D17AA71C76ED}" destId="{4FF4365B-5A88-49AB-BE67-EA77651D50FE}" srcOrd="6" destOrd="0" presId="urn:microsoft.com/office/officeart/2011/layout/HexagonRadial"/>
    <dgm:cxn modelId="{9B7106B2-3C84-4207-BB86-8D96BF2A936E}" type="presParOf" srcId="{C042A67A-4BCE-4EF8-9748-D17AA71C76ED}" destId="{68BEEB39-8E49-4308-9612-DC197EAC0014}" srcOrd="7" destOrd="0" presId="urn:microsoft.com/office/officeart/2011/layout/HexagonRadial"/>
    <dgm:cxn modelId="{03CFB6F6-F52F-46FF-B5C2-B640A9774509}" type="presParOf" srcId="{68BEEB39-8E49-4308-9612-DC197EAC0014}" destId="{71E407CA-1ED8-4290-9015-4206985FE524}" srcOrd="0" destOrd="0" presId="urn:microsoft.com/office/officeart/2011/layout/HexagonRadial"/>
    <dgm:cxn modelId="{1C6A601D-F482-4FA0-A720-F0D0EF9872DA}" type="presParOf" srcId="{C042A67A-4BCE-4EF8-9748-D17AA71C76ED}" destId="{2195567F-7E2E-4F85-A02B-82C8DB1397D9}" srcOrd="8" destOrd="0" presId="urn:microsoft.com/office/officeart/2011/layout/HexagonRadial"/>
    <dgm:cxn modelId="{7AA4B911-0022-4448-B67A-450F24C323B5}" type="presParOf" srcId="{C042A67A-4BCE-4EF8-9748-D17AA71C76ED}" destId="{B60ADAE6-A9A0-4EDD-9F2D-93B142D3AB01}" srcOrd="9" destOrd="0" presId="urn:microsoft.com/office/officeart/2011/layout/HexagonRadial"/>
    <dgm:cxn modelId="{2F314E8A-7440-4523-A841-BA21DDC73421}" type="presParOf" srcId="{B60ADAE6-A9A0-4EDD-9F2D-93B142D3AB01}" destId="{30C95E36-B8B1-471C-B63C-990BD5DFC611}" srcOrd="0" destOrd="0" presId="urn:microsoft.com/office/officeart/2011/layout/HexagonRadial"/>
    <dgm:cxn modelId="{ABFEA165-C450-4C99-A210-649E55605370}" type="presParOf" srcId="{C042A67A-4BCE-4EF8-9748-D17AA71C76ED}" destId="{936FE6D7-1EAB-4EF7-A1D0-4AFD0E0AC5DD}" srcOrd="10" destOrd="0" presId="urn:microsoft.com/office/officeart/2011/layout/HexagonRadial"/>
    <dgm:cxn modelId="{72246BD8-80F5-4D29-B35A-952CDD294CD8}" type="presParOf" srcId="{C042A67A-4BCE-4EF8-9748-D17AA71C76ED}" destId="{E53F1698-8C52-4A60-AB9D-8F6C69322B86}" srcOrd="11" destOrd="0" presId="urn:microsoft.com/office/officeart/2011/layout/HexagonRadial"/>
    <dgm:cxn modelId="{2D5273BF-406E-4F2D-94ED-6BF6B5E26A05}" type="presParOf" srcId="{E53F1698-8C52-4A60-AB9D-8F6C69322B86}" destId="{3FEDB154-F6A6-4736-AD24-398AF08D14F9}" srcOrd="0" destOrd="0" presId="urn:microsoft.com/office/officeart/2011/layout/HexagonRadial"/>
    <dgm:cxn modelId="{291E3B1A-8032-4CDA-B337-9DA0F0B92B31}" type="presParOf" srcId="{C042A67A-4BCE-4EF8-9748-D17AA71C76ED}" destId="{8B1F80A9-FB94-43AC-9980-E6CEC2547979}" srcOrd="12" destOrd="0" presId="urn:microsoft.com/office/officeart/2011/layout/HexagonRadial"/>
  </dgm:cxnLst>
  <dgm:bg>
    <a:noFill/>
    <a:effectLst>
      <a:outerShdw blurRad="63500" sx="102000" sy="102000" algn="ctr" rotWithShape="0">
        <a:prstClr val="black">
          <a:alpha val="40000"/>
        </a:prstClr>
      </a:outerShdw>
    </a:effectLst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54C1266-6ED3-46A9-A480-D287535AABA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59F8EFF6-F5FC-4A6E-B1A0-1E78396B25ED}">
      <dgm:prSet phldrT="[Text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Solar Power Market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n-IN" sz="1200" b="1" dirty="0"/>
            <a:t>Potential</a:t>
          </a:r>
        </a:p>
      </dgm:t>
    </dgm:pt>
    <dgm:pt modelId="{4363D7CD-BA49-4C37-95BF-2F3B23CAA4E6}" type="par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BF238C81-BD01-41D8-8974-1758CCCA3BFF}" type="sibTrans" cxnId="{5727A239-98CE-4352-8424-96864E5DAEB3}">
      <dgm:prSet/>
      <dgm:spPr/>
      <dgm:t>
        <a:bodyPr/>
        <a:lstStyle/>
        <a:p>
          <a:pPr algn="ctr"/>
          <a:endParaRPr lang="en-IN" sz="1200" b="1"/>
        </a:p>
      </dgm:t>
    </dgm:pt>
    <dgm:pt modelId="{E840EB67-007C-418D-95A6-79569665FCF0}">
      <dgm:prSet phldrT="[Text]" custT="1"/>
      <dgm:spPr/>
      <dgm:t>
        <a:bodyPr/>
        <a:lstStyle/>
        <a:p>
          <a:pPr algn="l"/>
          <a:r>
            <a:rPr lang="en-IN" sz="1200" b="1" dirty="0"/>
            <a:t>Market Mapping</a:t>
          </a:r>
        </a:p>
      </dgm:t>
    </dgm:pt>
    <dgm:pt modelId="{F5788702-C26D-4688-9C79-B419EF0EAA88}" type="par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39CD7C09-B8C0-43E1-94B2-319C4A370B25}" type="sibTrans" cxnId="{2A339ABE-73A9-411E-96C2-8A60BFADF490}">
      <dgm:prSet/>
      <dgm:spPr/>
      <dgm:t>
        <a:bodyPr/>
        <a:lstStyle/>
        <a:p>
          <a:pPr algn="ctr"/>
          <a:endParaRPr lang="en-IN" sz="1200" b="1"/>
        </a:p>
      </dgm:t>
    </dgm:pt>
    <dgm:pt modelId="{88B38100-43FD-4996-A040-A8A75E69BC80}">
      <dgm:prSet phldrT="[Text]" custT="1"/>
      <dgm:spPr/>
      <dgm:t>
        <a:bodyPr/>
        <a:lstStyle/>
        <a:p>
          <a:pPr algn="l"/>
          <a:r>
            <a:rPr lang="en-IN" sz="1200" b="1" dirty="0"/>
            <a:t>Overview of Rooftop Solar</a:t>
          </a:r>
        </a:p>
      </dgm:t>
    </dgm:pt>
    <dgm:pt modelId="{132982F4-29F6-493B-B986-ADC19B6D426A}" type="par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29B8218F-142C-4674-8CA0-5B1D8A8B7BCE}" type="sibTrans" cxnId="{EE286400-D70C-418D-8714-80E3729ED4AE}">
      <dgm:prSet/>
      <dgm:spPr/>
      <dgm:t>
        <a:bodyPr/>
        <a:lstStyle/>
        <a:p>
          <a:pPr algn="ctr"/>
          <a:endParaRPr lang="en-IN" sz="1200" b="1"/>
        </a:p>
      </dgm:t>
    </dgm:pt>
    <dgm:pt modelId="{AAD5B654-61AE-4AC2-A986-B2601ACBF0A5}">
      <dgm:prSet phldrT="[Text]" custT="1"/>
      <dgm:spPr/>
      <dgm:t>
        <a:bodyPr/>
        <a:lstStyle/>
        <a:p>
          <a:pPr algn="l"/>
          <a:r>
            <a:rPr lang="en-IN" sz="1200" b="1" dirty="0"/>
            <a:t>Marketing Strategy</a:t>
          </a:r>
        </a:p>
      </dgm:t>
    </dgm:pt>
    <dgm:pt modelId="{B20B0D21-9ECA-4A2C-AA29-43671C69BF4C}" type="par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962A1A0C-595F-4691-BF9F-43077030C683}" type="sibTrans" cxnId="{3C8E0EA8-1AD9-407E-BC6F-C83BAC42A06F}">
      <dgm:prSet/>
      <dgm:spPr/>
      <dgm:t>
        <a:bodyPr/>
        <a:lstStyle/>
        <a:p>
          <a:pPr algn="ctr"/>
          <a:endParaRPr lang="en-IN" sz="1200" b="1"/>
        </a:p>
      </dgm:t>
    </dgm:pt>
    <dgm:pt modelId="{221507CA-10B5-42C4-AC18-3F7CE36668D2}">
      <dgm:prSet phldrT="[Text]" custT="1"/>
      <dgm:spPr/>
      <dgm:t>
        <a:bodyPr/>
        <a:lstStyle/>
        <a:p>
          <a:pPr algn="l"/>
          <a:r>
            <a:rPr lang="en-IN" sz="1200" b="1" dirty="0"/>
            <a:t>State wise Policy Evaluation</a:t>
          </a:r>
        </a:p>
      </dgm:t>
    </dgm:pt>
    <dgm:pt modelId="{D2F84F3E-2CB5-48C5-9D60-E80F4E729E42}" type="par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205756CB-752D-4854-A46B-0A50F43A5F65}" type="sibTrans" cxnId="{E53805D3-B1C2-458B-BDE6-E37C9767FBB1}">
      <dgm:prSet/>
      <dgm:spPr/>
      <dgm:t>
        <a:bodyPr/>
        <a:lstStyle/>
        <a:p>
          <a:pPr algn="ctr"/>
          <a:endParaRPr lang="en-IN" sz="1200" b="1"/>
        </a:p>
      </dgm:t>
    </dgm:pt>
    <dgm:pt modelId="{805E7770-9077-4CAF-8CAF-3F44A35204D7}">
      <dgm:prSet phldrT="[Text]" custT="1"/>
      <dgm:spPr/>
      <dgm:t>
        <a:bodyPr/>
        <a:lstStyle/>
        <a:p>
          <a:pPr algn="l"/>
          <a:r>
            <a:rPr lang="en-IN" sz="1200" b="1" dirty="0"/>
            <a:t>Implementation Challenges</a:t>
          </a:r>
        </a:p>
      </dgm:t>
    </dgm:pt>
    <dgm:pt modelId="{F2E2FE3B-3276-4394-A734-C53EF9E0A572}" type="par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1A1EE01F-F861-4C9A-A464-160F3F4804B1}" type="sibTrans" cxnId="{49A1D410-BB69-4BBE-92A2-38388AED64CE}">
      <dgm:prSet/>
      <dgm:spPr/>
      <dgm:t>
        <a:bodyPr/>
        <a:lstStyle/>
        <a:p>
          <a:pPr algn="ctr"/>
          <a:endParaRPr lang="en-IN" sz="1200" b="1"/>
        </a:p>
      </dgm:t>
    </dgm:pt>
    <dgm:pt modelId="{3AC785C9-A6B7-40E8-9804-1A1CC40050FE}">
      <dgm:prSet custT="1"/>
      <dgm:spPr>
        <a:solidFill>
          <a:srgbClr val="FF9900"/>
        </a:solidFill>
      </dgm:spPr>
      <dgm:t>
        <a:bodyPr/>
        <a:lstStyle/>
        <a:p>
          <a:pPr algn="l"/>
          <a:r>
            <a:rPr lang="en-IN" sz="1200" b="1" dirty="0"/>
            <a:t>Business Models</a:t>
          </a:r>
        </a:p>
      </dgm:t>
    </dgm:pt>
    <dgm:pt modelId="{9BA98855-5C37-4362-9B35-8D1BC4DFDC15}" type="par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864653AE-2B9C-42F5-858C-C27E2326EC97}" type="sibTrans" cxnId="{24A8E477-5FD9-4DDC-9594-ECA5FD48D912}">
      <dgm:prSet/>
      <dgm:spPr/>
      <dgm:t>
        <a:bodyPr/>
        <a:lstStyle/>
        <a:p>
          <a:pPr algn="ctr"/>
          <a:endParaRPr lang="en-IN" sz="1200" b="1"/>
        </a:p>
      </dgm:t>
    </dgm:pt>
    <dgm:pt modelId="{11B33380-2E4C-4B14-8295-830C57473DF3}" type="pres">
      <dgm:prSet presAssocID="{254C1266-6ED3-46A9-A480-D287535AABA0}" presName="Name0" presStyleCnt="0">
        <dgm:presLayoutVars>
          <dgm:dir/>
          <dgm:resizeHandles val="exact"/>
        </dgm:presLayoutVars>
      </dgm:prSet>
      <dgm:spPr/>
    </dgm:pt>
    <dgm:pt modelId="{5653BFE8-97BD-4929-BBF3-FE13E2A6AF6F}" type="pres">
      <dgm:prSet presAssocID="{59F8EFF6-F5FC-4A6E-B1A0-1E78396B25ED}" presName="parTxOnly" presStyleLbl="node1" presStyleIdx="0" presStyleCnt="7">
        <dgm:presLayoutVars>
          <dgm:bulletEnabled val="1"/>
        </dgm:presLayoutVars>
      </dgm:prSet>
      <dgm:spPr/>
    </dgm:pt>
    <dgm:pt modelId="{7C0818CC-E105-40AF-9C5A-711D7EC0BCCF}" type="pres">
      <dgm:prSet presAssocID="{BF238C81-BD01-41D8-8974-1758CCCA3BFF}" presName="parSpace" presStyleCnt="0"/>
      <dgm:spPr/>
    </dgm:pt>
    <dgm:pt modelId="{76955A27-F862-48D0-9902-DF631275FBD0}" type="pres">
      <dgm:prSet presAssocID="{E840EB67-007C-418D-95A6-79569665FCF0}" presName="parTxOnly" presStyleLbl="node1" presStyleIdx="1" presStyleCnt="7">
        <dgm:presLayoutVars>
          <dgm:bulletEnabled val="1"/>
        </dgm:presLayoutVars>
      </dgm:prSet>
      <dgm:spPr/>
    </dgm:pt>
    <dgm:pt modelId="{86AF1D24-83C3-422E-A9C9-7E4336C804D2}" type="pres">
      <dgm:prSet presAssocID="{39CD7C09-B8C0-43E1-94B2-319C4A370B25}" presName="parSpace" presStyleCnt="0"/>
      <dgm:spPr/>
    </dgm:pt>
    <dgm:pt modelId="{8951074B-CEFD-4C53-AA15-6972CBCE9200}" type="pres">
      <dgm:prSet presAssocID="{88B38100-43FD-4996-A040-A8A75E69BC80}" presName="parTxOnly" presStyleLbl="node1" presStyleIdx="2" presStyleCnt="7">
        <dgm:presLayoutVars>
          <dgm:bulletEnabled val="1"/>
        </dgm:presLayoutVars>
      </dgm:prSet>
      <dgm:spPr/>
    </dgm:pt>
    <dgm:pt modelId="{0E34EB36-AF65-4A9D-AFC3-2777B3827080}" type="pres">
      <dgm:prSet presAssocID="{29B8218F-142C-4674-8CA0-5B1D8A8B7BCE}" presName="parSpace" presStyleCnt="0"/>
      <dgm:spPr/>
    </dgm:pt>
    <dgm:pt modelId="{05A2D776-3D6A-42BD-BEC4-A6392D2DC190}" type="pres">
      <dgm:prSet presAssocID="{221507CA-10B5-42C4-AC18-3F7CE36668D2}" presName="parTxOnly" presStyleLbl="node1" presStyleIdx="3" presStyleCnt="7">
        <dgm:presLayoutVars>
          <dgm:bulletEnabled val="1"/>
        </dgm:presLayoutVars>
      </dgm:prSet>
      <dgm:spPr/>
    </dgm:pt>
    <dgm:pt modelId="{6A0F8061-113E-4056-8CF7-933118B9C1A1}" type="pres">
      <dgm:prSet presAssocID="{205756CB-752D-4854-A46B-0A50F43A5F65}" presName="parSpace" presStyleCnt="0"/>
      <dgm:spPr/>
    </dgm:pt>
    <dgm:pt modelId="{82DFFF37-BDFE-476D-B72C-B4BCBB32E0B0}" type="pres">
      <dgm:prSet presAssocID="{805E7770-9077-4CAF-8CAF-3F44A35204D7}" presName="parTxOnly" presStyleLbl="node1" presStyleIdx="4" presStyleCnt="7">
        <dgm:presLayoutVars>
          <dgm:bulletEnabled val="1"/>
        </dgm:presLayoutVars>
      </dgm:prSet>
      <dgm:spPr/>
    </dgm:pt>
    <dgm:pt modelId="{A1ACEB93-AD22-43F5-B949-AA1CDEE403A4}" type="pres">
      <dgm:prSet presAssocID="{1A1EE01F-F861-4C9A-A464-160F3F4804B1}" presName="parSpace" presStyleCnt="0"/>
      <dgm:spPr/>
    </dgm:pt>
    <dgm:pt modelId="{F608BB88-8B06-4FE4-87EB-67CA1D20F2D3}" type="pres">
      <dgm:prSet presAssocID="{AAD5B654-61AE-4AC2-A986-B2601ACBF0A5}" presName="parTxOnly" presStyleLbl="node1" presStyleIdx="5" presStyleCnt="7">
        <dgm:presLayoutVars>
          <dgm:bulletEnabled val="1"/>
        </dgm:presLayoutVars>
      </dgm:prSet>
      <dgm:spPr/>
    </dgm:pt>
    <dgm:pt modelId="{DFE559D9-22CF-4CC7-A3BC-27AA94CF359B}" type="pres">
      <dgm:prSet presAssocID="{962A1A0C-595F-4691-BF9F-43077030C683}" presName="parSpace" presStyleCnt="0"/>
      <dgm:spPr/>
    </dgm:pt>
    <dgm:pt modelId="{C5A1B781-BFD2-4160-A562-737F058037B6}" type="pres">
      <dgm:prSet presAssocID="{3AC785C9-A6B7-40E8-9804-1A1CC40050FE}" presName="parTxOnly" presStyleLbl="node1" presStyleIdx="6" presStyleCnt="7">
        <dgm:presLayoutVars>
          <dgm:bulletEnabled val="1"/>
        </dgm:presLayoutVars>
      </dgm:prSet>
      <dgm:spPr/>
    </dgm:pt>
  </dgm:ptLst>
  <dgm:cxnLst>
    <dgm:cxn modelId="{EE286400-D70C-418D-8714-80E3729ED4AE}" srcId="{254C1266-6ED3-46A9-A480-D287535AABA0}" destId="{88B38100-43FD-4996-A040-A8A75E69BC80}" srcOrd="2" destOrd="0" parTransId="{132982F4-29F6-493B-B986-ADC19B6D426A}" sibTransId="{29B8218F-142C-4674-8CA0-5B1D8A8B7BCE}"/>
    <dgm:cxn modelId="{49A1D410-BB69-4BBE-92A2-38388AED64CE}" srcId="{254C1266-6ED3-46A9-A480-D287535AABA0}" destId="{805E7770-9077-4CAF-8CAF-3F44A35204D7}" srcOrd="4" destOrd="0" parTransId="{F2E2FE3B-3276-4394-A734-C53EF9E0A572}" sibTransId="{1A1EE01F-F861-4C9A-A464-160F3F4804B1}"/>
    <dgm:cxn modelId="{5727A239-98CE-4352-8424-96864E5DAEB3}" srcId="{254C1266-6ED3-46A9-A480-D287535AABA0}" destId="{59F8EFF6-F5FC-4A6E-B1A0-1E78396B25ED}" srcOrd="0" destOrd="0" parTransId="{4363D7CD-BA49-4C37-95BF-2F3B23CAA4E6}" sibTransId="{BF238C81-BD01-41D8-8974-1758CCCA3BFF}"/>
    <dgm:cxn modelId="{F603D66B-06DA-439E-8A9E-D6B88944C5E2}" type="presOf" srcId="{AAD5B654-61AE-4AC2-A986-B2601ACBF0A5}" destId="{F608BB88-8B06-4FE4-87EB-67CA1D20F2D3}" srcOrd="0" destOrd="0" presId="urn:microsoft.com/office/officeart/2005/8/layout/hChevron3"/>
    <dgm:cxn modelId="{663B9777-4329-432C-83FE-58ECD8858B41}" type="presOf" srcId="{E840EB67-007C-418D-95A6-79569665FCF0}" destId="{76955A27-F862-48D0-9902-DF631275FBD0}" srcOrd="0" destOrd="0" presId="urn:microsoft.com/office/officeart/2005/8/layout/hChevron3"/>
    <dgm:cxn modelId="{24A8E477-5FD9-4DDC-9594-ECA5FD48D912}" srcId="{254C1266-6ED3-46A9-A480-D287535AABA0}" destId="{3AC785C9-A6B7-40E8-9804-1A1CC40050FE}" srcOrd="6" destOrd="0" parTransId="{9BA98855-5C37-4362-9B35-8D1BC4DFDC15}" sibTransId="{864653AE-2B9C-42F5-858C-C27E2326EC97}"/>
    <dgm:cxn modelId="{6931797E-D922-4458-9F0C-B97C02933EC1}" type="presOf" srcId="{221507CA-10B5-42C4-AC18-3F7CE36668D2}" destId="{05A2D776-3D6A-42BD-BEC4-A6392D2DC190}" srcOrd="0" destOrd="0" presId="urn:microsoft.com/office/officeart/2005/8/layout/hChevron3"/>
    <dgm:cxn modelId="{C1553986-4499-4AB5-ACA4-6977F65BC59E}" type="presOf" srcId="{88B38100-43FD-4996-A040-A8A75E69BC80}" destId="{8951074B-CEFD-4C53-AA15-6972CBCE9200}" srcOrd="0" destOrd="0" presId="urn:microsoft.com/office/officeart/2005/8/layout/hChevron3"/>
    <dgm:cxn modelId="{E517FF88-C39D-456E-91E1-42CC2AF6C35C}" type="presOf" srcId="{805E7770-9077-4CAF-8CAF-3F44A35204D7}" destId="{82DFFF37-BDFE-476D-B72C-B4BCBB32E0B0}" srcOrd="0" destOrd="0" presId="urn:microsoft.com/office/officeart/2005/8/layout/hChevron3"/>
    <dgm:cxn modelId="{B892188E-7CC0-40E2-B510-2879B40A246E}" type="presOf" srcId="{3AC785C9-A6B7-40E8-9804-1A1CC40050FE}" destId="{C5A1B781-BFD2-4160-A562-737F058037B6}" srcOrd="0" destOrd="0" presId="urn:microsoft.com/office/officeart/2005/8/layout/hChevron3"/>
    <dgm:cxn modelId="{FB84769E-2BC7-422C-9BBB-8C773F933F9A}" type="presOf" srcId="{254C1266-6ED3-46A9-A480-D287535AABA0}" destId="{11B33380-2E4C-4B14-8295-830C57473DF3}" srcOrd="0" destOrd="0" presId="urn:microsoft.com/office/officeart/2005/8/layout/hChevron3"/>
    <dgm:cxn modelId="{3C8E0EA8-1AD9-407E-BC6F-C83BAC42A06F}" srcId="{254C1266-6ED3-46A9-A480-D287535AABA0}" destId="{AAD5B654-61AE-4AC2-A986-B2601ACBF0A5}" srcOrd="5" destOrd="0" parTransId="{B20B0D21-9ECA-4A2C-AA29-43671C69BF4C}" sibTransId="{962A1A0C-595F-4691-BF9F-43077030C683}"/>
    <dgm:cxn modelId="{2A339ABE-73A9-411E-96C2-8A60BFADF490}" srcId="{254C1266-6ED3-46A9-A480-D287535AABA0}" destId="{E840EB67-007C-418D-95A6-79569665FCF0}" srcOrd="1" destOrd="0" parTransId="{F5788702-C26D-4688-9C79-B419EF0EAA88}" sibTransId="{39CD7C09-B8C0-43E1-94B2-319C4A370B25}"/>
    <dgm:cxn modelId="{1F7393C8-6D10-41D9-9EB0-C0E5DB542334}" type="presOf" srcId="{59F8EFF6-F5FC-4A6E-B1A0-1E78396B25ED}" destId="{5653BFE8-97BD-4929-BBF3-FE13E2A6AF6F}" srcOrd="0" destOrd="0" presId="urn:microsoft.com/office/officeart/2005/8/layout/hChevron3"/>
    <dgm:cxn modelId="{E53805D3-B1C2-458B-BDE6-E37C9767FBB1}" srcId="{254C1266-6ED3-46A9-A480-D287535AABA0}" destId="{221507CA-10B5-42C4-AC18-3F7CE36668D2}" srcOrd="3" destOrd="0" parTransId="{D2F84F3E-2CB5-48C5-9D60-E80F4E729E42}" sibTransId="{205756CB-752D-4854-A46B-0A50F43A5F65}"/>
    <dgm:cxn modelId="{154E56D8-574D-4070-BD7A-A93DD7EAA371}" type="presParOf" srcId="{11B33380-2E4C-4B14-8295-830C57473DF3}" destId="{5653BFE8-97BD-4929-BBF3-FE13E2A6AF6F}" srcOrd="0" destOrd="0" presId="urn:microsoft.com/office/officeart/2005/8/layout/hChevron3"/>
    <dgm:cxn modelId="{3FDDBE46-C2B4-414E-9CA7-C1C3EE8F60AC}" type="presParOf" srcId="{11B33380-2E4C-4B14-8295-830C57473DF3}" destId="{7C0818CC-E105-40AF-9C5A-711D7EC0BCCF}" srcOrd="1" destOrd="0" presId="urn:microsoft.com/office/officeart/2005/8/layout/hChevron3"/>
    <dgm:cxn modelId="{BADF5E3D-2795-4E69-A7C5-282E88692B25}" type="presParOf" srcId="{11B33380-2E4C-4B14-8295-830C57473DF3}" destId="{76955A27-F862-48D0-9902-DF631275FBD0}" srcOrd="2" destOrd="0" presId="urn:microsoft.com/office/officeart/2005/8/layout/hChevron3"/>
    <dgm:cxn modelId="{8839FD5D-EA9A-422B-B631-D59D2E8D43D8}" type="presParOf" srcId="{11B33380-2E4C-4B14-8295-830C57473DF3}" destId="{86AF1D24-83C3-422E-A9C9-7E4336C804D2}" srcOrd="3" destOrd="0" presId="urn:microsoft.com/office/officeart/2005/8/layout/hChevron3"/>
    <dgm:cxn modelId="{32472C68-4F77-4280-B4A6-D3AB813ED133}" type="presParOf" srcId="{11B33380-2E4C-4B14-8295-830C57473DF3}" destId="{8951074B-CEFD-4C53-AA15-6972CBCE9200}" srcOrd="4" destOrd="0" presId="urn:microsoft.com/office/officeart/2005/8/layout/hChevron3"/>
    <dgm:cxn modelId="{59A74835-8434-4C5D-ABFF-204D5DE74F9A}" type="presParOf" srcId="{11B33380-2E4C-4B14-8295-830C57473DF3}" destId="{0E34EB36-AF65-4A9D-AFC3-2777B3827080}" srcOrd="5" destOrd="0" presId="urn:microsoft.com/office/officeart/2005/8/layout/hChevron3"/>
    <dgm:cxn modelId="{2846A152-F0A5-49B9-A32A-89517F9F5E70}" type="presParOf" srcId="{11B33380-2E4C-4B14-8295-830C57473DF3}" destId="{05A2D776-3D6A-42BD-BEC4-A6392D2DC190}" srcOrd="6" destOrd="0" presId="urn:microsoft.com/office/officeart/2005/8/layout/hChevron3"/>
    <dgm:cxn modelId="{64C895C4-45E4-4A25-A9F0-806B69DC7C55}" type="presParOf" srcId="{11B33380-2E4C-4B14-8295-830C57473DF3}" destId="{6A0F8061-113E-4056-8CF7-933118B9C1A1}" srcOrd="7" destOrd="0" presId="urn:microsoft.com/office/officeart/2005/8/layout/hChevron3"/>
    <dgm:cxn modelId="{DFC28B71-FB86-4E19-AC83-E30D2E88B157}" type="presParOf" srcId="{11B33380-2E4C-4B14-8295-830C57473DF3}" destId="{82DFFF37-BDFE-476D-B72C-B4BCBB32E0B0}" srcOrd="8" destOrd="0" presId="urn:microsoft.com/office/officeart/2005/8/layout/hChevron3"/>
    <dgm:cxn modelId="{5E8A69DA-AF02-44F8-9757-D13D7D405928}" type="presParOf" srcId="{11B33380-2E4C-4B14-8295-830C57473DF3}" destId="{A1ACEB93-AD22-43F5-B949-AA1CDEE403A4}" srcOrd="9" destOrd="0" presId="urn:microsoft.com/office/officeart/2005/8/layout/hChevron3"/>
    <dgm:cxn modelId="{C3FC6A3B-F5F4-4F5F-91EA-E569604C9E42}" type="presParOf" srcId="{11B33380-2E4C-4B14-8295-830C57473DF3}" destId="{F608BB88-8B06-4FE4-87EB-67CA1D20F2D3}" srcOrd="10" destOrd="0" presId="urn:microsoft.com/office/officeart/2005/8/layout/hChevron3"/>
    <dgm:cxn modelId="{E8669FC8-D63F-45A7-B313-9E548956B935}" type="presParOf" srcId="{11B33380-2E4C-4B14-8295-830C57473DF3}" destId="{DFE559D9-22CF-4CC7-A3BC-27AA94CF359B}" srcOrd="11" destOrd="0" presId="urn:microsoft.com/office/officeart/2005/8/layout/hChevron3"/>
    <dgm:cxn modelId="{2059425C-B194-4810-A1FF-3BACD1123B24}" type="presParOf" srcId="{11B33380-2E4C-4B14-8295-830C57473DF3}" destId="{C5A1B781-BFD2-4160-A562-737F058037B6}" srcOrd="1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1AB4E-5019-466B-AC7E-C3FD232C220B}">
      <dsp:nvSpPr>
        <dsp:cNvPr id="0" name=""/>
        <dsp:cNvSpPr/>
      </dsp:nvSpPr>
      <dsp:spPr>
        <a:xfrm rot="5400000">
          <a:off x="-189650" y="742303"/>
          <a:ext cx="1526927" cy="137397"/>
        </a:xfrm>
        <a:prstGeom prst="rect">
          <a:avLst/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05AAE9-D1DE-4FD2-BECF-B17DEAC21FB6}">
      <dsp:nvSpPr>
        <dsp:cNvPr id="0" name=""/>
        <dsp:cNvSpPr/>
      </dsp:nvSpPr>
      <dsp:spPr>
        <a:xfrm>
          <a:off x="3150" y="13312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Identification of business goals</a:t>
          </a:r>
          <a:endParaRPr lang="en-US" sz="1400" kern="1200" dirty="0"/>
        </a:p>
      </dsp:txBody>
      <dsp:txXfrm>
        <a:off x="29978" y="40140"/>
        <a:ext cx="1995982" cy="862329"/>
      </dsp:txXfrm>
    </dsp:sp>
    <dsp:sp modelId="{2002BD3A-B56C-43BC-A0A9-4F8D24CF08D1}">
      <dsp:nvSpPr>
        <dsp:cNvPr id="0" name=""/>
        <dsp:cNvSpPr/>
      </dsp:nvSpPr>
      <dsp:spPr>
        <a:xfrm rot="5400000">
          <a:off x="-189650" y="1887285"/>
          <a:ext cx="1526927" cy="137397"/>
        </a:xfrm>
        <a:prstGeom prst="rect">
          <a:avLst/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DB3861-9074-4021-B066-DC7CB9CA816A}">
      <dsp:nvSpPr>
        <dsp:cNvPr id="0" name=""/>
        <dsp:cNvSpPr/>
      </dsp:nvSpPr>
      <dsp:spPr>
        <a:xfrm>
          <a:off x="3150" y="1158293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Stating marketing objectives at broad</a:t>
          </a:r>
          <a:endParaRPr lang="en-US" sz="1400" kern="1200" dirty="0"/>
        </a:p>
      </dsp:txBody>
      <dsp:txXfrm>
        <a:off x="29978" y="1185121"/>
        <a:ext cx="1995982" cy="862329"/>
      </dsp:txXfrm>
    </dsp:sp>
    <dsp:sp modelId="{2DF688B6-52B8-4B68-AD5A-AAA1610A0E01}">
      <dsp:nvSpPr>
        <dsp:cNvPr id="0" name=""/>
        <dsp:cNvSpPr/>
      </dsp:nvSpPr>
      <dsp:spPr>
        <a:xfrm>
          <a:off x="143351" y="2459775"/>
          <a:ext cx="3414354" cy="137397"/>
        </a:xfrm>
        <a:prstGeom prst="rect">
          <a:avLst/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222504-84A2-4D7D-BC5A-3D5D024C58B1}">
      <dsp:nvSpPr>
        <dsp:cNvPr id="0" name=""/>
        <dsp:cNvSpPr/>
      </dsp:nvSpPr>
      <dsp:spPr>
        <a:xfrm>
          <a:off x="3150" y="2303275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Extensive market research</a:t>
          </a:r>
          <a:endParaRPr lang="en-US" sz="1400" kern="1200" dirty="0"/>
        </a:p>
      </dsp:txBody>
      <dsp:txXfrm>
        <a:off x="29978" y="2330103"/>
        <a:ext cx="1995982" cy="862329"/>
      </dsp:txXfrm>
    </dsp:sp>
    <dsp:sp modelId="{44E4D20D-8021-44AA-9D90-483FE4E7D1E4}">
      <dsp:nvSpPr>
        <dsp:cNvPr id="0" name=""/>
        <dsp:cNvSpPr/>
      </dsp:nvSpPr>
      <dsp:spPr>
        <a:xfrm rot="16200000">
          <a:off x="2363780" y="1887285"/>
          <a:ext cx="1526927" cy="137397"/>
        </a:xfrm>
        <a:prstGeom prst="rect">
          <a:avLst/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A08147-E75D-4F6A-9991-6D2437FC916C}">
      <dsp:nvSpPr>
        <dsp:cNvPr id="0" name=""/>
        <dsp:cNvSpPr/>
      </dsp:nvSpPr>
      <dsp:spPr>
        <a:xfrm>
          <a:off x="2556580" y="2303275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Potential customer profiling</a:t>
          </a:r>
          <a:endParaRPr lang="en-US" sz="1400" kern="1200" dirty="0"/>
        </a:p>
      </dsp:txBody>
      <dsp:txXfrm>
        <a:off x="2583408" y="2330103"/>
        <a:ext cx="1995982" cy="862329"/>
      </dsp:txXfrm>
    </dsp:sp>
    <dsp:sp modelId="{0AF5F032-C0EA-414F-8AF7-D677A14EDD3C}">
      <dsp:nvSpPr>
        <dsp:cNvPr id="0" name=""/>
        <dsp:cNvSpPr/>
      </dsp:nvSpPr>
      <dsp:spPr>
        <a:xfrm rot="16200000">
          <a:off x="2363780" y="742303"/>
          <a:ext cx="1526927" cy="137397"/>
        </a:xfrm>
        <a:prstGeom prst="rect">
          <a:avLst/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7E1F08-79C3-45AF-86FF-21F0645A85C0}">
      <dsp:nvSpPr>
        <dsp:cNvPr id="0" name=""/>
        <dsp:cNvSpPr/>
      </dsp:nvSpPr>
      <dsp:spPr>
        <a:xfrm>
          <a:off x="2556580" y="1158293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Competition mapping</a:t>
          </a:r>
          <a:endParaRPr lang="en-US" sz="1400" kern="1200" dirty="0"/>
        </a:p>
      </dsp:txBody>
      <dsp:txXfrm>
        <a:off x="2583408" y="1185121"/>
        <a:ext cx="1995982" cy="862329"/>
      </dsp:txXfrm>
    </dsp:sp>
    <dsp:sp modelId="{7C5ABC22-4A64-4F86-86C4-44C675863C91}">
      <dsp:nvSpPr>
        <dsp:cNvPr id="0" name=""/>
        <dsp:cNvSpPr/>
      </dsp:nvSpPr>
      <dsp:spPr>
        <a:xfrm>
          <a:off x="2696782" y="169813"/>
          <a:ext cx="3414354" cy="137397"/>
        </a:xfrm>
        <a:prstGeom prst="rect">
          <a:avLst/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002CA-3F1A-4198-8D22-3B1DCFA29A0F}">
      <dsp:nvSpPr>
        <dsp:cNvPr id="0" name=""/>
        <dsp:cNvSpPr/>
      </dsp:nvSpPr>
      <dsp:spPr>
        <a:xfrm>
          <a:off x="2556580" y="13312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Value proposition with 7 P’s</a:t>
          </a:r>
          <a:endParaRPr lang="en-US" sz="1400" kern="1200" dirty="0"/>
        </a:p>
      </dsp:txBody>
      <dsp:txXfrm>
        <a:off x="2583408" y="40140"/>
        <a:ext cx="1995982" cy="862329"/>
      </dsp:txXfrm>
    </dsp:sp>
    <dsp:sp modelId="{94716134-09FA-4393-9068-BD3F37D15F30}">
      <dsp:nvSpPr>
        <dsp:cNvPr id="0" name=""/>
        <dsp:cNvSpPr/>
      </dsp:nvSpPr>
      <dsp:spPr>
        <a:xfrm rot="5400000">
          <a:off x="4917210" y="742303"/>
          <a:ext cx="1526927" cy="137397"/>
        </a:xfrm>
        <a:prstGeom prst="rect">
          <a:avLst/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7BD8EF-7CDF-4453-82A4-D70C8D85AB2B}">
      <dsp:nvSpPr>
        <dsp:cNvPr id="0" name=""/>
        <dsp:cNvSpPr/>
      </dsp:nvSpPr>
      <dsp:spPr>
        <a:xfrm>
          <a:off x="5110011" y="13312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Development of marketing strategies according to customer journey</a:t>
          </a:r>
          <a:endParaRPr lang="en-US" sz="1400" kern="1200" dirty="0"/>
        </a:p>
      </dsp:txBody>
      <dsp:txXfrm>
        <a:off x="5136839" y="40140"/>
        <a:ext cx="1995982" cy="862329"/>
      </dsp:txXfrm>
    </dsp:sp>
    <dsp:sp modelId="{6A76C65F-251D-4807-A900-E3E6D34DD047}">
      <dsp:nvSpPr>
        <dsp:cNvPr id="0" name=""/>
        <dsp:cNvSpPr/>
      </dsp:nvSpPr>
      <dsp:spPr>
        <a:xfrm rot="5400000">
          <a:off x="4917210" y="1887285"/>
          <a:ext cx="1526927" cy="137397"/>
        </a:xfrm>
        <a:prstGeom prst="rect">
          <a:avLst/>
        </a:prstGeom>
        <a:solidFill>
          <a:srgbClr val="FF99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D3882-E2EB-4836-9D74-74FE74E2C889}">
      <dsp:nvSpPr>
        <dsp:cNvPr id="0" name=""/>
        <dsp:cNvSpPr/>
      </dsp:nvSpPr>
      <dsp:spPr>
        <a:xfrm>
          <a:off x="5110011" y="1158293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Testing of different ideas</a:t>
          </a:r>
          <a:endParaRPr lang="en-US" sz="1400" kern="1200" dirty="0"/>
        </a:p>
      </dsp:txBody>
      <dsp:txXfrm>
        <a:off x="5136839" y="1185121"/>
        <a:ext cx="1995982" cy="862329"/>
      </dsp:txXfrm>
    </dsp:sp>
    <dsp:sp modelId="{4E6AF923-7659-4B19-8BC1-4F070126D55E}">
      <dsp:nvSpPr>
        <dsp:cNvPr id="0" name=""/>
        <dsp:cNvSpPr/>
      </dsp:nvSpPr>
      <dsp:spPr>
        <a:xfrm>
          <a:off x="5110011" y="2303275"/>
          <a:ext cx="2049638" cy="915985"/>
        </a:xfrm>
        <a:prstGeom prst="roundRect">
          <a:avLst>
            <a:gd name="adj" fmla="val 10000"/>
          </a:avLst>
        </a:prstGeom>
        <a:solidFill>
          <a:srgbClr val="2E75B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Feedback and improvisation</a:t>
          </a:r>
          <a:endParaRPr lang="en-US" sz="1400" kern="1200" dirty="0"/>
        </a:p>
      </dsp:txBody>
      <dsp:txXfrm>
        <a:off x="5136839" y="2330103"/>
        <a:ext cx="1995982" cy="86232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EF506-2044-4AD4-B557-370F2BDC3A6D}">
      <dsp:nvSpPr>
        <dsp:cNvPr id="0" name=""/>
        <dsp:cNvSpPr/>
      </dsp:nvSpPr>
      <dsp:spPr>
        <a:xfrm>
          <a:off x="-2111450" y="-326943"/>
          <a:ext cx="2523327" cy="2523327"/>
        </a:xfrm>
        <a:prstGeom prst="blockArc">
          <a:avLst>
            <a:gd name="adj1" fmla="val 18900000"/>
            <a:gd name="adj2" fmla="val 2700000"/>
            <a:gd name="adj3" fmla="val 856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EE19D9-89A7-4687-8A62-BC8321BC17BF}">
      <dsp:nvSpPr>
        <dsp:cNvPr id="0" name=""/>
        <dsp:cNvSpPr/>
      </dsp:nvSpPr>
      <dsp:spPr>
        <a:xfrm>
          <a:off x="264750" y="186944"/>
          <a:ext cx="6877523" cy="373888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77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PESTEL Analysis </a:t>
          </a:r>
          <a:r>
            <a:rPr lang="en-IN" sz="1800" kern="1200" dirty="0"/>
            <a:t>for a clear understanding of the external environment</a:t>
          </a:r>
          <a:endParaRPr lang="en-US" sz="1800" kern="1200" dirty="0"/>
        </a:p>
      </dsp:txBody>
      <dsp:txXfrm>
        <a:off x="264750" y="186944"/>
        <a:ext cx="6877523" cy="373888"/>
      </dsp:txXfrm>
    </dsp:sp>
    <dsp:sp modelId="{3214410C-3C3A-429E-A12E-B5156CBB240E}">
      <dsp:nvSpPr>
        <dsp:cNvPr id="0" name=""/>
        <dsp:cNvSpPr/>
      </dsp:nvSpPr>
      <dsp:spPr>
        <a:xfrm>
          <a:off x="31070" y="140208"/>
          <a:ext cx="467360" cy="4673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558991-7F1B-411B-86CD-4D10BF398795}">
      <dsp:nvSpPr>
        <dsp:cNvPr id="0" name=""/>
        <dsp:cNvSpPr/>
      </dsp:nvSpPr>
      <dsp:spPr>
        <a:xfrm>
          <a:off x="400659" y="747776"/>
          <a:ext cx="6741615" cy="373888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77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PERCEPTUAL MAP </a:t>
          </a:r>
          <a:r>
            <a:rPr lang="en-IN" sz="1800" b="0" kern="1200" dirty="0"/>
            <a:t>to bring out the value proposition efficiently</a:t>
          </a:r>
          <a:endParaRPr lang="en-US" sz="1800" b="1" kern="1200" dirty="0"/>
        </a:p>
      </dsp:txBody>
      <dsp:txXfrm>
        <a:off x="400659" y="747776"/>
        <a:ext cx="6741615" cy="373888"/>
      </dsp:txXfrm>
    </dsp:sp>
    <dsp:sp modelId="{825E5A96-FA17-4301-97DC-703578104179}">
      <dsp:nvSpPr>
        <dsp:cNvPr id="0" name=""/>
        <dsp:cNvSpPr/>
      </dsp:nvSpPr>
      <dsp:spPr>
        <a:xfrm>
          <a:off x="166979" y="701040"/>
          <a:ext cx="467360" cy="4673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3047AD-1925-4966-985E-86E27BF4D142}">
      <dsp:nvSpPr>
        <dsp:cNvPr id="0" name=""/>
        <dsp:cNvSpPr/>
      </dsp:nvSpPr>
      <dsp:spPr>
        <a:xfrm>
          <a:off x="264750" y="1308608"/>
          <a:ext cx="6877523" cy="373888"/>
        </a:xfrm>
        <a:prstGeom prst="rect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6774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NEED Analysis </a:t>
          </a:r>
          <a:r>
            <a:rPr lang="en-IN" sz="1800" b="0" kern="1200" dirty="0"/>
            <a:t>to understand the potential customer pain points</a:t>
          </a:r>
          <a:endParaRPr lang="en-US" sz="1800" b="1" kern="1200" dirty="0"/>
        </a:p>
      </dsp:txBody>
      <dsp:txXfrm>
        <a:off x="264750" y="1308608"/>
        <a:ext cx="6877523" cy="373888"/>
      </dsp:txXfrm>
    </dsp:sp>
    <dsp:sp modelId="{7F93E73A-6C1E-43D6-9EC7-9856F460CEED}">
      <dsp:nvSpPr>
        <dsp:cNvPr id="0" name=""/>
        <dsp:cNvSpPr/>
      </dsp:nvSpPr>
      <dsp:spPr>
        <a:xfrm>
          <a:off x="31070" y="1261872"/>
          <a:ext cx="467360" cy="46736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CA0CF5-D8D3-4D44-BB02-F6173DA84CEB}">
      <dsp:nvSpPr>
        <dsp:cNvPr id="0" name=""/>
        <dsp:cNvSpPr/>
      </dsp:nvSpPr>
      <dsp:spPr>
        <a:xfrm>
          <a:off x="2120609" y="1047108"/>
          <a:ext cx="1330920" cy="1151300"/>
        </a:xfrm>
        <a:prstGeom prst="hexagon">
          <a:avLst>
            <a:gd name="adj" fmla="val 28570"/>
            <a:gd name="vf" fmla="val 11547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Regulatory Intervention</a:t>
          </a:r>
        </a:p>
      </dsp:txBody>
      <dsp:txXfrm>
        <a:off x="2341161" y="1237895"/>
        <a:ext cx="889816" cy="769726"/>
      </dsp:txXfrm>
    </dsp:sp>
    <dsp:sp modelId="{6FD326A8-F857-457F-A295-86A47CDB82A8}">
      <dsp:nvSpPr>
        <dsp:cNvPr id="0" name=""/>
        <dsp:cNvSpPr/>
      </dsp:nvSpPr>
      <dsp:spPr>
        <a:xfrm>
          <a:off x="2954021" y="496289"/>
          <a:ext cx="502152" cy="432670"/>
        </a:xfrm>
        <a:prstGeom prst="hexagon">
          <a:avLst>
            <a:gd name="adj" fmla="val 28900"/>
            <a:gd name="vf" fmla="val 115470"/>
          </a:avLst>
        </a:prstGeom>
        <a:solidFill>
          <a:srgbClr val="4472C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DDDB9-4465-488D-A710-1C68DC6C2D92}">
      <dsp:nvSpPr>
        <dsp:cNvPr id="0" name=""/>
        <dsp:cNvSpPr/>
      </dsp:nvSpPr>
      <dsp:spPr>
        <a:xfrm>
          <a:off x="2243206" y="0"/>
          <a:ext cx="1090680" cy="943566"/>
        </a:xfrm>
        <a:prstGeom prst="hexagon">
          <a:avLst>
            <a:gd name="adj" fmla="val 28570"/>
            <a:gd name="vf" fmla="val 11547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Regulated or Un-Regulated Business?</a:t>
          </a:r>
        </a:p>
      </dsp:txBody>
      <dsp:txXfrm>
        <a:off x="2423955" y="156369"/>
        <a:ext cx="729182" cy="630828"/>
      </dsp:txXfrm>
    </dsp:sp>
    <dsp:sp modelId="{77F7A240-6926-450A-925B-6F0716F8796D}">
      <dsp:nvSpPr>
        <dsp:cNvPr id="0" name=""/>
        <dsp:cNvSpPr/>
      </dsp:nvSpPr>
      <dsp:spPr>
        <a:xfrm>
          <a:off x="3540072" y="1305153"/>
          <a:ext cx="502152" cy="432670"/>
        </a:xfrm>
        <a:prstGeom prst="hexagon">
          <a:avLst>
            <a:gd name="adj" fmla="val 28900"/>
            <a:gd name="vf" fmla="val 115470"/>
          </a:avLst>
        </a:prstGeom>
        <a:solidFill>
          <a:srgbClr val="4472C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D7CF3-E0A8-4F5A-9E7B-8B8D832E5ABE}">
      <dsp:nvSpPr>
        <dsp:cNvPr id="0" name=""/>
        <dsp:cNvSpPr/>
      </dsp:nvSpPr>
      <dsp:spPr>
        <a:xfrm>
          <a:off x="3243486" y="580356"/>
          <a:ext cx="1090680" cy="943566"/>
        </a:xfrm>
        <a:prstGeom prst="hexagon">
          <a:avLst>
            <a:gd name="adj" fmla="val 28570"/>
            <a:gd name="vf" fmla="val 11547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CAPEX approval</a:t>
          </a:r>
        </a:p>
      </dsp:txBody>
      <dsp:txXfrm>
        <a:off x="3424235" y="736725"/>
        <a:ext cx="729182" cy="630828"/>
      </dsp:txXfrm>
    </dsp:sp>
    <dsp:sp modelId="{71E407CA-1ED8-4290-9015-4206985FE524}">
      <dsp:nvSpPr>
        <dsp:cNvPr id="0" name=""/>
        <dsp:cNvSpPr/>
      </dsp:nvSpPr>
      <dsp:spPr>
        <a:xfrm>
          <a:off x="3132963" y="2218209"/>
          <a:ext cx="502152" cy="432670"/>
        </a:xfrm>
        <a:prstGeom prst="hexagon">
          <a:avLst>
            <a:gd name="adj" fmla="val 28900"/>
            <a:gd name="vf" fmla="val 115470"/>
          </a:avLst>
        </a:prstGeom>
        <a:solidFill>
          <a:srgbClr val="4472C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F4365B-5A88-49AB-BE67-EA77651D50FE}">
      <dsp:nvSpPr>
        <dsp:cNvPr id="0" name=""/>
        <dsp:cNvSpPr/>
      </dsp:nvSpPr>
      <dsp:spPr>
        <a:xfrm>
          <a:off x="3243486" y="1721270"/>
          <a:ext cx="1090680" cy="943566"/>
        </a:xfrm>
        <a:prstGeom prst="hexagon">
          <a:avLst>
            <a:gd name="adj" fmla="val 28570"/>
            <a:gd name="vf" fmla="val 11547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Treatment of gains/losses from UBMs</a:t>
          </a:r>
        </a:p>
      </dsp:txBody>
      <dsp:txXfrm>
        <a:off x="3424235" y="1877639"/>
        <a:ext cx="729182" cy="630828"/>
      </dsp:txXfrm>
    </dsp:sp>
    <dsp:sp modelId="{30C95E36-B8B1-471C-B63C-990BD5DFC611}">
      <dsp:nvSpPr>
        <dsp:cNvPr id="0" name=""/>
        <dsp:cNvSpPr/>
      </dsp:nvSpPr>
      <dsp:spPr>
        <a:xfrm>
          <a:off x="2123085" y="2312987"/>
          <a:ext cx="502152" cy="432670"/>
        </a:xfrm>
        <a:prstGeom prst="hexagon">
          <a:avLst>
            <a:gd name="adj" fmla="val 28900"/>
            <a:gd name="vf" fmla="val 115470"/>
          </a:avLst>
        </a:prstGeom>
        <a:solidFill>
          <a:srgbClr val="4472C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95567F-7E2E-4F85-A02B-82C8DB1397D9}">
      <dsp:nvSpPr>
        <dsp:cNvPr id="0" name=""/>
        <dsp:cNvSpPr/>
      </dsp:nvSpPr>
      <dsp:spPr>
        <a:xfrm>
          <a:off x="2243206" y="2302276"/>
          <a:ext cx="1090680" cy="943566"/>
        </a:xfrm>
        <a:prstGeom prst="hexagon">
          <a:avLst>
            <a:gd name="adj" fmla="val 28570"/>
            <a:gd name="vf" fmla="val 11547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Other regulatory issues?</a:t>
          </a:r>
        </a:p>
      </dsp:txBody>
      <dsp:txXfrm>
        <a:off x="2423955" y="2458645"/>
        <a:ext cx="729182" cy="630828"/>
      </dsp:txXfrm>
    </dsp:sp>
    <dsp:sp modelId="{3FEDB154-F6A6-4736-AD24-398AF08D14F9}">
      <dsp:nvSpPr>
        <dsp:cNvPr id="0" name=""/>
        <dsp:cNvSpPr/>
      </dsp:nvSpPr>
      <dsp:spPr>
        <a:xfrm>
          <a:off x="1527437" y="1504448"/>
          <a:ext cx="502152" cy="432670"/>
        </a:xfrm>
        <a:prstGeom prst="hexagon">
          <a:avLst>
            <a:gd name="adj" fmla="val 28900"/>
            <a:gd name="vf" fmla="val 115470"/>
          </a:avLst>
        </a:prstGeom>
        <a:solidFill>
          <a:srgbClr val="4472C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FE6D7-1EAB-4EF7-A1D0-4AFD0E0AC5DD}">
      <dsp:nvSpPr>
        <dsp:cNvPr id="0" name=""/>
        <dsp:cNvSpPr/>
      </dsp:nvSpPr>
      <dsp:spPr>
        <a:xfrm>
          <a:off x="1238281" y="1721919"/>
          <a:ext cx="1090680" cy="943566"/>
        </a:xfrm>
        <a:prstGeom prst="hexagon">
          <a:avLst>
            <a:gd name="adj" fmla="val 28570"/>
            <a:gd name="vf" fmla="val 11547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Allocation of costs/assets?</a:t>
          </a:r>
        </a:p>
      </dsp:txBody>
      <dsp:txXfrm>
        <a:off x="1419030" y="1878288"/>
        <a:ext cx="729182" cy="630828"/>
      </dsp:txXfrm>
    </dsp:sp>
    <dsp:sp modelId="{8B1F80A9-FB94-43AC-9980-E6CEC2547979}">
      <dsp:nvSpPr>
        <dsp:cNvPr id="0" name=""/>
        <dsp:cNvSpPr/>
      </dsp:nvSpPr>
      <dsp:spPr>
        <a:xfrm>
          <a:off x="1238281" y="579058"/>
          <a:ext cx="1090680" cy="943566"/>
        </a:xfrm>
        <a:prstGeom prst="hexagon">
          <a:avLst>
            <a:gd name="adj" fmla="val 28570"/>
            <a:gd name="vf" fmla="val 115470"/>
          </a:avLst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Rate of RoE</a:t>
          </a:r>
        </a:p>
      </dsp:txBody>
      <dsp:txXfrm>
        <a:off x="1419030" y="735427"/>
        <a:ext cx="729182" cy="63082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53BFE8-97BD-4929-BBF3-FE13E2A6AF6F}">
      <dsp:nvSpPr>
        <dsp:cNvPr id="0" name=""/>
        <dsp:cNvSpPr/>
      </dsp:nvSpPr>
      <dsp:spPr>
        <a:xfrm>
          <a:off x="1785" y="0"/>
          <a:ext cx="2101453" cy="40785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Solar Power Market 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IN" sz="1200" b="1" kern="1200" dirty="0"/>
            <a:t>Potential</a:t>
          </a:r>
        </a:p>
      </dsp:txBody>
      <dsp:txXfrm>
        <a:off x="1785" y="0"/>
        <a:ext cx="1999490" cy="407854"/>
      </dsp:txXfrm>
    </dsp:sp>
    <dsp:sp modelId="{76955A27-F862-48D0-9902-DF631275FBD0}">
      <dsp:nvSpPr>
        <dsp:cNvPr id="0" name=""/>
        <dsp:cNvSpPr/>
      </dsp:nvSpPr>
      <dsp:spPr>
        <a:xfrm>
          <a:off x="168294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 Mapping</a:t>
          </a:r>
        </a:p>
      </dsp:txBody>
      <dsp:txXfrm>
        <a:off x="1886875" y="0"/>
        <a:ext cx="1693599" cy="407854"/>
      </dsp:txXfrm>
    </dsp:sp>
    <dsp:sp modelId="{8951074B-CEFD-4C53-AA15-6972CBCE9200}">
      <dsp:nvSpPr>
        <dsp:cNvPr id="0" name=""/>
        <dsp:cNvSpPr/>
      </dsp:nvSpPr>
      <dsp:spPr>
        <a:xfrm>
          <a:off x="3364110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Overview of Rooftop Solar</a:t>
          </a:r>
        </a:p>
      </dsp:txBody>
      <dsp:txXfrm>
        <a:off x="3568037" y="0"/>
        <a:ext cx="1693599" cy="407854"/>
      </dsp:txXfrm>
    </dsp:sp>
    <dsp:sp modelId="{05A2D776-3D6A-42BD-BEC4-A6392D2DC190}">
      <dsp:nvSpPr>
        <dsp:cNvPr id="0" name=""/>
        <dsp:cNvSpPr/>
      </dsp:nvSpPr>
      <dsp:spPr>
        <a:xfrm>
          <a:off x="5045273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State wise Policy Evaluation</a:t>
          </a:r>
        </a:p>
      </dsp:txBody>
      <dsp:txXfrm>
        <a:off x="5249200" y="0"/>
        <a:ext cx="1693599" cy="407854"/>
      </dsp:txXfrm>
    </dsp:sp>
    <dsp:sp modelId="{82DFFF37-BDFE-476D-B72C-B4BCBB32E0B0}">
      <dsp:nvSpPr>
        <dsp:cNvPr id="0" name=""/>
        <dsp:cNvSpPr/>
      </dsp:nvSpPr>
      <dsp:spPr>
        <a:xfrm>
          <a:off x="6726435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Implementation Challenges</a:t>
          </a:r>
        </a:p>
      </dsp:txBody>
      <dsp:txXfrm>
        <a:off x="6930362" y="0"/>
        <a:ext cx="1693599" cy="407854"/>
      </dsp:txXfrm>
    </dsp:sp>
    <dsp:sp modelId="{F608BB88-8B06-4FE4-87EB-67CA1D20F2D3}">
      <dsp:nvSpPr>
        <dsp:cNvPr id="0" name=""/>
        <dsp:cNvSpPr/>
      </dsp:nvSpPr>
      <dsp:spPr>
        <a:xfrm>
          <a:off x="8407598" y="0"/>
          <a:ext cx="2101453" cy="4078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Marketing Strategy</a:t>
          </a:r>
        </a:p>
      </dsp:txBody>
      <dsp:txXfrm>
        <a:off x="8611525" y="0"/>
        <a:ext cx="1693599" cy="407854"/>
      </dsp:txXfrm>
    </dsp:sp>
    <dsp:sp modelId="{C5A1B781-BFD2-4160-A562-737F058037B6}">
      <dsp:nvSpPr>
        <dsp:cNvPr id="0" name=""/>
        <dsp:cNvSpPr/>
      </dsp:nvSpPr>
      <dsp:spPr>
        <a:xfrm>
          <a:off x="10088760" y="0"/>
          <a:ext cx="2101453" cy="407854"/>
        </a:xfrm>
        <a:prstGeom prst="chevron">
          <a:avLst/>
        </a:prstGeom>
        <a:solidFill>
          <a:srgbClr val="FF99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32004" rIns="16002" bIns="32004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Business Models</a:t>
          </a:r>
        </a:p>
      </dsp:txBody>
      <dsp:txXfrm>
        <a:off x="10292687" y="0"/>
        <a:ext cx="1693599" cy="4078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791B40-7131-4B59-B528-3DA2D19AC578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8983E-0058-4C67-84E7-F6E9C9EA81E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5557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FE10F-CEF9-4703-9103-B70B4C1B5551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607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F350-A292-82B9-469C-27C0D84545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39023-3284-22BA-1BE3-26488788E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826CB-B5D0-49B4-9CCB-42E793005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B8B3F-8419-F46C-726E-81732F67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18857-11F4-03CA-FF7F-0091C2D2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72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D950-8ADC-6E1F-C305-CECBA193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EABF9-08CB-2789-FFF6-802E9F2ED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BD182-2CB0-C5C7-0BA8-0BDE8716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0837E-A496-EC20-E7D3-7A5EFF56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A5CB3-603D-8EE8-0BAD-055A2CC6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826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AB702-FCB6-6C85-598D-1E1E28074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D2E18-67A1-4151-111B-DBFF3A6EF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DDC0A-30C9-A857-8561-604AD55DB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DF24-7EF1-E47A-1C02-05ABE54A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E75D2-5EE8-E1B7-7493-AAA52AAD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5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09B55-1C2D-74A8-AF83-8A3A5160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FDFE7-CABC-3EAC-00EF-EA6DC3FA5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5C9C6-867F-97C8-4AC0-FE2B0721B1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FAB32-81FE-DCD7-26E2-279D05787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1845A-B0EB-7A54-3E5A-6163A4546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A55D21-1FD4-0C81-007A-1ACD1F140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78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5596B-0C2F-2A06-7601-7D7473EA3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5C429-D7C0-4D3A-AFB0-AB9967EB8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A8208-32A8-E06A-FEF8-42448A182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12E60C-5C1B-8832-4EB7-E5EC9C60A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5D5ED-1F53-705D-B0CE-C8040DDBC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29B301-398B-E3B5-AA39-70BFEA987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7A32C-A4F6-58C3-5592-138AAF49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3D83F-9869-DF99-0407-33774FFF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6875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C74B-D136-AA8C-BE1C-55CF54D7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A15756-2F50-850C-4166-74B6BA074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A42826-7940-2B86-DFEA-EA04708D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7EFFD-CFCD-317F-BC2C-243CBEAB0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385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1E05CA-EB72-9E89-612E-7B36D64E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01F01-5D84-7C54-DED2-636155616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645724-E39C-E9EF-1ACA-91C6989E0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12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0E7F-B29C-756B-BAE1-1A51B3442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2D29E-8A0F-9BC6-1098-E57EBFD2E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677B38-D3CF-5E52-05BF-777AF3B49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A913B-2E61-5024-986B-DE581422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16A98-0039-52DF-C561-D1673F08C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DE151-ACBB-6B35-6D5E-4EBC0E03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120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C9C6E-276F-EB2E-CBF7-D05CE85D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616884-D03F-5F16-7890-5F5C2700A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5AE55-49B1-87F3-AB33-BCBEE1B6C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ECCA5-E702-39C6-FDE1-540DE84A7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A3D07-46CF-26D7-5207-E4C5DF6B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3BAFBA-7CDE-DE1C-8A25-C79A8888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71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F86C8-D51B-119C-7A29-EB3CB1428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4559D9-5138-76BD-65E3-DFEF02C0BC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85192-1BBB-4A0A-EFF6-0A0DFCD6F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87646-3497-D511-3848-219F5ADE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77B6B-56F3-DB52-75E3-38781092A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098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806D38-8A79-43EE-3678-B2AE40599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A5F99-C88F-2E4B-E9D3-6C5517288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30FD-7EC5-0809-9DC5-8CFA34DBC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C7BA0-0DF4-130B-DF32-782ED9C7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AF8AE-2349-BB74-AADD-2EEDE477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349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8EC5F2-1401-417B-A158-34930A8A3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BFF0F-7A8C-9825-2012-7514ED4AD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CD8CB-A40D-F520-3D0E-C57245B1E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C2973-4ED8-4074-A787-C4E3723D3EE0}" type="datetimeFigureOut">
              <a:rPr lang="en-IN" smtClean="0"/>
              <a:t>05-08-2022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18836-2073-E9F4-73AC-F8CBC20742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FC8D4-8AF4-663B-82B5-46CACA9D0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45115-465B-410F-B308-1F6423F99A3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66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microsoft.com/office/2007/relationships/diagramDrawing" Target="../diagrams/drawing1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microsoft.com/office/2014/relationships/chartEx" Target="../charts/chartEx1.xml"/><Relationship Id="rId11" Type="http://schemas.openxmlformats.org/officeDocument/2006/relationships/diagramColors" Target="../diagrams/colors1.xml"/><Relationship Id="rId5" Type="http://schemas.openxmlformats.org/officeDocument/2006/relationships/chart" Target="../charts/chart2.xml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7.png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9.png"/><Relationship Id="rId7" Type="http://schemas.openxmlformats.org/officeDocument/2006/relationships/diagramQuickStyle" Target="../diagrams/quickStyle2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0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13" Type="http://schemas.openxmlformats.org/officeDocument/2006/relationships/diagramQuickStyle" Target="../diagrams/quickStyle3.xml"/><Relationship Id="rId3" Type="http://schemas.openxmlformats.org/officeDocument/2006/relationships/image" Target="../media/image12.png"/><Relationship Id="rId7" Type="http://schemas.openxmlformats.org/officeDocument/2006/relationships/chart" Target="../charts/chart4.xml"/><Relationship Id="rId12" Type="http://schemas.openxmlformats.org/officeDocument/2006/relationships/diagramLayout" Target="../diagrams/layout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diagramData" Target="../diagrams/data3.xml"/><Relationship Id="rId5" Type="http://schemas.openxmlformats.org/officeDocument/2006/relationships/image" Target="../media/image14.png"/><Relationship Id="rId15" Type="http://schemas.microsoft.com/office/2007/relationships/diagramDrawing" Target="../diagrams/drawing3.xml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diagramColors" Target="../diagrams/colors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microsoft.com/office/2007/relationships/diagramDrawing" Target="../diagrams/drawing5.xml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diagramColors" Target="../diagrams/colors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diagramQuickStyle" Target="../diagrams/quickStyle5.xml"/><Relationship Id="rId5" Type="http://schemas.openxmlformats.org/officeDocument/2006/relationships/image" Target="../media/image20.png"/><Relationship Id="rId10" Type="http://schemas.openxmlformats.org/officeDocument/2006/relationships/diagramLayout" Target="../diagrams/layout5.xml"/><Relationship Id="rId4" Type="http://schemas.openxmlformats.org/officeDocument/2006/relationships/image" Target="../media/image19.png"/><Relationship Id="rId9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13" Type="http://schemas.openxmlformats.org/officeDocument/2006/relationships/image" Target="../media/image25.svg"/><Relationship Id="rId18" Type="http://schemas.microsoft.com/office/2007/relationships/diagramDrawing" Target="../diagrams/drawing8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24.png"/><Relationship Id="rId17" Type="http://schemas.openxmlformats.org/officeDocument/2006/relationships/diagramColors" Target="../diagrams/colors8.xml"/><Relationship Id="rId2" Type="http://schemas.openxmlformats.org/officeDocument/2006/relationships/diagramData" Target="../diagrams/data6.xml"/><Relationship Id="rId16" Type="http://schemas.openxmlformats.org/officeDocument/2006/relationships/diagramQuickStyle" Target="../diagrams/quickStyle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5" Type="http://schemas.openxmlformats.org/officeDocument/2006/relationships/diagramLayout" Target="../diagrams/layout8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Relationship Id="rId14" Type="http://schemas.openxmlformats.org/officeDocument/2006/relationships/diagramData" Target="../diagrams/data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3039E7-1F94-4787-A276-94CB5732F18D}"/>
              </a:ext>
            </a:extLst>
          </p:cNvPr>
          <p:cNvSpPr/>
          <p:nvPr/>
        </p:nvSpPr>
        <p:spPr>
          <a:xfrm>
            <a:off x="2942893" y="1674523"/>
            <a:ext cx="6306207" cy="3508953"/>
          </a:xfrm>
          <a:prstGeom prst="roundRect">
            <a:avLst/>
          </a:prstGeom>
          <a:solidFill>
            <a:schemeClr val="bg1"/>
          </a:solidFill>
          <a:effectLst>
            <a:glow rad="2286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0192A-AF3A-4016-B0A6-63B3F8804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7" y="137860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IN" sz="4800" dirty="0"/>
              <a:t>                   Ecolution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934F3-29D2-4808-9C6E-BD0C4EB0D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7" y="2478923"/>
            <a:ext cx="9144000" cy="297300"/>
          </a:xfrm>
        </p:spPr>
        <p:txBody>
          <a:bodyPr>
            <a:noAutofit/>
          </a:bodyPr>
          <a:lstStyle/>
          <a:p>
            <a:r>
              <a:rPr lang="en-IN" sz="2000" dirty="0"/>
              <a:t>A Green Business Case Competition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0D9F52-1D01-4B64-8CCF-8A5DDD992D49}"/>
              </a:ext>
            </a:extLst>
          </p:cNvPr>
          <p:cNvGrpSpPr/>
          <p:nvPr/>
        </p:nvGrpSpPr>
        <p:grpSpPr>
          <a:xfrm>
            <a:off x="3983418" y="3100732"/>
            <a:ext cx="4225159" cy="1114106"/>
            <a:chOff x="3983420" y="3303309"/>
            <a:chExt cx="4225159" cy="1114106"/>
          </a:xfrm>
        </p:grpSpPr>
        <p:pic>
          <p:nvPicPr>
            <p:cNvPr id="7" name="Picture 6" descr="A person with long hair wearing glasses&#10;&#10;Description automatically generated with low confidence">
              <a:extLst>
                <a:ext uri="{FF2B5EF4-FFF2-40B4-BE49-F238E27FC236}">
                  <a16:creationId xmlns:a16="http://schemas.microsoft.com/office/drawing/2014/main" id="{578628A2-CCAF-47E7-9EC9-F6741946A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67721" y="3303310"/>
              <a:ext cx="940858" cy="1114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 descr="A person in a suit and tie&#10;&#10;Description automatically generated">
              <a:extLst>
                <a:ext uri="{FF2B5EF4-FFF2-40B4-BE49-F238E27FC236}">
                  <a16:creationId xmlns:a16="http://schemas.microsoft.com/office/drawing/2014/main" id="{2941C996-0A7A-42E2-AD3D-350F6CB44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3420" y="3303311"/>
              <a:ext cx="940859" cy="111410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 descr="A person wearing glasses and a suit&#10;&#10;Description automatically generated with medium confidence">
              <a:extLst>
                <a:ext uri="{FF2B5EF4-FFF2-40B4-BE49-F238E27FC236}">
                  <a16:creationId xmlns:a16="http://schemas.microsoft.com/office/drawing/2014/main" id="{A034D660-8DD3-4114-8E08-A7BE19B35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5571" y="3303309"/>
              <a:ext cx="940858" cy="11141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Subtitle 2">
            <a:extLst>
              <a:ext uri="{FF2B5EF4-FFF2-40B4-BE49-F238E27FC236}">
                <a16:creationId xmlns:a16="http://schemas.microsoft.com/office/drawing/2014/main" id="{D6CBFF5F-823A-4EB1-A9E4-94A632137C42}"/>
              </a:ext>
            </a:extLst>
          </p:cNvPr>
          <p:cNvSpPr txBox="1">
            <a:spLocks/>
          </p:cNvSpPr>
          <p:nvPr/>
        </p:nvSpPr>
        <p:spPr>
          <a:xfrm>
            <a:off x="3802024" y="4310203"/>
            <a:ext cx="4763907" cy="297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/>
              <a:t>Devesh Sinha           Mohit Kiradoo           Kajal Gupta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1F977C5-A5FE-4473-9D65-6AD681E0762E}"/>
              </a:ext>
            </a:extLst>
          </p:cNvPr>
          <p:cNvSpPr txBox="1">
            <a:spLocks/>
          </p:cNvSpPr>
          <p:nvPr/>
        </p:nvSpPr>
        <p:spPr>
          <a:xfrm>
            <a:off x="3714044" y="4681848"/>
            <a:ext cx="4763907" cy="2973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/>
              <a:t>T. A. Pai Management Institute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B1D7B23-68C2-8590-8293-AEA0F56A90BF}"/>
              </a:ext>
            </a:extLst>
          </p:cNvPr>
          <p:cNvSpPr txBox="1">
            <a:spLocks/>
          </p:cNvSpPr>
          <p:nvPr/>
        </p:nvSpPr>
        <p:spPr>
          <a:xfrm>
            <a:off x="4337951" y="1268922"/>
            <a:ext cx="3516090" cy="3579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/>
              <a:t>Team SORTED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ABE6844-F5D0-2938-E701-1FE516D9C0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2770" y="1830170"/>
            <a:ext cx="1469899" cy="64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654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62690E8-27E0-CBE1-68F3-78B317FD97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336124"/>
              </p:ext>
            </p:extLst>
          </p:nvPr>
        </p:nvGraphicFramePr>
        <p:xfrm>
          <a:off x="183314" y="3600817"/>
          <a:ext cx="6105519" cy="2697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FA8D8CA6-83E7-DEF2-3660-6271E081862C}"/>
              </a:ext>
            </a:extLst>
          </p:cNvPr>
          <p:cNvGrpSpPr/>
          <p:nvPr/>
        </p:nvGrpSpPr>
        <p:grpSpPr>
          <a:xfrm>
            <a:off x="82420" y="177073"/>
            <a:ext cx="12027159" cy="3348911"/>
            <a:chOff x="82420" y="280697"/>
            <a:chExt cx="12027159" cy="334891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A329FF6-A7E0-05F3-12B5-E7DDF883B590}"/>
                </a:ext>
              </a:extLst>
            </p:cNvPr>
            <p:cNvGrpSpPr/>
            <p:nvPr/>
          </p:nvGrpSpPr>
          <p:grpSpPr>
            <a:xfrm>
              <a:off x="82420" y="280697"/>
              <a:ext cx="12027159" cy="3348911"/>
              <a:chOff x="74644" y="346011"/>
              <a:chExt cx="12027159" cy="3348911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6E32D10B-78B1-895A-4605-51D8A87719FC}"/>
                  </a:ext>
                </a:extLst>
              </p:cNvPr>
              <p:cNvSpPr/>
              <p:nvPr/>
            </p:nvSpPr>
            <p:spPr>
              <a:xfrm>
                <a:off x="74644" y="625151"/>
                <a:ext cx="12027159" cy="3069771"/>
              </a:xfrm>
              <a:prstGeom prst="roundRect">
                <a:avLst/>
              </a:prstGeom>
              <a:solidFill>
                <a:srgbClr val="4472C4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2D0FC18F-AF6F-5CDF-B6A2-2E9C9ED04329}"/>
                  </a:ext>
                </a:extLst>
              </p:cNvPr>
              <p:cNvGrpSpPr/>
              <p:nvPr/>
            </p:nvGrpSpPr>
            <p:grpSpPr>
              <a:xfrm>
                <a:off x="306589" y="346011"/>
                <a:ext cx="11524626" cy="1666149"/>
                <a:chOff x="306589" y="346011"/>
                <a:chExt cx="11524626" cy="1666149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BA932067-7634-86E5-3AFC-70999CFD0D7E}"/>
                    </a:ext>
                  </a:extLst>
                </p:cNvPr>
                <p:cNvGrpSpPr/>
                <p:nvPr/>
              </p:nvGrpSpPr>
              <p:grpSpPr>
                <a:xfrm>
                  <a:off x="306589" y="949391"/>
                  <a:ext cx="2265818" cy="751910"/>
                  <a:chOff x="306589" y="949391"/>
                  <a:chExt cx="2265818" cy="751910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03D38BDA-B5CC-71CF-5AAD-AE2159640A7C}"/>
                      </a:ext>
                    </a:extLst>
                  </p:cNvPr>
                  <p:cNvGrpSpPr/>
                  <p:nvPr/>
                </p:nvGrpSpPr>
                <p:grpSpPr>
                  <a:xfrm>
                    <a:off x="306589" y="949391"/>
                    <a:ext cx="677108" cy="751910"/>
                    <a:chOff x="755780" y="1324947"/>
                    <a:chExt cx="1219200" cy="1131550"/>
                  </a:xfrm>
                </p:grpSpPr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6C8BDA08-D91D-BEE1-848F-5A48FF74FA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5780" y="1791478"/>
                      <a:ext cx="457200" cy="665019"/>
                    </a:xfrm>
                    <a:prstGeom prst="rect">
                      <a:avLst/>
                    </a:prstGeom>
                    <a:solidFill>
                      <a:srgbClr val="FF99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 dirty="0">
                        <a:solidFill>
                          <a:schemeClr val="bg1"/>
                        </a:solidFill>
                      </a:endParaRPr>
                    </a:p>
                  </p:txBody>
                </p:sp>
                <p:grpSp>
                  <p:nvGrpSpPr>
                    <p:cNvPr id="17" name="Group 16">
                      <a:extLst>
                        <a:ext uri="{FF2B5EF4-FFF2-40B4-BE49-F238E27FC236}">
                          <a16:creationId xmlns:a16="http://schemas.microsoft.com/office/drawing/2014/main" id="{292982E5-3F5A-981F-E3BD-670EEB5AE9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17780" y="1324947"/>
                      <a:ext cx="457200" cy="1131550"/>
                      <a:chOff x="1517780" y="1324947"/>
                      <a:chExt cx="457200" cy="1131550"/>
                    </a:xfrm>
                  </p:grpSpPr>
                  <p:sp>
                    <p:nvSpPr>
                      <p:cNvPr id="15" name="Rectangle 14">
                        <a:extLst>
                          <a:ext uri="{FF2B5EF4-FFF2-40B4-BE49-F238E27FC236}">
                            <a16:creationId xmlns:a16="http://schemas.microsoft.com/office/drawing/2014/main" id="{68A3CBA5-EFE5-FA5F-56D6-1242A617E7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17780" y="1324947"/>
                        <a:ext cx="457200" cy="1131549"/>
                      </a:xfrm>
                      <a:prstGeom prst="rect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  <p:sp>
                    <p:nvSpPr>
                      <p:cNvPr id="16" name="Rectangle 15">
                        <a:extLst>
                          <a:ext uri="{FF2B5EF4-FFF2-40B4-BE49-F238E27FC236}">
                            <a16:creationId xmlns:a16="http://schemas.microsoft.com/office/drawing/2014/main" id="{63489FB7-E38E-5EF5-AF0A-AD1A9B59F0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17780" y="1791478"/>
                        <a:ext cx="457200" cy="665019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IN" dirty="0">
                          <a:solidFill>
                            <a:schemeClr val="bg1"/>
                          </a:solidFill>
                        </a:endParaRPr>
                      </a:p>
                    </p:txBody>
                  </p:sp>
                </p:grpSp>
              </p:grp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0E5D5366-34AC-8AAD-6747-FE61A6EF4678}"/>
                      </a:ext>
                    </a:extLst>
                  </p:cNvPr>
                  <p:cNvSpPr txBox="1"/>
                  <p:nvPr/>
                </p:nvSpPr>
                <p:spPr>
                  <a:xfrm>
                    <a:off x="1140089" y="1115271"/>
                    <a:ext cx="1432318" cy="55399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b="1" dirty="0">
                        <a:solidFill>
                          <a:schemeClr val="bg1"/>
                        </a:solidFill>
                      </a:rPr>
                      <a:t>$240.42 bn</a:t>
                    </a:r>
                  </a:p>
                  <a:p>
                    <a:r>
                      <a:rPr lang="en-IN" sz="1200" dirty="0">
                        <a:solidFill>
                          <a:schemeClr val="bg1"/>
                        </a:solidFill>
                      </a:rPr>
                      <a:t>Market size Growth</a:t>
                    </a:r>
                  </a:p>
                </p:txBody>
              </p:sp>
            </p:grpSp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75B2A44-9D87-3BEF-CC12-894B965AB9A4}"/>
                    </a:ext>
                  </a:extLst>
                </p:cNvPr>
                <p:cNvGrpSpPr/>
                <p:nvPr/>
              </p:nvGrpSpPr>
              <p:grpSpPr>
                <a:xfrm>
                  <a:off x="6093425" y="949391"/>
                  <a:ext cx="2697838" cy="738664"/>
                  <a:chOff x="2908671" y="990789"/>
                  <a:chExt cx="2697838" cy="738664"/>
                </a:xfrm>
              </p:grpSpPr>
              <p:pic>
                <p:nvPicPr>
                  <p:cNvPr id="2050" name="Picture 2" descr="Analysis ">
                    <a:extLst>
                      <a:ext uri="{FF2B5EF4-FFF2-40B4-BE49-F238E27FC236}">
                        <a16:creationId xmlns:a16="http://schemas.microsoft.com/office/drawing/2014/main" id="{81C5B990-3CDD-4CAC-B601-104B55D0933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908671" y="1024193"/>
                    <a:ext cx="677108" cy="67710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06D08B4-8C6A-3FFA-612C-96485AE8840B}"/>
                      </a:ext>
                    </a:extLst>
                  </p:cNvPr>
                  <p:cNvSpPr txBox="1"/>
                  <p:nvPr/>
                </p:nvSpPr>
                <p:spPr>
                  <a:xfrm>
                    <a:off x="3713892" y="990789"/>
                    <a:ext cx="1892617" cy="7386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b="1" dirty="0">
                        <a:solidFill>
                          <a:schemeClr val="bg1"/>
                        </a:solidFill>
                      </a:rPr>
                      <a:t>37.31%</a:t>
                    </a:r>
                  </a:p>
                  <a:p>
                    <a:r>
                      <a:rPr lang="en-IN" sz="1200" dirty="0">
                        <a:solidFill>
                          <a:schemeClr val="bg1"/>
                        </a:solidFill>
                      </a:rPr>
                      <a:t>Estimation of year-on-year growth rate of 2022</a:t>
                    </a: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3CE27BC7-FA26-6AF1-28AF-0E6F1910626B}"/>
                    </a:ext>
                  </a:extLst>
                </p:cNvPr>
                <p:cNvGrpSpPr/>
                <p:nvPr/>
              </p:nvGrpSpPr>
              <p:grpSpPr>
                <a:xfrm>
                  <a:off x="8880523" y="1002178"/>
                  <a:ext cx="2950692" cy="699122"/>
                  <a:chOff x="5994951" y="1002451"/>
                  <a:chExt cx="2950692" cy="699122"/>
                </a:xfrm>
              </p:grpSpPr>
              <p:pic>
                <p:nvPicPr>
                  <p:cNvPr id="2052" name="Picture 4" descr="Rubik ">
                    <a:extLst>
                      <a:ext uri="{FF2B5EF4-FFF2-40B4-BE49-F238E27FC236}">
                        <a16:creationId xmlns:a16="http://schemas.microsoft.com/office/drawing/2014/main" id="{F39A50BE-0BC1-F3D6-5B03-919384B746D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994951" y="1024465"/>
                    <a:ext cx="677108" cy="67710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88C717A2-466E-18B4-64B2-71C7BE5DA952}"/>
                      </a:ext>
                    </a:extLst>
                  </p:cNvPr>
                  <p:cNvSpPr txBox="1"/>
                  <p:nvPr/>
                </p:nvSpPr>
                <p:spPr>
                  <a:xfrm>
                    <a:off x="6740996" y="1002451"/>
                    <a:ext cx="2204647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sz="1200" dirty="0">
                        <a:solidFill>
                          <a:schemeClr val="bg1"/>
                        </a:solidFill>
                      </a:rPr>
                      <a:t>The market is fragmented with several players occupying the market share</a:t>
                    </a:r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9C044AE8-C3C7-7C8E-9C8B-040999891827}"/>
                    </a:ext>
                  </a:extLst>
                </p:cNvPr>
                <p:cNvGrpSpPr/>
                <p:nvPr/>
              </p:nvGrpSpPr>
              <p:grpSpPr>
                <a:xfrm>
                  <a:off x="2890130" y="346011"/>
                  <a:ext cx="3096606" cy="1666149"/>
                  <a:chOff x="8041998" y="403509"/>
                  <a:chExt cx="3096606" cy="1666149"/>
                </a:xfrm>
              </p:grpSpPr>
              <p:graphicFrame>
                <p:nvGraphicFramePr>
                  <p:cNvPr id="11" name="Chart 10">
                    <a:extLst>
                      <a:ext uri="{FF2B5EF4-FFF2-40B4-BE49-F238E27FC236}">
                        <a16:creationId xmlns:a16="http://schemas.microsoft.com/office/drawing/2014/main" id="{AE093B44-CF29-7A01-88AE-D084D84D9401}"/>
                      </a:ext>
                    </a:extLst>
                  </p:cNvPr>
                  <p:cNvGraphicFramePr>
                    <a:graphicFrameLocks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847974194"/>
                      </p:ext>
                    </p:extLst>
                  </p:nvPr>
                </p:nvGraphicFramePr>
                <p:xfrm>
                  <a:off x="8041998" y="403509"/>
                  <a:ext cx="2903442" cy="1666149"/>
                </p:xfrm>
                <a:graphic>
                  <a:graphicData uri="http://schemas.openxmlformats.org/drawingml/2006/chart">
                    <c:chart xmlns:c="http://schemas.openxmlformats.org/drawingml/2006/chart" xmlns:r="http://schemas.openxmlformats.org/officeDocument/2006/relationships" r:id="rId5"/>
                  </a:graphicData>
                </a:graphic>
              </p:graphicFrame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D1052AC-80DE-6A52-08FB-C400A3B7194F}"/>
                      </a:ext>
                    </a:extLst>
                  </p:cNvPr>
                  <p:cNvSpPr txBox="1"/>
                  <p:nvPr/>
                </p:nvSpPr>
                <p:spPr>
                  <a:xfrm>
                    <a:off x="9576992" y="934964"/>
                    <a:ext cx="1561612" cy="923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IN" b="1" dirty="0">
                        <a:solidFill>
                          <a:schemeClr val="bg1"/>
                        </a:solidFill>
                      </a:rPr>
                      <a:t>38%</a:t>
                    </a:r>
                  </a:p>
                  <a:p>
                    <a:r>
                      <a:rPr lang="en-IN" sz="1200" dirty="0">
                        <a:solidFill>
                          <a:schemeClr val="bg1"/>
                        </a:solidFill>
                      </a:rPr>
                      <a:t>Solar Power in Renewable Energy Generation</a:t>
                    </a:r>
                  </a:p>
                </p:txBody>
              </p:sp>
            </p:grp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AF7AACA7-E90A-C276-E277-2B9C7D01B9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37809" y="840233"/>
                  <a:ext cx="0" cy="1045028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  <a:prstDash val="dash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8E3F8E4-8CD5-3907-97F4-69F0808BDC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6559" y="862246"/>
                  <a:ext cx="0" cy="1045028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  <a:prstDash val="dash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CE22074-A7AA-31B4-4689-99E9568DD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1521" y="879435"/>
                  <a:ext cx="0" cy="1045028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  <a:prstDash val="dash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FC2D2BDB-1ABC-5D26-4F03-ADDD8F675E3B}"/>
                  </a:ext>
                </a:extLst>
              </p:cNvPr>
              <p:cNvGrpSpPr/>
              <p:nvPr/>
            </p:nvGrpSpPr>
            <p:grpSpPr>
              <a:xfrm>
                <a:off x="168802" y="2085113"/>
                <a:ext cx="11434931" cy="1541072"/>
                <a:chOff x="168802" y="2085113"/>
                <a:chExt cx="11434931" cy="1541072"/>
              </a:xfrm>
            </p:grpSpPr>
            <mc:AlternateContent xmlns:mc="http://schemas.openxmlformats.org/markup-compatibility/2006" xmlns:cx1="http://schemas.microsoft.com/office/drawing/2015/9/8/chartex">
              <mc:Choice Requires="cx1">
                <p:graphicFrame>
                  <p:nvGraphicFramePr>
                    <p:cNvPr id="25" name="Chart 24">
                      <a:extLst>
                        <a:ext uri="{FF2B5EF4-FFF2-40B4-BE49-F238E27FC236}">
                          <a16:creationId xmlns:a16="http://schemas.microsoft.com/office/drawing/2014/main" id="{0DE1CA80-FCAF-2008-CF42-1751EDE0D4CE}"/>
                        </a:ext>
                      </a:extLst>
                    </p:cNvPr>
                    <p:cNvGraphicFramePr/>
                    <p:nvPr>
                      <p:extLst>
                        <p:ext uri="{D42A27DB-BD31-4B8C-83A1-F6EECF244321}">
                          <p14:modId xmlns:p14="http://schemas.microsoft.com/office/powerpoint/2010/main" val="3136970453"/>
                        </p:ext>
                      </p:extLst>
                    </p:nvPr>
                  </p:nvGraphicFramePr>
                  <p:xfrm>
                    <a:off x="2731592" y="2085113"/>
                    <a:ext cx="3209462" cy="1541072"/>
                  </p:xfrm>
                  <a:graphic>
                    <a:graphicData uri="http://schemas.microsoft.com/office/drawing/2014/chartex">
                      <cx:chart xmlns:cx="http://schemas.microsoft.com/office/drawing/2014/chartex" xmlns:r="http://schemas.openxmlformats.org/officeDocument/2006/relationships" r:id="rId6"/>
                    </a:graphicData>
                  </a:graphic>
                </p:graphicFrame>
              </mc:Choice>
              <mc:Fallback xmlns="">
                <p:pic>
                  <p:nvPicPr>
                    <p:cNvPr id="25" name="Chart 24">
                      <a:extLst>
                        <a:ext uri="{FF2B5EF4-FFF2-40B4-BE49-F238E27FC236}">
                          <a16:creationId xmlns:a16="http://schemas.microsoft.com/office/drawing/2014/main" id="{0DE1CA80-FCAF-2008-CF42-1751EDE0D4CE}"/>
                        </a:ext>
                      </a:extLst>
                    </p:cNvPr>
                    <p:cNvPicPr>
                      <a:picLocks noGrp="1" noRot="1" noChangeAspect="1" noMove="1" noResize="1" noEditPoints="1" noAdjustHandles="1" noChangeArrowheads="1" noChangeShapeType="1"/>
                    </p:cNvPicPr>
                    <p:nvPr/>
                  </p:nvPicPr>
                  <p:blipFill>
                    <a:blip r:embed="rId7"/>
                    <a:stretch>
                      <a:fillRect/>
                    </a:stretch>
                  </p:blipFill>
                  <p:spPr>
                    <a:xfrm>
                      <a:off x="2739368" y="1916175"/>
                      <a:ext cx="3209462" cy="1541072"/>
                    </a:xfrm>
                    <a:prstGeom prst="rect">
                      <a:avLst/>
                    </a:prstGeom>
                  </p:spPr>
                </p:pic>
              </mc:Fallback>
            </mc:AlternateContent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707AB1B-D352-B8CC-38E7-06C04A714C85}"/>
                    </a:ext>
                  </a:extLst>
                </p:cNvPr>
                <p:cNvSpPr txBox="1"/>
                <p:nvPr/>
              </p:nvSpPr>
              <p:spPr>
                <a:xfrm>
                  <a:off x="168802" y="2624816"/>
                  <a:ext cx="851908" cy="36933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b="1" dirty="0">
                      <a:solidFill>
                        <a:schemeClr val="bg1"/>
                      </a:solidFill>
                    </a:rPr>
                    <a:t>52 GW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50032B4-0B34-FFB7-4F81-A96172B336C6}"/>
                    </a:ext>
                  </a:extLst>
                </p:cNvPr>
                <p:cNvSpPr txBox="1"/>
                <p:nvPr/>
              </p:nvSpPr>
              <p:spPr>
                <a:xfrm>
                  <a:off x="1033351" y="2550943"/>
                  <a:ext cx="164579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1200" b="0" i="0" dirty="0">
                      <a:solidFill>
                        <a:schemeClr val="bg1"/>
                      </a:solidFill>
                      <a:effectLst/>
                    </a:rPr>
                    <a:t>India's cumulative </a:t>
                  </a:r>
                  <a:r>
                    <a:rPr lang="en-US" sz="1200" b="1" i="0" dirty="0">
                      <a:solidFill>
                        <a:schemeClr val="bg1"/>
                      </a:solidFill>
                      <a:effectLst/>
                    </a:rPr>
                    <a:t>installed solar capacity </a:t>
                  </a:r>
                  <a:endParaRPr lang="en-IN" sz="12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0545CE3-4A00-A899-C61E-AC12FC001BA7}"/>
                    </a:ext>
                  </a:extLst>
                </p:cNvPr>
                <p:cNvSpPr txBox="1"/>
                <p:nvPr/>
              </p:nvSpPr>
              <p:spPr>
                <a:xfrm>
                  <a:off x="6060781" y="2643276"/>
                  <a:ext cx="905069" cy="36933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b="1" dirty="0">
                      <a:solidFill>
                        <a:schemeClr val="bg1"/>
                      </a:solidFill>
                    </a:rPr>
                    <a:t>8.9 GW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A4B54A8-3173-67B3-4CE7-8E03CEFDA90C}"/>
                    </a:ext>
                  </a:extLst>
                </p:cNvPr>
                <p:cNvSpPr txBox="1"/>
                <p:nvPr/>
              </p:nvSpPr>
              <p:spPr>
                <a:xfrm>
                  <a:off x="6999127" y="2605180"/>
                  <a:ext cx="187613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200" dirty="0">
                      <a:solidFill>
                        <a:schemeClr val="bg1"/>
                      </a:solidFill>
                    </a:rPr>
                    <a:t>Total </a:t>
                  </a:r>
                  <a:r>
                    <a:rPr lang="en-IN" sz="1200" b="1" dirty="0">
                      <a:solidFill>
                        <a:schemeClr val="bg1"/>
                      </a:solidFill>
                    </a:rPr>
                    <a:t>Market Size </a:t>
                  </a:r>
                  <a:r>
                    <a:rPr lang="en-IN" sz="1200" dirty="0">
                      <a:solidFill>
                        <a:schemeClr val="bg1"/>
                      </a:solidFill>
                    </a:rPr>
                    <a:t>of India Solar Rooftop 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77B7087-836F-BD23-60C4-FB317D47D58D}"/>
                    </a:ext>
                  </a:extLst>
                </p:cNvPr>
                <p:cNvSpPr txBox="1"/>
                <p:nvPr/>
              </p:nvSpPr>
              <p:spPr>
                <a:xfrm>
                  <a:off x="8938172" y="2651348"/>
                  <a:ext cx="633359" cy="369332"/>
                </a:xfrm>
                <a:prstGeom prst="rect">
                  <a:avLst/>
                </a:prstGeom>
                <a:solidFill>
                  <a:srgbClr val="FF9900"/>
                </a:solidFill>
                <a:ln>
                  <a:solidFill>
                    <a:schemeClr val="bg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sz="1800" b="1" dirty="0">
                      <a:solidFill>
                        <a:schemeClr val="bg1"/>
                      </a:solidFill>
                    </a:rPr>
                    <a:t>15%</a:t>
                  </a:r>
                  <a:endParaRPr lang="en-IN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E6A55CC-625F-3C87-22FC-1939C5E99F52}"/>
                    </a:ext>
                  </a:extLst>
                </p:cNvPr>
                <p:cNvSpPr txBox="1"/>
                <p:nvPr/>
              </p:nvSpPr>
              <p:spPr>
                <a:xfrm>
                  <a:off x="9649914" y="2605181"/>
                  <a:ext cx="195381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IN" sz="1200" dirty="0">
                      <a:solidFill>
                        <a:schemeClr val="bg1"/>
                      </a:solidFill>
                    </a:rPr>
                    <a:t>Current </a:t>
                  </a:r>
                  <a:r>
                    <a:rPr lang="en-IN" sz="1200" b="1" dirty="0">
                      <a:solidFill>
                        <a:schemeClr val="bg1"/>
                      </a:solidFill>
                    </a:rPr>
                    <a:t>CAGR</a:t>
                  </a:r>
                  <a:r>
                    <a:rPr lang="en-IN" sz="1200" dirty="0">
                      <a:solidFill>
                        <a:schemeClr val="bg1"/>
                      </a:solidFill>
                    </a:rPr>
                    <a:t> for the Solar Rooftop Industry</a:t>
                  </a:r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4FFBE9AA-DE82-8687-5776-8CD7A5C3EE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37809" y="2243028"/>
                  <a:ext cx="0" cy="1185972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  <a:prstDash val="dash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9301916-E823-B3F4-F41D-5507FA20F0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6559" y="2256543"/>
                  <a:ext cx="0" cy="1172457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  <a:prstDash val="dash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E15C6C9-0533-3D70-1A73-EE69A37D9C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3202" y="2160524"/>
                  <a:ext cx="0" cy="1268476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  <a:prstDash val="dash"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91F70E4-9960-7F5E-975A-CAE7BFA26183}"/>
                </a:ext>
              </a:extLst>
            </p:cNvPr>
            <p:cNvCxnSpPr/>
            <p:nvPr/>
          </p:nvCxnSpPr>
          <p:spPr>
            <a:xfrm>
              <a:off x="180184" y="2052506"/>
              <a:ext cx="11651032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2" name="Table 62">
            <a:extLst>
              <a:ext uri="{FF2B5EF4-FFF2-40B4-BE49-F238E27FC236}">
                <a16:creationId xmlns:a16="http://schemas.microsoft.com/office/drawing/2014/main" id="{62278602-3D57-C25A-0E67-C3B83905D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377695"/>
              </p:ext>
            </p:extLst>
          </p:nvPr>
        </p:nvGraphicFramePr>
        <p:xfrm>
          <a:off x="6526507" y="3600026"/>
          <a:ext cx="5583072" cy="269734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791536">
                  <a:extLst>
                    <a:ext uri="{9D8B030D-6E8A-4147-A177-3AD203B41FA5}">
                      <a16:colId xmlns:a16="http://schemas.microsoft.com/office/drawing/2014/main" val="1996040337"/>
                    </a:ext>
                  </a:extLst>
                </a:gridCol>
                <a:gridCol w="2791536">
                  <a:extLst>
                    <a:ext uri="{9D8B030D-6E8A-4147-A177-3AD203B41FA5}">
                      <a16:colId xmlns:a16="http://schemas.microsoft.com/office/drawing/2014/main" val="3347590482"/>
                    </a:ext>
                  </a:extLst>
                </a:gridCol>
              </a:tblGrid>
              <a:tr h="33716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Approximate Solar Potential in India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14780"/>
                  </a:ext>
                </a:extLst>
              </a:tr>
              <a:tr h="337168">
                <a:tc>
                  <a:txBody>
                    <a:bodyPr/>
                    <a:lstStyle/>
                    <a:p>
                      <a:r>
                        <a:rPr lang="en-IN" sz="1400" b="0" dirty="0"/>
                        <a:t>Total Land Area (sq 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3,287,590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276244"/>
                  </a:ext>
                </a:extLst>
              </a:tr>
              <a:tr h="337168">
                <a:tc>
                  <a:txBody>
                    <a:bodyPr/>
                    <a:lstStyle/>
                    <a:p>
                      <a:r>
                        <a:rPr lang="en-IN" sz="1400" dirty="0"/>
                        <a:t># of sunny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629718"/>
                  </a:ext>
                </a:extLst>
              </a:tr>
              <a:tr h="337168">
                <a:tc>
                  <a:txBody>
                    <a:bodyPr/>
                    <a:lstStyle/>
                    <a:p>
                      <a:r>
                        <a:rPr lang="en-IN" sz="1400" dirty="0"/>
                        <a:t>Unit potential from 1 sq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4kWh/day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653735"/>
                  </a:ext>
                </a:extLst>
              </a:tr>
              <a:tr h="337168">
                <a:tc>
                  <a:txBody>
                    <a:bodyPr/>
                    <a:lstStyle/>
                    <a:p>
                      <a:r>
                        <a:rPr lang="en-IN" sz="1400" dirty="0"/>
                        <a:t>Conversion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272861"/>
                  </a:ext>
                </a:extLst>
              </a:tr>
              <a:tr h="337168">
                <a:tc>
                  <a:txBody>
                    <a:bodyPr/>
                    <a:lstStyle/>
                    <a:p>
                      <a:r>
                        <a:rPr lang="en-IN" sz="1400" dirty="0"/>
                        <a:t>1 sq km(Mn units per 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067213"/>
                  </a:ext>
                </a:extLst>
              </a:tr>
              <a:tr h="337168">
                <a:tc>
                  <a:txBody>
                    <a:bodyPr/>
                    <a:lstStyle/>
                    <a:p>
                      <a:r>
                        <a:rPr lang="en-IN" sz="1400" dirty="0"/>
                        <a:t>0.5% of land used (in sq km)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16,438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11200"/>
                  </a:ext>
                </a:extLst>
              </a:tr>
              <a:tr h="337168">
                <a:tc>
                  <a:txBody>
                    <a:bodyPr/>
                    <a:lstStyle/>
                    <a:p>
                      <a:r>
                        <a:rPr lang="en-IN" sz="1400" dirty="0"/>
                        <a:t>Potential units (in billions)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1,972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620953"/>
                  </a:ext>
                </a:extLst>
              </a:tr>
            </a:tbl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4F65D77-FDB1-4CE9-8D41-2A1C9F9EBC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124679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97DA95F-D400-7714-8491-DF3E8DDF4A90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Overall, the market has a growing potential and is a good opportunity for ONergy to expand business in the Rooftop Solar segment into new territories</a:t>
            </a:r>
          </a:p>
        </p:txBody>
      </p:sp>
    </p:spTree>
    <p:extLst>
      <p:ext uri="{BB962C8B-B14F-4D97-AF65-F5344CB8AC3E}">
        <p14:creationId xmlns:p14="http://schemas.microsoft.com/office/powerpoint/2010/main" val="3765423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A4B567-D810-82F4-F36F-B9960C4F7092}"/>
              </a:ext>
            </a:extLst>
          </p:cNvPr>
          <p:cNvSpPr/>
          <p:nvPr/>
        </p:nvSpPr>
        <p:spPr>
          <a:xfrm>
            <a:off x="93306" y="566869"/>
            <a:ext cx="6531429" cy="944690"/>
          </a:xfrm>
          <a:prstGeom prst="roundRect">
            <a:avLst/>
          </a:prstGeom>
          <a:solidFill>
            <a:srgbClr val="4472C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9486681-DD6B-8202-4CE7-8FB3F3B0EB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1913410"/>
              </p:ext>
            </p:extLst>
          </p:nvPr>
        </p:nvGraphicFramePr>
        <p:xfrm>
          <a:off x="6804984" y="3506647"/>
          <a:ext cx="5201496" cy="3010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92855E0F-6E09-D11A-23C5-02164518D2AD}"/>
              </a:ext>
            </a:extLst>
          </p:cNvPr>
          <p:cNvGrpSpPr/>
          <p:nvPr/>
        </p:nvGrpSpPr>
        <p:grpSpPr>
          <a:xfrm>
            <a:off x="185520" y="774441"/>
            <a:ext cx="1895208" cy="533258"/>
            <a:chOff x="185520" y="774441"/>
            <a:chExt cx="1895208" cy="53325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62A06B2-98D8-A48F-48E1-EB9085F7319D}"/>
                </a:ext>
              </a:extLst>
            </p:cNvPr>
            <p:cNvSpPr/>
            <p:nvPr/>
          </p:nvSpPr>
          <p:spPr>
            <a:xfrm>
              <a:off x="185520" y="774441"/>
              <a:ext cx="682227" cy="533258"/>
            </a:xfrm>
            <a:prstGeom prst="rect">
              <a:avLst/>
            </a:prstGeom>
            <a:solidFill>
              <a:srgbClr val="FF99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213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692B1D-DE83-479F-C875-CCF55881E05D}"/>
                </a:ext>
              </a:extLst>
            </p:cNvPr>
            <p:cNvSpPr txBox="1"/>
            <p:nvPr/>
          </p:nvSpPr>
          <p:spPr>
            <a:xfrm>
              <a:off x="867748" y="902570"/>
              <a:ext cx="121298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O</a:t>
              </a:r>
              <a:r>
                <a:rPr lang="en-US" sz="1200" b="1" i="0" dirty="0">
                  <a:solidFill>
                    <a:schemeClr val="bg1"/>
                  </a:solidFill>
                  <a:effectLst/>
                </a:rPr>
                <a:t>perating SEZs </a:t>
              </a:r>
              <a:endParaRPr lang="en-IN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FBA1867-E1DD-012E-F787-55875AF5D50A}"/>
              </a:ext>
            </a:extLst>
          </p:cNvPr>
          <p:cNvGrpSpPr/>
          <p:nvPr/>
        </p:nvGrpSpPr>
        <p:grpSpPr>
          <a:xfrm>
            <a:off x="4473308" y="716048"/>
            <a:ext cx="2331676" cy="646331"/>
            <a:chOff x="2249271" y="731680"/>
            <a:chExt cx="2331676" cy="64633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3C5176C-7926-77BD-31D1-820AB4A98D69}"/>
                </a:ext>
              </a:extLst>
            </p:cNvPr>
            <p:cNvSpPr/>
            <p:nvPr/>
          </p:nvSpPr>
          <p:spPr>
            <a:xfrm>
              <a:off x="2249271" y="774441"/>
              <a:ext cx="682227" cy="533258"/>
            </a:xfrm>
            <a:prstGeom prst="rect">
              <a:avLst/>
            </a:prstGeom>
            <a:solidFill>
              <a:srgbClr val="FF99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1080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826C7C-15D2-BB67-FDF3-B5B42C8F18F1}"/>
                </a:ext>
              </a:extLst>
            </p:cNvPr>
            <p:cNvSpPr txBox="1"/>
            <p:nvPr/>
          </p:nvSpPr>
          <p:spPr>
            <a:xfrm>
              <a:off x="2927891" y="731680"/>
              <a:ext cx="165305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M</a:t>
              </a:r>
              <a:r>
                <a:rPr lang="en-US" sz="1200" b="1" i="0" dirty="0">
                  <a:solidFill>
                    <a:schemeClr val="bg1"/>
                  </a:solidFill>
                  <a:effectLst/>
                </a:rPr>
                <a:t>egawatts (MW) of on-site solar power potential</a:t>
              </a:r>
              <a:endParaRPr lang="en-IN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B3B244D-64BE-1C40-2DE7-489B0F808AAE}"/>
              </a:ext>
            </a:extLst>
          </p:cNvPr>
          <p:cNvSpPr txBox="1"/>
          <p:nvPr/>
        </p:nvSpPr>
        <p:spPr>
          <a:xfrm>
            <a:off x="88912" y="1603033"/>
            <a:ext cx="6535823" cy="1392689"/>
          </a:xfrm>
          <a:prstGeom prst="rect">
            <a:avLst/>
          </a:prstGeom>
          <a:solidFill>
            <a:srgbClr val="FF9900"/>
          </a:solidFill>
          <a:ln>
            <a:solidFill>
              <a:schemeClr val="bg1"/>
            </a:solidFill>
            <a:prstDash val="das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50" b="1" i="0" dirty="0">
                <a:solidFill>
                  <a:schemeClr val="bg1"/>
                </a:solidFill>
                <a:effectLst/>
                <a:latin typeface="ff-meta-serif-web-pro"/>
              </a:rPr>
              <a:t>As per the </a:t>
            </a:r>
            <a:r>
              <a:rPr lang="en-US" sz="1450" b="1" dirty="0">
                <a:solidFill>
                  <a:schemeClr val="bg1"/>
                </a:solidFill>
                <a:latin typeface="ff-meta-serif-web-pro"/>
              </a:rPr>
              <a:t>mandate issued by </a:t>
            </a:r>
            <a:r>
              <a:rPr lang="en-US" sz="1450" b="1" i="0" dirty="0">
                <a:solidFill>
                  <a:schemeClr val="bg1"/>
                </a:solidFill>
                <a:effectLst/>
                <a:latin typeface="ff-meta-serif-web-pro"/>
              </a:rPr>
              <a:t>Central Ministry of Commerce and Industry (MoCI)</a:t>
            </a:r>
          </a:p>
          <a:p>
            <a:endParaRPr lang="en-US" sz="1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</a:t>
            </a:r>
            <a:r>
              <a:rPr lang="en-US" sz="1400" i="0" dirty="0">
                <a:solidFill>
                  <a:schemeClr val="bg1"/>
                </a:solidFill>
                <a:effectLst/>
              </a:rPr>
              <a:t>nly 50% can comprise the actual factory area</a:t>
            </a:r>
            <a:endParaRPr lang="en-US" sz="1400" i="0" dirty="0">
              <a:solidFill>
                <a:schemeClr val="bg1"/>
              </a:solidFill>
              <a:effectLst/>
              <a:latin typeface="ff-meta-serif-web-pr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ff-meta-serif-web-pro"/>
              </a:rPr>
              <a:t>10.5% of the total core industrial area suitable for on-site solar power. </a:t>
            </a:r>
            <a:r>
              <a:rPr lang="en-US" sz="1400" i="0" dirty="0">
                <a:solidFill>
                  <a:schemeClr val="bg1"/>
                </a:solidFill>
                <a:effectLst/>
                <a:latin typeface="ff-meta-serif-web-pro"/>
              </a:rPr>
              <a:t>Exploiting </a:t>
            </a:r>
            <a:r>
              <a:rPr lang="en-US" sz="1400" dirty="0">
                <a:solidFill>
                  <a:schemeClr val="bg1"/>
                </a:solidFill>
                <a:latin typeface="ff-meta-serif-web-pro"/>
              </a:rPr>
              <a:t>this potential for commercial purpose, </a:t>
            </a:r>
            <a:r>
              <a:rPr lang="en-US" sz="1400" i="0" dirty="0">
                <a:solidFill>
                  <a:schemeClr val="bg1"/>
                </a:solidFill>
                <a:effectLst/>
                <a:latin typeface="ff-meta-serif-web-pro"/>
              </a:rPr>
              <a:t>could support at least 33% of the</a:t>
            </a:r>
          </a:p>
          <a:p>
            <a:r>
              <a:rPr lang="en-US" sz="1400" i="0" dirty="0">
                <a:solidFill>
                  <a:schemeClr val="bg1"/>
                </a:solidFill>
                <a:effectLst/>
                <a:latin typeface="ff-meta-serif-web-pro"/>
              </a:rPr>
              <a:t>       nation’s 40 GW rooftop solar target.</a:t>
            </a:r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62A97C0-A7A7-B763-4767-F60529EA2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13" y="3087197"/>
            <a:ext cx="6530552" cy="3429904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E3EEF92-76B4-C70F-92FA-409C0C8055E2}"/>
              </a:ext>
            </a:extLst>
          </p:cNvPr>
          <p:cNvGrpSpPr/>
          <p:nvPr/>
        </p:nvGrpSpPr>
        <p:grpSpPr>
          <a:xfrm>
            <a:off x="1992656" y="774441"/>
            <a:ext cx="2565117" cy="533258"/>
            <a:chOff x="6721139" y="774441"/>
            <a:chExt cx="2565117" cy="53325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BC1DC85-8F04-3A17-BA2A-A39B729BF2D1}"/>
                </a:ext>
              </a:extLst>
            </p:cNvPr>
            <p:cNvSpPr/>
            <p:nvPr/>
          </p:nvSpPr>
          <p:spPr>
            <a:xfrm>
              <a:off x="6721139" y="774441"/>
              <a:ext cx="682227" cy="533258"/>
            </a:xfrm>
            <a:prstGeom prst="rect">
              <a:avLst/>
            </a:prstGeom>
            <a:solidFill>
              <a:srgbClr val="FF9900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chemeClr val="bg1"/>
                  </a:solidFill>
                </a:rPr>
                <a:t>15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64F560-68A8-A2A0-D90C-492E58340E40}"/>
                </a:ext>
              </a:extLst>
            </p:cNvPr>
            <p:cNvSpPr txBox="1"/>
            <p:nvPr/>
          </p:nvSpPr>
          <p:spPr>
            <a:xfrm>
              <a:off x="7425007" y="784479"/>
              <a:ext cx="18612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O</a:t>
              </a:r>
              <a:r>
                <a:rPr lang="en-US" sz="1200" b="1" i="0" dirty="0">
                  <a:solidFill>
                    <a:schemeClr val="bg1"/>
                  </a:solidFill>
                  <a:effectLst/>
                </a:rPr>
                <a:t>perating SEZs in Eastern &amp; North-Eastern India </a:t>
              </a:r>
              <a:endParaRPr lang="en-IN" sz="12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43F2A2B1-B3FA-E085-B6CA-9466CC04B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984" y="566869"/>
            <a:ext cx="5201496" cy="282406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B5BC631-2A22-2E72-1B1B-18FCEF9E19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876972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3822FEAF-EDCD-9290-CA12-733BF553F234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The top 3 industries which ONergy should focus in the new territories are: Manufacturing, IT &amp; Iron and Steel.</a:t>
            </a:r>
          </a:p>
        </p:txBody>
      </p:sp>
    </p:spTree>
    <p:extLst>
      <p:ext uri="{BB962C8B-B14F-4D97-AF65-F5344CB8AC3E}">
        <p14:creationId xmlns:p14="http://schemas.microsoft.com/office/powerpoint/2010/main" val="116737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ED1D7AD6-1734-1694-61E3-36053773DEB1}"/>
              </a:ext>
            </a:extLst>
          </p:cNvPr>
          <p:cNvSpPr/>
          <p:nvPr/>
        </p:nvSpPr>
        <p:spPr>
          <a:xfrm>
            <a:off x="73523" y="563602"/>
            <a:ext cx="12044953" cy="3351461"/>
          </a:xfrm>
          <a:prstGeom prst="rect">
            <a:avLst/>
          </a:prstGeom>
          <a:solidFill>
            <a:srgbClr val="4472C4"/>
          </a:solidFill>
          <a:ln>
            <a:solidFill>
              <a:schemeClr val="tx1"/>
            </a:solidFill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FCE26E-5E53-7C1D-D568-B67D5E37B96C}"/>
              </a:ext>
            </a:extLst>
          </p:cNvPr>
          <p:cNvSpPr/>
          <p:nvPr/>
        </p:nvSpPr>
        <p:spPr>
          <a:xfrm>
            <a:off x="317239" y="789640"/>
            <a:ext cx="776449" cy="300636"/>
          </a:xfrm>
          <a:prstGeom prst="rect">
            <a:avLst/>
          </a:prstGeom>
          <a:solidFill>
            <a:srgbClr val="FF9900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2008</a:t>
            </a:r>
          </a:p>
        </p:txBody>
      </p:sp>
      <p:pic>
        <p:nvPicPr>
          <p:cNvPr id="5122" name="Picture 2" descr="Goal ">
            <a:extLst>
              <a:ext uri="{FF2B5EF4-FFF2-40B4-BE49-F238E27FC236}">
                <a16:creationId xmlns:a16="http://schemas.microsoft.com/office/drawing/2014/main" id="{1AFEECA9-E016-F6DA-8C47-69100CF53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326" y="1356304"/>
            <a:ext cx="709036" cy="709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5621C2-B638-0F5E-96DD-1D0566A86CD4}"/>
              </a:ext>
            </a:extLst>
          </p:cNvPr>
          <p:cNvSpPr txBox="1"/>
          <p:nvPr/>
        </p:nvSpPr>
        <p:spPr>
          <a:xfrm>
            <a:off x="1211668" y="1297658"/>
            <a:ext cx="5862433" cy="830997"/>
          </a:xfrm>
          <a:prstGeom prst="rect">
            <a:avLst/>
          </a:prstGeom>
          <a:noFill/>
          <a:ln w="12700">
            <a:solidFill>
              <a:schemeClr val="bg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The Solar Mission </a:t>
            </a:r>
            <a:r>
              <a:rPr lang="en-US" sz="1200" dirty="0">
                <a:solidFill>
                  <a:schemeClr val="bg1"/>
                </a:solidFill>
              </a:rPr>
              <a:t>stressed on need for widespread diffusion of RE technologies:</a:t>
            </a:r>
          </a:p>
          <a:p>
            <a:r>
              <a:rPr lang="en-US" sz="1200" dirty="0">
                <a:solidFill>
                  <a:schemeClr val="bg1"/>
                </a:solidFill>
              </a:rPr>
              <a:t>to realize the opportunity for enhancing India's energy security,</a:t>
            </a:r>
          </a:p>
          <a:p>
            <a:r>
              <a:rPr lang="en-US" sz="1200" dirty="0">
                <a:solidFill>
                  <a:schemeClr val="bg1"/>
                </a:solidFill>
              </a:rPr>
              <a:t>reducing greenhouse gas (GHG) emissions,</a:t>
            </a:r>
          </a:p>
          <a:p>
            <a:r>
              <a:rPr lang="en-US" sz="1200" dirty="0">
                <a:solidFill>
                  <a:schemeClr val="bg1"/>
                </a:solidFill>
              </a:rPr>
              <a:t>by tapping the spread availability and potential of solar resources in the country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5124" name="Picture 4" descr="Target ">
            <a:extLst>
              <a:ext uri="{FF2B5EF4-FFF2-40B4-BE49-F238E27FC236}">
                <a16:creationId xmlns:a16="http://schemas.microsoft.com/office/drawing/2014/main" id="{0256A6C2-E5C8-D2FC-E6E7-F3CDCF42D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9506" y="656567"/>
            <a:ext cx="518439" cy="518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D8F2A8F-7666-7EEB-F6B3-9192759245AE}"/>
              </a:ext>
            </a:extLst>
          </p:cNvPr>
          <p:cNvSpPr txBox="1"/>
          <p:nvPr/>
        </p:nvSpPr>
        <p:spPr>
          <a:xfrm>
            <a:off x="8130258" y="724919"/>
            <a:ext cx="1866123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100 GW </a:t>
            </a:r>
          </a:p>
          <a:p>
            <a:r>
              <a:rPr lang="en-US" sz="1200" dirty="0">
                <a:solidFill>
                  <a:schemeClr val="bg1"/>
                </a:solidFill>
              </a:rPr>
              <a:t>solar installations by 2022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72CC89-B6C5-1F67-7A14-B81FB6DCC79E}"/>
              </a:ext>
            </a:extLst>
          </p:cNvPr>
          <p:cNvSpPr txBox="1"/>
          <p:nvPr/>
        </p:nvSpPr>
        <p:spPr>
          <a:xfrm>
            <a:off x="9996382" y="700681"/>
            <a:ext cx="990404" cy="503104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algn="ctr"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sz="1200" dirty="0"/>
              <a:t>40 GW </a:t>
            </a:r>
          </a:p>
          <a:p>
            <a:pPr algn="l"/>
            <a:r>
              <a:rPr lang="en-US" sz="1200" dirty="0"/>
              <a:t>rooftop solar</a:t>
            </a:r>
            <a:endParaRPr lang="en-IN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998A2A-5F57-B5B6-E04C-241D43E57B2C}"/>
              </a:ext>
            </a:extLst>
          </p:cNvPr>
          <p:cNvSpPr txBox="1"/>
          <p:nvPr/>
        </p:nvSpPr>
        <p:spPr>
          <a:xfrm>
            <a:off x="8130257" y="1288443"/>
            <a:ext cx="3870429" cy="1015663"/>
          </a:xfrm>
          <a:prstGeom prst="rect">
            <a:avLst/>
          </a:prstGeom>
          <a:noFill/>
          <a:ln w="12700">
            <a:solidFill>
              <a:schemeClr val="bg1"/>
            </a:solidFill>
            <a:prstDash val="lgDash"/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National and state governments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Utilities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Investors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Developers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Private and public-sector organizations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5126" name="Picture 6" descr="Meeting ">
            <a:extLst>
              <a:ext uri="{FF2B5EF4-FFF2-40B4-BE49-F238E27FC236}">
                <a16:creationId xmlns:a16="http://schemas.microsoft.com/office/drawing/2014/main" id="{6EAF1B6B-3D76-788F-8688-1122C8D3C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4706" y="1512255"/>
            <a:ext cx="568037" cy="568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Initiative ">
            <a:extLst>
              <a:ext uri="{FF2B5EF4-FFF2-40B4-BE49-F238E27FC236}">
                <a16:creationId xmlns:a16="http://schemas.microsoft.com/office/drawing/2014/main" id="{6A467BFF-15BF-0E9F-FC93-CF1182B42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58" y="2465215"/>
            <a:ext cx="779940" cy="77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A2880E4-905B-3EFE-AAB5-F90FD536D911}"/>
              </a:ext>
            </a:extLst>
          </p:cNvPr>
          <p:cNvSpPr txBox="1"/>
          <p:nvPr/>
        </p:nvSpPr>
        <p:spPr>
          <a:xfrm>
            <a:off x="1211670" y="2279512"/>
            <a:ext cx="5862423" cy="1384995"/>
          </a:xfrm>
          <a:prstGeom prst="rect">
            <a:avLst/>
          </a:prstGeom>
          <a:noFill/>
          <a:ln w="12700">
            <a:solidFill>
              <a:schemeClr val="bg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· Capital subsidy as well as incentive-based schemes for residential and institutional consumers by the Ministry of New and Renewable Energy (MNRE)</a:t>
            </a:r>
          </a:p>
          <a:p>
            <a:r>
              <a:rPr lang="en-US" sz="1200" dirty="0">
                <a:solidFill>
                  <a:schemeClr val="bg1"/>
                </a:solidFill>
              </a:rPr>
              <a:t>· Net and Gross Metering Regulations for 29 states and seven union territories</a:t>
            </a:r>
          </a:p>
          <a:p>
            <a:r>
              <a:rPr lang="en-US" sz="1200" dirty="0">
                <a:solidFill>
                  <a:schemeClr val="bg1"/>
                </a:solidFill>
              </a:rPr>
              <a:t>· Streamlined interconnection guidelines for accommodating rooftop solar generation into the grid infrastructure by DISCOMs or utilities </a:t>
            </a:r>
          </a:p>
          <a:p>
            <a:r>
              <a:rPr lang="en-US" sz="1200" dirty="0">
                <a:solidFill>
                  <a:schemeClr val="bg1"/>
                </a:solidFill>
              </a:rPr>
              <a:t>· More than USD 1,470 million in concessional lines of credit has been raised by the government with assistance from MFIs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090477-7CAE-5D22-9F80-2B50CF1D3DDF}"/>
              </a:ext>
            </a:extLst>
          </p:cNvPr>
          <p:cNvSpPr txBox="1"/>
          <p:nvPr/>
        </p:nvSpPr>
        <p:spPr>
          <a:xfrm>
            <a:off x="8134792" y="2418560"/>
            <a:ext cx="3870434" cy="1200329"/>
          </a:xfrm>
          <a:prstGeom prst="rect">
            <a:avLst/>
          </a:prstGeom>
          <a:noFill/>
          <a:ln w="12700">
            <a:solidFill>
              <a:schemeClr val="bg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6GW</a:t>
            </a:r>
          </a:p>
          <a:p>
            <a:r>
              <a:rPr lang="en-US" sz="1200" dirty="0">
                <a:solidFill>
                  <a:schemeClr val="bg1"/>
                </a:solidFill>
              </a:rPr>
              <a:t>Potential of 6 GW of rooftop installations identified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500MW</a:t>
            </a:r>
          </a:p>
          <a:p>
            <a:r>
              <a:rPr lang="en-US" sz="1200" dirty="0">
                <a:solidFill>
                  <a:schemeClr val="bg1"/>
                </a:solidFill>
              </a:rPr>
              <a:t>Capacity initiated for tendering by Solar Energy Corporation of India (SECI)</a:t>
            </a:r>
          </a:p>
          <a:p>
            <a:r>
              <a:rPr lang="en-US" sz="1200" dirty="0">
                <a:solidFill>
                  <a:schemeClr val="bg1"/>
                </a:solidFill>
              </a:rPr>
              <a:t>Internal targets set by large PSUs like Indian Railways, IOCL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1026" name="Picture 2" descr="Identify ">
            <a:extLst>
              <a:ext uri="{FF2B5EF4-FFF2-40B4-BE49-F238E27FC236}">
                <a16:creationId xmlns:a16="http://schemas.microsoft.com/office/drawing/2014/main" id="{88A649FB-D834-883A-F9D2-F76E121C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5007" y="2676761"/>
            <a:ext cx="625211" cy="625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AB8F5398-C693-FA25-3909-CCA855827D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1346784"/>
              </p:ext>
            </p:extLst>
          </p:nvPr>
        </p:nvGraphicFramePr>
        <p:xfrm>
          <a:off x="89461" y="4024094"/>
          <a:ext cx="4952049" cy="245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731B76C1-3BA3-66B5-306B-F4CA8B56DA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0891725"/>
              </p:ext>
            </p:extLst>
          </p:nvPr>
        </p:nvGraphicFramePr>
        <p:xfrm>
          <a:off x="5178004" y="4024093"/>
          <a:ext cx="4096626" cy="24542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938CBA34-A975-CEB3-44DC-ACC3E8053C69}"/>
              </a:ext>
            </a:extLst>
          </p:cNvPr>
          <p:cNvGrpSpPr/>
          <p:nvPr/>
        </p:nvGrpSpPr>
        <p:grpSpPr>
          <a:xfrm>
            <a:off x="9411125" y="4013148"/>
            <a:ext cx="2716238" cy="2454288"/>
            <a:chOff x="9717821" y="3787296"/>
            <a:chExt cx="2496997" cy="2974349"/>
          </a:xfrm>
          <a:solidFill>
            <a:srgbClr val="FF9900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39097D1-2AB6-80D0-B7DA-26C1B6C20DA8}"/>
                </a:ext>
              </a:extLst>
            </p:cNvPr>
            <p:cNvSpPr/>
            <p:nvPr/>
          </p:nvSpPr>
          <p:spPr>
            <a:xfrm>
              <a:off x="9717821" y="3787296"/>
              <a:ext cx="2474177" cy="297434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069031A-0958-BDF3-2AFF-64745EC87D7D}"/>
                </a:ext>
              </a:extLst>
            </p:cNvPr>
            <p:cNvSpPr txBox="1"/>
            <p:nvPr/>
          </p:nvSpPr>
          <p:spPr>
            <a:xfrm>
              <a:off x="10317227" y="5130905"/>
              <a:ext cx="1897591" cy="15234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0" dirty="0">
                  <a:solidFill>
                    <a:schemeClr val="bg1"/>
                  </a:solidFill>
                  <a:effectLst/>
                </a:rPr>
                <a:t>Reduction in Overall project margins due to the rise in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chemeClr val="bg1"/>
                  </a:solidFill>
                  <a:effectLst/>
                </a:rPr>
                <a:t>component prices,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chemeClr val="bg1"/>
                  </a:solidFill>
                  <a:effectLst/>
                </a:rPr>
                <a:t>advent of basic customs duty (BCD),and 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b="0" i="0" dirty="0">
                  <a:solidFill>
                    <a:schemeClr val="bg1"/>
                  </a:solidFill>
                  <a:effectLst/>
                </a:rPr>
                <a:t>hike in goods and services tax (GST)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363181-F087-1B26-54E9-62C1C2283732}"/>
                </a:ext>
              </a:extLst>
            </p:cNvPr>
            <p:cNvSpPr txBox="1"/>
            <p:nvPr/>
          </p:nvSpPr>
          <p:spPr>
            <a:xfrm>
              <a:off x="10323523" y="3964164"/>
              <a:ext cx="1795378" cy="914097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chemeClr val="bg1"/>
                  </a:solidFill>
                </a:rPr>
                <a:t>17% </a:t>
              </a:r>
              <a:r>
                <a:rPr lang="en-US" sz="1200" dirty="0">
                  <a:solidFill>
                    <a:schemeClr val="bg1"/>
                  </a:solidFill>
                </a:rPr>
                <a:t>increase in A</a:t>
              </a:r>
              <a:r>
                <a:rPr lang="en-US" sz="1200" b="0" i="0" dirty="0">
                  <a:solidFill>
                    <a:schemeClr val="bg1"/>
                  </a:solidFill>
                  <a:effectLst/>
                </a:rPr>
                <a:t>verage cost of a rooftop solar system in FY22Q1 compared to the same period last year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pic>
          <p:nvPicPr>
            <p:cNvPr id="1028" name="Picture 4" descr="Crisis ">
              <a:extLst>
                <a:ext uri="{FF2B5EF4-FFF2-40B4-BE49-F238E27FC236}">
                  <a16:creationId xmlns:a16="http://schemas.microsoft.com/office/drawing/2014/main" id="{098B81B3-ADC7-D215-B535-1932690D7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53322" y="4172654"/>
              <a:ext cx="498658" cy="498658"/>
            </a:xfrm>
            <a:prstGeom prst="rect">
              <a:avLst/>
            </a:prstGeom>
            <a:grpFill/>
          </p:spPr>
        </p:pic>
        <p:pic>
          <p:nvPicPr>
            <p:cNvPr id="1030" name="Picture 6" descr="Rate ">
              <a:extLst>
                <a:ext uri="{FF2B5EF4-FFF2-40B4-BE49-F238E27FC236}">
                  <a16:creationId xmlns:a16="http://schemas.microsoft.com/office/drawing/2014/main" id="{219EEBFE-ACEA-A931-0140-A1D158B948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53322" y="5466699"/>
              <a:ext cx="498658" cy="498658"/>
            </a:xfrm>
            <a:prstGeom prst="rect">
              <a:avLst/>
            </a:prstGeom>
            <a:grpFill/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6DAFED4-B67B-D4CE-96EC-E2D0B5CEB8AE}"/>
                </a:ext>
              </a:extLst>
            </p:cNvPr>
            <p:cNvCxnSpPr>
              <a:cxnSpLocks/>
            </p:cNvCxnSpPr>
            <p:nvPr/>
          </p:nvCxnSpPr>
          <p:spPr>
            <a:xfrm>
              <a:off x="9932171" y="5050645"/>
              <a:ext cx="2067069" cy="0"/>
            </a:xfrm>
            <a:prstGeom prst="line">
              <a:avLst/>
            </a:prstGeom>
            <a:grpFill/>
            <a:ln w="19050">
              <a:solidFill>
                <a:schemeClr val="bg1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E945236-4712-2793-4B66-5E41A020272A}"/>
              </a:ext>
            </a:extLst>
          </p:cNvPr>
          <p:cNvCxnSpPr>
            <a:cxnSpLocks/>
          </p:cNvCxnSpPr>
          <p:nvPr/>
        </p:nvCxnSpPr>
        <p:spPr>
          <a:xfrm>
            <a:off x="7256712" y="696165"/>
            <a:ext cx="0" cy="292272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184595EC-F11E-D067-6629-95B0B83BF38B}"/>
              </a:ext>
            </a:extLst>
          </p:cNvPr>
          <p:cNvSpPr/>
          <p:nvPr/>
        </p:nvSpPr>
        <p:spPr>
          <a:xfrm>
            <a:off x="8134793" y="724919"/>
            <a:ext cx="1749436" cy="461268"/>
          </a:xfrm>
          <a:prstGeom prst="rect">
            <a:avLst/>
          </a:prstGeom>
          <a:noFill/>
          <a:ln w="19050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2A2F38-195B-5264-5272-92E8776483A6}"/>
              </a:ext>
            </a:extLst>
          </p:cNvPr>
          <p:cNvGrpSpPr/>
          <p:nvPr/>
        </p:nvGrpSpPr>
        <p:grpSpPr>
          <a:xfrm>
            <a:off x="1211668" y="709126"/>
            <a:ext cx="5862425" cy="461665"/>
            <a:chOff x="1340563" y="709126"/>
            <a:chExt cx="5299711" cy="461665"/>
          </a:xfrm>
          <a:noFill/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6FB44B-820D-4450-F1CE-0557A906155F}"/>
                </a:ext>
              </a:extLst>
            </p:cNvPr>
            <p:cNvSpPr txBox="1"/>
            <p:nvPr/>
          </p:nvSpPr>
          <p:spPr>
            <a:xfrm>
              <a:off x="1365445" y="709126"/>
              <a:ext cx="5274829" cy="461665"/>
            </a:xfrm>
            <a:prstGeom prst="rect">
              <a:avLst/>
            </a:prstGeom>
            <a:grpFill/>
            <a:ln w="12700">
              <a:noFill/>
              <a:prstDash val="lgDash"/>
            </a:ln>
          </p:spPr>
          <p:txBody>
            <a:bodyPr wrap="square">
              <a:spAutoFit/>
            </a:bodyPr>
            <a:lstStyle/>
            <a:p>
              <a:r>
                <a:rPr lang="en-IN" sz="1200" b="1" dirty="0">
                  <a:solidFill>
                    <a:schemeClr val="bg1"/>
                  </a:solidFill>
                </a:rPr>
                <a:t>Jawaharlal Nehru National Solar Mission (the Solar Mission) </a:t>
              </a:r>
              <a:r>
                <a:rPr lang="en-IN" sz="1200" dirty="0">
                  <a:solidFill>
                    <a:schemeClr val="bg1"/>
                  </a:solidFill>
                </a:rPr>
                <a:t>launched under </a:t>
              </a:r>
              <a:r>
                <a:rPr lang="en-US" sz="1200" dirty="0">
                  <a:solidFill>
                    <a:schemeClr val="bg1"/>
                  </a:solidFill>
                </a:rPr>
                <a:t>Government of India's National Action Plan on Climate Change (NAPCC)</a:t>
              </a:r>
              <a:endParaRPr lang="en-IN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8D38246-0D8B-0E05-1E25-7F8734D72AA1}"/>
                </a:ext>
              </a:extLst>
            </p:cNvPr>
            <p:cNvSpPr/>
            <p:nvPr/>
          </p:nvSpPr>
          <p:spPr>
            <a:xfrm>
              <a:off x="1340563" y="709126"/>
              <a:ext cx="5274829" cy="461665"/>
            </a:xfrm>
            <a:prstGeom prst="rect">
              <a:avLst/>
            </a:prstGeom>
            <a:grpFill/>
            <a:ln w="12700"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6194826F-AFEF-ED4A-9945-29A578E3BE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4044040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979BC416-AB4F-22BE-0006-3957DD5462FB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There is a market opportunity of 1.1 GW of RTS for ONergy in the Eastern and North-Eastern region whereas the cost of installation and margin have reduced.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889293-B9EB-F632-E8B1-7E0D22EC7125}"/>
              </a:ext>
            </a:extLst>
          </p:cNvPr>
          <p:cNvSpPr/>
          <p:nvPr/>
        </p:nvSpPr>
        <p:spPr>
          <a:xfrm>
            <a:off x="9408619" y="3939301"/>
            <a:ext cx="1322779" cy="229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Current Issues</a:t>
            </a:r>
          </a:p>
        </p:txBody>
      </p:sp>
    </p:spTree>
    <p:extLst>
      <p:ext uri="{BB962C8B-B14F-4D97-AF65-F5344CB8AC3E}">
        <p14:creationId xmlns:p14="http://schemas.microsoft.com/office/powerpoint/2010/main" val="3239197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762E214-5C97-86F6-AE16-70793ED22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618614"/>
              </p:ext>
            </p:extLst>
          </p:nvPr>
        </p:nvGraphicFramePr>
        <p:xfrm>
          <a:off x="4691268" y="1000323"/>
          <a:ext cx="7373818" cy="554109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68990">
                  <a:extLst>
                    <a:ext uri="{9D8B030D-6E8A-4147-A177-3AD203B41FA5}">
                      <a16:colId xmlns:a16="http://schemas.microsoft.com/office/drawing/2014/main" val="3519895899"/>
                    </a:ext>
                  </a:extLst>
                </a:gridCol>
                <a:gridCol w="668594">
                  <a:extLst>
                    <a:ext uri="{9D8B030D-6E8A-4147-A177-3AD203B41FA5}">
                      <a16:colId xmlns:a16="http://schemas.microsoft.com/office/drawing/2014/main" val="870297048"/>
                    </a:ext>
                  </a:extLst>
                </a:gridCol>
                <a:gridCol w="707922">
                  <a:extLst>
                    <a:ext uri="{9D8B030D-6E8A-4147-A177-3AD203B41FA5}">
                      <a16:colId xmlns:a16="http://schemas.microsoft.com/office/drawing/2014/main" val="2695658822"/>
                    </a:ext>
                  </a:extLst>
                </a:gridCol>
                <a:gridCol w="688258">
                  <a:extLst>
                    <a:ext uri="{9D8B030D-6E8A-4147-A177-3AD203B41FA5}">
                      <a16:colId xmlns:a16="http://schemas.microsoft.com/office/drawing/2014/main" val="3852607605"/>
                    </a:ext>
                  </a:extLst>
                </a:gridCol>
                <a:gridCol w="747252">
                  <a:extLst>
                    <a:ext uri="{9D8B030D-6E8A-4147-A177-3AD203B41FA5}">
                      <a16:colId xmlns:a16="http://schemas.microsoft.com/office/drawing/2014/main" val="3420682476"/>
                    </a:ext>
                  </a:extLst>
                </a:gridCol>
                <a:gridCol w="668593">
                  <a:extLst>
                    <a:ext uri="{9D8B030D-6E8A-4147-A177-3AD203B41FA5}">
                      <a16:colId xmlns:a16="http://schemas.microsoft.com/office/drawing/2014/main" val="3822674469"/>
                    </a:ext>
                  </a:extLst>
                </a:gridCol>
                <a:gridCol w="658762">
                  <a:extLst>
                    <a:ext uri="{9D8B030D-6E8A-4147-A177-3AD203B41FA5}">
                      <a16:colId xmlns:a16="http://schemas.microsoft.com/office/drawing/2014/main" val="2109871719"/>
                    </a:ext>
                  </a:extLst>
                </a:gridCol>
                <a:gridCol w="639096">
                  <a:extLst>
                    <a:ext uri="{9D8B030D-6E8A-4147-A177-3AD203B41FA5}">
                      <a16:colId xmlns:a16="http://schemas.microsoft.com/office/drawing/2014/main" val="1059850531"/>
                    </a:ext>
                  </a:extLst>
                </a:gridCol>
                <a:gridCol w="2026351">
                  <a:extLst>
                    <a:ext uri="{9D8B030D-6E8A-4147-A177-3AD203B41FA5}">
                      <a16:colId xmlns:a16="http://schemas.microsoft.com/office/drawing/2014/main" val="2667941175"/>
                    </a:ext>
                  </a:extLst>
                </a:gridCol>
              </a:tblGrid>
              <a:tr h="57392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Ranking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States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SARAL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Robustness of policy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Effectiveness of policy work/implementation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Investment climate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Consumer Experience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Business ecosystem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States Conduciveness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48848627"/>
                  </a:ext>
                </a:extLst>
              </a:tr>
              <a:tr h="57392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Odisha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39.44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46.23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45.94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Orissa is actively looking to invest in ensuring that power 24x7 is delivered and solar has been looked at as an important prospect in that regard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3423182"/>
                  </a:ext>
                </a:extLst>
              </a:tr>
              <a:tr h="33227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Assam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29.00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62.50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13.04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40.61</a:t>
                      </a:r>
                    </a:p>
                    <a:p>
                      <a:pPr algn="ctr"/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7326667"/>
                  </a:ext>
                </a:extLst>
              </a:tr>
              <a:tr h="57332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Sikkim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22.80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13.75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34.04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30.72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By the year 2022, Sikkim has been set a target of </a:t>
                      </a:r>
                      <a:r>
                        <a:rPr lang="en-US" sz="800" b="1" dirty="0">
                          <a:solidFill>
                            <a:srgbClr val="5D5D5D"/>
                          </a:solidFill>
                          <a:effectLst/>
                        </a:rPr>
                        <a:t>86MW of grid-connected power by the year 2022</a:t>
                      </a:r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 as a part of the National Solar Mission. 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92857224"/>
                  </a:ext>
                </a:extLst>
              </a:tr>
              <a:tr h="332273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Arunachal Pradesh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21.58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33.33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24.82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32.94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8513625"/>
                  </a:ext>
                </a:extLst>
              </a:tr>
              <a:tr h="694024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Nagaland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13.73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27.75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24.29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  <a:effectLst/>
                        </a:rPr>
                        <a:t>Po</a:t>
                      </a:r>
                      <a:r>
                        <a:rPr lang="en-US" sz="800" b="0" kern="1200" dirty="0">
                          <a:solidFill>
                            <a:srgbClr val="5D5D5D"/>
                          </a:solidFill>
                          <a:effectLst/>
                        </a:rPr>
                        <a:t>wer Purchase Agreement (PPA) being signed with a Hyderabad-based independent power producing company to set up the first greenfield solar power project of 20MW in the state.</a:t>
                      </a:r>
                      <a:endParaRPr lang="en-US" sz="800" b="0" i="0" kern="1200" dirty="0">
                        <a:solidFill>
                          <a:srgbClr val="5D5D5D"/>
                        </a:solidFill>
                        <a:effectLst/>
                        <a:latin typeface="dinregular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9833955"/>
                  </a:ext>
                </a:extLst>
              </a:tr>
              <a:tr h="57332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Mizoram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20.28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16.24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31.99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13.64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rgbClr val="5D5D5D"/>
                          </a:solidFill>
                          <a:effectLst/>
                        </a:rPr>
                        <a:t>Net metering policy</a:t>
                      </a:r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 has been put in place so that any consumer who wants to go solar can feed back extra power they generate to the grid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9694366"/>
                  </a:ext>
                </a:extLst>
              </a:tr>
              <a:tr h="48141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West Bengal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13.10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14.72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17.35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44.88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A new policy is expected in West Bengal to the state achieve the target of </a:t>
                      </a:r>
                      <a:r>
                        <a:rPr lang="en-US" sz="800" b="1" dirty="0">
                          <a:solidFill>
                            <a:srgbClr val="5D5D5D"/>
                          </a:solidFill>
                          <a:effectLst/>
                        </a:rPr>
                        <a:t>4,500MW of solar power</a:t>
                      </a:r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 by the year 2022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6926340"/>
                  </a:ext>
                </a:extLst>
              </a:tr>
              <a:tr h="57392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Manipur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19.31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6.16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33.39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18.23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Net Metering laws have been formulated and put in place. Also planning for newer rooftop plant is in order to push </a:t>
                      </a:r>
                      <a:r>
                        <a:rPr lang="en-US" sz="800" b="1" dirty="0">
                          <a:solidFill>
                            <a:srgbClr val="5D5D5D"/>
                          </a:solidFill>
                          <a:effectLst/>
                        </a:rPr>
                        <a:t>rooftop solar in Manipur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751842"/>
                  </a:ext>
                </a:extLst>
              </a:tr>
              <a:tr h="21144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Tripura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17.66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27.08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3.64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24.33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27.52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7087344"/>
                  </a:ext>
                </a:extLst>
              </a:tr>
              <a:tr h="573925"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Meghalaya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17.59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25.00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3.75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11.80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28.21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20.93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Power has been proposed to setup</a:t>
                      </a:r>
                      <a:r>
                        <a:rPr lang="en-US" sz="800" b="1" dirty="0">
                          <a:solidFill>
                            <a:srgbClr val="5D5D5D"/>
                          </a:solidFill>
                          <a:effectLst/>
                        </a:rPr>
                        <a:t> a 10MW </a:t>
                      </a:r>
                      <a:r>
                        <a:rPr lang="en-US" sz="800" b="0" dirty="0">
                          <a:solidFill>
                            <a:srgbClr val="5D5D5D"/>
                          </a:solidFill>
                          <a:effectLst/>
                        </a:rPr>
                        <a:t>which would see an investment of 150 crores. The location for the plant has been set at Ri-Bhoi and West Garo hills..</a:t>
                      </a:r>
                      <a:endParaRPr 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3825938"/>
                  </a:ext>
                </a:extLst>
              </a:tr>
            </a:tbl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5C73C229-B08F-CC9B-304E-1B499EDFBC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9528374"/>
              </p:ext>
            </p:extLst>
          </p:nvPr>
        </p:nvGraphicFramePr>
        <p:xfrm>
          <a:off x="126913" y="4023372"/>
          <a:ext cx="4411863" cy="2470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DE5FE5F7-DF14-434C-D9DA-F24FCBD7014C}"/>
              </a:ext>
            </a:extLst>
          </p:cNvPr>
          <p:cNvGrpSpPr/>
          <p:nvPr/>
        </p:nvGrpSpPr>
        <p:grpSpPr>
          <a:xfrm>
            <a:off x="79319" y="1798320"/>
            <a:ext cx="4459460" cy="2112018"/>
            <a:chOff x="141513" y="990595"/>
            <a:chExt cx="6240350" cy="347248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35867B2-1D1B-3027-FEF4-479261D22B55}"/>
                </a:ext>
              </a:extLst>
            </p:cNvPr>
            <p:cNvSpPr/>
            <p:nvPr/>
          </p:nvSpPr>
          <p:spPr>
            <a:xfrm>
              <a:off x="141513" y="990595"/>
              <a:ext cx="6240350" cy="643235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600" b="1" dirty="0"/>
                <a:t>Robustness of policy framework</a:t>
              </a:r>
              <a:endParaRPr lang="en-IN" sz="1600" dirty="0"/>
            </a:p>
            <a:p>
              <a:endParaRPr lang="en-US" sz="1600" dirty="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1B3B230-5239-AB39-1294-D0C5F7E3A8A9}"/>
                </a:ext>
              </a:extLst>
            </p:cNvPr>
            <p:cNvSpPr/>
            <p:nvPr/>
          </p:nvSpPr>
          <p:spPr>
            <a:xfrm>
              <a:off x="141513" y="1703280"/>
              <a:ext cx="6240350" cy="643236"/>
            </a:xfrm>
            <a:prstGeom prst="roundRect">
              <a:avLst/>
            </a:prstGeom>
            <a:solidFill>
              <a:srgbClr val="FF9900"/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600" b="1" dirty="0"/>
                <a:t>Effectiveness of policy support implementation</a:t>
              </a:r>
              <a:endParaRPr lang="en-US" sz="1600" dirty="0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16C6EA0-DB73-A653-2AF0-42C3F4D5083D}"/>
                </a:ext>
              </a:extLst>
            </p:cNvPr>
            <p:cNvSpPr/>
            <p:nvPr/>
          </p:nvSpPr>
          <p:spPr>
            <a:xfrm>
              <a:off x="141513" y="2398206"/>
              <a:ext cx="6240350" cy="643236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lvl="0"/>
              <a:r>
                <a:rPr lang="en-US" sz="1600" b="1" dirty="0"/>
                <a:t>Investment climate</a:t>
              </a:r>
              <a:endParaRPr lang="en-US" sz="1600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6653183D-2518-D49E-A05A-B623FF70E117}"/>
                </a:ext>
              </a:extLst>
            </p:cNvPr>
            <p:cNvSpPr/>
            <p:nvPr/>
          </p:nvSpPr>
          <p:spPr>
            <a:xfrm>
              <a:off x="141513" y="3103935"/>
              <a:ext cx="6240350" cy="643236"/>
            </a:xfrm>
            <a:prstGeom prst="roundRect">
              <a:avLst/>
            </a:prstGeom>
            <a:solidFill>
              <a:srgbClr val="FF9900"/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600" b="1" dirty="0"/>
                <a:t>Consumer experience</a:t>
              </a:r>
              <a:endParaRPr lang="en-US" sz="1600" dirty="0"/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5EE7DA8-0E74-343F-6332-634C4432B086}"/>
                </a:ext>
              </a:extLst>
            </p:cNvPr>
            <p:cNvSpPr/>
            <p:nvPr/>
          </p:nvSpPr>
          <p:spPr>
            <a:xfrm>
              <a:off x="141513" y="3819845"/>
              <a:ext cx="6240350" cy="643236"/>
            </a:xfrm>
            <a:prstGeom prst="roundRect">
              <a:avLst/>
            </a:prstGeom>
            <a:solidFill>
              <a:srgbClr val="4472C4"/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600" b="1" dirty="0"/>
                <a:t>Business ecosystem</a:t>
              </a:r>
              <a:endParaRPr lang="en-US" sz="1600" dirty="0"/>
            </a:p>
            <a:p>
              <a:endParaRPr lang="en-IN" sz="1600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2EC3480-AB2F-C516-B335-8FA590331159}"/>
              </a:ext>
            </a:extLst>
          </p:cNvPr>
          <p:cNvSpPr txBox="1"/>
          <p:nvPr/>
        </p:nvSpPr>
        <p:spPr>
          <a:xfrm>
            <a:off x="4691268" y="592512"/>
            <a:ext cx="7373818" cy="33855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Evaluating policy conduciveness using SARAL state scores across five broad drivers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7F354E-31A7-6C46-83DC-169F098F52AE}"/>
              </a:ext>
            </a:extLst>
          </p:cNvPr>
          <p:cNvSpPr txBox="1"/>
          <p:nvPr/>
        </p:nvSpPr>
        <p:spPr>
          <a:xfrm>
            <a:off x="79319" y="562754"/>
            <a:ext cx="4459457" cy="954107"/>
          </a:xfrm>
          <a:prstGeom prst="rect">
            <a:avLst/>
          </a:prstGeom>
          <a:noFill/>
          <a:ln w="19050">
            <a:solidFill>
              <a:srgbClr val="0070C0"/>
            </a:solidFill>
            <a:prstDash val="dash"/>
          </a:ln>
        </p:spPr>
        <p:txBody>
          <a:bodyPr wrap="square" rtlCol="0">
            <a:spAutoFit/>
          </a:bodyPr>
          <a:lstStyle/>
          <a:p>
            <a:pPr rtl="0">
              <a:spcBef>
                <a:spcPts val="110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222222"/>
                </a:solidFill>
                <a:effectLst/>
              </a:rPr>
              <a:t>State Rooftop Solar Attractiveness Index(SARAL) </a:t>
            </a:r>
            <a:r>
              <a:rPr lang="en-US" sz="1400" dirty="0">
                <a:solidFill>
                  <a:srgbClr val="222222"/>
                </a:solidFill>
              </a:rPr>
              <a:t>is a tool 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</a:rPr>
              <a:t>which ranks all states based</a:t>
            </a:r>
            <a:r>
              <a:rPr lang="en-US" sz="1400" dirty="0"/>
              <a:t> 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</a:rPr>
              <a:t>on </a:t>
            </a:r>
            <a:r>
              <a:rPr lang="en-US" sz="1400" dirty="0">
                <a:solidFill>
                  <a:srgbClr val="222222"/>
                </a:solidFill>
              </a:rPr>
              <a:t>the below mentioned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</a:rPr>
              <a:t> set of parameters that are critical </a:t>
            </a:r>
            <a:r>
              <a:rPr lang="en-US" sz="1400" dirty="0">
                <a:solidFill>
                  <a:srgbClr val="222222"/>
                </a:solidFill>
              </a:rPr>
              <a:t>for</a:t>
            </a:r>
            <a:r>
              <a:rPr lang="en-US" sz="1400" dirty="0"/>
              <a:t> </a:t>
            </a:r>
            <a:r>
              <a:rPr lang="en-US" sz="1400" b="0" i="0" u="none" strike="noStrike" dirty="0">
                <a:solidFill>
                  <a:srgbClr val="222222"/>
                </a:solidFill>
                <a:effectLst/>
              </a:rPr>
              <a:t>accelerating rooftop solar deployment</a:t>
            </a:r>
            <a:endParaRPr lang="en-US" sz="14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8346F13-7DF1-D374-A04F-82560B9F4A38}"/>
              </a:ext>
            </a:extLst>
          </p:cNvPr>
          <p:cNvCxnSpPr>
            <a:cxnSpLocks/>
            <a:stCxn id="45" idx="2"/>
            <a:endCxn id="31" idx="0"/>
          </p:cNvCxnSpPr>
          <p:nvPr/>
        </p:nvCxnSpPr>
        <p:spPr>
          <a:xfrm>
            <a:off x="2309048" y="1516861"/>
            <a:ext cx="1" cy="281459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0A13C46-B476-F524-F421-48266C98DB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8002076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A443CF0C-FE13-0A2E-1ED4-F2311FBB6AEE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The top 3 states where policies are most conducive to ONergy are: Odisha, Assam &amp; Sikkim.</a:t>
            </a:r>
          </a:p>
        </p:txBody>
      </p:sp>
    </p:spTree>
    <p:extLst>
      <p:ext uri="{BB962C8B-B14F-4D97-AF65-F5344CB8AC3E}">
        <p14:creationId xmlns:p14="http://schemas.microsoft.com/office/powerpoint/2010/main" val="2564584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657AE1-622E-44F8-25CE-DB4452BBD079}"/>
              </a:ext>
            </a:extLst>
          </p:cNvPr>
          <p:cNvGrpSpPr/>
          <p:nvPr/>
        </p:nvGrpSpPr>
        <p:grpSpPr>
          <a:xfrm>
            <a:off x="143845" y="523993"/>
            <a:ext cx="11899640" cy="1511559"/>
            <a:chOff x="146180" y="681135"/>
            <a:chExt cx="11899640" cy="1511559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1F9006E-6C18-FD65-E983-8F19B2087FA7}"/>
                </a:ext>
              </a:extLst>
            </p:cNvPr>
            <p:cNvSpPr/>
            <p:nvPr/>
          </p:nvSpPr>
          <p:spPr>
            <a:xfrm>
              <a:off x="146180" y="681135"/>
              <a:ext cx="11899640" cy="1511559"/>
            </a:xfrm>
            <a:prstGeom prst="roundRect">
              <a:avLst/>
            </a:prstGeom>
            <a:solidFill>
              <a:srgbClr val="4472C4"/>
            </a:solidFill>
            <a:ln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0B6AF88-1E34-B6C5-E18C-756FBADCBAB8}"/>
                </a:ext>
              </a:extLst>
            </p:cNvPr>
            <p:cNvGrpSpPr/>
            <p:nvPr/>
          </p:nvGrpSpPr>
          <p:grpSpPr>
            <a:xfrm>
              <a:off x="542744" y="812029"/>
              <a:ext cx="2796337" cy="537330"/>
              <a:chOff x="217286" y="783024"/>
              <a:chExt cx="2796337" cy="537330"/>
            </a:xfrm>
          </p:grpSpPr>
          <p:pic>
            <p:nvPicPr>
              <p:cNvPr id="2052" name="Picture 4" descr="Crisis ">
                <a:extLst>
                  <a:ext uri="{FF2B5EF4-FFF2-40B4-BE49-F238E27FC236}">
                    <a16:creationId xmlns:a16="http://schemas.microsoft.com/office/drawing/2014/main" id="{5AEAD983-536B-2157-991B-1E1272D1AC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7286" y="783024"/>
                <a:ext cx="458820" cy="4588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721B13-8D25-18DD-5EEA-4B2AA7515A6C}"/>
                  </a:ext>
                </a:extLst>
              </p:cNvPr>
              <p:cNvSpPr txBox="1"/>
              <p:nvPr/>
            </p:nvSpPr>
            <p:spPr>
              <a:xfrm>
                <a:off x="624986" y="797134"/>
                <a:ext cx="238863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High upfront and transaction costs</a:t>
                </a:r>
                <a:endParaRPr lang="en-IN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DDE2056-4070-3C54-D620-024757B68D02}"/>
                </a:ext>
              </a:extLst>
            </p:cNvPr>
            <p:cNvGrpSpPr/>
            <p:nvPr/>
          </p:nvGrpSpPr>
          <p:grpSpPr>
            <a:xfrm>
              <a:off x="4723910" y="775645"/>
              <a:ext cx="2617994" cy="523220"/>
              <a:chOff x="3116425" y="755841"/>
              <a:chExt cx="2617994" cy="523220"/>
            </a:xfrm>
          </p:grpSpPr>
          <p:pic>
            <p:nvPicPr>
              <p:cNvPr id="2054" name="Picture 6" descr="Risk ">
                <a:extLst>
                  <a:ext uri="{FF2B5EF4-FFF2-40B4-BE49-F238E27FC236}">
                    <a16:creationId xmlns:a16="http://schemas.microsoft.com/office/drawing/2014/main" id="{04960D26-69BD-D44C-449B-097BEB4910B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16425" y="798391"/>
                <a:ext cx="458820" cy="4588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2ACA95E-E901-A60C-C288-FA4188862983}"/>
                  </a:ext>
                </a:extLst>
              </p:cNvPr>
              <p:cNvSpPr txBox="1"/>
              <p:nvPr/>
            </p:nvSpPr>
            <p:spPr>
              <a:xfrm>
                <a:off x="3598552" y="755841"/>
                <a:ext cx="213586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High off-taker risks (in RESCOs) </a:t>
                </a:r>
                <a:endParaRPr lang="en-IN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CFE3203-2C6C-7A06-AA5D-29D2B08670D5}"/>
                </a:ext>
              </a:extLst>
            </p:cNvPr>
            <p:cNvGrpSpPr/>
            <p:nvPr/>
          </p:nvGrpSpPr>
          <p:grpSpPr>
            <a:xfrm>
              <a:off x="8746885" y="782723"/>
              <a:ext cx="2949420" cy="460525"/>
              <a:chOff x="6585721" y="815354"/>
              <a:chExt cx="2949420" cy="460525"/>
            </a:xfrm>
          </p:grpSpPr>
          <p:pic>
            <p:nvPicPr>
              <p:cNvPr id="2056" name="Picture 8" descr="Risk ">
                <a:extLst>
                  <a:ext uri="{FF2B5EF4-FFF2-40B4-BE49-F238E27FC236}">
                    <a16:creationId xmlns:a16="http://schemas.microsoft.com/office/drawing/2014/main" id="{59D49DE8-4E31-704E-7993-EC7AA6E679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5721" y="858770"/>
                <a:ext cx="417109" cy="4171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8B194E-7027-EBB6-18D4-B57C2553FC4F}"/>
                  </a:ext>
                </a:extLst>
              </p:cNvPr>
              <p:cNvSpPr txBox="1"/>
              <p:nvPr/>
            </p:nvSpPr>
            <p:spPr>
              <a:xfrm>
                <a:off x="7146505" y="815354"/>
                <a:ext cx="238863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Performance risks in  CAPEX</a:t>
                </a:r>
                <a:endParaRPr lang="en-IN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3193B63-0934-0EA5-4BCB-22FC99E6A9A4}"/>
                </a:ext>
              </a:extLst>
            </p:cNvPr>
            <p:cNvGrpSpPr/>
            <p:nvPr/>
          </p:nvGrpSpPr>
          <p:grpSpPr>
            <a:xfrm>
              <a:off x="454898" y="1456946"/>
              <a:ext cx="3529304" cy="659649"/>
              <a:chOff x="195166" y="1510299"/>
              <a:chExt cx="3529304" cy="659649"/>
            </a:xfrm>
          </p:grpSpPr>
          <p:pic>
            <p:nvPicPr>
              <p:cNvPr id="2058" name="Picture 10" descr="Credit limit ">
                <a:extLst>
                  <a:ext uri="{FF2B5EF4-FFF2-40B4-BE49-F238E27FC236}">
                    <a16:creationId xmlns:a16="http://schemas.microsoft.com/office/drawing/2014/main" id="{D12E492D-5F90-763A-43E7-269EE53F2E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5166" y="1510299"/>
                <a:ext cx="552062" cy="55206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590028-7BAC-3B5A-D131-B74276034E65}"/>
                  </a:ext>
                </a:extLst>
              </p:cNvPr>
              <p:cNvSpPr txBox="1"/>
              <p:nvPr/>
            </p:nvSpPr>
            <p:spPr>
              <a:xfrm>
                <a:off x="697464" y="1646728"/>
                <a:ext cx="30270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Limited availability of finance from mainstream financial institutions</a:t>
                </a:r>
                <a:endParaRPr lang="en-IN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BCA9B72-1FE2-5413-1B45-FF4967775B2A}"/>
                </a:ext>
              </a:extLst>
            </p:cNvPr>
            <p:cNvGrpSpPr/>
            <p:nvPr/>
          </p:nvGrpSpPr>
          <p:grpSpPr>
            <a:xfrm>
              <a:off x="4744109" y="1588108"/>
              <a:ext cx="3491686" cy="523220"/>
              <a:chOff x="3280567" y="1719010"/>
              <a:chExt cx="3491686" cy="52322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2EC8035-E8AB-D1C2-AD57-CE85B022BD65}"/>
                  </a:ext>
                </a:extLst>
              </p:cNvPr>
              <p:cNvGrpSpPr/>
              <p:nvPr/>
            </p:nvGrpSpPr>
            <p:grpSpPr>
              <a:xfrm>
                <a:off x="3280567" y="1739937"/>
                <a:ext cx="531863" cy="501875"/>
                <a:chOff x="3280567" y="1739937"/>
                <a:chExt cx="531863" cy="501875"/>
              </a:xfrm>
            </p:grpSpPr>
            <p:pic>
              <p:nvPicPr>
                <p:cNvPr id="2060" name="Picture 12" descr="Standard ">
                  <a:extLst>
                    <a:ext uri="{FF2B5EF4-FFF2-40B4-BE49-F238E27FC236}">
                      <a16:creationId xmlns:a16="http://schemas.microsoft.com/office/drawing/2014/main" id="{2238E7E7-FB55-8DC2-0348-47DF7E1D3F2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280567" y="1739937"/>
                  <a:ext cx="501875" cy="5018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2" name="Picture 14" descr="Warning ">
                  <a:extLst>
                    <a:ext uri="{FF2B5EF4-FFF2-40B4-BE49-F238E27FC236}">
                      <a16:creationId xmlns:a16="http://schemas.microsoft.com/office/drawing/2014/main" id="{235B50C1-7C44-FE6F-FD64-3B295887A1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535431" y="1860463"/>
                  <a:ext cx="276999" cy="2769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4252E52-18E1-11DB-FDD2-BE5CE7E8C97D}"/>
                  </a:ext>
                </a:extLst>
              </p:cNvPr>
              <p:cNvSpPr txBox="1"/>
              <p:nvPr/>
            </p:nvSpPr>
            <p:spPr>
              <a:xfrm>
                <a:off x="3745247" y="1719010"/>
                <a:ext cx="30270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Lack of standardized procurement processes</a:t>
                </a:r>
                <a:endParaRPr lang="en-IN" sz="14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D6CA530-1741-DC02-60B0-8BED47FD6573}"/>
                </a:ext>
              </a:extLst>
            </p:cNvPr>
            <p:cNvGrpSpPr/>
            <p:nvPr/>
          </p:nvGrpSpPr>
          <p:grpSpPr>
            <a:xfrm>
              <a:off x="8746885" y="1466335"/>
              <a:ext cx="3061447" cy="526705"/>
              <a:chOff x="6823829" y="1671027"/>
              <a:chExt cx="3061447" cy="526705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E4B5623-B938-CE00-C55B-7356AECD53ED}"/>
                  </a:ext>
                </a:extLst>
              </p:cNvPr>
              <p:cNvGrpSpPr/>
              <p:nvPr/>
            </p:nvGrpSpPr>
            <p:grpSpPr>
              <a:xfrm>
                <a:off x="6823829" y="1671027"/>
                <a:ext cx="527936" cy="526705"/>
                <a:chOff x="6823829" y="1671027"/>
                <a:chExt cx="527936" cy="526705"/>
              </a:xfrm>
            </p:grpSpPr>
            <p:pic>
              <p:nvPicPr>
                <p:cNvPr id="2064" name="Picture 16" descr="Brand awareness ">
                  <a:extLst>
                    <a:ext uri="{FF2B5EF4-FFF2-40B4-BE49-F238E27FC236}">
                      <a16:creationId xmlns:a16="http://schemas.microsoft.com/office/drawing/2014/main" id="{82090564-A2B2-FF56-FF2F-64E4BA63C97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23829" y="1671027"/>
                  <a:ext cx="501875" cy="5018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5" name="Picture 14" descr="Warning ">
                  <a:extLst>
                    <a:ext uri="{FF2B5EF4-FFF2-40B4-BE49-F238E27FC236}">
                      <a16:creationId xmlns:a16="http://schemas.microsoft.com/office/drawing/2014/main" id="{397009A2-2541-E931-A090-F0BB0BF7197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074766" y="1920733"/>
                  <a:ext cx="276999" cy="2769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D052FA3-0C52-8902-313E-E74FEE311B8D}"/>
                  </a:ext>
                </a:extLst>
              </p:cNvPr>
              <p:cNvSpPr txBox="1"/>
              <p:nvPr/>
            </p:nvSpPr>
            <p:spPr>
              <a:xfrm>
                <a:off x="7383413" y="1792800"/>
                <a:ext cx="250186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Limited consumer awareness</a:t>
                </a:r>
                <a:endParaRPr lang="en-IN" sz="14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0E1B7D2-2CB5-6533-A485-BD6BF54127D1}"/>
              </a:ext>
            </a:extLst>
          </p:cNvPr>
          <p:cNvGrpSpPr/>
          <p:nvPr/>
        </p:nvGrpSpPr>
        <p:grpSpPr>
          <a:xfrm>
            <a:off x="143845" y="2106737"/>
            <a:ext cx="11918716" cy="4389970"/>
            <a:chOff x="143845" y="2283604"/>
            <a:chExt cx="11918716" cy="438997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7F29AD65-70B4-AEF9-AE52-CC9973A88FEF}"/>
                </a:ext>
              </a:extLst>
            </p:cNvPr>
            <p:cNvGrpSpPr/>
            <p:nvPr/>
          </p:nvGrpSpPr>
          <p:grpSpPr>
            <a:xfrm>
              <a:off x="146180" y="2636701"/>
              <a:ext cx="6179975" cy="565197"/>
              <a:chOff x="146180" y="2618265"/>
              <a:chExt cx="6179975" cy="565197"/>
            </a:xfrm>
            <a:solidFill>
              <a:srgbClr val="FF990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26F57CC-EBAB-2030-6EEF-9A875A71E16E}"/>
                  </a:ext>
                </a:extLst>
              </p:cNvPr>
              <p:cNvSpPr/>
              <p:nvPr/>
            </p:nvSpPr>
            <p:spPr>
              <a:xfrm>
                <a:off x="146180" y="2623625"/>
                <a:ext cx="520571" cy="559837"/>
              </a:xfrm>
              <a:prstGeom prst="ellipse">
                <a:avLst/>
              </a:prstGeom>
              <a:solidFill>
                <a:srgbClr val="4472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BDE1314F-673D-3B8D-96CE-EE5C891DF43A}"/>
                  </a:ext>
                </a:extLst>
              </p:cNvPr>
              <p:cNvSpPr/>
              <p:nvPr/>
            </p:nvSpPr>
            <p:spPr>
              <a:xfrm>
                <a:off x="743405" y="2618265"/>
                <a:ext cx="5582750" cy="55983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solidFill>
                      <a:schemeClr val="bg1"/>
                    </a:solidFill>
                  </a:rPr>
                  <a:t>High degree of customization required for each project.</a:t>
                </a:r>
                <a:endParaRPr lang="en-IN" sz="16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1BB71D0-AA86-8C51-1045-0CE5B77FA3B8}"/>
                </a:ext>
              </a:extLst>
            </p:cNvPr>
            <p:cNvGrpSpPr/>
            <p:nvPr/>
          </p:nvGrpSpPr>
          <p:grpSpPr>
            <a:xfrm>
              <a:off x="143846" y="3338913"/>
              <a:ext cx="6182309" cy="726066"/>
              <a:chOff x="143846" y="2609629"/>
              <a:chExt cx="6182309" cy="726066"/>
            </a:xfrm>
            <a:solidFill>
              <a:srgbClr val="FF990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48E4E1E-CCA2-5308-10A5-B6B29257662D}"/>
                  </a:ext>
                </a:extLst>
              </p:cNvPr>
              <p:cNvSpPr/>
              <p:nvPr/>
            </p:nvSpPr>
            <p:spPr>
              <a:xfrm>
                <a:off x="143846" y="2691570"/>
                <a:ext cx="520571" cy="559837"/>
              </a:xfrm>
              <a:prstGeom prst="ellipse">
                <a:avLst/>
              </a:prstGeom>
              <a:solidFill>
                <a:srgbClr val="4472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B72DED3-6FCC-C273-40AF-813741223AF4}"/>
                  </a:ext>
                </a:extLst>
              </p:cNvPr>
              <p:cNvSpPr/>
              <p:nvPr/>
            </p:nvSpPr>
            <p:spPr>
              <a:xfrm>
                <a:off x="743405" y="2609629"/>
                <a:ext cx="5582750" cy="72606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solidFill>
                      <a:schemeClr val="bg1"/>
                    </a:solidFill>
                  </a:rPr>
                  <a:t>Several mainstream banks have yet to develop their capacity to analyze and finance RTS.</a:t>
                </a:r>
                <a:endParaRPr lang="en-IN" sz="16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27CD0DA-9BAF-2BA3-A09F-F59EC5A24922}"/>
                </a:ext>
              </a:extLst>
            </p:cNvPr>
            <p:cNvGrpSpPr/>
            <p:nvPr/>
          </p:nvGrpSpPr>
          <p:grpSpPr>
            <a:xfrm>
              <a:off x="146179" y="4207354"/>
              <a:ext cx="6179976" cy="726066"/>
              <a:chOff x="146179" y="4188918"/>
              <a:chExt cx="6179976" cy="726066"/>
            </a:xfrm>
            <a:solidFill>
              <a:srgbClr val="FF990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CD73B4A-36B7-B7A7-7B01-1183FADC76E6}"/>
                  </a:ext>
                </a:extLst>
              </p:cNvPr>
              <p:cNvSpPr/>
              <p:nvPr/>
            </p:nvSpPr>
            <p:spPr>
              <a:xfrm>
                <a:off x="743405" y="4188918"/>
                <a:ext cx="5582750" cy="72606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solidFill>
                      <a:schemeClr val="bg1"/>
                    </a:solidFill>
                  </a:rPr>
                  <a:t>Considerable issues relating to contractual and payment risk for the developer</a:t>
                </a:r>
                <a:endParaRPr lang="en-I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6A02A20-1CE7-6BF3-D9FA-0B9431D2C5FE}"/>
                  </a:ext>
                </a:extLst>
              </p:cNvPr>
              <p:cNvSpPr/>
              <p:nvPr/>
            </p:nvSpPr>
            <p:spPr>
              <a:xfrm>
                <a:off x="146179" y="4272032"/>
                <a:ext cx="520571" cy="559837"/>
              </a:xfrm>
              <a:prstGeom prst="ellipse">
                <a:avLst/>
              </a:prstGeom>
              <a:solidFill>
                <a:srgbClr val="4472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6FC22119-879F-7D1E-C82C-D14A6E0FB2AC}"/>
                </a:ext>
              </a:extLst>
            </p:cNvPr>
            <p:cNvGrpSpPr/>
            <p:nvPr/>
          </p:nvGrpSpPr>
          <p:grpSpPr>
            <a:xfrm>
              <a:off x="143845" y="5945409"/>
              <a:ext cx="6182310" cy="726066"/>
              <a:chOff x="143845" y="5948610"/>
              <a:chExt cx="6182310" cy="726066"/>
            </a:xfrm>
            <a:solidFill>
              <a:srgbClr val="FF9900"/>
            </a:solidFill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190CFD61-8F51-5318-3CA4-536E91916164}"/>
                  </a:ext>
                </a:extLst>
              </p:cNvPr>
              <p:cNvSpPr/>
              <p:nvPr/>
            </p:nvSpPr>
            <p:spPr>
              <a:xfrm>
                <a:off x="143845" y="6031724"/>
                <a:ext cx="520571" cy="559837"/>
              </a:xfrm>
              <a:prstGeom prst="ellipse">
                <a:avLst/>
              </a:prstGeom>
              <a:solidFill>
                <a:srgbClr val="4472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08D575F-0C86-6242-7040-8C70A4A2BF2D}"/>
                  </a:ext>
                </a:extLst>
              </p:cNvPr>
              <p:cNvSpPr/>
              <p:nvPr/>
            </p:nvSpPr>
            <p:spPr>
              <a:xfrm>
                <a:off x="743405" y="5948610"/>
                <a:ext cx="5582750" cy="72606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solidFill>
                      <a:schemeClr val="bg1"/>
                    </a:solidFill>
                  </a:rPr>
                  <a:t>Lack of reliable agencies that certify installations</a:t>
                </a:r>
                <a:endParaRPr lang="en-IN" sz="16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567175F-4AF3-00DB-B639-8BA9D034F237}"/>
                </a:ext>
              </a:extLst>
            </p:cNvPr>
            <p:cNvSpPr/>
            <p:nvPr/>
          </p:nvSpPr>
          <p:spPr>
            <a:xfrm>
              <a:off x="143845" y="2283604"/>
              <a:ext cx="6182310" cy="214909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Challenges faced by Developers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5E1F266-FF46-2D30-5379-70B23175536E}"/>
                </a:ext>
              </a:extLst>
            </p:cNvPr>
            <p:cNvSpPr/>
            <p:nvPr/>
          </p:nvSpPr>
          <p:spPr>
            <a:xfrm>
              <a:off x="6479811" y="2286750"/>
              <a:ext cx="5566009" cy="211763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</a:rPr>
                <a:t>Challenges faced by Utilities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65CD2C5-855D-E66F-4397-E31DD6C6464F}"/>
                </a:ext>
              </a:extLst>
            </p:cNvPr>
            <p:cNvSpPr/>
            <p:nvPr/>
          </p:nvSpPr>
          <p:spPr>
            <a:xfrm>
              <a:off x="6479811" y="2638800"/>
              <a:ext cx="5582750" cy="559837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Consumers are now evolving to self-generating prosumers who can distribute energy to others directly or through the grid.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E0F2EB4-EEDF-A39F-563F-DF6B5B4FEC4C}"/>
                </a:ext>
              </a:extLst>
            </p:cNvPr>
            <p:cNvSpPr/>
            <p:nvPr/>
          </p:nvSpPr>
          <p:spPr>
            <a:xfrm>
              <a:off x="6479811" y="3341012"/>
              <a:ext cx="5582750" cy="72606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Rapidly falling costs of renewable energy have led to potential loss of high value customers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0F438A4-2AFC-1252-E519-E5BC737D6BE5}"/>
                </a:ext>
              </a:extLst>
            </p:cNvPr>
            <p:cNvSpPr/>
            <p:nvPr/>
          </p:nvSpPr>
          <p:spPr>
            <a:xfrm>
              <a:off x="6479811" y="4209453"/>
              <a:ext cx="5582750" cy="72606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Low appetite for rate increases by consumers, grid maintenance, modernization, resiliency and security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E107678-852D-4F48-2E18-FD0A00541433}"/>
                </a:ext>
              </a:extLst>
            </p:cNvPr>
            <p:cNvSpPr/>
            <p:nvPr/>
          </p:nvSpPr>
          <p:spPr>
            <a:xfrm>
              <a:off x="6479811" y="5947508"/>
              <a:ext cx="5582750" cy="72606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Awareness of RTS within utility staff is minimal. There is also a lack of standardized interconnection processes.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263EFD7F-C396-33C2-7E03-D59FAF6C5BBB}"/>
                </a:ext>
              </a:extLst>
            </p:cNvPr>
            <p:cNvSpPr/>
            <p:nvPr/>
          </p:nvSpPr>
          <p:spPr>
            <a:xfrm>
              <a:off x="726664" y="5079969"/>
              <a:ext cx="5582750" cy="72606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FIs are unwilling to lend for smaller scale customers with poor credit, hence a vast majority of customers get excluded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5C14743-8027-42F3-05CB-7F14525AE5EF}"/>
                </a:ext>
              </a:extLst>
            </p:cNvPr>
            <p:cNvSpPr/>
            <p:nvPr/>
          </p:nvSpPr>
          <p:spPr>
            <a:xfrm>
              <a:off x="6463070" y="5082068"/>
              <a:ext cx="5582750" cy="726066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1" dirty="0">
                  <a:solidFill>
                    <a:schemeClr val="bg1"/>
                  </a:solidFill>
                </a:rPr>
                <a:t>Large-scale incorporation of new types of demands on their networks, adding to the technical &amp; business model challenges. </a:t>
              </a:r>
              <a:endParaRPr lang="en-IN" sz="16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9" name="Diagram 48">
            <a:extLst>
              <a:ext uri="{FF2B5EF4-FFF2-40B4-BE49-F238E27FC236}">
                <a16:creationId xmlns:a16="http://schemas.microsoft.com/office/drawing/2014/main" id="{1516EAF5-34CA-CDAD-2606-B86F91734D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5492718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50" name="Rectangle 49">
            <a:extLst>
              <a:ext uri="{FF2B5EF4-FFF2-40B4-BE49-F238E27FC236}">
                <a16:creationId xmlns:a16="http://schemas.microsoft.com/office/drawing/2014/main" id="{60287757-82E2-BBF8-DD20-8C3B24230D2D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Lending ecosystem and dwindling costs in RE might pose major challenges for ONergy during implementation of their business model.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A0A20E2-DD4E-BBE2-6A7B-C8F510B1D475}"/>
              </a:ext>
            </a:extLst>
          </p:cNvPr>
          <p:cNvSpPr/>
          <p:nvPr/>
        </p:nvSpPr>
        <p:spPr>
          <a:xfrm>
            <a:off x="143844" y="4980509"/>
            <a:ext cx="520571" cy="559837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37472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3124B2-AB5C-8419-E91E-6DBE0D23C42F}"/>
              </a:ext>
            </a:extLst>
          </p:cNvPr>
          <p:cNvSpPr txBox="1"/>
          <p:nvPr/>
        </p:nvSpPr>
        <p:spPr>
          <a:xfrm>
            <a:off x="205897" y="512740"/>
            <a:ext cx="7162800" cy="307777"/>
          </a:xfrm>
          <a:prstGeom prst="rect">
            <a:avLst/>
          </a:prstGeom>
          <a:solidFill>
            <a:srgbClr val="2E75B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Proposed flow for ONergy to execute an effective marketing strategy for the new markets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9C6439-9A63-4B16-1DFD-FD14497510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3630068"/>
              </p:ext>
            </p:extLst>
          </p:nvPr>
        </p:nvGraphicFramePr>
        <p:xfrm>
          <a:off x="205897" y="895014"/>
          <a:ext cx="7162800" cy="3232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B12116F-DA71-8EFC-C110-EFEF4CC01CFA}"/>
              </a:ext>
            </a:extLst>
          </p:cNvPr>
          <p:cNvSpPr txBox="1"/>
          <p:nvPr/>
        </p:nvSpPr>
        <p:spPr>
          <a:xfrm>
            <a:off x="205897" y="4324549"/>
            <a:ext cx="7162800" cy="307777"/>
          </a:xfrm>
          <a:prstGeom prst="rect">
            <a:avLst/>
          </a:prstGeom>
          <a:solidFill>
            <a:srgbClr val="2E75B6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Mandatory Checkboxes before implementing any marketing strategy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3D8A6A0-F12F-BD7A-6D1E-37076B08FBE0}"/>
              </a:ext>
            </a:extLst>
          </p:cNvPr>
          <p:cNvGrpSpPr/>
          <p:nvPr/>
        </p:nvGrpSpPr>
        <p:grpSpPr>
          <a:xfrm>
            <a:off x="205897" y="4632326"/>
            <a:ext cx="7162800" cy="1869440"/>
            <a:chOff x="205898" y="4916294"/>
            <a:chExt cx="7162800" cy="1869440"/>
          </a:xfrm>
        </p:grpSpPr>
        <p:graphicFrame>
          <p:nvGraphicFramePr>
            <p:cNvPr id="8" name="Diagram 7">
              <a:extLst>
                <a:ext uri="{FF2B5EF4-FFF2-40B4-BE49-F238E27FC236}">
                  <a16:creationId xmlns:a16="http://schemas.microsoft.com/office/drawing/2014/main" id="{C66E8DEB-C9A4-B0DE-E1E5-64E3069A58B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24012449"/>
                </p:ext>
              </p:extLst>
            </p:nvPr>
          </p:nvGraphicFramePr>
          <p:xfrm>
            <a:off x="205898" y="4916294"/>
            <a:ext cx="7162800" cy="186944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pic>
          <p:nvPicPr>
            <p:cNvPr id="7" name="Graphic 6" descr="Checkbox Checked with solid fill">
              <a:extLst>
                <a:ext uri="{FF2B5EF4-FFF2-40B4-BE49-F238E27FC236}">
                  <a16:creationId xmlns:a16="http://schemas.microsoft.com/office/drawing/2014/main" id="{9AF89591-899A-67E0-7540-AFEA5618E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36314" y="5051335"/>
              <a:ext cx="459110" cy="459110"/>
            </a:xfrm>
            <a:prstGeom prst="rect">
              <a:avLst/>
            </a:prstGeom>
            <a:effectLst/>
          </p:spPr>
        </p:pic>
        <p:pic>
          <p:nvPicPr>
            <p:cNvPr id="9" name="Graphic 8" descr="Checkbox Checked with solid fill">
              <a:extLst>
                <a:ext uri="{FF2B5EF4-FFF2-40B4-BE49-F238E27FC236}">
                  <a16:creationId xmlns:a16="http://schemas.microsoft.com/office/drawing/2014/main" id="{9D0EED35-343D-EC87-E355-182900BAF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78705" y="5610774"/>
              <a:ext cx="459110" cy="459110"/>
            </a:xfrm>
            <a:prstGeom prst="rect">
              <a:avLst/>
            </a:prstGeom>
            <a:effectLst/>
          </p:spPr>
        </p:pic>
        <p:pic>
          <p:nvPicPr>
            <p:cNvPr id="10" name="Graphic 9" descr="Checkbox Checked with solid fill">
              <a:extLst>
                <a:ext uri="{FF2B5EF4-FFF2-40B4-BE49-F238E27FC236}">
                  <a16:creationId xmlns:a16="http://schemas.microsoft.com/office/drawing/2014/main" id="{BA52D0E5-80B2-EF94-E352-ADFCE78E2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6154" y="6177204"/>
              <a:ext cx="459110" cy="459110"/>
            </a:xfrm>
            <a:prstGeom prst="rect">
              <a:avLst/>
            </a:prstGeom>
            <a:effectLst/>
          </p:spPr>
        </p:pic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798239-1299-A270-3470-34AB0EC50DCE}"/>
              </a:ext>
            </a:extLst>
          </p:cNvPr>
          <p:cNvCxnSpPr>
            <a:cxnSpLocks/>
          </p:cNvCxnSpPr>
          <p:nvPr/>
        </p:nvCxnSpPr>
        <p:spPr>
          <a:xfrm>
            <a:off x="7589520" y="515035"/>
            <a:ext cx="0" cy="6090511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13C73-BD34-5A63-9272-6D8D96435593}"/>
              </a:ext>
            </a:extLst>
          </p:cNvPr>
          <p:cNvSpPr txBox="1"/>
          <p:nvPr/>
        </p:nvSpPr>
        <p:spPr>
          <a:xfrm>
            <a:off x="7807364" y="512739"/>
            <a:ext cx="4175756" cy="307777"/>
          </a:xfrm>
          <a:prstGeom prst="rect">
            <a:avLst/>
          </a:prstGeom>
          <a:solidFill>
            <a:srgbClr val="4472C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Marketing strategies for different stages of the funnel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41871D-B01C-34AC-D301-01A3178DB282}"/>
              </a:ext>
            </a:extLst>
          </p:cNvPr>
          <p:cNvSpPr/>
          <p:nvPr/>
        </p:nvSpPr>
        <p:spPr>
          <a:xfrm>
            <a:off x="7807362" y="1106004"/>
            <a:ext cx="4175758" cy="849085"/>
          </a:xfrm>
          <a:prstGeom prst="roundRect">
            <a:avLst/>
          </a:prstGeom>
          <a:solidFill>
            <a:srgbClr val="4472C4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200" b="1" dirty="0"/>
              <a:t>Awareness – </a:t>
            </a:r>
            <a:r>
              <a:rPr lang="en-IN" sz="1200" dirty="0"/>
              <a:t>Targeted cold emails and tele calling referring to client’s pain points, Quora/Reddit answers, Social media marketing, Case studies/testimonials on website and Participation in solar energy summits/seminars</a:t>
            </a:r>
          </a:p>
          <a:p>
            <a:endParaRPr lang="en-US" sz="12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D690351-8424-C0BC-2821-AC8CD5231058}"/>
              </a:ext>
            </a:extLst>
          </p:cNvPr>
          <p:cNvSpPr/>
          <p:nvPr/>
        </p:nvSpPr>
        <p:spPr>
          <a:xfrm>
            <a:off x="7807362" y="2046156"/>
            <a:ext cx="4175758" cy="849085"/>
          </a:xfrm>
          <a:prstGeom prst="roundRect">
            <a:avLst/>
          </a:prstGeom>
          <a:solidFill>
            <a:srgbClr val="FF99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200" b="1" dirty="0"/>
              <a:t>Interest – </a:t>
            </a:r>
            <a:r>
              <a:rPr lang="en-IN" sz="1200" dirty="0"/>
              <a:t>Sending content related to rooftop solar panels (not the product), organizing guest seminars and inviting prospects there, Focus on FAQ pages and newsletters</a:t>
            </a:r>
          </a:p>
          <a:p>
            <a:endParaRPr lang="en-US" sz="12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25395F-F9EA-4849-7C6F-EF6B170C41DF}"/>
              </a:ext>
            </a:extLst>
          </p:cNvPr>
          <p:cNvSpPr/>
          <p:nvPr/>
        </p:nvSpPr>
        <p:spPr>
          <a:xfrm>
            <a:off x="7807362" y="3005812"/>
            <a:ext cx="4175758" cy="84908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200" b="1" dirty="0"/>
              <a:t>Evaluation – SPIN framework questions </a:t>
            </a:r>
            <a:r>
              <a:rPr lang="en-IN" sz="1200" dirty="0"/>
              <a:t>(Situation, Problem, Implication and Need Pay off) to understand more about the lead, Video testimonials, Emphasize on Trust badges and Product comparison</a:t>
            </a:r>
          </a:p>
          <a:p>
            <a:endParaRPr lang="en-US" sz="1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622D15-21C2-2C6B-DD17-4B09368FCA96}"/>
              </a:ext>
            </a:extLst>
          </p:cNvPr>
          <p:cNvSpPr/>
          <p:nvPr/>
        </p:nvSpPr>
        <p:spPr>
          <a:xfrm>
            <a:off x="7807362" y="3953783"/>
            <a:ext cx="4175758" cy="849085"/>
          </a:xfrm>
          <a:prstGeom prst="roundRect">
            <a:avLst/>
          </a:prstGeom>
          <a:solidFill>
            <a:srgbClr val="FF99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200" b="1" dirty="0"/>
              <a:t>Engagement – </a:t>
            </a:r>
            <a:r>
              <a:rPr lang="en-IN" sz="1200" dirty="0"/>
              <a:t>Product tour or walkthrough, Live demo, Engaging content on benefits of solar rooftop and why our product is best through Emails, Personalization and Special discounts</a:t>
            </a:r>
          </a:p>
          <a:p>
            <a:endParaRPr lang="en-US" sz="12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B882D9-C9A1-FD89-8871-9D57A055A61F}"/>
              </a:ext>
            </a:extLst>
          </p:cNvPr>
          <p:cNvSpPr/>
          <p:nvPr/>
        </p:nvSpPr>
        <p:spPr>
          <a:xfrm>
            <a:off x="7807362" y="4945398"/>
            <a:ext cx="4175758" cy="681897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200" b="1" dirty="0"/>
              <a:t>Purchase – </a:t>
            </a:r>
            <a:r>
              <a:rPr lang="en-IN" sz="1200" dirty="0"/>
              <a:t>Professional implementation, Proper paperwork and last but not the least service assurance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AAD9C3-2081-76B7-F683-12C9826BBD7D}"/>
              </a:ext>
            </a:extLst>
          </p:cNvPr>
          <p:cNvSpPr/>
          <p:nvPr/>
        </p:nvSpPr>
        <p:spPr>
          <a:xfrm>
            <a:off x="7810342" y="5737866"/>
            <a:ext cx="4175758" cy="681896"/>
          </a:xfrm>
          <a:prstGeom prst="roundRect">
            <a:avLst/>
          </a:prstGeom>
          <a:solidFill>
            <a:srgbClr val="FF990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200" b="1" dirty="0"/>
              <a:t>After Sales Service – </a:t>
            </a:r>
            <a:r>
              <a:rPr lang="en-IN" sz="1200" dirty="0"/>
              <a:t>Most of the companies overlook this stage but it is most important to have word of mouth, repeat sales and brand name</a:t>
            </a:r>
            <a:endParaRPr lang="en-IN" sz="1200" b="1" dirty="0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29B6ACCE-5F57-73C2-2620-C12AB6ECFD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2615986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5C45A5B-0F79-AB91-CC2C-968D7F22E2BD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ONergy should focus mainly on 3 pillars of the marketing mix: Product for quality assurance, Price for the current market nature and Process to maintain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36894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8D4B4272-183A-7BCF-9AE4-C155C89EC275}"/>
              </a:ext>
            </a:extLst>
          </p:cNvPr>
          <p:cNvSpPr txBox="1"/>
          <p:nvPr/>
        </p:nvSpPr>
        <p:spPr>
          <a:xfrm>
            <a:off x="44350" y="405896"/>
            <a:ext cx="12066785" cy="4308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100" dirty="0"/>
              <a:t>Utility-driven business models can play a transformative role in development of India's rooftop solar market, by increasing its participation in deployment of RTS by adopting a facilitation or investment-based approach, hence helping the country achieve its solar energy targets. Suggested 4 utility-centered models:</a:t>
            </a:r>
            <a:endParaRPr lang="en-IN" sz="1100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A3AD4F-529C-9B2E-EBD3-6F867ABF20EC}"/>
              </a:ext>
            </a:extLst>
          </p:cNvPr>
          <p:cNvGrpSpPr/>
          <p:nvPr/>
        </p:nvGrpSpPr>
        <p:grpSpPr>
          <a:xfrm>
            <a:off x="193460" y="3747802"/>
            <a:ext cx="5555169" cy="1387868"/>
            <a:chOff x="182765" y="4048117"/>
            <a:chExt cx="3951123" cy="1334105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56AF86CD-0E90-86C0-9331-1036B75BA8A9}"/>
                </a:ext>
              </a:extLst>
            </p:cNvPr>
            <p:cNvSpPr/>
            <p:nvPr/>
          </p:nvSpPr>
          <p:spPr>
            <a:xfrm>
              <a:off x="1263736" y="4576080"/>
              <a:ext cx="806245" cy="27817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Mandate for Vendor Selection</a:t>
              </a: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D685F98-7817-8544-C42B-F22DC537B26C}"/>
                </a:ext>
              </a:extLst>
            </p:cNvPr>
            <p:cNvSpPr/>
            <p:nvPr/>
          </p:nvSpPr>
          <p:spPr>
            <a:xfrm>
              <a:off x="1794389" y="4048117"/>
              <a:ext cx="806245" cy="278179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Utility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9311CB38-19C4-B5A3-64CF-2EEFC39E0EF8}"/>
                </a:ext>
              </a:extLst>
            </p:cNvPr>
            <p:cNvSpPr/>
            <p:nvPr/>
          </p:nvSpPr>
          <p:spPr>
            <a:xfrm>
              <a:off x="3327643" y="4048117"/>
              <a:ext cx="806245" cy="27817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Facilitation Fee</a:t>
              </a: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D043C65B-5DC0-E3D4-B85F-0CD76AE1919A}"/>
                </a:ext>
              </a:extLst>
            </p:cNvPr>
            <p:cNvSpPr/>
            <p:nvPr/>
          </p:nvSpPr>
          <p:spPr>
            <a:xfrm>
              <a:off x="3327643" y="4576081"/>
              <a:ext cx="806245" cy="27817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Vendors</a:t>
              </a: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A67AA2B0-8BA7-FFEA-CE73-7D3B82F42300}"/>
                </a:ext>
              </a:extLst>
            </p:cNvPr>
            <p:cNvSpPr/>
            <p:nvPr/>
          </p:nvSpPr>
          <p:spPr>
            <a:xfrm>
              <a:off x="2246672" y="4576081"/>
              <a:ext cx="806245" cy="27817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Facilitation Agreement</a:t>
              </a: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36AC07D-65A7-2823-6293-16EF09193421}"/>
                </a:ext>
              </a:extLst>
            </p:cNvPr>
            <p:cNvSpPr/>
            <p:nvPr/>
          </p:nvSpPr>
          <p:spPr>
            <a:xfrm>
              <a:off x="182765" y="4576079"/>
              <a:ext cx="806245" cy="27817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Consumers</a:t>
              </a:r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B13D4E63-9D00-8BD0-9BBA-DBD506C56457}"/>
                </a:ext>
              </a:extLst>
            </p:cNvPr>
            <p:cNvSpPr/>
            <p:nvPr/>
          </p:nvSpPr>
          <p:spPr>
            <a:xfrm>
              <a:off x="1849046" y="5104043"/>
              <a:ext cx="806245" cy="27817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EPC Agreement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DDA74E2-3533-2742-6972-500DAA334A6F}"/>
                </a:ext>
              </a:extLst>
            </p:cNvPr>
            <p:cNvCxnSpPr>
              <a:stCxn id="75" idx="3"/>
              <a:endCxn id="76" idx="1"/>
            </p:cNvCxnSpPr>
            <p:nvPr/>
          </p:nvCxnSpPr>
          <p:spPr>
            <a:xfrm>
              <a:off x="2600634" y="4187207"/>
              <a:ext cx="72700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AF1D537-259F-344F-59A1-7B61917DC3F7}"/>
                </a:ext>
              </a:extLst>
            </p:cNvPr>
            <p:cNvCxnSpPr>
              <a:cxnSpLocks/>
            </p:cNvCxnSpPr>
            <p:nvPr/>
          </p:nvCxnSpPr>
          <p:spPr>
            <a:xfrm>
              <a:off x="2158184" y="4332080"/>
              <a:ext cx="0" cy="3717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BB0F63AA-6121-9905-99CA-C0F4141C4261}"/>
                </a:ext>
              </a:extLst>
            </p:cNvPr>
            <p:cNvCxnSpPr>
              <a:cxnSpLocks/>
            </p:cNvCxnSpPr>
            <p:nvPr/>
          </p:nvCxnSpPr>
          <p:spPr>
            <a:xfrm>
              <a:off x="2069981" y="4701856"/>
              <a:ext cx="17669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02BB4083-86CF-3CCA-70D7-1371B4BAE5C0}"/>
                </a:ext>
              </a:extLst>
            </p:cNvPr>
            <p:cNvCxnSpPr>
              <a:stCxn id="79" idx="3"/>
              <a:endCxn id="74" idx="1"/>
            </p:cNvCxnSpPr>
            <p:nvPr/>
          </p:nvCxnSpPr>
          <p:spPr>
            <a:xfrm>
              <a:off x="989010" y="4715169"/>
              <a:ext cx="274726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0D7BCDF-D087-5BD0-F9D8-188B6CEA7306}"/>
                </a:ext>
              </a:extLst>
            </p:cNvPr>
            <p:cNvCxnSpPr>
              <a:stCxn id="78" idx="3"/>
              <a:endCxn id="77" idx="1"/>
            </p:cNvCxnSpPr>
            <p:nvPr/>
          </p:nvCxnSpPr>
          <p:spPr>
            <a:xfrm>
              <a:off x="3052917" y="4715171"/>
              <a:ext cx="27472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470AD421-70E0-3249-B3D3-22C71D579D76}"/>
                </a:ext>
              </a:extLst>
            </p:cNvPr>
            <p:cNvCxnSpPr>
              <a:stCxn id="79" idx="2"/>
              <a:endCxn id="80" idx="1"/>
            </p:cNvCxnSpPr>
            <p:nvPr/>
          </p:nvCxnSpPr>
          <p:spPr>
            <a:xfrm rot="16200000" flipH="1">
              <a:off x="1023030" y="4417116"/>
              <a:ext cx="388875" cy="126315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: Elbow 86">
              <a:extLst>
                <a:ext uri="{FF2B5EF4-FFF2-40B4-BE49-F238E27FC236}">
                  <a16:creationId xmlns:a16="http://schemas.microsoft.com/office/drawing/2014/main" id="{7B6BFB84-C949-201A-143F-BC22C84B45ED}"/>
                </a:ext>
              </a:extLst>
            </p:cNvPr>
            <p:cNvCxnSpPr>
              <a:stCxn id="77" idx="2"/>
              <a:endCxn id="80" idx="3"/>
            </p:cNvCxnSpPr>
            <p:nvPr/>
          </p:nvCxnSpPr>
          <p:spPr>
            <a:xfrm rot="5400000">
              <a:off x="2998593" y="4510959"/>
              <a:ext cx="388873" cy="1075475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BEE5414-5948-76F2-6E33-16454877F379}"/>
              </a:ext>
            </a:extLst>
          </p:cNvPr>
          <p:cNvGrpSpPr/>
          <p:nvPr/>
        </p:nvGrpSpPr>
        <p:grpSpPr>
          <a:xfrm>
            <a:off x="6441005" y="3161291"/>
            <a:ext cx="5402754" cy="1700089"/>
            <a:chOff x="4968187" y="4071364"/>
            <a:chExt cx="3951989" cy="114381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040133E4-E6F7-3D57-82F4-3BA66E2A84E6}"/>
                </a:ext>
              </a:extLst>
            </p:cNvPr>
            <p:cNvGrpSpPr/>
            <p:nvPr/>
          </p:nvGrpSpPr>
          <p:grpSpPr>
            <a:xfrm>
              <a:off x="4969053" y="4071365"/>
              <a:ext cx="3951123" cy="1143816"/>
              <a:chOff x="182765" y="3910469"/>
              <a:chExt cx="3951123" cy="1143816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CBA25744-B700-FF2D-57F3-20E30E3992DC}"/>
                  </a:ext>
                </a:extLst>
              </p:cNvPr>
              <p:cNvSpPr/>
              <p:nvPr/>
            </p:nvSpPr>
            <p:spPr>
              <a:xfrm>
                <a:off x="1263736" y="4776105"/>
                <a:ext cx="806245" cy="27817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300" b="1" dirty="0"/>
                  <a:t>EPC Agreement</a:t>
                </a:r>
              </a:p>
            </p:txBody>
          </p:sp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F1679744-0596-EB6C-A636-00142E1F28C5}"/>
                  </a:ext>
                </a:extLst>
              </p:cNvPr>
              <p:cNvSpPr/>
              <p:nvPr/>
            </p:nvSpPr>
            <p:spPr>
              <a:xfrm>
                <a:off x="1794389" y="3910469"/>
                <a:ext cx="806245" cy="27817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300" b="1" dirty="0"/>
                  <a:t>Utility</a:t>
                </a:r>
              </a:p>
            </p:txBody>
          </p:sp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CAE1AB79-5036-789B-34D8-568F8F8B6490}"/>
                  </a:ext>
                </a:extLst>
              </p:cNvPr>
              <p:cNvSpPr/>
              <p:nvPr/>
            </p:nvSpPr>
            <p:spPr>
              <a:xfrm>
                <a:off x="3327643" y="3910469"/>
                <a:ext cx="806245" cy="27817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300" b="1" dirty="0"/>
                  <a:t>Vendor Payment</a:t>
                </a:r>
              </a:p>
            </p:txBody>
          </p:sp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A44FC280-5DAD-BE9C-63F4-2712AAC1F609}"/>
                  </a:ext>
                </a:extLst>
              </p:cNvPr>
              <p:cNvSpPr/>
              <p:nvPr/>
            </p:nvSpPr>
            <p:spPr>
              <a:xfrm>
                <a:off x="3327643" y="4776106"/>
                <a:ext cx="806245" cy="27817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300" b="1" dirty="0"/>
                  <a:t>Vendors</a:t>
                </a:r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4493A843-D4E5-09C5-C1B9-9A2B2FFD84AB}"/>
                  </a:ext>
                </a:extLst>
              </p:cNvPr>
              <p:cNvSpPr/>
              <p:nvPr/>
            </p:nvSpPr>
            <p:spPr>
              <a:xfrm>
                <a:off x="2246672" y="4776106"/>
                <a:ext cx="806245" cy="27817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300" b="1" dirty="0"/>
                  <a:t>EPC Agreement</a:t>
                </a:r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4F9461AC-4E18-EA56-57F8-CB54675A4424}"/>
                  </a:ext>
                </a:extLst>
              </p:cNvPr>
              <p:cNvSpPr/>
              <p:nvPr/>
            </p:nvSpPr>
            <p:spPr>
              <a:xfrm>
                <a:off x="182765" y="4776104"/>
                <a:ext cx="806245" cy="278179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300" b="1" dirty="0"/>
                  <a:t>Consumers</a:t>
                </a:r>
              </a:p>
            </p:txBody>
          </p: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B38E897-2A1E-25EA-80BE-3A0E5A5107CF}"/>
                  </a:ext>
                </a:extLst>
              </p:cNvPr>
              <p:cNvCxnSpPr>
                <a:stCxn id="66" idx="3"/>
                <a:endCxn id="67" idx="1"/>
              </p:cNvCxnSpPr>
              <p:nvPr/>
            </p:nvCxnSpPr>
            <p:spPr>
              <a:xfrm>
                <a:off x="2600634" y="4049559"/>
                <a:ext cx="72700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46176D1-A226-2EF6-3DC5-7CDF41BCCE55}"/>
                  </a:ext>
                </a:extLst>
              </p:cNvPr>
              <p:cNvCxnSpPr>
                <a:stCxn id="70" idx="3"/>
                <a:endCxn id="65" idx="1"/>
              </p:cNvCxnSpPr>
              <p:nvPr/>
            </p:nvCxnSpPr>
            <p:spPr>
              <a:xfrm>
                <a:off x="989010" y="4915194"/>
                <a:ext cx="274726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DABAB2CC-79A7-F7C0-FF73-933C761397E2}"/>
                  </a:ext>
                </a:extLst>
              </p:cNvPr>
              <p:cNvCxnSpPr>
                <a:stCxn id="69" idx="3"/>
                <a:endCxn id="68" idx="1"/>
              </p:cNvCxnSpPr>
              <p:nvPr/>
            </p:nvCxnSpPr>
            <p:spPr>
              <a:xfrm>
                <a:off x="3052917" y="4915196"/>
                <a:ext cx="27472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18CE692-63C2-5867-6456-3F4B60EC857A}"/>
                </a:ext>
              </a:extLst>
            </p:cNvPr>
            <p:cNvCxnSpPr>
              <a:cxnSpLocks/>
            </p:cNvCxnSpPr>
            <p:nvPr/>
          </p:nvCxnSpPr>
          <p:spPr>
            <a:xfrm>
              <a:off x="6940215" y="4350340"/>
              <a:ext cx="0" cy="7245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5E49E66B-5CD0-9C43-6D4D-3576CC6B113D}"/>
                </a:ext>
              </a:extLst>
            </p:cNvPr>
            <p:cNvSpPr/>
            <p:nvPr/>
          </p:nvSpPr>
          <p:spPr>
            <a:xfrm>
              <a:off x="4968187" y="4071364"/>
              <a:ext cx="806245" cy="27817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300" b="1" dirty="0"/>
                <a:t>Customer Pays</a:t>
              </a: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FC80A30-0337-4313-DC68-784D64190780}"/>
                </a:ext>
              </a:extLst>
            </p:cNvPr>
            <p:cNvCxnSpPr>
              <a:stCxn id="59" idx="2"/>
              <a:endCxn id="70" idx="0"/>
            </p:cNvCxnSpPr>
            <p:nvPr/>
          </p:nvCxnSpPr>
          <p:spPr>
            <a:xfrm>
              <a:off x="5371310" y="4349543"/>
              <a:ext cx="866" cy="5874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1395ABD-E64F-7683-3CBE-CECB0A6DA454}"/>
                </a:ext>
              </a:extLst>
            </p:cNvPr>
            <p:cNvCxnSpPr>
              <a:stCxn id="59" idx="3"/>
              <a:endCxn id="66" idx="1"/>
            </p:cNvCxnSpPr>
            <p:nvPr/>
          </p:nvCxnSpPr>
          <p:spPr>
            <a:xfrm>
              <a:off x="5774432" y="4210454"/>
              <a:ext cx="806245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5DFC8675-32F1-BDDC-C98A-8A7F1D2037B4}"/>
                </a:ext>
              </a:extLst>
            </p:cNvPr>
            <p:cNvSpPr/>
            <p:nvPr/>
          </p:nvSpPr>
          <p:spPr>
            <a:xfrm>
              <a:off x="6394347" y="4530468"/>
              <a:ext cx="1140398" cy="27111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300" b="1" dirty="0"/>
                <a:t>Back to Back Agreements</a:t>
              </a:r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2EE1859-4D95-F392-171F-8CD21231A912}"/>
                </a:ext>
              </a:extLst>
            </p:cNvPr>
            <p:cNvCxnSpPr>
              <a:stCxn id="65" idx="3"/>
              <a:endCxn id="69" idx="1"/>
            </p:cNvCxnSpPr>
            <p:nvPr/>
          </p:nvCxnSpPr>
          <p:spPr>
            <a:xfrm>
              <a:off x="6856269" y="5076091"/>
              <a:ext cx="176691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F2D46A1-A505-9989-51F2-C6D1B9A5C7BB}"/>
                </a:ext>
              </a:extLst>
            </p:cNvPr>
            <p:cNvCxnSpPr>
              <a:stCxn id="67" idx="2"/>
              <a:endCxn id="68" idx="0"/>
            </p:cNvCxnSpPr>
            <p:nvPr/>
          </p:nvCxnSpPr>
          <p:spPr>
            <a:xfrm>
              <a:off x="8517054" y="4349544"/>
              <a:ext cx="0" cy="5874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8A662A1-EE2D-BEAE-9B5A-62DF0F275DE7}"/>
              </a:ext>
            </a:extLst>
          </p:cNvPr>
          <p:cNvSpPr txBox="1"/>
          <p:nvPr/>
        </p:nvSpPr>
        <p:spPr>
          <a:xfrm>
            <a:off x="44350" y="955240"/>
            <a:ext cx="2084763" cy="276999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1. Anchored-procurement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FB0935C-7375-71AA-E39D-40EA708C9F0D}"/>
              </a:ext>
            </a:extLst>
          </p:cNvPr>
          <p:cNvSpPr txBox="1"/>
          <p:nvPr/>
        </p:nvSpPr>
        <p:spPr>
          <a:xfrm>
            <a:off x="63705" y="1548456"/>
            <a:ext cx="5905848" cy="212365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Utility as single point stop for the consumers, facilitates procurement and installation of RTS through a third party who has been wetted and evaluated by the utility.</a:t>
            </a:r>
          </a:p>
          <a:p>
            <a:r>
              <a:rPr lang="en-US" sz="1200" b="1" dirty="0"/>
              <a:t>Process: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Utility enrolls consumers interested in setting up rooftop solar projects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Signs a standard Project Management Services agreement (services offered by the utility and developer; the outline of bidding process; templates of the EPC agreement; and terms and conditions)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Competitive bidding process for the aggregated capacity on behalf of consumers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Successful bidder chosen;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Consumers sign an EPC agreement with the selected developer(s)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Facilitation fee collected from developer(s)</a:t>
            </a:r>
            <a:endParaRPr lang="en-IN" sz="12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5631884-1ED7-0256-8636-F92701DAE7D8}"/>
              </a:ext>
            </a:extLst>
          </p:cNvPr>
          <p:cNvSpPr/>
          <p:nvPr/>
        </p:nvSpPr>
        <p:spPr>
          <a:xfrm>
            <a:off x="2184983" y="956484"/>
            <a:ext cx="9962667" cy="268768"/>
          </a:xfrm>
          <a:prstGeom prst="rect">
            <a:avLst/>
          </a:prstGeom>
          <a:solidFill>
            <a:srgbClr val="4472C4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Utilities assist consumers in procuring RTS systems (self-owned CAPEX model)   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927275-6E69-09A8-AADF-E9C0F161CD7E}"/>
              </a:ext>
            </a:extLst>
          </p:cNvPr>
          <p:cNvSpPr txBox="1"/>
          <p:nvPr/>
        </p:nvSpPr>
        <p:spPr>
          <a:xfrm>
            <a:off x="63705" y="5312166"/>
            <a:ext cx="5905848" cy="1200329"/>
          </a:xfrm>
          <a:prstGeom prst="rect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/>
              <a:t>Benefits: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Economics of scale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Better quality of systems due to utility defined standards and inspections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Improved O&amp;M services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Faster installation and lower transaction costs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Lower payment risks to vendors and suppliers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1CFD359-A418-044E-5491-AAB5DB010691}"/>
              </a:ext>
            </a:extLst>
          </p:cNvPr>
          <p:cNvSpPr txBox="1"/>
          <p:nvPr/>
        </p:nvSpPr>
        <p:spPr>
          <a:xfrm>
            <a:off x="63705" y="1275300"/>
            <a:ext cx="5905848" cy="276999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Facilitated Procurement Model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E2BB235-61C8-276F-20A4-B475B956C7C5}"/>
              </a:ext>
            </a:extLst>
          </p:cNvPr>
          <p:cNvSpPr txBox="1"/>
          <p:nvPr/>
        </p:nvSpPr>
        <p:spPr>
          <a:xfrm>
            <a:off x="6137114" y="1566289"/>
            <a:ext cx="5991181" cy="138499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In this model, Utility acts as a developer as well. </a:t>
            </a:r>
          </a:p>
          <a:p>
            <a:r>
              <a:rPr lang="en-US" sz="1200" b="1" dirty="0"/>
              <a:t>Process: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Utility directly enter into an EPC agreement with the consumers for the design, supply, engineering, installation and commissioning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Option to enter into a back-to-back EPC agreement with a project developer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Competitive bidding process to identify developer(s) for developing the aggregated capacity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D8CB1D8-29AC-E579-F265-E019039CDE6B}"/>
              </a:ext>
            </a:extLst>
          </p:cNvPr>
          <p:cNvSpPr txBox="1"/>
          <p:nvPr/>
        </p:nvSpPr>
        <p:spPr>
          <a:xfrm>
            <a:off x="6137114" y="4946568"/>
            <a:ext cx="5974021" cy="156966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200" b="1" dirty="0"/>
              <a:t>Benefits: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Better contract enforceability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Enhanced quality control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Timely execution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Can earn a margin (difference between the value of back-to-back EPC contracts on each project)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Better control in the project development process(through back-to-back EPC contracts with consumer and developer)</a:t>
            </a:r>
            <a:endParaRPr lang="en-IN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61446C9-F4EB-EBB4-BC19-BF1453778D1C}"/>
              </a:ext>
            </a:extLst>
          </p:cNvPr>
          <p:cNvSpPr txBox="1"/>
          <p:nvPr/>
        </p:nvSpPr>
        <p:spPr>
          <a:xfrm>
            <a:off x="6137114" y="1296027"/>
            <a:ext cx="6010536" cy="276999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bg1"/>
                </a:solidFill>
              </a:rPr>
              <a:t>EPC Contractor Model</a:t>
            </a:r>
          </a:p>
        </p:txBody>
      </p:sp>
      <p:graphicFrame>
        <p:nvGraphicFramePr>
          <p:cNvPr id="44" name="Diagram 43">
            <a:extLst>
              <a:ext uri="{FF2B5EF4-FFF2-40B4-BE49-F238E27FC236}">
                <a16:creationId xmlns:a16="http://schemas.microsoft.com/office/drawing/2014/main" id="{A768DBD6-682E-1349-2A97-DB443B36BB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7724397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23D79F93-43D8-602E-6266-C32650DADEF2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Lower cost due to aggregation with on-time execution and improved O&amp;M services would help build economies of scale for ONergy.</a:t>
            </a:r>
          </a:p>
        </p:txBody>
      </p:sp>
    </p:spTree>
    <p:extLst>
      <p:ext uri="{BB962C8B-B14F-4D97-AF65-F5344CB8AC3E}">
        <p14:creationId xmlns:p14="http://schemas.microsoft.com/office/powerpoint/2010/main" val="2289705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0AC6A38-8424-A1EE-15CE-15583C0F19A1}"/>
              </a:ext>
            </a:extLst>
          </p:cNvPr>
          <p:cNvSpPr txBox="1"/>
          <p:nvPr/>
        </p:nvSpPr>
        <p:spPr>
          <a:xfrm>
            <a:off x="53288" y="425046"/>
            <a:ext cx="1940560" cy="276999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bg1"/>
                </a:solidFill>
              </a:rPr>
              <a:t>2. On-Bill Financing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662E50-C6FF-6A1A-E215-FEE1717FFC00}"/>
              </a:ext>
            </a:extLst>
          </p:cNvPr>
          <p:cNvSpPr/>
          <p:nvPr/>
        </p:nvSpPr>
        <p:spPr>
          <a:xfrm>
            <a:off x="2084100" y="443892"/>
            <a:ext cx="9962667" cy="26876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Preferred model for residential consumers interested in developing rooftop solar projects through self-owned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08421D-F44A-A2FF-0701-07CC2FD7938A}"/>
              </a:ext>
            </a:extLst>
          </p:cNvPr>
          <p:cNvSpPr txBox="1"/>
          <p:nvPr/>
        </p:nvSpPr>
        <p:spPr>
          <a:xfrm>
            <a:off x="53288" y="762834"/>
            <a:ext cx="6135492" cy="224676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Three stakeholders involved: </a:t>
            </a:r>
            <a:r>
              <a:rPr lang="en-US" sz="1400" b="1" dirty="0"/>
              <a:t>the consumer, the lender and the utility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Utility assists the consumers by facilitating access to finance, acts as the go-between the consumer and the financial institution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Low cost of financing due to economies of scale, preferential rates available to the consumer, lower risk profile and lower transaction costs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Utility collects, preferably through the electricity bill, equated monthly installments (EMIs) on the loans taken by consumers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EMIs are passed on to the financial institution by utility for a small service fee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Option to tie up with their preferred banking partners for effective implementation</a:t>
            </a:r>
            <a:endParaRPr lang="en-IN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543AF4-B1BD-012B-18EB-B691E09FED37}"/>
              </a:ext>
            </a:extLst>
          </p:cNvPr>
          <p:cNvGrpSpPr/>
          <p:nvPr/>
        </p:nvGrpSpPr>
        <p:grpSpPr>
          <a:xfrm>
            <a:off x="6338437" y="913548"/>
            <a:ext cx="5708331" cy="1309101"/>
            <a:chOff x="2286420" y="4879959"/>
            <a:chExt cx="5553278" cy="1050111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E528679-6D5F-2A02-97D0-432ED5BFB948}"/>
                </a:ext>
              </a:extLst>
            </p:cNvPr>
            <p:cNvSpPr/>
            <p:nvPr/>
          </p:nvSpPr>
          <p:spPr>
            <a:xfrm>
              <a:off x="4011525" y="4879959"/>
              <a:ext cx="693087" cy="24083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Utility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A1BFA97-93BE-5F89-7D59-02D2CC0CD11E}"/>
                </a:ext>
              </a:extLst>
            </p:cNvPr>
            <p:cNvSpPr/>
            <p:nvPr/>
          </p:nvSpPr>
          <p:spPr>
            <a:xfrm>
              <a:off x="2286420" y="4879959"/>
              <a:ext cx="1199834" cy="21816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Collects Payments from Consumers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196225D-3DEA-7943-CE92-F0E166806510}"/>
                </a:ext>
              </a:extLst>
            </p:cNvPr>
            <p:cNvSpPr/>
            <p:nvPr/>
          </p:nvSpPr>
          <p:spPr>
            <a:xfrm>
              <a:off x="5496689" y="4879959"/>
              <a:ext cx="2343009" cy="2408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Pass Payments from Consumers Collect Fee for Facilitation and Payment Assurance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8D72D13E-37A3-011A-6797-0A9F035C5527}"/>
                </a:ext>
              </a:extLst>
            </p:cNvPr>
            <p:cNvSpPr/>
            <p:nvPr/>
          </p:nvSpPr>
          <p:spPr>
            <a:xfrm>
              <a:off x="6165686" y="5415747"/>
              <a:ext cx="996936" cy="2408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Developers/ Lendors/RESCO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6FB40038-E4D7-1E1E-1E7C-7182E0C1C2A9}"/>
                </a:ext>
              </a:extLst>
            </p:cNvPr>
            <p:cNvSpPr/>
            <p:nvPr/>
          </p:nvSpPr>
          <p:spPr>
            <a:xfrm>
              <a:off x="2497057" y="5415747"/>
              <a:ext cx="765193" cy="24083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Consumers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DA94021-9379-E587-768F-30F511852469}"/>
                </a:ext>
              </a:extLst>
            </p:cNvPr>
            <p:cNvSpPr/>
            <p:nvPr/>
          </p:nvSpPr>
          <p:spPr>
            <a:xfrm>
              <a:off x="4011524" y="5689237"/>
              <a:ext cx="693087" cy="24083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b="1" dirty="0"/>
                <a:t>Services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06E0B38-85DE-53A7-E8D4-682DB8C929AB}"/>
                </a:ext>
              </a:extLst>
            </p:cNvPr>
            <p:cNvCxnSpPr>
              <a:cxnSpLocks/>
              <a:stCxn id="15" idx="2"/>
              <a:endCxn id="18" idx="0"/>
            </p:cNvCxnSpPr>
            <p:nvPr/>
          </p:nvCxnSpPr>
          <p:spPr>
            <a:xfrm flipH="1">
              <a:off x="2879654" y="5098125"/>
              <a:ext cx="6683" cy="3176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5D1FB1B0-ADA5-1652-9C6D-B6BDEE8B9A81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rot="16200000" flipH="1">
              <a:off x="3369052" y="5167181"/>
              <a:ext cx="153073" cy="1131869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2B5FBEE-4371-317D-828F-0453CBEFEB66}"/>
                </a:ext>
              </a:extLst>
            </p:cNvPr>
            <p:cNvCxnSpPr>
              <a:cxnSpLocks/>
              <a:stCxn id="15" idx="3"/>
              <a:endCxn id="14" idx="1"/>
            </p:cNvCxnSpPr>
            <p:nvPr/>
          </p:nvCxnSpPr>
          <p:spPr>
            <a:xfrm>
              <a:off x="3486254" y="4989042"/>
              <a:ext cx="525271" cy="113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B438BCC-D42A-A38D-215F-C1BA638DE409}"/>
                </a:ext>
              </a:extLst>
            </p:cNvPr>
            <p:cNvCxnSpPr>
              <a:stCxn id="14" idx="3"/>
              <a:endCxn id="16" idx="1"/>
            </p:cNvCxnSpPr>
            <p:nvPr/>
          </p:nvCxnSpPr>
          <p:spPr>
            <a:xfrm flipV="1">
              <a:off x="4704612" y="5000375"/>
              <a:ext cx="792077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73E73B00-68D3-619C-307D-6029C9CFA7FA}"/>
                </a:ext>
              </a:extLst>
            </p:cNvPr>
            <p:cNvCxnSpPr>
              <a:cxnSpLocks/>
              <a:stCxn id="19" idx="3"/>
              <a:endCxn id="17" idx="2"/>
            </p:cNvCxnSpPr>
            <p:nvPr/>
          </p:nvCxnSpPr>
          <p:spPr>
            <a:xfrm flipV="1">
              <a:off x="4704611" y="5656579"/>
              <a:ext cx="1959543" cy="153075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0CA93D8-C4B3-C9DE-08DB-D665AB5BC324}"/>
                </a:ext>
              </a:extLst>
            </p:cNvPr>
            <p:cNvCxnSpPr>
              <a:cxnSpLocks/>
              <a:stCxn id="16" idx="2"/>
              <a:endCxn id="17" idx="0"/>
            </p:cNvCxnSpPr>
            <p:nvPr/>
          </p:nvCxnSpPr>
          <p:spPr>
            <a:xfrm flipH="1">
              <a:off x="6664154" y="5120791"/>
              <a:ext cx="4040" cy="2949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1ED1AA2-98D4-B3FD-314E-A82851869A4A}"/>
              </a:ext>
            </a:extLst>
          </p:cNvPr>
          <p:cNvSpPr txBox="1"/>
          <p:nvPr/>
        </p:nvSpPr>
        <p:spPr>
          <a:xfrm>
            <a:off x="6251881" y="2277661"/>
            <a:ext cx="5886831" cy="73866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/>
              <a:t>Clubbing this with anchored procurement model, will give consumers access to easy finance, reliable selection of vendors selected through a bidding process, &amp; on-time installation of quality systems.</a:t>
            </a:r>
            <a:endParaRPr lang="en-IN" sz="1400" dirty="0"/>
          </a:p>
        </p:txBody>
      </p:sp>
      <p:pic>
        <p:nvPicPr>
          <p:cNvPr id="3076" name="Picture 4" descr="Insight ">
            <a:extLst>
              <a:ext uri="{FF2B5EF4-FFF2-40B4-BE49-F238E27FC236}">
                <a16:creationId xmlns:a16="http://schemas.microsoft.com/office/drawing/2014/main" id="{1BD437E8-E925-7138-CA16-75836A7DD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8302" y="1821805"/>
            <a:ext cx="546499" cy="546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F2812F78-0C22-C982-B0C8-34B1DC07EC09}"/>
              </a:ext>
            </a:extLst>
          </p:cNvPr>
          <p:cNvSpPr txBox="1"/>
          <p:nvPr/>
        </p:nvSpPr>
        <p:spPr>
          <a:xfrm>
            <a:off x="53288" y="3071062"/>
            <a:ext cx="1940561" cy="276999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3. Utility as Super-RESCO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A3168A-35EA-3C25-68D7-1516ABB93C2C}"/>
              </a:ext>
            </a:extLst>
          </p:cNvPr>
          <p:cNvGrpSpPr/>
          <p:nvPr/>
        </p:nvGrpSpPr>
        <p:grpSpPr>
          <a:xfrm>
            <a:off x="6338437" y="3569909"/>
            <a:ext cx="5708330" cy="1544732"/>
            <a:chOff x="5339482" y="3040272"/>
            <a:chExt cx="5245987" cy="1544732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8914C16-2F5D-E814-0C64-4CA1EC498104}"/>
                </a:ext>
              </a:extLst>
            </p:cNvPr>
            <p:cNvGrpSpPr/>
            <p:nvPr/>
          </p:nvGrpSpPr>
          <p:grpSpPr>
            <a:xfrm>
              <a:off x="5339482" y="3040272"/>
              <a:ext cx="5245987" cy="1544732"/>
              <a:chOff x="5346958" y="3040272"/>
              <a:chExt cx="4194414" cy="1424315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330E7E91-9014-013E-2C58-B3AC849B0E6A}"/>
                  </a:ext>
                </a:extLst>
              </p:cNvPr>
              <p:cNvSpPr/>
              <p:nvPr/>
            </p:nvSpPr>
            <p:spPr>
              <a:xfrm>
                <a:off x="7146611" y="3040273"/>
                <a:ext cx="693087" cy="2408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Utility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9BDADEAB-E025-7737-C6BB-93027B74C829}"/>
                  </a:ext>
                </a:extLst>
              </p:cNvPr>
              <p:cNvSpPr/>
              <p:nvPr/>
            </p:nvSpPr>
            <p:spPr>
              <a:xfrm>
                <a:off x="8848285" y="3040273"/>
                <a:ext cx="693087" cy="2408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Loan</a:t>
                </a: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3C4576F0-A58E-326A-390F-F82B3EAFD8A3}"/>
                  </a:ext>
                </a:extLst>
              </p:cNvPr>
              <p:cNvSpPr/>
              <p:nvPr/>
            </p:nvSpPr>
            <p:spPr>
              <a:xfrm>
                <a:off x="8848284" y="3597697"/>
                <a:ext cx="693087" cy="2408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Lendors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6665380-D3C3-B1F0-0835-748682AC4721}"/>
                  </a:ext>
                </a:extLst>
              </p:cNvPr>
              <p:cNvSpPr/>
              <p:nvPr/>
            </p:nvSpPr>
            <p:spPr>
              <a:xfrm>
                <a:off x="7810637" y="3593191"/>
                <a:ext cx="693087" cy="2408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Interest and Repayment</a:t>
                </a:r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967B21CC-124F-E086-B46A-A0EB868F543B}"/>
                  </a:ext>
                </a:extLst>
              </p:cNvPr>
              <p:cNvSpPr/>
              <p:nvPr/>
            </p:nvSpPr>
            <p:spPr>
              <a:xfrm>
                <a:off x="5346958" y="3040272"/>
                <a:ext cx="1290878" cy="23632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Generate and sell Electricity from Rooftop System; Lease Rooftops</a:t>
                </a: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A39D3CA1-9E71-94E6-282B-3E7695FBBB47}"/>
                  </a:ext>
                </a:extLst>
              </p:cNvPr>
              <p:cNvSpPr/>
              <p:nvPr/>
            </p:nvSpPr>
            <p:spPr>
              <a:xfrm>
                <a:off x="5647285" y="3595443"/>
                <a:ext cx="693087" cy="2408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Consumers</a:t>
                </a: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72916F6E-41D0-5032-BA89-F14D53AFFC0A}"/>
                  </a:ext>
                </a:extLst>
              </p:cNvPr>
              <p:cNvSpPr/>
              <p:nvPr/>
            </p:nvSpPr>
            <p:spPr>
              <a:xfrm>
                <a:off x="6672005" y="4223754"/>
                <a:ext cx="693087" cy="2408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Fixed tariff</a:t>
                </a: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5036C289-E00C-29EA-CDFA-A53F3158B12B}"/>
                  </a:ext>
                </a:extLst>
              </p:cNvPr>
              <p:cNvSpPr/>
              <p:nvPr/>
            </p:nvSpPr>
            <p:spPr>
              <a:xfrm>
                <a:off x="6598727" y="3593190"/>
                <a:ext cx="693087" cy="24083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800" dirty="0"/>
                  <a:t>PPA</a:t>
                </a:r>
              </a:p>
            </p:txBody>
          </p:sp>
          <p:cxnSp>
            <p:nvCxnSpPr>
              <p:cNvPr id="42" name="Connector: Elbow 41">
                <a:extLst>
                  <a:ext uri="{FF2B5EF4-FFF2-40B4-BE49-F238E27FC236}">
                    <a16:creationId xmlns:a16="http://schemas.microsoft.com/office/drawing/2014/main" id="{D310328A-ACF1-4A35-B6CC-2354E74C98BE}"/>
                  </a:ext>
                </a:extLst>
              </p:cNvPr>
              <p:cNvCxnSpPr>
                <a:stCxn id="34" idx="2"/>
                <a:endCxn id="40" idx="3"/>
              </p:cNvCxnSpPr>
              <p:nvPr/>
            </p:nvCxnSpPr>
            <p:spPr>
              <a:xfrm rot="5400000">
                <a:off x="6897592" y="3748607"/>
                <a:ext cx="1063065" cy="128063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8090004-48F9-64ED-C7B0-40773A53AC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85014" y="3713607"/>
                <a:ext cx="2121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608A926-A1F0-D6F0-9F5A-4D09DA40BFEE}"/>
                  </a:ext>
                </a:extLst>
              </p:cNvPr>
              <p:cNvCxnSpPr>
                <a:stCxn id="34" idx="3"/>
                <a:endCxn id="35" idx="1"/>
              </p:cNvCxnSpPr>
              <p:nvPr/>
            </p:nvCxnSpPr>
            <p:spPr>
              <a:xfrm>
                <a:off x="7839698" y="3160690"/>
                <a:ext cx="1008587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0427089-D4AC-6D33-396F-ABD5B46CF6E0}"/>
                  </a:ext>
                </a:extLst>
              </p:cNvPr>
              <p:cNvCxnSpPr>
                <a:stCxn id="37" idx="0"/>
              </p:cNvCxnSpPr>
              <p:nvPr/>
            </p:nvCxnSpPr>
            <p:spPr>
              <a:xfrm flipH="1" flipV="1">
                <a:off x="8157180" y="3160688"/>
                <a:ext cx="1" cy="43250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FB1828E1-D7DB-334B-01FA-E1DE2D89AA59}"/>
                  </a:ext>
                </a:extLst>
              </p:cNvPr>
              <p:cNvCxnSpPr>
                <a:stCxn id="37" idx="3"/>
                <a:endCxn id="36" idx="1"/>
              </p:cNvCxnSpPr>
              <p:nvPr/>
            </p:nvCxnSpPr>
            <p:spPr>
              <a:xfrm>
                <a:off x="8503724" y="3713608"/>
                <a:ext cx="344560" cy="45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5FEA6B3-EFCD-26FF-20A1-3A320126EC6F}"/>
                  </a:ext>
                </a:extLst>
              </p:cNvPr>
              <p:cNvCxnSpPr>
                <a:stCxn id="35" idx="2"/>
                <a:endCxn id="36" idx="0"/>
              </p:cNvCxnSpPr>
              <p:nvPr/>
            </p:nvCxnSpPr>
            <p:spPr>
              <a:xfrm flipH="1">
                <a:off x="9194828" y="3281106"/>
                <a:ext cx="1" cy="31659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2C74D8EB-9BA2-32A8-491F-19C60C561EB3}"/>
                  </a:ext>
                </a:extLst>
              </p:cNvPr>
              <p:cNvCxnSpPr>
                <a:stCxn id="39" idx="3"/>
                <a:endCxn id="41" idx="1"/>
              </p:cNvCxnSpPr>
              <p:nvPr/>
            </p:nvCxnSpPr>
            <p:spPr>
              <a:xfrm flipV="1">
                <a:off x="6340372" y="3713607"/>
                <a:ext cx="258355" cy="225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580586E8-A46E-E105-8F9D-E6D911464CCB}"/>
                  </a:ext>
                </a:extLst>
              </p:cNvPr>
              <p:cNvCxnSpPr>
                <a:cxnSpLocks/>
                <a:stCxn id="38" idx="2"/>
                <a:endCxn id="39" idx="0"/>
              </p:cNvCxnSpPr>
              <p:nvPr/>
            </p:nvCxnSpPr>
            <p:spPr>
              <a:xfrm>
                <a:off x="5992397" y="3276600"/>
                <a:ext cx="1431" cy="3188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AA564B49-0D85-2654-5A82-0B2562285A2C}"/>
                  </a:ext>
                </a:extLst>
              </p:cNvPr>
              <p:cNvCxnSpPr>
                <a:stCxn id="39" idx="2"/>
                <a:endCxn id="40" idx="1"/>
              </p:cNvCxnSpPr>
              <p:nvPr/>
            </p:nvCxnSpPr>
            <p:spPr>
              <a:xfrm rot="16200000" flipH="1">
                <a:off x="6078970" y="3751135"/>
                <a:ext cx="507895" cy="678176"/>
              </a:xfrm>
              <a:prstGeom prst="bentConnector2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B373067-03E1-A476-DAE3-D969ACCF370F}"/>
                </a:ext>
              </a:extLst>
            </p:cNvPr>
            <p:cNvCxnSpPr>
              <a:stCxn id="38" idx="3"/>
              <a:endCxn id="34" idx="1"/>
            </p:cNvCxnSpPr>
            <p:nvPr/>
          </p:nvCxnSpPr>
          <p:spPr>
            <a:xfrm>
              <a:off x="6953993" y="3168426"/>
              <a:ext cx="636329" cy="24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CD322934-750C-9F54-4832-0CEEE049B6C6}"/>
              </a:ext>
            </a:extLst>
          </p:cNvPr>
          <p:cNvSpPr/>
          <p:nvPr/>
        </p:nvSpPr>
        <p:spPr>
          <a:xfrm>
            <a:off x="2084100" y="3069452"/>
            <a:ext cx="9962667" cy="26876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Utility acts as a Super-RESCO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F52645-1E39-4DC9-4220-DD7A8D5B1085}"/>
              </a:ext>
            </a:extLst>
          </p:cNvPr>
          <p:cNvSpPr txBox="1"/>
          <p:nvPr/>
        </p:nvSpPr>
        <p:spPr>
          <a:xfrm>
            <a:off x="93463" y="3375832"/>
            <a:ext cx="6116216" cy="95410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Utility owns and invests, or procures rooftop solar power from third party developer(s) and supplies power to the consumer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Consumer does not own the system, enters into a long-term Power Purchase Agreement to buy solar power from the utility at a mutually defined price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9071BF-5631-8FC7-3677-220FD05E086D}"/>
              </a:ext>
            </a:extLst>
          </p:cNvPr>
          <p:cNvSpPr txBox="1"/>
          <p:nvPr/>
        </p:nvSpPr>
        <p:spPr>
          <a:xfrm>
            <a:off x="93462" y="4377897"/>
            <a:ext cx="6111395" cy="216982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350" dirty="0"/>
              <a:t>Utility invests capital to set up rooftop solar projects on customer premises.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350" dirty="0"/>
              <a:t>Agreement with consumers to buy the electricity generated, and lease their rooftops, to site the system, to the utility for the useful life of the project (25 years)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350" dirty="0"/>
              <a:t>Upfront aggregation and procurement of the utility allows significant reduction in costs due to economies of scale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350" dirty="0"/>
              <a:t>If overall CAPEX  is lower than market rates, the cost of generation are reduced, and can be passed on to the consumer.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350" dirty="0"/>
              <a:t>The utility may subcontract EPC work to other vendors, reducing time delays in interconnection, and hence, the entire transaction can be dealt with by the utility.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F36D57-96B3-FD97-2DCB-7A77664C666F}"/>
              </a:ext>
            </a:extLst>
          </p:cNvPr>
          <p:cNvSpPr txBox="1"/>
          <p:nvPr/>
        </p:nvSpPr>
        <p:spPr>
          <a:xfrm>
            <a:off x="6265080" y="5161260"/>
            <a:ext cx="5873632" cy="138499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RESCO-owned RTS systems: The consumers lease rooftops to the utility and the utility sub-leases it to the RESCO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Utility acts as a Super-RESCO but does not set up, operate and own the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Utility identifies interested consumers and aggregates the demand but services them through power purchased through interested RESCOs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Power is procured from the RESCO at a mutually agreed price (discovered via bidding process) and is sold to the consumer by including trading charges.</a:t>
            </a:r>
            <a:endParaRPr lang="en-IN" sz="1200" dirty="0"/>
          </a:p>
        </p:txBody>
      </p:sp>
      <p:graphicFrame>
        <p:nvGraphicFramePr>
          <p:cNvPr id="52" name="Diagram 51">
            <a:extLst>
              <a:ext uri="{FF2B5EF4-FFF2-40B4-BE49-F238E27FC236}">
                <a16:creationId xmlns:a16="http://schemas.microsoft.com/office/drawing/2014/main" id="{66ACBE76-CBC4-8097-DDD3-23E9FD858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206849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4" name="Rectangle 53">
            <a:extLst>
              <a:ext uri="{FF2B5EF4-FFF2-40B4-BE49-F238E27FC236}">
                <a16:creationId xmlns:a16="http://schemas.microsoft.com/office/drawing/2014/main" id="{A2B9A517-4995-CFCA-E8FF-FD4E67BB9ABF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Customer Acquisition, increased payment security and high operational efficiency make these models profitable for ONergy.</a:t>
            </a:r>
          </a:p>
        </p:txBody>
      </p:sp>
    </p:spTree>
    <p:extLst>
      <p:ext uri="{BB962C8B-B14F-4D97-AF65-F5344CB8AC3E}">
        <p14:creationId xmlns:p14="http://schemas.microsoft.com/office/powerpoint/2010/main" val="1582012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F39E6B3-E28F-860F-2C6E-F3E22959DBC0}"/>
              </a:ext>
            </a:extLst>
          </p:cNvPr>
          <p:cNvSpPr txBox="1"/>
          <p:nvPr/>
        </p:nvSpPr>
        <p:spPr>
          <a:xfrm>
            <a:off x="72845" y="443230"/>
            <a:ext cx="2062716" cy="275055"/>
          </a:xfrm>
          <a:prstGeom prst="rect">
            <a:avLst/>
          </a:prstGeom>
          <a:solidFill>
            <a:srgbClr val="FF99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4. Payment Assurance Model 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5F36A-3C50-3BF2-CBC7-D96D11F9E122}"/>
              </a:ext>
            </a:extLst>
          </p:cNvPr>
          <p:cNvGrpSpPr/>
          <p:nvPr/>
        </p:nvGrpSpPr>
        <p:grpSpPr>
          <a:xfrm>
            <a:off x="7201335" y="880519"/>
            <a:ext cx="4917820" cy="1812981"/>
            <a:chOff x="451299" y="3040273"/>
            <a:chExt cx="3381415" cy="14657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2132BF2-B075-E7D9-948B-825CB52FB7FE}"/>
                </a:ext>
              </a:extLst>
            </p:cNvPr>
            <p:cNvSpPr/>
            <p:nvPr/>
          </p:nvSpPr>
          <p:spPr>
            <a:xfrm>
              <a:off x="1657338" y="3040274"/>
              <a:ext cx="723571" cy="2621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Utility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95B9636-E683-6892-EBF4-1FD11DDDBD09}"/>
                </a:ext>
              </a:extLst>
            </p:cNvPr>
            <p:cNvSpPr/>
            <p:nvPr/>
          </p:nvSpPr>
          <p:spPr>
            <a:xfrm>
              <a:off x="3109143" y="3040273"/>
              <a:ext cx="723571" cy="2621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Loan Payback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5779CA5-50B9-AEB5-EE78-5FDB5E6723AD}"/>
                </a:ext>
              </a:extLst>
            </p:cNvPr>
            <p:cNvSpPr/>
            <p:nvPr/>
          </p:nvSpPr>
          <p:spPr>
            <a:xfrm>
              <a:off x="3109143" y="3642089"/>
              <a:ext cx="723571" cy="2621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Lendors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194E203-CB29-1063-427C-9AF549555872}"/>
                </a:ext>
              </a:extLst>
            </p:cNvPr>
            <p:cNvSpPr/>
            <p:nvPr/>
          </p:nvSpPr>
          <p:spPr>
            <a:xfrm>
              <a:off x="1657337" y="3642088"/>
              <a:ext cx="723571" cy="2621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Tripartite Agreement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5AE0F07-EBE7-06C6-B2EB-F49760C53A7A}"/>
                </a:ext>
              </a:extLst>
            </p:cNvPr>
            <p:cNvSpPr/>
            <p:nvPr/>
          </p:nvSpPr>
          <p:spPr>
            <a:xfrm>
              <a:off x="451300" y="3642087"/>
              <a:ext cx="723571" cy="2621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Consumers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6496EB0-4054-210D-F3C7-371BE2F1296E}"/>
                </a:ext>
              </a:extLst>
            </p:cNvPr>
            <p:cNvSpPr/>
            <p:nvPr/>
          </p:nvSpPr>
          <p:spPr>
            <a:xfrm>
              <a:off x="451299" y="3040275"/>
              <a:ext cx="723571" cy="247923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Pays EMI for Loan 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059001A-D1F8-7471-F68A-27437A308609}"/>
                </a:ext>
              </a:extLst>
            </p:cNvPr>
            <p:cNvSpPr/>
            <p:nvPr/>
          </p:nvSpPr>
          <p:spPr>
            <a:xfrm>
              <a:off x="1654274" y="4243902"/>
              <a:ext cx="723571" cy="26213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00" dirty="0"/>
                <a:t>Loan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5A719D0-EAC7-4479-10F4-F36A1747F3C4}"/>
                </a:ext>
              </a:extLst>
            </p:cNvPr>
            <p:cNvCxnSpPr>
              <a:stCxn id="11" idx="2"/>
              <a:endCxn id="14" idx="0"/>
            </p:cNvCxnSpPr>
            <p:nvPr/>
          </p:nvCxnSpPr>
          <p:spPr>
            <a:xfrm flipH="1">
              <a:off x="2019123" y="3302405"/>
              <a:ext cx="1" cy="3396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3C5735-FAC4-9878-7702-22DE7CABDAE4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2380909" y="3171339"/>
              <a:ext cx="728234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848B3FA-A04A-DA29-7FB5-91BD0DF9793C}"/>
                </a:ext>
              </a:extLst>
            </p:cNvPr>
            <p:cNvCxnSpPr>
              <a:cxnSpLocks/>
              <a:stCxn id="16" idx="3"/>
              <a:endCxn id="11" idx="1"/>
            </p:cNvCxnSpPr>
            <p:nvPr/>
          </p:nvCxnSpPr>
          <p:spPr>
            <a:xfrm>
              <a:off x="1174870" y="3164237"/>
              <a:ext cx="482468" cy="71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CB149FB-E03D-2872-C2D5-74F71526510F}"/>
                </a:ext>
              </a:extLst>
            </p:cNvPr>
            <p:cNvCxnSpPr>
              <a:cxnSpLocks/>
              <a:stCxn id="16" idx="2"/>
              <a:endCxn id="15" idx="0"/>
            </p:cNvCxnSpPr>
            <p:nvPr/>
          </p:nvCxnSpPr>
          <p:spPr>
            <a:xfrm>
              <a:off x="813085" y="3288198"/>
              <a:ext cx="1" cy="3538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54D2F45-1941-CE7B-CDBF-81DDF1FF4101}"/>
                </a:ext>
              </a:extLst>
            </p:cNvPr>
            <p:cNvCxnSpPr>
              <a:stCxn id="15" idx="3"/>
              <a:endCxn id="14" idx="1"/>
            </p:cNvCxnSpPr>
            <p:nvPr/>
          </p:nvCxnSpPr>
          <p:spPr>
            <a:xfrm>
              <a:off x="1174871" y="3773153"/>
              <a:ext cx="482466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18B4EC3-FDA3-8DA2-7C5C-71E8B49753A5}"/>
                </a:ext>
              </a:extLst>
            </p:cNvPr>
            <p:cNvCxnSpPr>
              <a:stCxn id="14" idx="3"/>
              <a:endCxn id="13" idx="1"/>
            </p:cNvCxnSpPr>
            <p:nvPr/>
          </p:nvCxnSpPr>
          <p:spPr>
            <a:xfrm>
              <a:off x="2380908" y="3773154"/>
              <a:ext cx="728235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0DCF5337-5F6B-D8FF-B3C6-2D8CA9A1270F}"/>
                </a:ext>
              </a:extLst>
            </p:cNvPr>
            <p:cNvCxnSpPr>
              <a:stCxn id="15" idx="2"/>
              <a:endCxn id="17" idx="1"/>
            </p:cNvCxnSpPr>
            <p:nvPr/>
          </p:nvCxnSpPr>
          <p:spPr>
            <a:xfrm rot="16200000" flipH="1">
              <a:off x="998305" y="3718999"/>
              <a:ext cx="470750" cy="84118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42D694CA-E6AF-B010-E516-359529CDE3EA}"/>
                </a:ext>
              </a:extLst>
            </p:cNvPr>
            <p:cNvCxnSpPr>
              <a:stCxn id="13" idx="2"/>
              <a:endCxn id="17" idx="3"/>
            </p:cNvCxnSpPr>
            <p:nvPr/>
          </p:nvCxnSpPr>
          <p:spPr>
            <a:xfrm rot="5400000">
              <a:off x="2689013" y="3593052"/>
              <a:ext cx="470748" cy="1093084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468B395-582E-CD87-5D98-C5A35A0E7559}"/>
              </a:ext>
            </a:extLst>
          </p:cNvPr>
          <p:cNvSpPr txBox="1"/>
          <p:nvPr/>
        </p:nvSpPr>
        <p:spPr>
          <a:xfrm>
            <a:off x="72845" y="912418"/>
            <a:ext cx="6967539" cy="175432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Utility neither invests nor owns the system, facilitates between the consumer and other stakeholders (RESCO, developer and lender)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Utility collects payments for electricity generated from third party-owned RTS systems from its clients and pays the roof top developer for a fee.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Utility reduces the payment risk to the developer and attracts financing as well as reduces the cost of finance.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It also helps reduce counter party risk for the lenders and make projects more viable.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This business model can be implemented in parallel with the above discussed business models as well. </a:t>
            </a:r>
          </a:p>
          <a:p>
            <a:endParaRPr lang="en-IN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02DB15-4301-4397-634B-D8105F3C6806}"/>
              </a:ext>
            </a:extLst>
          </p:cNvPr>
          <p:cNvSpPr/>
          <p:nvPr/>
        </p:nvSpPr>
        <p:spPr>
          <a:xfrm>
            <a:off x="2220002" y="447344"/>
            <a:ext cx="9899153" cy="27505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Utility acts as facilitator</a:t>
            </a:r>
          </a:p>
        </p:txBody>
      </p:sp>
      <p:graphicFrame>
        <p:nvGraphicFramePr>
          <p:cNvPr id="31" name="Table 170">
            <a:extLst>
              <a:ext uri="{FF2B5EF4-FFF2-40B4-BE49-F238E27FC236}">
                <a16:creationId xmlns:a16="http://schemas.microsoft.com/office/drawing/2014/main" id="{ABD68E4E-EBDF-5767-EFFA-B9058F857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704584"/>
              </p:ext>
            </p:extLst>
          </p:nvPr>
        </p:nvGraphicFramePr>
        <p:xfrm>
          <a:off x="72845" y="2808506"/>
          <a:ext cx="7001920" cy="3721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951">
                  <a:extLst>
                    <a:ext uri="{9D8B030D-6E8A-4147-A177-3AD203B41FA5}">
                      <a16:colId xmlns:a16="http://schemas.microsoft.com/office/drawing/2014/main" val="1242441522"/>
                    </a:ext>
                  </a:extLst>
                </a:gridCol>
                <a:gridCol w="699598">
                  <a:extLst>
                    <a:ext uri="{9D8B030D-6E8A-4147-A177-3AD203B41FA5}">
                      <a16:colId xmlns:a16="http://schemas.microsoft.com/office/drawing/2014/main" val="3100214167"/>
                    </a:ext>
                  </a:extLst>
                </a:gridCol>
                <a:gridCol w="1000274">
                  <a:extLst>
                    <a:ext uri="{9D8B030D-6E8A-4147-A177-3AD203B41FA5}">
                      <a16:colId xmlns:a16="http://schemas.microsoft.com/office/drawing/2014/main" val="211859335"/>
                    </a:ext>
                  </a:extLst>
                </a:gridCol>
                <a:gridCol w="1000274">
                  <a:extLst>
                    <a:ext uri="{9D8B030D-6E8A-4147-A177-3AD203B41FA5}">
                      <a16:colId xmlns:a16="http://schemas.microsoft.com/office/drawing/2014/main" val="2968595247"/>
                    </a:ext>
                  </a:extLst>
                </a:gridCol>
                <a:gridCol w="1107147">
                  <a:extLst>
                    <a:ext uri="{9D8B030D-6E8A-4147-A177-3AD203B41FA5}">
                      <a16:colId xmlns:a16="http://schemas.microsoft.com/office/drawing/2014/main" val="3634783931"/>
                    </a:ext>
                  </a:extLst>
                </a:gridCol>
                <a:gridCol w="893402">
                  <a:extLst>
                    <a:ext uri="{9D8B030D-6E8A-4147-A177-3AD203B41FA5}">
                      <a16:colId xmlns:a16="http://schemas.microsoft.com/office/drawing/2014/main" val="1738253875"/>
                    </a:ext>
                  </a:extLst>
                </a:gridCol>
                <a:gridCol w="1000274">
                  <a:extLst>
                    <a:ext uri="{9D8B030D-6E8A-4147-A177-3AD203B41FA5}">
                      <a16:colId xmlns:a16="http://schemas.microsoft.com/office/drawing/2014/main" val="2599078572"/>
                    </a:ext>
                  </a:extLst>
                </a:gridCol>
              </a:tblGrid>
              <a:tr h="383810">
                <a:tc gridSpan="7"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Assessment and applicability of each of the Utility-Centred models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4907103"/>
                  </a:ext>
                </a:extLst>
              </a:tr>
              <a:tr h="833901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Risk to Utility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Investment Requirement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Transaction Costs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Institutional Capacity Utilisation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Institutional Capacity Building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solidFill>
                            <a:schemeClr val="bg1"/>
                          </a:solidFill>
                        </a:rPr>
                        <a:t>Returns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628341"/>
                  </a:ext>
                </a:extLst>
              </a:tr>
              <a:tr h="554468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Anchored Procurement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554543"/>
                  </a:ext>
                </a:extLst>
              </a:tr>
              <a:tr h="641462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On-Bill Financing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7091424"/>
                  </a:ext>
                </a:extLst>
              </a:tr>
              <a:tr h="526915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Super RESCO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8420297"/>
                  </a:ext>
                </a:extLst>
              </a:tr>
              <a:tr h="780446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Payment Assurance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174432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E65235A1-341F-FCAF-8E30-10DC7FA27DFA}"/>
              </a:ext>
            </a:extLst>
          </p:cNvPr>
          <p:cNvSpPr/>
          <p:nvPr/>
        </p:nvSpPr>
        <p:spPr>
          <a:xfrm>
            <a:off x="7201335" y="2808506"/>
            <a:ext cx="4917820" cy="32582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Assessment of regulatory modalities prior implementation</a:t>
            </a:r>
          </a:p>
        </p:txBody>
      </p:sp>
      <p:graphicFrame>
        <p:nvGraphicFramePr>
          <p:cNvPr id="35" name="Diagram 34">
            <a:extLst>
              <a:ext uri="{FF2B5EF4-FFF2-40B4-BE49-F238E27FC236}">
                <a16:creationId xmlns:a16="http://schemas.microsoft.com/office/drawing/2014/main" id="{2D6936BC-6618-43B4-21B4-78DE44413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9736185"/>
              </p:ext>
            </p:extLst>
          </p:nvPr>
        </p:nvGraphicFramePr>
        <p:xfrm>
          <a:off x="6734542" y="3258190"/>
          <a:ext cx="5572449" cy="3245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1B862997-CCC3-2F79-C60E-BBECF10E9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5455735"/>
              </p:ext>
            </p:extLst>
          </p:nvPr>
        </p:nvGraphicFramePr>
        <p:xfrm>
          <a:off x="1" y="-26854"/>
          <a:ext cx="12192000" cy="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A13AB507-4955-367F-5F52-5E69A7199EF5}"/>
              </a:ext>
            </a:extLst>
          </p:cNvPr>
          <p:cNvSpPr/>
          <p:nvPr/>
        </p:nvSpPr>
        <p:spPr>
          <a:xfrm>
            <a:off x="0" y="6587412"/>
            <a:ext cx="12192000" cy="270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/>
              <a:t>ONergy should make an assessment of the business models based on the stakeholder engagement possible in the pertaining business environment.</a:t>
            </a:r>
          </a:p>
        </p:txBody>
      </p:sp>
    </p:spTree>
    <p:extLst>
      <p:ext uri="{BB962C8B-B14F-4D97-AF65-F5344CB8AC3E}">
        <p14:creationId xmlns:p14="http://schemas.microsoft.com/office/powerpoint/2010/main" val="616769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75731D-AB5F-75E5-01CB-24CD79DEE44D}"/>
              </a:ext>
            </a:extLst>
          </p:cNvPr>
          <p:cNvSpPr txBox="1"/>
          <p:nvPr/>
        </p:nvSpPr>
        <p:spPr>
          <a:xfrm>
            <a:off x="2698955" y="2721114"/>
            <a:ext cx="6794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04947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726EB8-B602-BA56-7B21-410FEAC0E50B}"/>
              </a:ext>
            </a:extLst>
          </p:cNvPr>
          <p:cNvSpPr txBox="1"/>
          <p:nvPr/>
        </p:nvSpPr>
        <p:spPr>
          <a:xfrm>
            <a:off x="2659625" y="93795"/>
            <a:ext cx="687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Appendix 1: Role of key stakeholders in Anchored-Procurement Model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317F449-4F58-2F58-7F56-4F222E1E77B0}"/>
              </a:ext>
            </a:extLst>
          </p:cNvPr>
          <p:cNvGraphicFramePr>
            <a:graphicFrameLocks noGrp="1"/>
          </p:cNvGraphicFramePr>
          <p:nvPr/>
        </p:nvGraphicFramePr>
        <p:xfrm>
          <a:off x="1769979" y="669099"/>
          <a:ext cx="8652040" cy="551980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30408">
                  <a:extLst>
                    <a:ext uri="{9D8B030D-6E8A-4147-A177-3AD203B41FA5}">
                      <a16:colId xmlns:a16="http://schemas.microsoft.com/office/drawing/2014/main" val="2158979164"/>
                    </a:ext>
                  </a:extLst>
                </a:gridCol>
                <a:gridCol w="1730408">
                  <a:extLst>
                    <a:ext uri="{9D8B030D-6E8A-4147-A177-3AD203B41FA5}">
                      <a16:colId xmlns:a16="http://schemas.microsoft.com/office/drawing/2014/main" val="358283619"/>
                    </a:ext>
                  </a:extLst>
                </a:gridCol>
                <a:gridCol w="1730408">
                  <a:extLst>
                    <a:ext uri="{9D8B030D-6E8A-4147-A177-3AD203B41FA5}">
                      <a16:colId xmlns:a16="http://schemas.microsoft.com/office/drawing/2014/main" val="3315497522"/>
                    </a:ext>
                  </a:extLst>
                </a:gridCol>
                <a:gridCol w="1730408">
                  <a:extLst>
                    <a:ext uri="{9D8B030D-6E8A-4147-A177-3AD203B41FA5}">
                      <a16:colId xmlns:a16="http://schemas.microsoft.com/office/drawing/2014/main" val="1233739105"/>
                    </a:ext>
                  </a:extLst>
                </a:gridCol>
                <a:gridCol w="1730408">
                  <a:extLst>
                    <a:ext uri="{9D8B030D-6E8A-4147-A177-3AD203B41FA5}">
                      <a16:colId xmlns:a16="http://schemas.microsoft.com/office/drawing/2014/main" val="2136789997"/>
                    </a:ext>
                  </a:extLst>
                </a:gridCol>
              </a:tblGrid>
              <a:tr h="607084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Financer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6730422"/>
                  </a:ext>
                </a:extLst>
              </a:tr>
              <a:tr h="131607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Procurement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Desires of quality system installed at competitive prices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Engage consumers and vendors to execute back-to-back agreement. Facilitating procurement by aggregating rooftop and selecting EPC vendors through bidding process for execution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Vendors apply for empanelment with utility through a bidding or selection process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Lender scrutinizes the consumer credit history and approves financing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57051"/>
                  </a:ext>
                </a:extLst>
              </a:tr>
              <a:tr h="1316078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Project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Facilitate vendor access to rooftop for systems set 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Facilitation of project execution; Utility can charge facilitation fees in this process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Set up of system as per agreed terms and conditions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Timely disbursement of loan amount as working capital for vendor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56081"/>
                  </a:ext>
                </a:extLst>
              </a:tr>
              <a:tr h="762489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O&amp;M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Timely payment for energy services to utility; provide roof access for O&amp;M activities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Acts as collector of payments, passes it on to vendor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Offers quality O&amp;M service and ensure maximum possible generation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Collection of loan repayments from vendor and ongoing monitoring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0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221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0453D0-F011-DCFD-A2B1-147196973711}"/>
              </a:ext>
            </a:extLst>
          </p:cNvPr>
          <p:cNvSpPr txBox="1"/>
          <p:nvPr/>
        </p:nvSpPr>
        <p:spPr>
          <a:xfrm>
            <a:off x="2659625" y="74131"/>
            <a:ext cx="687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/>
              <a:t>Appendix 2: Role of key stakeholders in On-Bill Financing Model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D385125-6B00-A2CE-99C5-247B8AF0CA38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292860"/>
          <a:ext cx="8128000" cy="42722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09555090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4673172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6438591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38286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96693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Financer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355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Procurement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Desires of a quality system installed at competitive prices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Engage consumers and lenders to execute tripartite agreement. Assists lender in evaluating customer loan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Vendors apply for empanelment with utility through a bidding or selection process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Lender scrutinizes the consumer credit history and approves financing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214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Project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Facilitate vendor access to rooftop for systems set 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 role during project development, only facilitate in financing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Set up of system as per agreed terms and conditions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Timely disbursement of loan amount as working capital for vendor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27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O&amp;M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Timely repayment of loan amount in EMI to utility provide access to roof for O&amp;M-related activities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Conduit of payment to lender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Offers quality O&amp;M service and ensure maximum possible generation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Collection of loan repayments and ongoing monitoring of loan portfolio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41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1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543BAFC-F215-A59D-5096-8431E6BF133D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641441"/>
          <a:ext cx="8128000" cy="357511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82455415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345661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39127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16438066"/>
                    </a:ext>
                  </a:extLst>
                </a:gridCol>
              </a:tblGrid>
              <a:tr h="313758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Financer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789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Procurement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Desires of quality systems installed at competitive prices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Signs agreement with the consumer, avails low-cost finance and procures system components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Lender scrutinizes the utility's credit worthiness, and provides finance to utility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34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Project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Facilitate utility/sub-contractors' access to rooftop for system set 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System set up and interconnection with the grid as per agreed terms and conditions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Lender scrutinizes the utility's credit worthiness, and provides finance to utility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950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Project Development O&amp;M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Purchases electricity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Owns and run the system. Sells electricity to consumer at agreed tariff and undertakes O&amp;M. Repayment of loan to lender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Collection of loan repayments and ongoing monitoring of loan portfolio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2342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B6CB25C-73CD-1C37-4207-AD2C6D4EFF64}"/>
              </a:ext>
            </a:extLst>
          </p:cNvPr>
          <p:cNvSpPr txBox="1"/>
          <p:nvPr/>
        </p:nvSpPr>
        <p:spPr>
          <a:xfrm>
            <a:off x="2659625" y="96428"/>
            <a:ext cx="687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/>
              <a:t>Appendix 3: Role of key stakeholders in Super RESCO Model</a:t>
            </a:r>
          </a:p>
        </p:txBody>
      </p:sp>
    </p:spTree>
    <p:extLst>
      <p:ext uri="{BB962C8B-B14F-4D97-AF65-F5344CB8AC3E}">
        <p14:creationId xmlns:p14="http://schemas.microsoft.com/office/powerpoint/2010/main" val="451659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9CE784C-3DFA-2ACD-BB99-D2C6E8042B3F}"/>
              </a:ext>
            </a:extLst>
          </p:cNvPr>
          <p:cNvGraphicFramePr>
            <a:graphicFrameLocks noGrp="1"/>
          </p:cNvGraphicFramePr>
          <p:nvPr/>
        </p:nvGraphicFramePr>
        <p:xfrm>
          <a:off x="2031999" y="1399540"/>
          <a:ext cx="8128000" cy="40589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5996438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9583483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014938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64077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Utility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Vendor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68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Procurement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Desires of quality systems installed at competitive prices. Identifies the EPC, and RESCO. Avails finance in case of CAPEX model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Signs agreement with the EPC/RESCO and consumer to receive payment on agreed terms and conditions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Procures system and agrees to provide finance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1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Project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Facilitate EPC/RESCO, the access to rooftop for system set up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Sets up the system as per agreed terms and conditions; provides finance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13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O&amp;M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Receive electricity and pays the utility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Collects and assures timely payment from consumer and pays them to the Developer/Lender/ RESCO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Owns, operates the system; Repayment of loans; Receives repayment 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0488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9846A4-6DFE-15DB-F79F-B32CE9BA236B}"/>
              </a:ext>
            </a:extLst>
          </p:cNvPr>
          <p:cNvSpPr txBox="1"/>
          <p:nvPr/>
        </p:nvSpPr>
        <p:spPr>
          <a:xfrm>
            <a:off x="2659625" y="116093"/>
            <a:ext cx="6872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/>
              <a:t>Appendix 4: Role of key stakeholders under Payment Assurance Model</a:t>
            </a:r>
          </a:p>
        </p:txBody>
      </p:sp>
    </p:spTree>
    <p:extLst>
      <p:ext uri="{BB962C8B-B14F-4D97-AF65-F5344CB8AC3E}">
        <p14:creationId xmlns:p14="http://schemas.microsoft.com/office/powerpoint/2010/main" val="2546992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3309</Words>
  <Application>Microsoft Office PowerPoint</Application>
  <PresentationFormat>Widescreen</PresentationFormat>
  <Paragraphs>523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dinregular</vt:lpstr>
      <vt:lpstr>ff-meta-serif-web-pro</vt:lpstr>
      <vt:lpstr>Wingdings</vt:lpstr>
      <vt:lpstr>Office Theme</vt:lpstr>
      <vt:lpstr>                   Ecolution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      Ecolution</dc:title>
  <dc:creator>Devesh Sinha</dc:creator>
  <cp:lastModifiedBy>Mohit Kiradoo</cp:lastModifiedBy>
  <cp:revision>5</cp:revision>
  <dcterms:created xsi:type="dcterms:W3CDTF">2022-08-04T18:53:31Z</dcterms:created>
  <dcterms:modified xsi:type="dcterms:W3CDTF">2022-08-04T20:41:15Z</dcterms:modified>
</cp:coreProperties>
</file>