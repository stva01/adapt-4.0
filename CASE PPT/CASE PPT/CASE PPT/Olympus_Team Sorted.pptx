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1" r:id="rId3"/>
    <p:sldId id="260" r:id="rId4"/>
    <p:sldId id="272" r:id="rId5"/>
    <p:sldId id="269" r:id="rId6"/>
    <p:sldId id="271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Indig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Indig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Indig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Activity in AAI Airports - Share(%) - FY21</a:t>
            </a:r>
          </a:p>
        </c:rich>
      </c:tx>
      <c:layout>
        <c:manualLayout>
          <c:xMode val="edge"/>
          <c:yMode val="edge"/>
          <c:x val="0.27727350632828396"/>
          <c:y val="3.77654530063190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Domestic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solidFill>
                <a:srgbClr val="0070C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Sheet2!$A$2:$A$4</c:f>
              <c:strCache>
                <c:ptCount val="3"/>
                <c:pt idx="0">
                  <c:v>Aircraft movement</c:v>
                </c:pt>
                <c:pt idx="1">
                  <c:v>Passenger traffic</c:v>
                </c:pt>
                <c:pt idx="2">
                  <c:v>Freight traffic</c:v>
                </c:pt>
              </c:strCache>
            </c:strRef>
          </c:cat>
          <c:val>
            <c:numRef>
              <c:f>Sheet2!$B$2:$B$4</c:f>
              <c:numCache>
                <c:formatCode>0.00%</c:formatCode>
                <c:ptCount val="3"/>
                <c:pt idx="0">
                  <c:v>0.88700000000000001</c:v>
                </c:pt>
                <c:pt idx="1">
                  <c:v>0.91200000000000003</c:v>
                </c:pt>
                <c:pt idx="2">
                  <c:v>0.38500000000000001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4C-4CA5-974C-DE3BED9E54DE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International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Sheet2!$A$2:$A$4</c:f>
              <c:strCache>
                <c:ptCount val="3"/>
                <c:pt idx="0">
                  <c:v>Aircraft movement</c:v>
                </c:pt>
                <c:pt idx="1">
                  <c:v>Passenger traffic</c:v>
                </c:pt>
                <c:pt idx="2">
                  <c:v>Freight traffic</c:v>
                </c:pt>
              </c:strCache>
            </c:strRef>
          </c:cat>
          <c:val>
            <c:numRef>
              <c:f>Sheet2!$C$2:$C$4</c:f>
              <c:numCache>
                <c:formatCode>0.00%</c:formatCode>
                <c:ptCount val="3"/>
                <c:pt idx="0">
                  <c:v>0.113</c:v>
                </c:pt>
                <c:pt idx="1">
                  <c:v>8.7999999999999995E-2</c:v>
                </c:pt>
                <c:pt idx="2">
                  <c:v>0.61499999999999999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4C-4CA5-974C-DE3BED9E5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73494856"/>
        <c:axId val="573502400"/>
      </c:barChart>
      <c:catAx>
        <c:axId val="573494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3502400"/>
        <c:crosses val="autoZero"/>
        <c:auto val="1"/>
        <c:lblAlgn val="ctr"/>
        <c:lblOffset val="100"/>
        <c:noMultiLvlLbl val="0"/>
      </c:catAx>
      <c:valAx>
        <c:axId val="5735024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73494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778387379622437"/>
          <c:y val="0.14651809972264251"/>
          <c:w val="0.28210257868676442"/>
          <c:h val="9.06536406924081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Growth in Domestic Passengers(million)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Sheet3!$A$2</c:f>
              <c:strCache>
                <c:ptCount val="1"/>
                <c:pt idx="0">
                  <c:v>FY18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Sheet3!$B$2</c:f>
              <c:numCache>
                <c:formatCode>General</c:formatCode>
                <c:ptCount val="1"/>
                <c:pt idx="0">
                  <c:v>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2F-4FA8-BBA1-0989A5EBD8C6}"/>
            </c:ext>
          </c:extLst>
        </c:ser>
        <c:ser>
          <c:idx val="1"/>
          <c:order val="1"/>
          <c:tx>
            <c:strRef>
              <c:f>Sheet3!$A$3</c:f>
              <c:strCache>
                <c:ptCount val="1"/>
                <c:pt idx="0">
                  <c:v>Fy19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Sheet3!$B$3</c:f>
              <c:numCache>
                <c:formatCode>General</c:formatCode>
                <c:ptCount val="1"/>
                <c:pt idx="0">
                  <c:v>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2F-4FA8-BBA1-0989A5EBD8C6}"/>
            </c:ext>
          </c:extLst>
        </c:ser>
        <c:ser>
          <c:idx val="2"/>
          <c:order val="2"/>
          <c:tx>
            <c:strRef>
              <c:f>Sheet3!$A$4</c:f>
              <c:strCache>
                <c:ptCount val="1"/>
                <c:pt idx="0">
                  <c:v>FY20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Sheet3!$B$4</c:f>
              <c:numCache>
                <c:formatCode>General</c:formatCode>
                <c:ptCount val="1"/>
                <c:pt idx="0">
                  <c:v>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2F-4FA8-BBA1-0989A5EBD8C6}"/>
            </c:ext>
          </c:extLst>
        </c:ser>
        <c:ser>
          <c:idx val="3"/>
          <c:order val="3"/>
          <c:tx>
            <c:strRef>
              <c:f>Sheet3!$A$5</c:f>
              <c:strCache>
                <c:ptCount val="1"/>
                <c:pt idx="0">
                  <c:v>FY21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Sheet3!$B$5</c:f>
              <c:numCache>
                <c:formatCode>General</c:formatCode>
                <c:ptCount val="1"/>
                <c:pt idx="0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D2F-4FA8-BBA1-0989A5EBD8C6}"/>
            </c:ext>
          </c:extLst>
        </c:ser>
        <c:ser>
          <c:idx val="4"/>
          <c:order val="4"/>
          <c:tx>
            <c:strRef>
              <c:f>Sheet3!$A$6</c:f>
              <c:strCache>
                <c:ptCount val="1"/>
                <c:pt idx="0">
                  <c:v>FY22(until septeber)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Sheet3!$B$6</c:f>
              <c:numCache>
                <c:formatCode>General</c:formatCode>
                <c:ptCount val="1"/>
                <c:pt idx="0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2F-4FA8-BBA1-0989A5EBD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8785744"/>
        <c:axId val="573492232"/>
      </c:barChart>
      <c:catAx>
        <c:axId val="5687857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3492232"/>
        <c:crosses val="autoZero"/>
        <c:auto val="1"/>
        <c:lblAlgn val="ctr"/>
        <c:lblOffset val="100"/>
        <c:noMultiLvlLbl val="0"/>
      </c:catAx>
      <c:valAx>
        <c:axId val="5734922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68785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Growth in International Passengers(million)</a:t>
            </a:r>
          </a:p>
        </c:rich>
      </c:tx>
      <c:layout>
        <c:manualLayout>
          <c:xMode val="edge"/>
          <c:yMode val="edge"/>
          <c:x val="7.7499455844604229E-2"/>
          <c:y val="4.31434405000492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Sheet4!$A$1</c:f>
              <c:strCache>
                <c:ptCount val="1"/>
                <c:pt idx="0">
                  <c:v>FY18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Sheet4!$B$1</c:f>
              <c:numCache>
                <c:formatCode>General</c:formatCode>
                <c:ptCount val="1"/>
                <c:pt idx="0">
                  <c:v>65.5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71-4E77-B3B9-6B9014E72549}"/>
            </c:ext>
          </c:extLst>
        </c:ser>
        <c:ser>
          <c:idx val="1"/>
          <c:order val="1"/>
          <c:tx>
            <c:strRef>
              <c:f>Sheet4!$A$2</c:f>
              <c:strCache>
                <c:ptCount val="1"/>
                <c:pt idx="0">
                  <c:v>Fy19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Sheet4!$B$2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71-4E77-B3B9-6B9014E72549}"/>
            </c:ext>
          </c:extLst>
        </c:ser>
        <c:ser>
          <c:idx val="2"/>
          <c:order val="2"/>
          <c:tx>
            <c:strRef>
              <c:f>Sheet4!$A$3</c:f>
              <c:strCache>
                <c:ptCount val="1"/>
                <c:pt idx="0">
                  <c:v>FY20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Sheet4!$B$3</c:f>
              <c:numCache>
                <c:formatCode>General</c:formatCode>
                <c:ptCount val="1"/>
                <c:pt idx="0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71-4E77-B3B9-6B9014E72549}"/>
            </c:ext>
          </c:extLst>
        </c:ser>
        <c:ser>
          <c:idx val="3"/>
          <c:order val="3"/>
          <c:tx>
            <c:strRef>
              <c:f>Sheet4!$A$4</c:f>
              <c:strCache>
                <c:ptCount val="1"/>
                <c:pt idx="0">
                  <c:v>FY21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Sheet4!$B$4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71-4E77-B3B9-6B9014E72549}"/>
            </c:ext>
          </c:extLst>
        </c:ser>
        <c:ser>
          <c:idx val="4"/>
          <c:order val="4"/>
          <c:tx>
            <c:strRef>
              <c:f>Sheet4!$A$5</c:f>
              <c:strCache>
                <c:ptCount val="1"/>
                <c:pt idx="0">
                  <c:v>FY22(until septeber)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Sheet4!$B$5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71-4E77-B3B9-6B9014E725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1949512"/>
        <c:axId val="551949840"/>
      </c:barChart>
      <c:catAx>
        <c:axId val="5519495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1949840"/>
        <c:crosses val="autoZero"/>
        <c:auto val="1"/>
        <c:lblAlgn val="ctr"/>
        <c:lblOffset val="100"/>
        <c:noMultiLvlLbl val="0"/>
      </c:catAx>
      <c:valAx>
        <c:axId val="551949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51949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3CFA4-448F-4368-A48D-381C77AEB17A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F628B-CC85-4ACA-907B-6A6F107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2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11643-F5FD-4881-9CD3-216E5F7406C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14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C2A7-99BB-404B-93F1-E6C399D46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1294B-81AA-42FF-8736-BF3988AD1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0A30C-91EB-4A5D-9369-DAAC2300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89BFC-F815-432F-A877-16BEE7E7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DCD02-0469-4AFB-BF52-494FC583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83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0926-AF3A-40F2-8F50-9C5179E6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4E507-B85D-4262-B1AF-71526DD5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4CA00-2F1D-413C-8235-8FB42925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D1F44-0383-4BCB-B8A7-F932F39F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8BFE-5AE7-4EC1-892A-9ABF0440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5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E184-4971-4C1A-A3D1-63451065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2D263-2386-469E-81BB-C0558427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0CD9E-0531-49E1-BBBE-57A9B525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F1914-0C6E-4568-91A8-64669628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45396-FF99-44AF-A82E-CD870F0A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81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D3B-E40A-4CA3-8D8A-C4B63EA61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39CE-97F5-45E9-BF59-CB13D1167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2F81A-8FF4-4C88-A331-E1A40C16F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3FA8E-0ECD-427D-B469-9C9E8D77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11513-8192-454F-8DD6-D55BFA5F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63C68-7754-4DF7-89DA-26A76DAD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84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D06E-38DF-42C0-9ABE-55F8BDD0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A4780-7B43-4ABD-81BD-D7FA41657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D800A-4A8F-49C5-81D0-382B6A8F1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30D4A-B01D-4C28-89A2-8F88746E4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4EF70-30FB-4921-9D23-1E32F2506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CB142-4C42-4820-A7DA-12C7261B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438FE-430D-4873-BFE7-648F9AFA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CDA39-D96E-4F04-9D3B-50C85072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01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A8FE-8563-476D-9889-0993CC7D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808F3-AF04-43A1-8776-8576F3E2F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AB500-744A-41F7-B6C4-9028F8882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70B07-00EE-40EF-AD09-4D22A310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23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4FF90-9C21-4FAA-AAFE-97D203ED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10058-AF1F-413D-AAF8-851A8142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350ED-52E2-4733-9AA6-D884B925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7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F667-3646-4E11-A370-4C720A93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BE471-A5ED-48DC-A3AE-49455DEC3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6EA8D-E675-47A6-8E30-C7D02BEF7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F355F-3634-4614-A84C-C728F0291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E0574-EE1A-4F53-A511-53CBDEFB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77FE3-591C-4B00-BE2B-75D21A37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87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E5D5-4654-4174-89DA-FCC72B961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E331F4-6411-4EF2-8871-620C5CE66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F6020-934E-4E34-BB43-87EA79592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FE417-A454-4F6D-9392-832AE59BB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F12DC-A0CF-4FD5-ACCC-7B23B97D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83C62-8B63-4BE1-909D-C0AB0ECD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98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C2C0-133A-435A-BD50-D8A86CF9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23737-5A90-4BE2-BC70-EA5346F1A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D95AE-9ED0-4232-9150-80E4B706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5B3D-8D95-4730-B421-0CF3FB92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29EA1-E5AC-4A6F-AFEC-BFB089E0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40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1105F-62AB-4E05-ADAC-F3D4AEE38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94EFA-FD91-4C1A-BB8F-9605EF96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01F20-BDDA-4744-A3C4-6FB8473B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C3B84-E5F3-4FE9-BF3E-FD17DDBF3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17809-036C-4371-A7EF-469EBF37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081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5006C-65BA-45F5-B31D-FF0EEE8C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673FC-6B43-4C8A-AA59-B84E123D8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2A75F-3BAF-4EB5-B5CA-FFC00F152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FC1B9-EA1D-49DE-81CC-E6752C9305A8}" type="datetimeFigureOut">
              <a:rPr lang="en-IN" smtClean="0"/>
              <a:t>30-01-2022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9B1E2-B3D8-4601-B72A-AFE511253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AAA2A-AB80-412D-A9C9-5E6C484CF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79A3-6676-49D9-976C-597A316F7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11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2.jpeg"/><Relationship Id="rId17" Type="http://schemas.openxmlformats.org/officeDocument/2006/relationships/image" Target="../media/image17.png"/><Relationship Id="rId2" Type="http://schemas.openxmlformats.org/officeDocument/2006/relationships/image" Target="../media/image5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10" Type="http://schemas.openxmlformats.org/officeDocument/2006/relationships/chart" Target="../charts/chart3.xml"/><Relationship Id="rId4" Type="http://schemas.openxmlformats.org/officeDocument/2006/relationships/image" Target="../media/image7.png"/><Relationship Id="rId9" Type="http://schemas.openxmlformats.org/officeDocument/2006/relationships/chart" Target="../charts/chart2.xml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3039E7-1F94-4787-A276-94CB5732F18D}"/>
              </a:ext>
            </a:extLst>
          </p:cNvPr>
          <p:cNvSpPr/>
          <p:nvPr/>
        </p:nvSpPr>
        <p:spPr>
          <a:xfrm>
            <a:off x="2942895" y="1857703"/>
            <a:ext cx="6306207" cy="3142593"/>
          </a:xfrm>
          <a:prstGeom prst="round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0192A-AF3A-4016-B0A6-63B3F8804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538" y="1696277"/>
            <a:ext cx="9144000" cy="948489"/>
          </a:xfrm>
        </p:spPr>
        <p:txBody>
          <a:bodyPr>
            <a:normAutofit fontScale="90000"/>
          </a:bodyPr>
          <a:lstStyle/>
          <a:p>
            <a:br>
              <a:rPr lang="en-IN" sz="4000" dirty="0"/>
            </a:br>
            <a:br>
              <a:rPr lang="en-IN" sz="4000" dirty="0"/>
            </a:br>
            <a:r>
              <a:rPr lang="en-IN" sz="4000" dirty="0"/>
              <a:t>The Boardroom Challenge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0D9F52-1D01-4B64-8CCF-8A5DDD992D49}"/>
              </a:ext>
            </a:extLst>
          </p:cNvPr>
          <p:cNvGrpSpPr/>
          <p:nvPr/>
        </p:nvGrpSpPr>
        <p:grpSpPr>
          <a:xfrm>
            <a:off x="3942833" y="2946483"/>
            <a:ext cx="4306336" cy="1114105"/>
            <a:chOff x="3942835" y="3323229"/>
            <a:chExt cx="4306336" cy="1114105"/>
          </a:xfrm>
        </p:grpSpPr>
        <p:pic>
          <p:nvPicPr>
            <p:cNvPr id="7" name="Picture 6" descr="A person with long hair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578628A2-CCAF-47E7-9EC9-F6741946A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5111" y="3323229"/>
              <a:ext cx="940858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A person in a suit and tie&#10;&#10;Description automatically generated">
              <a:extLst>
                <a:ext uri="{FF2B5EF4-FFF2-40B4-BE49-F238E27FC236}">
                  <a16:creationId xmlns:a16="http://schemas.microsoft.com/office/drawing/2014/main" id="{2941C996-0A7A-42E2-AD3D-350F6CB44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2835" y="3323229"/>
              <a:ext cx="940858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 descr="A person wearing glasses and a suit&#10;&#10;Description automatically generated with medium confidence">
              <a:extLst>
                <a:ext uri="{FF2B5EF4-FFF2-40B4-BE49-F238E27FC236}">
                  <a16:creationId xmlns:a16="http://schemas.microsoft.com/office/drawing/2014/main" id="{A034D660-8DD3-4114-8E08-A7BE19B35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8313" y="3323229"/>
              <a:ext cx="940858" cy="11141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Subtitle 2">
            <a:extLst>
              <a:ext uri="{FF2B5EF4-FFF2-40B4-BE49-F238E27FC236}">
                <a16:creationId xmlns:a16="http://schemas.microsoft.com/office/drawing/2014/main" id="{D6CBFF5F-823A-4EB1-A9E4-94A632137C42}"/>
              </a:ext>
            </a:extLst>
          </p:cNvPr>
          <p:cNvSpPr txBox="1">
            <a:spLocks/>
          </p:cNvSpPr>
          <p:nvPr/>
        </p:nvSpPr>
        <p:spPr>
          <a:xfrm>
            <a:off x="3802024" y="4136034"/>
            <a:ext cx="4763907" cy="29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Devesh Sinha              Kajal Gupta             Mohit Kiradoo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F977C5-A5FE-4473-9D65-6AD681E0762E}"/>
              </a:ext>
            </a:extLst>
          </p:cNvPr>
          <p:cNvSpPr txBox="1">
            <a:spLocks/>
          </p:cNvSpPr>
          <p:nvPr/>
        </p:nvSpPr>
        <p:spPr>
          <a:xfrm>
            <a:off x="3714044" y="4507679"/>
            <a:ext cx="4763907" cy="29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T. A. Pai Management Institute</a:t>
            </a:r>
          </a:p>
        </p:txBody>
      </p:sp>
      <p:pic>
        <p:nvPicPr>
          <p:cNvPr id="13" name="Picture 2" descr="tapmi_logo17 - TAPMI">
            <a:extLst>
              <a:ext uri="{FF2B5EF4-FFF2-40B4-BE49-F238E27FC236}">
                <a16:creationId xmlns:a16="http://schemas.microsoft.com/office/drawing/2014/main" id="{305D5170-C582-45F6-9342-8B73D7B6A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7" t="17626" r="13331" b="21391"/>
          <a:stretch/>
        </p:blipFill>
        <p:spPr bwMode="auto">
          <a:xfrm>
            <a:off x="9409044" y="0"/>
            <a:ext cx="2782956" cy="116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138C94-A50C-40F0-A002-74E3D0486D49}"/>
              </a:ext>
            </a:extLst>
          </p:cNvPr>
          <p:cNvSpPr txBox="1"/>
          <p:nvPr/>
        </p:nvSpPr>
        <p:spPr>
          <a:xfrm>
            <a:off x="3942833" y="1223267"/>
            <a:ext cx="4048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OLYMPUS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407654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DEC26E16-A228-4215-983D-95A0FA4E4367}"/>
              </a:ext>
            </a:extLst>
          </p:cNvPr>
          <p:cNvGrpSpPr/>
          <p:nvPr/>
        </p:nvGrpSpPr>
        <p:grpSpPr>
          <a:xfrm>
            <a:off x="2190321" y="557158"/>
            <a:ext cx="8901749" cy="6343707"/>
            <a:chOff x="2190321" y="389517"/>
            <a:chExt cx="9021019" cy="651134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7914963-4F67-45F1-BA89-E9E7B62BFF2C}"/>
                </a:ext>
              </a:extLst>
            </p:cNvPr>
            <p:cNvGrpSpPr/>
            <p:nvPr/>
          </p:nvGrpSpPr>
          <p:grpSpPr>
            <a:xfrm>
              <a:off x="2457459" y="474154"/>
              <a:ext cx="8753881" cy="1119122"/>
              <a:chOff x="1388084" y="914633"/>
              <a:chExt cx="8753881" cy="128039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2178FDE-2FAD-48FE-95D4-53599689657B}"/>
                  </a:ext>
                </a:extLst>
              </p:cNvPr>
              <p:cNvGrpSpPr/>
              <p:nvPr/>
            </p:nvGrpSpPr>
            <p:grpSpPr>
              <a:xfrm>
                <a:off x="5857462" y="1837759"/>
                <a:ext cx="4121426" cy="357268"/>
                <a:chOff x="6474105" y="1837759"/>
                <a:chExt cx="4121426" cy="357268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CD188B-BD41-4ED5-9E1E-4D381BD270FF}"/>
                    </a:ext>
                  </a:extLst>
                </p:cNvPr>
                <p:cNvSpPr txBox="1"/>
                <p:nvPr/>
              </p:nvSpPr>
              <p:spPr>
                <a:xfrm>
                  <a:off x="6792157" y="1842898"/>
                  <a:ext cx="3803374" cy="3521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Number of Airports: 153</a:t>
                  </a:r>
                  <a:endParaRPr lang="en-IN" sz="1400" dirty="0"/>
                </a:p>
              </p:txBody>
            </p:sp>
            <p:pic>
              <p:nvPicPr>
                <p:cNvPr id="1042" name="Picture 18" descr="Airport free icon">
                  <a:extLst>
                    <a:ext uri="{FF2B5EF4-FFF2-40B4-BE49-F238E27FC236}">
                      <a16:creationId xmlns:a16="http://schemas.microsoft.com/office/drawing/2014/main" id="{CA520D09-3FB5-4DC5-82CE-8C7C0AA05A9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74105" y="1837759"/>
                  <a:ext cx="318052" cy="31805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0476A6D-C077-4686-9CA5-40440412D9A8}"/>
                  </a:ext>
                </a:extLst>
              </p:cNvPr>
              <p:cNvGrpSpPr/>
              <p:nvPr/>
            </p:nvGrpSpPr>
            <p:grpSpPr>
              <a:xfrm>
                <a:off x="1439601" y="1837759"/>
                <a:ext cx="4111154" cy="323495"/>
                <a:chOff x="1452853" y="1827180"/>
                <a:chExt cx="4111154" cy="323495"/>
              </a:xfrm>
            </p:grpSpPr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0104B15-6221-424F-9720-7A7C3614DF0E}"/>
                    </a:ext>
                  </a:extLst>
                </p:cNvPr>
                <p:cNvSpPr txBox="1"/>
                <p:nvPr/>
              </p:nvSpPr>
              <p:spPr>
                <a:xfrm>
                  <a:off x="1760633" y="1827180"/>
                  <a:ext cx="380337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Number of Aircrafts: 680</a:t>
                  </a:r>
                  <a:endParaRPr lang="en-IN" sz="1400" dirty="0"/>
                </a:p>
              </p:txBody>
            </p:sp>
            <p:pic>
              <p:nvPicPr>
                <p:cNvPr id="22" name="Picture 12" descr="Departures free icon">
                  <a:extLst>
                    <a:ext uri="{FF2B5EF4-FFF2-40B4-BE49-F238E27FC236}">
                      <a16:creationId xmlns:a16="http://schemas.microsoft.com/office/drawing/2014/main" id="{E0A8EF4F-7D3E-46EE-BE98-790D98BE2D4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52853" y="1842895"/>
                  <a:ext cx="307780" cy="3077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E6DEE16-B0FD-485E-B5C4-57F481335D25}"/>
                  </a:ext>
                </a:extLst>
              </p:cNvPr>
              <p:cNvGrpSpPr/>
              <p:nvPr/>
            </p:nvGrpSpPr>
            <p:grpSpPr>
              <a:xfrm>
                <a:off x="5858533" y="914633"/>
                <a:ext cx="4283432" cy="307780"/>
                <a:chOff x="6474105" y="904053"/>
                <a:chExt cx="4283432" cy="307780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BEEC6E2-1DC0-4F16-B9BB-5A0FEE6A0302}"/>
                    </a:ext>
                  </a:extLst>
                </p:cNvPr>
                <p:cNvSpPr txBox="1"/>
                <p:nvPr/>
              </p:nvSpPr>
              <p:spPr>
                <a:xfrm>
                  <a:off x="6781884" y="904053"/>
                  <a:ext cx="397565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Non-scheduled airlines in operation: 95</a:t>
                  </a:r>
                  <a:endParaRPr lang="en-IN" sz="1400" dirty="0"/>
                </a:p>
              </p:txBody>
            </p:sp>
            <p:pic>
              <p:nvPicPr>
                <p:cNvPr id="25" name="Picture 14" descr="Flight free icon">
                  <a:extLst>
                    <a:ext uri="{FF2B5EF4-FFF2-40B4-BE49-F238E27FC236}">
                      <a16:creationId xmlns:a16="http://schemas.microsoft.com/office/drawing/2014/main" id="{16226156-069F-43A6-B168-53457F8D2F2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74105" y="904054"/>
                  <a:ext cx="307779" cy="30777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AE6EE846-AE58-403B-BE99-0971D19E1F6B}"/>
                  </a:ext>
                </a:extLst>
              </p:cNvPr>
              <p:cNvGrpSpPr/>
              <p:nvPr/>
            </p:nvGrpSpPr>
            <p:grpSpPr>
              <a:xfrm>
                <a:off x="5858533" y="1338956"/>
                <a:ext cx="4107103" cy="307777"/>
                <a:chOff x="6474105" y="1346973"/>
                <a:chExt cx="4107103" cy="307777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11233A7-CEB8-4F76-83F4-641ED802B6DF}"/>
                    </a:ext>
                  </a:extLst>
                </p:cNvPr>
                <p:cNvSpPr txBox="1"/>
                <p:nvPr/>
              </p:nvSpPr>
              <p:spPr>
                <a:xfrm>
                  <a:off x="6777834" y="1346973"/>
                  <a:ext cx="380337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Cargo handled: 3.33 MMT</a:t>
                  </a:r>
                  <a:endParaRPr lang="en-IN" sz="1400" dirty="0"/>
                </a:p>
              </p:txBody>
            </p:sp>
            <p:pic>
              <p:nvPicPr>
                <p:cNvPr id="28" name="Picture 16" descr="Cargo free icon">
                  <a:extLst>
                    <a:ext uri="{FF2B5EF4-FFF2-40B4-BE49-F238E27FC236}">
                      <a16:creationId xmlns:a16="http://schemas.microsoft.com/office/drawing/2014/main" id="{A9A32C75-74B5-460D-B765-7CA3BDF41A6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74105" y="1348998"/>
                  <a:ext cx="303729" cy="3037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7119E56-0E82-4839-B796-D77268D520DF}"/>
                  </a:ext>
                </a:extLst>
              </p:cNvPr>
              <p:cNvGrpSpPr/>
              <p:nvPr/>
            </p:nvGrpSpPr>
            <p:grpSpPr>
              <a:xfrm>
                <a:off x="1439603" y="914633"/>
                <a:ext cx="4111152" cy="307778"/>
                <a:chOff x="1452855" y="904054"/>
                <a:chExt cx="4111152" cy="307778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AC41A62-994C-49CC-8511-9445E7A1FDCF}"/>
                    </a:ext>
                  </a:extLst>
                </p:cNvPr>
                <p:cNvSpPr txBox="1"/>
                <p:nvPr/>
              </p:nvSpPr>
              <p:spPr>
                <a:xfrm>
                  <a:off x="1760633" y="904054"/>
                  <a:ext cx="380337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Distance Flown: 1549.7 mn km</a:t>
                  </a:r>
                  <a:endParaRPr lang="en-IN" sz="1400" dirty="0"/>
                </a:p>
              </p:txBody>
            </p:sp>
            <p:pic>
              <p:nvPicPr>
                <p:cNvPr id="31" name="Picture 20" descr="Way free icon">
                  <a:extLst>
                    <a:ext uri="{FF2B5EF4-FFF2-40B4-BE49-F238E27FC236}">
                      <a16:creationId xmlns:a16="http://schemas.microsoft.com/office/drawing/2014/main" id="{E808817D-71D5-48B9-844C-09C77AF41C0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52855" y="904054"/>
                  <a:ext cx="307778" cy="307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0EDF0D0F-6969-4D1C-A1F0-060AE77AD80C}"/>
                  </a:ext>
                </a:extLst>
              </p:cNvPr>
              <p:cNvGrpSpPr/>
              <p:nvPr/>
            </p:nvGrpSpPr>
            <p:grpSpPr>
              <a:xfrm>
                <a:off x="1388084" y="1335930"/>
                <a:ext cx="4162671" cy="331424"/>
                <a:chOff x="1401336" y="1325351"/>
                <a:chExt cx="4162671" cy="331424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3E7A0BB-4D33-4BB1-A40C-9D43971200A7}"/>
                    </a:ext>
                  </a:extLst>
                </p:cNvPr>
                <p:cNvSpPr txBox="1"/>
                <p:nvPr/>
              </p:nvSpPr>
              <p:spPr>
                <a:xfrm>
                  <a:off x="1760633" y="1348998"/>
                  <a:ext cx="380337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Air Passengers traffic: 115.37 mn</a:t>
                  </a:r>
                  <a:endParaRPr lang="en-IN" sz="1400" dirty="0"/>
                </a:p>
              </p:txBody>
            </p:sp>
            <p:pic>
              <p:nvPicPr>
                <p:cNvPr id="34" name="Picture 22" descr="Passenger free icon">
                  <a:extLst>
                    <a:ext uri="{FF2B5EF4-FFF2-40B4-BE49-F238E27FC236}">
                      <a16:creationId xmlns:a16="http://schemas.microsoft.com/office/drawing/2014/main" id="{29F8C402-612A-4BD1-862F-967F74D9EA9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01336" y="1325351"/>
                  <a:ext cx="307779" cy="30777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aphicFrame>
          <p:nvGraphicFramePr>
            <p:cNvPr id="36" name="Chart 35">
              <a:extLst>
                <a:ext uri="{FF2B5EF4-FFF2-40B4-BE49-F238E27FC236}">
                  <a16:creationId xmlns:a16="http://schemas.microsoft.com/office/drawing/2014/main" id="{31BB88C6-5D80-4017-B37B-C17D9124777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86067175"/>
                </p:ext>
              </p:extLst>
            </p:nvPr>
          </p:nvGraphicFramePr>
          <p:xfrm>
            <a:off x="3348033" y="1847172"/>
            <a:ext cx="5285994" cy="221769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CEFA19C-4AC9-4896-9EEB-22572F8B5843}"/>
                </a:ext>
              </a:extLst>
            </p:cNvPr>
            <p:cNvGrpSpPr/>
            <p:nvPr/>
          </p:nvGrpSpPr>
          <p:grpSpPr>
            <a:xfrm>
              <a:off x="2190321" y="3774369"/>
              <a:ext cx="8692825" cy="1761041"/>
              <a:chOff x="2190321" y="3774369"/>
              <a:chExt cx="8692825" cy="1761041"/>
            </a:xfrm>
          </p:grpSpPr>
          <p:graphicFrame>
            <p:nvGraphicFramePr>
              <p:cNvPr id="37" name="Chart 36">
                <a:extLst>
                  <a:ext uri="{FF2B5EF4-FFF2-40B4-BE49-F238E27FC236}">
                    <a16:creationId xmlns:a16="http://schemas.microsoft.com/office/drawing/2014/main" id="{45765190-D703-4825-8C7A-FE5CAB5B670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926837" y="3774369"/>
              <a:ext cx="3956309" cy="176104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graphicFrame>
            <p:nvGraphicFramePr>
              <p:cNvPr id="38" name="Chart 37">
                <a:extLst>
                  <a:ext uri="{FF2B5EF4-FFF2-40B4-BE49-F238E27FC236}">
                    <a16:creationId xmlns:a16="http://schemas.microsoft.com/office/drawing/2014/main" id="{A57100B8-CD31-4010-8307-2B4A864E6C6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190321" y="3780543"/>
              <a:ext cx="4263488" cy="175486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B125A81-4F0E-4519-ADCC-34A1C7C7D35F}"/>
                </a:ext>
              </a:extLst>
            </p:cNvPr>
            <p:cNvGrpSpPr/>
            <p:nvPr/>
          </p:nvGrpSpPr>
          <p:grpSpPr>
            <a:xfrm>
              <a:off x="3407729" y="5340380"/>
              <a:ext cx="6905428" cy="1560485"/>
              <a:chOff x="3407729" y="5340380"/>
              <a:chExt cx="6905428" cy="1560485"/>
            </a:xfrm>
          </p:grpSpPr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93ED5A81-F76E-40B2-BB5F-D9D5924BF4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729" y="5513680"/>
                <a:ext cx="1038814" cy="11096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329295549">
                <a:extLst>
                  <a:ext uri="{FF2B5EF4-FFF2-40B4-BE49-F238E27FC236}">
                    <a16:creationId xmlns:a16="http://schemas.microsoft.com/office/drawing/2014/main" id="{9D929688-2152-4198-95E5-1AB0C5AE13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66109" y="5430323"/>
                <a:ext cx="1406729" cy="1237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16" descr="Logo&#10;&#10;Description automatically generated">
                <a:extLst>
                  <a:ext uri="{FF2B5EF4-FFF2-40B4-BE49-F238E27FC236}">
                    <a16:creationId xmlns:a16="http://schemas.microsoft.com/office/drawing/2014/main" id="{48516CB2-382F-4ED8-B3C4-D89F6FC411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34029" y="5340380"/>
                <a:ext cx="1679128" cy="1417578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A1CB79-4A04-426D-B695-4CAC6E9B96D4}"/>
                  </a:ext>
                </a:extLst>
              </p:cNvPr>
              <p:cNvSpPr txBox="1"/>
              <p:nvPr/>
            </p:nvSpPr>
            <p:spPr>
              <a:xfrm>
                <a:off x="3605532" y="6562927"/>
                <a:ext cx="7015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UDAN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0230682-BD0A-41F1-8F60-EAC8B4EB0762}"/>
                  </a:ext>
                </a:extLst>
              </p:cNvPr>
              <p:cNvSpPr txBox="1"/>
              <p:nvPr/>
            </p:nvSpPr>
            <p:spPr>
              <a:xfrm>
                <a:off x="6158761" y="6500755"/>
                <a:ext cx="12313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100% FDI for Greenfield Projects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F1BCFC-42F2-4D86-8B5F-B035CEF4B07D}"/>
                  </a:ext>
                </a:extLst>
              </p:cNvPr>
              <p:cNvSpPr txBox="1"/>
              <p:nvPr/>
            </p:nvSpPr>
            <p:spPr>
              <a:xfrm>
                <a:off x="9059240" y="6562927"/>
                <a:ext cx="119421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Open Sky  Policy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C062FDB-2E59-4485-A9FB-460C696CD69F}"/>
                </a:ext>
              </a:extLst>
            </p:cNvPr>
            <p:cNvGrpSpPr/>
            <p:nvPr/>
          </p:nvGrpSpPr>
          <p:grpSpPr>
            <a:xfrm>
              <a:off x="2508976" y="389517"/>
              <a:ext cx="7909189" cy="1283740"/>
              <a:chOff x="2508976" y="389517"/>
              <a:chExt cx="7909189" cy="128374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F88949D-89C6-41D9-8CE2-7356C0571A07}"/>
                  </a:ext>
                </a:extLst>
              </p:cNvPr>
              <p:cNvCxnSpPr/>
              <p:nvPr/>
            </p:nvCxnSpPr>
            <p:spPr>
              <a:xfrm>
                <a:off x="2508976" y="389517"/>
                <a:ext cx="7909188" cy="0"/>
              </a:xfrm>
              <a:prstGeom prst="line">
                <a:avLst/>
              </a:prstGeom>
              <a:ln w="12700">
                <a:solidFill>
                  <a:srgbClr val="FABE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81233E2-7E53-4854-8040-8704849331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8165" y="389517"/>
                <a:ext cx="0" cy="1283740"/>
              </a:xfrm>
              <a:prstGeom prst="line">
                <a:avLst/>
              </a:prstGeom>
              <a:ln w="12700">
                <a:solidFill>
                  <a:srgbClr val="FABE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ACAAE69-F103-440B-A47D-87A2E46F2B1E}"/>
                </a:ext>
              </a:extLst>
            </p:cNvPr>
            <p:cNvGrpSpPr/>
            <p:nvPr/>
          </p:nvGrpSpPr>
          <p:grpSpPr>
            <a:xfrm>
              <a:off x="2457459" y="1846551"/>
              <a:ext cx="7960705" cy="1673924"/>
              <a:chOff x="2457459" y="1846551"/>
              <a:chExt cx="7960705" cy="167392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FF3CFD2-9600-4FE0-B11A-A6C6D1763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7459" y="1846861"/>
                <a:ext cx="796070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DD930B5-9407-439F-B7D7-A607752E90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05672" y="1846551"/>
                <a:ext cx="1" cy="16739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1DDA19F-E297-41D9-9E89-7BC60B59613D}"/>
                </a:ext>
              </a:extLst>
            </p:cNvPr>
            <p:cNvGrpSpPr/>
            <p:nvPr/>
          </p:nvGrpSpPr>
          <p:grpSpPr>
            <a:xfrm>
              <a:off x="2508976" y="3774369"/>
              <a:ext cx="7909188" cy="1585464"/>
              <a:chOff x="2508976" y="3774369"/>
              <a:chExt cx="7909188" cy="1585464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4F2A6EC-2F9A-474D-9F83-79291E55C951}"/>
                  </a:ext>
                </a:extLst>
              </p:cNvPr>
              <p:cNvCxnSpPr/>
              <p:nvPr/>
            </p:nvCxnSpPr>
            <p:spPr>
              <a:xfrm>
                <a:off x="2508976" y="3774369"/>
                <a:ext cx="7909188" cy="0"/>
              </a:xfrm>
              <a:prstGeom prst="line">
                <a:avLst/>
              </a:prstGeom>
              <a:ln>
                <a:solidFill>
                  <a:srgbClr val="FABE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E674E4D-411A-4313-8159-6CC2FFDF3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5672" y="3774369"/>
                <a:ext cx="12492" cy="1585464"/>
              </a:xfrm>
              <a:prstGeom prst="line">
                <a:avLst/>
              </a:prstGeom>
              <a:ln>
                <a:solidFill>
                  <a:srgbClr val="FABE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FCA12490-318A-4862-AA08-B28294F8951D}"/>
                </a:ext>
              </a:extLst>
            </p:cNvPr>
            <p:cNvGrpSpPr/>
            <p:nvPr/>
          </p:nvGrpSpPr>
          <p:grpSpPr>
            <a:xfrm>
              <a:off x="2457459" y="5513680"/>
              <a:ext cx="7960705" cy="1295468"/>
              <a:chOff x="2457459" y="5513680"/>
              <a:chExt cx="7960705" cy="1295468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B2180A7-F917-4173-A157-A5AEC3A85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7459" y="5513680"/>
                <a:ext cx="79482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038D5DA-CC01-42DB-B723-F0E21A3005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5672" y="5513680"/>
                <a:ext cx="12492" cy="12954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A26346A-49F8-48A4-885C-B1E71823E26B}"/>
              </a:ext>
            </a:extLst>
          </p:cNvPr>
          <p:cNvGrpSpPr/>
          <p:nvPr/>
        </p:nvGrpSpPr>
        <p:grpSpPr>
          <a:xfrm>
            <a:off x="357804" y="562030"/>
            <a:ext cx="1906255" cy="6195927"/>
            <a:chOff x="357804" y="562030"/>
            <a:chExt cx="1906255" cy="619592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628635F-FCB9-418A-A87D-1A5E9908F549}"/>
                </a:ext>
              </a:extLst>
            </p:cNvPr>
            <p:cNvGrpSpPr/>
            <p:nvPr/>
          </p:nvGrpSpPr>
          <p:grpSpPr>
            <a:xfrm>
              <a:off x="357804" y="562030"/>
              <a:ext cx="1611047" cy="1245817"/>
              <a:chOff x="357804" y="562030"/>
              <a:chExt cx="1611047" cy="1245817"/>
            </a:xfrm>
          </p:grpSpPr>
          <p:sp>
            <p:nvSpPr>
              <p:cNvPr id="15" name="Rectangle: Single Corner Rounded 14">
                <a:extLst>
                  <a:ext uri="{FF2B5EF4-FFF2-40B4-BE49-F238E27FC236}">
                    <a16:creationId xmlns:a16="http://schemas.microsoft.com/office/drawing/2014/main" id="{2EE4459B-A307-41A2-864D-A7B388E9CD76}"/>
                  </a:ext>
                </a:extLst>
              </p:cNvPr>
              <p:cNvSpPr/>
              <p:nvPr/>
            </p:nvSpPr>
            <p:spPr>
              <a:xfrm>
                <a:off x="357804" y="562030"/>
                <a:ext cx="1416031" cy="1245817"/>
              </a:xfrm>
              <a:prstGeom prst="round1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pic>
            <p:nvPicPr>
              <p:cNvPr id="19" name="Picture 12" descr="Market">
                <a:extLst>
                  <a:ext uri="{FF2B5EF4-FFF2-40B4-BE49-F238E27FC236}">
                    <a16:creationId xmlns:a16="http://schemas.microsoft.com/office/drawing/2014/main" id="{7DDE4E52-BBEC-456A-B2A4-03D0FBEAEA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8931" y="771320"/>
                <a:ext cx="682552" cy="6825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7815DEF-1170-4C57-8DEE-E72BDC8804A0}"/>
                  </a:ext>
                </a:extLst>
              </p:cNvPr>
              <p:cNvSpPr txBox="1"/>
              <p:nvPr/>
            </p:nvSpPr>
            <p:spPr>
              <a:xfrm>
                <a:off x="437578" y="1434884"/>
                <a:ext cx="15312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MARKET SIZE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C995572-5AA4-4493-BB43-8E8317C258A0}"/>
                </a:ext>
              </a:extLst>
            </p:cNvPr>
            <p:cNvGrpSpPr/>
            <p:nvPr/>
          </p:nvGrpSpPr>
          <p:grpSpPr>
            <a:xfrm>
              <a:off x="357804" y="2062101"/>
              <a:ext cx="1416032" cy="1627050"/>
              <a:chOff x="357804" y="2062101"/>
              <a:chExt cx="1416032" cy="1627050"/>
            </a:xfrm>
          </p:grpSpPr>
          <p:sp>
            <p:nvSpPr>
              <p:cNvPr id="40" name="Rectangle: Single Corner Rounded 39">
                <a:extLst>
                  <a:ext uri="{FF2B5EF4-FFF2-40B4-BE49-F238E27FC236}">
                    <a16:creationId xmlns:a16="http://schemas.microsoft.com/office/drawing/2014/main" id="{DCA3BB7E-CA4E-46EB-94D7-E4DFA021B764}"/>
                  </a:ext>
                </a:extLst>
              </p:cNvPr>
              <p:cNvSpPr/>
              <p:nvPr/>
            </p:nvSpPr>
            <p:spPr>
              <a:xfrm>
                <a:off x="357804" y="2062101"/>
                <a:ext cx="1416032" cy="1627050"/>
              </a:xfrm>
              <a:prstGeom prst="round1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5" name="Picture 14" descr="Pie chart free icon">
                <a:extLst>
                  <a:ext uri="{FF2B5EF4-FFF2-40B4-BE49-F238E27FC236}">
                    <a16:creationId xmlns:a16="http://schemas.microsoft.com/office/drawing/2014/main" id="{63365BE9-2824-4605-A795-7C0678E4F4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5204" y="2306145"/>
                <a:ext cx="682552" cy="6825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C1228DE-3FFA-4215-8D20-FD6181547C35}"/>
                  </a:ext>
                </a:extLst>
              </p:cNvPr>
              <p:cNvSpPr txBox="1"/>
              <p:nvPr/>
            </p:nvSpPr>
            <p:spPr>
              <a:xfrm>
                <a:off x="394698" y="3028941"/>
                <a:ext cx="13422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SECTOR COMPOSITION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2C0ACDE-2F66-4E33-803F-6CC7DA0D8E40}"/>
                </a:ext>
              </a:extLst>
            </p:cNvPr>
            <p:cNvGrpSpPr/>
            <p:nvPr/>
          </p:nvGrpSpPr>
          <p:grpSpPr>
            <a:xfrm>
              <a:off x="357804" y="4038056"/>
              <a:ext cx="1583025" cy="1361453"/>
              <a:chOff x="357804" y="4038056"/>
              <a:chExt cx="1583025" cy="1361453"/>
            </a:xfrm>
          </p:grpSpPr>
          <p:sp>
            <p:nvSpPr>
              <p:cNvPr id="41" name="Rectangle: Single Corner Rounded 40">
                <a:extLst>
                  <a:ext uri="{FF2B5EF4-FFF2-40B4-BE49-F238E27FC236}">
                    <a16:creationId xmlns:a16="http://schemas.microsoft.com/office/drawing/2014/main" id="{25D62611-CCC3-4044-9BB3-38D6EF3EAC02}"/>
                  </a:ext>
                </a:extLst>
              </p:cNvPr>
              <p:cNvSpPr/>
              <p:nvPr/>
            </p:nvSpPr>
            <p:spPr>
              <a:xfrm>
                <a:off x="357804" y="4038056"/>
                <a:ext cx="1416028" cy="1361453"/>
              </a:xfrm>
              <a:prstGeom prst="round1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3" name="Picture 18" descr="Trending free icon">
                <a:extLst>
                  <a:ext uri="{FF2B5EF4-FFF2-40B4-BE49-F238E27FC236}">
                    <a16:creationId xmlns:a16="http://schemas.microsoft.com/office/drawing/2014/main" id="{303CCE95-1BEE-423E-B55F-DA948E22ED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754" y="4334198"/>
                <a:ext cx="736002" cy="7360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7EE489C-B3EA-4B1E-97EC-ED34031534FD}"/>
                  </a:ext>
                </a:extLst>
              </p:cNvPr>
              <p:cNvSpPr txBox="1"/>
              <p:nvPr/>
            </p:nvSpPr>
            <p:spPr>
              <a:xfrm>
                <a:off x="523148" y="5034652"/>
                <a:ext cx="14176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KEY TRENDS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DA4F767-AFFE-4C07-8299-481CE7F40091}"/>
                </a:ext>
              </a:extLst>
            </p:cNvPr>
            <p:cNvGrpSpPr/>
            <p:nvPr/>
          </p:nvGrpSpPr>
          <p:grpSpPr>
            <a:xfrm>
              <a:off x="357804" y="5530442"/>
              <a:ext cx="1906255" cy="1227515"/>
              <a:chOff x="357804" y="5530442"/>
              <a:chExt cx="1906255" cy="1227515"/>
            </a:xfrm>
          </p:grpSpPr>
          <p:sp>
            <p:nvSpPr>
              <p:cNvPr id="42" name="Rectangle: Single Corner Rounded 41">
                <a:extLst>
                  <a:ext uri="{FF2B5EF4-FFF2-40B4-BE49-F238E27FC236}">
                    <a16:creationId xmlns:a16="http://schemas.microsoft.com/office/drawing/2014/main" id="{69FDF81C-8DE5-4D66-ADD1-01178055BF50}"/>
                  </a:ext>
                </a:extLst>
              </p:cNvPr>
              <p:cNvSpPr/>
              <p:nvPr/>
            </p:nvSpPr>
            <p:spPr>
              <a:xfrm>
                <a:off x="357804" y="5530442"/>
                <a:ext cx="1416028" cy="1227515"/>
              </a:xfrm>
              <a:prstGeom prst="round1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4" name="Picture 20" descr="Growth free icon">
                <a:extLst>
                  <a:ext uri="{FF2B5EF4-FFF2-40B4-BE49-F238E27FC236}">
                    <a16:creationId xmlns:a16="http://schemas.microsoft.com/office/drawing/2014/main" id="{59FCF9B8-5295-4907-A63F-E3097A3CE0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8931" y="5610931"/>
                <a:ext cx="593753" cy="5937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A4ADE24-1B41-48AB-9335-EE79B538898E}"/>
                  </a:ext>
                </a:extLst>
              </p:cNvPr>
              <p:cNvSpPr txBox="1"/>
              <p:nvPr/>
            </p:nvSpPr>
            <p:spPr>
              <a:xfrm>
                <a:off x="401930" y="6234737"/>
                <a:ext cx="18621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GOVERNMENT INITIATIVES</a:t>
                </a: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44DB8D7-B8BD-4CA7-8733-6C8056AAAC4D}"/>
              </a:ext>
            </a:extLst>
          </p:cNvPr>
          <p:cNvGrpSpPr/>
          <p:nvPr/>
        </p:nvGrpSpPr>
        <p:grpSpPr>
          <a:xfrm>
            <a:off x="0" y="-18285"/>
            <a:ext cx="12192000" cy="392302"/>
            <a:chOff x="0" y="-18285"/>
            <a:chExt cx="12192000" cy="392302"/>
          </a:xfrm>
        </p:grpSpPr>
        <p:sp>
          <p:nvSpPr>
            <p:cNvPr id="75" name="Arrow: Pentagon 74">
              <a:extLst>
                <a:ext uri="{FF2B5EF4-FFF2-40B4-BE49-F238E27FC236}">
                  <a16:creationId xmlns:a16="http://schemas.microsoft.com/office/drawing/2014/main" id="{05A6FBC3-20A1-41C7-86C5-65FD3BD51EF0}"/>
                </a:ext>
              </a:extLst>
            </p:cNvPr>
            <p:cNvSpPr/>
            <p:nvPr/>
          </p:nvSpPr>
          <p:spPr>
            <a:xfrm>
              <a:off x="7573617" y="-18285"/>
              <a:ext cx="4618383" cy="38826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Roadmap</a:t>
              </a:r>
              <a:endParaRPr lang="en-IN" dirty="0"/>
            </a:p>
          </p:txBody>
        </p:sp>
        <p:sp>
          <p:nvSpPr>
            <p:cNvPr id="64" name="Arrow: Pentagon 63">
              <a:extLst>
                <a:ext uri="{FF2B5EF4-FFF2-40B4-BE49-F238E27FC236}">
                  <a16:creationId xmlns:a16="http://schemas.microsoft.com/office/drawing/2014/main" id="{BCDD9F6F-E0A5-46D5-941F-1C2AC0FD46A5}"/>
                </a:ext>
              </a:extLst>
            </p:cNvPr>
            <p:cNvSpPr/>
            <p:nvPr/>
          </p:nvSpPr>
          <p:spPr>
            <a:xfrm>
              <a:off x="3622135" y="-17826"/>
              <a:ext cx="4207119" cy="38826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Our Insights</a:t>
              </a:r>
              <a:endParaRPr lang="en-IN" dirty="0"/>
            </a:p>
          </p:txBody>
        </p:sp>
        <p:sp>
          <p:nvSpPr>
            <p:cNvPr id="2" name="Arrow: Pentagon 1">
              <a:extLst>
                <a:ext uri="{FF2B5EF4-FFF2-40B4-BE49-F238E27FC236}">
                  <a16:creationId xmlns:a16="http://schemas.microsoft.com/office/drawing/2014/main" id="{F3820D9D-7603-4822-9D7A-3C78F95EF0EA}"/>
                </a:ext>
              </a:extLst>
            </p:cNvPr>
            <p:cNvSpPr/>
            <p:nvPr/>
          </p:nvSpPr>
          <p:spPr>
            <a:xfrm>
              <a:off x="0" y="-14248"/>
              <a:ext cx="4207119" cy="388265"/>
            </a:xfrm>
            <a:prstGeom prst="homePlat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Market Highlights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44691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89253B-32A5-46A2-8202-2CAEEDB25326}"/>
              </a:ext>
            </a:extLst>
          </p:cNvPr>
          <p:cNvSpPr/>
          <p:nvPr/>
        </p:nvSpPr>
        <p:spPr>
          <a:xfrm>
            <a:off x="132523" y="861391"/>
            <a:ext cx="3871118" cy="5870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60F38F-9CF5-45C1-8F33-7CB6011A3388}"/>
              </a:ext>
            </a:extLst>
          </p:cNvPr>
          <p:cNvGrpSpPr/>
          <p:nvPr/>
        </p:nvGrpSpPr>
        <p:grpSpPr>
          <a:xfrm>
            <a:off x="344557" y="4117301"/>
            <a:ext cx="3551582" cy="523220"/>
            <a:chOff x="329821" y="3780302"/>
            <a:chExt cx="3551582" cy="5232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3D9716-C5B5-4C3D-A8AE-7BAE5B9EE26F}"/>
                </a:ext>
              </a:extLst>
            </p:cNvPr>
            <p:cNvSpPr txBox="1"/>
            <p:nvPr/>
          </p:nvSpPr>
          <p:spPr>
            <a:xfrm>
              <a:off x="820151" y="3780302"/>
              <a:ext cx="30612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Hub and spoke network, offering maximum connectivity to end user</a:t>
              </a:r>
              <a:endParaRPr lang="en-IN" sz="1400" dirty="0"/>
            </a:p>
          </p:txBody>
        </p:sp>
        <p:pic>
          <p:nvPicPr>
            <p:cNvPr id="8" name="Picture 2" descr="Placeholder free icon">
              <a:extLst>
                <a:ext uri="{FF2B5EF4-FFF2-40B4-BE49-F238E27FC236}">
                  <a16:creationId xmlns:a16="http://schemas.microsoft.com/office/drawing/2014/main" id="{EE1D7FF5-EB4F-4E46-9EE6-8175F2C342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821" y="3796747"/>
              <a:ext cx="490330" cy="490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2C77AE-3CC4-4126-8165-B55DEA4DAE5D}"/>
              </a:ext>
            </a:extLst>
          </p:cNvPr>
          <p:cNvGrpSpPr/>
          <p:nvPr/>
        </p:nvGrpSpPr>
        <p:grpSpPr>
          <a:xfrm>
            <a:off x="344557" y="4756248"/>
            <a:ext cx="3566318" cy="738664"/>
            <a:chOff x="329821" y="4403019"/>
            <a:chExt cx="3566318" cy="738664"/>
          </a:xfrm>
        </p:grpSpPr>
        <p:pic>
          <p:nvPicPr>
            <p:cNvPr id="9" name="Picture 4" descr="Deal free icon">
              <a:extLst>
                <a:ext uri="{FF2B5EF4-FFF2-40B4-BE49-F238E27FC236}">
                  <a16:creationId xmlns:a16="http://schemas.microsoft.com/office/drawing/2014/main" id="{BDF4E29C-1AD6-44CD-B02B-4911EBFCD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821" y="4485936"/>
              <a:ext cx="490331" cy="490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3818F9-8C53-4D80-9C24-1F4512E4F84E}"/>
                </a:ext>
              </a:extLst>
            </p:cNvPr>
            <p:cNvSpPr txBox="1"/>
            <p:nvPr/>
          </p:nvSpPr>
          <p:spPr>
            <a:xfrm>
              <a:off x="834887" y="4403019"/>
              <a:ext cx="306125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/>
                <a:t>Sale and Lease agreement for acquisition of aircrafts, to ensure reduce operational costs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486A03-2A7D-4636-BE97-5FC103FA37C6}"/>
              </a:ext>
            </a:extLst>
          </p:cNvPr>
          <p:cNvGrpSpPr/>
          <p:nvPr/>
        </p:nvGrpSpPr>
        <p:grpSpPr>
          <a:xfrm>
            <a:off x="329821" y="5627085"/>
            <a:ext cx="3551582" cy="954107"/>
            <a:chOff x="329821" y="5184122"/>
            <a:chExt cx="3551582" cy="954107"/>
          </a:xfrm>
        </p:grpSpPr>
        <p:pic>
          <p:nvPicPr>
            <p:cNvPr id="12" name="Picture 6" descr="Aircraft free icon">
              <a:extLst>
                <a:ext uri="{FF2B5EF4-FFF2-40B4-BE49-F238E27FC236}">
                  <a16:creationId xmlns:a16="http://schemas.microsoft.com/office/drawing/2014/main" id="{36351643-668E-4796-A09D-0BD0212D6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821" y="5363855"/>
              <a:ext cx="490330" cy="490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78CFAD-0B2B-4EEC-9B62-BD26C0C9EDD8}"/>
                </a:ext>
              </a:extLst>
            </p:cNvPr>
            <p:cNvSpPr txBox="1"/>
            <p:nvPr/>
          </p:nvSpPr>
          <p:spPr>
            <a:xfrm>
              <a:off x="820151" y="5184122"/>
              <a:ext cx="306125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dirty="0"/>
                <a:t>Common fleet of aircrafts along routes namely, A320 or A321 and ATR for smaller point-to-point routes to keep staff efficiency high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7E40DD-3BB0-4A53-BFAE-E1C4A55884AB}"/>
              </a:ext>
            </a:extLst>
          </p:cNvPr>
          <p:cNvGrpSpPr/>
          <p:nvPr/>
        </p:nvGrpSpPr>
        <p:grpSpPr>
          <a:xfrm>
            <a:off x="231171" y="1148785"/>
            <a:ext cx="3650232" cy="2667842"/>
            <a:chOff x="5181599" y="1126435"/>
            <a:chExt cx="4068418" cy="3531898"/>
          </a:xfrm>
        </p:grpSpPr>
        <p:sp>
          <p:nvSpPr>
            <p:cNvPr id="18" name="Callout: Down Arrow 17">
              <a:extLst>
                <a:ext uri="{FF2B5EF4-FFF2-40B4-BE49-F238E27FC236}">
                  <a16:creationId xmlns:a16="http://schemas.microsoft.com/office/drawing/2014/main" id="{C624AE89-DA93-4A20-81CF-555C663F0965}"/>
                </a:ext>
              </a:extLst>
            </p:cNvPr>
            <p:cNvSpPr/>
            <p:nvPr/>
          </p:nvSpPr>
          <p:spPr>
            <a:xfrm>
              <a:off x="5181600" y="1126435"/>
              <a:ext cx="4068417" cy="3531898"/>
            </a:xfrm>
            <a:prstGeom prst="downArrowCallout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861BE64-A286-4E84-9EF5-7313520C4754}"/>
                </a:ext>
              </a:extLst>
            </p:cNvPr>
            <p:cNvSpPr/>
            <p:nvPr/>
          </p:nvSpPr>
          <p:spPr>
            <a:xfrm>
              <a:off x="5181601" y="1404731"/>
              <a:ext cx="4068416" cy="42406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On time performance</a:t>
              </a:r>
              <a:endParaRPr lang="en-IN" sz="16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D58CBB-3387-4904-B1C2-216FF15A44D5}"/>
                </a:ext>
              </a:extLst>
            </p:cNvPr>
            <p:cNvSpPr/>
            <p:nvPr/>
          </p:nvSpPr>
          <p:spPr>
            <a:xfrm>
              <a:off x="5181601" y="2014721"/>
              <a:ext cx="4068416" cy="42406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Low cost connectivity</a:t>
              </a:r>
              <a:endParaRPr lang="en-IN" sz="16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22A1A38-121A-4658-88E4-B11BAB160F17}"/>
                </a:ext>
              </a:extLst>
            </p:cNvPr>
            <p:cNvSpPr/>
            <p:nvPr/>
          </p:nvSpPr>
          <p:spPr>
            <a:xfrm>
              <a:off x="5181599" y="2624711"/>
              <a:ext cx="4068416" cy="42406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Hassle free experience</a:t>
              </a:r>
              <a:endParaRPr lang="en-IN" sz="1600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19628A2-9944-4F17-BE2E-9D9AEA2EDCC3}"/>
              </a:ext>
            </a:extLst>
          </p:cNvPr>
          <p:cNvSpPr/>
          <p:nvPr/>
        </p:nvSpPr>
        <p:spPr>
          <a:xfrm>
            <a:off x="4160441" y="854765"/>
            <a:ext cx="3871118" cy="5870713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7AB20E-C4CC-48CB-8F26-51A81F9ABB43}"/>
              </a:ext>
            </a:extLst>
          </p:cNvPr>
          <p:cNvSpPr/>
          <p:nvPr/>
        </p:nvSpPr>
        <p:spPr>
          <a:xfrm>
            <a:off x="8188359" y="854765"/>
            <a:ext cx="3871118" cy="587071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2FBA07-D88A-4F36-BBE1-3D90E0C60CB7}"/>
              </a:ext>
            </a:extLst>
          </p:cNvPr>
          <p:cNvSpPr txBox="1"/>
          <p:nvPr/>
        </p:nvSpPr>
        <p:spPr>
          <a:xfrm>
            <a:off x="4381137" y="1293759"/>
            <a:ext cx="33925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To maintain operational efficiency, runs only on select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Pandemic leading to high volatility in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Pandemic protocols leading to increase in block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Fall in market value of used aircrafts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08769A-0B87-4B58-BFA8-5F1948A03DEB}"/>
              </a:ext>
            </a:extLst>
          </p:cNvPr>
          <p:cNvGrpSpPr/>
          <p:nvPr/>
        </p:nvGrpSpPr>
        <p:grpSpPr>
          <a:xfrm>
            <a:off x="4215675" y="4301094"/>
            <a:ext cx="3656114" cy="621880"/>
            <a:chOff x="4215675" y="4182374"/>
            <a:chExt cx="3395128" cy="621880"/>
          </a:xfrm>
        </p:grpSpPr>
        <p:pic>
          <p:nvPicPr>
            <p:cNvPr id="3074" name="Picture 2" descr="Low signal free icon">
              <a:extLst>
                <a:ext uri="{FF2B5EF4-FFF2-40B4-BE49-F238E27FC236}">
                  <a16:creationId xmlns:a16="http://schemas.microsoft.com/office/drawing/2014/main" id="{CDE7B44B-61F3-41CA-BA54-50857A75C7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91" t="36967" r="12332"/>
            <a:stretch/>
          </p:blipFill>
          <p:spPr bwMode="auto">
            <a:xfrm>
              <a:off x="4215675" y="4182374"/>
              <a:ext cx="583097" cy="5193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9D55BD-3442-4B66-8419-0563C936E394}"/>
                </a:ext>
              </a:extLst>
            </p:cNvPr>
            <p:cNvSpPr txBox="1"/>
            <p:nvPr/>
          </p:nvSpPr>
          <p:spPr>
            <a:xfrm>
              <a:off x="4720741" y="4281034"/>
              <a:ext cx="28900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Low Coverage across the Indian territory</a:t>
              </a:r>
              <a:endParaRPr lang="en-IN" sz="14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31445A9-AF38-4056-817C-338EBEF4A637}"/>
              </a:ext>
            </a:extLst>
          </p:cNvPr>
          <p:cNvGrpSpPr/>
          <p:nvPr/>
        </p:nvGrpSpPr>
        <p:grpSpPr>
          <a:xfrm>
            <a:off x="4215675" y="4839165"/>
            <a:ext cx="3446656" cy="583097"/>
            <a:chOff x="4215675" y="4746399"/>
            <a:chExt cx="3446656" cy="583097"/>
          </a:xfrm>
        </p:grpSpPr>
        <p:pic>
          <p:nvPicPr>
            <p:cNvPr id="3076" name="Picture 4" descr="Revenue free icon">
              <a:extLst>
                <a:ext uri="{FF2B5EF4-FFF2-40B4-BE49-F238E27FC236}">
                  <a16:creationId xmlns:a16="http://schemas.microsoft.com/office/drawing/2014/main" id="{F774A276-4815-4ABE-B3BA-A8BEB53CD7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5675" y="4746399"/>
              <a:ext cx="583097" cy="583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904D95D-5A7C-46EB-86C5-0960D1A29167}"/>
                </a:ext>
              </a:extLst>
            </p:cNvPr>
            <p:cNvSpPr txBox="1"/>
            <p:nvPr/>
          </p:nvSpPr>
          <p:spPr>
            <a:xfrm>
              <a:off x="4772269" y="4918555"/>
              <a:ext cx="28900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Increase in operational cost</a:t>
              </a:r>
              <a:endParaRPr lang="en-IN" sz="1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752373-539B-4E3B-816C-9D3F3ED4601A}"/>
              </a:ext>
            </a:extLst>
          </p:cNvPr>
          <p:cNvGrpSpPr/>
          <p:nvPr/>
        </p:nvGrpSpPr>
        <p:grpSpPr>
          <a:xfrm>
            <a:off x="4283042" y="5485007"/>
            <a:ext cx="3405792" cy="448362"/>
            <a:chOff x="4283042" y="5471669"/>
            <a:chExt cx="3405792" cy="448362"/>
          </a:xfrm>
        </p:grpSpPr>
        <p:pic>
          <p:nvPicPr>
            <p:cNvPr id="3078" name="Picture 6" descr="Increase free icon">
              <a:extLst>
                <a:ext uri="{FF2B5EF4-FFF2-40B4-BE49-F238E27FC236}">
                  <a16:creationId xmlns:a16="http://schemas.microsoft.com/office/drawing/2014/main" id="{077F980E-0F15-4D0F-A926-C41D4F82D4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042" y="5471669"/>
              <a:ext cx="448362" cy="4483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C9080E5-9323-4DA8-AD52-4A3FC13D1E48}"/>
                </a:ext>
              </a:extLst>
            </p:cNvPr>
            <p:cNvSpPr txBox="1"/>
            <p:nvPr/>
          </p:nvSpPr>
          <p:spPr>
            <a:xfrm>
              <a:off x="4798772" y="5598866"/>
              <a:ext cx="28900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Increase in turnaround time</a:t>
              </a:r>
              <a:endParaRPr lang="en-IN" sz="14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173FB63-2C3B-4F16-A99F-490429145EB7}"/>
              </a:ext>
            </a:extLst>
          </p:cNvPr>
          <p:cNvGrpSpPr/>
          <p:nvPr/>
        </p:nvGrpSpPr>
        <p:grpSpPr>
          <a:xfrm>
            <a:off x="4283042" y="6111887"/>
            <a:ext cx="3405792" cy="489227"/>
            <a:chOff x="4283042" y="6144976"/>
            <a:chExt cx="3405792" cy="489227"/>
          </a:xfrm>
        </p:grpSpPr>
        <p:pic>
          <p:nvPicPr>
            <p:cNvPr id="3080" name="Picture 8" descr="Experience free icon">
              <a:extLst>
                <a:ext uri="{FF2B5EF4-FFF2-40B4-BE49-F238E27FC236}">
                  <a16:creationId xmlns:a16="http://schemas.microsoft.com/office/drawing/2014/main" id="{113E64DF-DED3-4CB7-A378-DFA39A1192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042" y="6144976"/>
              <a:ext cx="489227" cy="489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E32ABEE-C4EB-44D7-ABB5-DEC92A362077}"/>
                </a:ext>
              </a:extLst>
            </p:cNvPr>
            <p:cNvSpPr txBox="1"/>
            <p:nvPr/>
          </p:nvSpPr>
          <p:spPr>
            <a:xfrm>
              <a:off x="4798772" y="6246176"/>
              <a:ext cx="28900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Customer experience hampered</a:t>
              </a:r>
              <a:endParaRPr lang="en-IN" sz="14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47D01BE-9ABE-4999-B77A-F74CDB8ECBDF}"/>
              </a:ext>
            </a:extLst>
          </p:cNvPr>
          <p:cNvGrpSpPr/>
          <p:nvPr/>
        </p:nvGrpSpPr>
        <p:grpSpPr>
          <a:xfrm>
            <a:off x="8311310" y="969402"/>
            <a:ext cx="3625213" cy="2116385"/>
            <a:chOff x="8311310" y="904681"/>
            <a:chExt cx="3625213" cy="2116385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24BED4A-6022-4988-8B05-7F4904F7A378}"/>
                </a:ext>
              </a:extLst>
            </p:cNvPr>
            <p:cNvSpPr txBox="1"/>
            <p:nvPr/>
          </p:nvSpPr>
          <p:spPr>
            <a:xfrm>
              <a:off x="8311311" y="1205184"/>
              <a:ext cx="3625212" cy="1815882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At present covers only 71 domestic destinations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/>
                <a:t>Based on traffic, demand, demographics and economic feasibility, with numerous airports coming up in Tier 2/3 cities. </a:t>
              </a:r>
            </a:p>
            <a:p>
              <a:r>
                <a:rPr lang="en-GB" sz="1400" dirty="0"/>
                <a:t>Recommended locations: Allahabad, Agra, </a:t>
              </a:r>
              <a:r>
                <a:rPr lang="en-GB" sz="1400" dirty="0" err="1"/>
                <a:t>Agatti</a:t>
              </a:r>
              <a:r>
                <a:rPr lang="en-GB" sz="1400" dirty="0"/>
                <a:t>, Durgapur, Gwalior, Jamnagar, </a:t>
              </a:r>
              <a:r>
                <a:rPr lang="en-GB" sz="1400" dirty="0" err="1"/>
                <a:t>Kullu</a:t>
              </a:r>
              <a:r>
                <a:rPr lang="en-GB" sz="1400" dirty="0"/>
                <a:t>, </a:t>
              </a:r>
              <a:r>
                <a:rPr lang="en-GB" sz="1400" dirty="0" err="1"/>
                <a:t>Shillong</a:t>
              </a:r>
              <a:r>
                <a:rPr lang="en-GB" sz="1400" dirty="0"/>
                <a:t>, </a:t>
              </a:r>
              <a:r>
                <a:rPr lang="en-GB" sz="1400" dirty="0" err="1"/>
                <a:t>Thoise</a:t>
              </a:r>
              <a:r>
                <a:rPr lang="en-GB" sz="1400" dirty="0"/>
                <a:t>, Tezpur. (Refer to annexure 1)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D3440E-CF18-443C-AC78-AECC94B3475A}"/>
                </a:ext>
              </a:extLst>
            </p:cNvPr>
            <p:cNvSpPr txBox="1"/>
            <p:nvPr/>
          </p:nvSpPr>
          <p:spPr>
            <a:xfrm>
              <a:off x="8311310" y="904681"/>
              <a:ext cx="3625212" cy="307777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Assess expansion to new locations/hubs</a:t>
              </a:r>
              <a:endParaRPr lang="en-IN" sz="14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0A14D8B-CF58-4683-9A46-FA35651B3A78}"/>
              </a:ext>
            </a:extLst>
          </p:cNvPr>
          <p:cNvGrpSpPr/>
          <p:nvPr/>
        </p:nvGrpSpPr>
        <p:grpSpPr>
          <a:xfrm>
            <a:off x="8311309" y="5028159"/>
            <a:ext cx="3625212" cy="1475866"/>
            <a:chOff x="8311310" y="4637120"/>
            <a:chExt cx="3625212" cy="147586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E39B6AD-EE79-48B2-9B75-C32EC903B06F}"/>
                </a:ext>
              </a:extLst>
            </p:cNvPr>
            <p:cNvSpPr txBox="1"/>
            <p:nvPr/>
          </p:nvSpPr>
          <p:spPr>
            <a:xfrm>
              <a:off x="8311310" y="4943435"/>
              <a:ext cx="3625212" cy="1169551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Use KPIs/metrics like revenue passenger km, available seat km to assess load factor, yield and profitability at operating hubs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Accordingly use data to optimize revenue generation (Refer to annexure 3)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3E08F79-BDEC-4486-A828-11FD9746BE8A}"/>
                </a:ext>
              </a:extLst>
            </p:cNvPr>
            <p:cNvSpPr txBox="1"/>
            <p:nvPr/>
          </p:nvSpPr>
          <p:spPr>
            <a:xfrm>
              <a:off x="8311310" y="4637120"/>
              <a:ext cx="3625212" cy="307777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Yield management to optimize revenue</a:t>
              </a:r>
              <a:endParaRPr lang="en-IN" sz="14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A657D11-2C6D-4350-B5C4-6F4CAE9BF60C}"/>
              </a:ext>
            </a:extLst>
          </p:cNvPr>
          <p:cNvGrpSpPr/>
          <p:nvPr/>
        </p:nvGrpSpPr>
        <p:grpSpPr>
          <a:xfrm>
            <a:off x="8311308" y="3309886"/>
            <a:ext cx="3625213" cy="1483597"/>
            <a:chOff x="8311309" y="3170290"/>
            <a:chExt cx="3625213" cy="148359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C51F1C1-676E-4DFE-8027-99809ED289EB}"/>
                </a:ext>
              </a:extLst>
            </p:cNvPr>
            <p:cNvSpPr txBox="1"/>
            <p:nvPr/>
          </p:nvSpPr>
          <p:spPr>
            <a:xfrm>
              <a:off x="8311309" y="3484336"/>
              <a:ext cx="3625213" cy="1169551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Analyse trends to gauge demand in the prevailing pandemic situation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Leisure trips to drive demand and fuel recovery (Evaluate routes/networks: refer to annexure 2)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0FB0A23-AD30-45E3-9454-275F2A12D52A}"/>
                </a:ext>
              </a:extLst>
            </p:cNvPr>
            <p:cNvSpPr txBox="1"/>
            <p:nvPr/>
          </p:nvSpPr>
          <p:spPr>
            <a:xfrm>
              <a:off x="8311309" y="3170290"/>
              <a:ext cx="3625212" cy="307777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Gauge spikes/fall in demand</a:t>
              </a:r>
              <a:endParaRPr lang="en-IN" sz="1400" dirty="0"/>
            </a:p>
          </p:txBody>
        </p:sp>
      </p:grpSp>
      <p:sp>
        <p:nvSpPr>
          <p:cNvPr id="65" name="Callout: Down Arrow 64">
            <a:extLst>
              <a:ext uri="{FF2B5EF4-FFF2-40B4-BE49-F238E27FC236}">
                <a16:creationId xmlns:a16="http://schemas.microsoft.com/office/drawing/2014/main" id="{D4898405-9DC1-4122-8AFA-FC6A403111D7}"/>
              </a:ext>
            </a:extLst>
          </p:cNvPr>
          <p:cNvSpPr/>
          <p:nvPr/>
        </p:nvSpPr>
        <p:spPr>
          <a:xfrm>
            <a:off x="4283042" y="1123290"/>
            <a:ext cx="3588747" cy="3159036"/>
          </a:xfrm>
          <a:prstGeom prst="downArrowCallout">
            <a:avLst/>
          </a:prstGeom>
          <a:noFill/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74C639E-DB77-4FEF-A04D-6C39571B83FD}"/>
              </a:ext>
            </a:extLst>
          </p:cNvPr>
          <p:cNvGrpSpPr/>
          <p:nvPr/>
        </p:nvGrpSpPr>
        <p:grpSpPr>
          <a:xfrm>
            <a:off x="0" y="-18285"/>
            <a:ext cx="12192000" cy="392302"/>
            <a:chOff x="0" y="-18285"/>
            <a:chExt cx="12192000" cy="392302"/>
          </a:xfrm>
        </p:grpSpPr>
        <p:sp>
          <p:nvSpPr>
            <p:cNvPr id="74" name="Arrow: Pentagon 73">
              <a:extLst>
                <a:ext uri="{FF2B5EF4-FFF2-40B4-BE49-F238E27FC236}">
                  <a16:creationId xmlns:a16="http://schemas.microsoft.com/office/drawing/2014/main" id="{93D11B6A-E939-42E4-B282-7A5C4C9413F9}"/>
                </a:ext>
              </a:extLst>
            </p:cNvPr>
            <p:cNvSpPr/>
            <p:nvPr/>
          </p:nvSpPr>
          <p:spPr>
            <a:xfrm>
              <a:off x="7573617" y="-18285"/>
              <a:ext cx="4618383" cy="38826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Roadmap</a:t>
              </a:r>
              <a:endParaRPr lang="en-IN" dirty="0"/>
            </a:p>
          </p:txBody>
        </p:sp>
        <p:sp>
          <p:nvSpPr>
            <p:cNvPr id="75" name="Arrow: Pentagon 74">
              <a:extLst>
                <a:ext uri="{FF2B5EF4-FFF2-40B4-BE49-F238E27FC236}">
                  <a16:creationId xmlns:a16="http://schemas.microsoft.com/office/drawing/2014/main" id="{8B9B2DC4-CF04-4122-90DF-DFB96C95F36A}"/>
                </a:ext>
              </a:extLst>
            </p:cNvPr>
            <p:cNvSpPr/>
            <p:nvPr/>
          </p:nvSpPr>
          <p:spPr>
            <a:xfrm>
              <a:off x="3622135" y="-17826"/>
              <a:ext cx="4207119" cy="388265"/>
            </a:xfrm>
            <a:prstGeom prst="homePlat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Our Insights</a:t>
              </a:r>
              <a:endParaRPr lang="en-IN" dirty="0"/>
            </a:p>
          </p:txBody>
        </p:sp>
        <p:sp>
          <p:nvSpPr>
            <p:cNvPr id="76" name="Arrow: Pentagon 75">
              <a:extLst>
                <a:ext uri="{FF2B5EF4-FFF2-40B4-BE49-F238E27FC236}">
                  <a16:creationId xmlns:a16="http://schemas.microsoft.com/office/drawing/2014/main" id="{85F4F0C3-060E-497B-A6C4-B29345F8C116}"/>
                </a:ext>
              </a:extLst>
            </p:cNvPr>
            <p:cNvSpPr/>
            <p:nvPr/>
          </p:nvSpPr>
          <p:spPr>
            <a:xfrm>
              <a:off x="0" y="-14248"/>
              <a:ext cx="4207119" cy="38826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Market Highlights</a:t>
              </a:r>
              <a:endParaRPr lang="en-IN" dirty="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004E373-15D7-4FF3-BFC9-BEDBCAAA5C7B}"/>
              </a:ext>
            </a:extLst>
          </p:cNvPr>
          <p:cNvSpPr txBox="1"/>
          <p:nvPr/>
        </p:nvSpPr>
        <p:spPr>
          <a:xfrm>
            <a:off x="132523" y="556568"/>
            <a:ext cx="1881807" cy="307777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Business Model</a:t>
            </a:r>
            <a:endParaRPr lang="en-IN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52B860-B9B8-4286-8426-F4D1D610C660}"/>
              </a:ext>
            </a:extLst>
          </p:cNvPr>
          <p:cNvSpPr txBox="1"/>
          <p:nvPr/>
        </p:nvSpPr>
        <p:spPr>
          <a:xfrm>
            <a:off x="4160441" y="540885"/>
            <a:ext cx="1881807" cy="3077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Problems</a:t>
            </a:r>
            <a:endParaRPr lang="en-IN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C4D6B41-FB12-4CFE-860A-2DDC964558C6}"/>
              </a:ext>
            </a:extLst>
          </p:cNvPr>
          <p:cNvSpPr txBox="1"/>
          <p:nvPr/>
        </p:nvSpPr>
        <p:spPr>
          <a:xfrm>
            <a:off x="8188359" y="540719"/>
            <a:ext cx="1881807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Recommendations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8275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B502C8-1C10-473C-A2E4-3DE194D5624C}"/>
              </a:ext>
            </a:extLst>
          </p:cNvPr>
          <p:cNvSpPr/>
          <p:nvPr/>
        </p:nvSpPr>
        <p:spPr>
          <a:xfrm>
            <a:off x="1" y="508513"/>
            <a:ext cx="9409042" cy="6349487"/>
          </a:xfrm>
          <a:prstGeom prst="rect">
            <a:avLst/>
          </a:prstGeom>
          <a:blipFill dpi="0" rotWithShape="1">
            <a:blip r:embed="rId2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7E39A7-4AFD-46B5-8B46-D31C8905975E}"/>
              </a:ext>
            </a:extLst>
          </p:cNvPr>
          <p:cNvGrpSpPr/>
          <p:nvPr/>
        </p:nvGrpSpPr>
        <p:grpSpPr>
          <a:xfrm>
            <a:off x="0" y="-18285"/>
            <a:ext cx="12192000" cy="392302"/>
            <a:chOff x="0" y="-18285"/>
            <a:chExt cx="12192000" cy="392302"/>
          </a:xfrm>
        </p:grpSpPr>
        <p:sp>
          <p:nvSpPr>
            <p:cNvPr id="36" name="Arrow: Pentagon 35">
              <a:extLst>
                <a:ext uri="{FF2B5EF4-FFF2-40B4-BE49-F238E27FC236}">
                  <a16:creationId xmlns:a16="http://schemas.microsoft.com/office/drawing/2014/main" id="{92113591-22E2-48FF-895E-9DAED489E07D}"/>
                </a:ext>
              </a:extLst>
            </p:cNvPr>
            <p:cNvSpPr/>
            <p:nvPr/>
          </p:nvSpPr>
          <p:spPr>
            <a:xfrm>
              <a:off x="7573617" y="-18285"/>
              <a:ext cx="4618383" cy="388265"/>
            </a:xfrm>
            <a:prstGeom prst="homePlat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Roadmap</a:t>
              </a:r>
              <a:endParaRPr lang="en-IN" dirty="0"/>
            </a:p>
          </p:txBody>
        </p:sp>
        <p:sp>
          <p:nvSpPr>
            <p:cNvPr id="37" name="Arrow: Pentagon 36">
              <a:extLst>
                <a:ext uri="{FF2B5EF4-FFF2-40B4-BE49-F238E27FC236}">
                  <a16:creationId xmlns:a16="http://schemas.microsoft.com/office/drawing/2014/main" id="{3429AA54-7C1D-410C-B087-F84D4EB9CA21}"/>
                </a:ext>
              </a:extLst>
            </p:cNvPr>
            <p:cNvSpPr/>
            <p:nvPr/>
          </p:nvSpPr>
          <p:spPr>
            <a:xfrm>
              <a:off x="3622135" y="-17826"/>
              <a:ext cx="4207119" cy="38826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Our Insights</a:t>
              </a:r>
              <a:endParaRPr lang="en-IN" dirty="0"/>
            </a:p>
          </p:txBody>
        </p:sp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D38F828F-CD83-487C-BA41-4373E42B9F66}"/>
                </a:ext>
              </a:extLst>
            </p:cNvPr>
            <p:cNvSpPr/>
            <p:nvPr/>
          </p:nvSpPr>
          <p:spPr>
            <a:xfrm>
              <a:off x="0" y="-14248"/>
              <a:ext cx="4207119" cy="388265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Market Highlights</a:t>
              </a:r>
              <a:endParaRPr lang="en-IN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D3BFF14-5022-4AF7-84C8-8ACA6608E432}"/>
              </a:ext>
            </a:extLst>
          </p:cNvPr>
          <p:cNvGrpSpPr/>
          <p:nvPr/>
        </p:nvGrpSpPr>
        <p:grpSpPr>
          <a:xfrm>
            <a:off x="295605" y="654286"/>
            <a:ext cx="8821890" cy="6077817"/>
            <a:chOff x="2441792" y="508513"/>
            <a:chExt cx="6653057" cy="5039097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10B2BE9-F21C-4A9B-8D1F-2BF5C43A8970}"/>
                </a:ext>
              </a:extLst>
            </p:cNvPr>
            <p:cNvGrpSpPr/>
            <p:nvPr/>
          </p:nvGrpSpPr>
          <p:grpSpPr>
            <a:xfrm>
              <a:off x="2441793" y="508513"/>
              <a:ext cx="6653055" cy="374470"/>
              <a:chOff x="1659322" y="550984"/>
              <a:chExt cx="6653055" cy="546763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7844BDC0-A33D-4CD1-B32A-0D47EE7C3720}"/>
                  </a:ext>
                </a:extLst>
              </p:cNvPr>
              <p:cNvSpPr/>
              <p:nvPr/>
            </p:nvSpPr>
            <p:spPr>
              <a:xfrm>
                <a:off x="1659322" y="562708"/>
                <a:ext cx="1219200" cy="52753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Y1</a:t>
                </a:r>
                <a:endParaRPr lang="en-IN" sz="16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CEFB1E80-D5A1-44B6-A2D4-2539E7E86D18}"/>
                  </a:ext>
                </a:extLst>
              </p:cNvPr>
              <p:cNvSpPr/>
              <p:nvPr/>
            </p:nvSpPr>
            <p:spPr>
              <a:xfrm>
                <a:off x="3501540" y="570209"/>
                <a:ext cx="1219200" cy="52753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Y2</a:t>
                </a:r>
                <a:endParaRPr lang="en-IN" sz="16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2D7E159-5B4D-4842-B13A-891F9391A98A}"/>
                  </a:ext>
                </a:extLst>
              </p:cNvPr>
              <p:cNvSpPr/>
              <p:nvPr/>
            </p:nvSpPr>
            <p:spPr>
              <a:xfrm>
                <a:off x="5343759" y="562708"/>
                <a:ext cx="1219200" cy="52753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Y3</a:t>
                </a:r>
                <a:endParaRPr lang="en-IN" sz="16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A65FAE8-2D57-4E7D-84A1-12E07B9D82B8}"/>
                  </a:ext>
                </a:extLst>
              </p:cNvPr>
              <p:cNvSpPr/>
              <p:nvPr/>
            </p:nvSpPr>
            <p:spPr>
              <a:xfrm>
                <a:off x="7093177" y="550984"/>
                <a:ext cx="1219200" cy="52753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Y4/Y5</a:t>
                </a:r>
                <a:endParaRPr lang="en-IN" sz="16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3A123B-0F15-48B2-BF3E-EB8D643D0C49}"/>
                </a:ext>
              </a:extLst>
            </p:cNvPr>
            <p:cNvSpPr/>
            <p:nvPr/>
          </p:nvSpPr>
          <p:spPr>
            <a:xfrm>
              <a:off x="4207119" y="4121120"/>
              <a:ext cx="4887730" cy="22696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Explore routes where leisure travel is frequent</a:t>
              </a:r>
              <a:endParaRPr lang="en-IN" sz="1200" dirty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5F61C355-4A8C-4AF3-813A-20DC83434FDE}"/>
                </a:ext>
              </a:extLst>
            </p:cNvPr>
            <p:cNvSpPr/>
            <p:nvPr/>
          </p:nvSpPr>
          <p:spPr>
            <a:xfrm>
              <a:off x="4207119" y="3790474"/>
              <a:ext cx="4887730" cy="22696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Evaluate recovery of market and expand to new hubs accordingly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DF75824-A727-4AD2-A144-C65213E5327E}"/>
                </a:ext>
              </a:extLst>
            </p:cNvPr>
            <p:cNvSpPr/>
            <p:nvPr/>
          </p:nvSpPr>
          <p:spPr>
            <a:xfrm>
              <a:off x="5940629" y="5102523"/>
              <a:ext cx="3154220" cy="44508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Explore options for individual loyalty program with financial service providers/merchants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7D2B4A9-3782-4186-A946-7BBBD82A9E63}"/>
                </a:ext>
              </a:extLst>
            </p:cNvPr>
            <p:cNvSpPr/>
            <p:nvPr/>
          </p:nvSpPr>
          <p:spPr>
            <a:xfrm>
              <a:off x="2441793" y="1496412"/>
              <a:ext cx="3061419" cy="36130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 Explore new locations/hubs for expansion</a:t>
              </a:r>
              <a:endParaRPr lang="en-IN" sz="1200" dirty="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C6EB7636-570E-406C-978E-724D2988FEFE}"/>
                </a:ext>
              </a:extLst>
            </p:cNvPr>
            <p:cNvSpPr/>
            <p:nvPr/>
          </p:nvSpPr>
          <p:spPr>
            <a:xfrm>
              <a:off x="2441793" y="2399844"/>
              <a:ext cx="4903638" cy="25919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Assess profitability at low operating bases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86088DAC-55DE-419D-BC24-306923490F2E}"/>
                </a:ext>
              </a:extLst>
            </p:cNvPr>
            <p:cNvSpPr/>
            <p:nvPr/>
          </p:nvSpPr>
          <p:spPr>
            <a:xfrm>
              <a:off x="2441792" y="2765607"/>
              <a:ext cx="4903638" cy="25919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 Lock orders for aircraft acquisition</a:t>
              </a:r>
              <a:endParaRPr lang="en-IN" sz="1200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C49C8B24-6743-43F1-972F-1A77A757F97F}"/>
                </a:ext>
              </a:extLst>
            </p:cNvPr>
            <p:cNvSpPr/>
            <p:nvPr/>
          </p:nvSpPr>
          <p:spPr>
            <a:xfrm>
              <a:off x="2441793" y="977795"/>
              <a:ext cx="3061419" cy="41070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Invest in technology/automation to improve customer experience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AFA0864-BFD3-4ACC-9831-F1567237AB0E}"/>
                </a:ext>
              </a:extLst>
            </p:cNvPr>
            <p:cNvSpPr/>
            <p:nvPr/>
          </p:nvSpPr>
          <p:spPr>
            <a:xfrm>
              <a:off x="5940629" y="4451767"/>
              <a:ext cx="3154220" cy="54418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Evaluate opportunities for partnerships with brands to enhance in-flight experience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AE3A16B-669A-4F08-8780-ACC8C8388671}"/>
                </a:ext>
              </a:extLst>
            </p:cNvPr>
            <p:cNvSpPr/>
            <p:nvPr/>
          </p:nvSpPr>
          <p:spPr>
            <a:xfrm>
              <a:off x="2441793" y="3129180"/>
              <a:ext cx="4914071" cy="22096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 Explore options for expanding RCS connectivity</a:t>
              </a:r>
              <a:endParaRPr lang="en-IN" sz="12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296E54-5368-472B-9978-CE7EF81DA2E1}"/>
                </a:ext>
              </a:extLst>
            </p:cNvPr>
            <p:cNvSpPr/>
            <p:nvPr/>
          </p:nvSpPr>
          <p:spPr>
            <a:xfrm>
              <a:off x="2441793" y="3459827"/>
              <a:ext cx="4914071" cy="22626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 Rethink processes, trial and rehearse to optimize ground handling</a:t>
              </a:r>
              <a:endParaRPr lang="en-IN" sz="12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AB5ED4-DF6C-4E37-90FC-C715B6BECC1F}"/>
                </a:ext>
              </a:extLst>
            </p:cNvPr>
            <p:cNvSpPr/>
            <p:nvPr/>
          </p:nvSpPr>
          <p:spPr>
            <a:xfrm>
              <a:off x="2441793" y="1962412"/>
              <a:ext cx="4903638" cy="32802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 Use of digitalisation to minimize contact points in accordance to pandemic protocols</a:t>
              </a:r>
              <a:endParaRPr lang="en-IN" sz="1200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627B43C-985F-41F5-AF93-BC0939DC18E2}"/>
              </a:ext>
            </a:extLst>
          </p:cNvPr>
          <p:cNvSpPr/>
          <p:nvPr/>
        </p:nvSpPr>
        <p:spPr>
          <a:xfrm>
            <a:off x="0" y="512091"/>
            <a:ext cx="9409043" cy="6345909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849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7838E-91DD-406D-8DE6-994DC36F048E}"/>
              </a:ext>
            </a:extLst>
          </p:cNvPr>
          <p:cNvSpPr txBox="1"/>
          <p:nvPr/>
        </p:nvSpPr>
        <p:spPr>
          <a:xfrm>
            <a:off x="4042117" y="2413337"/>
            <a:ext cx="41077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268124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F702D-3664-42E7-A66E-7F8D87641B88}"/>
              </a:ext>
            </a:extLst>
          </p:cNvPr>
          <p:cNvSpPr txBox="1"/>
          <p:nvPr/>
        </p:nvSpPr>
        <p:spPr>
          <a:xfrm>
            <a:off x="3385930" y="2921168"/>
            <a:ext cx="5420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/>
              <a:t>APPENDIX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891368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52A57C-2B73-4E99-AD1F-C05B217A0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47388"/>
              </p:ext>
            </p:extLst>
          </p:nvPr>
        </p:nvGraphicFramePr>
        <p:xfrm>
          <a:off x="270288" y="1332254"/>
          <a:ext cx="3625853" cy="4352935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609880">
                  <a:extLst>
                    <a:ext uri="{9D8B030D-6E8A-4147-A177-3AD203B41FA5}">
                      <a16:colId xmlns:a16="http://schemas.microsoft.com/office/drawing/2014/main" val="4087151131"/>
                    </a:ext>
                  </a:extLst>
                </a:gridCol>
                <a:gridCol w="2015973">
                  <a:extLst>
                    <a:ext uri="{9D8B030D-6E8A-4147-A177-3AD203B41FA5}">
                      <a16:colId xmlns:a16="http://schemas.microsoft.com/office/drawing/2014/main" val="885451323"/>
                    </a:ext>
                  </a:extLst>
                </a:gridCol>
              </a:tblGrid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Airport/Airstrip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State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025574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Car Nicobar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Andaman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094748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Jorhat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Assam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50883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North lakhimpur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Assam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305308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Tezpur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Assam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945786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Jamnagar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Gujarat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202519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Bhavnagar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Gujarat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0268843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Kullu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Himachal Pradesh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621752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Thoise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Jammu and Kashmir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208874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Agatti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Lakshadweep Islands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656631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Shillong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Meghalaya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633239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Diu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Daman and Diu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963185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Agra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Uttar Pradesh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48762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Allahabad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Uttar Pradesh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46632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Gwalior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Madhya Pradesh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241502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Pantnagar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Uttarakhand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513857"/>
                  </a:ext>
                </a:extLst>
              </a:tr>
              <a:tr h="25605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Andal(Durgapur)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West Bengal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307039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932EBE0-A93D-4A73-AC72-76E29F13B56F}"/>
              </a:ext>
            </a:extLst>
          </p:cNvPr>
          <p:cNvSpPr txBox="1"/>
          <p:nvPr/>
        </p:nvSpPr>
        <p:spPr>
          <a:xfrm>
            <a:off x="270288" y="462363"/>
            <a:ext cx="36258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u="sng" dirty="0"/>
              <a:t>Annexure 1:</a:t>
            </a:r>
          </a:p>
          <a:p>
            <a:r>
              <a:rPr lang="en-GB" sz="1400" dirty="0"/>
              <a:t>List of underserved airports/airstrips with high potential of revenue generation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44EFAC-A9D0-4A8B-8699-88F11F88557F}"/>
              </a:ext>
            </a:extLst>
          </p:cNvPr>
          <p:cNvSpPr txBox="1"/>
          <p:nvPr/>
        </p:nvSpPr>
        <p:spPr>
          <a:xfrm>
            <a:off x="4368110" y="462363"/>
            <a:ext cx="39277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u="sng" dirty="0"/>
              <a:t>Annexure 2:</a:t>
            </a:r>
            <a:r>
              <a:rPr lang="en-GB" sz="1400" b="1" dirty="0"/>
              <a:t> </a:t>
            </a:r>
          </a:p>
          <a:p>
            <a:r>
              <a:rPr lang="en-GB" sz="1400" dirty="0"/>
              <a:t>Evaluating profitable routes as per Regional Connectivity Scheme(RCS)</a:t>
            </a:r>
            <a:endParaRPr lang="en-IN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1F1678-F092-48E8-AA0E-B7E1E204D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990823"/>
              </p:ext>
            </p:extLst>
          </p:nvPr>
        </p:nvGraphicFramePr>
        <p:xfrm>
          <a:off x="4368110" y="1282104"/>
          <a:ext cx="7553602" cy="1095375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09681">
                  <a:extLst>
                    <a:ext uri="{9D8B030D-6E8A-4147-A177-3AD203B41FA5}">
                      <a16:colId xmlns:a16="http://schemas.microsoft.com/office/drawing/2014/main" val="2931218463"/>
                    </a:ext>
                  </a:extLst>
                </a:gridCol>
                <a:gridCol w="1632111">
                  <a:extLst>
                    <a:ext uri="{9D8B030D-6E8A-4147-A177-3AD203B41FA5}">
                      <a16:colId xmlns:a16="http://schemas.microsoft.com/office/drawing/2014/main" val="3779145990"/>
                    </a:ext>
                  </a:extLst>
                </a:gridCol>
                <a:gridCol w="962243">
                  <a:extLst>
                    <a:ext uri="{9D8B030D-6E8A-4147-A177-3AD203B41FA5}">
                      <a16:colId xmlns:a16="http://schemas.microsoft.com/office/drawing/2014/main" val="2328571034"/>
                    </a:ext>
                  </a:extLst>
                </a:gridCol>
                <a:gridCol w="1820817">
                  <a:extLst>
                    <a:ext uri="{9D8B030D-6E8A-4147-A177-3AD203B41FA5}">
                      <a16:colId xmlns:a16="http://schemas.microsoft.com/office/drawing/2014/main" val="3874410631"/>
                    </a:ext>
                  </a:extLst>
                </a:gridCol>
                <a:gridCol w="1228750">
                  <a:extLst>
                    <a:ext uri="{9D8B030D-6E8A-4147-A177-3AD203B41FA5}">
                      <a16:colId xmlns:a16="http://schemas.microsoft.com/office/drawing/2014/main" val="290217956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Individual Route/Network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Details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VGF Request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Applicable VGF and Airfare Caps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Stage length/flight duration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344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Individual Route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RCS Route A -B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Yes/No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76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Network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RCS route in sequence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Yes/No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87298118"/>
                  </a:ext>
                </a:extLst>
              </a:tr>
            </a:tbl>
          </a:graphicData>
        </a:graphic>
      </p:graphicFrame>
      <p:grpSp>
        <p:nvGrpSpPr>
          <p:cNvPr id="60" name="Group 59">
            <a:extLst>
              <a:ext uri="{FF2B5EF4-FFF2-40B4-BE49-F238E27FC236}">
                <a16:creationId xmlns:a16="http://schemas.microsoft.com/office/drawing/2014/main" id="{02E8381C-3C83-42FB-A11C-8C8AA015A528}"/>
              </a:ext>
            </a:extLst>
          </p:cNvPr>
          <p:cNvGrpSpPr/>
          <p:nvPr/>
        </p:nvGrpSpPr>
        <p:grpSpPr>
          <a:xfrm>
            <a:off x="4368110" y="3313176"/>
            <a:ext cx="7726017" cy="3461831"/>
            <a:chOff x="4346713" y="3190760"/>
            <a:chExt cx="7726017" cy="34618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322B38-A04E-4C29-8436-7BEDE0BC998E}"/>
                </a:ext>
              </a:extLst>
            </p:cNvPr>
            <p:cNvSpPr/>
            <p:nvPr/>
          </p:nvSpPr>
          <p:spPr>
            <a:xfrm>
              <a:off x="10734260" y="4525575"/>
              <a:ext cx="1338470" cy="1159608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ysClr val="windowText" lastClr="000000"/>
                  </a:solidFill>
                </a:rPr>
                <a:t>Reservations/ Inventory System</a:t>
              </a:r>
              <a:endParaRPr lang="en-IN" sz="14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0FB07A3-25D0-4A89-95F0-CF9A87DB6724}"/>
                </a:ext>
              </a:extLst>
            </p:cNvPr>
            <p:cNvGrpSpPr/>
            <p:nvPr/>
          </p:nvGrpSpPr>
          <p:grpSpPr>
            <a:xfrm>
              <a:off x="4346713" y="3190760"/>
              <a:ext cx="6122504" cy="3461831"/>
              <a:chOff x="4346713" y="3190760"/>
              <a:chExt cx="6122504" cy="3461831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EEFA322-F14C-47CA-8268-3A176FBECEAC}"/>
                  </a:ext>
                </a:extLst>
              </p:cNvPr>
              <p:cNvSpPr/>
              <p:nvPr/>
            </p:nvSpPr>
            <p:spPr>
              <a:xfrm>
                <a:off x="4346713" y="3190760"/>
                <a:ext cx="6122504" cy="3461831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041075AC-A60D-4B85-9604-C5748D19F724}"/>
                  </a:ext>
                </a:extLst>
              </p:cNvPr>
              <p:cNvGrpSpPr/>
              <p:nvPr/>
            </p:nvGrpSpPr>
            <p:grpSpPr>
              <a:xfrm>
                <a:off x="4514022" y="3452191"/>
                <a:ext cx="5760920" cy="2891957"/>
                <a:chOff x="4578765" y="3525241"/>
                <a:chExt cx="5760920" cy="2891957"/>
              </a:xfrm>
            </p:grpSpPr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FEBA1444-171E-4581-BCE7-C8E00CF04D07}"/>
                    </a:ext>
                  </a:extLst>
                </p:cNvPr>
                <p:cNvCxnSpPr>
                  <a:stCxn id="9" idx="4"/>
                </p:cNvCxnSpPr>
                <p:nvPr/>
              </p:nvCxnSpPr>
              <p:spPr>
                <a:xfrm>
                  <a:off x="8196300" y="4525576"/>
                  <a:ext cx="1212743" cy="1494467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3A733869-1A88-4CEA-85F4-CC856CE242DE}"/>
                    </a:ext>
                  </a:extLst>
                </p:cNvPr>
                <p:cNvGrpSpPr/>
                <p:nvPr/>
              </p:nvGrpSpPr>
              <p:grpSpPr>
                <a:xfrm>
                  <a:off x="4578765" y="3525241"/>
                  <a:ext cx="5760920" cy="2891957"/>
                  <a:chOff x="4578765" y="3525241"/>
                  <a:chExt cx="5760920" cy="2891957"/>
                </a:xfrm>
              </p:grpSpPr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F1904E83-A173-4FC7-B351-2C3DE961B3AF}"/>
                      </a:ext>
                    </a:extLst>
                  </p:cNvPr>
                  <p:cNvSpPr/>
                  <p:nvPr/>
                </p:nvSpPr>
                <p:spPr>
                  <a:xfrm>
                    <a:off x="4578765" y="3541807"/>
                    <a:ext cx="1338470" cy="983769"/>
                  </a:xfrm>
                  <a:prstGeom prst="ellipse">
                    <a:avLst/>
                  </a:prstGeom>
                  <a:noFill/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400" dirty="0">
                        <a:solidFill>
                          <a:sysClr val="windowText" lastClr="000000"/>
                        </a:solidFill>
                      </a:rPr>
                      <a:t>Revenue Data</a:t>
                    </a:r>
                    <a:endParaRPr lang="en-IN" sz="14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BCD3DBB8-6D5B-4B8B-AF7E-C9E096533BF1}"/>
                      </a:ext>
                    </a:extLst>
                  </p:cNvPr>
                  <p:cNvSpPr/>
                  <p:nvPr/>
                </p:nvSpPr>
                <p:spPr>
                  <a:xfrm>
                    <a:off x="9001215" y="3541806"/>
                    <a:ext cx="1338470" cy="983769"/>
                  </a:xfrm>
                  <a:prstGeom prst="ellipse">
                    <a:avLst/>
                  </a:prstGeom>
                  <a:noFill/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400" dirty="0">
                        <a:solidFill>
                          <a:sysClr val="windowText" lastClr="000000"/>
                        </a:solidFill>
                      </a:rPr>
                      <a:t>Actual Bookings</a:t>
                    </a:r>
                    <a:endParaRPr lang="en-IN" sz="14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AC0F9D0-ED85-49EE-B70B-78F32E9A73FA}"/>
                      </a:ext>
                    </a:extLst>
                  </p:cNvPr>
                  <p:cNvSpPr/>
                  <p:nvPr/>
                </p:nvSpPr>
                <p:spPr>
                  <a:xfrm>
                    <a:off x="7527065" y="3541807"/>
                    <a:ext cx="1338470" cy="983769"/>
                  </a:xfrm>
                  <a:prstGeom prst="ellipse">
                    <a:avLst/>
                  </a:prstGeom>
                  <a:noFill/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400" dirty="0">
                        <a:solidFill>
                          <a:sysClr val="windowText" lastClr="000000"/>
                        </a:solidFill>
                      </a:rPr>
                      <a:t>No-show Data</a:t>
                    </a:r>
                    <a:endParaRPr lang="en-IN" sz="14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5E16A3DA-7AD2-4B08-AE5A-FB6D277AD288}"/>
                      </a:ext>
                    </a:extLst>
                  </p:cNvPr>
                  <p:cNvSpPr/>
                  <p:nvPr/>
                </p:nvSpPr>
                <p:spPr>
                  <a:xfrm>
                    <a:off x="6052915" y="3525241"/>
                    <a:ext cx="1338470" cy="983769"/>
                  </a:xfrm>
                  <a:prstGeom prst="ellipse">
                    <a:avLst/>
                  </a:prstGeom>
                  <a:noFill/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400" dirty="0">
                        <a:solidFill>
                          <a:sysClr val="windowText" lastClr="000000"/>
                        </a:solidFill>
                      </a:rPr>
                      <a:t>Historical Bookings</a:t>
                    </a:r>
                    <a:endParaRPr lang="en-IN" sz="14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DBC14C56-1360-441C-B92B-493C98158CEF}"/>
                      </a:ext>
                    </a:extLst>
                  </p:cNvPr>
                  <p:cNvSpPr/>
                  <p:nvPr/>
                </p:nvSpPr>
                <p:spPr>
                  <a:xfrm>
                    <a:off x="6500021" y="5012673"/>
                    <a:ext cx="2054087" cy="397155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400" dirty="0">
                        <a:solidFill>
                          <a:sysClr val="windowText" lastClr="000000"/>
                        </a:solidFill>
                      </a:rPr>
                      <a:t>Forecasting Models</a:t>
                    </a:r>
                    <a:endParaRPr lang="en-IN" sz="14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239B0B7F-105C-4DDA-988A-7327DFA500CA}"/>
                      </a:ext>
                    </a:extLst>
                  </p:cNvPr>
                  <p:cNvSpPr/>
                  <p:nvPr/>
                </p:nvSpPr>
                <p:spPr>
                  <a:xfrm>
                    <a:off x="8231119" y="6020043"/>
                    <a:ext cx="2054087" cy="397155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400" dirty="0">
                        <a:solidFill>
                          <a:sysClr val="windowText" lastClr="000000"/>
                        </a:solidFill>
                      </a:rPr>
                      <a:t>Overbooking Model</a:t>
                    </a:r>
                    <a:endParaRPr lang="en-IN" sz="14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B3CED93E-F34E-4F25-BF90-CC06463F9E3B}"/>
                      </a:ext>
                    </a:extLst>
                  </p:cNvPr>
                  <p:cNvSpPr/>
                  <p:nvPr/>
                </p:nvSpPr>
                <p:spPr>
                  <a:xfrm>
                    <a:off x="5025871" y="6020043"/>
                    <a:ext cx="2054087" cy="397155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sz="1400" dirty="0">
                        <a:solidFill>
                          <a:sysClr val="windowText" lastClr="000000"/>
                        </a:solidFill>
                      </a:rPr>
                      <a:t>Booking Limit Optimization</a:t>
                    </a:r>
                    <a:endParaRPr lang="en-IN" sz="14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8211E7FB-16FF-46DC-80AF-2715ECA79C55}"/>
                      </a:ext>
                    </a:extLst>
                  </p:cNvPr>
                  <p:cNvCxnSpPr>
                    <a:stCxn id="10" idx="4"/>
                    <a:endCxn id="11" idx="0"/>
                  </p:cNvCxnSpPr>
                  <p:nvPr/>
                </p:nvCxnSpPr>
                <p:spPr>
                  <a:xfrm>
                    <a:off x="6722150" y="4509010"/>
                    <a:ext cx="804915" cy="503663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12C5014C-182B-48E3-9DD7-4483330629A6}"/>
                      </a:ext>
                    </a:extLst>
                  </p:cNvPr>
                  <p:cNvCxnSpPr>
                    <a:stCxn id="9" idx="4"/>
                    <a:endCxn id="11" idx="0"/>
                  </p:cNvCxnSpPr>
                  <p:nvPr/>
                </p:nvCxnSpPr>
                <p:spPr>
                  <a:xfrm flipH="1">
                    <a:off x="7527065" y="4525576"/>
                    <a:ext cx="669235" cy="487097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FA3EA4F7-FD5D-4CA2-9F7C-070A7478495D}"/>
                      </a:ext>
                    </a:extLst>
                  </p:cNvPr>
                  <p:cNvCxnSpPr>
                    <a:stCxn id="8" idx="4"/>
                  </p:cNvCxnSpPr>
                  <p:nvPr/>
                </p:nvCxnSpPr>
                <p:spPr>
                  <a:xfrm flipH="1">
                    <a:off x="7633252" y="4525575"/>
                    <a:ext cx="2037198" cy="487098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DFA83816-7484-4B12-BBB1-CE8DD2AD2708}"/>
                      </a:ext>
                    </a:extLst>
                  </p:cNvPr>
                  <p:cNvCxnSpPr>
                    <a:stCxn id="7" idx="4"/>
                    <a:endCxn id="13" idx="0"/>
                  </p:cNvCxnSpPr>
                  <p:nvPr/>
                </p:nvCxnSpPr>
                <p:spPr>
                  <a:xfrm>
                    <a:off x="5248000" y="4525576"/>
                    <a:ext cx="804915" cy="1494467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4DFEFDB8-5841-4588-98B1-2CEB2D4DB487}"/>
                      </a:ext>
                    </a:extLst>
                  </p:cNvPr>
                  <p:cNvCxnSpPr>
                    <a:stCxn id="11" idx="2"/>
                    <a:endCxn id="13" idx="0"/>
                  </p:cNvCxnSpPr>
                  <p:nvPr/>
                </p:nvCxnSpPr>
                <p:spPr>
                  <a:xfrm flipH="1">
                    <a:off x="6052915" y="5409828"/>
                    <a:ext cx="1474150" cy="610215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Arrow Connector 27">
                    <a:extLst>
                      <a:ext uri="{FF2B5EF4-FFF2-40B4-BE49-F238E27FC236}">
                        <a16:creationId xmlns:a16="http://schemas.microsoft.com/office/drawing/2014/main" id="{89328E08-AD89-414C-9511-F9BE0330DFFB}"/>
                      </a:ext>
                    </a:extLst>
                  </p:cNvPr>
                  <p:cNvCxnSpPr>
                    <a:stCxn id="11" idx="2"/>
                    <a:endCxn id="12" idx="0"/>
                  </p:cNvCxnSpPr>
                  <p:nvPr/>
                </p:nvCxnSpPr>
                <p:spPr>
                  <a:xfrm>
                    <a:off x="7527065" y="5409828"/>
                    <a:ext cx="1731098" cy="610215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id="{175F2229-3822-4B35-8837-3379B0216F9E}"/>
                      </a:ext>
                    </a:extLst>
                  </p:cNvPr>
                  <p:cNvCxnSpPr>
                    <a:stCxn id="13" idx="3"/>
                    <a:endCxn id="12" idx="1"/>
                  </p:cNvCxnSpPr>
                  <p:nvPr/>
                </p:nvCxnSpPr>
                <p:spPr>
                  <a:xfrm>
                    <a:off x="7079958" y="6218621"/>
                    <a:ext cx="1151161" cy="0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E9708C11-ABB2-4E5D-A7FA-11CCAB9E3B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95461" y="5685183"/>
              <a:ext cx="908034" cy="460387"/>
            </a:xfrm>
            <a:prstGeom prst="bentConnector3">
              <a:avLst>
                <a:gd name="adj1" fmla="val 101080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CD682890-3CA2-4171-87D6-C92A320F5449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rot="16200000" flipV="1">
              <a:off x="10570257" y="3692337"/>
              <a:ext cx="760054" cy="906422"/>
            </a:xfrm>
            <a:prstGeom prst="bentConnector2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BFB79182-0DC8-46A5-BE6C-035D9CB6C621}"/>
              </a:ext>
            </a:extLst>
          </p:cNvPr>
          <p:cNvSpPr txBox="1"/>
          <p:nvPr/>
        </p:nvSpPr>
        <p:spPr>
          <a:xfrm>
            <a:off x="4368110" y="2789956"/>
            <a:ext cx="3490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u="sng" dirty="0"/>
              <a:t>Annexure 3:</a:t>
            </a:r>
          </a:p>
          <a:p>
            <a:r>
              <a:rPr lang="en-GB" sz="1400" dirty="0"/>
              <a:t>Revenue Optimization model</a:t>
            </a:r>
            <a:endParaRPr lang="en-IN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66E00F-24B7-4B02-9F19-827EF9374B0E}"/>
              </a:ext>
            </a:extLst>
          </p:cNvPr>
          <p:cNvSpPr txBox="1"/>
          <p:nvPr/>
        </p:nvSpPr>
        <p:spPr>
          <a:xfrm>
            <a:off x="8295862" y="659746"/>
            <a:ext cx="3625852" cy="5232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Evaluate Viability Gap Funding(VGF) and Airfare Caps to assess route/network profitability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4523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622</Words>
  <Application>Microsoft Office PowerPoint</Application>
  <PresentationFormat>Widescreen</PresentationFormat>
  <Paragraphs>134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 The Boardroom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Devesh Sinha</dc:creator>
  <cp:lastModifiedBy>Devesh Sinha</cp:lastModifiedBy>
  <cp:revision>9</cp:revision>
  <dcterms:created xsi:type="dcterms:W3CDTF">2022-01-24T21:22:54Z</dcterms:created>
  <dcterms:modified xsi:type="dcterms:W3CDTF">2022-01-30T15:33:00Z</dcterms:modified>
</cp:coreProperties>
</file>