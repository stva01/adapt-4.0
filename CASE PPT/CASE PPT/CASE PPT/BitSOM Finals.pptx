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24387048" cy="14209776"/>
  <p:notesSz cx="14209776" cy="24387048"/>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image" Target="../media/image-3-11.png"/><Relationship Id="rId12" Type="http://schemas.openxmlformats.org/officeDocument/2006/relationships/image" Target="../media/image-3-12.png"/><Relationship Id="rId13" Type="http://schemas.openxmlformats.org/officeDocument/2006/relationships/image" Target="../media/image-3-13.png"/><Relationship Id="rId14" Type="http://schemas.openxmlformats.org/officeDocument/2006/relationships/slideLayout" Target="../slideLayouts/slideLayout1.xml"/><Relationship Id="rId1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image" Target="../media/image-4-11.png"/><Relationship Id="rId12" Type="http://schemas.openxmlformats.org/officeDocument/2006/relationships/image" Target="../media/image-4-12.png"/><Relationship Id="rId13" Type="http://schemas.openxmlformats.org/officeDocument/2006/relationships/image" Target="../media/image-4-13.png"/><Relationship Id="rId14" Type="http://schemas.openxmlformats.org/officeDocument/2006/relationships/image" Target="../media/image-4-14.png"/><Relationship Id="rId15" Type="http://schemas.openxmlformats.org/officeDocument/2006/relationships/image" Target="../media/image-4-15.png"/><Relationship Id="rId16" Type="http://schemas.openxmlformats.org/officeDocument/2006/relationships/image" Target="../media/image-4-16.png"/><Relationship Id="rId17" Type="http://schemas.openxmlformats.org/officeDocument/2006/relationships/image" Target="../media/image-4-17.png"/><Relationship Id="rId18" Type="http://schemas.openxmlformats.org/officeDocument/2006/relationships/slideLayout" Target="../slideLayouts/slideLayout1.xml"/><Relationship Id="rId1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image" Target="../media/image-6-11.png"/><Relationship Id="rId12" Type="http://schemas.openxmlformats.org/officeDocument/2006/relationships/image" Target="../media/image-6-12.png"/><Relationship Id="rId13" Type="http://schemas.openxmlformats.org/officeDocument/2006/relationships/image" Target="../media/image-6-13.png"/><Relationship Id="rId14" Type="http://schemas.openxmlformats.org/officeDocument/2006/relationships/image" Target="../media/image-6-14.png"/><Relationship Id="rId15" Type="http://schemas.openxmlformats.org/officeDocument/2006/relationships/image" Target="../media/image-6-15.png"/><Relationship Id="rId16" Type="http://schemas.openxmlformats.org/officeDocument/2006/relationships/image" Target="../media/image-6-16.png"/><Relationship Id="rId17" Type="http://schemas.openxmlformats.org/officeDocument/2006/relationships/image" Target="../media/image-6-17.png"/><Relationship Id="rId18" Type="http://schemas.openxmlformats.org/officeDocument/2006/relationships/image" Target="../media/image-6-18.png"/><Relationship Id="rId19" Type="http://schemas.openxmlformats.org/officeDocument/2006/relationships/image" Target="../media/image-6-19.png"/><Relationship Id="rId20" Type="http://schemas.openxmlformats.org/officeDocument/2006/relationships/image" Target="../media/image-6-20.png"/><Relationship Id="rId21" Type="http://schemas.openxmlformats.org/officeDocument/2006/relationships/image" Target="../media/image-6-21.png"/><Relationship Id="rId22" Type="http://schemas.openxmlformats.org/officeDocument/2006/relationships/image" Target="../media/image-6-22.png"/><Relationship Id="rId23" Type="http://schemas.openxmlformats.org/officeDocument/2006/relationships/image" Target="../media/image-6-23.png"/><Relationship Id="rId24" Type="http://schemas.openxmlformats.org/officeDocument/2006/relationships/image" Target="../media/image-6-24.png"/><Relationship Id="rId25" Type="http://schemas.openxmlformats.org/officeDocument/2006/relationships/slideLayout" Target="../slideLayouts/slideLayout1.xml"/><Relationship Id="rId2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image" Target="../media/image-7-11.png"/><Relationship Id="rId12" Type="http://schemas.openxmlformats.org/officeDocument/2006/relationships/image" Target="../media/image-7-12.png"/><Relationship Id="rId13" Type="http://schemas.openxmlformats.org/officeDocument/2006/relationships/image" Target="../media/image-7-13.png"/><Relationship Id="rId14" Type="http://schemas.openxmlformats.org/officeDocument/2006/relationships/image" Target="../media/image-7-14.png"/><Relationship Id="rId15" Type="http://schemas.openxmlformats.org/officeDocument/2006/relationships/image" Target="../media/image-7-15.png"/><Relationship Id="rId16" Type="http://schemas.openxmlformats.org/officeDocument/2006/relationships/image" Target="../media/image-7-16.png"/><Relationship Id="rId17" Type="http://schemas.openxmlformats.org/officeDocument/2006/relationships/image" Target="../media/image-7-17.png"/><Relationship Id="rId18" Type="http://schemas.openxmlformats.org/officeDocument/2006/relationships/image" Target="../media/image-7-18.png"/><Relationship Id="rId19" Type="http://schemas.openxmlformats.org/officeDocument/2006/relationships/image" Target="../media/image-7-19.png"/><Relationship Id="rId20" Type="http://schemas.openxmlformats.org/officeDocument/2006/relationships/image" Target="../media/image-7-20.png"/><Relationship Id="rId21" Type="http://schemas.openxmlformats.org/officeDocument/2006/relationships/image" Target="../media/image-7-21.png"/><Relationship Id="rId22" Type="http://schemas.openxmlformats.org/officeDocument/2006/relationships/image" Target="../media/image-7-22.png"/><Relationship Id="rId23" Type="http://schemas.openxmlformats.org/officeDocument/2006/relationships/image" Target="../media/image-7-23.png"/><Relationship Id="rId24" Type="http://schemas.openxmlformats.org/officeDocument/2006/relationships/slideLayout" Target="../slideLayouts/slideLayout1.xml"/><Relationship Id="rId2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image" Target="../media/image-8-11.png"/><Relationship Id="rId12" Type="http://schemas.openxmlformats.org/officeDocument/2006/relationships/image" Target="../media/image-8-12.png"/><Relationship Id="rId13" Type="http://schemas.openxmlformats.org/officeDocument/2006/relationships/image" Target="../media/image-8-13.png"/><Relationship Id="rId14" Type="http://schemas.openxmlformats.org/officeDocument/2006/relationships/image" Target="../media/image-8-14.png"/><Relationship Id="rId15" Type="http://schemas.openxmlformats.org/officeDocument/2006/relationships/image" Target="../media/image-8-15.png"/><Relationship Id="rId16" Type="http://schemas.openxmlformats.org/officeDocument/2006/relationships/image" Target="../media/image-8-16.png"/><Relationship Id="rId17" Type="http://schemas.openxmlformats.org/officeDocument/2006/relationships/image" Target="../media/image-8-17.png"/><Relationship Id="rId18" Type="http://schemas.openxmlformats.org/officeDocument/2006/relationships/image" Target="../media/image-8-18.png"/><Relationship Id="rId19" Type="http://schemas.openxmlformats.org/officeDocument/2006/relationships/image" Target="../media/image-8-19.png"/><Relationship Id="rId20" Type="http://schemas.openxmlformats.org/officeDocument/2006/relationships/image" Target="../media/image-8-20.png"/><Relationship Id="rId21" Type="http://schemas.openxmlformats.org/officeDocument/2006/relationships/image" Target="../media/image-8-21.png"/><Relationship Id="rId22" Type="http://schemas.openxmlformats.org/officeDocument/2006/relationships/slideLayout" Target="../slideLayouts/slideLayout1.xml"/><Relationship Id="rId2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slideLayout" Target="../slideLayouts/slideLayout1.xml"/><Relationship Id="rId10"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image" Target="../media/image-11-10.png"/><Relationship Id="rId11" Type="http://schemas.openxmlformats.org/officeDocument/2006/relationships/image" Target="../media/image-11-11.png"/><Relationship Id="rId12" Type="http://schemas.openxmlformats.org/officeDocument/2006/relationships/image" Target="../media/image-11-12.png"/><Relationship Id="rId13" Type="http://schemas.openxmlformats.org/officeDocument/2006/relationships/image" Target="../media/image-11-13.png"/><Relationship Id="rId14" Type="http://schemas.openxmlformats.org/officeDocument/2006/relationships/image" Target="../media/image-11-14.png"/><Relationship Id="rId15" Type="http://schemas.openxmlformats.org/officeDocument/2006/relationships/image" Target="../media/image-11-15.png"/><Relationship Id="rId16" Type="http://schemas.openxmlformats.org/officeDocument/2006/relationships/image" Target="../media/image-11-16.png"/><Relationship Id="rId17" Type="http://schemas.openxmlformats.org/officeDocument/2006/relationships/image" Target="../media/image-11-17.png"/><Relationship Id="rId18" Type="http://schemas.openxmlformats.org/officeDocument/2006/relationships/slideLayout" Target="../slideLayouts/slideLayout1.xml"/><Relationship Id="rId19"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B62D27"/>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562295" y="3306090"/>
            <a:ext cx="6249181" cy="7432196"/>
          </a:xfrm>
          <a:prstGeom prst="rect">
            <a:avLst/>
          </a:prstGeom>
        </p:spPr>
      </p:pic>
      <p:pic>
        <p:nvPicPr>
          <p:cNvPr id="3" name="Image 1" descr="preencoded.png">    </p:cNvPr>
          <p:cNvPicPr>
            <a:picLocks noChangeAspect="1"/>
          </p:cNvPicPr>
          <p:nvPr/>
        </p:nvPicPr>
        <p:blipFill>
          <a:blip r:embed="rId2"/>
          <a:stretch>
            <a:fillRect/>
          </a:stretch>
        </p:blipFill>
        <p:spPr>
          <a:xfrm>
            <a:off x="8202050" y="4425475"/>
            <a:ext cx="13019" cy="5193427"/>
          </a:xfrm>
          <a:prstGeom prst="rect">
            <a:avLst/>
          </a:prstGeom>
        </p:spPr>
      </p:pic>
      <p:sp>
        <p:nvSpPr>
          <p:cNvPr id="4" name="Text 0"/>
          <p:cNvSpPr/>
          <p:nvPr/>
        </p:nvSpPr>
        <p:spPr>
          <a:xfrm>
            <a:off x="9438867" y="6052488"/>
            <a:ext cx="9017827" cy="1804811"/>
          </a:xfrm>
          <a:prstGeom prst="rect">
            <a:avLst/>
          </a:prstGeom>
          <a:noFill/>
          <a:ln/>
        </p:spPr>
        <p:txBody>
          <a:bodyPr wrap="square" lIns="0" tIns="0" rIns="0" bIns="0" rtlCol="0" anchor="t"/>
          <a:lstStyle/>
          <a:p>
            <a:pPr algn="l"/>
            <a:r>
              <a:rPr lang="en-US" sz="9100" dirty="0">
                <a:solidFill>
                  <a:srgbClr val="FFFFFF">
                    <a:alpha val="100000"/>
                  </a:srgbClr>
                </a:solidFill>
                <a:latin typeface="Calibri Regular" pitchFamily="34" charset="0"/>
                <a:ea typeface="Calibri Regular" pitchFamily="34" charset="-122"/>
                <a:cs typeface="Calibri Regular" pitchFamily="34" charset="-120"/>
              </a:rPr>
              <a:t>Business Valley</a:t>
            </a:r>
            <a:endParaRPr lang="en-US" sz="9120" dirty="0"/>
          </a:p>
        </p:txBody>
      </p:sp>
      <p:sp>
        <p:nvSpPr>
          <p:cNvPr id="5" name="Text 1"/>
          <p:cNvSpPr/>
          <p:nvPr/>
        </p:nvSpPr>
        <p:spPr>
          <a:xfrm>
            <a:off x="9503963" y="9137306"/>
            <a:ext cx="4917515" cy="1049151"/>
          </a:xfrm>
          <a:prstGeom prst="rect">
            <a:avLst/>
          </a:prstGeom>
          <a:noFill/>
          <a:ln/>
        </p:spPr>
        <p:txBody>
          <a:bodyPr wrap="square" lIns="0" tIns="0" rIns="0" bIns="0" rtlCol="0" anchor="t"/>
          <a:lstStyle/>
          <a:p>
            <a:pPr algn="l">
              <a:lnSpc>
                <a:spcPts val="4087"/>
              </a:lnSpc>
            </a:pPr>
            <a:r>
              <a:rPr lang="en-US" sz="3500" dirty="0">
                <a:solidFill>
                  <a:srgbClr val="FFFFFF">
                    <a:alpha val="100000"/>
                  </a:srgbClr>
                </a:solidFill>
                <a:latin typeface="Montserrat SemiBold" pitchFamily="34" charset="0"/>
                <a:ea typeface="Montserrat SemiBold" pitchFamily="34" charset="-122"/>
                <a:cs typeface="Montserrat SemiBold" pitchFamily="34" charset="-120"/>
              </a:rPr>
              <a:t>Arya Chandra</a:t>
            </a:r>
            <a:endParaRPr lang="en-US" sz="3458" dirty="0"/>
          </a:p>
          <a:p>
            <a:pPr algn="l">
              <a:lnSpc>
                <a:spcPts val="4087"/>
              </a:lnSpc>
            </a:pPr>
            <a:r>
              <a:rPr lang="en-US" sz="3500" dirty="0">
                <a:solidFill>
                  <a:srgbClr val="FFFFFF">
                    <a:alpha val="100000"/>
                  </a:srgbClr>
                </a:solidFill>
                <a:latin typeface="Montserrat Medium" pitchFamily="34" charset="0"/>
                <a:ea typeface="Montserrat Medium" pitchFamily="34" charset="-122"/>
                <a:cs typeface="Montserrat Medium" pitchFamily="34" charset="-120"/>
              </a:rPr>
              <a:t>BSc. Economics</a:t>
            </a:r>
            <a:endParaRPr lang="en-US" sz="3458" dirty="0"/>
          </a:p>
        </p:txBody>
      </p:sp>
      <p:sp>
        <p:nvSpPr>
          <p:cNvPr id="6" name="Text 2"/>
          <p:cNvSpPr/>
          <p:nvPr/>
        </p:nvSpPr>
        <p:spPr>
          <a:xfrm>
            <a:off x="15184383" y="9140824"/>
            <a:ext cx="4917515" cy="1049151"/>
          </a:xfrm>
          <a:prstGeom prst="rect">
            <a:avLst/>
          </a:prstGeom>
          <a:noFill/>
          <a:ln/>
        </p:spPr>
        <p:txBody>
          <a:bodyPr wrap="square" lIns="0" tIns="0" rIns="0" bIns="0" rtlCol="0" anchor="t"/>
          <a:lstStyle/>
          <a:p>
            <a:pPr algn="l">
              <a:lnSpc>
                <a:spcPts val="4087"/>
              </a:lnSpc>
            </a:pPr>
            <a:r>
              <a:rPr lang="en-US" sz="3500" dirty="0">
                <a:solidFill>
                  <a:srgbClr val="FFFFFF">
                    <a:alpha val="100000"/>
                  </a:srgbClr>
                </a:solidFill>
                <a:latin typeface="Montserrat SemiBold" pitchFamily="34" charset="0"/>
                <a:ea typeface="Montserrat SemiBold" pitchFamily="34" charset="-122"/>
                <a:cs typeface="Montserrat SemiBold" pitchFamily="34" charset="-120"/>
              </a:rPr>
              <a:t>Naman Madhur</a:t>
            </a:r>
            <a:endParaRPr lang="en-US" sz="3458" dirty="0"/>
          </a:p>
          <a:p>
            <a:pPr algn="l">
              <a:lnSpc>
                <a:spcPts val="4087"/>
              </a:lnSpc>
            </a:pPr>
            <a:r>
              <a:rPr lang="en-US" sz="3500" dirty="0">
                <a:solidFill>
                  <a:srgbClr val="FFFFFF">
                    <a:alpha val="100000"/>
                  </a:srgbClr>
                </a:solidFill>
                <a:latin typeface="Montserrat Medium" pitchFamily="34" charset="0"/>
                <a:ea typeface="Montserrat Medium" pitchFamily="34" charset="-122"/>
                <a:cs typeface="Montserrat Medium" pitchFamily="34" charset="-120"/>
              </a:rPr>
              <a:t>BMS</a:t>
            </a:r>
            <a:endParaRPr lang="en-US" sz="3458" dirty="0"/>
          </a:p>
        </p:txBody>
      </p:sp>
      <p:sp>
        <p:nvSpPr>
          <p:cNvPr id="7" name="Text 3"/>
          <p:cNvSpPr/>
          <p:nvPr/>
        </p:nvSpPr>
        <p:spPr>
          <a:xfrm>
            <a:off x="19593786" y="9098258"/>
            <a:ext cx="4917515" cy="1049151"/>
          </a:xfrm>
          <a:prstGeom prst="rect">
            <a:avLst/>
          </a:prstGeom>
          <a:noFill/>
          <a:ln/>
        </p:spPr>
        <p:txBody>
          <a:bodyPr wrap="square" lIns="0" tIns="0" rIns="0" bIns="0" rtlCol="0" anchor="t"/>
          <a:lstStyle/>
          <a:p>
            <a:pPr algn="l">
              <a:lnSpc>
                <a:spcPts val="4087"/>
              </a:lnSpc>
            </a:pPr>
            <a:r>
              <a:rPr lang="en-US" sz="3500" dirty="0">
                <a:solidFill>
                  <a:srgbClr val="FFFFFF">
                    <a:alpha val="100000"/>
                  </a:srgbClr>
                </a:solidFill>
                <a:latin typeface="Montserrat SemiBold" pitchFamily="34" charset="0"/>
                <a:ea typeface="Montserrat SemiBold" pitchFamily="34" charset="-122"/>
                <a:cs typeface="Montserrat SemiBold" pitchFamily="34" charset="-120"/>
              </a:rPr>
              <a:t>Avipsha Ghosh</a:t>
            </a:r>
            <a:endParaRPr lang="en-US" sz="3458" dirty="0"/>
          </a:p>
          <a:p>
            <a:pPr algn="l">
              <a:lnSpc>
                <a:spcPts val="4087"/>
              </a:lnSpc>
            </a:pPr>
            <a:r>
              <a:rPr lang="en-US" sz="3500" dirty="0">
                <a:solidFill>
                  <a:srgbClr val="FFFFFF">
                    <a:alpha val="100000"/>
                  </a:srgbClr>
                </a:solidFill>
                <a:latin typeface="Montserrat Medium" pitchFamily="34" charset="0"/>
                <a:ea typeface="Montserrat Medium" pitchFamily="34" charset="-122"/>
                <a:cs typeface="Montserrat Medium" pitchFamily="34" charset="-120"/>
              </a:rPr>
              <a:t>BA. Pol Science</a:t>
            </a:r>
            <a:endParaRPr lang="en-US" sz="3458" dirty="0"/>
          </a:p>
        </p:txBody>
      </p:sp>
      <p:sp>
        <p:nvSpPr>
          <p:cNvPr id="8" name="Text 4"/>
          <p:cNvSpPr/>
          <p:nvPr/>
        </p:nvSpPr>
        <p:spPr>
          <a:xfrm>
            <a:off x="9438867" y="7900776"/>
            <a:ext cx="9569058" cy="976208"/>
          </a:xfrm>
          <a:prstGeom prst="rect">
            <a:avLst/>
          </a:prstGeom>
          <a:noFill/>
          <a:ln/>
        </p:spPr>
        <p:txBody>
          <a:bodyPr wrap="square" lIns="0" tIns="0" rIns="0" bIns="0" rtlCol="0" anchor="t"/>
          <a:lstStyle/>
          <a:p>
            <a:pPr algn="l">
              <a:lnSpc>
                <a:spcPts val="5815"/>
              </a:lnSpc>
            </a:pPr>
            <a:r>
              <a:rPr lang="en-US" sz="4900" dirty="0">
                <a:solidFill>
                  <a:srgbClr val="FFFFFF">
                    <a:alpha val="100000"/>
                  </a:srgbClr>
                </a:solidFill>
                <a:latin typeface="Calibri Bold" pitchFamily="34" charset="0"/>
                <a:ea typeface="Calibri Bold" pitchFamily="34" charset="-122"/>
                <a:cs typeface="Calibri Bold" pitchFamily="34" charset="-120"/>
              </a:rPr>
              <a:t>Team Blitzkrieg</a:t>
            </a:r>
            <a:endParaRPr lang="en-US" sz="4920" dirty="0"/>
          </a:p>
        </p:txBody>
      </p:sp>
      <p:pic>
        <p:nvPicPr>
          <p:cNvPr id="9" name="Image 2" descr="preencoded.png">    </p:cNvPr>
          <p:cNvPicPr>
            <a:picLocks noChangeAspect="1"/>
          </p:cNvPicPr>
          <p:nvPr/>
        </p:nvPicPr>
        <p:blipFill>
          <a:blip r:embed="rId3"/>
          <a:stretch>
            <a:fillRect/>
          </a:stretch>
        </p:blipFill>
        <p:spPr>
          <a:xfrm>
            <a:off x="13696122" y="8252211"/>
            <a:ext cx="9269618" cy="3904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90724" y="215877"/>
            <a:ext cx="9259457" cy="1841303"/>
          </a:xfrm>
          <a:prstGeom prst="rect">
            <a:avLst/>
          </a:prstGeom>
        </p:spPr>
      </p:pic>
      <p:pic>
        <p:nvPicPr>
          <p:cNvPr id="3" name="Image 1" descr="preencoded.png">    </p:cNvPr>
          <p:cNvPicPr>
            <a:picLocks noChangeAspect="1"/>
          </p:cNvPicPr>
          <p:nvPr/>
        </p:nvPicPr>
        <p:blipFill>
          <a:blip r:embed="rId2"/>
          <a:stretch>
            <a:fillRect/>
          </a:stretch>
        </p:blipFill>
        <p:spPr>
          <a:xfrm>
            <a:off x="10580422" y="1168275"/>
            <a:ext cx="8980022" cy="38096"/>
          </a:xfrm>
          <a:prstGeom prst="rect">
            <a:avLst/>
          </a:prstGeom>
        </p:spPr>
      </p:pic>
      <p:sp>
        <p:nvSpPr>
          <p:cNvPr id="4" name="Text 0"/>
          <p:cNvSpPr/>
          <p:nvPr/>
        </p:nvSpPr>
        <p:spPr>
          <a:xfrm>
            <a:off x="2022134" y="2498510"/>
            <a:ext cx="2498181" cy="460656"/>
          </a:xfrm>
          <a:prstGeom prst="rect">
            <a:avLst/>
          </a:prstGeom>
          <a:noFill/>
          <a:ln/>
        </p:spPr>
        <p:txBody>
          <a:bodyPr wrap="square" lIns="0" tIns="0" rIns="0" bIns="0" rtlCol="0" anchor="t"/>
          <a:lstStyle/>
          <a:p>
            <a:pPr algn="l"/>
            <a:r>
              <a:rPr lang="en-US" sz="2300" dirty="0">
                <a:solidFill>
                  <a:srgbClr val="B62D27">
                    <a:alpha val="100000"/>
                  </a:srgbClr>
                </a:solidFill>
                <a:latin typeface="Montserrat SemiBold Italic" pitchFamily="34" charset="0"/>
                <a:ea typeface="Montserrat SemiBold Italic" pitchFamily="34" charset="-122"/>
                <a:cs typeface="Montserrat SemiBold Italic" pitchFamily="34" charset="-120"/>
              </a:rPr>
              <a:t>Key partners</a:t>
            </a:r>
            <a:endParaRPr lang="en-US" sz="2268" dirty="0"/>
          </a:p>
        </p:txBody>
      </p:sp>
      <p:sp>
        <p:nvSpPr>
          <p:cNvPr id="5" name="Text 1"/>
          <p:cNvSpPr/>
          <p:nvPr/>
        </p:nvSpPr>
        <p:spPr>
          <a:xfrm>
            <a:off x="1179498" y="3064328"/>
            <a:ext cx="4001663" cy="1787756"/>
          </a:xfrm>
          <a:prstGeom prst="rect">
            <a:avLst/>
          </a:prstGeom>
          <a:noFill/>
          <a:ln/>
        </p:spPr>
        <p:txBody>
          <a:bodyPr wrap="square" lIns="0" tIns="0" rIns="0" bIns="0" rtlCol="0" anchor="t"/>
          <a:lstStyle/>
          <a:p>
            <a:pPr algn="l">
              <a:lnSpc>
                <a:spcPts val="1969"/>
              </a:lnSpc>
            </a:pPr>
            <a:r>
              <a:rPr lang="en-US" sz="1500" dirty="0">
                <a:solidFill>
                  <a:srgbClr val="000000">
                    <a:alpha val="100000"/>
                  </a:srgbClr>
                </a:solidFill>
                <a:latin typeface="Montserrat Medium" pitchFamily="34" charset="0"/>
                <a:ea typeface="Montserrat Medium" pitchFamily="34" charset="-122"/>
                <a:cs typeface="Montserrat Medium" pitchFamily="34" charset="-120"/>
              </a:rPr>
              <a:t>Key Partners in this case would be our sholapith workers, the processing facility management, sholapith sellers. We would also have to reach out to companies that may use our product in the future.</a:t>
            </a:r>
            <a:endParaRPr lang="en-US" sz="1539" dirty="0"/>
          </a:p>
        </p:txBody>
      </p:sp>
      <p:sp>
        <p:nvSpPr>
          <p:cNvPr id="6" name="Text 2"/>
          <p:cNvSpPr/>
          <p:nvPr/>
        </p:nvSpPr>
        <p:spPr>
          <a:xfrm>
            <a:off x="19541411" y="3064328"/>
            <a:ext cx="3963932" cy="2781081"/>
          </a:xfrm>
          <a:prstGeom prst="rect">
            <a:avLst/>
          </a:prstGeom>
          <a:noFill/>
          <a:ln/>
        </p:spPr>
        <p:txBody>
          <a:bodyPr wrap="square" lIns="0" tIns="0" rIns="0" bIns="0" rtlCol="0" anchor="t"/>
          <a:lstStyle/>
          <a:p>
            <a:pPr algn="l">
              <a:lnSpc>
                <a:spcPts val="1969"/>
              </a:lnSpc>
            </a:pPr>
            <a:r>
              <a:rPr lang="en-US" sz="1500" dirty="0">
                <a:solidFill>
                  <a:srgbClr val="000000">
                    <a:alpha val="100000"/>
                  </a:srgbClr>
                </a:solidFill>
                <a:latin typeface="Montserrat Medium" pitchFamily="34" charset="0"/>
                <a:ea typeface="Montserrat Medium" pitchFamily="34" charset="-122"/>
                <a:cs typeface="Montserrat Medium" pitchFamily="34" charset="-120"/>
              </a:rPr>
              <a:t>We would be catering to the increasing amount of the requirement of high amounts of protective packaging. </a:t>
            </a:r>
            <a:endParaRPr lang="en-US" sz="1539" dirty="0"/>
          </a:p>
          <a:p>
            <a:pPr algn="l">
              <a:lnSpc>
                <a:spcPts val="1969"/>
              </a:lnSpc>
            </a:pPr>
            <a:r>
              <a:rPr lang="en-US" sz="1500" dirty="0">
                <a:solidFill>
                  <a:srgbClr val="000000">
                    <a:alpha val="100000"/>
                  </a:srgbClr>
                </a:solidFill>
                <a:latin typeface="Montserrat Medium" pitchFamily="34" charset="0"/>
                <a:ea typeface="Montserrat Medium" pitchFamily="34" charset="-122"/>
                <a:cs typeface="Montserrat Medium" pitchFamily="34" charset="-120"/>
              </a:rPr>
              <a:t> </a:t>
            </a:r>
            <a:endParaRPr lang="en-US" sz="1539" dirty="0"/>
          </a:p>
          <a:p>
            <a:pPr algn="l">
              <a:lnSpc>
                <a:spcPts val="1969"/>
              </a:lnSpc>
            </a:pPr>
            <a:r>
              <a:rPr lang="en-US" sz="1500" dirty="0">
                <a:solidFill>
                  <a:srgbClr val="000000">
                    <a:alpha val="100000"/>
                  </a:srgbClr>
                </a:solidFill>
                <a:latin typeface="Montserrat Medium" pitchFamily="34" charset="0"/>
                <a:ea typeface="Montserrat Medium" pitchFamily="34" charset="-122"/>
                <a:cs typeface="Montserrat Medium" pitchFamily="34" charset="-120"/>
              </a:rPr>
              <a:t>Consumer electronics and the manufacturing of industrial goods would be our main areas of focus. Along with this, we would be operating with the food and beverage industry as well as the healthcare industry.</a:t>
            </a:r>
            <a:endParaRPr lang="en-US" sz="1539" dirty="0"/>
          </a:p>
        </p:txBody>
      </p:sp>
      <p:sp>
        <p:nvSpPr>
          <p:cNvPr id="7" name="Text 3"/>
          <p:cNvSpPr/>
          <p:nvPr/>
        </p:nvSpPr>
        <p:spPr>
          <a:xfrm>
            <a:off x="19566566" y="6094596"/>
            <a:ext cx="3963932" cy="1008185"/>
          </a:xfrm>
          <a:prstGeom prst="rect">
            <a:avLst/>
          </a:prstGeom>
          <a:noFill/>
          <a:ln/>
        </p:spPr>
        <p:txBody>
          <a:bodyPr wrap="square" lIns="0" tIns="0" rIns="0" bIns="0" rtlCol="0" anchor="t"/>
          <a:lstStyle/>
          <a:p>
            <a:pPr algn="l">
              <a:lnSpc>
                <a:spcPts val="1969"/>
              </a:lnSpc>
            </a:pPr>
            <a:r>
              <a:rPr lang="en-US" sz="1500" dirty="0">
                <a:solidFill>
                  <a:srgbClr val="000000">
                    <a:alpha val="100000"/>
                  </a:srgbClr>
                </a:solidFill>
                <a:latin typeface="Montserrat Medium" pitchFamily="34" charset="0"/>
                <a:ea typeface="Montserrat Medium" pitchFamily="34" charset="-122"/>
                <a:cs typeface="Montserrat Medium" pitchFamily="34" charset="-120"/>
              </a:rPr>
              <a:t>Primarily our focus would be dealing with B2B sectors and scaling into our targeted consumer base. </a:t>
            </a:r>
            <a:endParaRPr lang="en-US" sz="1539" dirty="0"/>
          </a:p>
        </p:txBody>
      </p:sp>
      <p:sp>
        <p:nvSpPr>
          <p:cNvPr id="8" name="Text 4"/>
          <p:cNvSpPr/>
          <p:nvPr/>
        </p:nvSpPr>
        <p:spPr>
          <a:xfrm>
            <a:off x="19566566" y="7125641"/>
            <a:ext cx="3938779" cy="2391296"/>
          </a:xfrm>
          <a:prstGeom prst="rect">
            <a:avLst/>
          </a:prstGeom>
          <a:noFill/>
          <a:ln/>
        </p:spPr>
        <p:txBody>
          <a:bodyPr wrap="square" lIns="0" tIns="0" rIns="0" bIns="0" rtlCol="0" anchor="t"/>
          <a:lstStyle/>
          <a:p>
            <a:pPr algn="l">
              <a:lnSpc>
                <a:spcPts val="1969"/>
              </a:lnSpc>
            </a:pPr>
            <a:r>
              <a:rPr lang="en-US" sz="1500" dirty="0">
                <a:solidFill>
                  <a:srgbClr val="000000">
                    <a:alpha val="100000"/>
                  </a:srgbClr>
                </a:solidFill>
                <a:latin typeface="Montserrat Medium" pitchFamily="34" charset="0"/>
                <a:ea typeface="Montserrat Medium" pitchFamily="34" charset="-122"/>
                <a:cs typeface="Montserrat Medium" pitchFamily="34" charset="-120"/>
              </a:rPr>
              <a:t>In the long term, we plan on to coming into the D2C sector as well. Through our D2C platform Sholapith crafts can be made available to retail consumers, helping us gain more business and awareness while also providing another source of income to the skilled craftsmen. This will further encourage them to preserve the art</a:t>
            </a:r>
            <a:endParaRPr lang="en-US" sz="1539" dirty="0"/>
          </a:p>
        </p:txBody>
      </p:sp>
      <p:sp>
        <p:nvSpPr>
          <p:cNvPr id="9" name="Text 5"/>
          <p:cNvSpPr/>
          <p:nvPr/>
        </p:nvSpPr>
        <p:spPr>
          <a:xfrm>
            <a:off x="1179498" y="4937814"/>
            <a:ext cx="4001663" cy="2039231"/>
          </a:xfrm>
          <a:prstGeom prst="rect">
            <a:avLst/>
          </a:prstGeom>
          <a:noFill/>
          <a:ln/>
        </p:spPr>
        <p:txBody>
          <a:bodyPr wrap="square" lIns="0" tIns="0" rIns="0" bIns="0" rtlCol="0" anchor="t"/>
          <a:lstStyle/>
          <a:p>
            <a:pPr algn="l">
              <a:lnSpc>
                <a:spcPts val="1969"/>
              </a:lnSpc>
            </a:pPr>
            <a:r>
              <a:rPr lang="en-US" sz="1500" dirty="0">
                <a:solidFill>
                  <a:srgbClr val="000000">
                    <a:alpha val="100000"/>
                  </a:srgbClr>
                </a:solidFill>
                <a:latin typeface="Montserrat Medium" pitchFamily="34" charset="0"/>
                <a:ea typeface="Montserrat Medium" pitchFamily="34" charset="-122"/>
                <a:cs typeface="Montserrat Medium" pitchFamily="34" charset="-120"/>
              </a:rPr>
              <a:t>Key Suppliers would be the village based shola farmers and suppliers who sit at the weekly haats. </a:t>
            </a:r>
            <a:endParaRPr lang="en-US" sz="1539" dirty="0"/>
          </a:p>
          <a:p>
            <a:pPr algn="l">
              <a:lnSpc>
                <a:spcPts val="1969"/>
              </a:lnSpc>
            </a:pPr>
            <a:r>
              <a:rPr lang="en-US" sz="1500" dirty="0">
                <a:solidFill>
                  <a:srgbClr val="000000">
                    <a:alpha val="100000"/>
                  </a:srgbClr>
                </a:solidFill>
                <a:latin typeface="Montserrat Medium" pitchFamily="34" charset="0"/>
                <a:ea typeface="Montserrat Medium" pitchFamily="34" charset="-122"/>
                <a:cs typeface="Montserrat Medium" pitchFamily="34" charset="-120"/>
              </a:rPr>
              <a:t>In addition to that, we also have to deal with the suppliers of the various industrial equipments. </a:t>
            </a:r>
            <a:endParaRPr lang="en-US" sz="1539" dirty="0"/>
          </a:p>
        </p:txBody>
      </p:sp>
      <p:sp>
        <p:nvSpPr>
          <p:cNvPr id="10" name="Text 6"/>
          <p:cNvSpPr/>
          <p:nvPr/>
        </p:nvSpPr>
        <p:spPr>
          <a:xfrm>
            <a:off x="1179498" y="7062774"/>
            <a:ext cx="4001663" cy="1309954"/>
          </a:xfrm>
          <a:prstGeom prst="rect">
            <a:avLst/>
          </a:prstGeom>
          <a:noFill/>
          <a:ln/>
        </p:spPr>
        <p:txBody>
          <a:bodyPr wrap="square" lIns="0" tIns="0" rIns="0" bIns="0" rtlCol="0" anchor="t"/>
          <a:lstStyle/>
          <a:p>
            <a:pPr algn="l">
              <a:lnSpc>
                <a:spcPts val="1969"/>
              </a:lnSpc>
            </a:pPr>
            <a:r>
              <a:rPr lang="en-US" sz="1500" dirty="0">
                <a:solidFill>
                  <a:srgbClr val="000000">
                    <a:alpha val="100000"/>
                  </a:srgbClr>
                </a:solidFill>
                <a:latin typeface="Montserrat Medium" pitchFamily="34" charset="0"/>
                <a:ea typeface="Montserrat Medium" pitchFamily="34" charset="-122"/>
                <a:cs typeface="Montserrat Medium" pitchFamily="34" charset="-120"/>
              </a:rPr>
              <a:t>The Key Resources we are acquiring are the raw shola plant and the labour the employed craftsmen shall provide.</a:t>
            </a:r>
            <a:endParaRPr lang="en-US" sz="1539" dirty="0"/>
          </a:p>
        </p:txBody>
      </p:sp>
      <p:sp>
        <p:nvSpPr>
          <p:cNvPr id="11" name="Text 7"/>
          <p:cNvSpPr/>
          <p:nvPr/>
        </p:nvSpPr>
        <p:spPr>
          <a:xfrm>
            <a:off x="5505867" y="3102048"/>
            <a:ext cx="4366386" cy="1309954"/>
          </a:xfrm>
          <a:prstGeom prst="rect">
            <a:avLst/>
          </a:prstGeom>
          <a:noFill/>
          <a:ln/>
        </p:spPr>
        <p:txBody>
          <a:bodyPr wrap="square" lIns="0" tIns="0" rIns="0" bIns="0" rtlCol="0" anchor="t"/>
          <a:lstStyle/>
          <a:p>
            <a:pPr algn="l">
              <a:lnSpc>
                <a:spcPts val="1969"/>
              </a:lnSpc>
            </a:pPr>
            <a:r>
              <a:rPr lang="en-US" sz="1500" dirty="0">
                <a:solidFill>
                  <a:srgbClr val="000000">
                    <a:alpha val="100000"/>
                  </a:srgbClr>
                </a:solidFill>
                <a:latin typeface="Montserrat Medium" pitchFamily="34" charset="0"/>
                <a:ea typeface="Montserrat Medium" pitchFamily="34" charset="-122"/>
                <a:cs typeface="Montserrat Medium" pitchFamily="34" charset="-120"/>
              </a:rPr>
              <a:t>The Key Activities required include the collection, processing, storage and later delivery to industrial clients. This will include branding, marketing, sales for distribution. </a:t>
            </a:r>
            <a:endParaRPr lang="en-US" sz="1539" dirty="0"/>
          </a:p>
        </p:txBody>
      </p:sp>
      <p:sp>
        <p:nvSpPr>
          <p:cNvPr id="12" name="Text 8"/>
          <p:cNvSpPr/>
          <p:nvPr/>
        </p:nvSpPr>
        <p:spPr>
          <a:xfrm>
            <a:off x="5581327" y="7565722"/>
            <a:ext cx="8831098" cy="932742"/>
          </a:xfrm>
          <a:prstGeom prst="rect">
            <a:avLst/>
          </a:prstGeom>
          <a:noFill/>
          <a:ln/>
        </p:spPr>
        <p:txBody>
          <a:bodyPr wrap="square" lIns="0" tIns="0" rIns="0" bIns="0" rtlCol="0" anchor="t"/>
          <a:lstStyle/>
          <a:p>
            <a:pPr algn="l">
              <a:lnSpc>
                <a:spcPts val="1969"/>
              </a:lnSpc>
            </a:pPr>
            <a:r>
              <a:rPr lang="en-US" sz="1500" dirty="0">
                <a:solidFill>
                  <a:srgbClr val="000000">
                    <a:alpha val="100000"/>
                  </a:srgbClr>
                </a:solidFill>
                <a:latin typeface="Montserrat Medium" pitchFamily="34" charset="0"/>
                <a:ea typeface="Montserrat Medium" pitchFamily="34" charset="-122"/>
                <a:cs typeface="Montserrat Medium" pitchFamily="34" charset="-120"/>
              </a:rPr>
              <a:t>Our key resources include our physical processing facilities and machiner, our financial resources, our idea of the process behind the manufacturing and finally, the human resources we employ as in the sholapith craftsmen. </a:t>
            </a:r>
            <a:endParaRPr lang="en-US" sz="1539" dirty="0"/>
          </a:p>
        </p:txBody>
      </p:sp>
      <p:sp>
        <p:nvSpPr>
          <p:cNvPr id="13" name="Text 9"/>
          <p:cNvSpPr/>
          <p:nvPr/>
        </p:nvSpPr>
        <p:spPr>
          <a:xfrm>
            <a:off x="12573947" y="10545698"/>
            <a:ext cx="10918822" cy="2906819"/>
          </a:xfrm>
          <a:prstGeom prst="rect">
            <a:avLst/>
          </a:prstGeom>
          <a:noFill/>
          <a:ln/>
        </p:spPr>
        <p:txBody>
          <a:bodyPr wrap="square" lIns="0" tIns="0" rIns="0" bIns="0" rtlCol="0" anchor="t"/>
          <a:lstStyle/>
          <a:p>
            <a:pPr algn="l">
              <a:lnSpc>
                <a:spcPts val="1969"/>
              </a:lnSpc>
            </a:pPr>
            <a:r>
              <a:rPr lang="en-US" sz="1500" dirty="0">
                <a:solidFill>
                  <a:srgbClr val="000000">
                    <a:alpha val="100000"/>
                  </a:srgbClr>
                </a:solidFill>
                <a:latin typeface="Montserrat Medium" pitchFamily="34" charset="0"/>
                <a:ea typeface="Montserrat Medium" pitchFamily="34" charset="-122"/>
                <a:cs typeface="Montserrat Medium" pitchFamily="34" charset="-120"/>
              </a:rPr>
              <a:t>The value for 1kg Thermocol and Styrofoam comes out to be around ₹160-₹200. The Market price of Sholapith being ₹148 will fit in just right. We can market our product on the basis of this competitive pricing. It being an eco friendly alternative will attract more eyeballs as well. </a:t>
            </a:r>
            <a:endParaRPr lang="en-US" sz="1539" dirty="0"/>
          </a:p>
          <a:p>
            <a:pPr algn="l">
              <a:lnSpc>
                <a:spcPts val="1969"/>
              </a:lnSpc>
            </a:pPr>
            <a:r>
              <a:rPr lang="en-US" sz="1500" dirty="0">
                <a:solidFill>
                  <a:srgbClr val="000000">
                    <a:alpha val="100000"/>
                  </a:srgbClr>
                </a:solidFill>
                <a:latin typeface="Montserrat Medium" pitchFamily="34" charset="0"/>
                <a:ea typeface="Montserrat Medium" pitchFamily="34" charset="-122"/>
                <a:cs typeface="Montserrat Medium" pitchFamily="34" charset="-120"/>
              </a:rPr>
              <a:t> </a:t>
            </a:r>
            <a:endParaRPr lang="en-US" sz="1539" dirty="0"/>
          </a:p>
          <a:p>
            <a:pPr algn="l">
              <a:lnSpc>
                <a:spcPts val="1969"/>
              </a:lnSpc>
            </a:pPr>
            <a:r>
              <a:rPr lang="en-US" sz="1500" dirty="0">
                <a:solidFill>
                  <a:srgbClr val="000000">
                    <a:alpha val="100000"/>
                  </a:srgbClr>
                </a:solidFill>
                <a:latin typeface="Montserrat Medium" pitchFamily="34" charset="0"/>
                <a:ea typeface="Montserrat Medium" pitchFamily="34" charset="-122"/>
                <a:cs typeface="Montserrat Medium" pitchFamily="34" charset="-120"/>
              </a:rPr>
              <a:t>All our revenue is generated by the sheer value of our product- for a company, it boosts their brand image positively while being a more cost effective alternative- win win situation. Our revenue will depend on the volume the market demands in each quarter, but that should not fluctuate wildly. Rather, our revenue is only limited by the amount we can collect, process and store for future demand. </a:t>
            </a:r>
            <a:endParaRPr lang="en-US" sz="1539" dirty="0"/>
          </a:p>
          <a:p>
            <a:pPr algn="l">
              <a:lnSpc>
                <a:spcPts val="1969"/>
              </a:lnSpc>
            </a:pPr>
            <a:r>
              <a:rPr lang="en-US" sz="1500" dirty="0">
                <a:solidFill>
                  <a:srgbClr val="000000">
                    <a:alpha val="100000"/>
                  </a:srgbClr>
                </a:solidFill>
                <a:latin typeface="Montserrat Medium" pitchFamily="34" charset="0"/>
                <a:ea typeface="Montserrat Medium" pitchFamily="34" charset="-122"/>
                <a:cs typeface="Montserrat Medium" pitchFamily="34" charset="-120"/>
              </a:rPr>
              <a:t> </a:t>
            </a:r>
            <a:endParaRPr lang="en-US" sz="1539" dirty="0"/>
          </a:p>
          <a:p>
            <a:pPr algn="l">
              <a:lnSpc>
                <a:spcPts val="1969"/>
              </a:lnSpc>
            </a:pPr>
            <a:r>
              <a:rPr lang="en-US" sz="1500" dirty="0">
                <a:solidFill>
                  <a:srgbClr val="000000">
                    <a:alpha val="100000"/>
                  </a:srgbClr>
                </a:solidFill>
                <a:latin typeface="Montserrat Medium" pitchFamily="34" charset="0"/>
                <a:ea typeface="Montserrat Medium" pitchFamily="34" charset="-122"/>
                <a:cs typeface="Montserrat Medium" pitchFamily="34" charset="-120"/>
              </a:rPr>
              <a:t>The current plan has only one major source of revenue- B2B sales to packagers and companies. Future plans include a D2C e-commerce platform selling shoalpith crafts- we will get a small commission per sale then. </a:t>
            </a:r>
            <a:endParaRPr lang="en-US" sz="1539" dirty="0"/>
          </a:p>
        </p:txBody>
      </p:sp>
      <p:sp>
        <p:nvSpPr>
          <p:cNvPr id="14" name="Text 10"/>
          <p:cNvSpPr/>
          <p:nvPr/>
        </p:nvSpPr>
        <p:spPr>
          <a:xfrm>
            <a:off x="5581327" y="8496179"/>
            <a:ext cx="8831098" cy="1184217"/>
          </a:xfrm>
          <a:prstGeom prst="rect">
            <a:avLst/>
          </a:prstGeom>
          <a:noFill/>
          <a:ln/>
        </p:spPr>
        <p:txBody>
          <a:bodyPr wrap="square" lIns="0" tIns="0" rIns="0" bIns="0" rtlCol="0" anchor="t"/>
          <a:lstStyle/>
          <a:p>
            <a:pPr algn="l">
              <a:lnSpc>
                <a:spcPts val="1969"/>
              </a:lnSpc>
            </a:pPr>
            <a:r>
              <a:rPr lang="en-US" sz="1500" dirty="0">
                <a:solidFill>
                  <a:srgbClr val="000000">
                    <a:alpha val="100000"/>
                  </a:srgbClr>
                </a:solidFill>
                <a:latin typeface="Montserrat Medium" pitchFamily="34" charset="0"/>
                <a:ea typeface="Montserrat Medium" pitchFamily="34" charset="-122"/>
                <a:cs typeface="Montserrat Medium" pitchFamily="34" charset="-120"/>
              </a:rPr>
              <a:t>We shall need to acquire the machinery at optimum prices, maintain the physical venue well for long term production. Further, we need to train our personnel and provide skill training for effective sholapith processing.  At some point, we will need sholapith farmers to tend to our production fields, as mentioned in our future plans.</a:t>
            </a:r>
            <a:endParaRPr lang="en-US" sz="1539" dirty="0"/>
          </a:p>
        </p:txBody>
      </p:sp>
      <p:sp>
        <p:nvSpPr>
          <p:cNvPr id="15" name="Text 11"/>
          <p:cNvSpPr/>
          <p:nvPr/>
        </p:nvSpPr>
        <p:spPr>
          <a:xfrm>
            <a:off x="1317842" y="10545698"/>
            <a:ext cx="10604406" cy="1184217"/>
          </a:xfrm>
          <a:prstGeom prst="rect">
            <a:avLst/>
          </a:prstGeom>
          <a:noFill/>
          <a:ln/>
        </p:spPr>
        <p:txBody>
          <a:bodyPr wrap="square" lIns="0" tIns="0" rIns="0" bIns="0" rtlCol="0" anchor="t"/>
          <a:lstStyle/>
          <a:p>
            <a:pPr algn="l">
              <a:lnSpc>
                <a:spcPts val="1969"/>
              </a:lnSpc>
            </a:pPr>
            <a:r>
              <a:rPr lang="en-US" sz="1500" dirty="0">
                <a:solidFill>
                  <a:srgbClr val="000000">
                    <a:alpha val="100000"/>
                  </a:srgbClr>
                </a:solidFill>
                <a:latin typeface="Montserrat Medium" pitchFamily="34" charset="0"/>
                <a:ea typeface="Montserrat Medium" pitchFamily="34" charset="-122"/>
                <a:cs typeface="Montserrat Medium" pitchFamily="34" charset="-120"/>
              </a:rPr>
              <a:t>Our cost structure, while providing immense value to our customers, is a cost-driven structure. This means we will focus on keeping the price as low as possible while providing value to our stakeholders. </a:t>
            </a:r>
            <a:endParaRPr lang="en-US" sz="1539" dirty="0"/>
          </a:p>
          <a:p>
            <a:pPr algn="l">
              <a:lnSpc>
                <a:spcPts val="1969"/>
              </a:lnSpc>
            </a:pPr>
            <a:r>
              <a:rPr lang="en-US" sz="1500" dirty="0">
                <a:solidFill>
                  <a:srgbClr val="000000">
                    <a:alpha val="100000"/>
                  </a:srgbClr>
                </a:solidFill>
                <a:latin typeface="Montserrat Medium" pitchFamily="34" charset="0"/>
                <a:ea typeface="Montserrat Medium" pitchFamily="34" charset="-122"/>
                <a:cs typeface="Montserrat Medium" pitchFamily="34" charset="-120"/>
              </a:rPr>
              <a:t> </a:t>
            </a:r>
            <a:endParaRPr lang="en-US" sz="1539" dirty="0"/>
          </a:p>
          <a:p>
            <a:pPr algn="l">
              <a:lnSpc>
                <a:spcPts val="1969"/>
              </a:lnSpc>
            </a:pPr>
            <a:r>
              <a:rPr lang="en-US" sz="1500" dirty="0">
                <a:solidFill>
                  <a:srgbClr val="000000">
                    <a:alpha val="100000"/>
                  </a:srgbClr>
                </a:solidFill>
                <a:latin typeface="Montserrat Medium" pitchFamily="34" charset="0"/>
                <a:ea typeface="Montserrat Medium" pitchFamily="34" charset="-122"/>
                <a:cs typeface="Montserrat Medium" pitchFamily="34" charset="-120"/>
              </a:rPr>
              <a:t>On the basis of how much we have of the stock in storage and how much demand around the year is, we will need to plan a cyclical costing plan per month/quarter. Furthermore, since ours is a mass produceable product, we can use the merits of mass production once we get to that stage. </a:t>
            </a:r>
            <a:endParaRPr lang="en-US" sz="1539" dirty="0"/>
          </a:p>
          <a:p>
            <a:pPr algn="l">
              <a:lnSpc>
                <a:spcPts val="1969"/>
              </a:lnSpc>
            </a:pPr>
            <a:r>
              <a:rPr lang="en-US" sz="1500" dirty="0">
                <a:solidFill>
                  <a:srgbClr val="000000">
                    <a:alpha val="100000"/>
                  </a:srgbClr>
                </a:solidFill>
                <a:latin typeface="Montserrat Medium" pitchFamily="34" charset="0"/>
                <a:ea typeface="Montserrat Medium" pitchFamily="34" charset="-122"/>
                <a:cs typeface="Montserrat Medium" pitchFamily="34" charset="-120"/>
              </a:rPr>
              <a:t> </a:t>
            </a:r>
            <a:endParaRPr lang="en-US" sz="1539" dirty="0"/>
          </a:p>
          <a:p>
            <a:pPr algn="l">
              <a:lnSpc>
                <a:spcPts val="1969"/>
              </a:lnSpc>
            </a:pPr>
            <a:r>
              <a:rPr lang="en-US" sz="1500" dirty="0">
                <a:solidFill>
                  <a:srgbClr val="000000">
                    <a:alpha val="100000"/>
                  </a:srgbClr>
                </a:solidFill>
                <a:latin typeface="Montserrat Medium" pitchFamily="34" charset="0"/>
                <a:ea typeface="Montserrat Medium" pitchFamily="34" charset="-122"/>
                <a:cs typeface="Montserrat Medium" pitchFamily="34" charset="-120"/>
              </a:rPr>
              <a:t>The major cost heads we have are included in the finance section but for reference, it includes- Cost of raw materials, wages of sholapith artisans employed as workers, purchase value of machiner, rent for facility and warehouses for production and storage respectively. We also need a marketing budget to allow our brand to scale in the opening quarters/ over the long term.</a:t>
            </a:r>
            <a:endParaRPr lang="en-US" sz="1539" dirty="0"/>
          </a:p>
        </p:txBody>
      </p:sp>
      <p:sp>
        <p:nvSpPr>
          <p:cNvPr id="16" name="Text 12"/>
          <p:cNvSpPr/>
          <p:nvPr/>
        </p:nvSpPr>
        <p:spPr>
          <a:xfrm>
            <a:off x="10247265" y="3102048"/>
            <a:ext cx="4253196" cy="2139821"/>
          </a:xfrm>
          <a:prstGeom prst="rect">
            <a:avLst/>
          </a:prstGeom>
          <a:noFill/>
          <a:ln/>
        </p:spPr>
        <p:txBody>
          <a:bodyPr wrap="square" lIns="0" tIns="0" rIns="0" bIns="0" rtlCol="0" anchor="t"/>
          <a:lstStyle/>
          <a:p>
            <a:pPr algn="l">
              <a:lnSpc>
                <a:spcPts val="1969"/>
              </a:lnSpc>
            </a:pPr>
            <a:r>
              <a:rPr lang="en-US" sz="1500" dirty="0">
                <a:solidFill>
                  <a:srgbClr val="000000">
                    <a:alpha val="100000"/>
                  </a:srgbClr>
                </a:solidFill>
                <a:latin typeface="Montserrat Medium" pitchFamily="34" charset="0"/>
                <a:ea typeface="Montserrat Medium" pitchFamily="34" charset="-122"/>
                <a:cs typeface="Montserrat Medium" pitchFamily="34" charset="-120"/>
              </a:rPr>
              <a:t>The biggest advantage of our product is undoubtedly the eco-friendly and sustainable nature of it. In a market dominated by extremely toxic and harmful products such as styrofoam, thermocol and other polyestrene materials, Sholapith packaging will be a game changer.</a:t>
            </a:r>
            <a:endParaRPr lang="en-US" sz="1539" dirty="0"/>
          </a:p>
        </p:txBody>
      </p:sp>
      <p:sp>
        <p:nvSpPr>
          <p:cNvPr id="17" name="Text 13"/>
          <p:cNvSpPr/>
          <p:nvPr/>
        </p:nvSpPr>
        <p:spPr>
          <a:xfrm>
            <a:off x="14825168" y="3064328"/>
            <a:ext cx="4253196" cy="3158293"/>
          </a:xfrm>
          <a:prstGeom prst="rect">
            <a:avLst/>
          </a:prstGeom>
          <a:noFill/>
          <a:ln/>
        </p:spPr>
        <p:txBody>
          <a:bodyPr wrap="square" lIns="0" tIns="0" rIns="0" bIns="0" rtlCol="0" anchor="t"/>
          <a:lstStyle/>
          <a:p>
            <a:pPr algn="l">
              <a:lnSpc>
                <a:spcPts val="1969"/>
              </a:lnSpc>
            </a:pPr>
            <a:r>
              <a:rPr lang="en-US" sz="1500" dirty="0">
                <a:solidFill>
                  <a:srgbClr val="000000">
                    <a:alpha val="100000"/>
                  </a:srgbClr>
                </a:solidFill>
                <a:latin typeface="Montserrat Medium" pitchFamily="34" charset="0"/>
                <a:ea typeface="Montserrat Medium" pitchFamily="34" charset="-122"/>
                <a:cs typeface="Montserrat Medium" pitchFamily="34" charset="-120"/>
              </a:rPr>
              <a:t>We look towards establishing a long term relationship with our target customers, i.e., bussinesses requiring packaging. </a:t>
            </a:r>
            <a:endParaRPr lang="en-US" sz="1539" dirty="0"/>
          </a:p>
          <a:p>
            <a:pPr algn="l">
              <a:lnSpc>
                <a:spcPts val="1969"/>
              </a:lnSpc>
            </a:pPr>
            <a:r>
              <a:rPr lang="en-US" sz="1500" dirty="0">
                <a:solidFill>
                  <a:srgbClr val="000000">
                    <a:alpha val="100000"/>
                  </a:srgbClr>
                </a:solidFill>
                <a:latin typeface="Montserrat Medium" pitchFamily="34" charset="0"/>
                <a:ea typeface="Montserrat Medium" pitchFamily="34" charset="-122"/>
                <a:cs typeface="Montserrat Medium" pitchFamily="34" charset="-120"/>
              </a:rPr>
              <a:t> </a:t>
            </a:r>
            <a:endParaRPr lang="en-US" sz="1539" dirty="0"/>
          </a:p>
          <a:p>
            <a:pPr algn="l">
              <a:lnSpc>
                <a:spcPts val="1969"/>
              </a:lnSpc>
            </a:pPr>
            <a:r>
              <a:rPr lang="en-US" sz="1500" dirty="0">
                <a:solidFill>
                  <a:srgbClr val="000000">
                    <a:alpha val="100000"/>
                  </a:srgbClr>
                </a:solidFill>
                <a:latin typeface="Montserrat Medium" pitchFamily="34" charset="0"/>
                <a:ea typeface="Montserrat Medium" pitchFamily="34" charset="-122"/>
                <a:cs typeface="Montserrat Medium" pitchFamily="34" charset="-120"/>
              </a:rPr>
              <a:t>We plan to provide exclusive offers to our long term customers to value their trust in us and to ensure the continuance of the relationship.</a:t>
            </a:r>
            <a:endParaRPr lang="en-US" sz="1539" dirty="0"/>
          </a:p>
          <a:p>
            <a:pPr algn="l">
              <a:lnSpc>
                <a:spcPts val="1969"/>
              </a:lnSpc>
            </a:pPr>
            <a:r>
              <a:rPr lang="en-US" sz="1500" dirty="0">
                <a:solidFill>
                  <a:srgbClr val="000000">
                    <a:alpha val="100000"/>
                  </a:srgbClr>
                </a:solidFill>
                <a:latin typeface="Montserrat Medium" pitchFamily="34" charset="0"/>
                <a:ea typeface="Montserrat Medium" pitchFamily="34" charset="-122"/>
                <a:cs typeface="Montserrat Medium" pitchFamily="34" charset="-120"/>
              </a:rPr>
              <a:t> </a:t>
            </a:r>
            <a:endParaRPr lang="en-US" sz="1539" dirty="0"/>
          </a:p>
          <a:p>
            <a:pPr algn="l">
              <a:lnSpc>
                <a:spcPts val="1969"/>
              </a:lnSpc>
            </a:pPr>
            <a:r>
              <a:rPr lang="en-US" sz="1500" dirty="0">
                <a:solidFill>
                  <a:srgbClr val="000000">
                    <a:alpha val="100000"/>
                  </a:srgbClr>
                </a:solidFill>
                <a:latin typeface="Montserrat Medium" pitchFamily="34" charset="0"/>
                <a:ea typeface="Montserrat Medium" pitchFamily="34" charset="-122"/>
                <a:cs typeface="Montserrat Medium" pitchFamily="34" charset="-120"/>
              </a:rPr>
              <a:t>We aim to provide sample materials to our first time customers to check the quality and sustainabilty of our product.</a:t>
            </a:r>
            <a:endParaRPr lang="en-US" sz="1539" dirty="0"/>
          </a:p>
        </p:txBody>
      </p:sp>
      <p:sp>
        <p:nvSpPr>
          <p:cNvPr id="18" name="Text 14"/>
          <p:cNvSpPr/>
          <p:nvPr/>
        </p:nvSpPr>
        <p:spPr>
          <a:xfrm>
            <a:off x="14812591" y="7100495"/>
            <a:ext cx="4402248" cy="2578034"/>
          </a:xfrm>
          <a:prstGeom prst="rect">
            <a:avLst/>
          </a:prstGeom>
          <a:noFill/>
          <a:ln/>
        </p:spPr>
        <p:txBody>
          <a:bodyPr wrap="square" lIns="0" tIns="0" rIns="0" bIns="0" rtlCol="0" anchor="t"/>
          <a:lstStyle/>
          <a:p>
            <a:pPr algn="l">
              <a:lnSpc>
                <a:spcPts val="1912"/>
              </a:lnSpc>
            </a:pPr>
            <a:r>
              <a:rPr lang="en-US" sz="1500" dirty="0">
                <a:solidFill>
                  <a:srgbClr val="000000">
                    <a:alpha val="100000"/>
                  </a:srgbClr>
                </a:solidFill>
                <a:latin typeface="Montserrat Medium" pitchFamily="34" charset="0"/>
                <a:ea typeface="Montserrat Medium" pitchFamily="34" charset="-122"/>
                <a:cs typeface="Montserrat Medium" pitchFamily="34" charset="-120"/>
              </a:rPr>
              <a:t>We would be having a B2B business model.  For that we will have a direct sales distribution channel. With the support of our direct sales team, we can ensure greater customer satisfaction and bigger margins. </a:t>
            </a:r>
            <a:endParaRPr lang="en-US" sz="1495" dirty="0"/>
          </a:p>
          <a:p>
            <a:pPr algn="l">
              <a:lnSpc>
                <a:spcPts val="1912"/>
              </a:lnSpc>
            </a:pPr>
            <a:r>
              <a:rPr lang="en-US" sz="1500" dirty="0">
                <a:solidFill>
                  <a:srgbClr val="000000">
                    <a:alpha val="100000"/>
                  </a:srgbClr>
                </a:solidFill>
                <a:latin typeface="Montserrat Medium" pitchFamily="34" charset="0"/>
                <a:ea typeface="Montserrat Medium" pitchFamily="34" charset="-122"/>
                <a:cs typeface="Montserrat Medium" pitchFamily="34" charset="-120"/>
              </a:rPr>
              <a:t> </a:t>
            </a:r>
            <a:endParaRPr lang="en-US" sz="1495" dirty="0"/>
          </a:p>
          <a:p>
            <a:pPr algn="l">
              <a:lnSpc>
                <a:spcPts val="1912"/>
              </a:lnSpc>
            </a:pPr>
            <a:r>
              <a:rPr lang="en-US" sz="1500" dirty="0">
                <a:solidFill>
                  <a:srgbClr val="000000">
                    <a:alpha val="100000"/>
                  </a:srgbClr>
                </a:solidFill>
                <a:latin typeface="Montserrat Medium" pitchFamily="34" charset="0"/>
                <a:ea typeface="Montserrat Medium" pitchFamily="34" charset="-122"/>
                <a:cs typeface="Montserrat Medium" pitchFamily="34" charset="-120"/>
              </a:rPr>
              <a:t>In our long term goal, we plan on to introducing our D2C portal for shola crafts, through which we can have a bigger reach for the consumer sector.</a:t>
            </a:r>
            <a:endParaRPr lang="en-US" sz="1495" dirty="0"/>
          </a:p>
          <a:p>
            <a:pPr algn="l">
              <a:lnSpc>
                <a:spcPts val="1912"/>
              </a:lnSpc>
            </a:pPr>
            <a:r>
              <a:rPr lang="en-US" sz="1500" dirty="0">
                <a:solidFill>
                  <a:srgbClr val="000000">
                    <a:alpha val="100000"/>
                  </a:srgbClr>
                </a:solidFill>
                <a:latin typeface="Montserrat Medium" pitchFamily="34" charset="0"/>
                <a:ea typeface="Montserrat Medium" pitchFamily="34" charset="-122"/>
                <a:cs typeface="Montserrat Medium" pitchFamily="34" charset="-120"/>
              </a:rPr>
              <a:t> </a:t>
            </a:r>
            <a:endParaRPr lang="en-US" sz="1495" dirty="0"/>
          </a:p>
        </p:txBody>
      </p:sp>
      <p:sp>
        <p:nvSpPr>
          <p:cNvPr id="19" name="Text 15"/>
          <p:cNvSpPr/>
          <p:nvPr/>
        </p:nvSpPr>
        <p:spPr>
          <a:xfrm>
            <a:off x="5505867" y="4472585"/>
            <a:ext cx="4366386" cy="1309954"/>
          </a:xfrm>
          <a:prstGeom prst="rect">
            <a:avLst/>
          </a:prstGeom>
          <a:noFill/>
          <a:ln/>
        </p:spPr>
        <p:txBody>
          <a:bodyPr wrap="square" lIns="0" tIns="0" rIns="0" bIns="0" rtlCol="0" anchor="t"/>
          <a:lstStyle/>
          <a:p>
            <a:pPr algn="l">
              <a:lnSpc>
                <a:spcPts val="1969"/>
              </a:lnSpc>
            </a:pPr>
            <a:r>
              <a:rPr lang="en-US" sz="1500" dirty="0">
                <a:solidFill>
                  <a:srgbClr val="000000">
                    <a:alpha val="100000"/>
                  </a:srgbClr>
                </a:solidFill>
                <a:latin typeface="Montserrat Medium" pitchFamily="34" charset="0"/>
                <a:ea typeface="Montserrat Medium" pitchFamily="34" charset="-122"/>
                <a:cs typeface="Montserrat Medium" pitchFamily="34" charset="-120"/>
              </a:rPr>
              <a:t>We will also require the facility to take customer custom orders and process accordingly. Storage plays a major part in this.</a:t>
            </a:r>
            <a:endParaRPr lang="en-US" sz="1539" dirty="0"/>
          </a:p>
        </p:txBody>
      </p:sp>
      <p:sp>
        <p:nvSpPr>
          <p:cNvPr id="20" name="Text 16"/>
          <p:cNvSpPr/>
          <p:nvPr/>
        </p:nvSpPr>
        <p:spPr>
          <a:xfrm>
            <a:off x="5505867" y="5717385"/>
            <a:ext cx="4366386" cy="844726"/>
          </a:xfrm>
          <a:prstGeom prst="rect">
            <a:avLst/>
          </a:prstGeom>
          <a:noFill/>
          <a:ln/>
        </p:spPr>
        <p:txBody>
          <a:bodyPr wrap="square" lIns="0" tIns="0" rIns="0" bIns="0" rtlCol="0" anchor="t"/>
          <a:lstStyle/>
          <a:p>
            <a:pPr algn="l">
              <a:lnSpc>
                <a:spcPts val="1969"/>
              </a:lnSpc>
            </a:pPr>
            <a:r>
              <a:rPr lang="en-US" sz="1500" dirty="0">
                <a:solidFill>
                  <a:srgbClr val="000000">
                    <a:alpha val="100000"/>
                  </a:srgbClr>
                </a:solidFill>
                <a:latin typeface="Montserrat Medium" pitchFamily="34" charset="0"/>
                <a:ea typeface="Montserrat Medium" pitchFamily="34" charset="-122"/>
                <a:cs typeface="Montserrat Medium" pitchFamily="34" charset="-120"/>
              </a:rPr>
              <a:t>For revenue, most important activities include marketing, client onboarding and maintainence.</a:t>
            </a:r>
            <a:endParaRPr lang="en-US" sz="1539" dirty="0"/>
          </a:p>
        </p:txBody>
      </p:sp>
      <p:sp>
        <p:nvSpPr>
          <p:cNvPr id="21" name="Text 17"/>
          <p:cNvSpPr/>
          <p:nvPr/>
        </p:nvSpPr>
        <p:spPr>
          <a:xfrm>
            <a:off x="10247265" y="5403041"/>
            <a:ext cx="4089699" cy="1159070"/>
          </a:xfrm>
          <a:prstGeom prst="rect">
            <a:avLst/>
          </a:prstGeom>
          <a:noFill/>
          <a:ln/>
        </p:spPr>
        <p:txBody>
          <a:bodyPr wrap="square" lIns="0" tIns="0" rIns="0" bIns="0" rtlCol="0" anchor="t"/>
          <a:lstStyle/>
          <a:p>
            <a:pPr algn="l">
              <a:lnSpc>
                <a:spcPts val="1969"/>
              </a:lnSpc>
            </a:pPr>
            <a:r>
              <a:rPr lang="en-US" sz="1500" dirty="0">
                <a:solidFill>
                  <a:srgbClr val="000000">
                    <a:alpha val="100000"/>
                  </a:srgbClr>
                </a:solidFill>
                <a:latin typeface="Montserrat Medium" pitchFamily="34" charset="0"/>
                <a:ea typeface="Montserrat Medium" pitchFamily="34" charset="-122"/>
                <a:cs typeface="Montserrat Medium" pitchFamily="34" charset="-120"/>
              </a:rPr>
              <a:t>For the companies using our product, it will be a huge boost in brand image as every consumer now cares deeply about the materials they consume.</a:t>
            </a:r>
            <a:endParaRPr lang="en-US" sz="1539" dirty="0"/>
          </a:p>
        </p:txBody>
      </p:sp>
      <p:sp>
        <p:nvSpPr>
          <p:cNvPr id="22" name="Text 18"/>
          <p:cNvSpPr/>
          <p:nvPr/>
        </p:nvSpPr>
        <p:spPr>
          <a:xfrm>
            <a:off x="1179498" y="8458459"/>
            <a:ext cx="4001663" cy="1385397"/>
          </a:xfrm>
          <a:prstGeom prst="rect">
            <a:avLst/>
          </a:prstGeom>
          <a:noFill/>
          <a:ln/>
        </p:spPr>
        <p:txBody>
          <a:bodyPr wrap="square" lIns="0" tIns="0" rIns="0" bIns="0" rtlCol="0" anchor="t"/>
          <a:lstStyle/>
          <a:p>
            <a:pPr algn="l">
              <a:lnSpc>
                <a:spcPts val="1969"/>
              </a:lnSpc>
            </a:pPr>
            <a:r>
              <a:rPr lang="en-US" sz="1500" dirty="0">
                <a:solidFill>
                  <a:srgbClr val="000000">
                    <a:alpha val="100000"/>
                  </a:srgbClr>
                </a:solidFill>
                <a:latin typeface="Montserrat Medium" pitchFamily="34" charset="0"/>
                <a:ea typeface="Montserrat Medium" pitchFamily="34" charset="-122"/>
                <a:cs typeface="Montserrat Medium" pitchFamily="34" charset="-120"/>
              </a:rPr>
              <a:t>The key activities as performed by partners are the acquisition and processing of our raw sholapith plant and the supply of required machinery. </a:t>
            </a:r>
            <a:endParaRPr lang="en-US" sz="1539" dirty="0"/>
          </a:p>
        </p:txBody>
      </p:sp>
      <p:sp>
        <p:nvSpPr>
          <p:cNvPr id="23" name="Text 19"/>
          <p:cNvSpPr/>
          <p:nvPr/>
        </p:nvSpPr>
        <p:spPr>
          <a:xfrm>
            <a:off x="6650343" y="2498510"/>
            <a:ext cx="2102891" cy="451579"/>
          </a:xfrm>
          <a:prstGeom prst="rect">
            <a:avLst/>
          </a:prstGeom>
          <a:noFill/>
          <a:ln/>
        </p:spPr>
        <p:txBody>
          <a:bodyPr wrap="square" lIns="0" tIns="0" rIns="0" bIns="0" rtlCol="0" anchor="t"/>
          <a:lstStyle/>
          <a:p>
            <a:pPr algn="l"/>
            <a:r>
              <a:rPr lang="en-US" sz="2300" dirty="0">
                <a:solidFill>
                  <a:srgbClr val="B62D27">
                    <a:alpha val="100000"/>
                  </a:srgbClr>
                </a:solidFill>
                <a:latin typeface="Montserrat SemiBold Italic" pitchFamily="34" charset="0"/>
                <a:ea typeface="Montserrat SemiBold Italic" pitchFamily="34" charset="-122"/>
                <a:cs typeface="Montserrat SemiBold Italic" pitchFamily="34" charset="-120"/>
              </a:rPr>
              <a:t>Key activities</a:t>
            </a:r>
            <a:endParaRPr lang="en-US" sz="2268" dirty="0"/>
          </a:p>
        </p:txBody>
      </p:sp>
      <p:sp>
        <p:nvSpPr>
          <p:cNvPr id="24" name="Text 20"/>
          <p:cNvSpPr/>
          <p:nvPr/>
        </p:nvSpPr>
        <p:spPr>
          <a:xfrm>
            <a:off x="5292064" y="10030176"/>
            <a:ext cx="2242608" cy="451579"/>
          </a:xfrm>
          <a:prstGeom prst="rect">
            <a:avLst/>
          </a:prstGeom>
          <a:noFill/>
          <a:ln/>
        </p:spPr>
        <p:txBody>
          <a:bodyPr wrap="square" lIns="0" tIns="0" rIns="0" bIns="0" rtlCol="0" anchor="t"/>
          <a:lstStyle/>
          <a:p>
            <a:pPr algn="l"/>
            <a:r>
              <a:rPr lang="en-US" sz="2300" dirty="0">
                <a:solidFill>
                  <a:srgbClr val="B62D27">
                    <a:alpha val="100000"/>
                  </a:srgbClr>
                </a:solidFill>
                <a:latin typeface="Montserrat SemiBold Italic" pitchFamily="34" charset="0"/>
                <a:ea typeface="Montserrat SemiBold Italic" pitchFamily="34" charset="-122"/>
                <a:cs typeface="Montserrat SemiBold Italic" pitchFamily="34" charset="-120"/>
              </a:rPr>
              <a:t>Cost structure</a:t>
            </a:r>
            <a:endParaRPr lang="en-US" sz="2268" dirty="0"/>
          </a:p>
        </p:txBody>
      </p:sp>
      <p:sp>
        <p:nvSpPr>
          <p:cNvPr id="25" name="Text 21"/>
          <p:cNvSpPr/>
          <p:nvPr/>
        </p:nvSpPr>
        <p:spPr>
          <a:xfrm>
            <a:off x="16611053" y="10030176"/>
            <a:ext cx="2725269" cy="451579"/>
          </a:xfrm>
          <a:prstGeom prst="rect">
            <a:avLst/>
          </a:prstGeom>
          <a:noFill/>
          <a:ln/>
        </p:spPr>
        <p:txBody>
          <a:bodyPr wrap="square" lIns="0" tIns="0" rIns="0" bIns="0" rtlCol="0" anchor="t"/>
          <a:lstStyle/>
          <a:p>
            <a:pPr algn="l"/>
            <a:r>
              <a:rPr lang="en-US" sz="2300" dirty="0">
                <a:solidFill>
                  <a:srgbClr val="B62D27">
                    <a:alpha val="100000"/>
                  </a:srgbClr>
                </a:solidFill>
                <a:latin typeface="Montserrat SemiBold Italic" pitchFamily="34" charset="0"/>
                <a:ea typeface="Montserrat SemiBold Italic" pitchFamily="34" charset="-122"/>
                <a:cs typeface="Montserrat SemiBold Italic" pitchFamily="34" charset="-120"/>
              </a:rPr>
              <a:t>Revenue streams</a:t>
            </a:r>
            <a:endParaRPr lang="en-US" sz="2268" dirty="0"/>
          </a:p>
        </p:txBody>
      </p:sp>
      <p:sp>
        <p:nvSpPr>
          <p:cNvPr id="26" name="Text 22"/>
          <p:cNvSpPr/>
          <p:nvPr/>
        </p:nvSpPr>
        <p:spPr>
          <a:xfrm>
            <a:off x="8888987" y="7037628"/>
            <a:ext cx="2255310" cy="451579"/>
          </a:xfrm>
          <a:prstGeom prst="rect">
            <a:avLst/>
          </a:prstGeom>
          <a:noFill/>
          <a:ln/>
        </p:spPr>
        <p:txBody>
          <a:bodyPr wrap="square" lIns="0" tIns="0" rIns="0" bIns="0" rtlCol="0" anchor="t"/>
          <a:lstStyle/>
          <a:p>
            <a:pPr algn="l"/>
            <a:r>
              <a:rPr lang="en-US" sz="2300" dirty="0">
                <a:solidFill>
                  <a:srgbClr val="B62D27">
                    <a:alpha val="100000"/>
                  </a:srgbClr>
                </a:solidFill>
                <a:latin typeface="Montserrat SemiBold Italic" pitchFamily="34" charset="0"/>
                <a:ea typeface="Montserrat SemiBold Italic" pitchFamily="34" charset="-122"/>
                <a:cs typeface="Montserrat SemiBold Italic" pitchFamily="34" charset="-120"/>
              </a:rPr>
              <a:t>Key resources</a:t>
            </a:r>
            <a:endParaRPr lang="en-US" sz="2268" dirty="0"/>
          </a:p>
        </p:txBody>
      </p:sp>
      <p:sp>
        <p:nvSpPr>
          <p:cNvPr id="27" name="Text 23"/>
          <p:cNvSpPr/>
          <p:nvPr/>
        </p:nvSpPr>
        <p:spPr>
          <a:xfrm>
            <a:off x="11001865" y="2498510"/>
            <a:ext cx="2737970" cy="451579"/>
          </a:xfrm>
          <a:prstGeom prst="rect">
            <a:avLst/>
          </a:prstGeom>
          <a:noFill/>
          <a:ln/>
        </p:spPr>
        <p:txBody>
          <a:bodyPr wrap="square" lIns="0" tIns="0" rIns="0" bIns="0" rtlCol="0" anchor="t"/>
          <a:lstStyle/>
          <a:p>
            <a:pPr algn="l"/>
            <a:r>
              <a:rPr lang="en-US" sz="2300" dirty="0">
                <a:solidFill>
                  <a:srgbClr val="B62D27">
                    <a:alpha val="100000"/>
                  </a:srgbClr>
                </a:solidFill>
                <a:latin typeface="Montserrat SemiBold Italic" pitchFamily="34" charset="0"/>
                <a:ea typeface="Montserrat SemiBold Italic" pitchFamily="34" charset="-122"/>
                <a:cs typeface="Montserrat SemiBold Italic" pitchFamily="34" charset="-120"/>
              </a:rPr>
              <a:t>Value proposition</a:t>
            </a:r>
            <a:endParaRPr lang="en-US" sz="2268" dirty="0"/>
          </a:p>
        </p:txBody>
      </p:sp>
      <p:sp>
        <p:nvSpPr>
          <p:cNvPr id="28" name="Text 24"/>
          <p:cNvSpPr/>
          <p:nvPr/>
        </p:nvSpPr>
        <p:spPr>
          <a:xfrm>
            <a:off x="15504306" y="2498510"/>
            <a:ext cx="3042808" cy="451579"/>
          </a:xfrm>
          <a:prstGeom prst="rect">
            <a:avLst/>
          </a:prstGeom>
          <a:noFill/>
          <a:ln/>
        </p:spPr>
        <p:txBody>
          <a:bodyPr wrap="square" lIns="0" tIns="0" rIns="0" bIns="0" rtlCol="0" anchor="t"/>
          <a:lstStyle/>
          <a:p>
            <a:pPr algn="l"/>
            <a:r>
              <a:rPr lang="en-US" sz="2300" dirty="0">
                <a:solidFill>
                  <a:srgbClr val="B62D27">
                    <a:alpha val="100000"/>
                  </a:srgbClr>
                </a:solidFill>
                <a:latin typeface="Montserrat SemiBold Italic" pitchFamily="34" charset="0"/>
                <a:ea typeface="Montserrat SemiBold Italic" pitchFamily="34" charset="-122"/>
                <a:cs typeface="Montserrat SemiBold Italic" pitchFamily="34" charset="-120"/>
              </a:rPr>
              <a:t>Customer relations</a:t>
            </a:r>
            <a:endParaRPr lang="en-US" sz="2268" dirty="0"/>
          </a:p>
        </p:txBody>
      </p:sp>
      <p:sp>
        <p:nvSpPr>
          <p:cNvPr id="29" name="Text 25"/>
          <p:cNvSpPr/>
          <p:nvPr/>
        </p:nvSpPr>
        <p:spPr>
          <a:xfrm>
            <a:off x="16271484" y="6572398"/>
            <a:ext cx="1505916" cy="451579"/>
          </a:xfrm>
          <a:prstGeom prst="rect">
            <a:avLst/>
          </a:prstGeom>
          <a:noFill/>
          <a:ln/>
        </p:spPr>
        <p:txBody>
          <a:bodyPr wrap="square" lIns="0" tIns="0" rIns="0" bIns="0" rtlCol="0" anchor="t"/>
          <a:lstStyle/>
          <a:p>
            <a:pPr algn="l"/>
            <a:r>
              <a:rPr lang="en-US" sz="2300" dirty="0">
                <a:solidFill>
                  <a:srgbClr val="B62D27">
                    <a:alpha val="100000"/>
                  </a:srgbClr>
                </a:solidFill>
                <a:latin typeface="Montserrat SemiBold Italic" pitchFamily="34" charset="0"/>
                <a:ea typeface="Montserrat SemiBold Italic" pitchFamily="34" charset="-122"/>
                <a:cs typeface="Montserrat SemiBold Italic" pitchFamily="34" charset="-120"/>
              </a:rPr>
              <a:t>Channels</a:t>
            </a:r>
            <a:endParaRPr lang="en-US" sz="2268" dirty="0"/>
          </a:p>
        </p:txBody>
      </p:sp>
      <p:sp>
        <p:nvSpPr>
          <p:cNvPr id="30" name="Text 26"/>
          <p:cNvSpPr/>
          <p:nvPr/>
        </p:nvSpPr>
        <p:spPr>
          <a:xfrm>
            <a:off x="19943868" y="2498510"/>
            <a:ext cx="3144421" cy="451579"/>
          </a:xfrm>
          <a:prstGeom prst="rect">
            <a:avLst/>
          </a:prstGeom>
          <a:noFill/>
          <a:ln/>
        </p:spPr>
        <p:txBody>
          <a:bodyPr wrap="square" lIns="0" tIns="0" rIns="0" bIns="0" rtlCol="0" anchor="t"/>
          <a:lstStyle/>
          <a:p>
            <a:pPr algn="l"/>
            <a:r>
              <a:rPr lang="en-US" sz="2300" dirty="0">
                <a:solidFill>
                  <a:srgbClr val="B62D27">
                    <a:alpha val="100000"/>
                  </a:srgbClr>
                </a:solidFill>
                <a:latin typeface="Montserrat SemiBold Italic" pitchFamily="34" charset="0"/>
                <a:ea typeface="Montserrat SemiBold Italic" pitchFamily="34" charset="-122"/>
                <a:cs typeface="Montserrat SemiBold Italic" pitchFamily="34" charset="-120"/>
              </a:rPr>
              <a:t>Customer segments</a:t>
            </a:r>
            <a:endParaRPr lang="en-US" sz="2268" dirty="0"/>
          </a:p>
        </p:txBody>
      </p:sp>
      <p:sp>
        <p:nvSpPr>
          <p:cNvPr id="31" name="Shape 27"/>
          <p:cNvSpPr/>
          <p:nvPr/>
        </p:nvSpPr>
        <p:spPr>
          <a:xfrm>
            <a:off x="5266910" y="2196739"/>
            <a:ext cx="50307" cy="7594535"/>
          </a:xfrm>
          <a:prstGeom prst="rect">
            <a:avLst/>
          </a:prstGeom>
          <a:solidFill>
            <a:srgbClr val="D9D9D9">
              <a:alpha val="100000"/>
            </a:srgbClr>
          </a:solidFill>
          <a:ln/>
        </p:spPr>
      </p:sp>
      <p:sp>
        <p:nvSpPr>
          <p:cNvPr id="32" name="Shape 28"/>
          <p:cNvSpPr/>
          <p:nvPr/>
        </p:nvSpPr>
        <p:spPr>
          <a:xfrm>
            <a:off x="9958003" y="2221887"/>
            <a:ext cx="25153" cy="4539118"/>
          </a:xfrm>
          <a:prstGeom prst="rect">
            <a:avLst/>
          </a:prstGeom>
          <a:solidFill>
            <a:srgbClr val="D9D9D9">
              <a:alpha val="100000"/>
            </a:srgbClr>
          </a:solidFill>
          <a:ln/>
        </p:spPr>
      </p:sp>
      <p:sp>
        <p:nvSpPr>
          <p:cNvPr id="33" name="Shape 29"/>
          <p:cNvSpPr/>
          <p:nvPr/>
        </p:nvSpPr>
        <p:spPr>
          <a:xfrm>
            <a:off x="14623941" y="2221887"/>
            <a:ext cx="50307" cy="7569387"/>
          </a:xfrm>
          <a:prstGeom prst="rect">
            <a:avLst/>
          </a:prstGeom>
          <a:solidFill>
            <a:srgbClr val="D9D9D9">
              <a:alpha val="100000"/>
            </a:srgbClr>
          </a:solidFill>
          <a:ln/>
        </p:spPr>
      </p:sp>
      <p:sp>
        <p:nvSpPr>
          <p:cNvPr id="34" name="Shape 30"/>
          <p:cNvSpPr/>
          <p:nvPr/>
        </p:nvSpPr>
        <p:spPr>
          <a:xfrm>
            <a:off x="12058304" y="9791276"/>
            <a:ext cx="50307" cy="3860136"/>
          </a:xfrm>
          <a:prstGeom prst="rect">
            <a:avLst/>
          </a:prstGeom>
          <a:solidFill>
            <a:srgbClr val="D9D9D9">
              <a:alpha val="100000"/>
            </a:srgbClr>
          </a:solidFill>
          <a:ln/>
        </p:spPr>
      </p:sp>
      <p:sp>
        <p:nvSpPr>
          <p:cNvPr id="35" name="Shape 31"/>
          <p:cNvSpPr/>
          <p:nvPr/>
        </p:nvSpPr>
        <p:spPr>
          <a:xfrm>
            <a:off x="19302456" y="2221887"/>
            <a:ext cx="50307" cy="7569387"/>
          </a:xfrm>
          <a:prstGeom prst="rect">
            <a:avLst/>
          </a:prstGeom>
          <a:solidFill>
            <a:srgbClr val="D9D9D9">
              <a:alpha val="100000"/>
            </a:srgbClr>
          </a:solidFill>
          <a:ln/>
        </p:spPr>
      </p:sp>
      <p:sp>
        <p:nvSpPr>
          <p:cNvPr id="36" name="Shape 32"/>
          <p:cNvSpPr/>
          <p:nvPr/>
        </p:nvSpPr>
        <p:spPr>
          <a:xfrm>
            <a:off x="5317218" y="6723284"/>
            <a:ext cx="9357030" cy="37721"/>
          </a:xfrm>
          <a:prstGeom prst="rect">
            <a:avLst/>
          </a:prstGeom>
          <a:solidFill>
            <a:srgbClr val="D9D9D9">
              <a:alpha val="100000"/>
            </a:srgbClr>
          </a:solidFill>
          <a:ln/>
        </p:spPr>
      </p:sp>
      <p:sp>
        <p:nvSpPr>
          <p:cNvPr id="37" name="Shape 33"/>
          <p:cNvSpPr/>
          <p:nvPr/>
        </p:nvSpPr>
        <p:spPr>
          <a:xfrm>
            <a:off x="1041155" y="9753552"/>
            <a:ext cx="22549940" cy="37721"/>
          </a:xfrm>
          <a:prstGeom prst="rect">
            <a:avLst/>
          </a:prstGeom>
          <a:solidFill>
            <a:srgbClr val="D9D9D9">
              <a:alpha val="100000"/>
            </a:srgbClr>
          </a:solidFill>
          <a:ln/>
        </p:spPr>
      </p:sp>
      <p:sp>
        <p:nvSpPr>
          <p:cNvPr id="38" name="Shape 34"/>
          <p:cNvSpPr/>
          <p:nvPr/>
        </p:nvSpPr>
        <p:spPr>
          <a:xfrm>
            <a:off x="14674249" y="6358645"/>
            <a:ext cx="4628209" cy="37721"/>
          </a:xfrm>
          <a:prstGeom prst="rect">
            <a:avLst/>
          </a:prstGeom>
          <a:solidFill>
            <a:srgbClr val="D9D9D9">
              <a:alpha val="100000"/>
            </a:srgbClr>
          </a:solidFill>
          <a:ln/>
        </p:spPr>
      </p:sp>
      <p:sp>
        <p:nvSpPr>
          <p:cNvPr id="39" name="Shape 35"/>
          <p:cNvSpPr/>
          <p:nvPr/>
        </p:nvSpPr>
        <p:spPr>
          <a:xfrm>
            <a:off x="1003425" y="2184166"/>
            <a:ext cx="22612823" cy="11504966"/>
          </a:xfrm>
          <a:prstGeom prst="rect">
            <a:avLst/>
          </a:prstGeom>
          <a:noFill/>
          <a:ln w="38100">
            <a:solidFill>
              <a:srgbClr val="000000"/>
            </a:solidFill>
            <a:prstDash val="solid"/>
          </a:ln>
        </p:spPr>
      </p:sp>
      <p:pic>
        <p:nvPicPr>
          <p:cNvPr id="40" name="Image 2" descr="preencoded.png">    </p:cNvPr>
          <p:cNvPicPr>
            <a:picLocks noChangeAspect="1"/>
          </p:cNvPicPr>
          <p:nvPr/>
        </p:nvPicPr>
        <p:blipFill>
          <a:blip r:embed="rId3"/>
          <a:stretch>
            <a:fillRect/>
          </a:stretch>
        </p:blipFill>
        <p:spPr>
          <a:xfrm>
            <a:off x="22977172" y="0"/>
            <a:ext cx="1409876" cy="1676220"/>
          </a:xfrm>
          <a:prstGeom prst="rect">
            <a:avLst/>
          </a:prstGeom>
        </p:spPr>
      </p:pic>
      <p:pic>
        <p:nvPicPr>
          <p:cNvPr id="41" name="Image 3" descr="preencoded.png">    </p:cNvPr>
          <p:cNvPicPr>
            <a:picLocks noChangeAspect="1"/>
          </p:cNvPicPr>
          <p:nvPr/>
        </p:nvPicPr>
        <p:blipFill>
          <a:blip r:embed="rId4"/>
          <a:stretch>
            <a:fillRect/>
          </a:stretch>
        </p:blipFill>
        <p:spPr>
          <a:xfrm>
            <a:off x="1529271" y="859063"/>
            <a:ext cx="7105228" cy="495247"/>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74797" y="215877"/>
            <a:ext cx="8116314" cy="1841303"/>
          </a:xfrm>
          <a:prstGeom prst="rect">
            <a:avLst/>
          </a:prstGeom>
        </p:spPr>
      </p:pic>
      <p:pic>
        <p:nvPicPr>
          <p:cNvPr id="3" name="Image 1" descr="preencoded.png">    </p:cNvPr>
          <p:cNvPicPr>
            <a:picLocks noChangeAspect="1"/>
          </p:cNvPicPr>
          <p:nvPr/>
        </p:nvPicPr>
        <p:blipFill>
          <a:blip r:embed="rId2"/>
          <a:stretch>
            <a:fillRect/>
          </a:stretch>
        </p:blipFill>
        <p:spPr>
          <a:xfrm>
            <a:off x="1237133" y="855889"/>
            <a:ext cx="5759289" cy="485723"/>
          </a:xfrm>
          <a:prstGeom prst="rect">
            <a:avLst/>
          </a:prstGeom>
        </p:spPr>
      </p:pic>
      <p:pic>
        <p:nvPicPr>
          <p:cNvPr id="4" name="Image 2" descr="preencoded.png">    </p:cNvPr>
          <p:cNvPicPr>
            <a:picLocks noChangeAspect="1"/>
          </p:cNvPicPr>
          <p:nvPr/>
        </p:nvPicPr>
        <p:blipFill>
          <a:blip r:embed="rId3"/>
          <a:stretch>
            <a:fillRect/>
          </a:stretch>
        </p:blipFill>
        <p:spPr>
          <a:xfrm>
            <a:off x="9297562" y="1206371"/>
            <a:ext cx="5791924" cy="38096"/>
          </a:xfrm>
          <a:prstGeom prst="rect">
            <a:avLst/>
          </a:prstGeom>
        </p:spPr>
      </p:pic>
      <p:pic>
        <p:nvPicPr>
          <p:cNvPr id="5" name="Image 3" descr="preencoded.png">    </p:cNvPr>
          <p:cNvPicPr>
            <a:picLocks noChangeAspect="1"/>
          </p:cNvPicPr>
          <p:nvPr/>
        </p:nvPicPr>
        <p:blipFill>
          <a:blip r:embed="rId4"/>
          <a:stretch>
            <a:fillRect/>
          </a:stretch>
        </p:blipFill>
        <p:spPr>
          <a:xfrm>
            <a:off x="889855" y="2895761"/>
            <a:ext cx="2628515" cy="3034444"/>
          </a:xfrm>
          <a:prstGeom prst="rect">
            <a:avLst/>
          </a:prstGeom>
        </p:spPr>
      </p:pic>
      <p:pic>
        <p:nvPicPr>
          <p:cNvPr id="6" name="Image 4" descr="preencoded.png">    </p:cNvPr>
          <p:cNvPicPr>
            <a:picLocks noChangeAspect="1"/>
          </p:cNvPicPr>
          <p:nvPr/>
        </p:nvPicPr>
        <p:blipFill>
          <a:blip r:embed="rId5"/>
          <a:stretch>
            <a:fillRect/>
          </a:stretch>
        </p:blipFill>
        <p:spPr>
          <a:xfrm>
            <a:off x="966288" y="2983999"/>
            <a:ext cx="2475650" cy="2857970"/>
          </a:xfrm>
          <a:prstGeom prst="rect">
            <a:avLst/>
          </a:prstGeom>
        </p:spPr>
      </p:pic>
      <p:pic>
        <p:nvPicPr>
          <p:cNvPr id="7" name="Image 5" descr="preencoded.png">    </p:cNvPr>
          <p:cNvPicPr>
            <a:picLocks noChangeAspect="1"/>
          </p:cNvPicPr>
          <p:nvPr/>
        </p:nvPicPr>
        <p:blipFill>
          <a:blip r:embed="rId6"/>
          <a:stretch>
            <a:fillRect/>
          </a:stretch>
        </p:blipFill>
        <p:spPr>
          <a:xfrm>
            <a:off x="961537" y="2983999"/>
            <a:ext cx="1245010" cy="2857970"/>
          </a:xfrm>
          <a:prstGeom prst="rect">
            <a:avLst/>
          </a:prstGeom>
        </p:spPr>
      </p:pic>
      <p:pic>
        <p:nvPicPr>
          <p:cNvPr id="8" name="Image 6" descr="preencoded.png">    </p:cNvPr>
          <p:cNvPicPr>
            <a:picLocks noChangeAspect="1"/>
          </p:cNvPicPr>
          <p:nvPr/>
        </p:nvPicPr>
        <p:blipFill>
          <a:blip r:embed="rId7"/>
          <a:stretch>
            <a:fillRect/>
          </a:stretch>
        </p:blipFill>
        <p:spPr>
          <a:xfrm>
            <a:off x="13211118" y="2679510"/>
            <a:ext cx="2645050" cy="3053530"/>
          </a:xfrm>
          <a:prstGeom prst="rect">
            <a:avLst/>
          </a:prstGeom>
        </p:spPr>
      </p:pic>
      <p:pic>
        <p:nvPicPr>
          <p:cNvPr id="9" name="Image 7" descr="preencoded.png">    </p:cNvPr>
          <p:cNvPicPr>
            <a:picLocks noChangeAspect="1"/>
          </p:cNvPicPr>
          <p:nvPr/>
        </p:nvPicPr>
        <p:blipFill>
          <a:blip r:embed="rId8"/>
          <a:stretch>
            <a:fillRect/>
          </a:stretch>
        </p:blipFill>
        <p:spPr>
          <a:xfrm>
            <a:off x="13288034" y="2768303"/>
            <a:ext cx="2491217" cy="2875944"/>
          </a:xfrm>
          <a:prstGeom prst="rect">
            <a:avLst/>
          </a:prstGeom>
        </p:spPr>
      </p:pic>
      <p:pic>
        <p:nvPicPr>
          <p:cNvPr id="10" name="Image 8" descr="preencoded.png">    </p:cNvPr>
          <p:cNvPicPr>
            <a:picLocks noChangeAspect="1"/>
          </p:cNvPicPr>
          <p:nvPr/>
        </p:nvPicPr>
        <p:blipFill>
          <a:blip r:embed="rId9"/>
          <a:stretch>
            <a:fillRect/>
          </a:stretch>
        </p:blipFill>
        <p:spPr>
          <a:xfrm>
            <a:off x="13283256" y="2768303"/>
            <a:ext cx="1252843" cy="2875944"/>
          </a:xfrm>
          <a:prstGeom prst="rect">
            <a:avLst/>
          </a:prstGeom>
        </p:spPr>
      </p:pic>
      <p:sp>
        <p:nvSpPr>
          <p:cNvPr id="11" name="Text 0"/>
          <p:cNvSpPr/>
          <p:nvPr/>
        </p:nvSpPr>
        <p:spPr>
          <a:xfrm>
            <a:off x="774797" y="6654086"/>
            <a:ext cx="10927599" cy="3140796"/>
          </a:xfrm>
          <a:prstGeom prst="rect">
            <a:avLst/>
          </a:prstGeom>
          <a:noFill/>
          <a:ln/>
        </p:spPr>
        <p:txBody>
          <a:bodyPr wrap="square" lIns="0" tIns="0" rIns="0" bIns="0" rtlCol="0" anchor="t"/>
          <a:lstStyle/>
          <a:p>
            <a:pPr algn="l"/>
            <a:r>
              <a:rPr lang="en-US" sz="2800" dirty="0">
                <a:solidFill>
                  <a:srgbClr val="000000">
                    <a:alpha val="100000"/>
                  </a:srgbClr>
                </a:solidFill>
                <a:latin typeface="Montserrat Medium" pitchFamily="34" charset="0"/>
                <a:ea typeface="Montserrat Medium" pitchFamily="34" charset="-122"/>
                <a:cs typeface="Montserrat Medium" pitchFamily="34" charset="-120"/>
              </a:rPr>
              <a:t>Harmful products like </a:t>
            </a:r>
            <a:pPr algn="l"/>
            <a:r>
              <a:rPr lang="en-US" sz="2800" dirty="0">
                <a:solidFill>
                  <a:srgbClr val="000000">
                    <a:alpha val="100000"/>
                  </a:srgbClr>
                </a:solidFill>
                <a:latin typeface="Montserrat ExtraBold" pitchFamily="34" charset="0"/>
                <a:ea typeface="Montserrat ExtraBold" pitchFamily="34" charset="-122"/>
                <a:cs typeface="Montserrat ExtraBold" pitchFamily="34" charset="-120"/>
              </a:rPr>
              <a:t>thermocol and styrofoam</a:t>
            </a:r>
            <a:pPr algn="l"/>
            <a:r>
              <a:rPr lang="en-US" sz="2800" dirty="0">
                <a:solidFill>
                  <a:srgbClr val="000000">
                    <a:alpha val="100000"/>
                  </a:srgbClr>
                </a:solidFill>
                <a:latin typeface="Montserrat Medium" pitchFamily="34" charset="0"/>
                <a:ea typeface="Montserrat Medium" pitchFamily="34" charset="-122"/>
                <a:cs typeface="Montserrat Medium" pitchFamily="34" charset="-120"/>
              </a:rPr>
              <a:t> are predominantly used as fillers in the packaging industry.  Thermocol and Styrofoam are </a:t>
            </a:r>
            <a:pPr algn="l"/>
            <a:r>
              <a:rPr lang="en-US" sz="2800" dirty="0">
                <a:solidFill>
                  <a:srgbClr val="000000">
                    <a:alpha val="100000"/>
                  </a:srgbClr>
                </a:solidFill>
                <a:latin typeface="Montserrat Bold" pitchFamily="34" charset="0"/>
                <a:ea typeface="Montserrat Bold" pitchFamily="34" charset="-122"/>
                <a:cs typeface="Montserrat Bold" pitchFamily="34" charset="-120"/>
              </a:rPr>
              <a:t>non-biodegradable products</a:t>
            </a:r>
            <a:pPr algn="l"/>
            <a:r>
              <a:rPr lang="en-US" sz="2800" dirty="0">
                <a:solidFill>
                  <a:srgbClr val="000000">
                    <a:alpha val="100000"/>
                  </a:srgbClr>
                </a:solidFill>
                <a:latin typeface="Montserrat Medium" pitchFamily="34" charset="0"/>
                <a:ea typeface="Montserrat Medium" pitchFamily="34" charset="-122"/>
                <a:cs typeface="Montserrat Medium" pitchFamily="34" charset="-120"/>
              </a:rPr>
              <a:t> generating enormous amounts of waste each year. </a:t>
            </a:r>
            <a:endParaRPr lang="en-US" sz="2800" dirty="0"/>
          </a:p>
          <a:p>
            <a:pPr algn="l"/>
            <a:r>
              <a:rPr lang="en-US" sz="2800" dirty="0">
                <a:solidFill>
                  <a:srgbClr val="000000">
                    <a:alpha val="100000"/>
                  </a:srgbClr>
                </a:solidFill>
                <a:latin typeface="Montserrat Medium" pitchFamily="34" charset="0"/>
                <a:ea typeface="Montserrat Medium" pitchFamily="34" charset="-122"/>
                <a:cs typeface="Montserrat Medium" pitchFamily="34" charset="-120"/>
              </a:rPr>
              <a:t> </a:t>
            </a:r>
            <a:endParaRPr lang="en-US" sz="2800" dirty="0"/>
          </a:p>
          <a:p>
            <a:pPr algn="l"/>
            <a:r>
              <a:rPr lang="en-US" sz="2800" dirty="0">
                <a:solidFill>
                  <a:srgbClr val="000000">
                    <a:alpha val="100000"/>
                  </a:srgbClr>
                </a:solidFill>
                <a:latin typeface="Montserrat Medium" pitchFamily="34" charset="0"/>
                <a:ea typeface="Montserrat Medium" pitchFamily="34" charset="-122"/>
                <a:cs typeface="Montserrat Medium" pitchFamily="34" charset="-120"/>
              </a:rPr>
              <a:t>Most forms of disposal of these products prove to be harmful leading to large scale pollution and health hazards.</a:t>
            </a:r>
            <a:endParaRPr lang="en-US" sz="2800" dirty="0"/>
          </a:p>
        </p:txBody>
      </p:sp>
      <p:sp>
        <p:nvSpPr>
          <p:cNvPr id="12" name="Text 1"/>
          <p:cNvSpPr/>
          <p:nvPr/>
        </p:nvSpPr>
        <p:spPr>
          <a:xfrm>
            <a:off x="4509064" y="3507695"/>
            <a:ext cx="5781188" cy="2160734"/>
          </a:xfrm>
          <a:prstGeom prst="rect">
            <a:avLst/>
          </a:prstGeom>
          <a:noFill/>
          <a:ln/>
        </p:spPr>
        <p:txBody>
          <a:bodyPr wrap="square" lIns="0" tIns="0" rIns="0" bIns="0" rtlCol="0" anchor="t"/>
          <a:lstStyle/>
          <a:p>
            <a:pPr algn="l"/>
            <a:r>
              <a:rPr lang="en-US" sz="4200" dirty="0">
                <a:solidFill>
                  <a:srgbClr val="B62D27">
                    <a:alpha val="100000"/>
                  </a:srgbClr>
                </a:solidFill>
                <a:latin typeface="Montserrat Bold" pitchFamily="34" charset="0"/>
                <a:ea typeface="Montserrat Bold" pitchFamily="34" charset="-122"/>
                <a:cs typeface="Montserrat Bold" pitchFamily="34" charset="-120"/>
              </a:rPr>
              <a:t>Use of Harmful Materials in the Packaging Industry</a:t>
            </a:r>
            <a:endParaRPr lang="en-US" sz="4246" dirty="0"/>
          </a:p>
        </p:txBody>
      </p:sp>
      <p:sp>
        <p:nvSpPr>
          <p:cNvPr id="13" name="Text 2"/>
          <p:cNvSpPr/>
          <p:nvPr/>
        </p:nvSpPr>
        <p:spPr>
          <a:xfrm>
            <a:off x="16837598" y="3507695"/>
            <a:ext cx="6652165" cy="2160734"/>
          </a:xfrm>
          <a:prstGeom prst="rect">
            <a:avLst/>
          </a:prstGeom>
          <a:noFill/>
          <a:ln/>
        </p:spPr>
        <p:txBody>
          <a:bodyPr wrap="square" lIns="0" tIns="0" rIns="0" bIns="0" rtlCol="0" anchor="t"/>
          <a:lstStyle/>
          <a:p>
            <a:pPr algn="l"/>
            <a:r>
              <a:rPr lang="en-US" sz="4200" dirty="0">
                <a:solidFill>
                  <a:srgbClr val="B62D27">
                    <a:alpha val="100000"/>
                  </a:srgbClr>
                </a:solidFill>
                <a:latin typeface="Montserrat Bold" pitchFamily="34" charset="0"/>
                <a:ea typeface="Montserrat Bold" pitchFamily="34" charset="-122"/>
                <a:cs typeface="Montserrat Bold" pitchFamily="34" charset="-120"/>
              </a:rPr>
              <a:t>Sholapith Artisans earn pathetic per diems currently.</a:t>
            </a:r>
            <a:endParaRPr lang="en-US" sz="4246" dirty="0"/>
          </a:p>
        </p:txBody>
      </p:sp>
      <p:sp>
        <p:nvSpPr>
          <p:cNvPr id="14" name="Text 3"/>
          <p:cNvSpPr/>
          <p:nvPr/>
        </p:nvSpPr>
        <p:spPr>
          <a:xfrm>
            <a:off x="12815902" y="6491875"/>
            <a:ext cx="11181631" cy="3572550"/>
          </a:xfrm>
          <a:prstGeom prst="rect">
            <a:avLst/>
          </a:prstGeom>
          <a:noFill/>
          <a:ln/>
        </p:spPr>
        <p:txBody>
          <a:bodyPr wrap="square" lIns="0" tIns="0" rIns="0" bIns="0" rtlCol="0" anchor="t"/>
          <a:lstStyle/>
          <a:p>
            <a:pPr algn="l"/>
            <a:r>
              <a:rPr lang="en-US" sz="2800" dirty="0">
                <a:solidFill>
                  <a:srgbClr val="000000">
                    <a:alpha val="100000"/>
                  </a:srgbClr>
                </a:solidFill>
                <a:latin typeface="Montserrat Medium" pitchFamily="34" charset="0"/>
                <a:ea typeface="Montserrat Medium" pitchFamily="34" charset="-122"/>
                <a:cs typeface="Montserrat Medium" pitchFamily="34" charset="-120"/>
              </a:rPr>
              <a:t>The shola artisans earn </a:t>
            </a:r>
            <a:pPr algn="l"/>
            <a:r>
              <a:rPr lang="en-US" sz="2800" dirty="0">
                <a:solidFill>
                  <a:srgbClr val="000000">
                    <a:alpha val="100000"/>
                  </a:srgbClr>
                </a:solidFill>
                <a:latin typeface="Montserrat Bold" pitchFamily="34" charset="0"/>
                <a:ea typeface="Montserrat Bold" pitchFamily="34" charset="-122"/>
                <a:cs typeface="Montserrat Bold" pitchFamily="34" charset="-120"/>
              </a:rPr>
              <a:t>as low as Rs. 30 per day</a:t>
            </a:r>
            <a:pPr algn="l"/>
            <a:r>
              <a:rPr lang="en-US" sz="2800" dirty="0">
                <a:solidFill>
                  <a:srgbClr val="000000">
                    <a:alpha val="100000"/>
                  </a:srgbClr>
                </a:solidFill>
                <a:latin typeface="Montserrat Medium" pitchFamily="34" charset="0"/>
                <a:ea typeface="Montserrat Medium" pitchFamily="34" charset="-122"/>
                <a:cs typeface="Montserrat Medium" pitchFamily="34" charset="-120"/>
              </a:rPr>
              <a:t>, and with increasing prices of essential commodities it is becoming more and more difficult for them to survive on their craft while providing for the family. </a:t>
            </a:r>
            <a:endParaRPr lang="en-US" sz="2800" dirty="0"/>
          </a:p>
          <a:p>
            <a:pPr algn="l"/>
            <a:r>
              <a:rPr lang="en-US" sz="2800" dirty="0">
                <a:solidFill>
                  <a:srgbClr val="000000">
                    <a:alpha val="100000"/>
                  </a:srgbClr>
                </a:solidFill>
                <a:latin typeface="Montserrat Medium" pitchFamily="34" charset="0"/>
                <a:ea typeface="Montserrat Medium" pitchFamily="34" charset="-122"/>
                <a:cs typeface="Montserrat Medium" pitchFamily="34" charset="-120"/>
              </a:rPr>
              <a:t> </a:t>
            </a:r>
            <a:endParaRPr lang="en-US" sz="2800" dirty="0"/>
          </a:p>
          <a:p>
            <a:pPr algn="l"/>
            <a:r>
              <a:rPr lang="en-US" sz="2800" dirty="0">
                <a:solidFill>
                  <a:srgbClr val="000000">
                    <a:alpha val="100000"/>
                  </a:srgbClr>
                </a:solidFill>
                <a:latin typeface="Montserrat Medium" pitchFamily="34" charset="0"/>
                <a:ea typeface="Montserrat Medium" pitchFamily="34" charset="-122"/>
                <a:cs typeface="Montserrat Medium" pitchFamily="34" charset="-120"/>
              </a:rPr>
              <a:t>If the profits of the shola workers do not increase there remains the possibility that this age-old art may face extinction.</a:t>
            </a:r>
            <a:endParaRPr lang="en-US" sz="2800" dirty="0"/>
          </a:p>
        </p:txBody>
      </p:sp>
      <p:pic>
        <p:nvPicPr>
          <p:cNvPr id="15" name="Image 9" descr="preencoded.png">    </p:cNvPr>
          <p:cNvPicPr>
            <a:picLocks noChangeAspect="1"/>
          </p:cNvPicPr>
          <p:nvPr/>
        </p:nvPicPr>
        <p:blipFill>
          <a:blip r:embed="rId10"/>
          <a:stretch>
            <a:fillRect/>
          </a:stretch>
        </p:blipFill>
        <p:spPr>
          <a:xfrm>
            <a:off x="1778222" y="3825161"/>
            <a:ext cx="851006" cy="1168275"/>
          </a:xfrm>
          <a:prstGeom prst="rect">
            <a:avLst/>
          </a:prstGeom>
        </p:spPr>
      </p:pic>
      <p:pic>
        <p:nvPicPr>
          <p:cNvPr id="16" name="Image 10" descr="preencoded.png">    </p:cNvPr>
          <p:cNvPicPr>
            <a:picLocks noChangeAspect="1"/>
          </p:cNvPicPr>
          <p:nvPr/>
        </p:nvPicPr>
        <p:blipFill>
          <a:blip r:embed="rId11"/>
          <a:stretch>
            <a:fillRect/>
          </a:stretch>
        </p:blipFill>
        <p:spPr>
          <a:xfrm>
            <a:off x="13814620" y="3774366"/>
            <a:ext cx="1435279" cy="914302"/>
          </a:xfrm>
          <a:prstGeom prst="rect">
            <a:avLst/>
          </a:prstGeom>
        </p:spPr>
      </p:pic>
      <p:pic>
        <p:nvPicPr>
          <p:cNvPr id="17" name="Image 11" descr="preencoded.png">    </p:cNvPr>
          <p:cNvPicPr>
            <a:picLocks noChangeAspect="1"/>
          </p:cNvPicPr>
          <p:nvPr/>
        </p:nvPicPr>
        <p:blipFill>
          <a:blip r:embed="rId12"/>
          <a:stretch>
            <a:fillRect/>
          </a:stretch>
        </p:blipFill>
        <p:spPr>
          <a:xfrm>
            <a:off x="12151186" y="2357713"/>
            <a:ext cx="135482" cy="7919717"/>
          </a:xfrm>
          <a:prstGeom prst="rect">
            <a:avLst/>
          </a:prstGeom>
        </p:spPr>
      </p:pic>
      <p:sp>
        <p:nvSpPr>
          <p:cNvPr id="18" name="Text 4"/>
          <p:cNvSpPr/>
          <p:nvPr/>
        </p:nvSpPr>
        <p:spPr>
          <a:xfrm>
            <a:off x="800200" y="11111308"/>
            <a:ext cx="23387856" cy="867740"/>
          </a:xfrm>
          <a:prstGeom prst="rect">
            <a:avLst/>
          </a:prstGeom>
          <a:noFill/>
          <a:ln/>
        </p:spPr>
        <p:txBody>
          <a:bodyPr wrap="square" lIns="0" tIns="0" rIns="0" bIns="0" rtlCol="0" anchor="t"/>
          <a:lstStyle/>
          <a:p>
            <a:pPr algn="l"/>
            <a:r>
              <a:rPr lang="en-US" sz="2500" dirty="0">
                <a:solidFill>
                  <a:srgbClr val="B62D27">
                    <a:alpha val="100000"/>
                  </a:srgbClr>
                </a:solidFill>
                <a:latin typeface="Montserrat Bold" pitchFamily="34" charset="0"/>
                <a:ea typeface="Montserrat Bold" pitchFamily="34" charset="-122"/>
                <a:cs typeface="Montserrat Bold" pitchFamily="34" charset="-120"/>
              </a:rPr>
              <a:t>In Addition</a:t>
            </a:r>
            <a:pPr algn="l"/>
            <a:r>
              <a:rPr lang="en-US" sz="2500" dirty="0">
                <a:solidFill>
                  <a:srgbClr val="000000">
                    <a:alpha val="100000"/>
                  </a:srgbClr>
                </a:solidFill>
                <a:latin typeface="Montserrat Bold" pitchFamily="34" charset="0"/>
                <a:ea typeface="Montserrat Bold" pitchFamily="34" charset="-122"/>
                <a:cs typeface="Montserrat Bold" pitchFamily="34" charset="-120"/>
              </a:rPr>
              <a:t>, The United Nations has put forward 17 goals to be followed to ensure a sustainable future, most of which is being violated by the packaging industry presently. </a:t>
            </a:r>
            <a:endParaRPr lang="en-US" sz="2500" dirty="0"/>
          </a:p>
        </p:txBody>
      </p:sp>
      <p:sp>
        <p:nvSpPr>
          <p:cNvPr id="19" name="Text 5"/>
          <p:cNvSpPr/>
          <p:nvPr/>
        </p:nvSpPr>
        <p:spPr>
          <a:xfrm>
            <a:off x="800200" y="12584350"/>
            <a:ext cx="22797746" cy="1204767"/>
          </a:xfrm>
          <a:prstGeom prst="rect">
            <a:avLst/>
          </a:prstGeom>
          <a:noFill/>
          <a:ln/>
        </p:spPr>
        <p:txBody>
          <a:bodyPr wrap="square" lIns="0" tIns="0" rIns="0" bIns="0" rtlCol="0" anchor="t"/>
          <a:lstStyle/>
          <a:p>
            <a:pPr algn="l"/>
            <a:r>
              <a:rPr lang="en-US" sz="2400" dirty="0">
                <a:solidFill>
                  <a:srgbClr val="000000">
                    <a:alpha val="100000"/>
                  </a:srgbClr>
                </a:solidFill>
                <a:latin typeface="Montserrat Medium" pitchFamily="34" charset="0"/>
                <a:ea typeface="Montserrat Medium" pitchFamily="34" charset="-122"/>
                <a:cs typeface="Montserrat Medium" pitchFamily="34" charset="-120"/>
              </a:rPr>
              <a:t>The goals we see being violated, and wish to solve, are </a:t>
            </a:r>
            <a:pPr algn="l"/>
            <a:r>
              <a:rPr lang="en-US" sz="2400" dirty="0">
                <a:solidFill>
                  <a:srgbClr val="B62D27">
                    <a:alpha val="100000"/>
                  </a:srgbClr>
                </a:solidFill>
                <a:latin typeface="Montserrat Medium" pitchFamily="34" charset="0"/>
                <a:ea typeface="Montserrat Medium" pitchFamily="34" charset="-122"/>
                <a:cs typeface="Montserrat Medium" pitchFamily="34" charset="-120"/>
              </a:rPr>
              <a:t>Goal 1 </a:t>
            </a:r>
            <a:pPr algn="l"/>
            <a:r>
              <a:rPr lang="en-US" sz="2400" dirty="0">
                <a:solidFill>
                  <a:srgbClr val="000000">
                    <a:alpha val="100000"/>
                  </a:srgbClr>
                </a:solidFill>
                <a:latin typeface="Montserrat Medium" pitchFamily="34" charset="0"/>
                <a:ea typeface="Montserrat Medium" pitchFamily="34" charset="-122"/>
                <a:cs typeface="Montserrat Medium" pitchFamily="34" charset="-120"/>
              </a:rPr>
              <a:t>(Increased Poverty), </a:t>
            </a:r>
            <a:pPr algn="l"/>
            <a:r>
              <a:rPr lang="en-US" sz="2400" dirty="0">
                <a:solidFill>
                  <a:srgbClr val="B62D27">
                    <a:alpha val="100000"/>
                  </a:srgbClr>
                </a:solidFill>
                <a:latin typeface="Montserrat Medium" pitchFamily="34" charset="0"/>
                <a:ea typeface="Montserrat Medium" pitchFamily="34" charset="-122"/>
                <a:cs typeface="Montserrat Medium" pitchFamily="34" charset="-120"/>
              </a:rPr>
              <a:t>Goal 8</a:t>
            </a:r>
            <a:pPr algn="l"/>
            <a:r>
              <a:rPr lang="en-US" sz="2400" dirty="0">
                <a:solidFill>
                  <a:srgbClr val="000000">
                    <a:alpha val="100000"/>
                  </a:srgbClr>
                </a:solidFill>
                <a:latin typeface="Montserrat Medium" pitchFamily="34" charset="0"/>
                <a:ea typeface="Montserrat Medium" pitchFamily="34" charset="-122"/>
                <a:cs typeface="Montserrat Medium" pitchFamily="34" charset="-120"/>
              </a:rPr>
              <a:t> (Lack of economic opportunity), </a:t>
            </a:r>
            <a:pPr algn="l"/>
            <a:r>
              <a:rPr lang="en-US" sz="2400" dirty="0">
                <a:solidFill>
                  <a:srgbClr val="B62D27">
                    <a:alpha val="100000"/>
                  </a:srgbClr>
                </a:solidFill>
                <a:latin typeface="Montserrat Medium" pitchFamily="34" charset="0"/>
                <a:ea typeface="Montserrat Medium" pitchFamily="34" charset="-122"/>
                <a:cs typeface="Montserrat Medium" pitchFamily="34" charset="-120"/>
              </a:rPr>
              <a:t>Goal 9</a:t>
            </a:r>
            <a:pPr algn="l"/>
            <a:r>
              <a:rPr lang="en-US" sz="2400" dirty="0">
                <a:solidFill>
                  <a:srgbClr val="000000">
                    <a:alpha val="100000"/>
                  </a:srgbClr>
                </a:solidFill>
                <a:latin typeface="Montserrat Medium" pitchFamily="34" charset="0"/>
                <a:ea typeface="Montserrat Medium" pitchFamily="34" charset="-122"/>
                <a:cs typeface="Montserrat Medium" pitchFamily="34" charset="-120"/>
              </a:rPr>
              <a:t> (No innovation in packaging sector), </a:t>
            </a:r>
            <a:pPr algn="l"/>
            <a:r>
              <a:rPr lang="en-US" sz="2400" dirty="0">
                <a:solidFill>
                  <a:srgbClr val="B62D27">
                    <a:alpha val="100000"/>
                  </a:srgbClr>
                </a:solidFill>
                <a:latin typeface="Montserrat Medium" pitchFamily="34" charset="0"/>
                <a:ea typeface="Montserrat Medium" pitchFamily="34" charset="-122"/>
                <a:cs typeface="Montserrat Medium" pitchFamily="34" charset="-120"/>
              </a:rPr>
              <a:t>Goal 10</a:t>
            </a:r>
            <a:pPr algn="l"/>
            <a:r>
              <a:rPr lang="en-US" sz="2400" dirty="0">
                <a:solidFill>
                  <a:srgbClr val="000000">
                    <a:alpha val="100000"/>
                  </a:srgbClr>
                </a:solidFill>
                <a:latin typeface="Montserrat Medium" pitchFamily="34" charset="0"/>
                <a:ea typeface="Montserrat Medium" pitchFamily="34" charset="-122"/>
                <a:cs typeface="Montserrat Medium" pitchFamily="34" charset="-120"/>
              </a:rPr>
              <a:t> (Increased Inequality), </a:t>
            </a:r>
            <a:pPr algn="l"/>
            <a:r>
              <a:rPr lang="en-US" sz="2400" dirty="0">
                <a:solidFill>
                  <a:srgbClr val="B62D27">
                    <a:alpha val="100000"/>
                  </a:srgbClr>
                </a:solidFill>
                <a:latin typeface="Montserrat Medium" pitchFamily="34" charset="0"/>
                <a:ea typeface="Montserrat Medium" pitchFamily="34" charset="-122"/>
                <a:cs typeface="Montserrat Medium" pitchFamily="34" charset="-120"/>
              </a:rPr>
              <a:t>Goal 12</a:t>
            </a:r>
            <a:pPr algn="l"/>
            <a:r>
              <a:rPr lang="en-US" sz="2400" dirty="0">
                <a:solidFill>
                  <a:srgbClr val="000000">
                    <a:alpha val="100000"/>
                  </a:srgbClr>
                </a:solidFill>
                <a:latin typeface="Montserrat Medium" pitchFamily="34" charset="0"/>
                <a:ea typeface="Montserrat Medium" pitchFamily="34" charset="-122"/>
                <a:cs typeface="Montserrat Medium" pitchFamily="34" charset="-120"/>
              </a:rPr>
              <a:t> (Irresponsible production and consumption, </a:t>
            </a:r>
            <a:pPr algn="l"/>
            <a:r>
              <a:rPr lang="en-US" sz="2400" dirty="0">
                <a:solidFill>
                  <a:srgbClr val="B62D27">
                    <a:alpha val="100000"/>
                  </a:srgbClr>
                </a:solidFill>
                <a:latin typeface="Montserrat Medium" pitchFamily="34" charset="0"/>
                <a:ea typeface="Montserrat Medium" pitchFamily="34" charset="-122"/>
                <a:cs typeface="Montserrat Medium" pitchFamily="34" charset="-120"/>
              </a:rPr>
              <a:t>Goal 13</a:t>
            </a:r>
            <a:pPr algn="l"/>
            <a:r>
              <a:rPr lang="en-US" sz="2400" dirty="0">
                <a:solidFill>
                  <a:srgbClr val="000000">
                    <a:alpha val="100000"/>
                  </a:srgbClr>
                </a:solidFill>
                <a:latin typeface="Montserrat Medium" pitchFamily="34" charset="0"/>
                <a:ea typeface="Montserrat Medium" pitchFamily="34" charset="-122"/>
                <a:cs typeface="Montserrat Medium" pitchFamily="34" charset="-120"/>
              </a:rPr>
              <a:t> (Adverse impact on Climate, and finally, </a:t>
            </a:r>
            <a:pPr algn="l"/>
            <a:r>
              <a:rPr lang="en-US" sz="2400" dirty="0">
                <a:solidFill>
                  <a:srgbClr val="B62D27">
                    <a:alpha val="100000"/>
                  </a:srgbClr>
                </a:solidFill>
                <a:latin typeface="Montserrat Medium" pitchFamily="34" charset="0"/>
                <a:ea typeface="Montserrat Medium" pitchFamily="34" charset="-122"/>
                <a:cs typeface="Montserrat Medium" pitchFamily="34" charset="-120"/>
              </a:rPr>
              <a:t>Goal 15</a:t>
            </a:r>
            <a:pPr algn="l"/>
            <a:r>
              <a:rPr lang="en-US" sz="2400" dirty="0">
                <a:solidFill>
                  <a:srgbClr val="000000">
                    <a:alpha val="100000"/>
                  </a:srgbClr>
                </a:solidFill>
                <a:latin typeface="Montserrat Medium" pitchFamily="34" charset="0"/>
                <a:ea typeface="Montserrat Medium" pitchFamily="34" charset="-122"/>
                <a:cs typeface="Montserrat Medium" pitchFamily="34" charset="-120"/>
              </a:rPr>
              <a:t> (Adverse effect on life on land)</a:t>
            </a:r>
            <a:endParaRPr lang="en-US" sz="2362" dirty="0"/>
          </a:p>
        </p:txBody>
      </p:sp>
      <p:pic>
        <p:nvPicPr>
          <p:cNvPr id="20" name="Image 12" descr="preencoded.png">    </p:cNvPr>
          <p:cNvPicPr>
            <a:picLocks noChangeAspect="1"/>
          </p:cNvPicPr>
          <p:nvPr/>
        </p:nvPicPr>
        <p:blipFill>
          <a:blip r:embed="rId13"/>
          <a:stretch>
            <a:fillRect/>
          </a:stretch>
        </p:blipFill>
        <p:spPr>
          <a:xfrm>
            <a:off x="22977172" y="0"/>
            <a:ext cx="1409876" cy="167622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6692" y="215877"/>
            <a:ext cx="5868133" cy="1841303"/>
          </a:xfrm>
          <a:prstGeom prst="rect">
            <a:avLst/>
          </a:prstGeom>
        </p:spPr>
      </p:pic>
      <p:pic>
        <p:nvPicPr>
          <p:cNvPr id="3" name="Image 1" descr="preencoded.png">    </p:cNvPr>
          <p:cNvPicPr>
            <a:picLocks noChangeAspect="1"/>
          </p:cNvPicPr>
          <p:nvPr/>
        </p:nvPicPr>
        <p:blipFill>
          <a:blip r:embed="rId2"/>
          <a:stretch>
            <a:fillRect/>
          </a:stretch>
        </p:blipFill>
        <p:spPr>
          <a:xfrm>
            <a:off x="1251106" y="859063"/>
            <a:ext cx="3942801" cy="495247"/>
          </a:xfrm>
          <a:prstGeom prst="rect">
            <a:avLst/>
          </a:prstGeom>
        </p:spPr>
      </p:pic>
      <p:pic>
        <p:nvPicPr>
          <p:cNvPr id="4" name="Image 2" descr="preencoded.png">    </p:cNvPr>
          <p:cNvPicPr>
            <a:picLocks noChangeAspect="1"/>
          </p:cNvPicPr>
          <p:nvPr/>
        </p:nvPicPr>
        <p:blipFill>
          <a:blip r:embed="rId3"/>
          <a:stretch>
            <a:fillRect/>
          </a:stretch>
        </p:blipFill>
        <p:spPr>
          <a:xfrm>
            <a:off x="7049381" y="1219069"/>
            <a:ext cx="5791924" cy="38096"/>
          </a:xfrm>
          <a:prstGeom prst="rect">
            <a:avLst/>
          </a:prstGeom>
        </p:spPr>
      </p:pic>
      <p:sp>
        <p:nvSpPr>
          <p:cNvPr id="5" name="Text 0"/>
          <p:cNvSpPr/>
          <p:nvPr/>
        </p:nvSpPr>
        <p:spPr>
          <a:xfrm>
            <a:off x="1790884" y="2933385"/>
            <a:ext cx="3746766" cy="871139"/>
          </a:xfrm>
          <a:prstGeom prst="rect">
            <a:avLst/>
          </a:prstGeom>
          <a:noFill/>
          <a:ln/>
        </p:spPr>
        <p:txBody>
          <a:bodyPr wrap="square" lIns="0" tIns="0" rIns="0" bIns="0" rtlCol="0" anchor="t"/>
          <a:lstStyle/>
          <a:p>
            <a:pPr algn="ctr"/>
            <a:r>
              <a:rPr lang="en-US" sz="4100" dirty="0">
                <a:solidFill>
                  <a:srgbClr val="000000">
                    <a:alpha val="100000"/>
                  </a:srgbClr>
                </a:solidFill>
                <a:latin typeface="TeX Gyre Adventor Bold" pitchFamily="34" charset="0"/>
                <a:ea typeface="TeX Gyre Adventor Bold" pitchFamily="34" charset="-122"/>
                <a:cs typeface="TeX Gyre Adventor Bold" pitchFamily="34" charset="-120"/>
              </a:rPr>
              <a:t>Truly Natural Alternative</a:t>
            </a:r>
            <a:endParaRPr lang="en-US" sz="4116" dirty="0"/>
          </a:p>
        </p:txBody>
      </p:sp>
      <p:sp>
        <p:nvSpPr>
          <p:cNvPr id="6" name="Text 1"/>
          <p:cNvSpPr/>
          <p:nvPr/>
        </p:nvSpPr>
        <p:spPr>
          <a:xfrm>
            <a:off x="9083412" y="2933385"/>
            <a:ext cx="5178694" cy="872653"/>
          </a:xfrm>
          <a:prstGeom prst="rect">
            <a:avLst/>
          </a:prstGeom>
          <a:noFill/>
          <a:ln/>
        </p:spPr>
        <p:txBody>
          <a:bodyPr wrap="square" lIns="0" tIns="0" rIns="0" bIns="0" rtlCol="0" anchor="t"/>
          <a:lstStyle/>
          <a:p>
            <a:pPr algn="ctr"/>
            <a:r>
              <a:rPr lang="en-US" sz="4100" dirty="0">
                <a:solidFill>
                  <a:srgbClr val="000000">
                    <a:alpha val="100000"/>
                  </a:srgbClr>
                </a:solidFill>
                <a:latin typeface="TeX Gyre Adventor Bold" pitchFamily="34" charset="0"/>
                <a:ea typeface="TeX Gyre Adventor Bold" pitchFamily="34" charset="-122"/>
                <a:cs typeface="TeX Gyre Adventor Bold" pitchFamily="34" charset="-120"/>
              </a:rPr>
              <a:t>Social Support Programme</a:t>
            </a:r>
            <a:endParaRPr lang="en-US" sz="4116" dirty="0"/>
          </a:p>
        </p:txBody>
      </p:sp>
      <p:sp>
        <p:nvSpPr>
          <p:cNvPr id="7" name="Text 2"/>
          <p:cNvSpPr/>
          <p:nvPr/>
        </p:nvSpPr>
        <p:spPr>
          <a:xfrm>
            <a:off x="16069285" y="2907988"/>
            <a:ext cx="7503084" cy="1774256"/>
          </a:xfrm>
          <a:prstGeom prst="rect">
            <a:avLst/>
          </a:prstGeom>
          <a:noFill/>
          <a:ln/>
        </p:spPr>
        <p:txBody>
          <a:bodyPr wrap="square" lIns="0" tIns="0" rIns="0" bIns="0" rtlCol="0" anchor="t"/>
          <a:lstStyle/>
          <a:p>
            <a:pPr algn="ctr"/>
            <a:r>
              <a:rPr lang="en-US" sz="4100" dirty="0">
                <a:solidFill>
                  <a:srgbClr val="000000">
                    <a:alpha val="100000"/>
                  </a:srgbClr>
                </a:solidFill>
                <a:latin typeface="TeX Gyre Adventor Bold" pitchFamily="34" charset="0"/>
                <a:ea typeface="TeX Gyre Adventor Bold" pitchFamily="34" charset="-122"/>
                <a:cs typeface="TeX Gyre Adventor Bold" pitchFamily="34" charset="-120"/>
              </a:rPr>
              <a:t>Cheaper product, better brand image</a:t>
            </a:r>
            <a:endParaRPr lang="en-US" sz="4116" dirty="0"/>
          </a:p>
        </p:txBody>
      </p:sp>
      <p:pic>
        <p:nvPicPr>
          <p:cNvPr id="8" name="Image 3" descr="preencoded.png">    </p:cNvPr>
          <p:cNvPicPr>
            <a:picLocks noChangeAspect="1"/>
          </p:cNvPicPr>
          <p:nvPr/>
        </p:nvPicPr>
        <p:blipFill>
          <a:blip r:embed="rId4"/>
          <a:stretch>
            <a:fillRect/>
          </a:stretch>
        </p:blipFill>
        <p:spPr>
          <a:xfrm>
            <a:off x="1867133" y="7316161"/>
            <a:ext cx="3390313" cy="1694763"/>
          </a:xfrm>
          <a:prstGeom prst="rect">
            <a:avLst/>
          </a:prstGeom>
        </p:spPr>
      </p:pic>
      <p:sp>
        <p:nvSpPr>
          <p:cNvPr id="9" name="Shape 3"/>
          <p:cNvSpPr/>
          <p:nvPr/>
        </p:nvSpPr>
        <p:spPr>
          <a:xfrm>
            <a:off x="2260486" y="5902297"/>
            <a:ext cx="2603612" cy="2603007"/>
          </a:xfrm>
          <a:prstGeom prst="ellipse">
            <a:avLst/>
          </a:prstGeom>
          <a:solidFill>
            <a:srgbClr val="FFFFFF">
              <a:alpha val="100000"/>
            </a:srgbClr>
          </a:solidFill>
          <a:ln w="63500">
            <a:solidFill>
              <a:srgbClr val="B62D27"/>
            </a:solidFill>
            <a:prstDash val="solid"/>
          </a:ln>
        </p:spPr>
      </p:sp>
      <p:pic>
        <p:nvPicPr>
          <p:cNvPr id="10" name="Image 4" descr="preencoded.png">    </p:cNvPr>
          <p:cNvPicPr>
            <a:picLocks noChangeAspect="1"/>
          </p:cNvPicPr>
          <p:nvPr/>
        </p:nvPicPr>
        <p:blipFill>
          <a:blip r:embed="rId5"/>
          <a:stretch>
            <a:fillRect/>
          </a:stretch>
        </p:blipFill>
        <p:spPr>
          <a:xfrm>
            <a:off x="3543563" y="8636391"/>
            <a:ext cx="56196" cy="833336"/>
          </a:xfrm>
          <a:prstGeom prst="rect">
            <a:avLst/>
          </a:prstGeom>
        </p:spPr>
      </p:pic>
      <p:sp>
        <p:nvSpPr>
          <p:cNvPr id="11" name="Shape 4"/>
          <p:cNvSpPr/>
          <p:nvPr/>
        </p:nvSpPr>
        <p:spPr>
          <a:xfrm>
            <a:off x="3459272" y="9422910"/>
            <a:ext cx="215407" cy="215357"/>
          </a:xfrm>
          <a:prstGeom prst="ellipse">
            <a:avLst/>
          </a:prstGeom>
          <a:noFill/>
          <a:ln w="50800">
            <a:solidFill>
              <a:srgbClr val="000000"/>
            </a:solidFill>
            <a:prstDash val="solid"/>
          </a:ln>
        </p:spPr>
      </p:sp>
      <p:pic>
        <p:nvPicPr>
          <p:cNvPr id="12" name="Image 5" descr="preencoded.png">    </p:cNvPr>
          <p:cNvPicPr>
            <a:picLocks noChangeAspect="1"/>
          </p:cNvPicPr>
          <p:nvPr/>
        </p:nvPicPr>
        <p:blipFill>
          <a:blip r:embed="rId6"/>
          <a:stretch>
            <a:fillRect/>
          </a:stretch>
        </p:blipFill>
        <p:spPr>
          <a:xfrm>
            <a:off x="9946081" y="7316161"/>
            <a:ext cx="3390313" cy="1694763"/>
          </a:xfrm>
          <a:prstGeom prst="rect">
            <a:avLst/>
          </a:prstGeom>
        </p:spPr>
      </p:pic>
      <p:pic>
        <p:nvPicPr>
          <p:cNvPr id="13" name="Image 6" descr="preencoded.png">    </p:cNvPr>
          <p:cNvPicPr>
            <a:picLocks noChangeAspect="1"/>
          </p:cNvPicPr>
          <p:nvPr/>
        </p:nvPicPr>
        <p:blipFill>
          <a:blip r:embed="rId7"/>
          <a:stretch>
            <a:fillRect/>
          </a:stretch>
        </p:blipFill>
        <p:spPr>
          <a:xfrm>
            <a:off x="10339433" y="5902297"/>
            <a:ext cx="2603615" cy="2603007"/>
          </a:xfrm>
          <a:prstGeom prst="rect">
            <a:avLst/>
          </a:prstGeom>
        </p:spPr>
      </p:pic>
      <p:sp>
        <p:nvSpPr>
          <p:cNvPr id="14" name="Shape 5"/>
          <p:cNvSpPr/>
          <p:nvPr/>
        </p:nvSpPr>
        <p:spPr>
          <a:xfrm>
            <a:off x="10339433" y="5902297"/>
            <a:ext cx="2603612" cy="2603007"/>
          </a:xfrm>
          <a:prstGeom prst="ellipse">
            <a:avLst/>
          </a:prstGeom>
          <a:solidFill>
            <a:srgbClr val="FFFFFF">
              <a:alpha val="100000"/>
            </a:srgbClr>
          </a:solidFill>
          <a:ln w="63500">
            <a:solidFill>
              <a:srgbClr val="B62D27"/>
            </a:solidFill>
            <a:prstDash val="solid"/>
          </a:ln>
        </p:spPr>
      </p:sp>
      <p:pic>
        <p:nvPicPr>
          <p:cNvPr id="15" name="Image 7" descr="preencoded.png">    </p:cNvPr>
          <p:cNvPicPr>
            <a:picLocks noChangeAspect="1"/>
          </p:cNvPicPr>
          <p:nvPr/>
        </p:nvPicPr>
        <p:blipFill>
          <a:blip r:embed="rId8"/>
          <a:stretch>
            <a:fillRect/>
          </a:stretch>
        </p:blipFill>
        <p:spPr>
          <a:xfrm>
            <a:off x="11622511" y="8636391"/>
            <a:ext cx="56196" cy="833336"/>
          </a:xfrm>
          <a:prstGeom prst="rect">
            <a:avLst/>
          </a:prstGeom>
        </p:spPr>
      </p:pic>
      <p:sp>
        <p:nvSpPr>
          <p:cNvPr id="16" name="Shape 6"/>
          <p:cNvSpPr/>
          <p:nvPr/>
        </p:nvSpPr>
        <p:spPr>
          <a:xfrm>
            <a:off x="11538220" y="9422910"/>
            <a:ext cx="215407" cy="215357"/>
          </a:xfrm>
          <a:prstGeom prst="ellipse">
            <a:avLst/>
          </a:prstGeom>
          <a:noFill/>
          <a:ln w="50800">
            <a:solidFill>
              <a:srgbClr val="000000"/>
            </a:solidFill>
            <a:prstDash val="solid"/>
          </a:ln>
        </p:spPr>
      </p:sp>
      <p:pic>
        <p:nvPicPr>
          <p:cNvPr id="17" name="Image 8" descr="preencoded.png">    </p:cNvPr>
          <p:cNvPicPr>
            <a:picLocks noChangeAspect="1"/>
          </p:cNvPicPr>
          <p:nvPr/>
        </p:nvPicPr>
        <p:blipFill>
          <a:blip r:embed="rId9"/>
          <a:stretch>
            <a:fillRect/>
          </a:stretch>
        </p:blipFill>
        <p:spPr>
          <a:xfrm>
            <a:off x="18137867" y="7316161"/>
            <a:ext cx="3390313" cy="1694763"/>
          </a:xfrm>
          <a:prstGeom prst="rect">
            <a:avLst/>
          </a:prstGeom>
        </p:spPr>
      </p:pic>
      <p:pic>
        <p:nvPicPr>
          <p:cNvPr id="18" name="Image 9" descr="preencoded.png">    </p:cNvPr>
          <p:cNvPicPr>
            <a:picLocks noChangeAspect="1"/>
          </p:cNvPicPr>
          <p:nvPr/>
        </p:nvPicPr>
        <p:blipFill>
          <a:blip r:embed="rId10"/>
          <a:stretch>
            <a:fillRect/>
          </a:stretch>
        </p:blipFill>
        <p:spPr>
          <a:xfrm>
            <a:off x="18531219" y="5902297"/>
            <a:ext cx="2603615" cy="2603007"/>
          </a:xfrm>
          <a:prstGeom prst="rect">
            <a:avLst/>
          </a:prstGeom>
        </p:spPr>
      </p:pic>
      <p:sp>
        <p:nvSpPr>
          <p:cNvPr id="19" name="Shape 7"/>
          <p:cNvSpPr/>
          <p:nvPr/>
        </p:nvSpPr>
        <p:spPr>
          <a:xfrm>
            <a:off x="18531219" y="5902297"/>
            <a:ext cx="2603612" cy="2603007"/>
          </a:xfrm>
          <a:prstGeom prst="ellipse">
            <a:avLst/>
          </a:prstGeom>
          <a:solidFill>
            <a:srgbClr val="FFFFFF">
              <a:alpha val="100000"/>
            </a:srgbClr>
          </a:solidFill>
          <a:ln w="63500">
            <a:solidFill>
              <a:srgbClr val="B62D27"/>
            </a:solidFill>
            <a:prstDash val="solid"/>
          </a:ln>
        </p:spPr>
      </p:sp>
      <p:pic>
        <p:nvPicPr>
          <p:cNvPr id="20" name="Image 10" descr="preencoded.png">    </p:cNvPr>
          <p:cNvPicPr>
            <a:picLocks noChangeAspect="1"/>
          </p:cNvPicPr>
          <p:nvPr/>
        </p:nvPicPr>
        <p:blipFill>
          <a:blip r:embed="rId11"/>
          <a:stretch>
            <a:fillRect/>
          </a:stretch>
        </p:blipFill>
        <p:spPr>
          <a:xfrm>
            <a:off x="19814297" y="8636391"/>
            <a:ext cx="56196" cy="833336"/>
          </a:xfrm>
          <a:prstGeom prst="rect">
            <a:avLst/>
          </a:prstGeom>
        </p:spPr>
      </p:pic>
      <p:sp>
        <p:nvSpPr>
          <p:cNvPr id="21" name="Shape 8"/>
          <p:cNvSpPr/>
          <p:nvPr/>
        </p:nvSpPr>
        <p:spPr>
          <a:xfrm>
            <a:off x="19730006" y="9422910"/>
            <a:ext cx="215407" cy="215357"/>
          </a:xfrm>
          <a:prstGeom prst="ellipse">
            <a:avLst/>
          </a:prstGeom>
          <a:noFill/>
          <a:ln w="50800">
            <a:solidFill>
              <a:srgbClr val="000000"/>
            </a:solidFill>
            <a:prstDash val="solid"/>
          </a:ln>
        </p:spPr>
      </p:sp>
      <p:sp>
        <p:nvSpPr>
          <p:cNvPr id="22" name="Text 9"/>
          <p:cNvSpPr/>
          <p:nvPr/>
        </p:nvSpPr>
        <p:spPr>
          <a:xfrm>
            <a:off x="690221" y="10870034"/>
            <a:ext cx="5948375" cy="1845334"/>
          </a:xfrm>
          <a:prstGeom prst="rect">
            <a:avLst/>
          </a:prstGeom>
          <a:noFill/>
          <a:ln/>
        </p:spPr>
        <p:txBody>
          <a:bodyPr wrap="square" lIns="0" tIns="0" rIns="0" bIns="0" rtlCol="0" anchor="t"/>
          <a:lstStyle/>
          <a:p>
            <a:pPr algn="ctr"/>
            <a:r>
              <a:rPr lang="en-US" sz="2200" dirty="0">
                <a:solidFill>
                  <a:srgbClr val="000000">
                    <a:alpha val="100000"/>
                  </a:srgbClr>
                </a:solidFill>
                <a:latin typeface="Montserrat Medium" pitchFamily="34" charset="0"/>
                <a:ea typeface="Montserrat Medium" pitchFamily="34" charset="-122"/>
                <a:cs typeface="Montserrat Medium" pitchFamily="34" charset="-120"/>
              </a:rPr>
              <a:t>Sholapith is a </a:t>
            </a:r>
            <a:pPr algn="ctr"/>
            <a:r>
              <a:rPr lang="en-US" sz="2200" dirty="0">
                <a:solidFill>
                  <a:srgbClr val="B62D27">
                    <a:alpha val="100000"/>
                  </a:srgbClr>
                </a:solidFill>
                <a:latin typeface="Montserrat Bold" pitchFamily="34" charset="0"/>
                <a:ea typeface="Montserrat Bold" pitchFamily="34" charset="-122"/>
                <a:cs typeface="Montserrat Bold" pitchFamily="34" charset="-120"/>
              </a:rPr>
              <a:t>fully natural product</a:t>
            </a:r>
            <a:pPr algn="ctr"/>
            <a:r>
              <a:rPr lang="en-US" sz="2200" dirty="0">
                <a:solidFill>
                  <a:srgbClr val="000000">
                    <a:alpha val="100000"/>
                  </a:srgbClr>
                </a:solidFill>
                <a:latin typeface="Montserrat Medium" pitchFamily="34" charset="0"/>
                <a:ea typeface="Montserrat Medium" pitchFamily="34" charset="-122"/>
                <a:cs typeface="Montserrat Medium" pitchFamily="34" charset="-120"/>
              </a:rPr>
              <a:t>, unlike the harmful styrofoam and thermocol in the market, and also unlike the artificially processed starch packing material sold as bio-degradable.</a:t>
            </a:r>
            <a:endParaRPr lang="en-US" sz="2195" dirty="0"/>
          </a:p>
        </p:txBody>
      </p:sp>
      <p:sp>
        <p:nvSpPr>
          <p:cNvPr id="23" name="Text 10"/>
          <p:cNvSpPr/>
          <p:nvPr/>
        </p:nvSpPr>
        <p:spPr>
          <a:xfrm>
            <a:off x="8666818" y="10870034"/>
            <a:ext cx="5948375" cy="1845334"/>
          </a:xfrm>
          <a:prstGeom prst="rect">
            <a:avLst/>
          </a:prstGeom>
          <a:noFill/>
          <a:ln/>
        </p:spPr>
        <p:txBody>
          <a:bodyPr wrap="square" lIns="0" tIns="0" rIns="0" bIns="0" rtlCol="0" anchor="t"/>
          <a:lstStyle/>
          <a:p>
            <a:pPr algn="ctr"/>
            <a:r>
              <a:rPr lang="en-US" sz="2200" dirty="0">
                <a:solidFill>
                  <a:srgbClr val="000000">
                    <a:alpha val="100000"/>
                  </a:srgbClr>
                </a:solidFill>
                <a:latin typeface="Montserrat Medium" pitchFamily="34" charset="0"/>
                <a:ea typeface="Montserrat Medium" pitchFamily="34" charset="-122"/>
                <a:cs typeface="Montserrat Medium" pitchFamily="34" charset="-120"/>
              </a:rPr>
              <a:t>Our business model is developed keeping in mind the </a:t>
            </a:r>
            <a:pPr algn="ctr"/>
            <a:r>
              <a:rPr lang="en-US" sz="2200" dirty="0">
                <a:solidFill>
                  <a:srgbClr val="B62D27">
                    <a:alpha val="100000"/>
                  </a:srgbClr>
                </a:solidFill>
                <a:latin typeface="Montserrat Bold" pitchFamily="34" charset="0"/>
                <a:ea typeface="Montserrat Bold" pitchFamily="34" charset="-122"/>
                <a:cs typeface="Montserrat Bold" pitchFamily="34" charset="-120"/>
              </a:rPr>
              <a:t>social obligation</a:t>
            </a:r>
            <a:pPr algn="ctr"/>
            <a:r>
              <a:rPr lang="en-US" sz="2200" dirty="0">
                <a:solidFill>
                  <a:srgbClr val="000000">
                    <a:alpha val="100000"/>
                  </a:srgbClr>
                </a:solidFill>
                <a:latin typeface="Montserrat Medium" pitchFamily="34" charset="0"/>
                <a:ea typeface="Montserrat Medium" pitchFamily="34" charset="-122"/>
                <a:cs typeface="Montserrat Medium" pitchFamily="34" charset="-120"/>
              </a:rPr>
              <a:t> to protect the talented sholapith artisans in India. We provide gainful employment to these marginalized craftsmen.</a:t>
            </a:r>
            <a:endParaRPr lang="en-US" sz="2195" dirty="0"/>
          </a:p>
        </p:txBody>
      </p:sp>
      <p:sp>
        <p:nvSpPr>
          <p:cNvPr id="24" name="Text 11"/>
          <p:cNvSpPr/>
          <p:nvPr/>
        </p:nvSpPr>
        <p:spPr>
          <a:xfrm>
            <a:off x="17011760" y="10870034"/>
            <a:ext cx="5948375" cy="2251690"/>
          </a:xfrm>
          <a:prstGeom prst="rect">
            <a:avLst/>
          </a:prstGeom>
          <a:noFill/>
          <a:ln/>
        </p:spPr>
        <p:txBody>
          <a:bodyPr wrap="square" lIns="0" tIns="0" rIns="0" bIns="0" rtlCol="0" anchor="t"/>
          <a:lstStyle/>
          <a:p>
            <a:pPr algn="ctr"/>
            <a:r>
              <a:rPr lang="en-US" sz="2200" dirty="0">
                <a:solidFill>
                  <a:srgbClr val="000000">
                    <a:alpha val="100000"/>
                  </a:srgbClr>
                </a:solidFill>
                <a:latin typeface="Montserrat Medium" pitchFamily="34" charset="0"/>
                <a:ea typeface="Montserrat Medium" pitchFamily="34" charset="-122"/>
                <a:cs typeface="Montserrat Medium" pitchFamily="34" charset="-120"/>
              </a:rPr>
              <a:t>Sholapith is </a:t>
            </a:r>
            <a:pPr algn="ctr"/>
            <a:r>
              <a:rPr lang="en-US" sz="2200" dirty="0">
                <a:solidFill>
                  <a:srgbClr val="B62D27">
                    <a:alpha val="100000"/>
                  </a:srgbClr>
                </a:solidFill>
                <a:latin typeface="Montserrat Bold" pitchFamily="34" charset="0"/>
                <a:ea typeface="Montserrat Bold" pitchFamily="34" charset="-122"/>
                <a:cs typeface="Montserrat Bold" pitchFamily="34" charset="-120"/>
              </a:rPr>
              <a:t>much cheaper</a:t>
            </a:r>
            <a:pPr algn="ctr"/>
            <a:r>
              <a:rPr lang="en-US" sz="2200" dirty="0">
                <a:solidFill>
                  <a:srgbClr val="000000">
                    <a:alpha val="100000"/>
                  </a:srgbClr>
                </a:solidFill>
                <a:latin typeface="Montserrat Medium" pitchFamily="34" charset="0"/>
                <a:ea typeface="Montserrat Medium" pitchFamily="34" charset="-122"/>
                <a:cs typeface="Montserrat Medium" pitchFamily="34" charset="-120"/>
              </a:rPr>
              <a:t> than the harmful styrofoam and thermocol packaging material. In addition to this, use of sustainable material will help companies </a:t>
            </a:r>
            <a:pPr algn="ctr"/>
            <a:r>
              <a:rPr lang="en-US" sz="2200" dirty="0">
                <a:solidFill>
                  <a:srgbClr val="B62D27">
                    <a:alpha val="100000"/>
                  </a:srgbClr>
                </a:solidFill>
                <a:latin typeface="Montserrat Bold" pitchFamily="34" charset="0"/>
                <a:ea typeface="Montserrat Bold" pitchFamily="34" charset="-122"/>
                <a:cs typeface="Montserrat Bold" pitchFamily="34" charset="-120"/>
              </a:rPr>
              <a:t>boost brand image</a:t>
            </a:r>
            <a:endParaRPr lang="en-US" sz="2195" dirty="0"/>
          </a:p>
        </p:txBody>
      </p:sp>
      <p:pic>
        <p:nvPicPr>
          <p:cNvPr id="25" name="Image 11" descr="preencoded.png">    </p:cNvPr>
          <p:cNvPicPr>
            <a:picLocks noChangeAspect="1"/>
          </p:cNvPicPr>
          <p:nvPr/>
        </p:nvPicPr>
        <p:blipFill>
          <a:blip r:embed="rId12"/>
          <a:stretch>
            <a:fillRect/>
          </a:stretch>
        </p:blipFill>
        <p:spPr>
          <a:xfrm>
            <a:off x="5207638" y="7724089"/>
            <a:ext cx="4795885" cy="22080"/>
          </a:xfrm>
          <a:prstGeom prst="rect">
            <a:avLst/>
          </a:prstGeom>
        </p:spPr>
      </p:pic>
      <p:pic>
        <p:nvPicPr>
          <p:cNvPr id="26" name="Image 12" descr="preencoded.png">    </p:cNvPr>
          <p:cNvPicPr>
            <a:picLocks noChangeAspect="1"/>
          </p:cNvPicPr>
          <p:nvPr/>
        </p:nvPicPr>
        <p:blipFill>
          <a:blip r:embed="rId13"/>
          <a:stretch>
            <a:fillRect/>
          </a:stretch>
        </p:blipFill>
        <p:spPr>
          <a:xfrm>
            <a:off x="13235054" y="7739727"/>
            <a:ext cx="4902813" cy="19141"/>
          </a:xfrm>
          <a:prstGeom prst="rect">
            <a:avLst/>
          </a:prstGeom>
        </p:spPr>
      </p:pic>
      <p:pic>
        <p:nvPicPr>
          <p:cNvPr id="27" name="Image 13" descr="preencoded.png">    </p:cNvPr>
          <p:cNvPicPr>
            <a:picLocks noChangeAspect="1"/>
          </p:cNvPicPr>
          <p:nvPr/>
        </p:nvPicPr>
        <p:blipFill>
          <a:blip r:embed="rId14"/>
          <a:stretch>
            <a:fillRect/>
          </a:stretch>
        </p:blipFill>
        <p:spPr>
          <a:xfrm>
            <a:off x="2908664" y="6552497"/>
            <a:ext cx="1299376" cy="1298619"/>
          </a:xfrm>
          <a:prstGeom prst="rect">
            <a:avLst/>
          </a:prstGeom>
        </p:spPr>
      </p:pic>
      <p:pic>
        <p:nvPicPr>
          <p:cNvPr id="28" name="Image 14" descr="preencoded.png">    </p:cNvPr>
          <p:cNvPicPr>
            <a:picLocks noChangeAspect="1"/>
          </p:cNvPicPr>
          <p:nvPr/>
        </p:nvPicPr>
        <p:blipFill>
          <a:blip r:embed="rId15"/>
          <a:stretch>
            <a:fillRect/>
          </a:stretch>
        </p:blipFill>
        <p:spPr>
          <a:xfrm>
            <a:off x="10999575" y="6552497"/>
            <a:ext cx="1298923" cy="1298619"/>
          </a:xfrm>
          <a:prstGeom prst="rect">
            <a:avLst/>
          </a:prstGeom>
        </p:spPr>
      </p:pic>
      <p:pic>
        <p:nvPicPr>
          <p:cNvPr id="29" name="Image 15" descr="preencoded.png">    </p:cNvPr>
          <p:cNvPicPr>
            <a:picLocks noChangeAspect="1"/>
          </p:cNvPicPr>
          <p:nvPr/>
        </p:nvPicPr>
        <p:blipFill>
          <a:blip r:embed="rId16"/>
          <a:stretch>
            <a:fillRect/>
          </a:stretch>
        </p:blipFill>
        <p:spPr>
          <a:xfrm>
            <a:off x="19293711" y="6666785"/>
            <a:ext cx="1079635" cy="1180973"/>
          </a:xfrm>
          <a:prstGeom prst="rect">
            <a:avLst/>
          </a:prstGeom>
        </p:spPr>
      </p:pic>
      <p:pic>
        <p:nvPicPr>
          <p:cNvPr id="30" name="Image 16" descr="preencoded.png">    </p:cNvPr>
          <p:cNvPicPr>
            <a:picLocks noChangeAspect="1"/>
          </p:cNvPicPr>
          <p:nvPr/>
        </p:nvPicPr>
        <p:blipFill>
          <a:blip r:embed="rId17"/>
          <a:stretch>
            <a:fillRect/>
          </a:stretch>
        </p:blipFill>
        <p:spPr>
          <a:xfrm>
            <a:off x="22977172" y="0"/>
            <a:ext cx="1409876" cy="167622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74797" y="215877"/>
            <a:ext cx="8116314" cy="1841303"/>
          </a:xfrm>
          <a:prstGeom prst="rect">
            <a:avLst/>
          </a:prstGeom>
        </p:spPr>
      </p:pic>
      <p:pic>
        <p:nvPicPr>
          <p:cNvPr id="3" name="Image 1" descr="preencoded.png">    </p:cNvPr>
          <p:cNvPicPr>
            <a:picLocks noChangeAspect="1"/>
          </p:cNvPicPr>
          <p:nvPr/>
        </p:nvPicPr>
        <p:blipFill>
          <a:blip r:embed="rId2"/>
          <a:stretch>
            <a:fillRect/>
          </a:stretch>
        </p:blipFill>
        <p:spPr>
          <a:xfrm>
            <a:off x="1249835" y="884460"/>
            <a:ext cx="5892141" cy="604455"/>
          </a:xfrm>
          <a:prstGeom prst="rect">
            <a:avLst/>
          </a:prstGeom>
        </p:spPr>
      </p:pic>
      <p:pic>
        <p:nvPicPr>
          <p:cNvPr id="4" name="Image 2" descr="preencoded.png">    </p:cNvPr>
          <p:cNvPicPr>
            <a:picLocks noChangeAspect="1"/>
          </p:cNvPicPr>
          <p:nvPr/>
        </p:nvPicPr>
        <p:blipFill>
          <a:blip r:embed="rId3"/>
          <a:stretch>
            <a:fillRect/>
          </a:stretch>
        </p:blipFill>
        <p:spPr>
          <a:xfrm>
            <a:off x="9297562" y="1104782"/>
            <a:ext cx="5791924" cy="38096"/>
          </a:xfrm>
          <a:prstGeom prst="rect">
            <a:avLst/>
          </a:prstGeom>
        </p:spPr>
      </p:pic>
      <p:sp>
        <p:nvSpPr>
          <p:cNvPr id="5" name="Text 0"/>
          <p:cNvSpPr/>
          <p:nvPr/>
        </p:nvSpPr>
        <p:spPr>
          <a:xfrm>
            <a:off x="1498787" y="2768303"/>
            <a:ext cx="13730416" cy="4342934"/>
          </a:xfrm>
          <a:prstGeom prst="rect">
            <a:avLst/>
          </a:prstGeom>
          <a:noFill/>
          <a:ln/>
        </p:spPr>
        <p:txBody>
          <a:bodyPr wrap="square" lIns="0" tIns="0" rIns="0" bIns="0" rtlCol="0" anchor="t"/>
          <a:lstStyle/>
          <a:p>
            <a:pPr algn="l"/>
            <a:endParaRPr lang="en-US" dirty="0"/>
          </a:p>
        </p:txBody>
      </p:sp>
      <p:sp>
        <p:nvSpPr>
          <p:cNvPr id="6" name="Text 1"/>
          <p:cNvSpPr/>
          <p:nvPr/>
        </p:nvSpPr>
        <p:spPr>
          <a:xfrm>
            <a:off x="774797" y="2768303"/>
            <a:ext cx="23053381" cy="3415934"/>
          </a:xfrm>
          <a:prstGeom prst="rect">
            <a:avLst/>
          </a:prstGeom>
          <a:noFill/>
          <a:ln/>
        </p:spPr>
        <p:txBody>
          <a:bodyPr wrap="square" lIns="0" tIns="0" rIns="0" bIns="0" rtlCol="0" anchor="t"/>
          <a:lstStyle/>
          <a:p>
            <a:pPr algn="l"/>
            <a:r>
              <a:rPr lang="en-US" sz="2400" dirty="0">
                <a:solidFill>
                  <a:srgbClr val="B62D27">
                    <a:alpha val="100000"/>
                  </a:srgbClr>
                </a:solidFill>
                <a:latin typeface="Montserrat Medium Italic" pitchFamily="34" charset="0"/>
                <a:ea typeface="Montserrat Medium Italic" pitchFamily="34" charset="-122"/>
                <a:cs typeface="Montserrat Medium Italic" pitchFamily="34" charset="-120"/>
              </a:rPr>
              <a:t>Sholapith</a:t>
            </a:r>
            <a:pPr algn="l"/>
            <a:r>
              <a:rPr lang="en-US" sz="2400" dirty="0">
                <a:solidFill>
                  <a:srgbClr val="000000">
                    <a:alpha val="100000"/>
                  </a:srgbClr>
                </a:solidFill>
                <a:latin typeface="Montserrat Medium" pitchFamily="34" charset="0"/>
                <a:ea typeface="Montserrat Medium" pitchFamily="34" charset="-122"/>
                <a:cs typeface="Montserrat Medium" pitchFamily="34" charset="-120"/>
              </a:rPr>
              <a:t> or </a:t>
            </a:r>
            <a:pPr algn="l"/>
            <a:r>
              <a:rPr lang="en-US" sz="2400" dirty="0">
                <a:solidFill>
                  <a:srgbClr val="B62D27">
                    <a:alpha val="100000"/>
                  </a:srgbClr>
                </a:solidFill>
                <a:latin typeface="Montserrat Medium Italic" pitchFamily="34" charset="0"/>
                <a:ea typeface="Montserrat Medium Italic" pitchFamily="34" charset="-122"/>
                <a:cs typeface="Montserrat Medium Italic" pitchFamily="34" charset="-120"/>
              </a:rPr>
              <a:t>Aeschynomene aspera</a:t>
            </a:r>
            <a:pPr algn="l"/>
            <a:r>
              <a:rPr lang="en-US" sz="2400" dirty="0">
                <a:solidFill>
                  <a:srgbClr val="000000">
                    <a:alpha val="100000"/>
                  </a:srgbClr>
                </a:solidFill>
                <a:latin typeface="Montserrat Medium Italic" pitchFamily="34" charset="0"/>
                <a:ea typeface="Montserrat Medium Italic" pitchFamily="34" charset="-122"/>
                <a:cs typeface="Montserrat Medium Italic" pitchFamily="34" charset="-120"/>
              </a:rPr>
              <a:t> </a:t>
            </a:r>
            <a:pPr algn="l"/>
            <a:r>
              <a:rPr lang="en-US" sz="2400" dirty="0">
                <a:solidFill>
                  <a:srgbClr val="000000">
                    <a:alpha val="100000"/>
                  </a:srgbClr>
                </a:solidFill>
                <a:latin typeface="Montserrat Medium" pitchFamily="34" charset="0"/>
                <a:ea typeface="Montserrat Medium" pitchFamily="34" charset="-122"/>
                <a:cs typeface="Montserrat Medium" pitchFamily="34" charset="-120"/>
              </a:rPr>
              <a:t>is a milky-white spongey stem-plant found in abundance in wet marshy waterlogged areas in states such as Chhatisgarh, West Bengal and various areas in South India. </a:t>
            </a:r>
            <a:endParaRPr lang="en-US" sz="2400" dirty="0"/>
          </a:p>
          <a:p>
            <a:pPr algn="l"/>
            <a:r>
              <a:rPr lang="en-US" sz="2400" dirty="0">
                <a:solidFill>
                  <a:srgbClr val="000000">
                    <a:alpha val="100000"/>
                  </a:srgbClr>
                </a:solidFill>
                <a:latin typeface="Montserrat Medium" pitchFamily="34" charset="0"/>
                <a:ea typeface="Montserrat Medium" pitchFamily="34" charset="-122"/>
                <a:cs typeface="Montserrat Medium" pitchFamily="34" charset="-120"/>
              </a:rPr>
              <a:t> </a:t>
            </a:r>
            <a:endParaRPr lang="en-US" sz="2400" dirty="0"/>
          </a:p>
          <a:p>
            <a:pPr algn="l"/>
            <a:r>
              <a:rPr lang="en-US" sz="2400" dirty="0">
                <a:solidFill>
                  <a:srgbClr val="000000">
                    <a:alpha val="100000"/>
                  </a:srgbClr>
                </a:solidFill>
                <a:latin typeface="Montserrat Medium" pitchFamily="34" charset="0"/>
                <a:ea typeface="Montserrat Medium" pitchFamily="34" charset="-122"/>
                <a:cs typeface="Montserrat Medium" pitchFamily="34" charset="-120"/>
              </a:rPr>
              <a:t>Once dried, this stem can be cut up into small pellets and has the same, or superior malleability, texture, durability and sponginess when compared to thermocol. This product is an alternative to the existing bio-degradable packaging peanuts made of wheat and starch as well, and is better in terms of how light it is. Further, sholapith also does not dissolve in water as the other biodegradable packing peanuts do, thus making it ideal for transporting heat sensitive materials to account for dampness and spillage. Shola has heat insulating properties as well.</a:t>
            </a:r>
            <a:endParaRPr lang="en-US" sz="2400" dirty="0"/>
          </a:p>
          <a:p>
            <a:pPr algn="l"/>
            <a:r>
              <a:rPr lang="en-US" sz="2400" dirty="0">
                <a:solidFill>
                  <a:srgbClr val="000000">
                    <a:alpha val="100000"/>
                  </a:srgbClr>
                </a:solidFill>
                <a:latin typeface="Montserrat Medium" pitchFamily="34" charset="0"/>
                <a:ea typeface="Montserrat Medium" pitchFamily="34" charset="-122"/>
                <a:cs typeface="Montserrat Medium" pitchFamily="34" charset="-120"/>
              </a:rPr>
              <a:t> </a:t>
            </a:r>
            <a:endParaRPr lang="en-US" sz="2400" dirty="0"/>
          </a:p>
          <a:p>
            <a:pPr algn="l"/>
            <a:r>
              <a:rPr lang="en-US" sz="2400" dirty="0">
                <a:solidFill>
                  <a:srgbClr val="000000">
                    <a:alpha val="100000"/>
                  </a:srgbClr>
                </a:solidFill>
                <a:latin typeface="Montserrat Bold" pitchFamily="34" charset="0"/>
                <a:ea typeface="Montserrat Bold" pitchFamily="34" charset="-122"/>
                <a:cs typeface="Montserrat Bold" pitchFamily="34" charset="-120"/>
              </a:rPr>
              <a:t>Our business idea harnesses the eco-friendly sholapith and </a:t>
            </a:r>
            <a:pPr algn="l"/>
            <a:r>
              <a:rPr lang="en-US" sz="2400" dirty="0">
                <a:solidFill>
                  <a:srgbClr val="B62D27">
                    <a:alpha val="100000"/>
                  </a:srgbClr>
                </a:solidFill>
                <a:latin typeface="Montserrat Bold" pitchFamily="34" charset="0"/>
                <a:ea typeface="Montserrat Bold" pitchFamily="34" charset="-122"/>
                <a:cs typeface="Montserrat Bold" pitchFamily="34" charset="-120"/>
              </a:rPr>
              <a:t>makes various packaging compenents</a:t>
            </a:r>
            <a:pPr algn="l"/>
            <a:r>
              <a:rPr lang="en-US" sz="2400" dirty="0">
                <a:solidFill>
                  <a:srgbClr val="000000">
                    <a:alpha val="100000"/>
                  </a:srgbClr>
                </a:solidFill>
                <a:latin typeface="Montserrat Bold" pitchFamily="34" charset="0"/>
                <a:ea typeface="Montserrat Bold" pitchFamily="34" charset="-122"/>
                <a:cs typeface="Montserrat Bold" pitchFamily="34" charset="-120"/>
              </a:rPr>
              <a:t>- filler peanuts, bracers, insulation boxes. </a:t>
            </a:r>
            <a:endParaRPr lang="en-US" sz="2400" dirty="0"/>
          </a:p>
        </p:txBody>
      </p:sp>
      <p:sp>
        <p:nvSpPr>
          <p:cNvPr id="7" name="Text 2"/>
          <p:cNvSpPr/>
          <p:nvPr/>
        </p:nvSpPr>
        <p:spPr>
          <a:xfrm>
            <a:off x="774797" y="8304909"/>
            <a:ext cx="22685035" cy="1942892"/>
          </a:xfrm>
          <a:prstGeom prst="rect">
            <a:avLst/>
          </a:prstGeom>
          <a:noFill/>
          <a:ln/>
        </p:spPr>
        <p:txBody>
          <a:bodyPr wrap="square" lIns="0" tIns="0" rIns="0" bIns="0" rtlCol="0" anchor="t"/>
          <a:lstStyle/>
          <a:p>
            <a:pPr algn="l"/>
            <a:r>
              <a:rPr lang="en-US" sz="2400" dirty="0">
                <a:solidFill>
                  <a:srgbClr val="000000">
                    <a:alpha val="100000"/>
                  </a:srgbClr>
                </a:solidFill>
                <a:latin typeface="Montserrat Medium" pitchFamily="34" charset="0"/>
                <a:ea typeface="Montserrat Medium" pitchFamily="34" charset="-122"/>
                <a:cs typeface="Montserrat Medium" pitchFamily="34" charset="-120"/>
              </a:rPr>
              <a:t>Through the manufacturing stages of our product, we not only </a:t>
            </a:r>
            <a:pPr algn="l"/>
            <a:r>
              <a:rPr lang="en-US" sz="2400" dirty="0">
                <a:solidFill>
                  <a:srgbClr val="B62D27">
                    <a:alpha val="100000"/>
                  </a:srgbClr>
                </a:solidFill>
                <a:latin typeface="Montserrat Medium Italic" pitchFamily="34" charset="0"/>
                <a:ea typeface="Montserrat Medium Italic" pitchFamily="34" charset="-122"/>
                <a:cs typeface="Montserrat Medium Italic" pitchFamily="34" charset="-120"/>
              </a:rPr>
              <a:t>reduce the waste generated </a:t>
            </a:r>
            <a:pPr algn="l"/>
            <a:r>
              <a:rPr lang="en-US" sz="2400" dirty="0">
                <a:solidFill>
                  <a:srgbClr val="000000">
                    <a:alpha val="100000"/>
                  </a:srgbClr>
                </a:solidFill>
                <a:latin typeface="Montserrat Medium Italic" pitchFamily="34" charset="0"/>
                <a:ea typeface="Montserrat Medium Italic" pitchFamily="34" charset="-122"/>
                <a:cs typeface="Montserrat Medium Italic" pitchFamily="34" charset="-120"/>
              </a:rPr>
              <a:t>by the usage of styrofoam/thermocol in packaging</a:t>
            </a:r>
            <a:pPr algn="l"/>
            <a:r>
              <a:rPr lang="en-US" sz="2400" dirty="0">
                <a:solidFill>
                  <a:srgbClr val="000000">
                    <a:alpha val="100000"/>
                  </a:srgbClr>
                </a:solidFill>
                <a:latin typeface="Montserrat Medium" pitchFamily="34" charset="0"/>
                <a:ea typeface="Montserrat Medium" pitchFamily="34" charset="-122"/>
                <a:cs typeface="Montserrat Medium" pitchFamily="34" charset="-120"/>
              </a:rPr>
              <a:t>, but we also </a:t>
            </a:r>
            <a:pPr algn="l"/>
            <a:r>
              <a:rPr lang="en-US" sz="2400" dirty="0">
                <a:solidFill>
                  <a:srgbClr val="B62D27">
                    <a:alpha val="100000"/>
                  </a:srgbClr>
                </a:solidFill>
                <a:latin typeface="Montserrat Medium Italic" pitchFamily="34" charset="0"/>
                <a:ea typeface="Montserrat Medium Italic" pitchFamily="34" charset="-122"/>
                <a:cs typeface="Montserrat Medium Italic" pitchFamily="34" charset="-120"/>
              </a:rPr>
              <a:t>ensure soil fertility</a:t>
            </a:r>
            <a:pPr algn="l"/>
            <a:r>
              <a:rPr lang="en-US" sz="2400" dirty="0">
                <a:solidFill>
                  <a:srgbClr val="B62D27">
                    <a:alpha val="100000"/>
                  </a:srgbClr>
                </a:solidFill>
                <a:latin typeface="Montserrat Medium" pitchFamily="34" charset="0"/>
                <a:ea typeface="Montserrat Medium" pitchFamily="34" charset="-122"/>
                <a:cs typeface="Montserrat Medium" pitchFamily="34" charset="-120"/>
              </a:rPr>
              <a:t> </a:t>
            </a:r>
            <a:pPr algn="l"/>
            <a:r>
              <a:rPr lang="en-US" sz="2400" dirty="0">
                <a:solidFill>
                  <a:srgbClr val="000000">
                    <a:alpha val="100000"/>
                  </a:srgbClr>
                </a:solidFill>
                <a:latin typeface="Montserrat Medium" pitchFamily="34" charset="0"/>
                <a:ea typeface="Montserrat Medium" pitchFamily="34" charset="-122"/>
                <a:cs typeface="Montserrat Medium" pitchFamily="34" charset="-120"/>
              </a:rPr>
              <a:t>(Sholapith growth promotes the same) and </a:t>
            </a:r>
            <a:pPr algn="l"/>
            <a:r>
              <a:rPr lang="en-US" sz="2400" dirty="0">
                <a:solidFill>
                  <a:srgbClr val="B62D27">
                    <a:alpha val="100000"/>
                  </a:srgbClr>
                </a:solidFill>
                <a:latin typeface="Montserrat Medium Italic" pitchFamily="34" charset="0"/>
                <a:ea typeface="Montserrat Medium Italic" pitchFamily="34" charset="-122"/>
                <a:cs typeface="Montserrat Medium Italic" pitchFamily="34" charset="-120"/>
              </a:rPr>
              <a:t>provide employment</a:t>
            </a:r>
            <a:pPr algn="l"/>
            <a:r>
              <a:rPr lang="en-US" sz="2400" dirty="0">
                <a:solidFill>
                  <a:srgbClr val="000000">
                    <a:alpha val="100000"/>
                  </a:srgbClr>
                </a:solidFill>
                <a:latin typeface="Montserrat Medium Italic" pitchFamily="34" charset="0"/>
                <a:ea typeface="Montserrat Medium Italic" pitchFamily="34" charset="-122"/>
                <a:cs typeface="Montserrat Medium Italic" pitchFamily="34" charset="-120"/>
              </a:rPr>
              <a:t> to the Sholapith Craftsmen in our processing center.</a:t>
            </a:r>
            <a:endParaRPr lang="en-US" sz="2400" dirty="0"/>
          </a:p>
          <a:p>
            <a:pPr algn="l"/>
            <a:r>
              <a:rPr lang="en-US" sz="2400" dirty="0">
                <a:solidFill>
                  <a:srgbClr val="000000">
                    <a:alpha val="100000"/>
                  </a:srgbClr>
                </a:solidFill>
                <a:latin typeface="Montserrat Medium Italic" pitchFamily="34" charset="0"/>
                <a:ea typeface="Montserrat Medium Italic" pitchFamily="34" charset="-122"/>
                <a:cs typeface="Montserrat Medium Italic" pitchFamily="34" charset="-120"/>
              </a:rPr>
              <a:t> </a:t>
            </a:r>
            <a:endParaRPr lang="en-US" sz="2400" dirty="0"/>
          </a:p>
          <a:p>
            <a:pPr algn="l"/>
            <a:r>
              <a:rPr lang="en-US" sz="2400" dirty="0">
                <a:solidFill>
                  <a:srgbClr val="000000">
                    <a:alpha val="100000"/>
                  </a:srgbClr>
                </a:solidFill>
                <a:latin typeface="Montserrat Medium" pitchFamily="34" charset="0"/>
                <a:ea typeface="Montserrat Medium" pitchFamily="34" charset="-122"/>
                <a:cs typeface="Montserrat Medium" pitchFamily="34" charset="-120"/>
              </a:rPr>
              <a:t>Our Production Run looks like:</a:t>
            </a:r>
            <a:endParaRPr lang="en-US" sz="2400" dirty="0"/>
          </a:p>
        </p:txBody>
      </p:sp>
      <p:sp>
        <p:nvSpPr>
          <p:cNvPr id="8" name="Text 3"/>
          <p:cNvSpPr/>
          <p:nvPr/>
        </p:nvSpPr>
        <p:spPr>
          <a:xfrm>
            <a:off x="774797" y="6768374"/>
            <a:ext cx="5060725" cy="1034081"/>
          </a:xfrm>
          <a:prstGeom prst="rect">
            <a:avLst/>
          </a:prstGeom>
          <a:noFill/>
          <a:ln/>
        </p:spPr>
        <p:txBody>
          <a:bodyPr wrap="square" lIns="0" tIns="0" rIns="0" bIns="0" rtlCol="0" anchor="t"/>
          <a:lstStyle/>
          <a:p>
            <a:pPr algn="l"/>
            <a:r>
              <a:rPr lang="en-US" sz="4300" dirty="0">
                <a:solidFill>
                  <a:srgbClr val="000000">
                    <a:alpha val="100000"/>
                  </a:srgbClr>
                </a:solidFill>
                <a:latin typeface="TeX Gyre Adventor Bold" pitchFamily="34" charset="0"/>
                <a:ea typeface="TeX Gyre Adventor Bold" pitchFamily="34" charset="-122"/>
                <a:cs typeface="TeX Gyre Adventor Bold" pitchFamily="34" charset="-120"/>
              </a:rPr>
              <a:t>The Social Aspect:</a:t>
            </a:r>
            <a:endParaRPr lang="en-US" sz="4330" dirty="0"/>
          </a:p>
        </p:txBody>
      </p:sp>
      <p:pic>
        <p:nvPicPr>
          <p:cNvPr id="9" name="Image 3" descr="preencoded.png">    </p:cNvPr>
          <p:cNvPicPr>
            <a:picLocks noChangeAspect="1"/>
          </p:cNvPicPr>
          <p:nvPr/>
        </p:nvPicPr>
        <p:blipFill>
          <a:blip r:embed="rId4"/>
          <a:stretch>
            <a:fillRect/>
          </a:stretch>
        </p:blipFill>
        <p:spPr>
          <a:xfrm>
            <a:off x="4267733" y="12059260"/>
            <a:ext cx="16969321" cy="85083"/>
          </a:xfrm>
          <a:prstGeom prst="rect">
            <a:avLst/>
          </a:prstGeom>
        </p:spPr>
      </p:pic>
      <p:sp>
        <p:nvSpPr>
          <p:cNvPr id="10" name="Shape 4"/>
          <p:cNvSpPr/>
          <p:nvPr/>
        </p:nvSpPr>
        <p:spPr>
          <a:xfrm>
            <a:off x="1016127" y="11058480"/>
            <a:ext cx="3170194" cy="2084610"/>
          </a:xfrm>
          <a:prstGeom prst="roundRect">
            <a:avLst>
              <a:gd name="adj" fmla="val 3071"/>
            </a:avLst>
          </a:prstGeom>
          <a:solidFill>
            <a:srgbClr val="F2F2F2">
              <a:alpha val="100000"/>
            </a:srgbClr>
          </a:solidFill>
          <a:ln w="101600">
            <a:solidFill>
              <a:srgbClr val="B62D27"/>
            </a:solidFill>
            <a:prstDash val="solid"/>
          </a:ln>
        </p:spPr>
      </p:sp>
      <p:sp>
        <p:nvSpPr>
          <p:cNvPr id="11" name="Text 5"/>
          <p:cNvSpPr/>
          <p:nvPr/>
        </p:nvSpPr>
        <p:spPr>
          <a:xfrm>
            <a:off x="1143782" y="11590266"/>
            <a:ext cx="3075910" cy="1183099"/>
          </a:xfrm>
          <a:prstGeom prst="rect">
            <a:avLst/>
          </a:prstGeom>
          <a:noFill/>
          <a:ln/>
        </p:spPr>
        <p:txBody>
          <a:bodyPr wrap="square" lIns="0" tIns="0" rIns="0" bIns="0" rtlCol="0" anchor="t"/>
          <a:lstStyle/>
          <a:p>
            <a:pPr algn="l"/>
            <a:r>
              <a:rPr lang="en-US" sz="3400" dirty="0">
                <a:solidFill>
                  <a:srgbClr val="000000">
                    <a:alpha val="100000"/>
                  </a:srgbClr>
                </a:solidFill>
                <a:latin typeface="Montserrat SemiBold" pitchFamily="34" charset="0"/>
                <a:ea typeface="Montserrat SemiBold" pitchFamily="34" charset="-122"/>
                <a:cs typeface="Montserrat SemiBold" pitchFamily="34" charset="-120"/>
              </a:rPr>
              <a:t>Collection of </a:t>
            </a:r>
            <a:endParaRPr lang="en-US" sz="3350" dirty="0"/>
          </a:p>
          <a:p>
            <a:pPr algn="l"/>
            <a:r>
              <a:rPr lang="en-US" sz="3400" dirty="0">
                <a:solidFill>
                  <a:srgbClr val="000000">
                    <a:alpha val="100000"/>
                  </a:srgbClr>
                </a:solidFill>
                <a:latin typeface="Montserrat SemiBold" pitchFamily="34" charset="0"/>
                <a:ea typeface="Montserrat SemiBold" pitchFamily="34" charset="-122"/>
                <a:cs typeface="Montserrat SemiBold" pitchFamily="34" charset="-120"/>
              </a:rPr>
              <a:t>the raw plant</a:t>
            </a:r>
            <a:endParaRPr lang="en-US" sz="3350" dirty="0"/>
          </a:p>
        </p:txBody>
      </p:sp>
      <p:sp>
        <p:nvSpPr>
          <p:cNvPr id="12" name="Shape 6"/>
          <p:cNvSpPr/>
          <p:nvPr/>
        </p:nvSpPr>
        <p:spPr>
          <a:xfrm>
            <a:off x="7412524" y="11058480"/>
            <a:ext cx="3170194" cy="2084610"/>
          </a:xfrm>
          <a:prstGeom prst="roundRect">
            <a:avLst>
              <a:gd name="adj" fmla="val 3071"/>
            </a:avLst>
          </a:prstGeom>
          <a:solidFill>
            <a:srgbClr val="F2F2F2">
              <a:alpha val="100000"/>
            </a:srgbClr>
          </a:solidFill>
          <a:ln w="101600">
            <a:solidFill>
              <a:srgbClr val="B62D27"/>
            </a:solidFill>
            <a:prstDash val="solid"/>
          </a:ln>
        </p:spPr>
      </p:sp>
      <p:sp>
        <p:nvSpPr>
          <p:cNvPr id="13" name="Text 7"/>
          <p:cNvSpPr/>
          <p:nvPr/>
        </p:nvSpPr>
        <p:spPr>
          <a:xfrm>
            <a:off x="7584222" y="11590266"/>
            <a:ext cx="2809177" cy="1183099"/>
          </a:xfrm>
          <a:prstGeom prst="rect">
            <a:avLst/>
          </a:prstGeom>
          <a:noFill/>
          <a:ln/>
        </p:spPr>
        <p:txBody>
          <a:bodyPr wrap="square" lIns="0" tIns="0" rIns="0" bIns="0" rtlCol="0" anchor="t"/>
          <a:lstStyle/>
          <a:p>
            <a:pPr algn="ctr"/>
            <a:r>
              <a:rPr lang="en-US" sz="3400" dirty="0">
                <a:solidFill>
                  <a:srgbClr val="000000">
                    <a:alpha val="100000"/>
                  </a:srgbClr>
                </a:solidFill>
                <a:latin typeface="Montserrat SemiBold" pitchFamily="34" charset="0"/>
                <a:ea typeface="Montserrat SemiBold" pitchFamily="34" charset="-122"/>
                <a:cs typeface="Montserrat SemiBold" pitchFamily="34" charset="-120"/>
              </a:rPr>
              <a:t>Extraction &amp;</a:t>
            </a:r>
            <a:endParaRPr lang="en-US" sz="3350" dirty="0"/>
          </a:p>
          <a:p>
            <a:pPr algn="ctr"/>
            <a:r>
              <a:rPr lang="en-US" sz="3400" dirty="0">
                <a:solidFill>
                  <a:srgbClr val="000000">
                    <a:alpha val="100000"/>
                  </a:srgbClr>
                </a:solidFill>
                <a:latin typeface="Montserrat SemiBold" pitchFamily="34" charset="0"/>
                <a:ea typeface="Montserrat SemiBold" pitchFamily="34" charset="-122"/>
                <a:cs typeface="Montserrat SemiBold" pitchFamily="34" charset="-120"/>
              </a:rPr>
              <a:t>Storage</a:t>
            </a:r>
            <a:endParaRPr lang="en-US" sz="3350" dirty="0"/>
          </a:p>
        </p:txBody>
      </p:sp>
      <p:sp>
        <p:nvSpPr>
          <p:cNvPr id="14" name="Shape 8"/>
          <p:cNvSpPr/>
          <p:nvPr/>
        </p:nvSpPr>
        <p:spPr>
          <a:xfrm>
            <a:off x="13808920" y="11058480"/>
            <a:ext cx="3170194" cy="2084610"/>
          </a:xfrm>
          <a:prstGeom prst="roundRect">
            <a:avLst>
              <a:gd name="adj" fmla="val 3071"/>
            </a:avLst>
          </a:prstGeom>
          <a:solidFill>
            <a:srgbClr val="F2F2F2">
              <a:alpha val="100000"/>
            </a:srgbClr>
          </a:solidFill>
          <a:ln w="101600">
            <a:solidFill>
              <a:srgbClr val="B62D27"/>
            </a:solidFill>
            <a:prstDash val="solid"/>
          </a:ln>
        </p:spPr>
      </p:sp>
      <p:sp>
        <p:nvSpPr>
          <p:cNvPr id="15" name="Text 9"/>
          <p:cNvSpPr/>
          <p:nvPr/>
        </p:nvSpPr>
        <p:spPr>
          <a:xfrm>
            <a:off x="13908211" y="11590266"/>
            <a:ext cx="3025104" cy="1183099"/>
          </a:xfrm>
          <a:prstGeom prst="rect">
            <a:avLst/>
          </a:prstGeom>
          <a:noFill/>
          <a:ln/>
        </p:spPr>
        <p:txBody>
          <a:bodyPr wrap="square" lIns="0" tIns="0" rIns="0" bIns="0" rtlCol="0" anchor="t"/>
          <a:lstStyle/>
          <a:p>
            <a:pPr algn="ctr"/>
            <a:r>
              <a:rPr lang="en-US" sz="3400" dirty="0">
                <a:solidFill>
                  <a:srgbClr val="000000">
                    <a:alpha val="100000"/>
                  </a:srgbClr>
                </a:solidFill>
                <a:latin typeface="Montserrat SemiBold" pitchFamily="34" charset="0"/>
                <a:ea typeface="Montserrat SemiBold" pitchFamily="34" charset="-122"/>
                <a:cs typeface="Montserrat SemiBold" pitchFamily="34" charset="-120"/>
              </a:rPr>
              <a:t>Conversion &amp;</a:t>
            </a:r>
            <a:endParaRPr lang="en-US" sz="3350" dirty="0"/>
          </a:p>
          <a:p>
            <a:pPr algn="ctr"/>
            <a:r>
              <a:rPr lang="en-US" sz="3400" dirty="0">
                <a:solidFill>
                  <a:srgbClr val="000000">
                    <a:alpha val="100000"/>
                  </a:srgbClr>
                </a:solidFill>
                <a:latin typeface="Montserrat SemiBold" pitchFamily="34" charset="0"/>
                <a:ea typeface="Montserrat SemiBold" pitchFamily="34" charset="-122"/>
                <a:cs typeface="Montserrat SemiBold" pitchFamily="34" charset="-120"/>
              </a:rPr>
              <a:t>Processing</a:t>
            </a:r>
            <a:endParaRPr lang="en-US" sz="3350" dirty="0"/>
          </a:p>
        </p:txBody>
      </p:sp>
      <p:sp>
        <p:nvSpPr>
          <p:cNvPr id="16" name="Shape 10"/>
          <p:cNvSpPr/>
          <p:nvPr/>
        </p:nvSpPr>
        <p:spPr>
          <a:xfrm>
            <a:off x="20205323" y="11058480"/>
            <a:ext cx="3170194" cy="2084610"/>
          </a:xfrm>
          <a:prstGeom prst="roundRect">
            <a:avLst>
              <a:gd name="adj" fmla="val 3071"/>
            </a:avLst>
          </a:prstGeom>
          <a:solidFill>
            <a:srgbClr val="F2F2F2">
              <a:alpha val="100000"/>
            </a:srgbClr>
          </a:solidFill>
          <a:ln w="101600">
            <a:solidFill>
              <a:srgbClr val="B62D27"/>
            </a:solidFill>
            <a:prstDash val="solid"/>
          </a:ln>
        </p:spPr>
      </p:sp>
      <p:sp>
        <p:nvSpPr>
          <p:cNvPr id="17" name="Text 11"/>
          <p:cNvSpPr/>
          <p:nvPr/>
        </p:nvSpPr>
        <p:spPr>
          <a:xfrm>
            <a:off x="20474814" y="11845526"/>
            <a:ext cx="2669459" cy="662454"/>
          </a:xfrm>
          <a:prstGeom prst="rect">
            <a:avLst/>
          </a:prstGeom>
          <a:noFill/>
          <a:ln/>
        </p:spPr>
        <p:txBody>
          <a:bodyPr wrap="square" lIns="0" tIns="0" rIns="0" bIns="0" rtlCol="0" anchor="t"/>
          <a:lstStyle/>
          <a:p>
            <a:pPr algn="ctr"/>
            <a:r>
              <a:rPr lang="en-US" sz="3400" dirty="0">
                <a:solidFill>
                  <a:srgbClr val="000000">
                    <a:alpha val="100000"/>
                  </a:srgbClr>
                </a:solidFill>
                <a:latin typeface="Montserrat SemiBold" pitchFamily="34" charset="0"/>
                <a:ea typeface="Montserrat SemiBold" pitchFamily="34" charset="-122"/>
                <a:cs typeface="Montserrat SemiBold" pitchFamily="34" charset="-120"/>
              </a:rPr>
              <a:t>Sale as B2B</a:t>
            </a:r>
            <a:endParaRPr lang="en-US" sz="3350" dirty="0"/>
          </a:p>
        </p:txBody>
      </p:sp>
      <p:pic>
        <p:nvPicPr>
          <p:cNvPr id="18" name="Image 4" descr="preencoded.png">    </p:cNvPr>
          <p:cNvPicPr>
            <a:picLocks noChangeAspect="1"/>
          </p:cNvPicPr>
          <p:nvPr/>
        </p:nvPicPr>
        <p:blipFill>
          <a:blip r:embed="rId5"/>
          <a:stretch>
            <a:fillRect/>
          </a:stretch>
        </p:blipFill>
        <p:spPr>
          <a:xfrm>
            <a:off x="22977172" y="0"/>
            <a:ext cx="1409876" cy="167622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74797" y="215877"/>
            <a:ext cx="11558445" cy="1841303"/>
          </a:xfrm>
          <a:prstGeom prst="rect">
            <a:avLst/>
          </a:prstGeom>
        </p:spPr>
      </p:pic>
      <p:pic>
        <p:nvPicPr>
          <p:cNvPr id="3" name="Image 1" descr="preencoded.png">    </p:cNvPr>
          <p:cNvPicPr>
            <a:picLocks noChangeAspect="1"/>
          </p:cNvPicPr>
          <p:nvPr/>
        </p:nvPicPr>
        <p:blipFill>
          <a:blip r:embed="rId2"/>
          <a:stretch>
            <a:fillRect/>
          </a:stretch>
        </p:blipFill>
        <p:spPr>
          <a:xfrm>
            <a:off x="1844943" y="5627292"/>
            <a:ext cx="3702438" cy="2307562"/>
          </a:xfrm>
          <a:prstGeom prst="rect">
            <a:avLst/>
          </a:prstGeom>
        </p:spPr>
      </p:pic>
      <p:pic>
        <p:nvPicPr>
          <p:cNvPr id="4" name="Image 2" descr="preencoded.png">    </p:cNvPr>
          <p:cNvPicPr>
            <a:picLocks noChangeAspect="1"/>
          </p:cNvPicPr>
          <p:nvPr/>
        </p:nvPicPr>
        <p:blipFill>
          <a:blip r:embed="rId3"/>
          <a:stretch>
            <a:fillRect/>
          </a:stretch>
        </p:blipFill>
        <p:spPr>
          <a:xfrm>
            <a:off x="5482633" y="5663593"/>
            <a:ext cx="85116" cy="2171467"/>
          </a:xfrm>
          <a:prstGeom prst="rect">
            <a:avLst/>
          </a:prstGeom>
        </p:spPr>
      </p:pic>
      <p:pic>
        <p:nvPicPr>
          <p:cNvPr id="5" name="Image 3" descr="preencoded.png">    </p:cNvPr>
          <p:cNvPicPr>
            <a:picLocks noChangeAspect="1"/>
          </p:cNvPicPr>
          <p:nvPr/>
        </p:nvPicPr>
        <p:blipFill>
          <a:blip r:embed="rId4"/>
          <a:stretch>
            <a:fillRect/>
          </a:stretch>
        </p:blipFill>
        <p:spPr>
          <a:xfrm>
            <a:off x="5502119" y="5627845"/>
            <a:ext cx="3412063" cy="2242961"/>
          </a:xfrm>
          <a:prstGeom prst="rect">
            <a:avLst/>
          </a:prstGeom>
        </p:spPr>
      </p:pic>
      <p:sp>
        <p:nvSpPr>
          <p:cNvPr id="6" name="Text 0"/>
          <p:cNvSpPr/>
          <p:nvPr/>
        </p:nvSpPr>
        <p:spPr>
          <a:xfrm>
            <a:off x="1168546" y="571439"/>
            <a:ext cx="9153611" cy="1189439"/>
          </a:xfrm>
          <a:prstGeom prst="rect">
            <a:avLst/>
          </a:prstGeom>
          <a:noFill/>
          <a:ln/>
        </p:spPr>
        <p:txBody>
          <a:bodyPr wrap="square" lIns="0" tIns="0" rIns="0" bIns="0" rtlCol="0" anchor="t"/>
          <a:lstStyle/>
          <a:p>
            <a:pPr algn="l"/>
            <a:r>
              <a:rPr lang="en-US" sz="5000" dirty="0">
                <a:solidFill>
                  <a:srgbClr val="FFFFFF">
                    <a:alpha val="100000"/>
                  </a:srgbClr>
                </a:solidFill>
                <a:latin typeface="TeX Gyre Adventor Bold" pitchFamily="34" charset="0"/>
                <a:ea typeface="TeX Gyre Adventor Bold" pitchFamily="34" charset="-122"/>
                <a:cs typeface="TeX Gyre Adventor Bold" pitchFamily="34" charset="-120"/>
              </a:rPr>
              <a:t>Market analysis and strategy</a:t>
            </a:r>
            <a:endParaRPr lang="en-US" sz="5000" dirty="0"/>
          </a:p>
        </p:txBody>
      </p:sp>
      <p:pic>
        <p:nvPicPr>
          <p:cNvPr id="7" name="Image 4" descr="preencoded.png">    </p:cNvPr>
          <p:cNvPicPr>
            <a:picLocks noChangeAspect="1"/>
          </p:cNvPicPr>
          <p:nvPr/>
        </p:nvPicPr>
        <p:blipFill>
          <a:blip r:embed="rId5"/>
          <a:stretch>
            <a:fillRect/>
          </a:stretch>
        </p:blipFill>
        <p:spPr>
          <a:xfrm>
            <a:off x="12866708" y="1282562"/>
            <a:ext cx="5791924" cy="38096"/>
          </a:xfrm>
          <a:prstGeom prst="rect">
            <a:avLst/>
          </a:prstGeom>
        </p:spPr>
      </p:pic>
      <p:sp>
        <p:nvSpPr>
          <p:cNvPr id="8" name="Text 1"/>
          <p:cNvSpPr/>
          <p:nvPr/>
        </p:nvSpPr>
        <p:spPr>
          <a:xfrm>
            <a:off x="774797" y="2450837"/>
            <a:ext cx="5886328" cy="1034081"/>
          </a:xfrm>
          <a:prstGeom prst="rect">
            <a:avLst/>
          </a:prstGeom>
          <a:noFill/>
          <a:ln/>
        </p:spPr>
        <p:txBody>
          <a:bodyPr wrap="square" lIns="0" tIns="0" rIns="0" bIns="0" rtlCol="0" anchor="t"/>
          <a:lstStyle/>
          <a:p>
            <a:pPr algn="l"/>
            <a:r>
              <a:rPr lang="en-US" sz="4300" dirty="0">
                <a:solidFill>
                  <a:srgbClr val="B62D27">
                    <a:alpha val="100000"/>
                  </a:srgbClr>
                </a:solidFill>
                <a:latin typeface="TeX Gyre Adventor Bold" pitchFamily="34" charset="0"/>
                <a:ea typeface="TeX Gyre Adventor Bold" pitchFamily="34" charset="-122"/>
                <a:cs typeface="TeX Gyre Adventor Bold" pitchFamily="34" charset="-120"/>
              </a:rPr>
              <a:t>Target Market Details:</a:t>
            </a:r>
            <a:endParaRPr lang="en-US" sz="4330" dirty="0"/>
          </a:p>
        </p:txBody>
      </p:sp>
      <p:sp>
        <p:nvSpPr>
          <p:cNvPr id="9" name="Text 2"/>
          <p:cNvSpPr/>
          <p:nvPr/>
        </p:nvSpPr>
        <p:spPr>
          <a:xfrm>
            <a:off x="11774372" y="2450837"/>
            <a:ext cx="6191166" cy="1034081"/>
          </a:xfrm>
          <a:prstGeom prst="rect">
            <a:avLst/>
          </a:prstGeom>
          <a:noFill/>
          <a:ln/>
        </p:spPr>
        <p:txBody>
          <a:bodyPr wrap="square" lIns="0" tIns="0" rIns="0" bIns="0" rtlCol="0" anchor="t"/>
          <a:lstStyle/>
          <a:p>
            <a:pPr algn="l"/>
            <a:r>
              <a:rPr lang="en-US" sz="4300" dirty="0">
                <a:solidFill>
                  <a:srgbClr val="B62D27">
                    <a:alpha val="100000"/>
                  </a:srgbClr>
                </a:solidFill>
                <a:latin typeface="TeX Gyre Adventor Bold" pitchFamily="34" charset="0"/>
                <a:ea typeface="TeX Gyre Adventor Bold" pitchFamily="34" charset="-122"/>
                <a:cs typeface="TeX Gyre Adventor Bold" pitchFamily="34" charset="-120"/>
              </a:rPr>
              <a:t>Go-To-Market Strategy</a:t>
            </a:r>
            <a:endParaRPr lang="en-US" sz="4330" dirty="0"/>
          </a:p>
        </p:txBody>
      </p:sp>
      <p:sp>
        <p:nvSpPr>
          <p:cNvPr id="10" name="Shape 3"/>
          <p:cNvSpPr/>
          <p:nvPr/>
        </p:nvSpPr>
        <p:spPr>
          <a:xfrm>
            <a:off x="774797" y="3961975"/>
            <a:ext cx="9488086" cy="2742906"/>
          </a:xfrm>
          <a:prstGeom prst="roundRect">
            <a:avLst>
              <a:gd name="adj" fmla="val 6334"/>
            </a:avLst>
          </a:prstGeom>
          <a:solidFill>
            <a:srgbClr val="B62D27">
              <a:alpha val="100000"/>
            </a:srgbClr>
          </a:solidFill>
          <a:ln/>
        </p:spPr>
      </p:sp>
      <p:sp>
        <p:nvSpPr>
          <p:cNvPr id="11" name="Shape 4"/>
          <p:cNvSpPr/>
          <p:nvPr/>
        </p:nvSpPr>
        <p:spPr>
          <a:xfrm>
            <a:off x="774797" y="3961975"/>
            <a:ext cx="2603825" cy="2742906"/>
          </a:xfrm>
          <a:prstGeom prst="roundRect">
            <a:avLst>
              <a:gd name="adj" fmla="val 6672"/>
            </a:avLst>
          </a:prstGeom>
          <a:solidFill>
            <a:srgbClr val="FFFFFF">
              <a:alpha val="100000"/>
            </a:srgbClr>
          </a:solidFill>
          <a:ln w="88900">
            <a:solidFill>
              <a:srgbClr val="C3C3C3"/>
            </a:solidFill>
            <a:prstDash val="solid"/>
          </a:ln>
        </p:spPr>
      </p:sp>
      <p:sp>
        <p:nvSpPr>
          <p:cNvPr id="12" name="Shape 5"/>
          <p:cNvSpPr/>
          <p:nvPr/>
        </p:nvSpPr>
        <p:spPr>
          <a:xfrm>
            <a:off x="774797" y="10743048"/>
            <a:ext cx="9488086" cy="2742906"/>
          </a:xfrm>
          <a:prstGeom prst="roundRect">
            <a:avLst>
              <a:gd name="adj" fmla="val 6334"/>
            </a:avLst>
          </a:prstGeom>
          <a:solidFill>
            <a:srgbClr val="B62D27">
              <a:alpha val="100000"/>
            </a:srgbClr>
          </a:solidFill>
          <a:ln/>
        </p:spPr>
      </p:sp>
      <p:sp>
        <p:nvSpPr>
          <p:cNvPr id="13" name="Shape 6"/>
          <p:cNvSpPr/>
          <p:nvPr/>
        </p:nvSpPr>
        <p:spPr>
          <a:xfrm>
            <a:off x="774797" y="7352511"/>
            <a:ext cx="2756244" cy="2742906"/>
          </a:xfrm>
          <a:prstGeom prst="roundRect">
            <a:avLst>
              <a:gd name="adj" fmla="val 6334"/>
            </a:avLst>
          </a:prstGeom>
          <a:solidFill>
            <a:srgbClr val="F2F2F2">
              <a:alpha val="100000"/>
            </a:srgbClr>
          </a:solidFill>
          <a:ln w="50800">
            <a:solidFill>
              <a:srgbClr val="B62D27"/>
            </a:solidFill>
            <a:prstDash val="solid"/>
          </a:ln>
        </p:spPr>
      </p:sp>
      <p:sp>
        <p:nvSpPr>
          <p:cNvPr id="14" name="Shape 7"/>
          <p:cNvSpPr/>
          <p:nvPr/>
        </p:nvSpPr>
        <p:spPr>
          <a:xfrm>
            <a:off x="4140718" y="7352511"/>
            <a:ext cx="2756244" cy="2742906"/>
          </a:xfrm>
          <a:prstGeom prst="roundRect">
            <a:avLst>
              <a:gd name="adj" fmla="val 6334"/>
            </a:avLst>
          </a:prstGeom>
          <a:solidFill>
            <a:srgbClr val="F2F2F2">
              <a:alpha val="100000"/>
            </a:srgbClr>
          </a:solidFill>
          <a:ln w="50800">
            <a:solidFill>
              <a:srgbClr val="B62D27"/>
            </a:solidFill>
            <a:prstDash val="solid"/>
          </a:ln>
        </p:spPr>
      </p:sp>
      <p:sp>
        <p:nvSpPr>
          <p:cNvPr id="15" name="Shape 8"/>
          <p:cNvSpPr/>
          <p:nvPr/>
        </p:nvSpPr>
        <p:spPr>
          <a:xfrm>
            <a:off x="7506638" y="7352511"/>
            <a:ext cx="2756244" cy="2742906"/>
          </a:xfrm>
          <a:prstGeom prst="roundRect">
            <a:avLst>
              <a:gd name="adj" fmla="val 6334"/>
            </a:avLst>
          </a:prstGeom>
          <a:solidFill>
            <a:srgbClr val="F2F2F2">
              <a:alpha val="100000"/>
            </a:srgbClr>
          </a:solidFill>
          <a:ln w="50800">
            <a:solidFill>
              <a:srgbClr val="B62D27"/>
            </a:solidFill>
            <a:prstDash val="solid"/>
          </a:ln>
        </p:spPr>
      </p:sp>
      <p:sp>
        <p:nvSpPr>
          <p:cNvPr id="16" name="Text 9"/>
          <p:cNvSpPr/>
          <p:nvPr/>
        </p:nvSpPr>
        <p:spPr>
          <a:xfrm>
            <a:off x="3632654" y="4127057"/>
            <a:ext cx="5514862" cy="776990"/>
          </a:xfrm>
          <a:prstGeom prst="rect">
            <a:avLst/>
          </a:prstGeom>
          <a:noFill/>
          <a:ln/>
        </p:spPr>
        <p:txBody>
          <a:bodyPr wrap="square" lIns="0" tIns="0" rIns="0" bIns="0" rtlCol="0" anchor="t"/>
          <a:lstStyle/>
          <a:p>
            <a:pPr algn="l"/>
            <a:r>
              <a:rPr lang="en-US" sz="3100" dirty="0">
                <a:solidFill>
                  <a:srgbClr val="FFFFFF">
                    <a:alpha val="100000"/>
                  </a:srgbClr>
                </a:solidFill>
                <a:latin typeface="TeX Gyre Adventor Bold" pitchFamily="34" charset="0"/>
                <a:ea typeface="TeX Gyre Adventor Bold" pitchFamily="34" charset="-122"/>
                <a:cs typeface="TeX Gyre Adventor Bold" pitchFamily="34" charset="-120"/>
              </a:rPr>
              <a:t>Main target market</a:t>
            </a:r>
            <a:endParaRPr lang="en-US" sz="3056" dirty="0"/>
          </a:p>
        </p:txBody>
      </p:sp>
      <p:sp>
        <p:nvSpPr>
          <p:cNvPr id="17" name="Text 10"/>
          <p:cNvSpPr/>
          <p:nvPr/>
        </p:nvSpPr>
        <p:spPr>
          <a:xfrm>
            <a:off x="4243717" y="7708073"/>
            <a:ext cx="2553587" cy="860734"/>
          </a:xfrm>
          <a:prstGeom prst="rect">
            <a:avLst/>
          </a:prstGeom>
          <a:noFill/>
          <a:ln/>
        </p:spPr>
        <p:txBody>
          <a:bodyPr wrap="square" lIns="0" tIns="0" rIns="0" bIns="0" rtlCol="0" anchor="t"/>
          <a:lstStyle/>
          <a:p>
            <a:pPr algn="ctr">
              <a:lnSpc>
                <a:spcPts val="3000"/>
              </a:lnSpc>
            </a:pPr>
            <a:r>
              <a:rPr lang="en-US" sz="2300" dirty="0">
                <a:solidFill>
                  <a:srgbClr val="303030">
                    <a:alpha val="100000"/>
                  </a:srgbClr>
                </a:solidFill>
                <a:latin typeface="TeX Gyre Adventor Bold" pitchFamily="34" charset="0"/>
                <a:ea typeface="TeX Gyre Adventor Bold" pitchFamily="34" charset="-122"/>
                <a:cs typeface="TeX Gyre Adventor Bold" pitchFamily="34" charset="-120"/>
              </a:rPr>
              <a:t>Food and beverage</a:t>
            </a:r>
            <a:endParaRPr lang="en-US" sz="2334" dirty="0"/>
          </a:p>
        </p:txBody>
      </p:sp>
      <p:sp>
        <p:nvSpPr>
          <p:cNvPr id="18" name="Text 11"/>
          <p:cNvSpPr/>
          <p:nvPr/>
        </p:nvSpPr>
        <p:spPr>
          <a:xfrm>
            <a:off x="7609638" y="7708073"/>
            <a:ext cx="2553587" cy="860734"/>
          </a:xfrm>
          <a:prstGeom prst="rect">
            <a:avLst/>
          </a:prstGeom>
          <a:noFill/>
          <a:ln/>
        </p:spPr>
        <p:txBody>
          <a:bodyPr wrap="square" lIns="0" tIns="0" rIns="0" bIns="0" rtlCol="0" anchor="t"/>
          <a:lstStyle/>
          <a:p>
            <a:pPr algn="ctr">
              <a:lnSpc>
                <a:spcPts val="3000"/>
              </a:lnSpc>
            </a:pPr>
            <a:r>
              <a:rPr lang="en-US" sz="2300" dirty="0">
                <a:solidFill>
                  <a:srgbClr val="303030">
                    <a:alpha val="100000"/>
                  </a:srgbClr>
                </a:solidFill>
                <a:latin typeface="TeX Gyre Adventor Bold" pitchFamily="34" charset="0"/>
                <a:ea typeface="TeX Gyre Adventor Bold" pitchFamily="34" charset="-122"/>
                <a:cs typeface="TeX Gyre Adventor Bold" pitchFamily="34" charset="-120"/>
              </a:rPr>
              <a:t>Healthcare sector</a:t>
            </a:r>
            <a:endParaRPr lang="en-US" sz="2334" dirty="0"/>
          </a:p>
        </p:txBody>
      </p:sp>
      <p:sp>
        <p:nvSpPr>
          <p:cNvPr id="19" name="Text 12"/>
          <p:cNvSpPr/>
          <p:nvPr/>
        </p:nvSpPr>
        <p:spPr>
          <a:xfrm>
            <a:off x="3632654" y="4977866"/>
            <a:ext cx="6444850" cy="1630569"/>
          </a:xfrm>
          <a:prstGeom prst="rect">
            <a:avLst/>
          </a:prstGeom>
          <a:noFill/>
          <a:ln/>
        </p:spPr>
        <p:txBody>
          <a:bodyPr wrap="square" lIns="0" tIns="0" rIns="0" bIns="0" rtlCol="0" anchor="t"/>
          <a:lstStyle/>
          <a:p>
            <a:pPr algn="l"/>
            <a:r>
              <a:rPr lang="en-US" sz="2200" dirty="0">
                <a:solidFill>
                  <a:srgbClr val="FFFFFF">
                    <a:alpha val="100000"/>
                  </a:srgbClr>
                </a:solidFill>
                <a:latin typeface="Montserrat SemiBold" pitchFamily="34" charset="0"/>
                <a:ea typeface="Montserrat SemiBold" pitchFamily="34" charset="-122"/>
                <a:cs typeface="Montserrat SemiBold" pitchFamily="34" charset="-120"/>
              </a:rPr>
              <a:t>Our focus target market is constituted of major manufacturing companies in industries that </a:t>
            </a:r>
            <a:pPr algn="l"/>
            <a:r>
              <a:rPr lang="en-US" sz="2200" dirty="0">
                <a:solidFill>
                  <a:srgbClr val="FFFFFF">
                    <a:alpha val="100000"/>
                  </a:srgbClr>
                </a:solidFill>
                <a:latin typeface="Montserrat Bold" pitchFamily="34" charset="0"/>
                <a:ea typeface="Montserrat Bold" pitchFamily="34" charset="-122"/>
                <a:cs typeface="Montserrat Bold" pitchFamily="34" charset="-120"/>
              </a:rPr>
              <a:t>require high amounts of packaging</a:t>
            </a:r>
            <a:pPr algn="l"/>
            <a:r>
              <a:rPr lang="en-US" sz="2200" dirty="0">
                <a:solidFill>
                  <a:srgbClr val="FFFFFF">
                    <a:alpha val="100000"/>
                  </a:srgbClr>
                </a:solidFill>
                <a:latin typeface="Montserrat SemiBold" pitchFamily="34" charset="0"/>
                <a:ea typeface="Montserrat SemiBold" pitchFamily="34" charset="-122"/>
                <a:cs typeface="Montserrat SemiBold" pitchFamily="34" charset="-120"/>
              </a:rPr>
              <a:t> for their products.</a:t>
            </a:r>
            <a:endParaRPr lang="en-US" sz="2222" dirty="0"/>
          </a:p>
        </p:txBody>
      </p:sp>
      <p:sp>
        <p:nvSpPr>
          <p:cNvPr id="20" name="Text 13"/>
          <p:cNvSpPr/>
          <p:nvPr/>
        </p:nvSpPr>
        <p:spPr>
          <a:xfrm>
            <a:off x="897579" y="8774759"/>
            <a:ext cx="2510680" cy="922768"/>
          </a:xfrm>
          <a:prstGeom prst="rect">
            <a:avLst/>
          </a:prstGeom>
          <a:noFill/>
          <a:ln/>
        </p:spPr>
        <p:txBody>
          <a:bodyPr wrap="square" lIns="0" tIns="0" rIns="0" bIns="0" rtlCol="0" anchor="t"/>
          <a:lstStyle/>
          <a:p>
            <a:pPr algn="ctr"/>
            <a:r>
              <a:rPr lang="en-US" sz="1400" dirty="0">
                <a:solidFill>
                  <a:srgbClr val="303030">
                    <a:alpha val="100000"/>
                  </a:srgbClr>
                </a:solidFill>
                <a:latin typeface="Montserrat SemiBold" pitchFamily="34" charset="0"/>
                <a:ea typeface="Montserrat SemiBold" pitchFamily="34" charset="-122"/>
                <a:cs typeface="Montserrat SemiBold" pitchFamily="34" charset="-120"/>
              </a:rPr>
              <a:t>Sholapith has superior malleability and ductility over styrofoam resulting in more use cases.</a:t>
            </a:r>
            <a:endParaRPr lang="en-US" sz="1400" dirty="0"/>
          </a:p>
        </p:txBody>
      </p:sp>
      <p:sp>
        <p:nvSpPr>
          <p:cNvPr id="21" name="Text 14"/>
          <p:cNvSpPr/>
          <p:nvPr/>
        </p:nvSpPr>
        <p:spPr>
          <a:xfrm>
            <a:off x="4263500" y="8774759"/>
            <a:ext cx="2510680" cy="922768"/>
          </a:xfrm>
          <a:prstGeom prst="rect">
            <a:avLst/>
          </a:prstGeom>
          <a:noFill/>
          <a:ln/>
        </p:spPr>
        <p:txBody>
          <a:bodyPr wrap="square" lIns="0" tIns="0" rIns="0" bIns="0" rtlCol="0" anchor="t"/>
          <a:lstStyle/>
          <a:p>
            <a:pPr algn="ctr"/>
            <a:r>
              <a:rPr lang="en-US" sz="1400" dirty="0">
                <a:solidFill>
                  <a:srgbClr val="303030">
                    <a:alpha val="100000"/>
                  </a:srgbClr>
                </a:solidFill>
                <a:latin typeface="Montserrat SemiBold" pitchFamily="34" charset="0"/>
                <a:ea typeface="Montserrat SemiBold" pitchFamily="34" charset="-122"/>
                <a:cs typeface="Montserrat SemiBold" pitchFamily="34" charset="-120"/>
              </a:rPr>
              <a:t>Sholapith is soft and shock absorbent; suitable for packaging brittle dry foods like biscuits.</a:t>
            </a:r>
            <a:endParaRPr lang="en-US" sz="1400" dirty="0"/>
          </a:p>
        </p:txBody>
      </p:sp>
      <p:sp>
        <p:nvSpPr>
          <p:cNvPr id="22" name="Text 15"/>
          <p:cNvSpPr/>
          <p:nvPr/>
        </p:nvSpPr>
        <p:spPr>
          <a:xfrm>
            <a:off x="7705630" y="8774759"/>
            <a:ext cx="2358261" cy="1138645"/>
          </a:xfrm>
          <a:prstGeom prst="rect">
            <a:avLst/>
          </a:prstGeom>
          <a:noFill/>
          <a:ln/>
        </p:spPr>
        <p:txBody>
          <a:bodyPr wrap="square" lIns="0" tIns="0" rIns="0" bIns="0" rtlCol="0" anchor="t"/>
          <a:lstStyle/>
          <a:p>
            <a:pPr algn="ctr"/>
            <a:r>
              <a:rPr lang="en-US" sz="1400" dirty="0">
                <a:solidFill>
                  <a:srgbClr val="303030">
                    <a:alpha val="100000"/>
                  </a:srgbClr>
                </a:solidFill>
                <a:latin typeface="Montserrat SemiBold" pitchFamily="34" charset="0"/>
                <a:ea typeface="Montserrat SemiBold" pitchFamily="34" charset="-122"/>
                <a:cs typeface="Montserrat SemiBold" pitchFamily="34" charset="-120"/>
              </a:rPr>
              <a:t>Sholapith has insulating properties; can be used for transporting heat sensitive medical supplies and materials</a:t>
            </a:r>
            <a:endParaRPr lang="en-US" sz="1400" dirty="0"/>
          </a:p>
        </p:txBody>
      </p:sp>
      <p:pic>
        <p:nvPicPr>
          <p:cNvPr id="23" name="Image 5" descr="preencoded.png">    </p:cNvPr>
          <p:cNvPicPr>
            <a:picLocks noChangeAspect="1"/>
          </p:cNvPicPr>
          <p:nvPr/>
        </p:nvPicPr>
        <p:blipFill>
          <a:blip r:embed="rId6"/>
          <a:stretch>
            <a:fillRect/>
          </a:stretch>
        </p:blipFill>
        <p:spPr>
          <a:xfrm>
            <a:off x="1371771" y="4622304"/>
            <a:ext cx="1422578" cy="1422247"/>
          </a:xfrm>
          <a:prstGeom prst="rect">
            <a:avLst/>
          </a:prstGeom>
        </p:spPr>
      </p:pic>
      <p:pic>
        <p:nvPicPr>
          <p:cNvPr id="24" name="Image 6" descr="preencoded.png">    </p:cNvPr>
          <p:cNvPicPr>
            <a:picLocks noChangeAspect="1"/>
          </p:cNvPicPr>
          <p:nvPr/>
        </p:nvPicPr>
        <p:blipFill>
          <a:blip r:embed="rId7"/>
          <a:stretch>
            <a:fillRect/>
          </a:stretch>
        </p:blipFill>
        <p:spPr>
          <a:xfrm>
            <a:off x="1460112" y="4740825"/>
            <a:ext cx="1245066" cy="1185207"/>
          </a:xfrm>
          <a:prstGeom prst="rect">
            <a:avLst/>
          </a:prstGeom>
        </p:spPr>
      </p:pic>
      <p:sp>
        <p:nvSpPr>
          <p:cNvPr id="25" name="Shape 16"/>
          <p:cNvSpPr/>
          <p:nvPr/>
        </p:nvSpPr>
        <p:spPr>
          <a:xfrm>
            <a:off x="774797" y="10743048"/>
            <a:ext cx="2603825" cy="2742906"/>
          </a:xfrm>
          <a:prstGeom prst="roundRect">
            <a:avLst>
              <a:gd name="adj" fmla="val 6672"/>
            </a:avLst>
          </a:prstGeom>
          <a:solidFill>
            <a:srgbClr val="FFFFFF">
              <a:alpha val="100000"/>
            </a:srgbClr>
          </a:solidFill>
          <a:ln w="88900">
            <a:solidFill>
              <a:srgbClr val="C3C3C3"/>
            </a:solidFill>
            <a:prstDash val="solid"/>
          </a:ln>
        </p:spPr>
      </p:sp>
      <p:sp>
        <p:nvSpPr>
          <p:cNvPr id="26" name="Text 17"/>
          <p:cNvSpPr/>
          <p:nvPr/>
        </p:nvSpPr>
        <p:spPr>
          <a:xfrm>
            <a:off x="3632654" y="10939148"/>
            <a:ext cx="6466734" cy="649256"/>
          </a:xfrm>
          <a:prstGeom prst="rect">
            <a:avLst/>
          </a:prstGeom>
          <a:noFill/>
          <a:ln/>
        </p:spPr>
        <p:txBody>
          <a:bodyPr wrap="square" lIns="0" tIns="0" rIns="0" bIns="0" rtlCol="0" anchor="t"/>
          <a:lstStyle/>
          <a:p>
            <a:pPr algn="l"/>
            <a:r>
              <a:rPr lang="en-US" sz="2700" dirty="0">
                <a:solidFill>
                  <a:srgbClr val="FFFFFF">
                    <a:alpha val="100000"/>
                  </a:srgbClr>
                </a:solidFill>
                <a:latin typeface="TeX Gyre Adventor Bold" pitchFamily="34" charset="0"/>
                <a:ea typeface="TeX Gyre Adventor Bold" pitchFamily="34" charset="-122"/>
                <a:cs typeface="TeX Gyre Adventor Bold" pitchFamily="34" charset="-120"/>
              </a:rPr>
              <a:t>Total serviceable addressable market</a:t>
            </a:r>
            <a:endParaRPr lang="en-US" sz="2738" dirty="0"/>
          </a:p>
        </p:txBody>
      </p:sp>
      <p:sp>
        <p:nvSpPr>
          <p:cNvPr id="27" name="Text 18"/>
          <p:cNvSpPr/>
          <p:nvPr/>
        </p:nvSpPr>
        <p:spPr>
          <a:xfrm>
            <a:off x="3632654" y="11733542"/>
            <a:ext cx="6556150" cy="2135502"/>
          </a:xfrm>
          <a:prstGeom prst="rect">
            <a:avLst/>
          </a:prstGeom>
          <a:noFill/>
          <a:ln/>
        </p:spPr>
        <p:txBody>
          <a:bodyPr wrap="square" lIns="0" tIns="0" rIns="0" bIns="0" rtlCol="0" anchor="t"/>
          <a:lstStyle/>
          <a:p>
            <a:pPr algn="l"/>
            <a:r>
              <a:rPr lang="en-US" sz="1900" dirty="0">
                <a:solidFill>
                  <a:srgbClr val="FFFFFF">
                    <a:alpha val="100000"/>
                  </a:srgbClr>
                </a:solidFill>
                <a:latin typeface="Montserrat SemiBold" pitchFamily="34" charset="0"/>
                <a:ea typeface="Montserrat SemiBold" pitchFamily="34" charset="-122"/>
                <a:cs typeface="Montserrat SemiBold" pitchFamily="34" charset="-120"/>
              </a:rPr>
              <a:t>The styrofoam/thermocol packaging industry is huge, and sadly, the biodegradable packaging alternatives present today have not changed that. </a:t>
            </a:r>
            <a:endParaRPr lang="en-US" sz="1850" dirty="0"/>
          </a:p>
          <a:p>
            <a:pPr algn="l"/>
            <a:r>
              <a:rPr lang="en-US" sz="1900" dirty="0">
                <a:solidFill>
                  <a:srgbClr val="FFFFFF">
                    <a:alpha val="100000"/>
                  </a:srgbClr>
                </a:solidFill>
                <a:latin typeface="Montserrat SemiBold" pitchFamily="34" charset="0"/>
                <a:ea typeface="Montserrat SemiBold" pitchFamily="34" charset="-122"/>
                <a:cs typeface="Montserrat SemiBold" pitchFamily="34" charset="-120"/>
              </a:rPr>
              <a:t> </a:t>
            </a:r>
            <a:endParaRPr lang="en-US" sz="1850" dirty="0"/>
          </a:p>
          <a:p>
            <a:pPr algn="l"/>
            <a:r>
              <a:rPr lang="en-US" sz="1900" dirty="0">
                <a:solidFill>
                  <a:srgbClr val="FFFFFF">
                    <a:alpha val="100000"/>
                  </a:srgbClr>
                </a:solidFill>
                <a:latin typeface="Montserrat SemiBold" pitchFamily="34" charset="0"/>
                <a:ea typeface="Montserrat SemiBold" pitchFamily="34" charset="-122"/>
                <a:cs typeface="Montserrat SemiBold" pitchFamily="34" charset="-120"/>
              </a:rPr>
              <a:t>Total SAM is around </a:t>
            </a:r>
            <a:pPr algn="l"/>
            <a:r>
              <a:rPr lang="en-US" sz="1900" dirty="0">
                <a:solidFill>
                  <a:srgbClr val="FFFFFF">
                    <a:alpha val="100000"/>
                  </a:srgbClr>
                </a:solidFill>
                <a:latin typeface="Montserrat Bold" pitchFamily="34" charset="0"/>
                <a:ea typeface="Montserrat Bold" pitchFamily="34" charset="-122"/>
                <a:cs typeface="Montserrat Bold" pitchFamily="34" charset="-120"/>
              </a:rPr>
              <a:t>7 billion USD </a:t>
            </a:r>
            <a:pPr algn="l"/>
            <a:r>
              <a:rPr lang="en-US" sz="1900" dirty="0">
                <a:solidFill>
                  <a:srgbClr val="FFFFFF">
                    <a:alpha val="100000"/>
                  </a:srgbClr>
                </a:solidFill>
                <a:latin typeface="Montserrat SemiBold" pitchFamily="34" charset="0"/>
                <a:ea typeface="Montserrat SemiBold" pitchFamily="34" charset="-122"/>
                <a:cs typeface="Montserrat SemiBold" pitchFamily="34" charset="-120"/>
              </a:rPr>
              <a:t>as of today.</a:t>
            </a:r>
            <a:endParaRPr lang="en-US" sz="1850" dirty="0"/>
          </a:p>
        </p:txBody>
      </p:sp>
      <p:pic>
        <p:nvPicPr>
          <p:cNvPr id="28" name="Image 7" descr="preencoded.png">    </p:cNvPr>
          <p:cNvPicPr>
            <a:picLocks noChangeAspect="1"/>
          </p:cNvPicPr>
          <p:nvPr/>
        </p:nvPicPr>
        <p:blipFill>
          <a:blip r:embed="rId8"/>
          <a:stretch>
            <a:fillRect/>
          </a:stretch>
        </p:blipFill>
        <p:spPr>
          <a:xfrm>
            <a:off x="1359070" y="11390678"/>
            <a:ext cx="1447981" cy="1447645"/>
          </a:xfrm>
          <a:prstGeom prst="rect">
            <a:avLst/>
          </a:prstGeom>
        </p:spPr>
      </p:pic>
      <p:pic>
        <p:nvPicPr>
          <p:cNvPr id="29" name="Image 8" descr="preencoded.png">    </p:cNvPr>
          <p:cNvPicPr>
            <a:picLocks noChangeAspect="1"/>
          </p:cNvPicPr>
          <p:nvPr/>
        </p:nvPicPr>
        <p:blipFill>
          <a:blip r:embed="rId9"/>
          <a:stretch>
            <a:fillRect/>
          </a:stretch>
        </p:blipFill>
        <p:spPr>
          <a:xfrm>
            <a:off x="1479735" y="11511315"/>
            <a:ext cx="1206651" cy="1206371"/>
          </a:xfrm>
          <a:prstGeom prst="rect">
            <a:avLst/>
          </a:prstGeom>
        </p:spPr>
      </p:pic>
      <p:pic>
        <p:nvPicPr>
          <p:cNvPr id="30" name="Image 9" descr="preencoded.png">    </p:cNvPr>
          <p:cNvPicPr>
            <a:picLocks noChangeAspect="1"/>
          </p:cNvPicPr>
          <p:nvPr/>
        </p:nvPicPr>
        <p:blipFill>
          <a:blip r:embed="rId10"/>
          <a:stretch>
            <a:fillRect/>
          </a:stretch>
        </p:blipFill>
        <p:spPr>
          <a:xfrm>
            <a:off x="11058853" y="2598987"/>
            <a:ext cx="173580" cy="10954691"/>
          </a:xfrm>
          <a:prstGeom prst="rect">
            <a:avLst/>
          </a:prstGeom>
        </p:spPr>
      </p:pic>
      <p:pic>
        <p:nvPicPr>
          <p:cNvPr id="31" name="Image 10" descr="preencoded.png">    </p:cNvPr>
          <p:cNvPicPr>
            <a:picLocks noChangeAspect="1"/>
          </p:cNvPicPr>
          <p:nvPr/>
        </p:nvPicPr>
        <p:blipFill>
          <a:blip r:embed="rId11"/>
          <a:stretch>
            <a:fillRect/>
          </a:stretch>
        </p:blipFill>
        <p:spPr>
          <a:xfrm>
            <a:off x="12587273" y="4297164"/>
            <a:ext cx="1435279" cy="20373"/>
          </a:xfrm>
          <a:prstGeom prst="rect">
            <a:avLst/>
          </a:prstGeom>
        </p:spPr>
      </p:pic>
      <p:pic>
        <p:nvPicPr>
          <p:cNvPr id="32" name="Image 11" descr="preencoded.png">    </p:cNvPr>
          <p:cNvPicPr>
            <a:picLocks noChangeAspect="1"/>
          </p:cNvPicPr>
          <p:nvPr/>
        </p:nvPicPr>
        <p:blipFill>
          <a:blip r:embed="rId12"/>
          <a:stretch>
            <a:fillRect/>
          </a:stretch>
        </p:blipFill>
        <p:spPr>
          <a:xfrm>
            <a:off x="12422153" y="4609606"/>
            <a:ext cx="13582" cy="7898553"/>
          </a:xfrm>
          <a:prstGeom prst="rect">
            <a:avLst/>
          </a:prstGeom>
        </p:spPr>
      </p:pic>
      <p:pic>
        <p:nvPicPr>
          <p:cNvPr id="33" name="Image 12" descr="preencoded.png">    </p:cNvPr>
          <p:cNvPicPr>
            <a:picLocks noChangeAspect="1"/>
          </p:cNvPicPr>
          <p:nvPr/>
        </p:nvPicPr>
        <p:blipFill>
          <a:blip r:embed="rId13"/>
          <a:stretch>
            <a:fillRect/>
          </a:stretch>
        </p:blipFill>
        <p:spPr>
          <a:xfrm>
            <a:off x="12587273" y="6506727"/>
            <a:ext cx="1435279" cy="20373"/>
          </a:xfrm>
          <a:prstGeom prst="rect">
            <a:avLst/>
          </a:prstGeom>
        </p:spPr>
      </p:pic>
      <p:pic>
        <p:nvPicPr>
          <p:cNvPr id="34" name="Image 13" descr="preencoded.png">    </p:cNvPr>
          <p:cNvPicPr>
            <a:picLocks noChangeAspect="1"/>
          </p:cNvPicPr>
          <p:nvPr/>
        </p:nvPicPr>
        <p:blipFill>
          <a:blip r:embed="rId14"/>
          <a:stretch>
            <a:fillRect/>
          </a:stretch>
        </p:blipFill>
        <p:spPr>
          <a:xfrm>
            <a:off x="12587273" y="8682123"/>
            <a:ext cx="1435279" cy="20372"/>
          </a:xfrm>
          <a:prstGeom prst="rect">
            <a:avLst/>
          </a:prstGeom>
        </p:spPr>
      </p:pic>
      <p:pic>
        <p:nvPicPr>
          <p:cNvPr id="35" name="Image 14" descr="preencoded.png">    </p:cNvPr>
          <p:cNvPicPr>
            <a:picLocks noChangeAspect="1"/>
          </p:cNvPicPr>
          <p:nvPr/>
        </p:nvPicPr>
        <p:blipFill>
          <a:blip r:embed="rId15"/>
          <a:stretch>
            <a:fillRect/>
          </a:stretch>
        </p:blipFill>
        <p:spPr>
          <a:xfrm>
            <a:off x="12358645" y="10853590"/>
            <a:ext cx="1435279" cy="20372"/>
          </a:xfrm>
          <a:prstGeom prst="rect">
            <a:avLst/>
          </a:prstGeom>
        </p:spPr>
      </p:pic>
      <p:pic>
        <p:nvPicPr>
          <p:cNvPr id="36" name="Image 15" descr="preencoded.png">    </p:cNvPr>
          <p:cNvPicPr>
            <a:picLocks noChangeAspect="1"/>
          </p:cNvPicPr>
          <p:nvPr/>
        </p:nvPicPr>
        <p:blipFill>
          <a:blip r:embed="rId16"/>
          <a:stretch>
            <a:fillRect/>
          </a:stretch>
        </p:blipFill>
        <p:spPr>
          <a:xfrm>
            <a:off x="12358645" y="10853590"/>
            <a:ext cx="1435279" cy="20372"/>
          </a:xfrm>
          <a:prstGeom prst="rect">
            <a:avLst/>
          </a:prstGeom>
        </p:spPr>
      </p:pic>
      <p:pic>
        <p:nvPicPr>
          <p:cNvPr id="37" name="Image 16" descr="preencoded.png">    </p:cNvPr>
          <p:cNvPicPr>
            <a:picLocks noChangeAspect="1"/>
          </p:cNvPicPr>
          <p:nvPr/>
        </p:nvPicPr>
        <p:blipFill>
          <a:blip r:embed="rId17"/>
          <a:stretch>
            <a:fillRect/>
          </a:stretch>
        </p:blipFill>
        <p:spPr>
          <a:xfrm>
            <a:off x="12389778" y="12843349"/>
            <a:ext cx="1435279" cy="20372"/>
          </a:xfrm>
          <a:prstGeom prst="rect">
            <a:avLst/>
          </a:prstGeom>
        </p:spPr>
      </p:pic>
      <p:pic>
        <p:nvPicPr>
          <p:cNvPr id="38" name="Image 17" descr="preencoded.png">    </p:cNvPr>
          <p:cNvPicPr>
            <a:picLocks noChangeAspect="1"/>
          </p:cNvPicPr>
          <p:nvPr/>
        </p:nvPicPr>
        <p:blipFill>
          <a:blip r:embed="rId18"/>
          <a:stretch>
            <a:fillRect/>
          </a:stretch>
        </p:blipFill>
        <p:spPr>
          <a:xfrm>
            <a:off x="12003000" y="3898482"/>
            <a:ext cx="869439" cy="869238"/>
          </a:xfrm>
          <a:prstGeom prst="rect">
            <a:avLst/>
          </a:prstGeom>
        </p:spPr>
      </p:pic>
      <p:sp>
        <p:nvSpPr>
          <p:cNvPr id="39" name="Text 19"/>
          <p:cNvSpPr/>
          <p:nvPr/>
        </p:nvSpPr>
        <p:spPr>
          <a:xfrm>
            <a:off x="12342619" y="4102209"/>
            <a:ext cx="299204" cy="553107"/>
          </a:xfrm>
          <a:prstGeom prst="rect">
            <a:avLst/>
          </a:prstGeom>
          <a:noFill/>
          <a:ln/>
        </p:spPr>
        <p:txBody>
          <a:bodyPr wrap="square" lIns="0" tIns="0" rIns="0" bIns="0" rtlCol="0" anchor="t"/>
          <a:lstStyle/>
          <a:p>
            <a:pPr algn="l"/>
            <a:r>
              <a:rPr lang="en-US" sz="2600" dirty="0">
                <a:solidFill>
                  <a:srgbClr val="303030">
                    <a:alpha val="100000"/>
                  </a:srgbClr>
                </a:solidFill>
                <a:latin typeface="Open Sans Bold" pitchFamily="34" charset="0"/>
                <a:ea typeface="Open Sans Bold" pitchFamily="34" charset="-122"/>
                <a:cs typeface="Open Sans Bold" pitchFamily="34" charset="-120"/>
              </a:rPr>
              <a:t>1</a:t>
            </a:r>
            <a:endParaRPr lang="en-US" sz="2567" dirty="0"/>
          </a:p>
        </p:txBody>
      </p:sp>
      <p:pic>
        <p:nvPicPr>
          <p:cNvPr id="40" name="Image 18" descr="preencoded.png">    </p:cNvPr>
          <p:cNvPicPr>
            <a:picLocks noChangeAspect="1"/>
          </p:cNvPicPr>
          <p:nvPr/>
        </p:nvPicPr>
        <p:blipFill>
          <a:blip r:embed="rId19"/>
          <a:stretch>
            <a:fillRect/>
          </a:stretch>
        </p:blipFill>
        <p:spPr>
          <a:xfrm>
            <a:off x="12003000" y="6069949"/>
            <a:ext cx="869439" cy="869237"/>
          </a:xfrm>
          <a:prstGeom prst="rect">
            <a:avLst/>
          </a:prstGeom>
        </p:spPr>
      </p:pic>
      <p:sp>
        <p:nvSpPr>
          <p:cNvPr id="41" name="Text 20"/>
          <p:cNvSpPr/>
          <p:nvPr/>
        </p:nvSpPr>
        <p:spPr>
          <a:xfrm>
            <a:off x="12342619" y="6273127"/>
            <a:ext cx="299204" cy="553107"/>
          </a:xfrm>
          <a:prstGeom prst="rect">
            <a:avLst/>
          </a:prstGeom>
          <a:noFill/>
          <a:ln/>
        </p:spPr>
        <p:txBody>
          <a:bodyPr wrap="square" lIns="0" tIns="0" rIns="0" bIns="0" rtlCol="0" anchor="t"/>
          <a:lstStyle/>
          <a:p>
            <a:pPr algn="l"/>
            <a:r>
              <a:rPr lang="en-US" sz="2600" dirty="0">
                <a:solidFill>
                  <a:srgbClr val="303030">
                    <a:alpha val="100000"/>
                  </a:srgbClr>
                </a:solidFill>
                <a:latin typeface="Open Sans Bold" pitchFamily="34" charset="0"/>
                <a:ea typeface="Open Sans Bold" pitchFamily="34" charset="-122"/>
                <a:cs typeface="Open Sans Bold" pitchFamily="34" charset="-120"/>
              </a:rPr>
              <a:t>2</a:t>
            </a:r>
            <a:endParaRPr lang="en-US" sz="2567" dirty="0"/>
          </a:p>
        </p:txBody>
      </p:sp>
      <p:pic>
        <p:nvPicPr>
          <p:cNvPr id="42" name="Image 19" descr="preencoded.png">    </p:cNvPr>
          <p:cNvPicPr>
            <a:picLocks noChangeAspect="1"/>
          </p:cNvPicPr>
          <p:nvPr/>
        </p:nvPicPr>
        <p:blipFill>
          <a:blip r:embed="rId20"/>
          <a:stretch>
            <a:fillRect/>
          </a:stretch>
        </p:blipFill>
        <p:spPr>
          <a:xfrm>
            <a:off x="12003000" y="8241416"/>
            <a:ext cx="869439" cy="869237"/>
          </a:xfrm>
          <a:prstGeom prst="rect">
            <a:avLst/>
          </a:prstGeom>
        </p:spPr>
      </p:pic>
      <p:sp>
        <p:nvSpPr>
          <p:cNvPr id="43" name="Text 21"/>
          <p:cNvSpPr/>
          <p:nvPr/>
        </p:nvSpPr>
        <p:spPr>
          <a:xfrm>
            <a:off x="12342619" y="8445143"/>
            <a:ext cx="299204" cy="553107"/>
          </a:xfrm>
          <a:prstGeom prst="rect">
            <a:avLst/>
          </a:prstGeom>
          <a:noFill/>
          <a:ln/>
        </p:spPr>
        <p:txBody>
          <a:bodyPr wrap="square" lIns="0" tIns="0" rIns="0" bIns="0" rtlCol="0" anchor="t"/>
          <a:lstStyle/>
          <a:p>
            <a:pPr algn="l"/>
            <a:r>
              <a:rPr lang="en-US" sz="2600" dirty="0">
                <a:solidFill>
                  <a:srgbClr val="303030">
                    <a:alpha val="100000"/>
                  </a:srgbClr>
                </a:solidFill>
                <a:latin typeface="Open Sans Bold" pitchFamily="34" charset="0"/>
                <a:ea typeface="Open Sans Bold" pitchFamily="34" charset="-122"/>
                <a:cs typeface="Open Sans Bold" pitchFamily="34" charset="-120"/>
              </a:rPr>
              <a:t>3</a:t>
            </a:r>
            <a:endParaRPr lang="en-US" sz="2567" dirty="0"/>
          </a:p>
        </p:txBody>
      </p:sp>
      <p:pic>
        <p:nvPicPr>
          <p:cNvPr id="44" name="Image 20" descr="preencoded.png">    </p:cNvPr>
          <p:cNvPicPr>
            <a:picLocks noChangeAspect="1"/>
          </p:cNvPicPr>
          <p:nvPr/>
        </p:nvPicPr>
        <p:blipFill>
          <a:blip r:embed="rId21"/>
          <a:stretch>
            <a:fillRect/>
          </a:stretch>
        </p:blipFill>
        <p:spPr>
          <a:xfrm>
            <a:off x="12003000" y="10412883"/>
            <a:ext cx="869439" cy="869237"/>
          </a:xfrm>
          <a:prstGeom prst="rect">
            <a:avLst/>
          </a:prstGeom>
        </p:spPr>
      </p:pic>
      <p:sp>
        <p:nvSpPr>
          <p:cNvPr id="45" name="Text 22"/>
          <p:cNvSpPr/>
          <p:nvPr/>
        </p:nvSpPr>
        <p:spPr>
          <a:xfrm>
            <a:off x="12342619" y="10616610"/>
            <a:ext cx="299204" cy="553107"/>
          </a:xfrm>
          <a:prstGeom prst="rect">
            <a:avLst/>
          </a:prstGeom>
          <a:noFill/>
          <a:ln/>
        </p:spPr>
        <p:txBody>
          <a:bodyPr wrap="square" lIns="0" tIns="0" rIns="0" bIns="0" rtlCol="0" anchor="t"/>
          <a:lstStyle/>
          <a:p>
            <a:pPr algn="l"/>
            <a:r>
              <a:rPr lang="en-US" sz="2600" dirty="0">
                <a:solidFill>
                  <a:srgbClr val="303030">
                    <a:alpha val="100000"/>
                  </a:srgbClr>
                </a:solidFill>
                <a:latin typeface="Open Sans Bold" pitchFamily="34" charset="0"/>
                <a:ea typeface="Open Sans Bold" pitchFamily="34" charset="-122"/>
                <a:cs typeface="Open Sans Bold" pitchFamily="34" charset="-120"/>
              </a:rPr>
              <a:t>4</a:t>
            </a:r>
            <a:endParaRPr lang="en-US" sz="2567" dirty="0"/>
          </a:p>
        </p:txBody>
      </p:sp>
      <p:pic>
        <p:nvPicPr>
          <p:cNvPr id="46" name="Image 21" descr="preencoded.png">    </p:cNvPr>
          <p:cNvPicPr>
            <a:picLocks noChangeAspect="1"/>
          </p:cNvPicPr>
          <p:nvPr/>
        </p:nvPicPr>
        <p:blipFill>
          <a:blip r:embed="rId22"/>
          <a:stretch>
            <a:fillRect/>
          </a:stretch>
        </p:blipFill>
        <p:spPr>
          <a:xfrm>
            <a:off x="11990299" y="12431967"/>
            <a:ext cx="869439" cy="869237"/>
          </a:xfrm>
          <a:prstGeom prst="rect">
            <a:avLst/>
          </a:prstGeom>
        </p:spPr>
      </p:pic>
      <p:sp>
        <p:nvSpPr>
          <p:cNvPr id="47" name="Text 23"/>
          <p:cNvSpPr/>
          <p:nvPr/>
        </p:nvSpPr>
        <p:spPr>
          <a:xfrm>
            <a:off x="12329917" y="12635694"/>
            <a:ext cx="299204" cy="553107"/>
          </a:xfrm>
          <a:prstGeom prst="rect">
            <a:avLst/>
          </a:prstGeom>
          <a:noFill/>
          <a:ln/>
        </p:spPr>
        <p:txBody>
          <a:bodyPr wrap="square" lIns="0" tIns="0" rIns="0" bIns="0" rtlCol="0" anchor="t"/>
          <a:lstStyle/>
          <a:p>
            <a:pPr algn="l"/>
            <a:r>
              <a:rPr lang="en-US" sz="2600" dirty="0">
                <a:solidFill>
                  <a:srgbClr val="303030">
                    <a:alpha val="100000"/>
                  </a:srgbClr>
                </a:solidFill>
                <a:latin typeface="Open Sans Bold" pitchFamily="34" charset="0"/>
                <a:ea typeface="Open Sans Bold" pitchFamily="34" charset="-122"/>
                <a:cs typeface="Open Sans Bold" pitchFamily="34" charset="-120"/>
              </a:rPr>
              <a:t>5</a:t>
            </a:r>
            <a:endParaRPr lang="en-US" sz="2567" dirty="0"/>
          </a:p>
        </p:txBody>
      </p:sp>
      <p:sp>
        <p:nvSpPr>
          <p:cNvPr id="48" name="Text 24"/>
          <p:cNvSpPr/>
          <p:nvPr/>
        </p:nvSpPr>
        <p:spPr>
          <a:xfrm>
            <a:off x="14251181" y="4749291"/>
            <a:ext cx="9737884" cy="910069"/>
          </a:xfrm>
          <a:prstGeom prst="rect">
            <a:avLst/>
          </a:prstGeom>
          <a:noFill/>
          <a:ln/>
        </p:spPr>
        <p:txBody>
          <a:bodyPr wrap="square" lIns="0" tIns="0" rIns="0" bIns="0" rtlCol="0" anchor="t"/>
          <a:lstStyle/>
          <a:p>
            <a:pPr algn="l">
              <a:lnSpc>
                <a:spcPts val="2174"/>
              </a:lnSpc>
            </a:pPr>
            <a:r>
              <a:rPr lang="en-US" sz="1700" dirty="0">
                <a:solidFill>
                  <a:srgbClr val="000000">
                    <a:alpha val="100000"/>
                  </a:srgbClr>
                </a:solidFill>
                <a:latin typeface="Montserrat Medium" pitchFamily="34" charset="0"/>
                <a:ea typeface="Montserrat Medium" pitchFamily="34" charset="-122"/>
                <a:cs typeface="Montserrat Medium" pitchFamily="34" charset="-120"/>
              </a:rPr>
              <a:t>We will write SEO-optimized blogs and articles on our website, leading to organic growth while building credibility. We will also use cold-calling and emailing to reach businesses directly. This is an age-old marketing technique for B2B business generation</a:t>
            </a:r>
            <a:endParaRPr lang="en-US" sz="1700" dirty="0"/>
          </a:p>
        </p:txBody>
      </p:sp>
      <p:sp>
        <p:nvSpPr>
          <p:cNvPr id="49" name="Text 25"/>
          <p:cNvSpPr/>
          <p:nvPr/>
        </p:nvSpPr>
        <p:spPr>
          <a:xfrm>
            <a:off x="14251181" y="6920758"/>
            <a:ext cx="9737884" cy="910069"/>
          </a:xfrm>
          <a:prstGeom prst="rect">
            <a:avLst/>
          </a:prstGeom>
          <a:noFill/>
          <a:ln/>
        </p:spPr>
        <p:txBody>
          <a:bodyPr wrap="square" lIns="0" tIns="0" rIns="0" bIns="0" rtlCol="0" anchor="t"/>
          <a:lstStyle/>
          <a:p>
            <a:pPr algn="l">
              <a:lnSpc>
                <a:spcPts val="2174"/>
              </a:lnSpc>
            </a:pPr>
            <a:r>
              <a:rPr lang="en-US" sz="1700" dirty="0">
                <a:solidFill>
                  <a:srgbClr val="000000">
                    <a:alpha val="100000"/>
                  </a:srgbClr>
                </a:solidFill>
                <a:latin typeface="Montserrat Medium" pitchFamily="34" charset="0"/>
                <a:ea typeface="Montserrat Medium" pitchFamily="34" charset="-122"/>
                <a:cs typeface="Montserrat Medium" pitchFamily="34" charset="-120"/>
              </a:rPr>
              <a:t>Using paid ads, both digital and physical mediums, is an indispensible tool for growth in the modern landscape of business. Flyer distribution among business houses, brochure distribution, even on-ground salesmen will help grow our market share.</a:t>
            </a:r>
            <a:endParaRPr lang="en-US" sz="1700" dirty="0"/>
          </a:p>
        </p:txBody>
      </p:sp>
      <p:sp>
        <p:nvSpPr>
          <p:cNvPr id="50" name="Text 26"/>
          <p:cNvSpPr/>
          <p:nvPr/>
        </p:nvSpPr>
        <p:spPr>
          <a:xfrm>
            <a:off x="14251181" y="9092225"/>
            <a:ext cx="9737884" cy="1189439"/>
          </a:xfrm>
          <a:prstGeom prst="rect">
            <a:avLst/>
          </a:prstGeom>
          <a:noFill/>
          <a:ln/>
        </p:spPr>
        <p:txBody>
          <a:bodyPr wrap="square" lIns="0" tIns="0" rIns="0" bIns="0" rtlCol="0" anchor="t"/>
          <a:lstStyle/>
          <a:p>
            <a:pPr algn="l">
              <a:lnSpc>
                <a:spcPts val="2174"/>
              </a:lnSpc>
            </a:pPr>
            <a:r>
              <a:rPr lang="en-US" sz="1700" dirty="0">
                <a:solidFill>
                  <a:srgbClr val="000000">
                    <a:alpha val="100000"/>
                  </a:srgbClr>
                </a:solidFill>
                <a:latin typeface="Montserrat Medium" pitchFamily="34" charset="0"/>
                <a:ea typeface="Montserrat Medium" pitchFamily="34" charset="-122"/>
                <a:cs typeface="Montserrat Medium" pitchFamily="34" charset="-120"/>
              </a:rPr>
              <a:t>In such a safety related industry, our product must be certified as compatible with our use cases in mind. For this, we should strive for the BRCGS certification. </a:t>
            </a:r>
            <a:endParaRPr lang="en-US" sz="1700" dirty="0"/>
          </a:p>
          <a:p>
            <a:pPr algn="l">
              <a:lnSpc>
                <a:spcPts val="2174"/>
              </a:lnSpc>
            </a:pPr>
            <a:r>
              <a:rPr lang="en-US" sz="1700" dirty="0">
                <a:solidFill>
                  <a:srgbClr val="000000">
                    <a:alpha val="100000"/>
                  </a:srgbClr>
                </a:solidFill>
                <a:latin typeface="Montserrat Medium" pitchFamily="34" charset="0"/>
                <a:ea typeface="Montserrat Medium" pitchFamily="34" charset="-122"/>
                <a:cs typeface="Montserrat Medium" pitchFamily="34" charset="-120"/>
              </a:rPr>
              <a:t>For our products to be certified as sustainable, we should achieve the Safer Choice certification by the Environmental Protection Agency.</a:t>
            </a:r>
            <a:endParaRPr lang="en-US" sz="1700" dirty="0"/>
          </a:p>
        </p:txBody>
      </p:sp>
      <p:sp>
        <p:nvSpPr>
          <p:cNvPr id="51" name="Text 27"/>
          <p:cNvSpPr/>
          <p:nvPr/>
        </p:nvSpPr>
        <p:spPr>
          <a:xfrm>
            <a:off x="14022553" y="11225596"/>
            <a:ext cx="9737884" cy="1189439"/>
          </a:xfrm>
          <a:prstGeom prst="rect">
            <a:avLst/>
          </a:prstGeom>
          <a:noFill/>
          <a:ln/>
        </p:spPr>
        <p:txBody>
          <a:bodyPr wrap="square" lIns="0" tIns="0" rIns="0" bIns="0" rtlCol="0" anchor="t"/>
          <a:lstStyle/>
          <a:p>
            <a:pPr algn="l">
              <a:lnSpc>
                <a:spcPts val="2174"/>
              </a:lnSpc>
            </a:pPr>
            <a:r>
              <a:rPr lang="en-US" sz="1700" dirty="0">
                <a:solidFill>
                  <a:srgbClr val="000000">
                    <a:alpha val="100000"/>
                  </a:srgbClr>
                </a:solidFill>
                <a:latin typeface="Montserrat Medium" pitchFamily="34" charset="0"/>
                <a:ea typeface="Montserrat Medium" pitchFamily="34" charset="-122"/>
                <a:cs typeface="Montserrat Medium" pitchFamily="34" charset="-120"/>
              </a:rPr>
              <a:t>We aim to provide sample materials to our first time customers to check the quality and sustainabilty of our product. We plan to provide exclusive offers to our long term customers to value their trust in us and to ensure the continuance of the relationship.</a:t>
            </a:r>
            <a:endParaRPr lang="en-US" sz="1700" dirty="0"/>
          </a:p>
        </p:txBody>
      </p:sp>
      <p:sp>
        <p:nvSpPr>
          <p:cNvPr id="52" name="Text 28"/>
          <p:cNvSpPr/>
          <p:nvPr/>
        </p:nvSpPr>
        <p:spPr>
          <a:xfrm>
            <a:off x="14022553" y="13219282"/>
            <a:ext cx="9737884" cy="630699"/>
          </a:xfrm>
          <a:prstGeom prst="rect">
            <a:avLst/>
          </a:prstGeom>
          <a:noFill/>
          <a:ln/>
        </p:spPr>
        <p:txBody>
          <a:bodyPr wrap="square" lIns="0" tIns="0" rIns="0" bIns="0" rtlCol="0" anchor="t"/>
          <a:lstStyle/>
          <a:p>
            <a:pPr algn="l">
              <a:lnSpc>
                <a:spcPts val="2174"/>
              </a:lnSpc>
            </a:pPr>
            <a:r>
              <a:rPr lang="en-US" sz="1700" dirty="0">
                <a:solidFill>
                  <a:srgbClr val="000000">
                    <a:alpha val="100000"/>
                  </a:srgbClr>
                </a:solidFill>
                <a:latin typeface="Montserrat Medium" pitchFamily="34" charset="0"/>
                <a:ea typeface="Montserrat Medium" pitchFamily="34" charset="-122"/>
                <a:cs typeface="Montserrat Medium" pitchFamily="34" charset="-120"/>
              </a:rPr>
              <a:t>For added monetary support as well as ad support, we shall approach NITI Aayog under the Green Initiative Programme.</a:t>
            </a:r>
            <a:endParaRPr lang="en-US" sz="1700" dirty="0"/>
          </a:p>
        </p:txBody>
      </p:sp>
      <p:sp>
        <p:nvSpPr>
          <p:cNvPr id="53" name="Text 29"/>
          <p:cNvSpPr/>
          <p:nvPr/>
        </p:nvSpPr>
        <p:spPr>
          <a:xfrm>
            <a:off x="14251181" y="4101660"/>
            <a:ext cx="9032959" cy="497377"/>
          </a:xfrm>
          <a:prstGeom prst="rect">
            <a:avLst/>
          </a:prstGeom>
          <a:noFill/>
          <a:ln/>
        </p:spPr>
        <p:txBody>
          <a:bodyPr wrap="square" lIns="0" tIns="0" rIns="0" bIns="0" rtlCol="0" anchor="t"/>
          <a:lstStyle/>
          <a:p>
            <a:pPr algn="l">
              <a:lnSpc>
                <a:spcPts val="3134"/>
              </a:lnSpc>
            </a:pPr>
            <a:r>
              <a:rPr lang="en-US" sz="2500" dirty="0">
                <a:solidFill>
                  <a:srgbClr val="B62D27">
                    <a:alpha val="100000"/>
                  </a:srgbClr>
                </a:solidFill>
                <a:latin typeface="TeX Gyre Adventor Bold" pitchFamily="34" charset="0"/>
                <a:ea typeface="TeX Gyre Adventor Bold" pitchFamily="34" charset="-122"/>
                <a:cs typeface="TeX Gyre Adventor Bold" pitchFamily="34" charset="-120"/>
              </a:rPr>
              <a:t>Providing SEO-optimized content and cold calling/emailing</a:t>
            </a:r>
            <a:endParaRPr lang="en-US" sz="2450" dirty="0"/>
          </a:p>
        </p:txBody>
      </p:sp>
      <p:sp>
        <p:nvSpPr>
          <p:cNvPr id="54" name="Text 30"/>
          <p:cNvSpPr/>
          <p:nvPr/>
        </p:nvSpPr>
        <p:spPr>
          <a:xfrm>
            <a:off x="14251181" y="6273127"/>
            <a:ext cx="5590829" cy="497377"/>
          </a:xfrm>
          <a:prstGeom prst="rect">
            <a:avLst/>
          </a:prstGeom>
          <a:noFill/>
          <a:ln/>
        </p:spPr>
        <p:txBody>
          <a:bodyPr wrap="square" lIns="0" tIns="0" rIns="0" bIns="0" rtlCol="0" anchor="t"/>
          <a:lstStyle/>
          <a:p>
            <a:pPr algn="l">
              <a:lnSpc>
                <a:spcPts val="3134"/>
              </a:lnSpc>
            </a:pPr>
            <a:r>
              <a:rPr lang="en-US" sz="2500" dirty="0">
                <a:solidFill>
                  <a:srgbClr val="B62D27">
                    <a:alpha val="100000"/>
                  </a:srgbClr>
                </a:solidFill>
                <a:latin typeface="TeX Gyre Adventor Bold" pitchFamily="34" charset="0"/>
                <a:ea typeface="TeX Gyre Adventor Bold" pitchFamily="34" charset="-122"/>
                <a:cs typeface="TeX Gyre Adventor Bold" pitchFamily="34" charset="-120"/>
              </a:rPr>
              <a:t>Paid Ads and Sales Lead Generation</a:t>
            </a:r>
            <a:endParaRPr lang="en-US" sz="2450" dirty="0"/>
          </a:p>
        </p:txBody>
      </p:sp>
      <p:sp>
        <p:nvSpPr>
          <p:cNvPr id="55" name="Text 31"/>
          <p:cNvSpPr/>
          <p:nvPr/>
        </p:nvSpPr>
        <p:spPr>
          <a:xfrm>
            <a:off x="14251181" y="8444594"/>
            <a:ext cx="5997280" cy="497377"/>
          </a:xfrm>
          <a:prstGeom prst="rect">
            <a:avLst/>
          </a:prstGeom>
          <a:noFill/>
          <a:ln/>
        </p:spPr>
        <p:txBody>
          <a:bodyPr wrap="square" lIns="0" tIns="0" rIns="0" bIns="0" rtlCol="0" anchor="t"/>
          <a:lstStyle/>
          <a:p>
            <a:pPr algn="l">
              <a:lnSpc>
                <a:spcPts val="3134"/>
              </a:lnSpc>
            </a:pPr>
            <a:r>
              <a:rPr lang="en-US" sz="2500" dirty="0">
                <a:solidFill>
                  <a:srgbClr val="B62D27">
                    <a:alpha val="100000"/>
                  </a:srgbClr>
                </a:solidFill>
                <a:latin typeface="TeX Gyre Adventor Bold" pitchFamily="34" charset="0"/>
                <a:ea typeface="TeX Gyre Adventor Bold" pitchFamily="34" charset="-122"/>
                <a:cs typeface="TeX Gyre Adventor Bold" pitchFamily="34" charset="-120"/>
              </a:rPr>
              <a:t>Certifications and Standard Verification</a:t>
            </a:r>
            <a:endParaRPr lang="en-US" sz="2450" dirty="0"/>
          </a:p>
        </p:txBody>
      </p:sp>
      <p:sp>
        <p:nvSpPr>
          <p:cNvPr id="56" name="Text 32"/>
          <p:cNvSpPr/>
          <p:nvPr/>
        </p:nvSpPr>
        <p:spPr>
          <a:xfrm>
            <a:off x="14022553" y="10666856"/>
            <a:ext cx="6136998" cy="497377"/>
          </a:xfrm>
          <a:prstGeom prst="rect">
            <a:avLst/>
          </a:prstGeom>
          <a:noFill/>
          <a:ln/>
        </p:spPr>
        <p:txBody>
          <a:bodyPr wrap="square" lIns="0" tIns="0" rIns="0" bIns="0" rtlCol="0" anchor="t"/>
          <a:lstStyle/>
          <a:p>
            <a:pPr algn="l">
              <a:lnSpc>
                <a:spcPts val="3134"/>
              </a:lnSpc>
            </a:pPr>
            <a:r>
              <a:rPr lang="en-US" sz="2500" dirty="0">
                <a:solidFill>
                  <a:srgbClr val="B62D27">
                    <a:alpha val="100000"/>
                  </a:srgbClr>
                </a:solidFill>
                <a:latin typeface="TeX Gyre Adventor Bold" pitchFamily="34" charset="0"/>
                <a:ea typeface="TeX Gyre Adventor Bold" pitchFamily="34" charset="-122"/>
                <a:cs typeface="TeX Gyre Adventor Bold" pitchFamily="34" charset="-120"/>
              </a:rPr>
              <a:t>Building and maintaining corporate trust </a:t>
            </a:r>
            <a:endParaRPr lang="en-US" sz="2450" dirty="0"/>
          </a:p>
        </p:txBody>
      </p:sp>
      <p:sp>
        <p:nvSpPr>
          <p:cNvPr id="57" name="Text 33"/>
          <p:cNvSpPr/>
          <p:nvPr/>
        </p:nvSpPr>
        <p:spPr>
          <a:xfrm>
            <a:off x="14022553" y="12635145"/>
            <a:ext cx="5730547" cy="497377"/>
          </a:xfrm>
          <a:prstGeom prst="rect">
            <a:avLst/>
          </a:prstGeom>
          <a:noFill/>
          <a:ln/>
        </p:spPr>
        <p:txBody>
          <a:bodyPr wrap="square" lIns="0" tIns="0" rIns="0" bIns="0" rtlCol="0" anchor="t"/>
          <a:lstStyle/>
          <a:p>
            <a:pPr algn="l">
              <a:lnSpc>
                <a:spcPts val="3134"/>
              </a:lnSpc>
            </a:pPr>
            <a:r>
              <a:rPr lang="en-US" sz="2500" dirty="0">
                <a:solidFill>
                  <a:srgbClr val="B62D27">
                    <a:alpha val="100000"/>
                  </a:srgbClr>
                </a:solidFill>
                <a:latin typeface="TeX Gyre Adventor Bold" pitchFamily="34" charset="0"/>
                <a:ea typeface="TeX Gyre Adventor Bold" pitchFamily="34" charset="-122"/>
                <a:cs typeface="TeX Gyre Adventor Bold" pitchFamily="34" charset="-120"/>
              </a:rPr>
              <a:t>Seeking governmental/ NGO Support</a:t>
            </a:r>
            <a:endParaRPr lang="en-US" sz="2450" dirty="0"/>
          </a:p>
        </p:txBody>
      </p:sp>
      <p:pic>
        <p:nvPicPr>
          <p:cNvPr id="58" name="Image 22" descr="preencoded.png">    </p:cNvPr>
          <p:cNvPicPr>
            <a:picLocks noChangeAspect="1"/>
          </p:cNvPicPr>
          <p:nvPr/>
        </p:nvPicPr>
        <p:blipFill>
          <a:blip r:embed="rId23"/>
          <a:stretch>
            <a:fillRect/>
          </a:stretch>
        </p:blipFill>
        <p:spPr>
          <a:xfrm>
            <a:off x="1013522" y="7810862"/>
            <a:ext cx="2301605" cy="673849"/>
          </a:xfrm>
          <a:prstGeom prst="rect">
            <a:avLst/>
          </a:prstGeom>
        </p:spPr>
      </p:pic>
      <p:pic>
        <p:nvPicPr>
          <p:cNvPr id="59" name="Image 23" descr="preencoded.png">    </p:cNvPr>
          <p:cNvPicPr>
            <a:picLocks noChangeAspect="1"/>
          </p:cNvPicPr>
          <p:nvPr/>
        </p:nvPicPr>
        <p:blipFill>
          <a:blip r:embed="rId24"/>
          <a:stretch>
            <a:fillRect/>
          </a:stretch>
        </p:blipFill>
        <p:spPr>
          <a:xfrm>
            <a:off x="22977172" y="0"/>
            <a:ext cx="1409876" cy="167622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74797" y="215877"/>
            <a:ext cx="11558445" cy="1841303"/>
          </a:xfrm>
          <a:prstGeom prst="rect">
            <a:avLst/>
          </a:prstGeom>
        </p:spPr>
      </p:pic>
      <p:pic>
        <p:nvPicPr>
          <p:cNvPr id="3" name="Image 1" descr="preencoded.png">    </p:cNvPr>
          <p:cNvPicPr>
            <a:picLocks noChangeAspect="1"/>
          </p:cNvPicPr>
          <p:nvPr/>
        </p:nvPicPr>
        <p:blipFill>
          <a:blip r:embed="rId2"/>
          <a:stretch>
            <a:fillRect/>
          </a:stretch>
        </p:blipFill>
        <p:spPr>
          <a:xfrm>
            <a:off x="1300648" y="897159"/>
            <a:ext cx="7774426" cy="627313"/>
          </a:xfrm>
          <a:prstGeom prst="rect">
            <a:avLst/>
          </a:prstGeom>
        </p:spPr>
      </p:pic>
      <p:pic>
        <p:nvPicPr>
          <p:cNvPr id="4" name="Image 2" descr="preencoded.png">    </p:cNvPr>
          <p:cNvPicPr>
            <a:picLocks noChangeAspect="1"/>
          </p:cNvPicPr>
          <p:nvPr/>
        </p:nvPicPr>
        <p:blipFill>
          <a:blip r:embed="rId3"/>
          <a:stretch>
            <a:fillRect/>
          </a:stretch>
        </p:blipFill>
        <p:spPr>
          <a:xfrm>
            <a:off x="12726991" y="1244467"/>
            <a:ext cx="5791924" cy="38096"/>
          </a:xfrm>
          <a:prstGeom prst="rect">
            <a:avLst/>
          </a:prstGeom>
        </p:spPr>
      </p:pic>
      <p:pic>
        <p:nvPicPr>
          <p:cNvPr id="5" name="Image 3" descr="preencoded.png">    </p:cNvPr>
          <p:cNvPicPr>
            <a:picLocks noChangeAspect="1"/>
          </p:cNvPicPr>
          <p:nvPr/>
        </p:nvPicPr>
        <p:blipFill>
          <a:blip r:embed="rId4"/>
          <a:stretch>
            <a:fillRect/>
          </a:stretch>
        </p:blipFill>
        <p:spPr>
          <a:xfrm>
            <a:off x="4925896" y="4697058"/>
            <a:ext cx="2395911" cy="38325"/>
          </a:xfrm>
          <a:prstGeom prst="rect">
            <a:avLst/>
          </a:prstGeom>
        </p:spPr>
      </p:pic>
      <p:pic>
        <p:nvPicPr>
          <p:cNvPr id="6" name="Image 4" descr="preencoded.png">    </p:cNvPr>
          <p:cNvPicPr>
            <a:picLocks noChangeAspect="1"/>
          </p:cNvPicPr>
          <p:nvPr/>
        </p:nvPicPr>
        <p:blipFill>
          <a:blip r:embed="rId5"/>
          <a:stretch>
            <a:fillRect/>
          </a:stretch>
        </p:blipFill>
        <p:spPr>
          <a:xfrm>
            <a:off x="10695233" y="4697058"/>
            <a:ext cx="2549248" cy="38325"/>
          </a:xfrm>
          <a:prstGeom prst="rect">
            <a:avLst/>
          </a:prstGeom>
        </p:spPr>
      </p:pic>
      <p:pic>
        <p:nvPicPr>
          <p:cNvPr id="7" name="Image 5" descr="preencoded.png">    </p:cNvPr>
          <p:cNvPicPr>
            <a:picLocks noChangeAspect="1"/>
          </p:cNvPicPr>
          <p:nvPr/>
        </p:nvPicPr>
        <p:blipFill>
          <a:blip r:embed="rId6"/>
          <a:stretch>
            <a:fillRect/>
          </a:stretch>
        </p:blipFill>
        <p:spPr>
          <a:xfrm>
            <a:off x="16445418" y="4697058"/>
            <a:ext cx="2664257" cy="38325"/>
          </a:xfrm>
          <a:prstGeom prst="rect">
            <a:avLst/>
          </a:prstGeom>
        </p:spPr>
      </p:pic>
      <p:pic>
        <p:nvPicPr>
          <p:cNvPr id="8" name="Image 6" descr="preencoded.png">    </p:cNvPr>
          <p:cNvPicPr>
            <a:picLocks noChangeAspect="1"/>
          </p:cNvPicPr>
          <p:nvPr/>
        </p:nvPicPr>
        <p:blipFill>
          <a:blip r:embed="rId7"/>
          <a:stretch>
            <a:fillRect/>
          </a:stretch>
        </p:blipFill>
        <p:spPr>
          <a:xfrm>
            <a:off x="1355485" y="2628688"/>
            <a:ext cx="3633163" cy="4194232"/>
          </a:xfrm>
          <a:prstGeom prst="rect">
            <a:avLst/>
          </a:prstGeom>
        </p:spPr>
      </p:pic>
      <p:pic>
        <p:nvPicPr>
          <p:cNvPr id="9" name="Image 7" descr="preencoded.png">    </p:cNvPr>
          <p:cNvPicPr>
            <a:picLocks noChangeAspect="1"/>
          </p:cNvPicPr>
          <p:nvPr/>
        </p:nvPicPr>
        <p:blipFill>
          <a:blip r:embed="rId8"/>
          <a:stretch>
            <a:fillRect/>
          </a:stretch>
        </p:blipFill>
        <p:spPr>
          <a:xfrm>
            <a:off x="1520432" y="2819102"/>
            <a:ext cx="3303269" cy="3813403"/>
          </a:xfrm>
          <a:prstGeom prst="rect">
            <a:avLst/>
          </a:prstGeom>
        </p:spPr>
      </p:pic>
      <p:pic>
        <p:nvPicPr>
          <p:cNvPr id="10" name="Image 8" descr="preencoded.png">    </p:cNvPr>
          <p:cNvPicPr>
            <a:picLocks noChangeAspect="1"/>
          </p:cNvPicPr>
          <p:nvPr/>
        </p:nvPicPr>
        <p:blipFill>
          <a:blip r:embed="rId9"/>
          <a:stretch>
            <a:fillRect/>
          </a:stretch>
        </p:blipFill>
        <p:spPr>
          <a:xfrm>
            <a:off x="1514094" y="2819101"/>
            <a:ext cx="1661216" cy="3813405"/>
          </a:xfrm>
          <a:prstGeom prst="rect">
            <a:avLst/>
          </a:prstGeom>
        </p:spPr>
      </p:pic>
      <p:pic>
        <p:nvPicPr>
          <p:cNvPr id="11" name="Image 9" descr="preencoded.png">    </p:cNvPr>
          <p:cNvPicPr>
            <a:picLocks noChangeAspect="1"/>
          </p:cNvPicPr>
          <p:nvPr/>
        </p:nvPicPr>
        <p:blipFill>
          <a:blip r:embed="rId10"/>
          <a:stretch>
            <a:fillRect/>
          </a:stretch>
        </p:blipFill>
        <p:spPr>
          <a:xfrm>
            <a:off x="7220691" y="2628683"/>
            <a:ext cx="3633163" cy="4194234"/>
          </a:xfrm>
          <a:prstGeom prst="rect">
            <a:avLst/>
          </a:prstGeom>
        </p:spPr>
      </p:pic>
      <p:pic>
        <p:nvPicPr>
          <p:cNvPr id="12" name="Image 10" descr="preencoded.png">    </p:cNvPr>
          <p:cNvPicPr>
            <a:picLocks noChangeAspect="1"/>
          </p:cNvPicPr>
          <p:nvPr/>
        </p:nvPicPr>
        <p:blipFill>
          <a:blip r:embed="rId11"/>
          <a:stretch>
            <a:fillRect/>
          </a:stretch>
        </p:blipFill>
        <p:spPr>
          <a:xfrm>
            <a:off x="7385638" y="2819098"/>
            <a:ext cx="3303269" cy="3813405"/>
          </a:xfrm>
          <a:prstGeom prst="rect">
            <a:avLst/>
          </a:prstGeom>
        </p:spPr>
      </p:pic>
      <p:pic>
        <p:nvPicPr>
          <p:cNvPr id="13" name="Image 11" descr="preencoded.png">    </p:cNvPr>
          <p:cNvPicPr>
            <a:picLocks noChangeAspect="1"/>
          </p:cNvPicPr>
          <p:nvPr/>
        </p:nvPicPr>
        <p:blipFill>
          <a:blip r:embed="rId12"/>
          <a:stretch>
            <a:fillRect/>
          </a:stretch>
        </p:blipFill>
        <p:spPr>
          <a:xfrm>
            <a:off x="7379312" y="2819098"/>
            <a:ext cx="1661216" cy="3813405"/>
          </a:xfrm>
          <a:prstGeom prst="rect">
            <a:avLst/>
          </a:prstGeom>
        </p:spPr>
      </p:pic>
      <p:pic>
        <p:nvPicPr>
          <p:cNvPr id="14" name="Image 12" descr="preencoded.png">    </p:cNvPr>
          <p:cNvPicPr>
            <a:picLocks noChangeAspect="1"/>
          </p:cNvPicPr>
          <p:nvPr/>
        </p:nvPicPr>
        <p:blipFill>
          <a:blip r:embed="rId13"/>
          <a:stretch>
            <a:fillRect/>
          </a:stretch>
        </p:blipFill>
        <p:spPr>
          <a:xfrm>
            <a:off x="13085885" y="2628685"/>
            <a:ext cx="3633163" cy="4194232"/>
          </a:xfrm>
          <a:prstGeom prst="rect">
            <a:avLst/>
          </a:prstGeom>
        </p:spPr>
      </p:pic>
      <p:pic>
        <p:nvPicPr>
          <p:cNvPr id="15" name="Image 13" descr="preencoded.png">    </p:cNvPr>
          <p:cNvPicPr>
            <a:picLocks noChangeAspect="1"/>
          </p:cNvPicPr>
          <p:nvPr/>
        </p:nvPicPr>
        <p:blipFill>
          <a:blip r:embed="rId14"/>
          <a:stretch>
            <a:fillRect/>
          </a:stretch>
        </p:blipFill>
        <p:spPr>
          <a:xfrm>
            <a:off x="13250832" y="2819099"/>
            <a:ext cx="3303269" cy="3813403"/>
          </a:xfrm>
          <a:prstGeom prst="rect">
            <a:avLst/>
          </a:prstGeom>
        </p:spPr>
      </p:pic>
      <p:pic>
        <p:nvPicPr>
          <p:cNvPr id="16" name="Image 14" descr="preencoded.png">    </p:cNvPr>
          <p:cNvPicPr>
            <a:picLocks noChangeAspect="1"/>
          </p:cNvPicPr>
          <p:nvPr/>
        </p:nvPicPr>
        <p:blipFill>
          <a:blip r:embed="rId15"/>
          <a:stretch>
            <a:fillRect/>
          </a:stretch>
        </p:blipFill>
        <p:spPr>
          <a:xfrm>
            <a:off x="13244481" y="2819098"/>
            <a:ext cx="1661216" cy="3813405"/>
          </a:xfrm>
          <a:prstGeom prst="rect">
            <a:avLst/>
          </a:prstGeom>
        </p:spPr>
      </p:pic>
      <p:pic>
        <p:nvPicPr>
          <p:cNvPr id="17" name="Image 15" descr="preencoded.png">    </p:cNvPr>
          <p:cNvPicPr>
            <a:picLocks noChangeAspect="1"/>
          </p:cNvPicPr>
          <p:nvPr/>
        </p:nvPicPr>
        <p:blipFill>
          <a:blip r:embed="rId16"/>
          <a:stretch>
            <a:fillRect/>
          </a:stretch>
        </p:blipFill>
        <p:spPr>
          <a:xfrm>
            <a:off x="18951079" y="2628683"/>
            <a:ext cx="3633163" cy="4194234"/>
          </a:xfrm>
          <a:prstGeom prst="rect">
            <a:avLst/>
          </a:prstGeom>
        </p:spPr>
      </p:pic>
      <p:pic>
        <p:nvPicPr>
          <p:cNvPr id="18" name="Image 16" descr="preencoded.png">    </p:cNvPr>
          <p:cNvPicPr>
            <a:picLocks noChangeAspect="1"/>
          </p:cNvPicPr>
          <p:nvPr/>
        </p:nvPicPr>
        <p:blipFill>
          <a:blip r:embed="rId17"/>
          <a:stretch>
            <a:fillRect/>
          </a:stretch>
        </p:blipFill>
        <p:spPr>
          <a:xfrm>
            <a:off x="19116026" y="2819098"/>
            <a:ext cx="3303269" cy="3813405"/>
          </a:xfrm>
          <a:prstGeom prst="rect">
            <a:avLst/>
          </a:prstGeom>
        </p:spPr>
      </p:pic>
      <p:pic>
        <p:nvPicPr>
          <p:cNvPr id="19" name="Image 17" descr="preencoded.png">    </p:cNvPr>
          <p:cNvPicPr>
            <a:picLocks noChangeAspect="1"/>
          </p:cNvPicPr>
          <p:nvPr/>
        </p:nvPicPr>
        <p:blipFill>
          <a:blip r:embed="rId18"/>
          <a:stretch>
            <a:fillRect/>
          </a:stretch>
        </p:blipFill>
        <p:spPr>
          <a:xfrm>
            <a:off x="19109712" y="2819098"/>
            <a:ext cx="1661216" cy="3813405"/>
          </a:xfrm>
          <a:prstGeom prst="rect">
            <a:avLst/>
          </a:prstGeom>
        </p:spPr>
      </p:pic>
      <p:pic>
        <p:nvPicPr>
          <p:cNvPr id="20" name="Image 18" descr="preencoded.png">    </p:cNvPr>
          <p:cNvPicPr>
            <a:picLocks noChangeAspect="1"/>
          </p:cNvPicPr>
          <p:nvPr/>
        </p:nvPicPr>
        <p:blipFill>
          <a:blip r:embed="rId19"/>
          <a:stretch>
            <a:fillRect/>
          </a:stretch>
        </p:blipFill>
        <p:spPr>
          <a:xfrm>
            <a:off x="20103586" y="4076492"/>
            <a:ext cx="1319539" cy="1298619"/>
          </a:xfrm>
          <a:prstGeom prst="rect">
            <a:avLst/>
          </a:prstGeom>
        </p:spPr>
      </p:pic>
      <p:sp>
        <p:nvSpPr>
          <p:cNvPr id="21" name="Text 0"/>
          <p:cNvSpPr/>
          <p:nvPr/>
        </p:nvSpPr>
        <p:spPr>
          <a:xfrm>
            <a:off x="18290857" y="7106602"/>
            <a:ext cx="5063589" cy="757575"/>
          </a:xfrm>
          <a:prstGeom prst="rect">
            <a:avLst/>
          </a:prstGeom>
          <a:noFill/>
          <a:ln/>
        </p:spPr>
        <p:txBody>
          <a:bodyPr wrap="square" lIns="0" tIns="0" rIns="0" bIns="0" rtlCol="0" anchor="t"/>
          <a:lstStyle/>
          <a:p>
            <a:pPr algn="l"/>
            <a:r>
              <a:rPr lang="en-US" sz="3200" dirty="0">
                <a:solidFill>
                  <a:srgbClr val="B62D27">
                    <a:alpha val="100000"/>
                  </a:srgbClr>
                </a:solidFill>
                <a:latin typeface="TeX Gyre Adventor Bold" pitchFamily="34" charset="0"/>
                <a:ea typeface="TeX Gyre Adventor Bold" pitchFamily="34" charset="-122"/>
                <a:cs typeface="TeX Gyre Adventor Bold" pitchFamily="34" charset="-120"/>
              </a:rPr>
              <a:t>Supporting Make In India</a:t>
            </a:r>
            <a:endParaRPr lang="en-US" sz="3197" dirty="0"/>
          </a:p>
        </p:txBody>
      </p:sp>
      <p:sp>
        <p:nvSpPr>
          <p:cNvPr id="22" name="Text 1"/>
          <p:cNvSpPr/>
          <p:nvPr/>
        </p:nvSpPr>
        <p:spPr>
          <a:xfrm>
            <a:off x="6619561" y="7106602"/>
            <a:ext cx="4961977" cy="757575"/>
          </a:xfrm>
          <a:prstGeom prst="rect">
            <a:avLst/>
          </a:prstGeom>
          <a:noFill/>
          <a:ln/>
        </p:spPr>
        <p:txBody>
          <a:bodyPr wrap="square" lIns="0" tIns="0" rIns="0" bIns="0" rtlCol="0" anchor="t"/>
          <a:lstStyle/>
          <a:p>
            <a:pPr algn="l"/>
            <a:r>
              <a:rPr lang="en-US" sz="3200" dirty="0">
                <a:solidFill>
                  <a:srgbClr val="B62D27">
                    <a:alpha val="100000"/>
                  </a:srgbClr>
                </a:solidFill>
                <a:latin typeface="TeX Gyre Adventor Bold" pitchFamily="34" charset="0"/>
                <a:ea typeface="TeX Gyre Adventor Bold" pitchFamily="34" charset="-122"/>
                <a:cs typeface="TeX Gyre Adventor Bold" pitchFamily="34" charset="-120"/>
              </a:rPr>
              <a:t>Supporting Craft Artisans</a:t>
            </a:r>
            <a:endParaRPr lang="en-US" sz="3197" dirty="0"/>
          </a:p>
        </p:txBody>
      </p:sp>
      <p:sp>
        <p:nvSpPr>
          <p:cNvPr id="23" name="Text 2"/>
          <p:cNvSpPr/>
          <p:nvPr/>
        </p:nvSpPr>
        <p:spPr>
          <a:xfrm>
            <a:off x="13382189" y="7106602"/>
            <a:ext cx="3094843" cy="757575"/>
          </a:xfrm>
          <a:prstGeom prst="rect">
            <a:avLst/>
          </a:prstGeom>
          <a:noFill/>
          <a:ln/>
        </p:spPr>
        <p:txBody>
          <a:bodyPr wrap="square" lIns="0" tIns="0" rIns="0" bIns="0" rtlCol="0" anchor="t"/>
          <a:lstStyle/>
          <a:p>
            <a:pPr algn="l"/>
            <a:r>
              <a:rPr lang="en-US" sz="3200" dirty="0">
                <a:solidFill>
                  <a:srgbClr val="B62D27">
                    <a:alpha val="100000"/>
                  </a:srgbClr>
                </a:solidFill>
                <a:latin typeface="TeX Gyre Adventor Bold" pitchFamily="34" charset="0"/>
                <a:ea typeface="TeX Gyre Adventor Bold" pitchFamily="34" charset="-122"/>
                <a:cs typeface="TeX Gyre Adventor Bold" pitchFamily="34" charset="-120"/>
              </a:rPr>
              <a:t>Helping MSMEs</a:t>
            </a:r>
            <a:endParaRPr lang="en-US" sz="3197" dirty="0"/>
          </a:p>
        </p:txBody>
      </p:sp>
      <p:sp>
        <p:nvSpPr>
          <p:cNvPr id="24" name="Text 3"/>
          <p:cNvSpPr/>
          <p:nvPr/>
        </p:nvSpPr>
        <p:spPr>
          <a:xfrm>
            <a:off x="1712519" y="7106602"/>
            <a:ext cx="3082142" cy="757575"/>
          </a:xfrm>
          <a:prstGeom prst="rect">
            <a:avLst/>
          </a:prstGeom>
          <a:noFill/>
          <a:ln/>
        </p:spPr>
        <p:txBody>
          <a:bodyPr wrap="square" lIns="0" tIns="0" rIns="0" bIns="0" rtlCol="0" anchor="t"/>
          <a:lstStyle/>
          <a:p>
            <a:pPr algn="l"/>
            <a:r>
              <a:rPr lang="en-US" sz="3200" dirty="0">
                <a:solidFill>
                  <a:srgbClr val="B62D27">
                    <a:alpha val="100000"/>
                  </a:srgbClr>
                </a:solidFill>
                <a:latin typeface="TeX Gyre Adventor Bold" pitchFamily="34" charset="0"/>
                <a:ea typeface="TeX Gyre Adventor Bold" pitchFamily="34" charset="-122"/>
                <a:cs typeface="TeX Gyre Adventor Bold" pitchFamily="34" charset="-120"/>
              </a:rPr>
              <a:t>Eco-Conscious</a:t>
            </a:r>
            <a:endParaRPr lang="en-US" sz="3197" dirty="0"/>
          </a:p>
        </p:txBody>
      </p:sp>
      <p:sp>
        <p:nvSpPr>
          <p:cNvPr id="25" name="Text 4"/>
          <p:cNvSpPr/>
          <p:nvPr/>
        </p:nvSpPr>
        <p:spPr>
          <a:xfrm>
            <a:off x="18466226" y="8203320"/>
            <a:ext cx="4594249" cy="1204330"/>
          </a:xfrm>
          <a:prstGeom prst="rect">
            <a:avLst/>
          </a:prstGeom>
          <a:noFill/>
          <a:ln/>
        </p:spPr>
        <p:txBody>
          <a:bodyPr wrap="square" lIns="0" tIns="0" rIns="0" bIns="0" rtlCol="0" anchor="t"/>
          <a:lstStyle/>
          <a:p>
            <a:pPr algn="ctr"/>
            <a:r>
              <a:rPr lang="en-US" sz="2400" dirty="0">
                <a:solidFill>
                  <a:srgbClr val="000000">
                    <a:alpha val="100000"/>
                  </a:srgbClr>
                </a:solidFill>
                <a:latin typeface="Montserrat Medium" pitchFamily="34" charset="0"/>
                <a:ea typeface="Montserrat Medium" pitchFamily="34" charset="-122"/>
                <a:cs typeface="Montserrat Medium" pitchFamily="34" charset="-120"/>
              </a:rPr>
              <a:t>Preserving Indian Heritage while employing rural sector in gainful production.</a:t>
            </a:r>
            <a:endParaRPr lang="en-US" sz="2352" dirty="0"/>
          </a:p>
        </p:txBody>
      </p:sp>
      <p:sp>
        <p:nvSpPr>
          <p:cNvPr id="26" name="Text 5"/>
          <p:cNvSpPr/>
          <p:nvPr/>
        </p:nvSpPr>
        <p:spPr>
          <a:xfrm>
            <a:off x="7002746" y="8203320"/>
            <a:ext cx="4140657" cy="1204330"/>
          </a:xfrm>
          <a:prstGeom prst="rect">
            <a:avLst/>
          </a:prstGeom>
          <a:noFill/>
          <a:ln/>
        </p:spPr>
        <p:txBody>
          <a:bodyPr wrap="square" lIns="0" tIns="0" rIns="0" bIns="0" rtlCol="0" anchor="t"/>
          <a:lstStyle/>
          <a:p>
            <a:pPr algn="ctr"/>
            <a:r>
              <a:rPr lang="en-US" sz="2400" dirty="0">
                <a:solidFill>
                  <a:srgbClr val="000000">
                    <a:alpha val="100000"/>
                  </a:srgbClr>
                </a:solidFill>
                <a:latin typeface="Montserrat Medium" pitchFamily="34" charset="0"/>
                <a:ea typeface="Montserrat Medium" pitchFamily="34" charset="-122"/>
                <a:cs typeface="Montserrat Medium" pitchFamily="34" charset="-120"/>
              </a:rPr>
              <a:t>We provide a second livelihood to impoverished sholapith craftsmen.</a:t>
            </a:r>
            <a:endParaRPr lang="en-US" sz="2352" dirty="0"/>
          </a:p>
        </p:txBody>
      </p:sp>
      <p:sp>
        <p:nvSpPr>
          <p:cNvPr id="27" name="Text 6"/>
          <p:cNvSpPr/>
          <p:nvPr/>
        </p:nvSpPr>
        <p:spPr>
          <a:xfrm>
            <a:off x="12837575" y="8203320"/>
            <a:ext cx="4140657" cy="1204330"/>
          </a:xfrm>
          <a:prstGeom prst="rect">
            <a:avLst/>
          </a:prstGeom>
          <a:noFill/>
          <a:ln/>
        </p:spPr>
        <p:txBody>
          <a:bodyPr wrap="square" lIns="0" tIns="0" rIns="0" bIns="0" rtlCol="0" anchor="t"/>
          <a:lstStyle/>
          <a:p>
            <a:pPr algn="ctr"/>
            <a:r>
              <a:rPr lang="en-US" sz="2400" dirty="0">
                <a:solidFill>
                  <a:srgbClr val="000000">
                    <a:alpha val="100000"/>
                  </a:srgbClr>
                </a:solidFill>
                <a:latin typeface="Montserrat Medium" pitchFamily="34" charset="0"/>
                <a:ea typeface="Montserrat Medium" pitchFamily="34" charset="-122"/>
                <a:cs typeface="Montserrat Medium" pitchFamily="34" charset="-120"/>
              </a:rPr>
              <a:t>Supporting small scale farmers; reducing import of packing peanuts.</a:t>
            </a:r>
            <a:endParaRPr lang="en-US" sz="2352" dirty="0"/>
          </a:p>
        </p:txBody>
      </p:sp>
      <p:sp>
        <p:nvSpPr>
          <p:cNvPr id="28" name="Text 7"/>
          <p:cNvSpPr/>
          <p:nvPr/>
        </p:nvSpPr>
        <p:spPr>
          <a:xfrm>
            <a:off x="1106058" y="8203320"/>
            <a:ext cx="4140657" cy="1204330"/>
          </a:xfrm>
          <a:prstGeom prst="rect">
            <a:avLst/>
          </a:prstGeom>
          <a:noFill/>
          <a:ln/>
        </p:spPr>
        <p:txBody>
          <a:bodyPr wrap="square" lIns="0" tIns="0" rIns="0" bIns="0" rtlCol="0" anchor="t"/>
          <a:lstStyle/>
          <a:p>
            <a:pPr algn="ctr"/>
            <a:r>
              <a:rPr lang="en-US" sz="2400" dirty="0">
                <a:solidFill>
                  <a:srgbClr val="000000">
                    <a:alpha val="100000"/>
                  </a:srgbClr>
                </a:solidFill>
                <a:latin typeface="Montserrat Medium" pitchFamily="34" charset="0"/>
                <a:ea typeface="Montserrat Medium" pitchFamily="34" charset="-122"/>
                <a:cs typeface="Montserrat Medium" pitchFamily="34" charset="-120"/>
              </a:rPr>
              <a:t>Biodegradable product, cheaper than thermocol and styrofoam.</a:t>
            </a:r>
            <a:endParaRPr lang="en-US" sz="2352" dirty="0"/>
          </a:p>
        </p:txBody>
      </p:sp>
      <p:pic>
        <p:nvPicPr>
          <p:cNvPr id="29" name="Image 19" descr="preencoded.png">    </p:cNvPr>
          <p:cNvPicPr>
            <a:picLocks noChangeAspect="1"/>
          </p:cNvPicPr>
          <p:nvPr/>
        </p:nvPicPr>
        <p:blipFill>
          <a:blip r:embed="rId20"/>
          <a:stretch>
            <a:fillRect/>
          </a:stretch>
        </p:blipFill>
        <p:spPr>
          <a:xfrm>
            <a:off x="2537241" y="4076492"/>
            <a:ext cx="1299370" cy="1298619"/>
          </a:xfrm>
          <a:prstGeom prst="rect">
            <a:avLst/>
          </a:prstGeom>
        </p:spPr>
      </p:pic>
      <p:pic>
        <p:nvPicPr>
          <p:cNvPr id="30" name="Image 20" descr="preencoded.png">    </p:cNvPr>
          <p:cNvPicPr>
            <a:picLocks noChangeAspect="1"/>
          </p:cNvPicPr>
          <p:nvPr/>
        </p:nvPicPr>
        <p:blipFill>
          <a:blip r:embed="rId21"/>
          <a:stretch>
            <a:fillRect/>
          </a:stretch>
        </p:blipFill>
        <p:spPr>
          <a:xfrm>
            <a:off x="8372070" y="4076492"/>
            <a:ext cx="1298923" cy="1298619"/>
          </a:xfrm>
          <a:prstGeom prst="rect">
            <a:avLst/>
          </a:prstGeom>
        </p:spPr>
      </p:pic>
      <p:pic>
        <p:nvPicPr>
          <p:cNvPr id="31" name="Image 21" descr="preencoded.png">    </p:cNvPr>
          <p:cNvPicPr>
            <a:picLocks noChangeAspect="1"/>
          </p:cNvPicPr>
          <p:nvPr/>
        </p:nvPicPr>
        <p:blipFill>
          <a:blip r:embed="rId22"/>
          <a:stretch>
            <a:fillRect/>
          </a:stretch>
        </p:blipFill>
        <p:spPr>
          <a:xfrm>
            <a:off x="14330603" y="4076492"/>
            <a:ext cx="1154592" cy="1298619"/>
          </a:xfrm>
          <a:prstGeom prst="rect">
            <a:avLst/>
          </a:prstGeom>
        </p:spPr>
      </p:pic>
      <p:sp>
        <p:nvSpPr>
          <p:cNvPr id="32" name="Text 8"/>
          <p:cNvSpPr/>
          <p:nvPr/>
        </p:nvSpPr>
        <p:spPr>
          <a:xfrm>
            <a:off x="990724" y="10489075"/>
            <a:ext cx="23064042" cy="3045633"/>
          </a:xfrm>
          <a:prstGeom prst="rect">
            <a:avLst/>
          </a:prstGeom>
          <a:noFill/>
          <a:ln/>
        </p:spPr>
        <p:txBody>
          <a:bodyPr wrap="square" lIns="0" tIns="0" rIns="0" bIns="0" rtlCol="0" anchor="t"/>
          <a:lstStyle/>
          <a:p>
            <a:pPr algn="l"/>
            <a:r>
              <a:rPr lang="en-US" sz="2400" dirty="0">
                <a:solidFill>
                  <a:srgbClr val="000000">
                    <a:alpha val="100000"/>
                  </a:srgbClr>
                </a:solidFill>
                <a:latin typeface="Montserrat Medium" pitchFamily="34" charset="0"/>
                <a:ea typeface="Montserrat Medium" pitchFamily="34" charset="-122"/>
                <a:cs typeface="Montserrat Medium" pitchFamily="34" charset="-120"/>
              </a:rPr>
              <a:t>As is the case with green products and sustainable businesses, our entire growth hinges on whether we can make our customers, the businesses and their customers, the public, see value in our idea. To this effect, </a:t>
            </a:r>
            <a:pPr algn="l"/>
            <a:r>
              <a:rPr lang="en-US" sz="2400" dirty="0">
                <a:solidFill>
                  <a:srgbClr val="000000">
                    <a:alpha val="100000"/>
                  </a:srgbClr>
                </a:solidFill>
                <a:latin typeface="Montserrat Bold" pitchFamily="34" charset="0"/>
                <a:ea typeface="Montserrat Bold" pitchFamily="34" charset="-122"/>
                <a:cs typeface="Montserrat Bold" pitchFamily="34" charset="-120"/>
              </a:rPr>
              <a:t>we must highlight the advantges our product has over the other alternatives</a:t>
            </a:r>
            <a:pPr algn="l"/>
            <a:r>
              <a:rPr lang="en-US" sz="2400" dirty="0">
                <a:solidFill>
                  <a:srgbClr val="000000">
                    <a:alpha val="100000"/>
                  </a:srgbClr>
                </a:solidFill>
                <a:latin typeface="Montserrat Medium" pitchFamily="34" charset="0"/>
                <a:ea typeface="Montserrat Medium" pitchFamily="34" charset="-122"/>
                <a:cs typeface="Montserrat Medium" pitchFamily="34" charset="-120"/>
              </a:rPr>
              <a:t> in the market.  </a:t>
            </a:r>
            <a:endParaRPr lang="en-US" sz="2352" dirty="0"/>
          </a:p>
          <a:p>
            <a:pPr algn="l"/>
            <a:r>
              <a:rPr lang="en-US" sz="2400" dirty="0">
                <a:solidFill>
                  <a:srgbClr val="000000">
                    <a:alpha val="100000"/>
                  </a:srgbClr>
                </a:solidFill>
                <a:latin typeface="Montserrat Medium" pitchFamily="34" charset="0"/>
                <a:ea typeface="Montserrat Medium" pitchFamily="34" charset="-122"/>
                <a:cs typeface="Montserrat Medium" pitchFamily="34" charset="-120"/>
              </a:rPr>
              <a:t> </a:t>
            </a:r>
            <a:endParaRPr lang="en-US" sz="2352" dirty="0"/>
          </a:p>
          <a:p>
            <a:pPr algn="l"/>
            <a:r>
              <a:rPr lang="en-US" sz="2400" dirty="0">
                <a:solidFill>
                  <a:srgbClr val="B62D27">
                    <a:alpha val="100000"/>
                  </a:srgbClr>
                </a:solidFill>
                <a:latin typeface="Montserrat Bold" pitchFamily="34" charset="0"/>
                <a:ea typeface="Montserrat Bold" pitchFamily="34" charset="-122"/>
                <a:cs typeface="Montserrat Bold" pitchFamily="34" charset="-120"/>
              </a:rPr>
              <a:t>In the case of styrofoam/thermocol alternative</a:t>
            </a:r>
            <a:pPr algn="l"/>
            <a:r>
              <a:rPr lang="en-US" sz="2400" dirty="0">
                <a:solidFill>
                  <a:srgbClr val="000000">
                    <a:alpha val="100000"/>
                  </a:srgbClr>
                </a:solidFill>
                <a:latin typeface="Montserrat Medium" pitchFamily="34" charset="0"/>
                <a:ea typeface="Montserrat Medium" pitchFamily="34" charset="-122"/>
                <a:cs typeface="Montserrat Medium" pitchFamily="34" charset="-120"/>
              </a:rPr>
              <a:t>, we have a clear edge by being biodegradable, locally-sourced naturally, and cheaper in the long term. </a:t>
            </a:r>
            <a:endParaRPr lang="en-US" sz="2352" dirty="0"/>
          </a:p>
          <a:p>
            <a:pPr algn="l"/>
            <a:r>
              <a:rPr lang="en-US" sz="2400" dirty="0">
                <a:solidFill>
                  <a:srgbClr val="000000">
                    <a:alpha val="100000"/>
                  </a:srgbClr>
                </a:solidFill>
                <a:latin typeface="Montserrat Medium" pitchFamily="34" charset="0"/>
                <a:ea typeface="Montserrat Medium" pitchFamily="34" charset="-122"/>
                <a:cs typeface="Montserrat Medium" pitchFamily="34" charset="-120"/>
              </a:rPr>
              <a:t> </a:t>
            </a:r>
            <a:endParaRPr lang="en-US" sz="2352" dirty="0"/>
          </a:p>
          <a:p>
            <a:pPr algn="l"/>
            <a:r>
              <a:rPr lang="en-US" sz="2400" dirty="0">
                <a:solidFill>
                  <a:srgbClr val="000000">
                    <a:alpha val="100000"/>
                  </a:srgbClr>
                </a:solidFill>
                <a:latin typeface="Montserrat Medium" pitchFamily="34" charset="0"/>
                <a:ea typeface="Montserrat Medium" pitchFamily="34" charset="-122"/>
                <a:cs typeface="Montserrat Medium" pitchFamily="34" charset="-120"/>
              </a:rPr>
              <a:t>When it comes to the </a:t>
            </a:r>
            <a:pPr algn="l"/>
            <a:r>
              <a:rPr lang="en-US" sz="2400" dirty="0">
                <a:solidFill>
                  <a:srgbClr val="B62D27">
                    <a:alpha val="100000"/>
                  </a:srgbClr>
                </a:solidFill>
                <a:latin typeface="Montserrat Bold" pitchFamily="34" charset="0"/>
                <a:ea typeface="Montserrat Bold" pitchFamily="34" charset="-122"/>
                <a:cs typeface="Montserrat Bold" pitchFamily="34" charset="-120"/>
              </a:rPr>
              <a:t>other starch and wheat based biodegradable alternatives</a:t>
            </a:r>
            <a:pPr algn="l"/>
            <a:r>
              <a:rPr lang="en-US" sz="2400" dirty="0">
                <a:solidFill>
                  <a:srgbClr val="000000">
                    <a:alpha val="100000"/>
                  </a:srgbClr>
                </a:solidFill>
                <a:latin typeface="Montserrat Medium" pitchFamily="34" charset="0"/>
                <a:ea typeface="Montserrat Medium" pitchFamily="34" charset="-122"/>
                <a:cs typeface="Montserrat Medium" pitchFamily="34" charset="-120"/>
              </a:rPr>
              <a:t>, we must point out the social aspect of our product- the support system we aim to create for Sholapith craftsmen, farmers, and their families that depend on them for their daily meal.</a:t>
            </a:r>
            <a:endParaRPr lang="en-US" sz="2352" dirty="0"/>
          </a:p>
        </p:txBody>
      </p:sp>
      <p:pic>
        <p:nvPicPr>
          <p:cNvPr id="33" name="Image 22" descr="preencoded.png">    </p:cNvPr>
          <p:cNvPicPr>
            <a:picLocks noChangeAspect="1"/>
          </p:cNvPicPr>
          <p:nvPr/>
        </p:nvPicPr>
        <p:blipFill>
          <a:blip r:embed="rId23"/>
          <a:stretch>
            <a:fillRect/>
          </a:stretch>
        </p:blipFill>
        <p:spPr>
          <a:xfrm>
            <a:off x="22977172" y="0"/>
            <a:ext cx="1409876" cy="167622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74797" y="215877"/>
            <a:ext cx="11177397" cy="1841303"/>
          </a:xfrm>
          <a:prstGeom prst="rect">
            <a:avLst/>
          </a:prstGeom>
        </p:spPr>
      </p:pic>
      <p:sp>
        <p:nvSpPr>
          <p:cNvPr id="3" name="Text 0"/>
          <p:cNvSpPr/>
          <p:nvPr/>
        </p:nvSpPr>
        <p:spPr>
          <a:xfrm>
            <a:off x="1206651" y="584137"/>
            <a:ext cx="8645547" cy="1189439"/>
          </a:xfrm>
          <a:prstGeom prst="rect">
            <a:avLst/>
          </a:prstGeom>
          <a:noFill/>
          <a:ln/>
        </p:spPr>
        <p:txBody>
          <a:bodyPr wrap="square" lIns="0" tIns="0" rIns="0" bIns="0" rtlCol="0" anchor="t"/>
          <a:lstStyle/>
          <a:p>
            <a:pPr algn="l"/>
            <a:r>
              <a:rPr lang="en-US" sz="5000" dirty="0">
                <a:solidFill>
                  <a:srgbClr val="FFFFFF">
                    <a:alpha val="100000"/>
                  </a:srgbClr>
                </a:solidFill>
                <a:latin typeface="TeX Gyre Adventor Bold" pitchFamily="34" charset="0"/>
                <a:ea typeface="TeX Gyre Adventor Bold" pitchFamily="34" charset="-122"/>
                <a:cs typeface="TeX Gyre Adventor Bold" pitchFamily="34" charset="-120"/>
              </a:rPr>
              <a:t>Porter’s five forces analysis</a:t>
            </a:r>
            <a:endParaRPr lang="en-US" sz="5000" dirty="0"/>
          </a:p>
        </p:txBody>
      </p:sp>
      <p:pic>
        <p:nvPicPr>
          <p:cNvPr id="4" name="Image 1" descr="preencoded.png">    </p:cNvPr>
          <p:cNvPicPr>
            <a:picLocks noChangeAspect="1"/>
          </p:cNvPicPr>
          <p:nvPr/>
        </p:nvPicPr>
        <p:blipFill>
          <a:blip r:embed="rId2"/>
          <a:stretch>
            <a:fillRect/>
          </a:stretch>
        </p:blipFill>
        <p:spPr>
          <a:xfrm>
            <a:off x="12599975" y="1282562"/>
            <a:ext cx="5791924" cy="38096"/>
          </a:xfrm>
          <a:prstGeom prst="rect">
            <a:avLst/>
          </a:prstGeom>
        </p:spPr>
      </p:pic>
      <p:sp>
        <p:nvSpPr>
          <p:cNvPr id="5" name="Text 1"/>
          <p:cNvSpPr/>
          <p:nvPr/>
        </p:nvSpPr>
        <p:spPr>
          <a:xfrm>
            <a:off x="11533041" y="2539728"/>
            <a:ext cx="11338284" cy="1913261"/>
          </a:xfrm>
          <a:prstGeom prst="rect">
            <a:avLst/>
          </a:prstGeom>
          <a:noFill/>
          <a:ln/>
        </p:spPr>
        <p:txBody>
          <a:bodyPr wrap="square" lIns="0" tIns="0" rIns="0" bIns="0" rtlCol="0" anchor="t"/>
          <a:lstStyle/>
          <a:p>
            <a:pPr algn="l"/>
            <a:r>
              <a:rPr lang="en-US" sz="2000" dirty="0">
                <a:solidFill>
                  <a:srgbClr val="B62D27">
                    <a:alpha val="100000"/>
                  </a:srgbClr>
                </a:solidFill>
                <a:latin typeface="Montserrat SemiBold" pitchFamily="34" charset="0"/>
                <a:ea typeface="Montserrat SemiBold" pitchFamily="34" charset="-122"/>
                <a:cs typeface="Montserrat SemiBold" pitchFamily="34" charset="-120"/>
              </a:rPr>
              <a:t>1. Competition In the market -</a:t>
            </a:r>
            <a:endParaRPr lang="en-US" sz="2000" dirty="0"/>
          </a:p>
          <a:p>
            <a:pPr algn="l"/>
            <a:r>
              <a:rPr lang="en-US" sz="2000" dirty="0">
                <a:solidFill>
                  <a:srgbClr val="000000">
                    <a:alpha val="100000"/>
                  </a:srgbClr>
                </a:solidFill>
                <a:latin typeface="Montserrat Regular" pitchFamily="34" charset="0"/>
                <a:ea typeface="Montserrat Regular" pitchFamily="34" charset="-122"/>
                <a:cs typeface="Montserrat Regular" pitchFamily="34" charset="-120"/>
              </a:rPr>
              <a:t>The market for biodegradable packaging is a niche one with few competitors, with Ecoware and Bluerose packaging among the top competitors in the market. Meanwhile, the market for Non - Biodegradable packaging is huge but its not sustainable and is a threat to the environment.</a:t>
            </a:r>
            <a:endParaRPr lang="en-US" sz="2000" dirty="0"/>
          </a:p>
        </p:txBody>
      </p:sp>
      <p:sp>
        <p:nvSpPr>
          <p:cNvPr id="6" name="Text 2"/>
          <p:cNvSpPr/>
          <p:nvPr/>
        </p:nvSpPr>
        <p:spPr>
          <a:xfrm>
            <a:off x="11952194" y="4787387"/>
            <a:ext cx="11338284" cy="1913261"/>
          </a:xfrm>
          <a:prstGeom prst="rect">
            <a:avLst/>
          </a:prstGeom>
          <a:noFill/>
          <a:ln/>
        </p:spPr>
        <p:txBody>
          <a:bodyPr wrap="square" lIns="0" tIns="0" rIns="0" bIns="0" rtlCol="0" anchor="t"/>
          <a:lstStyle/>
          <a:p>
            <a:pPr algn="l"/>
            <a:r>
              <a:rPr lang="en-US" sz="2000" dirty="0">
                <a:solidFill>
                  <a:srgbClr val="B62D27">
                    <a:alpha val="100000"/>
                  </a:srgbClr>
                </a:solidFill>
                <a:latin typeface="Montserrat Bold" pitchFamily="34" charset="0"/>
                <a:ea typeface="Montserrat Bold" pitchFamily="34" charset="-122"/>
                <a:cs typeface="Montserrat Bold" pitchFamily="34" charset="-120"/>
              </a:rPr>
              <a:t>2. Potential of new entrants in the market - </a:t>
            </a:r>
            <a:endParaRPr lang="en-US" sz="2000" dirty="0"/>
          </a:p>
          <a:p>
            <a:pPr algn="l"/>
            <a:r>
              <a:rPr lang="en-US" sz="2000" dirty="0">
                <a:solidFill>
                  <a:srgbClr val="000000">
                    <a:alpha val="100000"/>
                  </a:srgbClr>
                </a:solidFill>
                <a:latin typeface="Montserrat Regular" pitchFamily="34" charset="0"/>
                <a:ea typeface="Montserrat Regular" pitchFamily="34" charset="-122"/>
                <a:cs typeface="Montserrat Regular" pitchFamily="34" charset="-120"/>
              </a:rPr>
              <a:t>The sector of sustainable packaging can only be penetrated by an entrant if they have the right quality of Sholapith and right infrastructure to support its production into packaging maetials. It requries sustainable scaling, as well as good local farm source maintainence. </a:t>
            </a:r>
            <a:endParaRPr lang="en-US" sz="2000" dirty="0"/>
          </a:p>
        </p:txBody>
      </p:sp>
      <p:sp>
        <p:nvSpPr>
          <p:cNvPr id="7" name="Text 3"/>
          <p:cNvSpPr/>
          <p:nvPr/>
        </p:nvSpPr>
        <p:spPr>
          <a:xfrm>
            <a:off x="11952194" y="9587472"/>
            <a:ext cx="11389090" cy="1913261"/>
          </a:xfrm>
          <a:prstGeom prst="rect">
            <a:avLst/>
          </a:prstGeom>
          <a:noFill/>
          <a:ln/>
        </p:spPr>
        <p:txBody>
          <a:bodyPr wrap="square" lIns="0" tIns="0" rIns="0" bIns="0" rtlCol="0" anchor="t"/>
          <a:lstStyle/>
          <a:p>
            <a:pPr algn="l"/>
            <a:r>
              <a:rPr lang="en-US" sz="2000" dirty="0">
                <a:solidFill>
                  <a:srgbClr val="B62D27">
                    <a:alpha val="100000"/>
                  </a:srgbClr>
                </a:solidFill>
                <a:latin typeface="Montserrat Bold" pitchFamily="34" charset="0"/>
                <a:ea typeface="Montserrat Bold" pitchFamily="34" charset="-122"/>
                <a:cs typeface="Montserrat Bold" pitchFamily="34" charset="-120"/>
              </a:rPr>
              <a:t>4. Power of Customers</a:t>
            </a:r>
            <a:endParaRPr lang="en-US" sz="2000" dirty="0"/>
          </a:p>
          <a:p>
            <a:pPr algn="l"/>
            <a:r>
              <a:rPr lang="en-US" sz="2000" dirty="0">
                <a:solidFill>
                  <a:srgbClr val="000000">
                    <a:alpha val="100000"/>
                  </a:srgbClr>
                </a:solidFill>
                <a:latin typeface="Montserrat Regular" pitchFamily="34" charset="0"/>
                <a:ea typeface="Montserrat Regular" pitchFamily="34" charset="-122"/>
                <a:cs typeface="Montserrat Regular" pitchFamily="34" charset="-120"/>
              </a:rPr>
              <a:t>Our product has a broad range of potential customers, ranging from industrial goods packaging to food and beverage sector and the healthcare industry, as well. Each of these businesses uses a significant amount of packaging, making this a great market for us to target.</a:t>
            </a:r>
            <a:endParaRPr lang="en-US" sz="2000" dirty="0"/>
          </a:p>
        </p:txBody>
      </p:sp>
      <p:sp>
        <p:nvSpPr>
          <p:cNvPr id="8" name="Text 4"/>
          <p:cNvSpPr/>
          <p:nvPr/>
        </p:nvSpPr>
        <p:spPr>
          <a:xfrm>
            <a:off x="11533041" y="11822432"/>
            <a:ext cx="11389090" cy="1913261"/>
          </a:xfrm>
          <a:prstGeom prst="rect">
            <a:avLst/>
          </a:prstGeom>
          <a:noFill/>
          <a:ln/>
        </p:spPr>
        <p:txBody>
          <a:bodyPr wrap="square" lIns="0" tIns="0" rIns="0" bIns="0" rtlCol="0" anchor="t"/>
          <a:lstStyle/>
          <a:p>
            <a:pPr algn="l"/>
            <a:r>
              <a:rPr lang="en-US" sz="2000" dirty="0">
                <a:solidFill>
                  <a:srgbClr val="B62D27">
                    <a:alpha val="100000"/>
                  </a:srgbClr>
                </a:solidFill>
                <a:latin typeface="Montserrat Bold" pitchFamily="34" charset="0"/>
                <a:ea typeface="Montserrat Bold" pitchFamily="34" charset="-122"/>
                <a:cs typeface="Montserrat Bold" pitchFamily="34" charset="-120"/>
              </a:rPr>
              <a:t>5. Threat of Substitutes</a:t>
            </a:r>
            <a:endParaRPr lang="en-US" sz="2000" dirty="0"/>
          </a:p>
          <a:p>
            <a:pPr algn="l"/>
            <a:r>
              <a:rPr lang="en-US" sz="2000" dirty="0">
                <a:solidFill>
                  <a:srgbClr val="000000">
                    <a:alpha val="100000"/>
                  </a:srgbClr>
                </a:solidFill>
                <a:latin typeface="Montserrat Regular" pitchFamily="34" charset="0"/>
                <a:ea typeface="Montserrat Regular" pitchFamily="34" charset="-122"/>
                <a:cs typeface="Montserrat Regular" pitchFamily="34" charset="-120"/>
              </a:rPr>
              <a:t>There are some companies contending with us in this market space, with Ecoware being the biggest but it only provides solutions to the food and beverage sector thus creating a bigger opportunity for us to scale our product in the industrial packaging and healthcare sector. There is existence of smaller companies that produce batches of wheat-starch based biodegradable packing peanuts such as Bluerose Packaging. </a:t>
            </a:r>
            <a:endParaRPr lang="en-US" sz="2000" dirty="0"/>
          </a:p>
        </p:txBody>
      </p:sp>
      <p:pic>
        <p:nvPicPr>
          <p:cNvPr id="9" name="Image 2" descr="preencoded.png">    </p:cNvPr>
          <p:cNvPicPr>
            <a:picLocks noChangeAspect="1"/>
          </p:cNvPicPr>
          <p:nvPr/>
        </p:nvPicPr>
        <p:blipFill>
          <a:blip r:embed="rId3"/>
          <a:stretch>
            <a:fillRect/>
          </a:stretch>
        </p:blipFill>
        <p:spPr>
          <a:xfrm>
            <a:off x="774797" y="4482619"/>
            <a:ext cx="7201800" cy="7035045"/>
          </a:xfrm>
          <a:prstGeom prst="rect">
            <a:avLst/>
          </a:prstGeom>
        </p:spPr>
      </p:pic>
      <p:pic>
        <p:nvPicPr>
          <p:cNvPr id="10" name="Image 3" descr="preencoded.png">    </p:cNvPr>
          <p:cNvPicPr>
            <a:picLocks noChangeAspect="1"/>
          </p:cNvPicPr>
          <p:nvPr/>
        </p:nvPicPr>
        <p:blipFill>
          <a:blip r:embed="rId4"/>
          <a:stretch>
            <a:fillRect/>
          </a:stretch>
        </p:blipFill>
        <p:spPr>
          <a:xfrm>
            <a:off x="774797" y="4482619"/>
            <a:ext cx="7201800" cy="7035045"/>
          </a:xfrm>
          <a:prstGeom prst="rect">
            <a:avLst/>
          </a:prstGeom>
        </p:spPr>
      </p:pic>
      <p:pic>
        <p:nvPicPr>
          <p:cNvPr id="11" name="Image 4" descr="preencoded.png">    </p:cNvPr>
          <p:cNvPicPr>
            <a:picLocks noChangeAspect="1"/>
          </p:cNvPicPr>
          <p:nvPr/>
        </p:nvPicPr>
        <p:blipFill>
          <a:blip r:embed="rId5"/>
          <a:stretch>
            <a:fillRect/>
          </a:stretch>
        </p:blipFill>
        <p:spPr>
          <a:xfrm>
            <a:off x="4999092" y="3761387"/>
            <a:ext cx="3832518" cy="8492796"/>
          </a:xfrm>
          <a:prstGeom prst="rect">
            <a:avLst/>
          </a:prstGeom>
        </p:spPr>
      </p:pic>
      <p:pic>
        <p:nvPicPr>
          <p:cNvPr id="12" name="Image 5" descr="preencoded.png">    </p:cNvPr>
          <p:cNvPicPr>
            <a:picLocks noChangeAspect="1"/>
          </p:cNvPicPr>
          <p:nvPr/>
        </p:nvPicPr>
        <p:blipFill>
          <a:blip r:embed="rId6"/>
          <a:stretch>
            <a:fillRect/>
          </a:stretch>
        </p:blipFill>
        <p:spPr>
          <a:xfrm>
            <a:off x="5972512" y="2666759"/>
            <a:ext cx="5167847" cy="1353919"/>
          </a:xfrm>
          <a:prstGeom prst="rect">
            <a:avLst/>
          </a:prstGeom>
        </p:spPr>
      </p:pic>
      <p:pic>
        <p:nvPicPr>
          <p:cNvPr id="13" name="Image 6" descr="preencoded.png">    </p:cNvPr>
          <p:cNvPicPr>
            <a:picLocks noChangeAspect="1"/>
          </p:cNvPicPr>
          <p:nvPr/>
        </p:nvPicPr>
        <p:blipFill>
          <a:blip r:embed="rId7"/>
          <a:stretch>
            <a:fillRect/>
          </a:stretch>
        </p:blipFill>
        <p:spPr>
          <a:xfrm>
            <a:off x="8124997" y="4939815"/>
            <a:ext cx="3561530" cy="761221"/>
          </a:xfrm>
          <a:prstGeom prst="rect">
            <a:avLst/>
          </a:prstGeom>
        </p:spPr>
      </p:pic>
      <p:pic>
        <p:nvPicPr>
          <p:cNvPr id="14" name="Image 7" descr="preencoded.png">    </p:cNvPr>
          <p:cNvPicPr>
            <a:picLocks noChangeAspect="1"/>
          </p:cNvPicPr>
          <p:nvPr/>
        </p:nvPicPr>
        <p:blipFill>
          <a:blip r:embed="rId8"/>
          <a:stretch>
            <a:fillRect/>
          </a:stretch>
        </p:blipFill>
        <p:spPr>
          <a:xfrm>
            <a:off x="8738692" y="7174731"/>
            <a:ext cx="2959470" cy="25397"/>
          </a:xfrm>
          <a:prstGeom prst="rect">
            <a:avLst/>
          </a:prstGeom>
        </p:spPr>
      </p:pic>
      <p:pic>
        <p:nvPicPr>
          <p:cNvPr id="15" name="Image 8" descr="preencoded.png">    </p:cNvPr>
          <p:cNvPicPr>
            <a:picLocks noChangeAspect="1"/>
          </p:cNvPicPr>
          <p:nvPr/>
        </p:nvPicPr>
        <p:blipFill>
          <a:blip r:embed="rId9"/>
          <a:stretch>
            <a:fillRect/>
          </a:stretch>
        </p:blipFill>
        <p:spPr>
          <a:xfrm>
            <a:off x="7300151" y="11251418"/>
            <a:ext cx="3762932" cy="659904"/>
          </a:xfrm>
          <a:prstGeom prst="rect">
            <a:avLst/>
          </a:prstGeom>
        </p:spPr>
      </p:pic>
      <p:pic>
        <p:nvPicPr>
          <p:cNvPr id="16" name="Image 9" descr="preencoded.png">    </p:cNvPr>
          <p:cNvPicPr>
            <a:picLocks noChangeAspect="1"/>
          </p:cNvPicPr>
          <p:nvPr/>
        </p:nvPicPr>
        <p:blipFill>
          <a:blip r:embed="rId10"/>
          <a:stretch>
            <a:fillRect/>
          </a:stretch>
        </p:blipFill>
        <p:spPr>
          <a:xfrm>
            <a:off x="11063083" y="2590522"/>
            <a:ext cx="139717" cy="126986"/>
          </a:xfrm>
          <a:prstGeom prst="rect">
            <a:avLst/>
          </a:prstGeom>
        </p:spPr>
      </p:pic>
      <p:pic>
        <p:nvPicPr>
          <p:cNvPr id="17" name="Image 10" descr="preencoded.png">    </p:cNvPr>
          <p:cNvPicPr>
            <a:picLocks noChangeAspect="1"/>
          </p:cNvPicPr>
          <p:nvPr/>
        </p:nvPicPr>
        <p:blipFill>
          <a:blip r:embed="rId11"/>
          <a:stretch>
            <a:fillRect/>
          </a:stretch>
        </p:blipFill>
        <p:spPr>
          <a:xfrm>
            <a:off x="11609251" y="4888976"/>
            <a:ext cx="139717" cy="126986"/>
          </a:xfrm>
          <a:prstGeom prst="rect">
            <a:avLst/>
          </a:prstGeom>
        </p:spPr>
      </p:pic>
      <p:pic>
        <p:nvPicPr>
          <p:cNvPr id="18" name="Image 11" descr="preencoded.png">    </p:cNvPr>
          <p:cNvPicPr>
            <a:picLocks noChangeAspect="1"/>
          </p:cNvPicPr>
          <p:nvPr/>
        </p:nvPicPr>
        <p:blipFill>
          <a:blip r:embed="rId12"/>
          <a:stretch>
            <a:fillRect/>
          </a:stretch>
        </p:blipFill>
        <p:spPr>
          <a:xfrm>
            <a:off x="11672759" y="7123936"/>
            <a:ext cx="139717" cy="139685"/>
          </a:xfrm>
          <a:prstGeom prst="rect">
            <a:avLst/>
          </a:prstGeom>
        </p:spPr>
      </p:pic>
      <p:pic>
        <p:nvPicPr>
          <p:cNvPr id="19" name="Image 12" descr="preencoded.png">    </p:cNvPr>
          <p:cNvPicPr>
            <a:picLocks noChangeAspect="1"/>
          </p:cNvPicPr>
          <p:nvPr/>
        </p:nvPicPr>
        <p:blipFill>
          <a:blip r:embed="rId13"/>
          <a:stretch>
            <a:fillRect/>
          </a:stretch>
        </p:blipFill>
        <p:spPr>
          <a:xfrm>
            <a:off x="8621277" y="9308486"/>
            <a:ext cx="2937168" cy="380575"/>
          </a:xfrm>
          <a:prstGeom prst="rect">
            <a:avLst/>
          </a:prstGeom>
        </p:spPr>
      </p:pic>
      <p:pic>
        <p:nvPicPr>
          <p:cNvPr id="20" name="Image 13" descr="preencoded.png">    </p:cNvPr>
          <p:cNvPicPr>
            <a:picLocks noChangeAspect="1"/>
          </p:cNvPicPr>
          <p:nvPr/>
        </p:nvPicPr>
        <p:blipFill>
          <a:blip r:embed="rId14"/>
          <a:stretch>
            <a:fillRect/>
          </a:stretch>
        </p:blipFill>
        <p:spPr>
          <a:xfrm>
            <a:off x="11533041" y="9600170"/>
            <a:ext cx="139717" cy="139685"/>
          </a:xfrm>
          <a:prstGeom prst="rect">
            <a:avLst/>
          </a:prstGeom>
        </p:spPr>
      </p:pic>
      <p:pic>
        <p:nvPicPr>
          <p:cNvPr id="21" name="Image 14" descr="preencoded.png">    </p:cNvPr>
          <p:cNvPicPr>
            <a:picLocks noChangeAspect="1"/>
          </p:cNvPicPr>
          <p:nvPr/>
        </p:nvPicPr>
        <p:blipFill>
          <a:blip r:embed="rId15"/>
          <a:stretch>
            <a:fillRect/>
          </a:stretch>
        </p:blipFill>
        <p:spPr>
          <a:xfrm>
            <a:off x="11012276" y="11822432"/>
            <a:ext cx="139717" cy="139685"/>
          </a:xfrm>
          <a:prstGeom prst="rect">
            <a:avLst/>
          </a:prstGeom>
        </p:spPr>
      </p:pic>
      <p:pic>
        <p:nvPicPr>
          <p:cNvPr id="22" name="Image 15" descr="preencoded.png">    </p:cNvPr>
          <p:cNvPicPr>
            <a:picLocks noChangeAspect="1"/>
          </p:cNvPicPr>
          <p:nvPr/>
        </p:nvPicPr>
        <p:blipFill>
          <a:blip r:embed="rId16"/>
          <a:stretch>
            <a:fillRect/>
          </a:stretch>
        </p:blipFill>
        <p:spPr>
          <a:xfrm>
            <a:off x="5220352" y="5409620"/>
            <a:ext cx="1193949" cy="1168275"/>
          </a:xfrm>
          <a:prstGeom prst="rect">
            <a:avLst/>
          </a:prstGeom>
        </p:spPr>
      </p:pic>
      <p:pic>
        <p:nvPicPr>
          <p:cNvPr id="23" name="Image 16" descr="preencoded.png">    </p:cNvPr>
          <p:cNvPicPr>
            <a:picLocks noChangeAspect="1"/>
          </p:cNvPicPr>
          <p:nvPr/>
        </p:nvPicPr>
        <p:blipFill>
          <a:blip r:embed="rId17"/>
          <a:stretch>
            <a:fillRect/>
          </a:stretch>
        </p:blipFill>
        <p:spPr>
          <a:xfrm>
            <a:off x="6109464" y="8089032"/>
            <a:ext cx="1193949" cy="1168275"/>
          </a:xfrm>
          <a:prstGeom prst="rect">
            <a:avLst/>
          </a:prstGeom>
        </p:spPr>
      </p:pic>
      <p:pic>
        <p:nvPicPr>
          <p:cNvPr id="24" name="Image 17" descr="preencoded.png">    </p:cNvPr>
          <p:cNvPicPr>
            <a:picLocks noChangeAspect="1"/>
          </p:cNvPicPr>
          <p:nvPr/>
        </p:nvPicPr>
        <p:blipFill>
          <a:blip r:embed="rId18"/>
          <a:stretch>
            <a:fillRect/>
          </a:stretch>
        </p:blipFill>
        <p:spPr>
          <a:xfrm>
            <a:off x="3937492" y="9854143"/>
            <a:ext cx="1193949" cy="1168275"/>
          </a:xfrm>
          <a:prstGeom prst="rect">
            <a:avLst/>
          </a:prstGeom>
        </p:spPr>
      </p:pic>
      <p:pic>
        <p:nvPicPr>
          <p:cNvPr id="25" name="Image 18" descr="preencoded.png">    </p:cNvPr>
          <p:cNvPicPr>
            <a:picLocks noChangeAspect="1"/>
          </p:cNvPicPr>
          <p:nvPr/>
        </p:nvPicPr>
        <p:blipFill>
          <a:blip r:embed="rId19"/>
          <a:stretch>
            <a:fillRect/>
          </a:stretch>
        </p:blipFill>
        <p:spPr>
          <a:xfrm>
            <a:off x="1460683" y="8190622"/>
            <a:ext cx="1193949" cy="1168275"/>
          </a:xfrm>
          <a:prstGeom prst="rect">
            <a:avLst/>
          </a:prstGeom>
        </p:spPr>
      </p:pic>
      <p:pic>
        <p:nvPicPr>
          <p:cNvPr id="26" name="Image 19" descr="preencoded.png">    </p:cNvPr>
          <p:cNvPicPr>
            <a:picLocks noChangeAspect="1"/>
          </p:cNvPicPr>
          <p:nvPr/>
        </p:nvPicPr>
        <p:blipFill>
          <a:blip r:embed="rId20"/>
          <a:stretch>
            <a:fillRect/>
          </a:stretch>
        </p:blipFill>
        <p:spPr>
          <a:xfrm>
            <a:off x="2324391" y="5320729"/>
            <a:ext cx="1193949" cy="1168275"/>
          </a:xfrm>
          <a:prstGeom prst="rect">
            <a:avLst/>
          </a:prstGeom>
        </p:spPr>
      </p:pic>
      <p:sp>
        <p:nvSpPr>
          <p:cNvPr id="27" name="Text 5"/>
          <p:cNvSpPr/>
          <p:nvPr/>
        </p:nvSpPr>
        <p:spPr>
          <a:xfrm>
            <a:off x="12193524" y="7022347"/>
            <a:ext cx="11338284" cy="1913261"/>
          </a:xfrm>
          <a:prstGeom prst="rect">
            <a:avLst/>
          </a:prstGeom>
          <a:noFill/>
          <a:ln/>
        </p:spPr>
        <p:txBody>
          <a:bodyPr wrap="square" lIns="0" tIns="0" rIns="0" bIns="0" rtlCol="0" anchor="t"/>
          <a:lstStyle/>
          <a:p>
            <a:pPr algn="l"/>
            <a:r>
              <a:rPr lang="en-US" sz="2000" dirty="0">
                <a:solidFill>
                  <a:srgbClr val="B62D27">
                    <a:alpha val="100000"/>
                  </a:srgbClr>
                </a:solidFill>
                <a:latin typeface="Montserrat Bold" pitchFamily="34" charset="0"/>
                <a:ea typeface="Montserrat Bold" pitchFamily="34" charset="-122"/>
                <a:cs typeface="Montserrat Bold" pitchFamily="34" charset="-120"/>
              </a:rPr>
              <a:t>3. Power of Suppliers</a:t>
            </a:r>
            <a:endParaRPr lang="en-US" sz="2000" dirty="0"/>
          </a:p>
          <a:p>
            <a:pPr algn="l"/>
            <a:r>
              <a:rPr lang="en-US" sz="2000" dirty="0">
                <a:solidFill>
                  <a:srgbClr val="000000">
                    <a:alpha val="100000"/>
                  </a:srgbClr>
                </a:solidFill>
                <a:latin typeface="Montserrat Regular" pitchFamily="34" charset="0"/>
                <a:ea typeface="Montserrat Regular" pitchFamily="34" charset="-122"/>
                <a:cs typeface="Montserrat Regular" pitchFamily="34" charset="-120"/>
              </a:rPr>
              <a:t>The shola farmers and vendors from the local villages who attend the weekly haats would be our major providers. In addition, we have to connect with the manufacturers and distributors of the various industrial equipment to assist with the whole process. Further, we are planning to use Sholapith artisans as the labour required in our processing facilities- technical training must be provided.</a:t>
            </a:r>
            <a:endParaRPr lang="en-US" sz="2000" dirty="0"/>
          </a:p>
        </p:txBody>
      </p:sp>
      <p:pic>
        <p:nvPicPr>
          <p:cNvPr id="28" name="Image 20" descr="preencoded.png">    </p:cNvPr>
          <p:cNvPicPr>
            <a:picLocks noChangeAspect="1"/>
          </p:cNvPicPr>
          <p:nvPr/>
        </p:nvPicPr>
        <p:blipFill>
          <a:blip r:embed="rId21"/>
          <a:stretch>
            <a:fillRect/>
          </a:stretch>
        </p:blipFill>
        <p:spPr>
          <a:xfrm>
            <a:off x="22977172" y="0"/>
            <a:ext cx="1409876" cy="167622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74797" y="215877"/>
            <a:ext cx="14314689" cy="1841303"/>
          </a:xfrm>
          <a:prstGeom prst="rect">
            <a:avLst/>
          </a:prstGeom>
        </p:spPr>
      </p:pic>
      <p:pic>
        <p:nvPicPr>
          <p:cNvPr id="3" name="Image 1" descr="preencoded.png">    </p:cNvPr>
          <p:cNvPicPr>
            <a:picLocks noChangeAspect="1"/>
          </p:cNvPicPr>
          <p:nvPr/>
        </p:nvPicPr>
        <p:blipFill>
          <a:blip r:embed="rId2"/>
          <a:stretch>
            <a:fillRect/>
          </a:stretch>
        </p:blipFill>
        <p:spPr>
          <a:xfrm>
            <a:off x="1088529" y="871762"/>
            <a:ext cx="11148781" cy="627313"/>
          </a:xfrm>
          <a:prstGeom prst="rect">
            <a:avLst/>
          </a:prstGeom>
        </p:spPr>
      </p:pic>
      <p:pic>
        <p:nvPicPr>
          <p:cNvPr id="4" name="Image 2" descr="preencoded.png">    </p:cNvPr>
          <p:cNvPicPr>
            <a:picLocks noChangeAspect="1"/>
          </p:cNvPicPr>
          <p:nvPr/>
        </p:nvPicPr>
        <p:blipFill>
          <a:blip r:embed="rId3"/>
          <a:stretch>
            <a:fillRect/>
          </a:stretch>
        </p:blipFill>
        <p:spPr>
          <a:xfrm>
            <a:off x="15483235" y="1231768"/>
            <a:ext cx="5791924" cy="38096"/>
          </a:xfrm>
          <a:prstGeom prst="rect">
            <a:avLst/>
          </a:prstGeom>
        </p:spPr>
      </p:pic>
      <p:sp>
        <p:nvSpPr>
          <p:cNvPr id="5" name="Text 0"/>
          <p:cNvSpPr/>
          <p:nvPr/>
        </p:nvSpPr>
        <p:spPr>
          <a:xfrm>
            <a:off x="12612676" y="9193814"/>
            <a:ext cx="10863839" cy="435735"/>
          </a:xfrm>
          <a:prstGeom prst="rect">
            <a:avLst/>
          </a:prstGeom>
          <a:noFill/>
          <a:ln/>
        </p:spPr>
        <p:txBody>
          <a:bodyPr wrap="square" lIns="0" tIns="0" rIns="0" bIns="0" rtlCol="0" anchor="t"/>
          <a:lstStyle/>
          <a:p>
            <a:pPr algn="l"/>
            <a:r>
              <a:rPr lang="en-US" sz="2200" dirty="0">
                <a:solidFill>
                  <a:srgbClr val="000000">
                    <a:alpha val="100000"/>
                  </a:srgbClr>
                </a:solidFill>
                <a:latin typeface="Montserrat Medium" pitchFamily="34" charset="0"/>
                <a:ea typeface="Montserrat Medium" pitchFamily="34" charset="-122"/>
                <a:cs typeface="Montserrat Medium" pitchFamily="34" charset="-120"/>
              </a:rPr>
              <a:t>Most of the sales targets are created on the basis of some key financial facts.</a:t>
            </a:r>
            <a:endParaRPr lang="en-US" sz="2194" dirty="0"/>
          </a:p>
        </p:txBody>
      </p:sp>
      <p:sp>
        <p:nvSpPr>
          <p:cNvPr id="6" name="Text 1"/>
          <p:cNvSpPr/>
          <p:nvPr/>
        </p:nvSpPr>
        <p:spPr>
          <a:xfrm>
            <a:off x="12612676" y="10668942"/>
            <a:ext cx="11325582" cy="2370412"/>
          </a:xfrm>
          <a:prstGeom prst="rect">
            <a:avLst/>
          </a:prstGeom>
          <a:noFill/>
          <a:ln/>
        </p:spPr>
        <p:txBody>
          <a:bodyPr wrap="square" lIns="0" tIns="0" rIns="0" bIns="0" rtlCol="0" anchor="t"/>
          <a:lstStyle/>
          <a:p>
            <a:pPr algn="l" lvl="1" marL="685800" indent="-342900">
              <a:buSzPct val="100000"/>
              <a:buChar char="•"/>
            </a:pPr>
            <a:r>
              <a:rPr lang="en-US" sz="2000" dirty="0">
                <a:solidFill>
                  <a:srgbClr val="000000">
                    <a:alpha val="100000"/>
                  </a:srgbClr>
                </a:solidFill>
                <a:latin typeface="Montserrat Medium" pitchFamily="34" charset="0"/>
                <a:ea typeface="Montserrat Medium" pitchFamily="34" charset="-122"/>
                <a:cs typeface="Montserrat Medium" pitchFamily="34" charset="-120"/>
              </a:rPr>
              <a:t>Amazon, the E-commerce giant sells 60000 packages </a:t>
            </a:r>
            <a:pPr algn="l" lvl="1" marL="685800" indent="-342900">
              <a:buSzPct val="100000"/>
              <a:buChar char="•"/>
            </a:pPr>
            <a:r>
              <a:rPr lang="en-US" sz="2000" dirty="0">
                <a:solidFill>
                  <a:srgbClr val="000000">
                    <a:alpha val="100000"/>
                  </a:srgbClr>
                </a:solidFill>
                <a:latin typeface="Montserrat Bold" pitchFamily="34" charset="0"/>
                <a:ea typeface="Montserrat Bold" pitchFamily="34" charset="-122"/>
                <a:cs typeface="Montserrat Bold" pitchFamily="34" charset="-120"/>
              </a:rPr>
              <a:t>everyday</a:t>
            </a:r>
            <a:pPr algn="l" lvl="1" marL="685800" indent="-342900">
              <a:buSzPct val="100000"/>
              <a:buChar char="•"/>
            </a:pPr>
            <a:r>
              <a:rPr lang="en-US" sz="2000" dirty="0">
                <a:solidFill>
                  <a:srgbClr val="000000">
                    <a:alpha val="100000"/>
                  </a:srgbClr>
                </a:solidFill>
                <a:latin typeface="Montserrat Medium" pitchFamily="34" charset="0"/>
                <a:ea typeface="Montserrat Medium" pitchFamily="34" charset="-122"/>
                <a:cs typeface="Montserrat Medium" pitchFamily="34" charset="-120"/>
              </a:rPr>
              <a:t>. On that basis, we assume the realistic demand for Indian markets to be twice that figure </a:t>
            </a:r>
            <a:pPr algn="l" lvl="1" marL="685800" indent="-342900">
              <a:buSzPct val="100000"/>
              <a:buChar char="•"/>
            </a:pPr>
            <a:r>
              <a:rPr lang="en-US" sz="2000" dirty="0">
                <a:solidFill>
                  <a:srgbClr val="000000">
                    <a:alpha val="100000"/>
                  </a:srgbClr>
                </a:solidFill>
                <a:latin typeface="Montserrat Bold" pitchFamily="34" charset="0"/>
                <a:ea typeface="Montserrat Bold" pitchFamily="34" charset="-122"/>
                <a:cs typeface="Montserrat Bold" pitchFamily="34" charset="-120"/>
              </a:rPr>
              <a:t>per year.</a:t>
            </a:r>
            <a:endParaRPr lang="en-US" sz="2000" dirty="0"/>
          </a:p>
          <a:p>
            <a:pPr algn="l" lvl="1" marL="685800" indent="-342900">
              <a:buSzPct val="100000"/>
              <a:buChar char="•"/>
            </a:pPr>
            <a:r>
              <a:rPr lang="en-US" sz="2000" dirty="0">
                <a:solidFill>
                  <a:srgbClr val="000000">
                    <a:alpha val="100000"/>
                  </a:srgbClr>
                </a:solidFill>
                <a:latin typeface="Montserrat Medium" pitchFamily="34" charset="0"/>
                <a:ea typeface="Montserrat Medium" pitchFamily="34" charset="-122"/>
                <a:cs typeface="Montserrat Medium" pitchFamily="34" charset="-120"/>
              </a:rPr>
              <a:t>Using industry reports, we see that total market for packing peanuts in India is approx 7B USD. We assume that we are able to capture 1% of that market (USD to INR Exchange rate taken as 1$=70 Rs)</a:t>
            </a:r>
            <a:endParaRPr lang="en-US" sz="2000" dirty="0"/>
          </a:p>
          <a:p>
            <a:pPr algn="l" lvl="1" marL="685800" indent="-342900">
              <a:buSzPct val="100000"/>
              <a:buChar char="•"/>
            </a:pPr>
            <a:r>
              <a:rPr lang="en-US" sz="2000" dirty="0">
                <a:solidFill>
                  <a:srgbClr val="000000">
                    <a:alpha val="100000"/>
                  </a:srgbClr>
                </a:solidFill>
                <a:latin typeface="Montserrat Medium" pitchFamily="34" charset="0"/>
                <a:ea typeface="Montserrat Medium" pitchFamily="34" charset="-122"/>
                <a:cs typeface="Montserrat Medium" pitchFamily="34" charset="-120"/>
              </a:rPr>
              <a:t>We also assume that to provide enough support to sholapith craftsmen, 2 lakhs per annum per worker is minimum pay.</a:t>
            </a:r>
            <a:endParaRPr lang="en-US" sz="2000" dirty="0"/>
          </a:p>
        </p:txBody>
      </p:sp>
      <p:sp>
        <p:nvSpPr>
          <p:cNvPr id="7" name="Text 2"/>
          <p:cNvSpPr/>
          <p:nvPr/>
        </p:nvSpPr>
        <p:spPr>
          <a:xfrm>
            <a:off x="12612676" y="10008613"/>
            <a:ext cx="3306395" cy="435735"/>
          </a:xfrm>
          <a:prstGeom prst="rect">
            <a:avLst/>
          </a:prstGeom>
          <a:noFill/>
          <a:ln/>
        </p:spPr>
        <p:txBody>
          <a:bodyPr wrap="square" lIns="0" tIns="0" rIns="0" bIns="0" rtlCol="0" anchor="t"/>
          <a:lstStyle/>
          <a:p>
            <a:pPr algn="l"/>
            <a:r>
              <a:rPr lang="en-US" sz="2200" dirty="0">
                <a:solidFill>
                  <a:srgbClr val="B62D27">
                    <a:alpha val="100000"/>
                  </a:srgbClr>
                </a:solidFill>
                <a:latin typeface="Montserrat Bold" pitchFamily="34" charset="0"/>
                <a:ea typeface="Montserrat Bold" pitchFamily="34" charset="-122"/>
                <a:cs typeface="Montserrat Bold" pitchFamily="34" charset="-120"/>
              </a:rPr>
              <a:t>The key facts include-</a:t>
            </a:r>
            <a:endParaRPr lang="en-US" sz="2194" dirty="0"/>
          </a:p>
        </p:txBody>
      </p:sp>
      <p:pic>
        <p:nvPicPr>
          <p:cNvPr id="8" name="Image 3" descr="preencoded.png">    </p:cNvPr>
          <p:cNvPicPr>
            <a:picLocks noChangeAspect="1"/>
          </p:cNvPicPr>
          <p:nvPr/>
        </p:nvPicPr>
        <p:blipFill>
          <a:blip r:embed="rId4"/>
          <a:stretch>
            <a:fillRect/>
          </a:stretch>
        </p:blipFill>
        <p:spPr>
          <a:xfrm>
            <a:off x="22977172" y="0"/>
            <a:ext cx="1409876" cy="1676220"/>
          </a:xfrm>
          <a:prstGeom prst="rect">
            <a:avLst/>
          </a:prstGeom>
        </p:spPr>
      </p:pic>
      <p:pic>
        <p:nvPicPr>
          <p:cNvPr id="9" name="Image 4" descr="preencoded.png">    </p:cNvPr>
          <p:cNvPicPr>
            <a:picLocks noChangeAspect="1"/>
          </p:cNvPicPr>
          <p:nvPr/>
        </p:nvPicPr>
        <p:blipFill>
          <a:blip r:embed="rId5"/>
          <a:stretch>
            <a:fillRect/>
          </a:stretch>
        </p:blipFill>
        <p:spPr>
          <a:xfrm>
            <a:off x="774797" y="2730207"/>
            <a:ext cx="11431429" cy="10425582"/>
          </a:xfrm>
          <a:prstGeom prst="rect">
            <a:avLst/>
          </a:prstGeom>
        </p:spPr>
      </p:pic>
      <p:pic>
        <p:nvPicPr>
          <p:cNvPr id="10" name="Image 5" descr="preencoded.png">    </p:cNvPr>
          <p:cNvPicPr>
            <a:picLocks noChangeAspect="1"/>
          </p:cNvPicPr>
          <p:nvPr/>
        </p:nvPicPr>
        <p:blipFill>
          <a:blip r:embed="rId6"/>
          <a:stretch>
            <a:fillRect/>
          </a:stretch>
        </p:blipFill>
        <p:spPr>
          <a:xfrm>
            <a:off x="12803200" y="2768303"/>
            <a:ext cx="11050381" cy="554930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74797" y="215877"/>
            <a:ext cx="14314689" cy="1841303"/>
          </a:xfrm>
          <a:prstGeom prst="rect">
            <a:avLst/>
          </a:prstGeom>
        </p:spPr>
      </p:pic>
      <p:sp>
        <p:nvSpPr>
          <p:cNvPr id="3" name="Text 0"/>
          <p:cNvSpPr/>
          <p:nvPr/>
        </p:nvSpPr>
        <p:spPr>
          <a:xfrm>
            <a:off x="1498787" y="3111166"/>
            <a:ext cx="13730416" cy="4342934"/>
          </a:xfrm>
          <a:prstGeom prst="rect">
            <a:avLst/>
          </a:prstGeom>
          <a:noFill/>
          <a:ln/>
        </p:spPr>
        <p:txBody>
          <a:bodyPr wrap="square" lIns="0" tIns="0" rIns="0" bIns="0" rtlCol="0" anchor="t"/>
          <a:lstStyle/>
          <a:p>
            <a:pPr algn="l"/>
            <a:endParaRPr lang="en-US" dirty="0"/>
          </a:p>
        </p:txBody>
      </p:sp>
      <p:pic>
        <p:nvPicPr>
          <p:cNvPr id="4" name="Image 1" descr="preencoded.png">    </p:cNvPr>
          <p:cNvPicPr>
            <a:picLocks noChangeAspect="1"/>
          </p:cNvPicPr>
          <p:nvPr/>
        </p:nvPicPr>
        <p:blipFill>
          <a:blip r:embed="rId2"/>
          <a:stretch>
            <a:fillRect/>
          </a:stretch>
        </p:blipFill>
        <p:spPr>
          <a:xfrm>
            <a:off x="1266338" y="846365"/>
            <a:ext cx="11148794" cy="627313"/>
          </a:xfrm>
          <a:prstGeom prst="rect">
            <a:avLst/>
          </a:prstGeom>
        </p:spPr>
      </p:pic>
      <p:pic>
        <p:nvPicPr>
          <p:cNvPr id="5" name="Image 2" descr="preencoded.png">    </p:cNvPr>
          <p:cNvPicPr>
            <a:picLocks noChangeAspect="1"/>
          </p:cNvPicPr>
          <p:nvPr/>
        </p:nvPicPr>
        <p:blipFill>
          <a:blip r:embed="rId3"/>
          <a:stretch>
            <a:fillRect/>
          </a:stretch>
        </p:blipFill>
        <p:spPr>
          <a:xfrm>
            <a:off x="15546743" y="1257165"/>
            <a:ext cx="5791924" cy="38096"/>
          </a:xfrm>
          <a:prstGeom prst="rect">
            <a:avLst/>
          </a:prstGeom>
        </p:spPr>
      </p:pic>
      <p:sp>
        <p:nvSpPr>
          <p:cNvPr id="6" name="Text 1"/>
          <p:cNvSpPr/>
          <p:nvPr/>
        </p:nvSpPr>
        <p:spPr>
          <a:xfrm>
            <a:off x="16550169" y="2920687"/>
            <a:ext cx="7324582" cy="1913261"/>
          </a:xfrm>
          <a:prstGeom prst="rect">
            <a:avLst/>
          </a:prstGeom>
          <a:noFill/>
          <a:ln/>
        </p:spPr>
        <p:txBody>
          <a:bodyPr wrap="square" lIns="0" tIns="0" rIns="0" bIns="0" rtlCol="0" anchor="t"/>
          <a:lstStyle/>
          <a:p>
            <a:pPr algn="l"/>
            <a:r>
              <a:rPr lang="en-US" sz="2000" dirty="0">
                <a:solidFill>
                  <a:srgbClr val="B62D27">
                    <a:alpha val="100000"/>
                  </a:srgbClr>
                </a:solidFill>
                <a:latin typeface="Montserrat Bold" pitchFamily="34" charset="0"/>
                <a:ea typeface="Montserrat Bold" pitchFamily="34" charset="-122"/>
                <a:cs typeface="Montserrat Bold" pitchFamily="34" charset="-120"/>
              </a:rPr>
              <a:t>In the first year, </a:t>
            </a:r>
            <a:pPr algn="l"/>
            <a:r>
              <a:rPr lang="en-US" sz="2000" dirty="0">
                <a:solidFill>
                  <a:srgbClr val="000000">
                    <a:alpha val="100000"/>
                  </a:srgbClr>
                </a:solidFill>
                <a:latin typeface="Montserrat Medium" pitchFamily="34" charset="0"/>
                <a:ea typeface="Montserrat Medium" pitchFamily="34" charset="-122"/>
                <a:cs typeface="Montserrat Medium" pitchFamily="34" charset="-120"/>
              </a:rPr>
              <a:t>we</a:t>
            </a:r>
            <a:pPr algn="l"/>
            <a:r>
              <a:rPr lang="en-US" sz="2000" dirty="0">
                <a:solidFill>
                  <a:srgbClr val="000000">
                    <a:alpha val="100000"/>
                  </a:srgbClr>
                </a:solidFill>
                <a:latin typeface="Montserrat Bold" pitchFamily="34" charset="0"/>
                <a:ea typeface="Montserrat Bold" pitchFamily="34" charset="-122"/>
                <a:cs typeface="Montserrat Bold" pitchFamily="34" charset="-120"/>
              </a:rPr>
              <a:t> </a:t>
            </a:r>
            <a:pPr algn="l"/>
            <a:r>
              <a:rPr lang="en-US" sz="2000" dirty="0">
                <a:solidFill>
                  <a:srgbClr val="000000">
                    <a:alpha val="100000"/>
                  </a:srgbClr>
                </a:solidFill>
                <a:latin typeface="Montserrat Medium" pitchFamily="34" charset="0"/>
                <a:ea typeface="Montserrat Medium" pitchFamily="34" charset="-122"/>
                <a:cs typeface="Montserrat Medium" pitchFamily="34" charset="-120"/>
              </a:rPr>
              <a:t>have the cost as calculated in the previous slide, including one time expenses of specialised macinery. We have assumed a minimum profit % of 20% so as to remain viable financially. On that basis, we provide a small return on investment to the investors at 5%</a:t>
            </a:r>
            <a:endParaRPr lang="en-US" sz="2000" dirty="0"/>
          </a:p>
        </p:txBody>
      </p:sp>
      <p:sp>
        <p:nvSpPr>
          <p:cNvPr id="7" name="Text 2"/>
          <p:cNvSpPr/>
          <p:nvPr/>
        </p:nvSpPr>
        <p:spPr>
          <a:xfrm>
            <a:off x="16550169" y="5269935"/>
            <a:ext cx="7324582" cy="1913261"/>
          </a:xfrm>
          <a:prstGeom prst="rect">
            <a:avLst/>
          </a:prstGeom>
          <a:noFill/>
          <a:ln/>
        </p:spPr>
        <p:txBody>
          <a:bodyPr wrap="square" lIns="0" tIns="0" rIns="0" bIns="0" rtlCol="0" anchor="t"/>
          <a:lstStyle/>
          <a:p>
            <a:pPr algn="l"/>
            <a:r>
              <a:rPr lang="en-US" sz="2000" dirty="0">
                <a:solidFill>
                  <a:srgbClr val="B62D27">
                    <a:alpha val="100000"/>
                  </a:srgbClr>
                </a:solidFill>
                <a:latin typeface="Montserrat Bold" pitchFamily="34" charset="0"/>
                <a:ea typeface="Montserrat Bold" pitchFamily="34" charset="-122"/>
                <a:cs typeface="Montserrat Bold" pitchFamily="34" charset="-120"/>
              </a:rPr>
              <a:t>In the second year, </a:t>
            </a:r>
            <a:pPr algn="l"/>
            <a:r>
              <a:rPr lang="en-US" sz="2000" dirty="0">
                <a:solidFill>
                  <a:srgbClr val="000000">
                    <a:alpha val="100000"/>
                  </a:srgbClr>
                </a:solidFill>
                <a:latin typeface="Montserrat Medium" pitchFamily="34" charset="0"/>
                <a:ea typeface="Montserrat Medium" pitchFamily="34" charset="-122"/>
                <a:cs typeface="Montserrat Medium" pitchFamily="34" charset="-120"/>
              </a:rPr>
              <a:t>we can see that the cost for the year decreasess, with the decrease in one-time expense of machinery purchase and the presence of last year’s profits. With that, we assume the same revenue as last year, and on that basis we can provide a higher percentage as ROI for the investors.</a:t>
            </a:r>
            <a:endParaRPr lang="en-US" sz="2000" dirty="0"/>
          </a:p>
        </p:txBody>
      </p:sp>
      <p:sp>
        <p:nvSpPr>
          <p:cNvPr id="8" name="Text 3"/>
          <p:cNvSpPr/>
          <p:nvPr/>
        </p:nvSpPr>
        <p:spPr>
          <a:xfrm>
            <a:off x="16550169" y="7619183"/>
            <a:ext cx="7324582" cy="1608494"/>
          </a:xfrm>
          <a:prstGeom prst="rect">
            <a:avLst/>
          </a:prstGeom>
          <a:noFill/>
          <a:ln/>
        </p:spPr>
        <p:txBody>
          <a:bodyPr wrap="square" lIns="0" tIns="0" rIns="0" bIns="0" rtlCol="0" anchor="t"/>
          <a:lstStyle/>
          <a:p>
            <a:pPr algn="l"/>
            <a:r>
              <a:rPr lang="en-US" sz="2000" dirty="0">
                <a:solidFill>
                  <a:srgbClr val="B62D27">
                    <a:alpha val="100000"/>
                  </a:srgbClr>
                </a:solidFill>
                <a:latin typeface="Montserrat Bold" pitchFamily="34" charset="0"/>
                <a:ea typeface="Montserrat Bold" pitchFamily="34" charset="-122"/>
                <a:cs typeface="Montserrat Bold" pitchFamily="34" charset="-120"/>
              </a:rPr>
              <a:t>In the third year, </a:t>
            </a:r>
            <a:pPr algn="l"/>
            <a:r>
              <a:rPr lang="en-US" sz="2000" dirty="0">
                <a:solidFill>
                  <a:srgbClr val="000000">
                    <a:alpha val="100000"/>
                  </a:srgbClr>
                </a:solidFill>
                <a:latin typeface="Montserrat Medium" pitchFamily="34" charset="0"/>
                <a:ea typeface="Montserrat Medium" pitchFamily="34" charset="-122"/>
                <a:cs typeface="Montserrat Medium" pitchFamily="34" charset="-120"/>
              </a:rPr>
              <a:t>we see that the cost per year continues to decrease with the increasing profit, revenue remaining constant. On this basis we can provide maximum returns to our investors as well, at a rate of 30% on their investment for the year.</a:t>
            </a:r>
            <a:endParaRPr lang="en-US" sz="2000" dirty="0"/>
          </a:p>
        </p:txBody>
      </p:sp>
      <p:sp>
        <p:nvSpPr>
          <p:cNvPr id="9" name="Text 4"/>
          <p:cNvSpPr/>
          <p:nvPr/>
        </p:nvSpPr>
        <p:spPr>
          <a:xfrm>
            <a:off x="16550169" y="9663664"/>
            <a:ext cx="7324582" cy="1913261"/>
          </a:xfrm>
          <a:prstGeom prst="rect">
            <a:avLst/>
          </a:prstGeom>
          <a:noFill/>
          <a:ln/>
        </p:spPr>
        <p:txBody>
          <a:bodyPr wrap="square" lIns="0" tIns="0" rIns="0" bIns="0" rtlCol="0" anchor="t"/>
          <a:lstStyle/>
          <a:p>
            <a:pPr algn="l"/>
            <a:r>
              <a:rPr lang="en-US" sz="2000" dirty="0">
                <a:solidFill>
                  <a:srgbClr val="B62D27">
                    <a:alpha val="100000"/>
                  </a:srgbClr>
                </a:solidFill>
                <a:latin typeface="Montserrat Bold" pitchFamily="34" charset="0"/>
                <a:ea typeface="Montserrat Bold" pitchFamily="34" charset="-122"/>
                <a:cs typeface="Montserrat Bold" pitchFamily="34" charset="-120"/>
              </a:rPr>
              <a:t>In the fourth year, </a:t>
            </a:r>
            <a:pPr algn="l"/>
            <a:r>
              <a:rPr lang="en-US" sz="2000" dirty="0">
                <a:solidFill>
                  <a:srgbClr val="000000">
                    <a:alpha val="100000"/>
                  </a:srgbClr>
                </a:solidFill>
                <a:latin typeface="Montserrat Medium" pitchFamily="34" charset="0"/>
                <a:ea typeface="Montserrat Medium" pitchFamily="34" charset="-122"/>
                <a:cs typeface="Montserrat Medium" pitchFamily="34" charset="-120"/>
              </a:rPr>
              <a:t>we see that the cost per year continues to decrease with the increasing profit, revenue remaining constant. On this basis we can provide maximum returns to our investors as well, at a rate of 30% on their investment for the year. This is the last year before we forecast break even,</a:t>
            </a:r>
            <a:endParaRPr lang="en-US" sz="2000" dirty="0"/>
          </a:p>
        </p:txBody>
      </p:sp>
      <p:sp>
        <p:nvSpPr>
          <p:cNvPr id="10" name="Text 5"/>
          <p:cNvSpPr/>
          <p:nvPr/>
        </p:nvSpPr>
        <p:spPr>
          <a:xfrm>
            <a:off x="16550169" y="12012912"/>
            <a:ext cx="7324582" cy="1608494"/>
          </a:xfrm>
          <a:prstGeom prst="rect">
            <a:avLst/>
          </a:prstGeom>
          <a:noFill/>
          <a:ln/>
        </p:spPr>
        <p:txBody>
          <a:bodyPr wrap="square" lIns="0" tIns="0" rIns="0" bIns="0" rtlCol="0" anchor="t"/>
          <a:lstStyle/>
          <a:p>
            <a:pPr algn="l"/>
            <a:r>
              <a:rPr lang="en-US" sz="2000" dirty="0">
                <a:solidFill>
                  <a:srgbClr val="B62D27">
                    <a:alpha val="100000"/>
                  </a:srgbClr>
                </a:solidFill>
                <a:latin typeface="Montserrat Bold" pitchFamily="34" charset="0"/>
                <a:ea typeface="Montserrat Bold" pitchFamily="34" charset="-122"/>
                <a:cs typeface="Montserrat Bold" pitchFamily="34" charset="-120"/>
              </a:rPr>
              <a:t>In the fifth year,</a:t>
            </a:r>
            <a:pPr algn="l"/>
            <a:r>
              <a:rPr lang="en-US" sz="2000" dirty="0">
                <a:solidFill>
                  <a:srgbClr val="B62D27">
                    <a:alpha val="100000"/>
                  </a:srgbClr>
                </a:solidFill>
                <a:latin typeface="Montserrat Medium" pitchFamily="34" charset="0"/>
                <a:ea typeface="Montserrat Medium" pitchFamily="34" charset="-122"/>
                <a:cs typeface="Montserrat Medium" pitchFamily="34" charset="-120"/>
              </a:rPr>
              <a:t> </a:t>
            </a:r>
            <a:pPr algn="l"/>
            <a:r>
              <a:rPr lang="en-US" sz="2000" dirty="0">
                <a:solidFill>
                  <a:srgbClr val="000000">
                    <a:alpha val="100000"/>
                  </a:srgbClr>
                </a:solidFill>
                <a:latin typeface="Montserrat Medium" pitchFamily="34" charset="0"/>
                <a:ea typeface="Montserrat Medium" pitchFamily="34" charset="-122"/>
                <a:cs typeface="Montserrat Medium" pitchFamily="34" charset="-120"/>
              </a:rPr>
              <a:t>we forecast a break even. The profits from the business will cover cost for the year, and we can continue providing good rate of returns to the original investors with no further large investment required.</a:t>
            </a:r>
            <a:endParaRPr lang="en-US" sz="2000" dirty="0"/>
          </a:p>
        </p:txBody>
      </p:sp>
      <p:pic>
        <p:nvPicPr>
          <p:cNvPr id="11" name="Image 3" descr="preencoded.png">    </p:cNvPr>
          <p:cNvPicPr>
            <a:picLocks noChangeAspect="1"/>
          </p:cNvPicPr>
          <p:nvPr/>
        </p:nvPicPr>
        <p:blipFill>
          <a:blip r:embed="rId4"/>
          <a:stretch>
            <a:fillRect/>
          </a:stretch>
        </p:blipFill>
        <p:spPr>
          <a:xfrm>
            <a:off x="774797" y="8165224"/>
            <a:ext cx="7074784" cy="4698496"/>
          </a:xfrm>
          <a:prstGeom prst="rect">
            <a:avLst/>
          </a:prstGeom>
        </p:spPr>
      </p:pic>
      <p:pic>
        <p:nvPicPr>
          <p:cNvPr id="12" name="Image 4" descr="preencoded.png">    </p:cNvPr>
          <p:cNvPicPr>
            <a:picLocks noChangeAspect="1"/>
          </p:cNvPicPr>
          <p:nvPr/>
        </p:nvPicPr>
        <p:blipFill>
          <a:blip r:embed="rId5"/>
          <a:stretch>
            <a:fillRect/>
          </a:stretch>
        </p:blipFill>
        <p:spPr>
          <a:xfrm>
            <a:off x="8370346" y="8190622"/>
            <a:ext cx="6973172" cy="4673099"/>
          </a:xfrm>
          <a:prstGeom prst="rect">
            <a:avLst/>
          </a:prstGeom>
        </p:spPr>
      </p:pic>
      <p:pic>
        <p:nvPicPr>
          <p:cNvPr id="13" name="Image 5" descr="preencoded.png">    </p:cNvPr>
          <p:cNvPicPr>
            <a:picLocks noChangeAspect="1"/>
          </p:cNvPicPr>
          <p:nvPr/>
        </p:nvPicPr>
        <p:blipFill>
          <a:blip r:embed="rId6"/>
          <a:stretch>
            <a:fillRect/>
          </a:stretch>
        </p:blipFill>
        <p:spPr>
          <a:xfrm>
            <a:off x="22977172" y="0"/>
            <a:ext cx="1409876" cy="1676220"/>
          </a:xfrm>
          <a:prstGeom prst="rect">
            <a:avLst/>
          </a:prstGeom>
        </p:spPr>
      </p:pic>
      <p:pic>
        <p:nvPicPr>
          <p:cNvPr id="14" name="Image 6" descr="preencoded.png">    </p:cNvPr>
          <p:cNvPicPr>
            <a:picLocks noChangeAspect="1"/>
          </p:cNvPicPr>
          <p:nvPr/>
        </p:nvPicPr>
        <p:blipFill>
          <a:blip r:embed="rId7"/>
          <a:stretch>
            <a:fillRect/>
          </a:stretch>
        </p:blipFill>
        <p:spPr>
          <a:xfrm>
            <a:off x="774797" y="2920687"/>
            <a:ext cx="7087486" cy="4698496"/>
          </a:xfrm>
          <a:prstGeom prst="rect">
            <a:avLst/>
          </a:prstGeom>
        </p:spPr>
      </p:pic>
      <p:pic>
        <p:nvPicPr>
          <p:cNvPr id="15" name="Image 7" descr="preencoded.png">    </p:cNvPr>
          <p:cNvPicPr>
            <a:picLocks noChangeAspect="1"/>
          </p:cNvPicPr>
          <p:nvPr/>
        </p:nvPicPr>
        <p:blipFill>
          <a:blip r:embed="rId8"/>
          <a:stretch>
            <a:fillRect/>
          </a:stretch>
        </p:blipFill>
        <p:spPr>
          <a:xfrm>
            <a:off x="8370346" y="2920687"/>
            <a:ext cx="7087486" cy="469849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74797" y="215877"/>
            <a:ext cx="10643930" cy="1841303"/>
          </a:xfrm>
          <a:prstGeom prst="rect">
            <a:avLst/>
          </a:prstGeom>
        </p:spPr>
      </p:pic>
      <p:sp>
        <p:nvSpPr>
          <p:cNvPr id="3" name="Text 0"/>
          <p:cNvSpPr/>
          <p:nvPr/>
        </p:nvSpPr>
        <p:spPr>
          <a:xfrm>
            <a:off x="1219352" y="584137"/>
            <a:ext cx="9445747" cy="1189439"/>
          </a:xfrm>
          <a:prstGeom prst="rect">
            <a:avLst/>
          </a:prstGeom>
          <a:noFill/>
          <a:ln/>
        </p:spPr>
        <p:txBody>
          <a:bodyPr wrap="square" lIns="0" tIns="0" rIns="0" bIns="0" rtlCol="0" anchor="t"/>
          <a:lstStyle/>
          <a:p>
            <a:pPr algn="l"/>
            <a:r>
              <a:rPr lang="en-US" sz="5000" dirty="0">
                <a:solidFill>
                  <a:srgbClr val="FFFFFF">
                    <a:alpha val="100000"/>
                  </a:srgbClr>
                </a:solidFill>
                <a:latin typeface="TeX Gyre Adventor Bold" pitchFamily="34" charset="0"/>
                <a:ea typeface="TeX Gyre Adventor Bold" pitchFamily="34" charset="-122"/>
                <a:cs typeface="TeX Gyre Adventor Bold" pitchFamily="34" charset="-120"/>
              </a:rPr>
              <a:t>Future Plans And Sustainability</a:t>
            </a:r>
            <a:endParaRPr lang="en-US" sz="5000" dirty="0"/>
          </a:p>
        </p:txBody>
      </p:sp>
      <p:pic>
        <p:nvPicPr>
          <p:cNvPr id="4" name="Image 1" descr="preencoded.png">    </p:cNvPr>
          <p:cNvPicPr>
            <a:picLocks noChangeAspect="1"/>
          </p:cNvPicPr>
          <p:nvPr/>
        </p:nvPicPr>
        <p:blipFill>
          <a:blip r:embed="rId2"/>
          <a:stretch>
            <a:fillRect/>
          </a:stretch>
        </p:blipFill>
        <p:spPr>
          <a:xfrm>
            <a:off x="11698162" y="1168273"/>
            <a:ext cx="9094337" cy="38097"/>
          </a:xfrm>
          <a:prstGeom prst="rect">
            <a:avLst/>
          </a:prstGeom>
        </p:spPr>
      </p:pic>
      <p:pic>
        <p:nvPicPr>
          <p:cNvPr id="5" name="Image 2" descr="preencoded.png">    </p:cNvPr>
          <p:cNvPicPr>
            <a:picLocks noChangeAspect="1"/>
          </p:cNvPicPr>
          <p:nvPr/>
        </p:nvPicPr>
        <p:blipFill>
          <a:blip r:embed="rId3"/>
          <a:stretch>
            <a:fillRect/>
          </a:stretch>
        </p:blipFill>
        <p:spPr>
          <a:xfrm>
            <a:off x="1359070" y="3090793"/>
            <a:ext cx="1435279" cy="20373"/>
          </a:xfrm>
          <a:prstGeom prst="rect">
            <a:avLst/>
          </a:prstGeom>
        </p:spPr>
      </p:pic>
      <p:pic>
        <p:nvPicPr>
          <p:cNvPr id="6" name="Image 3" descr="preencoded.png">    </p:cNvPr>
          <p:cNvPicPr>
            <a:picLocks noChangeAspect="1"/>
          </p:cNvPicPr>
          <p:nvPr/>
        </p:nvPicPr>
        <p:blipFill>
          <a:blip r:embed="rId4"/>
          <a:stretch>
            <a:fillRect/>
          </a:stretch>
        </p:blipFill>
        <p:spPr>
          <a:xfrm>
            <a:off x="1193949" y="3403235"/>
            <a:ext cx="13595" cy="4457222"/>
          </a:xfrm>
          <a:prstGeom prst="rect">
            <a:avLst/>
          </a:prstGeom>
        </p:spPr>
      </p:pic>
      <p:sp>
        <p:nvSpPr>
          <p:cNvPr id="7" name="Shape 1"/>
          <p:cNvSpPr/>
          <p:nvPr/>
        </p:nvSpPr>
        <p:spPr>
          <a:xfrm>
            <a:off x="774797" y="2692111"/>
            <a:ext cx="869440" cy="869238"/>
          </a:xfrm>
          <a:prstGeom prst="ellipse">
            <a:avLst/>
          </a:prstGeom>
          <a:solidFill>
            <a:srgbClr val="FFFFFF">
              <a:alpha val="100000"/>
            </a:srgbClr>
          </a:solidFill>
          <a:ln/>
        </p:spPr>
      </p:sp>
      <p:pic>
        <p:nvPicPr>
          <p:cNvPr id="8" name="Image 4" descr="preencoded.png">    </p:cNvPr>
          <p:cNvPicPr>
            <a:picLocks noChangeAspect="1"/>
          </p:cNvPicPr>
          <p:nvPr/>
        </p:nvPicPr>
        <p:blipFill>
          <a:blip r:embed="rId5"/>
          <a:stretch>
            <a:fillRect/>
          </a:stretch>
        </p:blipFill>
        <p:spPr>
          <a:xfrm>
            <a:off x="1359070" y="5401945"/>
            <a:ext cx="1435279" cy="20373"/>
          </a:xfrm>
          <a:prstGeom prst="rect">
            <a:avLst/>
          </a:prstGeom>
        </p:spPr>
      </p:pic>
      <p:sp>
        <p:nvSpPr>
          <p:cNvPr id="9" name="Shape 2"/>
          <p:cNvSpPr/>
          <p:nvPr/>
        </p:nvSpPr>
        <p:spPr>
          <a:xfrm>
            <a:off x="774797" y="2692111"/>
            <a:ext cx="869440" cy="869238"/>
          </a:xfrm>
          <a:prstGeom prst="ellipse">
            <a:avLst/>
          </a:prstGeom>
          <a:solidFill>
            <a:srgbClr val="FFFFFF">
              <a:alpha val="100000"/>
            </a:srgbClr>
          </a:solidFill>
          <a:ln w="38100">
            <a:solidFill>
              <a:srgbClr val="B62D27"/>
            </a:solidFill>
            <a:prstDash val="solid"/>
          </a:ln>
        </p:spPr>
      </p:sp>
      <p:pic>
        <p:nvPicPr>
          <p:cNvPr id="10" name="Image 5" descr="preencoded.png">    </p:cNvPr>
          <p:cNvPicPr>
            <a:picLocks noChangeAspect="1"/>
          </p:cNvPicPr>
          <p:nvPr/>
        </p:nvPicPr>
        <p:blipFill>
          <a:blip r:embed="rId6"/>
          <a:stretch>
            <a:fillRect/>
          </a:stretch>
        </p:blipFill>
        <p:spPr>
          <a:xfrm>
            <a:off x="1359070" y="7475753"/>
            <a:ext cx="1435279" cy="20372"/>
          </a:xfrm>
          <a:prstGeom prst="rect">
            <a:avLst/>
          </a:prstGeom>
        </p:spPr>
      </p:pic>
      <p:sp>
        <p:nvSpPr>
          <p:cNvPr id="11" name="Shape 3"/>
          <p:cNvSpPr/>
          <p:nvPr/>
        </p:nvSpPr>
        <p:spPr>
          <a:xfrm>
            <a:off x="774797" y="5001025"/>
            <a:ext cx="869440" cy="869238"/>
          </a:xfrm>
          <a:prstGeom prst="ellipse">
            <a:avLst/>
          </a:prstGeom>
          <a:solidFill>
            <a:srgbClr val="FFFFFF">
              <a:alpha val="100000"/>
            </a:srgbClr>
          </a:solidFill>
          <a:ln w="38100">
            <a:solidFill>
              <a:srgbClr val="B62D27"/>
            </a:solidFill>
            <a:prstDash val="solid"/>
          </a:ln>
        </p:spPr>
      </p:sp>
      <p:sp>
        <p:nvSpPr>
          <p:cNvPr id="12" name="Shape 4"/>
          <p:cNvSpPr/>
          <p:nvPr/>
        </p:nvSpPr>
        <p:spPr>
          <a:xfrm>
            <a:off x="774797" y="7035045"/>
            <a:ext cx="869440" cy="869238"/>
          </a:xfrm>
          <a:prstGeom prst="ellipse">
            <a:avLst/>
          </a:prstGeom>
          <a:solidFill>
            <a:srgbClr val="FFFFFF">
              <a:alpha val="100000"/>
            </a:srgbClr>
          </a:solidFill>
          <a:ln w="38100">
            <a:solidFill>
              <a:srgbClr val="B62D27"/>
            </a:solidFill>
            <a:prstDash val="solid"/>
          </a:ln>
        </p:spPr>
      </p:sp>
      <p:sp>
        <p:nvSpPr>
          <p:cNvPr id="13" name="Text 5"/>
          <p:cNvSpPr/>
          <p:nvPr/>
        </p:nvSpPr>
        <p:spPr>
          <a:xfrm>
            <a:off x="1114415" y="2895838"/>
            <a:ext cx="299204" cy="553107"/>
          </a:xfrm>
          <a:prstGeom prst="rect">
            <a:avLst/>
          </a:prstGeom>
          <a:noFill/>
          <a:ln/>
        </p:spPr>
        <p:txBody>
          <a:bodyPr wrap="square" lIns="0" tIns="0" rIns="0" bIns="0" rtlCol="0" anchor="t"/>
          <a:lstStyle/>
          <a:p>
            <a:pPr algn="l"/>
            <a:r>
              <a:rPr lang="en-US" sz="2600" dirty="0">
                <a:solidFill>
                  <a:srgbClr val="303030">
                    <a:alpha val="100000"/>
                  </a:srgbClr>
                </a:solidFill>
                <a:latin typeface="Open Sans Bold" pitchFamily="34" charset="0"/>
                <a:ea typeface="Open Sans Bold" pitchFamily="34" charset="-122"/>
                <a:cs typeface="Open Sans Bold" pitchFamily="34" charset="-120"/>
              </a:rPr>
              <a:t>1</a:t>
            </a:r>
            <a:endParaRPr lang="en-US" sz="2567" dirty="0"/>
          </a:p>
        </p:txBody>
      </p:sp>
      <p:sp>
        <p:nvSpPr>
          <p:cNvPr id="14" name="Text 6"/>
          <p:cNvSpPr/>
          <p:nvPr/>
        </p:nvSpPr>
        <p:spPr>
          <a:xfrm>
            <a:off x="1114415" y="5204752"/>
            <a:ext cx="299204" cy="553107"/>
          </a:xfrm>
          <a:prstGeom prst="rect">
            <a:avLst/>
          </a:prstGeom>
          <a:noFill/>
          <a:ln/>
        </p:spPr>
        <p:txBody>
          <a:bodyPr wrap="square" lIns="0" tIns="0" rIns="0" bIns="0" rtlCol="0" anchor="t"/>
          <a:lstStyle/>
          <a:p>
            <a:pPr algn="l"/>
            <a:r>
              <a:rPr lang="en-US" sz="2600" dirty="0">
                <a:solidFill>
                  <a:srgbClr val="303030">
                    <a:alpha val="100000"/>
                  </a:srgbClr>
                </a:solidFill>
                <a:latin typeface="Open Sans Bold" pitchFamily="34" charset="0"/>
                <a:ea typeface="Open Sans Bold" pitchFamily="34" charset="-122"/>
                <a:cs typeface="Open Sans Bold" pitchFamily="34" charset="-120"/>
              </a:rPr>
              <a:t>2</a:t>
            </a:r>
            <a:endParaRPr lang="en-US" sz="2567" dirty="0"/>
          </a:p>
        </p:txBody>
      </p:sp>
      <p:sp>
        <p:nvSpPr>
          <p:cNvPr id="15" name="Text 7"/>
          <p:cNvSpPr/>
          <p:nvPr/>
        </p:nvSpPr>
        <p:spPr>
          <a:xfrm>
            <a:off x="1114415" y="7238772"/>
            <a:ext cx="299204" cy="553107"/>
          </a:xfrm>
          <a:prstGeom prst="rect">
            <a:avLst/>
          </a:prstGeom>
          <a:noFill/>
          <a:ln/>
        </p:spPr>
        <p:txBody>
          <a:bodyPr wrap="square" lIns="0" tIns="0" rIns="0" bIns="0" rtlCol="0" anchor="t"/>
          <a:lstStyle/>
          <a:p>
            <a:pPr algn="l"/>
            <a:r>
              <a:rPr lang="en-US" sz="2600" dirty="0">
                <a:solidFill>
                  <a:srgbClr val="303030">
                    <a:alpha val="100000"/>
                  </a:srgbClr>
                </a:solidFill>
                <a:latin typeface="Open Sans Bold" pitchFamily="34" charset="0"/>
                <a:ea typeface="Open Sans Bold" pitchFamily="34" charset="-122"/>
                <a:cs typeface="Open Sans Bold" pitchFamily="34" charset="-120"/>
              </a:rPr>
              <a:t>3</a:t>
            </a:r>
            <a:endParaRPr lang="en-US" sz="2567" dirty="0"/>
          </a:p>
        </p:txBody>
      </p:sp>
      <p:sp>
        <p:nvSpPr>
          <p:cNvPr id="16" name="Text 8"/>
          <p:cNvSpPr/>
          <p:nvPr/>
        </p:nvSpPr>
        <p:spPr>
          <a:xfrm>
            <a:off x="2997575" y="2819098"/>
            <a:ext cx="11901387" cy="1574631"/>
          </a:xfrm>
          <a:prstGeom prst="rect">
            <a:avLst/>
          </a:prstGeom>
          <a:noFill/>
          <a:ln/>
        </p:spPr>
        <p:txBody>
          <a:bodyPr wrap="square" lIns="0" tIns="0" rIns="0" bIns="0" rtlCol="0" anchor="t"/>
          <a:lstStyle/>
          <a:p>
            <a:pPr algn="l"/>
            <a:r>
              <a:rPr lang="en-US" sz="2400" dirty="0">
                <a:solidFill>
                  <a:srgbClr val="B62D27">
                    <a:alpha val="100000"/>
                  </a:srgbClr>
                </a:solidFill>
                <a:latin typeface="Montserrat Bold" pitchFamily="34" charset="0"/>
                <a:ea typeface="Montserrat Bold" pitchFamily="34" charset="-122"/>
                <a:cs typeface="Montserrat Bold" pitchFamily="34" charset="-120"/>
              </a:rPr>
              <a:t>Within 5 years</a:t>
            </a:r>
            <a:pPr algn="l"/>
            <a:r>
              <a:rPr lang="en-US" sz="2400" dirty="0">
                <a:solidFill>
                  <a:srgbClr val="000000">
                    <a:alpha val="100000"/>
                  </a:srgbClr>
                </a:solidFill>
                <a:latin typeface="Montserrat Medium" pitchFamily="34" charset="0"/>
                <a:ea typeface="Montserrat Medium" pitchFamily="34" charset="-122"/>
                <a:cs typeface="Montserrat Medium" pitchFamily="34" charset="-120"/>
              </a:rPr>
              <a:t> we plan to open a D2C e-commerce website to grant a platform to shola artisans to sell their crafts. This will give them monetary incentive to continue preserving their craft and in turn, our heritage.</a:t>
            </a:r>
            <a:endParaRPr lang="en-US" sz="2400" dirty="0"/>
          </a:p>
          <a:p>
            <a:pPr algn="l"/>
            <a:r>
              <a:rPr lang="en-US" sz="2400" dirty="0">
                <a:solidFill>
                  <a:srgbClr val="000000">
                    <a:alpha val="100000"/>
                  </a:srgbClr>
                </a:solidFill>
                <a:latin typeface="Montserrat Medium" pitchFamily="34" charset="0"/>
                <a:ea typeface="Montserrat Medium" pitchFamily="34" charset="-122"/>
                <a:cs typeface="Montserrat Medium" pitchFamily="34" charset="-120"/>
              </a:rPr>
              <a:t>Our commission of mere 20% shall be taken to maintain the bussiness. </a:t>
            </a:r>
            <a:endParaRPr lang="en-US" sz="2400" dirty="0"/>
          </a:p>
        </p:txBody>
      </p:sp>
      <p:sp>
        <p:nvSpPr>
          <p:cNvPr id="17" name="Text 9"/>
          <p:cNvSpPr/>
          <p:nvPr/>
        </p:nvSpPr>
        <p:spPr>
          <a:xfrm>
            <a:off x="2997575" y="5206442"/>
            <a:ext cx="11901387" cy="1206371"/>
          </a:xfrm>
          <a:prstGeom prst="rect">
            <a:avLst/>
          </a:prstGeom>
          <a:noFill/>
          <a:ln/>
        </p:spPr>
        <p:txBody>
          <a:bodyPr wrap="square" lIns="0" tIns="0" rIns="0" bIns="0" rtlCol="0" anchor="t"/>
          <a:lstStyle/>
          <a:p>
            <a:pPr algn="l"/>
            <a:r>
              <a:rPr lang="en-US" sz="2400" dirty="0">
                <a:solidFill>
                  <a:srgbClr val="B62D27">
                    <a:alpha val="100000"/>
                  </a:srgbClr>
                </a:solidFill>
                <a:latin typeface="Montserrat Bold" pitchFamily="34" charset="0"/>
                <a:ea typeface="Montserrat Bold" pitchFamily="34" charset="-122"/>
                <a:cs typeface="Montserrat Bold" pitchFamily="34" charset="-120"/>
              </a:rPr>
              <a:t>Within 10 years</a:t>
            </a:r>
            <a:pPr algn="l"/>
            <a:r>
              <a:rPr lang="en-US" sz="2400" dirty="0">
                <a:solidFill>
                  <a:srgbClr val="000000">
                    <a:alpha val="100000"/>
                  </a:srgbClr>
                </a:solidFill>
                <a:latin typeface="Montserrat Medium" pitchFamily="34" charset="0"/>
                <a:ea typeface="Montserrat Medium" pitchFamily="34" charset="-122"/>
                <a:cs typeface="Montserrat Medium" pitchFamily="34" charset="-120"/>
              </a:rPr>
              <a:t> we plan to start our own production of sholapith as well, by renting land and hiring farmers, for greater returns and conservation of the sholapith plant itself which is already threatened.</a:t>
            </a:r>
            <a:endParaRPr lang="en-US" sz="2400" dirty="0"/>
          </a:p>
        </p:txBody>
      </p:sp>
      <p:sp>
        <p:nvSpPr>
          <p:cNvPr id="18" name="Text 10"/>
          <p:cNvSpPr/>
          <p:nvPr/>
        </p:nvSpPr>
        <p:spPr>
          <a:xfrm>
            <a:off x="2997575" y="7276320"/>
            <a:ext cx="11901387" cy="1206371"/>
          </a:xfrm>
          <a:prstGeom prst="rect">
            <a:avLst/>
          </a:prstGeom>
          <a:noFill/>
          <a:ln/>
        </p:spPr>
        <p:txBody>
          <a:bodyPr wrap="square" lIns="0" tIns="0" rIns="0" bIns="0" rtlCol="0" anchor="t"/>
          <a:lstStyle/>
          <a:p>
            <a:pPr algn="l"/>
            <a:r>
              <a:rPr lang="en-US" sz="2400" dirty="0">
                <a:solidFill>
                  <a:srgbClr val="B62D27">
                    <a:alpha val="100000"/>
                  </a:srgbClr>
                </a:solidFill>
                <a:latin typeface="Montserrat Bold" pitchFamily="34" charset="0"/>
                <a:ea typeface="Montserrat Bold" pitchFamily="34" charset="-122"/>
                <a:cs typeface="Montserrat Bold" pitchFamily="34" charset="-120"/>
              </a:rPr>
              <a:t>Within 15 years</a:t>
            </a:r>
            <a:pPr algn="l"/>
            <a:r>
              <a:rPr lang="en-US" sz="2400" dirty="0">
                <a:solidFill>
                  <a:srgbClr val="000000">
                    <a:alpha val="100000"/>
                  </a:srgbClr>
                </a:solidFill>
                <a:latin typeface="Montserrat Medium" pitchFamily="34" charset="0"/>
                <a:ea typeface="Montserrat Medium" pitchFamily="34" charset="-122"/>
                <a:cs typeface="Montserrat Medium" pitchFamily="34" charset="-120"/>
              </a:rPr>
              <a:t> we plan to build an eco-friendly products brand in packaging focusing on biodegradable adhesives and tapes and viable non coventional alternatives to cellophane, etc. </a:t>
            </a:r>
            <a:endParaRPr lang="en-US" sz="2400" dirty="0"/>
          </a:p>
        </p:txBody>
      </p:sp>
      <p:pic>
        <p:nvPicPr>
          <p:cNvPr id="19" name="Image 6" descr="preencoded.png">    </p:cNvPr>
          <p:cNvPicPr>
            <a:picLocks noChangeAspect="1"/>
          </p:cNvPicPr>
          <p:nvPr/>
        </p:nvPicPr>
        <p:blipFill>
          <a:blip r:embed="rId7"/>
          <a:stretch>
            <a:fillRect/>
          </a:stretch>
        </p:blipFill>
        <p:spPr>
          <a:xfrm>
            <a:off x="774797" y="9282704"/>
            <a:ext cx="6871559" cy="4101660"/>
          </a:xfrm>
          <a:prstGeom prst="rect">
            <a:avLst/>
          </a:prstGeom>
        </p:spPr>
      </p:pic>
      <p:pic>
        <p:nvPicPr>
          <p:cNvPr id="20" name="Image 7" descr="preencoded.png">    </p:cNvPr>
          <p:cNvPicPr>
            <a:picLocks noChangeAspect="1"/>
          </p:cNvPicPr>
          <p:nvPr/>
        </p:nvPicPr>
        <p:blipFill>
          <a:blip r:embed="rId8"/>
          <a:stretch>
            <a:fillRect/>
          </a:stretch>
        </p:blipFill>
        <p:spPr>
          <a:xfrm>
            <a:off x="7989299" y="9282704"/>
            <a:ext cx="6833454" cy="4101660"/>
          </a:xfrm>
          <a:prstGeom prst="rect">
            <a:avLst/>
          </a:prstGeom>
        </p:spPr>
      </p:pic>
      <p:sp>
        <p:nvSpPr>
          <p:cNvPr id="21" name="Text 11"/>
          <p:cNvSpPr/>
          <p:nvPr/>
        </p:nvSpPr>
        <p:spPr>
          <a:xfrm>
            <a:off x="16486661" y="2527029"/>
            <a:ext cx="6445198" cy="1427739"/>
          </a:xfrm>
          <a:prstGeom prst="rect">
            <a:avLst/>
          </a:prstGeom>
          <a:noFill/>
          <a:ln/>
        </p:spPr>
        <p:txBody>
          <a:bodyPr wrap="square" lIns="0" tIns="0" rIns="0" bIns="0" rtlCol="0" anchor="t"/>
          <a:lstStyle/>
          <a:p>
            <a:pPr algn="l">
              <a:lnSpc>
                <a:spcPts val="4936"/>
              </a:lnSpc>
            </a:pPr>
            <a:r>
              <a:rPr lang="en-US" sz="4300" dirty="0">
                <a:solidFill>
                  <a:srgbClr val="B62D27">
                    <a:alpha val="100000"/>
                  </a:srgbClr>
                </a:solidFill>
                <a:latin typeface="TeX Gyre Adventor Bold" pitchFamily="34" charset="0"/>
                <a:ea typeface="TeX Gyre Adventor Bold" pitchFamily="34" charset="-122"/>
                <a:cs typeface="TeX Gyre Adventor Bold" pitchFamily="34" charset="-120"/>
              </a:rPr>
              <a:t>How our business is sustainable</a:t>
            </a:r>
            <a:endParaRPr lang="en-US" sz="4330" dirty="0"/>
          </a:p>
        </p:txBody>
      </p:sp>
      <p:pic>
        <p:nvPicPr>
          <p:cNvPr id="22" name="Image 8" descr="preencoded.png">    </p:cNvPr>
          <p:cNvPicPr>
            <a:picLocks noChangeAspect="1"/>
          </p:cNvPicPr>
          <p:nvPr/>
        </p:nvPicPr>
        <p:blipFill>
          <a:blip r:embed="rId9"/>
          <a:stretch>
            <a:fillRect/>
          </a:stretch>
        </p:blipFill>
        <p:spPr>
          <a:xfrm>
            <a:off x="16742950" y="4824249"/>
            <a:ext cx="565717" cy="12596"/>
          </a:xfrm>
          <a:prstGeom prst="rect">
            <a:avLst/>
          </a:prstGeom>
        </p:spPr>
      </p:pic>
      <p:pic>
        <p:nvPicPr>
          <p:cNvPr id="23" name="Image 9" descr="preencoded.png">    </p:cNvPr>
          <p:cNvPicPr>
            <a:picLocks noChangeAspect="1"/>
          </p:cNvPicPr>
          <p:nvPr/>
        </p:nvPicPr>
        <p:blipFill>
          <a:blip r:embed="rId10"/>
          <a:stretch>
            <a:fillRect/>
          </a:stretch>
        </p:blipFill>
        <p:spPr>
          <a:xfrm>
            <a:off x="16651781" y="5003263"/>
            <a:ext cx="8410" cy="7911252"/>
          </a:xfrm>
          <a:prstGeom prst="rect">
            <a:avLst/>
          </a:prstGeom>
        </p:spPr>
      </p:pic>
      <p:sp>
        <p:nvSpPr>
          <p:cNvPr id="24" name="Shape 12"/>
          <p:cNvSpPr/>
          <p:nvPr/>
        </p:nvSpPr>
        <p:spPr>
          <a:xfrm>
            <a:off x="16387727" y="4573782"/>
            <a:ext cx="537547" cy="537422"/>
          </a:xfrm>
          <a:prstGeom prst="ellipse">
            <a:avLst/>
          </a:prstGeom>
          <a:solidFill>
            <a:srgbClr val="FFFFFF">
              <a:alpha val="100000"/>
            </a:srgbClr>
          </a:solidFill>
          <a:ln/>
        </p:spPr>
      </p:sp>
      <p:sp>
        <p:nvSpPr>
          <p:cNvPr id="25" name="Shape 13"/>
          <p:cNvSpPr/>
          <p:nvPr/>
        </p:nvSpPr>
        <p:spPr>
          <a:xfrm>
            <a:off x="16387727" y="4573782"/>
            <a:ext cx="537547" cy="537422"/>
          </a:xfrm>
          <a:prstGeom prst="ellipse">
            <a:avLst/>
          </a:prstGeom>
          <a:solidFill>
            <a:srgbClr val="FFFFFF">
              <a:alpha val="100000"/>
            </a:srgbClr>
          </a:solidFill>
          <a:ln w="25400">
            <a:solidFill>
              <a:srgbClr val="B62D27"/>
            </a:solidFill>
            <a:prstDash val="solid"/>
          </a:ln>
        </p:spPr>
      </p:sp>
      <p:pic>
        <p:nvPicPr>
          <p:cNvPr id="26" name="Image 10" descr="preencoded.png">    </p:cNvPr>
          <p:cNvPicPr>
            <a:picLocks noChangeAspect="1"/>
          </p:cNvPicPr>
          <p:nvPr/>
        </p:nvPicPr>
        <p:blipFill>
          <a:blip r:embed="rId11"/>
          <a:stretch>
            <a:fillRect/>
          </a:stretch>
        </p:blipFill>
        <p:spPr>
          <a:xfrm>
            <a:off x="16742950" y="9506825"/>
            <a:ext cx="565717" cy="12596"/>
          </a:xfrm>
          <a:prstGeom prst="rect">
            <a:avLst/>
          </a:prstGeom>
        </p:spPr>
      </p:pic>
      <p:pic>
        <p:nvPicPr>
          <p:cNvPr id="27" name="Image 11" descr="preencoded.png">    </p:cNvPr>
          <p:cNvPicPr>
            <a:picLocks noChangeAspect="1"/>
          </p:cNvPicPr>
          <p:nvPr/>
        </p:nvPicPr>
        <p:blipFill>
          <a:blip r:embed="rId12"/>
          <a:stretch>
            <a:fillRect/>
          </a:stretch>
        </p:blipFill>
        <p:spPr>
          <a:xfrm>
            <a:off x="16742950" y="11094155"/>
            <a:ext cx="565717" cy="12596"/>
          </a:xfrm>
          <a:prstGeom prst="rect">
            <a:avLst/>
          </a:prstGeom>
        </p:spPr>
      </p:pic>
      <p:pic>
        <p:nvPicPr>
          <p:cNvPr id="28" name="Image 12" descr="preencoded.png">    </p:cNvPr>
          <p:cNvPicPr>
            <a:picLocks noChangeAspect="1"/>
          </p:cNvPicPr>
          <p:nvPr/>
        </p:nvPicPr>
        <p:blipFill>
          <a:blip r:embed="rId13"/>
          <a:stretch>
            <a:fillRect/>
          </a:stretch>
        </p:blipFill>
        <p:spPr>
          <a:xfrm>
            <a:off x="16742950" y="12821169"/>
            <a:ext cx="565717" cy="12596"/>
          </a:xfrm>
          <a:prstGeom prst="rect">
            <a:avLst/>
          </a:prstGeom>
        </p:spPr>
      </p:pic>
      <p:pic>
        <p:nvPicPr>
          <p:cNvPr id="29" name="Image 13" descr="preencoded.png">    </p:cNvPr>
          <p:cNvPicPr>
            <a:picLocks noChangeAspect="1"/>
          </p:cNvPicPr>
          <p:nvPr/>
        </p:nvPicPr>
        <p:blipFill>
          <a:blip r:embed="rId14"/>
          <a:stretch>
            <a:fillRect/>
          </a:stretch>
        </p:blipFill>
        <p:spPr>
          <a:xfrm>
            <a:off x="16716629" y="7665522"/>
            <a:ext cx="565717" cy="12596"/>
          </a:xfrm>
          <a:prstGeom prst="rect">
            <a:avLst/>
          </a:prstGeom>
        </p:spPr>
      </p:pic>
      <p:pic>
        <p:nvPicPr>
          <p:cNvPr id="30" name="Image 14" descr="preencoded.png">    </p:cNvPr>
          <p:cNvPicPr>
            <a:picLocks noChangeAspect="1"/>
          </p:cNvPicPr>
          <p:nvPr/>
        </p:nvPicPr>
        <p:blipFill>
          <a:blip r:embed="rId15"/>
          <a:stretch>
            <a:fillRect/>
          </a:stretch>
        </p:blipFill>
        <p:spPr>
          <a:xfrm>
            <a:off x="16742950" y="6152716"/>
            <a:ext cx="565717" cy="12596"/>
          </a:xfrm>
          <a:prstGeom prst="rect">
            <a:avLst/>
          </a:prstGeom>
        </p:spPr>
      </p:pic>
      <p:sp>
        <p:nvSpPr>
          <p:cNvPr id="31" name="Shape 14"/>
          <p:cNvSpPr/>
          <p:nvPr/>
        </p:nvSpPr>
        <p:spPr>
          <a:xfrm>
            <a:off x="16387727" y="5909238"/>
            <a:ext cx="537547" cy="537422"/>
          </a:xfrm>
          <a:prstGeom prst="ellipse">
            <a:avLst/>
          </a:prstGeom>
          <a:solidFill>
            <a:srgbClr val="FFFFFF">
              <a:alpha val="100000"/>
            </a:srgbClr>
          </a:solidFill>
          <a:ln w="25400">
            <a:solidFill>
              <a:srgbClr val="B62D27"/>
            </a:solidFill>
            <a:prstDash val="solid"/>
          </a:ln>
        </p:spPr>
      </p:sp>
      <p:sp>
        <p:nvSpPr>
          <p:cNvPr id="32" name="Shape 15"/>
          <p:cNvSpPr/>
          <p:nvPr/>
        </p:nvSpPr>
        <p:spPr>
          <a:xfrm>
            <a:off x="16387727" y="9231910"/>
            <a:ext cx="537547" cy="537422"/>
          </a:xfrm>
          <a:prstGeom prst="ellipse">
            <a:avLst/>
          </a:prstGeom>
          <a:solidFill>
            <a:srgbClr val="FFFFFF">
              <a:alpha val="100000"/>
            </a:srgbClr>
          </a:solidFill>
          <a:ln w="25400">
            <a:solidFill>
              <a:srgbClr val="B62D27"/>
            </a:solidFill>
            <a:prstDash val="solid"/>
          </a:ln>
        </p:spPr>
      </p:sp>
      <p:sp>
        <p:nvSpPr>
          <p:cNvPr id="33" name="Shape 16"/>
          <p:cNvSpPr/>
          <p:nvPr/>
        </p:nvSpPr>
        <p:spPr>
          <a:xfrm>
            <a:off x="16387727" y="10819240"/>
            <a:ext cx="537547" cy="537422"/>
          </a:xfrm>
          <a:prstGeom prst="ellipse">
            <a:avLst/>
          </a:prstGeom>
          <a:solidFill>
            <a:srgbClr val="FFFFFF">
              <a:alpha val="100000"/>
            </a:srgbClr>
          </a:solidFill>
          <a:ln w="25400">
            <a:solidFill>
              <a:srgbClr val="B62D27"/>
            </a:solidFill>
            <a:prstDash val="solid"/>
          </a:ln>
        </p:spPr>
      </p:sp>
      <p:sp>
        <p:nvSpPr>
          <p:cNvPr id="34" name="Shape 17"/>
          <p:cNvSpPr/>
          <p:nvPr/>
        </p:nvSpPr>
        <p:spPr>
          <a:xfrm>
            <a:off x="16387727" y="12546254"/>
            <a:ext cx="537547" cy="537422"/>
          </a:xfrm>
          <a:prstGeom prst="ellipse">
            <a:avLst/>
          </a:prstGeom>
          <a:solidFill>
            <a:srgbClr val="FFFFFF">
              <a:alpha val="100000"/>
            </a:srgbClr>
          </a:solidFill>
          <a:ln w="25400">
            <a:solidFill>
              <a:srgbClr val="B62D27"/>
            </a:solidFill>
            <a:prstDash val="solid"/>
          </a:ln>
        </p:spPr>
      </p:sp>
      <p:sp>
        <p:nvSpPr>
          <p:cNvPr id="35" name="Shape 18"/>
          <p:cNvSpPr/>
          <p:nvPr/>
        </p:nvSpPr>
        <p:spPr>
          <a:xfrm>
            <a:off x="16361431" y="7390607"/>
            <a:ext cx="537547" cy="537422"/>
          </a:xfrm>
          <a:prstGeom prst="ellipse">
            <a:avLst/>
          </a:prstGeom>
          <a:solidFill>
            <a:srgbClr val="FFFFFF">
              <a:alpha val="100000"/>
            </a:srgbClr>
          </a:solidFill>
          <a:ln w="25400">
            <a:solidFill>
              <a:srgbClr val="B62D27"/>
            </a:solidFill>
            <a:prstDash val="solid"/>
          </a:ln>
        </p:spPr>
      </p:sp>
      <p:sp>
        <p:nvSpPr>
          <p:cNvPr id="36" name="Text 19"/>
          <p:cNvSpPr/>
          <p:nvPr/>
        </p:nvSpPr>
        <p:spPr>
          <a:xfrm>
            <a:off x="16597700" y="4699739"/>
            <a:ext cx="194209" cy="346548"/>
          </a:xfrm>
          <a:prstGeom prst="rect">
            <a:avLst/>
          </a:prstGeom>
          <a:noFill/>
          <a:ln/>
        </p:spPr>
        <p:txBody>
          <a:bodyPr wrap="square" lIns="0" tIns="0" rIns="0" bIns="0" rtlCol="0" anchor="t"/>
          <a:lstStyle/>
          <a:p>
            <a:pPr algn="l"/>
            <a:r>
              <a:rPr lang="en-US" sz="1600" dirty="0">
                <a:solidFill>
                  <a:srgbClr val="303030">
                    <a:alpha val="100000"/>
                  </a:srgbClr>
                </a:solidFill>
                <a:latin typeface="Open Sans Bold" pitchFamily="34" charset="0"/>
                <a:ea typeface="Open Sans Bold" pitchFamily="34" charset="-122"/>
                <a:cs typeface="Open Sans Bold" pitchFamily="34" charset="-120"/>
              </a:rPr>
              <a:t>1</a:t>
            </a:r>
            <a:endParaRPr lang="en-US" sz="1587" dirty="0"/>
          </a:p>
        </p:txBody>
      </p:sp>
      <p:sp>
        <p:nvSpPr>
          <p:cNvPr id="37" name="Text 20"/>
          <p:cNvSpPr/>
          <p:nvPr/>
        </p:nvSpPr>
        <p:spPr>
          <a:xfrm>
            <a:off x="16597700" y="6035195"/>
            <a:ext cx="194209" cy="346548"/>
          </a:xfrm>
          <a:prstGeom prst="rect">
            <a:avLst/>
          </a:prstGeom>
          <a:noFill/>
          <a:ln/>
        </p:spPr>
        <p:txBody>
          <a:bodyPr wrap="square" lIns="0" tIns="0" rIns="0" bIns="0" rtlCol="0" anchor="t"/>
          <a:lstStyle/>
          <a:p>
            <a:pPr algn="l"/>
            <a:r>
              <a:rPr lang="en-US" sz="1600" dirty="0">
                <a:solidFill>
                  <a:srgbClr val="303030">
                    <a:alpha val="100000"/>
                  </a:srgbClr>
                </a:solidFill>
                <a:latin typeface="Open Sans Bold" pitchFamily="34" charset="0"/>
                <a:ea typeface="Open Sans Bold" pitchFamily="34" charset="-122"/>
                <a:cs typeface="Open Sans Bold" pitchFamily="34" charset="-120"/>
              </a:rPr>
              <a:t>2</a:t>
            </a:r>
            <a:endParaRPr lang="en-US" sz="1587" dirty="0"/>
          </a:p>
        </p:txBody>
      </p:sp>
      <p:sp>
        <p:nvSpPr>
          <p:cNvPr id="38" name="Text 21"/>
          <p:cNvSpPr/>
          <p:nvPr/>
        </p:nvSpPr>
        <p:spPr>
          <a:xfrm>
            <a:off x="16597700" y="9357867"/>
            <a:ext cx="194209" cy="346548"/>
          </a:xfrm>
          <a:prstGeom prst="rect">
            <a:avLst/>
          </a:prstGeom>
          <a:noFill/>
          <a:ln/>
        </p:spPr>
        <p:txBody>
          <a:bodyPr wrap="square" lIns="0" tIns="0" rIns="0" bIns="0" rtlCol="0" anchor="t"/>
          <a:lstStyle/>
          <a:p>
            <a:pPr algn="l"/>
            <a:r>
              <a:rPr lang="en-US" sz="1600" dirty="0">
                <a:solidFill>
                  <a:srgbClr val="303030">
                    <a:alpha val="100000"/>
                  </a:srgbClr>
                </a:solidFill>
                <a:latin typeface="Open Sans Bold" pitchFamily="34" charset="0"/>
                <a:ea typeface="Open Sans Bold" pitchFamily="34" charset="-122"/>
                <a:cs typeface="Open Sans Bold" pitchFamily="34" charset="-120"/>
              </a:rPr>
              <a:t>4</a:t>
            </a:r>
            <a:endParaRPr lang="en-US" sz="1587" dirty="0"/>
          </a:p>
        </p:txBody>
      </p:sp>
      <p:sp>
        <p:nvSpPr>
          <p:cNvPr id="39" name="Text 22"/>
          <p:cNvSpPr/>
          <p:nvPr/>
        </p:nvSpPr>
        <p:spPr>
          <a:xfrm>
            <a:off x="16597700" y="10945197"/>
            <a:ext cx="194209" cy="346548"/>
          </a:xfrm>
          <a:prstGeom prst="rect">
            <a:avLst/>
          </a:prstGeom>
          <a:noFill/>
          <a:ln/>
        </p:spPr>
        <p:txBody>
          <a:bodyPr wrap="square" lIns="0" tIns="0" rIns="0" bIns="0" rtlCol="0" anchor="t"/>
          <a:lstStyle/>
          <a:p>
            <a:pPr algn="l"/>
            <a:r>
              <a:rPr lang="en-US" sz="1600" dirty="0">
                <a:solidFill>
                  <a:srgbClr val="303030">
                    <a:alpha val="100000"/>
                  </a:srgbClr>
                </a:solidFill>
                <a:latin typeface="Open Sans Bold" pitchFamily="34" charset="0"/>
                <a:ea typeface="Open Sans Bold" pitchFamily="34" charset="-122"/>
                <a:cs typeface="Open Sans Bold" pitchFamily="34" charset="-120"/>
              </a:rPr>
              <a:t>5</a:t>
            </a:r>
            <a:endParaRPr lang="en-US" sz="1587" dirty="0"/>
          </a:p>
        </p:txBody>
      </p:sp>
      <p:sp>
        <p:nvSpPr>
          <p:cNvPr id="40" name="Text 23"/>
          <p:cNvSpPr/>
          <p:nvPr/>
        </p:nvSpPr>
        <p:spPr>
          <a:xfrm>
            <a:off x="16597700" y="12672212"/>
            <a:ext cx="194209" cy="625918"/>
          </a:xfrm>
          <a:prstGeom prst="rect">
            <a:avLst/>
          </a:prstGeom>
          <a:noFill/>
          <a:ln/>
        </p:spPr>
        <p:txBody>
          <a:bodyPr wrap="square" lIns="0" tIns="0" rIns="0" bIns="0" rtlCol="0" anchor="t"/>
          <a:lstStyle/>
          <a:p>
            <a:pPr algn="l"/>
            <a:r>
              <a:rPr lang="en-US" sz="1600" dirty="0">
                <a:solidFill>
                  <a:srgbClr val="303030">
                    <a:alpha val="100000"/>
                  </a:srgbClr>
                </a:solidFill>
                <a:latin typeface="Open Sans Bold" pitchFamily="34" charset="0"/>
                <a:ea typeface="Open Sans Bold" pitchFamily="34" charset="-122"/>
                <a:cs typeface="Open Sans Bold" pitchFamily="34" charset="-120"/>
              </a:rPr>
              <a:t>6</a:t>
            </a:r>
            <a:endParaRPr lang="en-US" sz="1587" dirty="0"/>
          </a:p>
        </p:txBody>
      </p:sp>
      <p:sp>
        <p:nvSpPr>
          <p:cNvPr id="41" name="Text 24"/>
          <p:cNvSpPr/>
          <p:nvPr/>
        </p:nvSpPr>
        <p:spPr>
          <a:xfrm>
            <a:off x="17513281" y="4584208"/>
            <a:ext cx="5445176" cy="750914"/>
          </a:xfrm>
          <a:prstGeom prst="rect">
            <a:avLst/>
          </a:prstGeom>
          <a:noFill/>
          <a:ln/>
        </p:spPr>
        <p:txBody>
          <a:bodyPr wrap="square" lIns="0" tIns="0" rIns="0" bIns="0" rtlCol="0" anchor="t"/>
          <a:lstStyle/>
          <a:p>
            <a:pPr algn="l"/>
            <a:r>
              <a:rPr lang="en-US" sz="2100" dirty="0">
                <a:solidFill>
                  <a:srgbClr val="000000">
                    <a:alpha val="100000"/>
                  </a:srgbClr>
                </a:solidFill>
                <a:latin typeface="Montserrat SemiBold" pitchFamily="34" charset="0"/>
                <a:ea typeface="Montserrat SemiBold" pitchFamily="34" charset="-122"/>
                <a:cs typeface="Montserrat SemiBold" pitchFamily="34" charset="-120"/>
              </a:rPr>
              <a:t>Improvement of soil quality on plantation of Sholapith. </a:t>
            </a:r>
            <a:endParaRPr lang="en-US" sz="2140" dirty="0"/>
          </a:p>
        </p:txBody>
      </p:sp>
      <p:sp>
        <p:nvSpPr>
          <p:cNvPr id="42" name="Text 25"/>
          <p:cNvSpPr/>
          <p:nvPr/>
        </p:nvSpPr>
        <p:spPr>
          <a:xfrm>
            <a:off x="16571404" y="7516564"/>
            <a:ext cx="194209" cy="346548"/>
          </a:xfrm>
          <a:prstGeom prst="rect">
            <a:avLst/>
          </a:prstGeom>
          <a:noFill/>
          <a:ln/>
        </p:spPr>
        <p:txBody>
          <a:bodyPr wrap="square" lIns="0" tIns="0" rIns="0" bIns="0" rtlCol="0" anchor="t"/>
          <a:lstStyle/>
          <a:p>
            <a:pPr algn="l"/>
            <a:r>
              <a:rPr lang="en-US" sz="1600" dirty="0">
                <a:solidFill>
                  <a:srgbClr val="303030">
                    <a:alpha val="100000"/>
                  </a:srgbClr>
                </a:solidFill>
                <a:latin typeface="Open Sans Bold" pitchFamily="34" charset="0"/>
                <a:ea typeface="Open Sans Bold" pitchFamily="34" charset="-122"/>
                <a:cs typeface="Open Sans Bold" pitchFamily="34" charset="-120"/>
              </a:rPr>
              <a:t>3</a:t>
            </a:r>
            <a:endParaRPr lang="en-US" sz="1587" dirty="0"/>
          </a:p>
        </p:txBody>
      </p:sp>
      <p:sp>
        <p:nvSpPr>
          <p:cNvPr id="43" name="Text 26"/>
          <p:cNvSpPr/>
          <p:nvPr/>
        </p:nvSpPr>
        <p:spPr>
          <a:xfrm>
            <a:off x="17513281" y="5917565"/>
            <a:ext cx="5984580" cy="1081079"/>
          </a:xfrm>
          <a:prstGeom prst="rect">
            <a:avLst/>
          </a:prstGeom>
          <a:noFill/>
          <a:ln/>
        </p:spPr>
        <p:txBody>
          <a:bodyPr wrap="square" lIns="0" tIns="0" rIns="0" bIns="0" rtlCol="0" anchor="t"/>
          <a:lstStyle/>
          <a:p>
            <a:pPr algn="l"/>
            <a:r>
              <a:rPr lang="en-US" sz="2100" dirty="0">
                <a:solidFill>
                  <a:srgbClr val="000000">
                    <a:alpha val="100000"/>
                  </a:srgbClr>
                </a:solidFill>
                <a:latin typeface="Montserrat SemiBold" pitchFamily="34" charset="0"/>
                <a:ea typeface="Montserrat SemiBold" pitchFamily="34" charset="-122"/>
                <a:cs typeface="Montserrat SemiBold" pitchFamily="34" charset="-120"/>
              </a:rPr>
              <a:t>Overall change of packaging industry towards eco-friendly and sustainable future. </a:t>
            </a:r>
            <a:endParaRPr lang="en-US" sz="2140" dirty="0"/>
          </a:p>
        </p:txBody>
      </p:sp>
      <p:sp>
        <p:nvSpPr>
          <p:cNvPr id="44" name="Text 27"/>
          <p:cNvSpPr/>
          <p:nvPr/>
        </p:nvSpPr>
        <p:spPr>
          <a:xfrm>
            <a:off x="17513281" y="10763900"/>
            <a:ext cx="5445176" cy="1081079"/>
          </a:xfrm>
          <a:prstGeom prst="rect">
            <a:avLst/>
          </a:prstGeom>
          <a:noFill/>
          <a:ln/>
        </p:spPr>
        <p:txBody>
          <a:bodyPr wrap="square" lIns="0" tIns="0" rIns="0" bIns="0" rtlCol="0" anchor="t"/>
          <a:lstStyle/>
          <a:p>
            <a:pPr algn="l"/>
            <a:r>
              <a:rPr lang="en-US" sz="2100" dirty="0">
                <a:solidFill>
                  <a:srgbClr val="000000">
                    <a:alpha val="100000"/>
                  </a:srgbClr>
                </a:solidFill>
                <a:latin typeface="Montserrat SemiBold" pitchFamily="34" charset="0"/>
                <a:ea typeface="Montserrat SemiBold" pitchFamily="34" charset="-122"/>
                <a:cs typeface="Montserrat SemiBold" pitchFamily="34" charset="-120"/>
              </a:rPr>
              <a:t>Improvement of livelihood of Sholapith craftsmen and processing facility workers.</a:t>
            </a:r>
            <a:endParaRPr lang="en-US" sz="2140" dirty="0"/>
          </a:p>
        </p:txBody>
      </p:sp>
      <p:sp>
        <p:nvSpPr>
          <p:cNvPr id="45" name="Text 28"/>
          <p:cNvSpPr/>
          <p:nvPr/>
        </p:nvSpPr>
        <p:spPr>
          <a:xfrm>
            <a:off x="17513281" y="7384053"/>
            <a:ext cx="5445176" cy="1411243"/>
          </a:xfrm>
          <a:prstGeom prst="rect">
            <a:avLst/>
          </a:prstGeom>
          <a:noFill/>
          <a:ln/>
        </p:spPr>
        <p:txBody>
          <a:bodyPr wrap="square" lIns="0" tIns="0" rIns="0" bIns="0" rtlCol="0" anchor="t"/>
          <a:lstStyle/>
          <a:p>
            <a:pPr algn="l"/>
            <a:r>
              <a:rPr lang="en-US" sz="2100" dirty="0">
                <a:solidFill>
                  <a:srgbClr val="000000">
                    <a:alpha val="100000"/>
                  </a:srgbClr>
                </a:solidFill>
                <a:latin typeface="Montserrat SemiBold" pitchFamily="34" charset="0"/>
                <a:ea typeface="Montserrat SemiBold" pitchFamily="34" charset="-122"/>
                <a:cs typeface="Montserrat SemiBold" pitchFamily="34" charset="-120"/>
              </a:rPr>
              <a:t>Collaboration with Government to provide subsidies in land acquisition for future plantation as the entire area shall be benefitted. </a:t>
            </a:r>
            <a:endParaRPr lang="en-US" sz="2140" dirty="0"/>
          </a:p>
        </p:txBody>
      </p:sp>
      <p:sp>
        <p:nvSpPr>
          <p:cNvPr id="46" name="Text 29"/>
          <p:cNvSpPr/>
          <p:nvPr/>
        </p:nvSpPr>
        <p:spPr>
          <a:xfrm>
            <a:off x="17513281" y="9249281"/>
            <a:ext cx="5510957" cy="1081079"/>
          </a:xfrm>
          <a:prstGeom prst="rect">
            <a:avLst/>
          </a:prstGeom>
          <a:noFill/>
          <a:ln/>
        </p:spPr>
        <p:txBody>
          <a:bodyPr wrap="square" lIns="0" tIns="0" rIns="0" bIns="0" rtlCol="0" anchor="t"/>
          <a:lstStyle/>
          <a:p>
            <a:pPr algn="l"/>
            <a:r>
              <a:rPr lang="en-US" sz="2100" dirty="0">
                <a:solidFill>
                  <a:srgbClr val="000000">
                    <a:alpha val="100000"/>
                  </a:srgbClr>
                </a:solidFill>
                <a:latin typeface="Montserrat SemiBold" pitchFamily="34" charset="0"/>
                <a:ea typeface="Montserrat SemiBold" pitchFamily="34" charset="-122"/>
                <a:cs typeface="Montserrat SemiBold" pitchFamily="34" charset="-120"/>
              </a:rPr>
              <a:t>Life in cities shall be healthier given the shift to natural products in such a widely required industry. </a:t>
            </a:r>
            <a:endParaRPr lang="en-US" sz="2140" dirty="0"/>
          </a:p>
        </p:txBody>
      </p:sp>
      <p:sp>
        <p:nvSpPr>
          <p:cNvPr id="47" name="Text 30"/>
          <p:cNvSpPr/>
          <p:nvPr/>
        </p:nvSpPr>
        <p:spPr>
          <a:xfrm>
            <a:off x="17553594" y="12513519"/>
            <a:ext cx="5774081" cy="750914"/>
          </a:xfrm>
          <a:prstGeom prst="rect">
            <a:avLst/>
          </a:prstGeom>
          <a:noFill/>
          <a:ln/>
        </p:spPr>
        <p:txBody>
          <a:bodyPr wrap="square" lIns="0" tIns="0" rIns="0" bIns="0" rtlCol="0" anchor="t"/>
          <a:lstStyle/>
          <a:p>
            <a:pPr algn="l"/>
            <a:r>
              <a:rPr lang="en-US" sz="2100" dirty="0">
                <a:solidFill>
                  <a:srgbClr val="000000">
                    <a:alpha val="100000"/>
                  </a:srgbClr>
                </a:solidFill>
                <a:latin typeface="Montserrat SemiBold" pitchFamily="34" charset="0"/>
                <a:ea typeface="Montserrat SemiBold" pitchFamily="34" charset="-122"/>
                <a:cs typeface="Montserrat SemiBold" pitchFamily="34" charset="-120"/>
              </a:rPr>
              <a:t>Rural development of targeted states and alleviation of poverty.</a:t>
            </a:r>
            <a:endParaRPr lang="en-US" sz="2140" dirty="0"/>
          </a:p>
        </p:txBody>
      </p:sp>
      <p:pic>
        <p:nvPicPr>
          <p:cNvPr id="48" name="Image 15" descr="preencoded.png">    </p:cNvPr>
          <p:cNvPicPr>
            <a:picLocks noChangeAspect="1"/>
          </p:cNvPicPr>
          <p:nvPr/>
        </p:nvPicPr>
        <p:blipFill>
          <a:blip r:embed="rId16"/>
          <a:stretch>
            <a:fillRect/>
          </a:stretch>
        </p:blipFill>
        <p:spPr>
          <a:xfrm>
            <a:off x="15491695" y="2497398"/>
            <a:ext cx="173605" cy="10954691"/>
          </a:xfrm>
          <a:prstGeom prst="rect">
            <a:avLst/>
          </a:prstGeom>
        </p:spPr>
      </p:pic>
      <p:sp>
        <p:nvSpPr>
          <p:cNvPr id="49" name="Shape 31"/>
          <p:cNvSpPr/>
          <p:nvPr/>
        </p:nvSpPr>
        <p:spPr>
          <a:xfrm>
            <a:off x="8179822" y="9587472"/>
            <a:ext cx="25403" cy="3327043"/>
          </a:xfrm>
          <a:prstGeom prst="rect">
            <a:avLst/>
          </a:prstGeom>
          <a:solidFill>
            <a:srgbClr val="D9D9D9">
              <a:alpha val="100000"/>
            </a:srgbClr>
          </a:solidFill>
          <a:ln/>
        </p:spPr>
      </p:sp>
      <p:pic>
        <p:nvPicPr>
          <p:cNvPr id="50" name="Image 16" descr="preencoded.png">    </p:cNvPr>
          <p:cNvPicPr>
            <a:picLocks noChangeAspect="1"/>
          </p:cNvPicPr>
          <p:nvPr/>
        </p:nvPicPr>
        <p:blipFill>
          <a:blip r:embed="rId17"/>
          <a:stretch>
            <a:fillRect/>
          </a:stretch>
        </p:blipFill>
        <p:spPr>
          <a:xfrm>
            <a:off x="22977172" y="0"/>
            <a:ext cx="1409876" cy="167622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2023-04-08T07:09:12Z</dcterms:created>
  <dcterms:modified xsi:type="dcterms:W3CDTF">2023-04-08T07:09:12Z</dcterms:modified>
</cp:coreProperties>
</file>