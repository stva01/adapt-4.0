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6" r:id="rId2"/>
    <p:sldId id="257" r:id="rId3"/>
    <p:sldId id="261" r:id="rId4"/>
    <p:sldId id="264" r:id="rId5"/>
    <p:sldId id="256" r:id="rId6"/>
    <p:sldId id="258" r:id="rId7"/>
    <p:sldId id="267" r:id="rId8"/>
    <p:sldId id="263" r:id="rId9"/>
    <p:sldId id="268"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revenue(Rs '00 crore)</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FY18</c:v>
                </c:pt>
                <c:pt idx="1">
                  <c:v>FY19</c:v>
                </c:pt>
                <c:pt idx="2">
                  <c:v>FY20</c:v>
                </c:pt>
                <c:pt idx="3">
                  <c:v>FY21E</c:v>
                </c:pt>
                <c:pt idx="4">
                  <c:v>FY22P</c:v>
                </c:pt>
              </c:strCache>
            </c:strRef>
          </c:cat>
          <c:val>
            <c:numRef>
              <c:f>Sheet1!$B$2:$B$6</c:f>
              <c:numCache>
                <c:formatCode>General</c:formatCode>
                <c:ptCount val="5"/>
                <c:pt idx="0">
                  <c:v>42</c:v>
                </c:pt>
                <c:pt idx="1">
                  <c:v>46</c:v>
                </c:pt>
                <c:pt idx="2">
                  <c:v>38</c:v>
                </c:pt>
                <c:pt idx="3">
                  <c:v>37</c:v>
                </c:pt>
                <c:pt idx="4">
                  <c:v>45</c:v>
                </c:pt>
              </c:numCache>
            </c:numRef>
          </c:val>
          <c:extLst>
            <c:ext xmlns:c16="http://schemas.microsoft.com/office/drawing/2014/chart" uri="{C3380CC4-5D6E-409C-BE32-E72D297353CC}">
              <c16:uniqueId val="{00000000-FF67-4BFB-9A43-03AB5253A699}"/>
            </c:ext>
          </c:extLst>
        </c:ser>
        <c:dLbls>
          <c:dLblPos val="ctr"/>
          <c:showLegendKey val="0"/>
          <c:showVal val="1"/>
          <c:showCatName val="0"/>
          <c:showSerName val="0"/>
          <c:showPercent val="0"/>
          <c:showBubbleSize val="0"/>
        </c:dLbls>
        <c:gapWidth val="219"/>
        <c:overlap val="-27"/>
        <c:axId val="738874640"/>
        <c:axId val="738874968"/>
      </c:barChart>
      <c:lineChart>
        <c:grouping val="standard"/>
        <c:varyColors val="0"/>
        <c:ser>
          <c:idx val="1"/>
          <c:order val="1"/>
          <c:tx>
            <c:strRef>
              <c:f>Sheet1!$C$1</c:f>
              <c:strCache>
                <c:ptCount val="1"/>
                <c:pt idx="0">
                  <c:v>Ebidta margin(RHS)</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FY18</c:v>
                </c:pt>
                <c:pt idx="1">
                  <c:v>FY19</c:v>
                </c:pt>
                <c:pt idx="2">
                  <c:v>FY20</c:v>
                </c:pt>
                <c:pt idx="3">
                  <c:v>FY21E</c:v>
                </c:pt>
                <c:pt idx="4">
                  <c:v>FY22P</c:v>
                </c:pt>
              </c:strCache>
            </c:strRef>
          </c:cat>
          <c:val>
            <c:numRef>
              <c:f>Sheet1!$C$2:$C$6</c:f>
              <c:numCache>
                <c:formatCode>0.000%</c:formatCode>
                <c:ptCount val="5"/>
                <c:pt idx="0" formatCode="0.0%">
                  <c:v>5.0999999999999997E-2</c:v>
                </c:pt>
                <c:pt idx="1">
                  <c:v>4.9000000000000002E-2</c:v>
                </c:pt>
                <c:pt idx="2" formatCode="0%">
                  <c:v>0.06</c:v>
                </c:pt>
                <c:pt idx="3" formatCode="0.00%">
                  <c:v>6.9000000000000006E-2</c:v>
                </c:pt>
                <c:pt idx="4" formatCode="0.00%">
                  <c:v>8.2000000000000003E-2</c:v>
                </c:pt>
              </c:numCache>
            </c:numRef>
          </c:val>
          <c:smooth val="0"/>
          <c:extLst>
            <c:ext xmlns:c16="http://schemas.microsoft.com/office/drawing/2014/chart" uri="{C3380CC4-5D6E-409C-BE32-E72D297353CC}">
              <c16:uniqueId val="{00000001-FF67-4BFB-9A43-03AB5253A699}"/>
            </c:ext>
          </c:extLst>
        </c:ser>
        <c:dLbls>
          <c:dLblPos val="ctr"/>
          <c:showLegendKey val="0"/>
          <c:showVal val="1"/>
          <c:showCatName val="0"/>
          <c:showSerName val="0"/>
          <c:showPercent val="0"/>
          <c:showBubbleSize val="0"/>
        </c:dLbls>
        <c:marker val="1"/>
        <c:smooth val="0"/>
        <c:axId val="738852008"/>
        <c:axId val="738850696"/>
      </c:lineChart>
      <c:catAx>
        <c:axId val="738874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8874968"/>
        <c:crosses val="autoZero"/>
        <c:auto val="1"/>
        <c:lblAlgn val="ctr"/>
        <c:lblOffset val="100"/>
        <c:noMultiLvlLbl val="0"/>
      </c:catAx>
      <c:valAx>
        <c:axId val="73887496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8874640"/>
        <c:crosses val="autoZero"/>
        <c:crossBetween val="between"/>
      </c:valAx>
      <c:valAx>
        <c:axId val="738850696"/>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8852008"/>
        <c:crosses val="max"/>
        <c:crossBetween val="between"/>
      </c:valAx>
      <c:catAx>
        <c:axId val="738852008"/>
        <c:scaling>
          <c:orientation val="minMax"/>
        </c:scaling>
        <c:delete val="1"/>
        <c:axPos val="b"/>
        <c:numFmt formatCode="General" sourceLinked="1"/>
        <c:majorTickMark val="out"/>
        <c:minorTickMark val="none"/>
        <c:tickLblPos val="nextTo"/>
        <c:crossAx val="7388506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2">
          <a:lumMod val="60000"/>
          <a:lumOff val="40000"/>
        </a:schemeClr>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7D7CEC-43B1-4F0B-9E38-ABF51C6FA305}" type="datetimeFigureOut">
              <a:rPr lang="en-IN" smtClean="0"/>
              <a:t>23-01-2023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041DE-71EB-481E-8D21-2F6699A87356}" type="slidenum">
              <a:rPr lang="en-IN" smtClean="0"/>
              <a:t>‹#›</a:t>
            </a:fld>
            <a:endParaRPr lang="en-IN"/>
          </a:p>
        </p:txBody>
      </p:sp>
    </p:spTree>
    <p:extLst>
      <p:ext uri="{BB962C8B-B14F-4D97-AF65-F5344CB8AC3E}">
        <p14:creationId xmlns:p14="http://schemas.microsoft.com/office/powerpoint/2010/main" val="4020255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E7CB57E-C793-4008-A7A4-FBBC0D219186}" type="slidenum">
              <a:rPr lang="en-IN" smtClean="0"/>
              <a:t>1</a:t>
            </a:fld>
            <a:endParaRPr lang="en-IN"/>
          </a:p>
        </p:txBody>
      </p:sp>
    </p:spTree>
    <p:extLst>
      <p:ext uri="{BB962C8B-B14F-4D97-AF65-F5344CB8AC3E}">
        <p14:creationId xmlns:p14="http://schemas.microsoft.com/office/powerpoint/2010/main" val="1737720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41041DE-71EB-481E-8D21-2F6699A87356}" type="slidenum">
              <a:rPr lang="en-IN" smtClean="0"/>
              <a:t>7</a:t>
            </a:fld>
            <a:endParaRPr lang="en-IN"/>
          </a:p>
        </p:txBody>
      </p:sp>
    </p:spTree>
    <p:extLst>
      <p:ext uri="{BB962C8B-B14F-4D97-AF65-F5344CB8AC3E}">
        <p14:creationId xmlns:p14="http://schemas.microsoft.com/office/powerpoint/2010/main" val="557555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74944-C7B5-7C5F-D320-508FB479AE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10AE2E-39C6-AF34-3BB3-FF2869B0AA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B1F82A0-97A7-4B4E-2FA0-B0040F5E1F22}"/>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5" name="Footer Placeholder 4">
            <a:extLst>
              <a:ext uri="{FF2B5EF4-FFF2-40B4-BE49-F238E27FC236}">
                <a16:creationId xmlns:a16="http://schemas.microsoft.com/office/drawing/2014/main" id="{94244051-17DF-B507-8A21-EDE61D158F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BD01A9-3A73-2EDF-6879-1150682A4B35}"/>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3625730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59C16-8C17-5C7E-8C58-5D71426CE9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35427D-C031-5DBA-EADE-E516EE454D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5C623-D59B-522F-1D15-860CD8F1DE5D}"/>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5" name="Footer Placeholder 4">
            <a:extLst>
              <a:ext uri="{FF2B5EF4-FFF2-40B4-BE49-F238E27FC236}">
                <a16:creationId xmlns:a16="http://schemas.microsoft.com/office/drawing/2014/main" id="{D6F87674-EF4A-5600-D214-5D6B2636AE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50B15D-F747-8A65-8AEB-A9CCAE2F5023}"/>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368285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F7D30-25F3-68E1-7BD5-502FB2A8E9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ECDED2-C406-B352-3B4F-AD5B0FFC9A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EB8C55-B1CE-FA36-EA89-8EBF3F19E8F4}"/>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5" name="Footer Placeholder 4">
            <a:extLst>
              <a:ext uri="{FF2B5EF4-FFF2-40B4-BE49-F238E27FC236}">
                <a16:creationId xmlns:a16="http://schemas.microsoft.com/office/drawing/2014/main" id="{D0C3BAD7-9100-8277-2DBA-89B135D69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A371A3-16CD-87AD-E047-58A7B3EE2C24}"/>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1483847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66E7C-32B8-11B2-1BD9-E63F6EF5E3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60F9E6-B982-F7EE-81A1-96346BE35D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3C6C37-D16D-12B3-22BA-772F07054C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79B067-2232-1424-A65A-37AA5956AE72}"/>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6" name="Footer Placeholder 5">
            <a:extLst>
              <a:ext uri="{FF2B5EF4-FFF2-40B4-BE49-F238E27FC236}">
                <a16:creationId xmlns:a16="http://schemas.microsoft.com/office/drawing/2014/main" id="{3D7C3717-5AC9-7ADB-230A-EAA53EA34B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D991A3-E25D-A125-6B04-2BDC70005DEC}"/>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1436016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F4DD-8C05-8B63-B219-AA9FED6E08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469818-4CAE-23EE-E6B4-0977ACFBB6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FE5166-8D57-9D46-C5DC-EE97779BB7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FD3065-AF74-C25D-934C-110CD756B2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E656A7-DF32-AF46-3A1F-1557EC55EE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688DD7-CB0A-E0ED-BC39-E2DBBD7F9C97}"/>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8" name="Footer Placeholder 7">
            <a:extLst>
              <a:ext uri="{FF2B5EF4-FFF2-40B4-BE49-F238E27FC236}">
                <a16:creationId xmlns:a16="http://schemas.microsoft.com/office/drawing/2014/main" id="{A038539E-3981-DADC-1F35-8EBCCC4DF3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CE5B87-AF87-D2A7-B76E-2641C283B18F}"/>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4433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C65D-C15B-E569-F3E4-272D4F3C23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705F3F-E2F3-C35B-8F08-18D68C22B6B0}"/>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4" name="Footer Placeholder 3">
            <a:extLst>
              <a:ext uri="{FF2B5EF4-FFF2-40B4-BE49-F238E27FC236}">
                <a16:creationId xmlns:a16="http://schemas.microsoft.com/office/drawing/2014/main" id="{9DE511D6-E47D-5A09-BD04-43ECB2E2920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03FF5F-FA0E-AADA-BEB5-231B37BF80E0}"/>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1517217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8223D6-7B42-A5FE-8205-9D86E133ABAE}"/>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3" name="Footer Placeholder 2">
            <a:extLst>
              <a:ext uri="{FF2B5EF4-FFF2-40B4-BE49-F238E27FC236}">
                <a16:creationId xmlns:a16="http://schemas.microsoft.com/office/drawing/2014/main" id="{DA86FAF9-2A4C-3F53-6295-0F5D570A9C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0E09F77-A42E-7DF7-DDA3-6DF23AED639D}"/>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2762838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44ABD-7CA7-78B5-46B0-9CF80EC38C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0F0EEF-1757-B2F6-4E56-19BB96F689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4F0CF0-6B92-D07B-6FF5-9A1D8FA9EA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BF5601-BD45-CFA5-F721-91EA9455FBB0}"/>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6" name="Footer Placeholder 5">
            <a:extLst>
              <a:ext uri="{FF2B5EF4-FFF2-40B4-BE49-F238E27FC236}">
                <a16:creationId xmlns:a16="http://schemas.microsoft.com/office/drawing/2014/main" id="{7619FB42-8E67-7C02-92BC-D5AE5E3086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FCCB10-8A79-A765-0AD9-F529EBDC3482}"/>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875904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9BE34-1DB3-B1C2-E76B-0F30DB22E6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13BAD98-ECA1-C18B-0CFB-8DB3837144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F4BDB5-E881-CAC0-6E40-AFE81A19E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289B8-8E24-0D6E-2322-931C0C91AE3E}"/>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6" name="Footer Placeholder 5">
            <a:extLst>
              <a:ext uri="{FF2B5EF4-FFF2-40B4-BE49-F238E27FC236}">
                <a16:creationId xmlns:a16="http://schemas.microsoft.com/office/drawing/2014/main" id="{7A0E7EA9-16EE-742D-AD2C-66E2BED7F5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B234DE-792C-6375-019D-AA5E7458F458}"/>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3029990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A0365-B85F-B4DD-154A-3AAB071022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EB3409-3045-7ACA-B80C-93B113037D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B6B514-748A-459C-0CD3-233152E45E92}"/>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5" name="Footer Placeholder 4">
            <a:extLst>
              <a:ext uri="{FF2B5EF4-FFF2-40B4-BE49-F238E27FC236}">
                <a16:creationId xmlns:a16="http://schemas.microsoft.com/office/drawing/2014/main" id="{E66BE246-6A40-8089-5C53-69E2D71CB8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8556F7-F553-D0F5-EC6E-65A8C761DAF2}"/>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419613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538AF4-DE92-96F3-0846-B8A3C1FFBB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F41A10-5B03-0184-E979-C5F806FF98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1F0CEB-AF45-1602-9263-60613C892CCA}"/>
              </a:ext>
            </a:extLst>
          </p:cNvPr>
          <p:cNvSpPr>
            <a:spLocks noGrp="1"/>
          </p:cNvSpPr>
          <p:nvPr>
            <p:ph type="dt" sz="half" idx="10"/>
          </p:nvPr>
        </p:nvSpPr>
        <p:spPr/>
        <p:txBody>
          <a:bodyPr/>
          <a:lstStyle/>
          <a:p>
            <a:fld id="{4F837A8F-A78A-42C6-9143-78B346A7CD21}" type="datetimeFigureOut">
              <a:rPr lang="en-IN" smtClean="0"/>
              <a:t>23-01-2023</a:t>
            </a:fld>
            <a:endParaRPr lang="en-IN"/>
          </a:p>
        </p:txBody>
      </p:sp>
      <p:sp>
        <p:nvSpPr>
          <p:cNvPr id="5" name="Footer Placeholder 4">
            <a:extLst>
              <a:ext uri="{FF2B5EF4-FFF2-40B4-BE49-F238E27FC236}">
                <a16:creationId xmlns:a16="http://schemas.microsoft.com/office/drawing/2014/main" id="{8ED35781-913E-1A29-4FF1-D6EFF7986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3E13C0-01C4-D504-D39F-851AA36F51E7}"/>
              </a:ext>
            </a:extLst>
          </p:cNvPr>
          <p:cNvSpPr>
            <a:spLocks noGrp="1"/>
          </p:cNvSpPr>
          <p:nvPr>
            <p:ph type="sldNum" sz="quarter" idx="12"/>
          </p:nvPr>
        </p:nvSpPr>
        <p:spPr/>
        <p:txBody>
          <a:bodyPr/>
          <a:lstStyle/>
          <a:p>
            <a:fld id="{0DA9833D-E2F1-4395-B5BD-6BE31C7783EF}" type="slidenum">
              <a:rPr lang="en-IN" smtClean="0"/>
              <a:t>‹#›</a:t>
            </a:fld>
            <a:endParaRPr lang="en-IN"/>
          </a:p>
        </p:txBody>
      </p:sp>
    </p:spTree>
    <p:extLst>
      <p:ext uri="{BB962C8B-B14F-4D97-AF65-F5344CB8AC3E}">
        <p14:creationId xmlns:p14="http://schemas.microsoft.com/office/powerpoint/2010/main" val="3925797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06DF2C-7953-5564-E47F-27DCBC8F87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3EB521-9F0C-CF9E-F548-8E21FA703A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DD150F-73D1-A92A-97BA-AE2323DC1D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837A8F-A78A-42C6-9143-78B346A7CD21}" type="datetimeFigureOut">
              <a:rPr lang="en-IN" smtClean="0"/>
              <a:t>23-01-2023</a:t>
            </a:fld>
            <a:endParaRPr lang="en-IN"/>
          </a:p>
        </p:txBody>
      </p:sp>
      <p:sp>
        <p:nvSpPr>
          <p:cNvPr id="5" name="Footer Placeholder 4">
            <a:extLst>
              <a:ext uri="{FF2B5EF4-FFF2-40B4-BE49-F238E27FC236}">
                <a16:creationId xmlns:a16="http://schemas.microsoft.com/office/drawing/2014/main" id="{5693C6DE-AEFB-D2A4-9FC9-2215AA92EB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48FEFB4-A4BB-9F2C-81AA-3625D604D7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A9833D-E2F1-4395-B5BD-6BE31C7783EF}" type="slidenum">
              <a:rPr lang="en-IN" smtClean="0"/>
              <a:t>‹#›</a:t>
            </a:fld>
            <a:endParaRPr lang="en-IN"/>
          </a:p>
        </p:txBody>
      </p:sp>
    </p:spTree>
    <p:extLst>
      <p:ext uri="{BB962C8B-B14F-4D97-AF65-F5344CB8AC3E}">
        <p14:creationId xmlns:p14="http://schemas.microsoft.com/office/powerpoint/2010/main" val="3135857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chart" Target="../charts/chart1.xml"/><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6.png"/><Relationship Id="rId16"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4.png"/><Relationship Id="rId5" Type="http://schemas.openxmlformats.org/officeDocument/2006/relationships/image" Target="../media/image9.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8.jpeg"/><Relationship Id="rId9" Type="http://schemas.openxmlformats.org/officeDocument/2006/relationships/image" Target="../media/image12.png"/><Relationship Id="rId1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jpeg"/><Relationship Id="rId4" Type="http://schemas.openxmlformats.org/officeDocument/2006/relationships/image" Target="../media/image36.jpeg"/></Relationships>
</file>

<file path=ppt/slides/_rels/slide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7.xml"/><Relationship Id="rId5" Type="http://schemas.openxmlformats.org/officeDocument/2006/relationships/image" Target="../media/image41.jpeg"/><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10DCCC1-0844-373B-5B79-74355DDE0239}"/>
              </a:ext>
            </a:extLst>
          </p:cNvPr>
          <p:cNvSpPr/>
          <p:nvPr/>
        </p:nvSpPr>
        <p:spPr>
          <a:xfrm>
            <a:off x="2942893" y="1864641"/>
            <a:ext cx="6306207" cy="3508953"/>
          </a:xfrm>
          <a:prstGeom prst="roundRect">
            <a:avLst/>
          </a:prstGeom>
          <a:solidFill>
            <a:schemeClr val="bg1"/>
          </a:solidFill>
          <a:ln>
            <a:solidFill>
              <a:schemeClr val="accent2">
                <a:lumMod val="50000"/>
              </a:schemeClr>
            </a:solidFill>
          </a:ln>
          <a:effectLst>
            <a:glow rad="228600">
              <a:schemeClr val="accent3">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5" name="Group 4">
            <a:extLst>
              <a:ext uri="{FF2B5EF4-FFF2-40B4-BE49-F238E27FC236}">
                <a16:creationId xmlns:a16="http://schemas.microsoft.com/office/drawing/2014/main" id="{A0252841-3713-506B-1036-85D872B1DA75}"/>
              </a:ext>
            </a:extLst>
          </p:cNvPr>
          <p:cNvGrpSpPr/>
          <p:nvPr/>
        </p:nvGrpSpPr>
        <p:grpSpPr>
          <a:xfrm>
            <a:off x="3983418" y="3290850"/>
            <a:ext cx="4225159" cy="1114106"/>
            <a:chOff x="3983420" y="3303309"/>
            <a:chExt cx="4225159" cy="1114106"/>
          </a:xfrm>
        </p:grpSpPr>
        <p:pic>
          <p:nvPicPr>
            <p:cNvPr id="6" name="Picture 5" descr="A person with long hair wearing glasses&#10;&#10;Description automatically generated with low confidence">
              <a:extLst>
                <a:ext uri="{FF2B5EF4-FFF2-40B4-BE49-F238E27FC236}">
                  <a16:creationId xmlns:a16="http://schemas.microsoft.com/office/drawing/2014/main" id="{B0865C8E-6605-7816-8039-9459CA5E3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7721" y="3303310"/>
              <a:ext cx="940858" cy="1114104"/>
            </a:xfrm>
            <a:prstGeom prst="rect">
              <a:avLst/>
            </a:prstGeom>
            <a:effectLst>
              <a:outerShdw blurRad="50800" dist="38100" dir="2700000" algn="tl" rotWithShape="0">
                <a:prstClr val="black">
                  <a:alpha val="40000"/>
                </a:prstClr>
              </a:outerShdw>
            </a:effectLst>
          </p:spPr>
        </p:pic>
        <p:pic>
          <p:nvPicPr>
            <p:cNvPr id="7" name="Picture 6" descr="A person in a suit and tie&#10;&#10;Description automatically generated">
              <a:extLst>
                <a:ext uri="{FF2B5EF4-FFF2-40B4-BE49-F238E27FC236}">
                  <a16:creationId xmlns:a16="http://schemas.microsoft.com/office/drawing/2014/main" id="{7FF8B316-C12D-7D5B-A49E-33BC5CC16E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3420" y="3303311"/>
              <a:ext cx="940859" cy="1114104"/>
            </a:xfrm>
            <a:prstGeom prst="rect">
              <a:avLst/>
            </a:prstGeom>
            <a:effectLst>
              <a:outerShdw blurRad="50800" dist="38100" dir="2700000" algn="tl" rotWithShape="0">
                <a:prstClr val="black">
                  <a:alpha val="40000"/>
                </a:prstClr>
              </a:outerShdw>
            </a:effectLst>
          </p:spPr>
        </p:pic>
        <p:pic>
          <p:nvPicPr>
            <p:cNvPr id="8" name="Picture 7" descr="A person wearing glasses and a suit&#10;&#10;Description automatically generated with medium confidence">
              <a:extLst>
                <a:ext uri="{FF2B5EF4-FFF2-40B4-BE49-F238E27FC236}">
                  <a16:creationId xmlns:a16="http://schemas.microsoft.com/office/drawing/2014/main" id="{F0D98F26-4402-F00D-4CF8-5D86FBD813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25571" y="3303309"/>
              <a:ext cx="940858" cy="1114105"/>
            </a:xfrm>
            <a:prstGeom prst="rect">
              <a:avLst/>
            </a:prstGeom>
            <a:effectLst>
              <a:outerShdw blurRad="50800" dist="38100" dir="2700000" algn="tl" rotWithShape="0">
                <a:prstClr val="black">
                  <a:alpha val="40000"/>
                </a:prstClr>
              </a:outerShdw>
            </a:effectLst>
          </p:spPr>
        </p:pic>
      </p:grpSp>
      <p:sp>
        <p:nvSpPr>
          <p:cNvPr id="9" name="Subtitle 2">
            <a:extLst>
              <a:ext uri="{FF2B5EF4-FFF2-40B4-BE49-F238E27FC236}">
                <a16:creationId xmlns:a16="http://schemas.microsoft.com/office/drawing/2014/main" id="{B352CF27-3A6B-F8B4-5134-892C4264878C}"/>
              </a:ext>
            </a:extLst>
          </p:cNvPr>
          <p:cNvSpPr txBox="1">
            <a:spLocks/>
          </p:cNvSpPr>
          <p:nvPr/>
        </p:nvSpPr>
        <p:spPr>
          <a:xfrm>
            <a:off x="3802024" y="4500321"/>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600" b="1" dirty="0"/>
              <a:t>Devesh Sinha           Mohit Kiradoo           Kajal Gupta</a:t>
            </a:r>
          </a:p>
        </p:txBody>
      </p:sp>
      <p:sp>
        <p:nvSpPr>
          <p:cNvPr id="10" name="Subtitle 2">
            <a:extLst>
              <a:ext uri="{FF2B5EF4-FFF2-40B4-BE49-F238E27FC236}">
                <a16:creationId xmlns:a16="http://schemas.microsoft.com/office/drawing/2014/main" id="{AFDF20F5-24FA-836F-7669-DB4C104713F3}"/>
              </a:ext>
            </a:extLst>
          </p:cNvPr>
          <p:cNvSpPr txBox="1">
            <a:spLocks/>
          </p:cNvSpPr>
          <p:nvPr/>
        </p:nvSpPr>
        <p:spPr>
          <a:xfrm>
            <a:off x="3714044" y="4871966"/>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b="1" dirty="0"/>
              <a:t>T. A. Pai Management Institute</a:t>
            </a:r>
          </a:p>
        </p:txBody>
      </p:sp>
      <p:sp>
        <p:nvSpPr>
          <p:cNvPr id="11" name="Subtitle 2">
            <a:extLst>
              <a:ext uri="{FF2B5EF4-FFF2-40B4-BE49-F238E27FC236}">
                <a16:creationId xmlns:a16="http://schemas.microsoft.com/office/drawing/2014/main" id="{FFE90CC2-0959-566B-8819-D131A393D7CA}"/>
              </a:ext>
            </a:extLst>
          </p:cNvPr>
          <p:cNvSpPr txBox="1">
            <a:spLocks/>
          </p:cNvSpPr>
          <p:nvPr/>
        </p:nvSpPr>
        <p:spPr>
          <a:xfrm>
            <a:off x="4337951" y="1637999"/>
            <a:ext cx="3516090" cy="357918"/>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800" b="1" dirty="0"/>
              <a:t>Team SORTED</a:t>
            </a:r>
          </a:p>
        </p:txBody>
      </p:sp>
      <p:sp>
        <p:nvSpPr>
          <p:cNvPr id="2" name="TextBox 1">
            <a:extLst>
              <a:ext uri="{FF2B5EF4-FFF2-40B4-BE49-F238E27FC236}">
                <a16:creationId xmlns:a16="http://schemas.microsoft.com/office/drawing/2014/main" id="{C2F9F689-1F72-2ECC-F89B-38BAE3FB6DF9}"/>
              </a:ext>
            </a:extLst>
          </p:cNvPr>
          <p:cNvSpPr txBox="1"/>
          <p:nvPr/>
        </p:nvSpPr>
        <p:spPr>
          <a:xfrm>
            <a:off x="3070232" y="2091282"/>
            <a:ext cx="6387856" cy="861774"/>
          </a:xfrm>
          <a:prstGeom prst="rect">
            <a:avLst/>
          </a:prstGeom>
          <a:noFill/>
        </p:spPr>
        <p:txBody>
          <a:bodyPr wrap="square" rtlCol="0">
            <a:spAutoFit/>
          </a:bodyPr>
          <a:lstStyle/>
          <a:p>
            <a:pPr algn="ctr"/>
            <a:r>
              <a:rPr lang="en-IN" sz="3200" b="1" dirty="0"/>
              <a:t>CONSULTING CZARS 2023</a:t>
            </a:r>
          </a:p>
          <a:p>
            <a:pPr algn="ctr"/>
            <a:r>
              <a:rPr lang="en-IN" dirty="0"/>
              <a:t>ROUND 3</a:t>
            </a:r>
          </a:p>
        </p:txBody>
      </p:sp>
      <p:pic>
        <p:nvPicPr>
          <p:cNvPr id="13" name="Picture 12">
            <a:extLst>
              <a:ext uri="{FF2B5EF4-FFF2-40B4-BE49-F238E27FC236}">
                <a16:creationId xmlns:a16="http://schemas.microsoft.com/office/drawing/2014/main" id="{2ABB0979-C530-83F5-E5FE-5E632170CE99}"/>
              </a:ext>
            </a:extLst>
          </p:cNvPr>
          <p:cNvPicPr>
            <a:picLocks noChangeAspect="1"/>
          </p:cNvPicPr>
          <p:nvPr/>
        </p:nvPicPr>
        <p:blipFill>
          <a:blip r:embed="rId6"/>
          <a:stretch>
            <a:fillRect/>
          </a:stretch>
        </p:blipFill>
        <p:spPr>
          <a:xfrm>
            <a:off x="11429934" y="0"/>
            <a:ext cx="762066" cy="975445"/>
          </a:xfrm>
          <a:prstGeom prst="rect">
            <a:avLst/>
          </a:prstGeom>
        </p:spPr>
      </p:pic>
      <p:pic>
        <p:nvPicPr>
          <p:cNvPr id="15" name="Picture 14">
            <a:extLst>
              <a:ext uri="{FF2B5EF4-FFF2-40B4-BE49-F238E27FC236}">
                <a16:creationId xmlns:a16="http://schemas.microsoft.com/office/drawing/2014/main" id="{FCE4FED2-0C4D-D3EB-4ADC-10ECCC1DEDCD}"/>
              </a:ext>
            </a:extLst>
          </p:cNvPr>
          <p:cNvPicPr>
            <a:picLocks noChangeAspect="1"/>
          </p:cNvPicPr>
          <p:nvPr/>
        </p:nvPicPr>
        <p:blipFill rotWithShape="1">
          <a:blip r:embed="rId7"/>
          <a:srcRect t="13671" b="7720"/>
          <a:stretch/>
        </p:blipFill>
        <p:spPr>
          <a:xfrm>
            <a:off x="0" y="35438"/>
            <a:ext cx="1127858" cy="904568"/>
          </a:xfrm>
          <a:prstGeom prst="rect">
            <a:avLst/>
          </a:prstGeom>
        </p:spPr>
      </p:pic>
    </p:spTree>
    <p:extLst>
      <p:ext uri="{BB962C8B-B14F-4D97-AF65-F5344CB8AC3E}">
        <p14:creationId xmlns:p14="http://schemas.microsoft.com/office/powerpoint/2010/main" val="3066363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 name="Rectangle 1127">
            <a:extLst>
              <a:ext uri="{FF2B5EF4-FFF2-40B4-BE49-F238E27FC236}">
                <a16:creationId xmlns:a16="http://schemas.microsoft.com/office/drawing/2014/main" id="{B832AEFD-A79D-AD4B-928D-84E957F27195}"/>
              </a:ext>
            </a:extLst>
          </p:cNvPr>
          <p:cNvSpPr/>
          <p:nvPr/>
        </p:nvSpPr>
        <p:spPr>
          <a:xfrm>
            <a:off x="5824624" y="454833"/>
            <a:ext cx="6274859" cy="1008207"/>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5" name="Group 1034">
            <a:extLst>
              <a:ext uri="{FF2B5EF4-FFF2-40B4-BE49-F238E27FC236}">
                <a16:creationId xmlns:a16="http://schemas.microsoft.com/office/drawing/2014/main" id="{059D3FE1-9896-0A2B-D080-95E95B6F23A6}"/>
              </a:ext>
            </a:extLst>
          </p:cNvPr>
          <p:cNvGrpSpPr/>
          <p:nvPr/>
        </p:nvGrpSpPr>
        <p:grpSpPr>
          <a:xfrm>
            <a:off x="53868" y="437998"/>
            <a:ext cx="5659609" cy="2168109"/>
            <a:chOff x="154745" y="501327"/>
            <a:chExt cx="5941255" cy="2758621"/>
          </a:xfrm>
        </p:grpSpPr>
        <p:sp>
          <p:nvSpPr>
            <p:cNvPr id="1031" name="Rectangle 1030">
              <a:extLst>
                <a:ext uri="{FF2B5EF4-FFF2-40B4-BE49-F238E27FC236}">
                  <a16:creationId xmlns:a16="http://schemas.microsoft.com/office/drawing/2014/main" id="{9BB66CD5-67D3-08C3-555C-C0334713613B}"/>
                </a:ext>
              </a:extLst>
            </p:cNvPr>
            <p:cNvSpPr/>
            <p:nvPr/>
          </p:nvSpPr>
          <p:spPr>
            <a:xfrm>
              <a:off x="154745" y="501327"/>
              <a:ext cx="5941255" cy="2758621"/>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9" name="Group 1028">
              <a:extLst>
                <a:ext uri="{FF2B5EF4-FFF2-40B4-BE49-F238E27FC236}">
                  <a16:creationId xmlns:a16="http://schemas.microsoft.com/office/drawing/2014/main" id="{C74D48B8-836B-BBC6-9251-F77C595335C6}"/>
                </a:ext>
              </a:extLst>
            </p:cNvPr>
            <p:cNvGrpSpPr/>
            <p:nvPr/>
          </p:nvGrpSpPr>
          <p:grpSpPr>
            <a:xfrm>
              <a:off x="286004" y="533288"/>
              <a:ext cx="5570837" cy="2589653"/>
              <a:chOff x="266833" y="434815"/>
              <a:chExt cx="6709066" cy="2589653"/>
            </a:xfrm>
          </p:grpSpPr>
          <p:pic>
            <p:nvPicPr>
              <p:cNvPr id="1030" name="Picture 6" descr="Arrows ">
                <a:extLst>
                  <a:ext uri="{FF2B5EF4-FFF2-40B4-BE49-F238E27FC236}">
                    <a16:creationId xmlns:a16="http://schemas.microsoft.com/office/drawing/2014/main" id="{A14DC084-640E-2748-C144-82FD85332E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833" y="434815"/>
                <a:ext cx="450806" cy="45080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a:extLst>
                  <a:ext uri="{FF2B5EF4-FFF2-40B4-BE49-F238E27FC236}">
                    <a16:creationId xmlns:a16="http://schemas.microsoft.com/office/drawing/2014/main" id="{1EE2FB38-AB3D-7105-7E2E-6F050D67A6EE}"/>
                  </a:ext>
                </a:extLst>
              </p:cNvPr>
              <p:cNvGrpSpPr/>
              <p:nvPr/>
            </p:nvGrpSpPr>
            <p:grpSpPr>
              <a:xfrm>
                <a:off x="717639" y="526966"/>
                <a:ext cx="4801065" cy="403344"/>
                <a:chOff x="717639" y="526966"/>
                <a:chExt cx="4801065" cy="403344"/>
              </a:xfrm>
            </p:grpSpPr>
            <p:sp>
              <p:nvSpPr>
                <p:cNvPr id="22" name="TextBox 21">
                  <a:extLst>
                    <a:ext uri="{FF2B5EF4-FFF2-40B4-BE49-F238E27FC236}">
                      <a16:creationId xmlns:a16="http://schemas.microsoft.com/office/drawing/2014/main" id="{E5C7A23A-2509-AC8D-7287-1D247A9FF40F}"/>
                    </a:ext>
                  </a:extLst>
                </p:cNvPr>
                <p:cNvSpPr txBox="1"/>
                <p:nvPr/>
              </p:nvSpPr>
              <p:spPr>
                <a:xfrm>
                  <a:off x="717639" y="526966"/>
                  <a:ext cx="1695613" cy="403344"/>
                </a:xfrm>
                <a:prstGeom prst="rect">
                  <a:avLst/>
                </a:prstGeom>
                <a:noFill/>
              </p:spPr>
              <p:txBody>
                <a:bodyPr wrap="square">
                  <a:spAutoFit/>
                </a:bodyPr>
                <a:lstStyle/>
                <a:p>
                  <a:r>
                    <a:rPr lang="en-US" sz="1200" dirty="0"/>
                    <a:t>India is the </a:t>
                  </a:r>
                  <a:r>
                    <a:rPr lang="en-US" sz="1400" b="1" dirty="0"/>
                    <a:t>2</a:t>
                  </a:r>
                  <a:r>
                    <a:rPr lang="en-US" sz="1400" b="1" baseline="30000" dirty="0"/>
                    <a:t>nd</a:t>
                  </a:r>
                  <a:r>
                    <a:rPr lang="en-US" sz="1200" b="1" baseline="30000" dirty="0"/>
                    <a:t>       </a:t>
                  </a:r>
                  <a:endParaRPr lang="en-US" sz="1200" b="1" dirty="0"/>
                </a:p>
              </p:txBody>
            </p:sp>
            <p:sp>
              <p:nvSpPr>
                <p:cNvPr id="24" name="TextBox 23">
                  <a:extLst>
                    <a:ext uri="{FF2B5EF4-FFF2-40B4-BE49-F238E27FC236}">
                      <a16:creationId xmlns:a16="http://schemas.microsoft.com/office/drawing/2014/main" id="{10E2F1DD-E789-7C1A-56D6-4B909808A53B}"/>
                    </a:ext>
                  </a:extLst>
                </p:cNvPr>
                <p:cNvSpPr txBox="1"/>
                <p:nvPr/>
              </p:nvSpPr>
              <p:spPr>
                <a:xfrm>
                  <a:off x="1983378" y="579340"/>
                  <a:ext cx="3535326" cy="277000"/>
                </a:xfrm>
                <a:prstGeom prst="rect">
                  <a:avLst/>
                </a:prstGeom>
                <a:noFill/>
              </p:spPr>
              <p:txBody>
                <a:bodyPr wrap="square">
                  <a:spAutoFit/>
                </a:bodyPr>
                <a:lstStyle/>
                <a:p>
                  <a:r>
                    <a:rPr lang="en-US" sz="1200" dirty="0"/>
                    <a:t>Largest bicycle producer in the world</a:t>
                  </a:r>
                </a:p>
              </p:txBody>
            </p:sp>
          </p:grpSp>
          <p:pic>
            <p:nvPicPr>
              <p:cNvPr id="1032" name="Picture 8" descr="Bike ">
                <a:extLst>
                  <a:ext uri="{FF2B5EF4-FFF2-40B4-BE49-F238E27FC236}">
                    <a16:creationId xmlns:a16="http://schemas.microsoft.com/office/drawing/2014/main" id="{41782968-FCEA-C5CA-AA46-F7A69B6D0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833" y="904323"/>
                <a:ext cx="450805" cy="450805"/>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E19E3DB2-EA8A-7430-DCA5-B651EB516B81}"/>
                  </a:ext>
                </a:extLst>
              </p:cNvPr>
              <p:cNvSpPr txBox="1"/>
              <p:nvPr/>
            </p:nvSpPr>
            <p:spPr>
              <a:xfrm>
                <a:off x="708742" y="963156"/>
                <a:ext cx="6267157" cy="403345"/>
              </a:xfrm>
              <a:prstGeom prst="rect">
                <a:avLst/>
              </a:prstGeom>
              <a:noFill/>
            </p:spPr>
            <p:txBody>
              <a:bodyPr wrap="square">
                <a:spAutoFit/>
              </a:bodyPr>
              <a:lstStyle/>
              <a:p>
                <a:r>
                  <a:rPr lang="en-US" sz="1400" b="1" dirty="0"/>
                  <a:t>15.5</a:t>
                </a:r>
                <a:r>
                  <a:rPr lang="en-US" sz="1200" dirty="0"/>
                  <a:t> Million Bicycles produced per year with a value of </a:t>
                </a:r>
                <a:r>
                  <a:rPr lang="en-US" sz="1200" b="1" dirty="0"/>
                  <a:t>$1.5 </a:t>
                </a:r>
                <a:r>
                  <a:rPr lang="en-US" sz="1200" dirty="0"/>
                  <a:t>Billion</a:t>
                </a:r>
              </a:p>
            </p:txBody>
          </p:sp>
          <p:pic>
            <p:nvPicPr>
              <p:cNvPr id="1034" name="Picture 10" descr="64836546">
                <a:extLst>
                  <a:ext uri="{FF2B5EF4-FFF2-40B4-BE49-F238E27FC236}">
                    <a16:creationId xmlns:a16="http://schemas.microsoft.com/office/drawing/2014/main" id="{19AB1406-006C-73ED-3424-0FD3A373FB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833" y="1457787"/>
                <a:ext cx="450805" cy="450805"/>
              </a:xfrm>
              <a:prstGeom prst="rect">
                <a:avLst/>
              </a:prstGeom>
              <a:noFill/>
              <a:extLst>
                <a:ext uri="{909E8E84-426E-40DD-AFC4-6F175D3DCCD1}">
                  <a14:hiddenFill xmlns:a14="http://schemas.microsoft.com/office/drawing/2010/main">
                    <a:solidFill>
                      <a:srgbClr val="FFFFFF"/>
                    </a:solidFill>
                  </a14:hiddenFill>
                </a:ext>
              </a:extLst>
            </p:spPr>
          </p:pic>
          <p:sp>
            <p:nvSpPr>
              <p:cNvPr id="28" name="Isosceles Triangle 27">
                <a:extLst>
                  <a:ext uri="{FF2B5EF4-FFF2-40B4-BE49-F238E27FC236}">
                    <a16:creationId xmlns:a16="http://schemas.microsoft.com/office/drawing/2014/main" id="{0469D1A1-4FBA-EAE3-F389-D965C5CE6C3D}"/>
                  </a:ext>
                </a:extLst>
              </p:cNvPr>
              <p:cNvSpPr/>
              <p:nvPr/>
            </p:nvSpPr>
            <p:spPr>
              <a:xfrm>
                <a:off x="334693" y="1580222"/>
                <a:ext cx="112542" cy="52168"/>
              </a:xfrm>
              <a:prstGeom prst="triangl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415F75E-A847-166A-C64B-20AE9C30F617}"/>
                  </a:ext>
                </a:extLst>
              </p:cNvPr>
              <p:cNvSpPr txBox="1"/>
              <p:nvPr/>
            </p:nvSpPr>
            <p:spPr>
              <a:xfrm>
                <a:off x="708741" y="1516761"/>
                <a:ext cx="6267157" cy="276998"/>
              </a:xfrm>
              <a:prstGeom prst="rect">
                <a:avLst/>
              </a:prstGeom>
              <a:noFill/>
            </p:spPr>
            <p:txBody>
              <a:bodyPr wrap="square">
                <a:spAutoFit/>
              </a:bodyPr>
              <a:lstStyle/>
              <a:p>
                <a:r>
                  <a:rPr lang="en-US" sz="1200" dirty="0"/>
                  <a:t>Ludhiana is the major hub for bicycle manufacturing</a:t>
                </a:r>
              </a:p>
            </p:txBody>
          </p:sp>
          <p:pic>
            <p:nvPicPr>
              <p:cNvPr id="1036" name="Picture 12" descr="Compound ">
                <a:extLst>
                  <a:ext uri="{FF2B5EF4-FFF2-40B4-BE49-F238E27FC236}">
                    <a16:creationId xmlns:a16="http://schemas.microsoft.com/office/drawing/2014/main" id="{0E218059-F680-A13C-6727-A07A16F3D3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324" y="2062418"/>
                <a:ext cx="409823" cy="409822"/>
              </a:xfrm>
              <a:prstGeom prst="rect">
                <a:avLst/>
              </a:prstGeom>
              <a:noFill/>
              <a:extLst>
                <a:ext uri="{909E8E84-426E-40DD-AFC4-6F175D3DCCD1}">
                  <a14:hiddenFill xmlns:a14="http://schemas.microsoft.com/office/drawing/2010/main">
                    <a:solidFill>
                      <a:srgbClr val="FFFFFF"/>
                    </a:solidFill>
                  </a14:hiddenFill>
                </a:ext>
              </a:extLst>
            </p:spPr>
          </p:pic>
          <p:sp>
            <p:nvSpPr>
              <p:cNvPr id="1024" name="TextBox 1023">
                <a:extLst>
                  <a:ext uri="{FF2B5EF4-FFF2-40B4-BE49-F238E27FC236}">
                    <a16:creationId xmlns:a16="http://schemas.microsoft.com/office/drawing/2014/main" id="{586DEFAF-96B9-7DFC-30A8-9C1F95ED073D}"/>
                  </a:ext>
                </a:extLst>
              </p:cNvPr>
              <p:cNvSpPr txBox="1"/>
              <p:nvPr/>
            </p:nvSpPr>
            <p:spPr>
              <a:xfrm>
                <a:off x="708741" y="2092130"/>
                <a:ext cx="6039618" cy="251817"/>
              </a:xfrm>
              <a:prstGeom prst="rect">
                <a:avLst/>
              </a:prstGeom>
              <a:noFill/>
            </p:spPr>
            <p:txBody>
              <a:bodyPr wrap="square">
                <a:spAutoFit/>
              </a:bodyPr>
              <a:lstStyle/>
              <a:p>
                <a:r>
                  <a:rPr lang="en-US" sz="1200" dirty="0"/>
                  <a:t>Highly fragmented market with </a:t>
                </a:r>
                <a:r>
                  <a:rPr lang="en-US" sz="1200" b="1" dirty="0"/>
                  <a:t>93-97 % </a:t>
                </a:r>
                <a:r>
                  <a:rPr lang="en-US" sz="1200" dirty="0"/>
                  <a:t>domestic demand and </a:t>
                </a:r>
                <a:r>
                  <a:rPr lang="en-US" sz="1200" b="1" dirty="0"/>
                  <a:t>5-7</a:t>
                </a:r>
                <a:r>
                  <a:rPr lang="en-US" sz="1200" dirty="0"/>
                  <a:t> % exports </a:t>
                </a:r>
              </a:p>
            </p:txBody>
          </p:sp>
          <p:pic>
            <p:nvPicPr>
              <p:cNvPr id="1038" name="Picture 14" descr="Employees ">
                <a:extLst>
                  <a:ext uri="{FF2B5EF4-FFF2-40B4-BE49-F238E27FC236}">
                    <a16:creationId xmlns:a16="http://schemas.microsoft.com/office/drawing/2014/main" id="{59CB079C-EE31-2646-3AFF-D74BE6F758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593" y="2614646"/>
                <a:ext cx="409823" cy="409822"/>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1026">
                <a:extLst>
                  <a:ext uri="{FF2B5EF4-FFF2-40B4-BE49-F238E27FC236}">
                    <a16:creationId xmlns:a16="http://schemas.microsoft.com/office/drawing/2014/main" id="{2E433263-2724-FA17-6BF2-AD60134A765F}"/>
                  </a:ext>
                </a:extLst>
              </p:cNvPr>
              <p:cNvSpPr txBox="1"/>
              <p:nvPr/>
            </p:nvSpPr>
            <p:spPr>
              <a:xfrm>
                <a:off x="708742" y="2679047"/>
                <a:ext cx="6267156" cy="251817"/>
              </a:xfrm>
              <a:prstGeom prst="rect">
                <a:avLst/>
              </a:prstGeom>
              <a:noFill/>
            </p:spPr>
            <p:txBody>
              <a:bodyPr wrap="square">
                <a:spAutoFit/>
              </a:bodyPr>
              <a:lstStyle/>
              <a:p>
                <a:r>
                  <a:rPr lang="en-US" sz="1200" dirty="0"/>
                  <a:t>The market employees around </a:t>
                </a:r>
                <a:r>
                  <a:rPr lang="en-US" sz="1200" b="1" dirty="0"/>
                  <a:t>1 </a:t>
                </a:r>
                <a:r>
                  <a:rPr lang="en-US" sz="1200" dirty="0"/>
                  <a:t>million people</a:t>
                </a:r>
              </a:p>
            </p:txBody>
          </p:sp>
        </p:grpSp>
      </p:grpSp>
      <p:graphicFrame>
        <p:nvGraphicFramePr>
          <p:cNvPr id="1069" name="Chart 1068">
            <a:extLst>
              <a:ext uri="{FF2B5EF4-FFF2-40B4-BE49-F238E27FC236}">
                <a16:creationId xmlns:a16="http://schemas.microsoft.com/office/drawing/2014/main" id="{F4783A21-7C26-AB8B-56FB-F47006C127BF}"/>
              </a:ext>
            </a:extLst>
          </p:cNvPr>
          <p:cNvGraphicFramePr>
            <a:graphicFrameLocks/>
          </p:cNvGraphicFramePr>
          <p:nvPr>
            <p:extLst>
              <p:ext uri="{D42A27DB-BD31-4B8C-83A1-F6EECF244321}">
                <p14:modId xmlns:p14="http://schemas.microsoft.com/office/powerpoint/2010/main" val="1771005549"/>
              </p:ext>
            </p:extLst>
          </p:nvPr>
        </p:nvGraphicFramePr>
        <p:xfrm>
          <a:off x="64176" y="3814360"/>
          <a:ext cx="5656777" cy="2808046"/>
        </p:xfrm>
        <a:graphic>
          <a:graphicData uri="http://schemas.openxmlformats.org/drawingml/2006/chart">
            <c:chart xmlns:c="http://schemas.openxmlformats.org/drawingml/2006/chart" xmlns:r="http://schemas.openxmlformats.org/officeDocument/2006/relationships" r:id="rId7"/>
          </a:graphicData>
        </a:graphic>
      </p:graphicFrame>
      <p:grpSp>
        <p:nvGrpSpPr>
          <p:cNvPr id="1074" name="Group 1073">
            <a:extLst>
              <a:ext uri="{FF2B5EF4-FFF2-40B4-BE49-F238E27FC236}">
                <a16:creationId xmlns:a16="http://schemas.microsoft.com/office/drawing/2014/main" id="{CB3E2AEA-175F-BCAD-E1B4-2BA85DCF6CA4}"/>
              </a:ext>
            </a:extLst>
          </p:cNvPr>
          <p:cNvGrpSpPr/>
          <p:nvPr/>
        </p:nvGrpSpPr>
        <p:grpSpPr>
          <a:xfrm>
            <a:off x="53868" y="2865022"/>
            <a:ext cx="5830168" cy="687414"/>
            <a:chOff x="53868" y="2661898"/>
            <a:chExt cx="5830168" cy="695171"/>
          </a:xfrm>
        </p:grpSpPr>
        <p:sp>
          <p:nvSpPr>
            <p:cNvPr id="1073" name="Rectangle 1072">
              <a:extLst>
                <a:ext uri="{FF2B5EF4-FFF2-40B4-BE49-F238E27FC236}">
                  <a16:creationId xmlns:a16="http://schemas.microsoft.com/office/drawing/2014/main" id="{370D71FF-DF15-76C2-093B-09EACF5FB046}"/>
                </a:ext>
              </a:extLst>
            </p:cNvPr>
            <p:cNvSpPr/>
            <p:nvPr/>
          </p:nvSpPr>
          <p:spPr>
            <a:xfrm>
              <a:off x="53868" y="2661898"/>
              <a:ext cx="5659609" cy="695171"/>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2" name="TextBox 1071">
              <a:extLst>
                <a:ext uri="{FF2B5EF4-FFF2-40B4-BE49-F238E27FC236}">
                  <a16:creationId xmlns:a16="http://schemas.microsoft.com/office/drawing/2014/main" id="{2F0CC9DF-DEA2-6C05-4921-986296F7F918}"/>
                </a:ext>
              </a:extLst>
            </p:cNvPr>
            <p:cNvSpPr txBox="1"/>
            <p:nvPr/>
          </p:nvSpPr>
          <p:spPr>
            <a:xfrm>
              <a:off x="67745" y="2784437"/>
              <a:ext cx="5816291" cy="498000"/>
            </a:xfrm>
            <a:prstGeom prst="rect">
              <a:avLst/>
            </a:prstGeom>
            <a:noFill/>
          </p:spPr>
          <p:txBody>
            <a:bodyPr wrap="square">
              <a:spAutoFit/>
            </a:bodyPr>
            <a:lstStyle/>
            <a:p>
              <a:r>
                <a:rPr lang="en-US" sz="1200" dirty="0"/>
                <a:t>The pandemic induced constrains on fitness and leisure options increased the demand of bicycles by </a:t>
              </a:r>
              <a:r>
                <a:rPr lang="en-US" sz="1400" b="1" dirty="0"/>
                <a:t>20</a:t>
              </a:r>
              <a:r>
                <a:rPr lang="en-US" sz="1200" dirty="0"/>
                <a:t> percent during the covid times majorly in the kids and premium segment</a:t>
              </a:r>
            </a:p>
          </p:txBody>
        </p:sp>
      </p:grpSp>
      <p:sp>
        <p:nvSpPr>
          <p:cNvPr id="1076" name="Rectangle 1075">
            <a:extLst>
              <a:ext uri="{FF2B5EF4-FFF2-40B4-BE49-F238E27FC236}">
                <a16:creationId xmlns:a16="http://schemas.microsoft.com/office/drawing/2014/main" id="{AFC27A99-3759-F89F-E008-15D932DEEE77}"/>
              </a:ext>
            </a:extLst>
          </p:cNvPr>
          <p:cNvSpPr/>
          <p:nvPr/>
        </p:nvSpPr>
        <p:spPr>
          <a:xfrm>
            <a:off x="2036119" y="2734103"/>
            <a:ext cx="1797462" cy="2438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COVID-19 </a:t>
            </a:r>
            <a:r>
              <a:rPr lang="en-US" sz="1500" dirty="0"/>
              <a:t>Impact</a:t>
            </a:r>
          </a:p>
        </p:txBody>
      </p:sp>
      <p:sp>
        <p:nvSpPr>
          <p:cNvPr id="1077" name="Rectangle 1076">
            <a:extLst>
              <a:ext uri="{FF2B5EF4-FFF2-40B4-BE49-F238E27FC236}">
                <a16:creationId xmlns:a16="http://schemas.microsoft.com/office/drawing/2014/main" id="{CBD70E7D-9E87-AFEA-F40C-02E6506A58A8}"/>
              </a:ext>
            </a:extLst>
          </p:cNvPr>
          <p:cNvSpPr/>
          <p:nvPr/>
        </p:nvSpPr>
        <p:spPr>
          <a:xfrm>
            <a:off x="1814736" y="372782"/>
            <a:ext cx="2199526" cy="21919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Bicycle Industry in India</a:t>
            </a:r>
          </a:p>
        </p:txBody>
      </p:sp>
      <p:grpSp>
        <p:nvGrpSpPr>
          <p:cNvPr id="1053" name="Group 1052">
            <a:extLst>
              <a:ext uri="{FF2B5EF4-FFF2-40B4-BE49-F238E27FC236}">
                <a16:creationId xmlns:a16="http://schemas.microsoft.com/office/drawing/2014/main" id="{504AFB11-7004-99CC-6209-55EC2DAE0546}"/>
              </a:ext>
            </a:extLst>
          </p:cNvPr>
          <p:cNvGrpSpPr/>
          <p:nvPr/>
        </p:nvGrpSpPr>
        <p:grpSpPr>
          <a:xfrm>
            <a:off x="6023256" y="639737"/>
            <a:ext cx="1053632" cy="842317"/>
            <a:chOff x="6023256" y="639737"/>
            <a:chExt cx="1053632" cy="842317"/>
          </a:xfrm>
        </p:grpSpPr>
        <p:pic>
          <p:nvPicPr>
            <p:cNvPr id="1065" name="Picture 2" descr="Children ">
              <a:extLst>
                <a:ext uri="{FF2B5EF4-FFF2-40B4-BE49-F238E27FC236}">
                  <a16:creationId xmlns:a16="http://schemas.microsoft.com/office/drawing/2014/main" id="{B647A58C-4FE9-2C80-B474-65C354F1C5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34722" y="639737"/>
              <a:ext cx="625644" cy="625644"/>
            </a:xfrm>
            <a:prstGeom prst="rect">
              <a:avLst/>
            </a:prstGeom>
            <a:noFill/>
            <a:extLst>
              <a:ext uri="{909E8E84-426E-40DD-AFC4-6F175D3DCCD1}">
                <a14:hiddenFill xmlns:a14="http://schemas.microsoft.com/office/drawing/2010/main">
                  <a:solidFill>
                    <a:srgbClr val="FFFFFF"/>
                  </a:solidFill>
                </a14:hiddenFill>
              </a:ext>
            </a:extLst>
          </p:spPr>
        </p:pic>
        <p:sp>
          <p:nvSpPr>
            <p:cNvPr id="1081" name="TextBox 1080">
              <a:extLst>
                <a:ext uri="{FF2B5EF4-FFF2-40B4-BE49-F238E27FC236}">
                  <a16:creationId xmlns:a16="http://schemas.microsoft.com/office/drawing/2014/main" id="{94B6182A-83FA-C413-1E3C-6C41468280C4}"/>
                </a:ext>
              </a:extLst>
            </p:cNvPr>
            <p:cNvSpPr txBox="1"/>
            <p:nvPr/>
          </p:nvSpPr>
          <p:spPr>
            <a:xfrm>
              <a:off x="6023256" y="1205055"/>
              <a:ext cx="1053632" cy="276999"/>
            </a:xfrm>
            <a:prstGeom prst="rect">
              <a:avLst/>
            </a:prstGeom>
            <a:noFill/>
          </p:spPr>
          <p:txBody>
            <a:bodyPr wrap="square">
              <a:spAutoFit/>
            </a:bodyPr>
            <a:lstStyle/>
            <a:p>
              <a:r>
                <a:rPr lang="en-US" sz="1200" dirty="0"/>
                <a:t>Kids cycles </a:t>
              </a:r>
            </a:p>
          </p:txBody>
        </p:sp>
      </p:grpSp>
      <p:grpSp>
        <p:nvGrpSpPr>
          <p:cNvPr id="1054" name="Group 1053">
            <a:extLst>
              <a:ext uri="{FF2B5EF4-FFF2-40B4-BE49-F238E27FC236}">
                <a16:creationId xmlns:a16="http://schemas.microsoft.com/office/drawing/2014/main" id="{00148CED-9E28-A399-A83A-A47C38E9B706}"/>
              </a:ext>
            </a:extLst>
          </p:cNvPr>
          <p:cNvGrpSpPr/>
          <p:nvPr/>
        </p:nvGrpSpPr>
        <p:grpSpPr>
          <a:xfrm>
            <a:off x="7599136" y="677881"/>
            <a:ext cx="1159640" cy="794351"/>
            <a:chOff x="7683115" y="677881"/>
            <a:chExt cx="1159640" cy="794351"/>
          </a:xfrm>
        </p:grpSpPr>
        <p:pic>
          <p:nvPicPr>
            <p:cNvPr id="1066" name="Picture 6" descr="Premium quality ">
              <a:extLst>
                <a:ext uri="{FF2B5EF4-FFF2-40B4-BE49-F238E27FC236}">
                  <a16:creationId xmlns:a16="http://schemas.microsoft.com/office/drawing/2014/main" id="{3B64E6F2-9EF3-54F2-2FAA-A171BFB06B7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044" y="677881"/>
              <a:ext cx="517061" cy="517061"/>
            </a:xfrm>
            <a:prstGeom prst="rect">
              <a:avLst/>
            </a:prstGeom>
            <a:noFill/>
            <a:extLst>
              <a:ext uri="{909E8E84-426E-40DD-AFC4-6F175D3DCCD1}">
                <a14:hiddenFill xmlns:a14="http://schemas.microsoft.com/office/drawing/2010/main">
                  <a:solidFill>
                    <a:srgbClr val="FFFFFF"/>
                  </a:solidFill>
                </a14:hiddenFill>
              </a:ext>
            </a:extLst>
          </p:spPr>
        </p:pic>
        <p:sp>
          <p:nvSpPr>
            <p:cNvPr id="1082" name="TextBox 1081">
              <a:extLst>
                <a:ext uri="{FF2B5EF4-FFF2-40B4-BE49-F238E27FC236}">
                  <a16:creationId xmlns:a16="http://schemas.microsoft.com/office/drawing/2014/main" id="{F477DAD5-C3F3-47B6-4C61-6FC7553A5F54}"/>
                </a:ext>
              </a:extLst>
            </p:cNvPr>
            <p:cNvSpPr txBox="1"/>
            <p:nvPr/>
          </p:nvSpPr>
          <p:spPr>
            <a:xfrm>
              <a:off x="7683115" y="1195233"/>
              <a:ext cx="1159640" cy="276999"/>
            </a:xfrm>
            <a:prstGeom prst="rect">
              <a:avLst/>
            </a:prstGeom>
            <a:noFill/>
          </p:spPr>
          <p:txBody>
            <a:bodyPr wrap="square">
              <a:spAutoFit/>
            </a:bodyPr>
            <a:lstStyle/>
            <a:p>
              <a:r>
                <a:rPr lang="en-US" sz="1200" dirty="0"/>
                <a:t>Premium cycles </a:t>
              </a:r>
            </a:p>
          </p:txBody>
        </p:sp>
      </p:grpSp>
      <p:grpSp>
        <p:nvGrpSpPr>
          <p:cNvPr id="1055" name="Group 1054">
            <a:extLst>
              <a:ext uri="{FF2B5EF4-FFF2-40B4-BE49-F238E27FC236}">
                <a16:creationId xmlns:a16="http://schemas.microsoft.com/office/drawing/2014/main" id="{37980ECB-91AE-C72E-086B-EC5E8F7EE7CB}"/>
              </a:ext>
            </a:extLst>
          </p:cNvPr>
          <p:cNvGrpSpPr/>
          <p:nvPr/>
        </p:nvGrpSpPr>
        <p:grpSpPr>
          <a:xfrm>
            <a:off x="9284182" y="640269"/>
            <a:ext cx="1321531" cy="845493"/>
            <a:chOff x="9284182" y="640269"/>
            <a:chExt cx="1321531" cy="845493"/>
          </a:xfrm>
        </p:grpSpPr>
        <p:pic>
          <p:nvPicPr>
            <p:cNvPr id="1067" name="Picture 16" descr="Bike ">
              <a:extLst>
                <a:ext uri="{FF2B5EF4-FFF2-40B4-BE49-F238E27FC236}">
                  <a16:creationId xmlns:a16="http://schemas.microsoft.com/office/drawing/2014/main" id="{E2736FBE-C8E9-1AA4-CA89-C8FE0548A7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93653" y="640269"/>
              <a:ext cx="628584" cy="628584"/>
            </a:xfrm>
            <a:prstGeom prst="rect">
              <a:avLst/>
            </a:prstGeom>
            <a:noFill/>
            <a:extLst>
              <a:ext uri="{909E8E84-426E-40DD-AFC4-6F175D3DCCD1}">
                <a14:hiddenFill xmlns:a14="http://schemas.microsoft.com/office/drawing/2010/main">
                  <a:solidFill>
                    <a:srgbClr val="FFFFFF"/>
                  </a:solidFill>
                </a14:hiddenFill>
              </a:ext>
            </a:extLst>
          </p:spPr>
        </p:pic>
        <p:sp>
          <p:nvSpPr>
            <p:cNvPr id="1083" name="TextBox 1082">
              <a:extLst>
                <a:ext uri="{FF2B5EF4-FFF2-40B4-BE49-F238E27FC236}">
                  <a16:creationId xmlns:a16="http://schemas.microsoft.com/office/drawing/2014/main" id="{E01F74CD-A52E-8313-41D4-3879DBEB9FA3}"/>
                </a:ext>
              </a:extLst>
            </p:cNvPr>
            <p:cNvSpPr txBox="1"/>
            <p:nvPr/>
          </p:nvSpPr>
          <p:spPr>
            <a:xfrm>
              <a:off x="9284182" y="1208763"/>
              <a:ext cx="1321531" cy="276999"/>
            </a:xfrm>
            <a:prstGeom prst="rect">
              <a:avLst/>
            </a:prstGeom>
            <a:noFill/>
          </p:spPr>
          <p:txBody>
            <a:bodyPr wrap="square">
              <a:spAutoFit/>
            </a:bodyPr>
            <a:lstStyle/>
            <a:p>
              <a:r>
                <a:rPr lang="en-US" sz="1200" dirty="0"/>
                <a:t>Roadster bikes </a:t>
              </a:r>
            </a:p>
          </p:txBody>
        </p:sp>
      </p:grpSp>
      <p:grpSp>
        <p:nvGrpSpPr>
          <p:cNvPr id="1056" name="Group 1055">
            <a:extLst>
              <a:ext uri="{FF2B5EF4-FFF2-40B4-BE49-F238E27FC236}">
                <a16:creationId xmlns:a16="http://schemas.microsoft.com/office/drawing/2014/main" id="{B8C0573C-945B-CF41-D96A-978C78292C07}"/>
              </a:ext>
            </a:extLst>
          </p:cNvPr>
          <p:cNvGrpSpPr/>
          <p:nvPr/>
        </p:nvGrpSpPr>
        <p:grpSpPr>
          <a:xfrm>
            <a:off x="11302525" y="643391"/>
            <a:ext cx="1053632" cy="836874"/>
            <a:chOff x="11302525" y="643391"/>
            <a:chExt cx="1053632" cy="836874"/>
          </a:xfrm>
        </p:grpSpPr>
        <p:pic>
          <p:nvPicPr>
            <p:cNvPr id="1068" name="Picture 18" descr="E bike">
              <a:extLst>
                <a:ext uri="{FF2B5EF4-FFF2-40B4-BE49-F238E27FC236}">
                  <a16:creationId xmlns:a16="http://schemas.microsoft.com/office/drawing/2014/main" id="{B256D86D-0DB0-CD5D-4AF4-168A0D2ED72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302525" y="643391"/>
              <a:ext cx="554406" cy="554406"/>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17951B05-FE41-0B26-1D04-CE7DC47C5B4F}"/>
                </a:ext>
              </a:extLst>
            </p:cNvPr>
            <p:cNvSpPr txBox="1"/>
            <p:nvPr/>
          </p:nvSpPr>
          <p:spPr>
            <a:xfrm>
              <a:off x="11302525" y="1203266"/>
              <a:ext cx="1053632" cy="276999"/>
            </a:xfrm>
            <a:prstGeom prst="rect">
              <a:avLst/>
            </a:prstGeom>
            <a:noFill/>
          </p:spPr>
          <p:txBody>
            <a:bodyPr wrap="square">
              <a:spAutoFit/>
            </a:bodyPr>
            <a:lstStyle/>
            <a:p>
              <a:r>
                <a:rPr lang="en-US" sz="1200" dirty="0"/>
                <a:t>E-Bikes </a:t>
              </a:r>
            </a:p>
          </p:txBody>
        </p:sp>
      </p:grpSp>
      <p:sp>
        <p:nvSpPr>
          <p:cNvPr id="1113" name="Rectangle 1112">
            <a:extLst>
              <a:ext uri="{FF2B5EF4-FFF2-40B4-BE49-F238E27FC236}">
                <a16:creationId xmlns:a16="http://schemas.microsoft.com/office/drawing/2014/main" id="{F5766A16-E83E-D1C3-FC37-2A919638496E}"/>
              </a:ext>
            </a:extLst>
          </p:cNvPr>
          <p:cNvSpPr/>
          <p:nvPr/>
        </p:nvSpPr>
        <p:spPr>
          <a:xfrm>
            <a:off x="5815831" y="3241813"/>
            <a:ext cx="6296451" cy="3383136"/>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8" name="Straight Connector 1097">
            <a:extLst>
              <a:ext uri="{FF2B5EF4-FFF2-40B4-BE49-F238E27FC236}">
                <a16:creationId xmlns:a16="http://schemas.microsoft.com/office/drawing/2014/main" id="{7DD842BD-1D31-0B56-DFE2-E7B3B7305B70}"/>
              </a:ext>
            </a:extLst>
          </p:cNvPr>
          <p:cNvCxnSpPr>
            <a:cxnSpLocks/>
          </p:cNvCxnSpPr>
          <p:nvPr/>
        </p:nvCxnSpPr>
        <p:spPr>
          <a:xfrm>
            <a:off x="6360998" y="3190695"/>
            <a:ext cx="2339052" cy="0"/>
          </a:xfrm>
          <a:prstGeom prst="line">
            <a:avLst/>
          </a:prstGeom>
        </p:spPr>
        <p:style>
          <a:lnRef idx="1">
            <a:schemeClr val="dk1"/>
          </a:lnRef>
          <a:fillRef idx="0">
            <a:schemeClr val="dk1"/>
          </a:fillRef>
          <a:effectRef idx="0">
            <a:schemeClr val="dk1"/>
          </a:effectRef>
          <a:fontRef idx="minor">
            <a:schemeClr val="tx1"/>
          </a:fontRef>
        </p:style>
      </p:cxnSp>
      <p:grpSp>
        <p:nvGrpSpPr>
          <p:cNvPr id="46" name="Group 45">
            <a:extLst>
              <a:ext uri="{FF2B5EF4-FFF2-40B4-BE49-F238E27FC236}">
                <a16:creationId xmlns:a16="http://schemas.microsoft.com/office/drawing/2014/main" id="{093F33A2-BC65-4910-CA6A-ECC7DBE6AC90}"/>
              </a:ext>
            </a:extLst>
          </p:cNvPr>
          <p:cNvGrpSpPr/>
          <p:nvPr/>
        </p:nvGrpSpPr>
        <p:grpSpPr>
          <a:xfrm>
            <a:off x="5883324" y="3686534"/>
            <a:ext cx="1233639" cy="2845992"/>
            <a:chOff x="5893830" y="3401573"/>
            <a:chExt cx="1233639" cy="2845992"/>
          </a:xfrm>
        </p:grpSpPr>
        <p:sp>
          <p:nvSpPr>
            <p:cNvPr id="1093" name="TextBox 1092">
              <a:extLst>
                <a:ext uri="{FF2B5EF4-FFF2-40B4-BE49-F238E27FC236}">
                  <a16:creationId xmlns:a16="http://schemas.microsoft.com/office/drawing/2014/main" id="{BB0D3437-8FD6-FCA5-8420-17A0BCEDE423}"/>
                </a:ext>
              </a:extLst>
            </p:cNvPr>
            <p:cNvSpPr txBox="1"/>
            <p:nvPr/>
          </p:nvSpPr>
          <p:spPr>
            <a:xfrm>
              <a:off x="6011239" y="5939788"/>
              <a:ext cx="1083652" cy="307777"/>
            </a:xfrm>
            <a:prstGeom prst="rect">
              <a:avLst/>
            </a:prstGeom>
            <a:noFill/>
          </p:spPr>
          <p:txBody>
            <a:bodyPr wrap="square">
              <a:spAutoFit/>
            </a:bodyPr>
            <a:lstStyle/>
            <a:p>
              <a:pPr algn="ctr"/>
              <a:r>
                <a:rPr lang="en-IN" sz="1400" dirty="0"/>
                <a:t>(FY2019)</a:t>
              </a:r>
            </a:p>
          </p:txBody>
        </p:sp>
        <p:sp>
          <p:nvSpPr>
            <p:cNvPr id="1100" name="TextBox 1099">
              <a:extLst>
                <a:ext uri="{FF2B5EF4-FFF2-40B4-BE49-F238E27FC236}">
                  <a16:creationId xmlns:a16="http://schemas.microsoft.com/office/drawing/2014/main" id="{2B5A4EDD-D90A-AF7A-2A70-17E9DA18370F}"/>
                </a:ext>
              </a:extLst>
            </p:cNvPr>
            <p:cNvSpPr txBox="1"/>
            <p:nvPr/>
          </p:nvSpPr>
          <p:spPr>
            <a:xfrm>
              <a:off x="5893830" y="3401573"/>
              <a:ext cx="1221526" cy="738664"/>
            </a:xfrm>
            <a:prstGeom prst="rect">
              <a:avLst/>
            </a:prstGeom>
            <a:noFill/>
            <a:ln>
              <a:solidFill>
                <a:schemeClr val="accent2">
                  <a:lumMod val="75000"/>
                </a:schemeClr>
              </a:solidFill>
            </a:ln>
          </p:spPr>
          <p:txBody>
            <a:bodyPr wrap="square">
              <a:spAutoFit/>
            </a:bodyPr>
            <a:lstStyle/>
            <a:p>
              <a:pPr algn="ctr"/>
              <a:r>
                <a:rPr lang="en-IN" sz="1400" b="1" dirty="0"/>
                <a:t>Market Size: $1.3 Bn</a:t>
              </a:r>
            </a:p>
            <a:p>
              <a:pPr algn="ctr"/>
              <a:r>
                <a:rPr lang="en-IN" sz="1400" b="1" dirty="0"/>
                <a:t>Exports: 5-7%</a:t>
              </a:r>
            </a:p>
          </p:txBody>
        </p:sp>
        <p:grpSp>
          <p:nvGrpSpPr>
            <p:cNvPr id="41" name="Group 40">
              <a:extLst>
                <a:ext uri="{FF2B5EF4-FFF2-40B4-BE49-F238E27FC236}">
                  <a16:creationId xmlns:a16="http://schemas.microsoft.com/office/drawing/2014/main" id="{055FB21B-4DB2-4BCC-D7E2-44CE24EC884E}"/>
                </a:ext>
              </a:extLst>
            </p:cNvPr>
            <p:cNvGrpSpPr/>
            <p:nvPr/>
          </p:nvGrpSpPr>
          <p:grpSpPr>
            <a:xfrm>
              <a:off x="6023256" y="4140238"/>
              <a:ext cx="1104213" cy="1799549"/>
              <a:chOff x="5836641" y="4140238"/>
              <a:chExt cx="1104213" cy="1799549"/>
            </a:xfrm>
          </p:grpSpPr>
          <p:pic>
            <p:nvPicPr>
              <p:cNvPr id="1090" name="Picture 1089">
                <a:extLst>
                  <a:ext uri="{FF2B5EF4-FFF2-40B4-BE49-F238E27FC236}">
                    <a16:creationId xmlns:a16="http://schemas.microsoft.com/office/drawing/2014/main" id="{25EEB7EE-E52D-0BD9-FF60-19B4A8577900}"/>
                  </a:ext>
                </a:extLst>
              </p:cNvPr>
              <p:cNvPicPr>
                <a:picLocks noChangeAspect="1"/>
              </p:cNvPicPr>
              <p:nvPr/>
            </p:nvPicPr>
            <p:blipFill>
              <a:blip r:embed="rId12"/>
              <a:stretch>
                <a:fillRect/>
              </a:stretch>
            </p:blipFill>
            <p:spPr>
              <a:xfrm>
                <a:off x="6000973" y="4180057"/>
                <a:ext cx="730954" cy="1759730"/>
              </a:xfrm>
              <a:prstGeom prst="rect">
                <a:avLst/>
              </a:prstGeom>
            </p:spPr>
          </p:pic>
          <p:sp>
            <p:nvSpPr>
              <p:cNvPr id="1104" name="TextBox 1103">
                <a:extLst>
                  <a:ext uri="{FF2B5EF4-FFF2-40B4-BE49-F238E27FC236}">
                    <a16:creationId xmlns:a16="http://schemas.microsoft.com/office/drawing/2014/main" id="{32923E97-F115-B5E0-F2E9-5BD037C55D1D}"/>
                  </a:ext>
                </a:extLst>
              </p:cNvPr>
              <p:cNvSpPr txBox="1"/>
              <p:nvPr/>
            </p:nvSpPr>
            <p:spPr>
              <a:xfrm>
                <a:off x="5857202" y="5278071"/>
                <a:ext cx="1083652" cy="338554"/>
              </a:xfrm>
              <a:prstGeom prst="rect">
                <a:avLst/>
              </a:prstGeom>
              <a:noFill/>
            </p:spPr>
            <p:txBody>
              <a:bodyPr wrap="square">
                <a:spAutoFit/>
              </a:bodyPr>
              <a:lstStyle/>
              <a:p>
                <a:pPr algn="ctr"/>
                <a:r>
                  <a:rPr lang="en-IN" sz="1600" b="1" dirty="0"/>
                  <a:t>60%</a:t>
                </a:r>
              </a:p>
            </p:txBody>
          </p:sp>
          <p:sp>
            <p:nvSpPr>
              <p:cNvPr id="1105" name="TextBox 1104">
                <a:extLst>
                  <a:ext uri="{FF2B5EF4-FFF2-40B4-BE49-F238E27FC236}">
                    <a16:creationId xmlns:a16="http://schemas.microsoft.com/office/drawing/2014/main" id="{FF0209CE-DEF5-A500-8FDB-502E8AC45161}"/>
                  </a:ext>
                </a:extLst>
              </p:cNvPr>
              <p:cNvSpPr txBox="1"/>
              <p:nvPr/>
            </p:nvSpPr>
            <p:spPr>
              <a:xfrm>
                <a:off x="5841151" y="4140238"/>
                <a:ext cx="1083652" cy="338554"/>
              </a:xfrm>
              <a:prstGeom prst="rect">
                <a:avLst/>
              </a:prstGeom>
              <a:noFill/>
            </p:spPr>
            <p:txBody>
              <a:bodyPr wrap="square">
                <a:spAutoFit/>
              </a:bodyPr>
              <a:lstStyle/>
              <a:p>
                <a:pPr algn="ctr"/>
                <a:r>
                  <a:rPr lang="en-IN" sz="1600" b="1" dirty="0"/>
                  <a:t>10%</a:t>
                </a:r>
              </a:p>
            </p:txBody>
          </p:sp>
          <p:sp>
            <p:nvSpPr>
              <p:cNvPr id="1106" name="TextBox 1105">
                <a:extLst>
                  <a:ext uri="{FF2B5EF4-FFF2-40B4-BE49-F238E27FC236}">
                    <a16:creationId xmlns:a16="http://schemas.microsoft.com/office/drawing/2014/main" id="{4BDF5CC7-97DC-E8C3-50B2-00813E3D572A}"/>
                  </a:ext>
                </a:extLst>
              </p:cNvPr>
              <p:cNvSpPr txBox="1"/>
              <p:nvPr/>
            </p:nvSpPr>
            <p:spPr>
              <a:xfrm>
                <a:off x="5836641" y="4562394"/>
                <a:ext cx="1083652" cy="338554"/>
              </a:xfrm>
              <a:prstGeom prst="rect">
                <a:avLst/>
              </a:prstGeom>
              <a:noFill/>
            </p:spPr>
            <p:txBody>
              <a:bodyPr wrap="square">
                <a:spAutoFit/>
              </a:bodyPr>
              <a:lstStyle/>
              <a:p>
                <a:pPr algn="ctr"/>
                <a:r>
                  <a:rPr lang="en-IN" sz="1600" b="1" dirty="0"/>
                  <a:t>30%</a:t>
                </a:r>
              </a:p>
            </p:txBody>
          </p:sp>
        </p:grpSp>
      </p:grpSp>
      <p:grpSp>
        <p:nvGrpSpPr>
          <p:cNvPr id="1126" name="Group 1125">
            <a:extLst>
              <a:ext uri="{FF2B5EF4-FFF2-40B4-BE49-F238E27FC236}">
                <a16:creationId xmlns:a16="http://schemas.microsoft.com/office/drawing/2014/main" id="{93AA36CD-DB70-B0CD-9DA8-ABB03E216B54}"/>
              </a:ext>
            </a:extLst>
          </p:cNvPr>
          <p:cNvGrpSpPr/>
          <p:nvPr/>
        </p:nvGrpSpPr>
        <p:grpSpPr>
          <a:xfrm>
            <a:off x="5802864" y="1724487"/>
            <a:ext cx="6335268" cy="1270849"/>
            <a:chOff x="5802864" y="1724487"/>
            <a:chExt cx="6296451" cy="1270849"/>
          </a:xfrm>
        </p:grpSpPr>
        <p:sp>
          <p:nvSpPr>
            <p:cNvPr id="1125" name="Rectangle 1124">
              <a:extLst>
                <a:ext uri="{FF2B5EF4-FFF2-40B4-BE49-F238E27FC236}">
                  <a16:creationId xmlns:a16="http://schemas.microsoft.com/office/drawing/2014/main" id="{BF7005B5-B3A3-89C7-FE78-4DA422BE0F81}"/>
                </a:ext>
              </a:extLst>
            </p:cNvPr>
            <p:cNvSpPr/>
            <p:nvPr/>
          </p:nvSpPr>
          <p:spPr>
            <a:xfrm>
              <a:off x="5824624" y="1724487"/>
              <a:ext cx="6236279" cy="1256425"/>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TextBox 1123">
              <a:extLst>
                <a:ext uri="{FF2B5EF4-FFF2-40B4-BE49-F238E27FC236}">
                  <a16:creationId xmlns:a16="http://schemas.microsoft.com/office/drawing/2014/main" id="{875D71A3-0A3F-DB9A-B9BB-C730D02D5E79}"/>
                </a:ext>
              </a:extLst>
            </p:cNvPr>
            <p:cNvSpPr txBox="1"/>
            <p:nvPr/>
          </p:nvSpPr>
          <p:spPr>
            <a:xfrm>
              <a:off x="5802864" y="1774489"/>
              <a:ext cx="6296451" cy="1220847"/>
            </a:xfrm>
            <a:prstGeom prst="rect">
              <a:avLst/>
            </a:prstGeom>
            <a:noFill/>
          </p:spPr>
          <p:txBody>
            <a:bodyPr wrap="square">
              <a:spAutoFit/>
            </a:bodyPr>
            <a:lstStyle/>
            <a:p>
              <a:pPr marL="171450" marR="0" indent="-171450">
                <a:spcBef>
                  <a:spcPts val="0"/>
                </a:spcBef>
                <a:spcAft>
                  <a:spcPts val="80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Being a hybrid solution of motor and pedal power and an increased inclination of people to buy e-bikes shall further drive its growth</a:t>
              </a:r>
            </a:p>
            <a:p>
              <a:pPr marL="171450" marR="0" indent="-171450">
                <a:spcBef>
                  <a:spcPts val="0"/>
                </a:spcBef>
                <a:spcAft>
                  <a:spcPts val="80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Large demand for E-bicycles particularly for the western markets are being encouraged by government policies </a:t>
              </a:r>
            </a:p>
            <a:p>
              <a:pPr marL="171450" marR="0" indent="-171450">
                <a:spcBef>
                  <a:spcPts val="0"/>
                </a:spcBef>
                <a:spcAft>
                  <a:spcPts val="80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India can cater to this global boom aided by export incentives spurring investment</a:t>
              </a:r>
            </a:p>
          </p:txBody>
        </p:sp>
      </p:grpSp>
      <p:sp>
        <p:nvSpPr>
          <p:cNvPr id="1127" name="Rectangle 1126">
            <a:extLst>
              <a:ext uri="{FF2B5EF4-FFF2-40B4-BE49-F238E27FC236}">
                <a16:creationId xmlns:a16="http://schemas.microsoft.com/office/drawing/2014/main" id="{ECD7A8CF-6F09-90AC-9863-242DE2BE2D84}"/>
              </a:ext>
            </a:extLst>
          </p:cNvPr>
          <p:cNvSpPr/>
          <p:nvPr/>
        </p:nvSpPr>
        <p:spPr>
          <a:xfrm>
            <a:off x="8131841" y="1588773"/>
            <a:ext cx="1797462" cy="22167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E- Bikes in India</a:t>
            </a:r>
            <a:endParaRPr lang="en-US" sz="1500" dirty="0"/>
          </a:p>
        </p:txBody>
      </p:sp>
      <p:sp>
        <p:nvSpPr>
          <p:cNvPr id="1129" name="Rectangle 1128">
            <a:extLst>
              <a:ext uri="{FF2B5EF4-FFF2-40B4-BE49-F238E27FC236}">
                <a16:creationId xmlns:a16="http://schemas.microsoft.com/office/drawing/2014/main" id="{FE9F8C2A-AA87-18F6-BC0E-C2A570BC1BEF}"/>
              </a:ext>
            </a:extLst>
          </p:cNvPr>
          <p:cNvSpPr/>
          <p:nvPr/>
        </p:nvSpPr>
        <p:spPr>
          <a:xfrm>
            <a:off x="7930809" y="370014"/>
            <a:ext cx="2199526" cy="21919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Segment Trend in India</a:t>
            </a:r>
          </a:p>
        </p:txBody>
      </p:sp>
      <p:sp>
        <p:nvSpPr>
          <p:cNvPr id="9" name="Rectangle 8">
            <a:extLst>
              <a:ext uri="{FF2B5EF4-FFF2-40B4-BE49-F238E27FC236}">
                <a16:creationId xmlns:a16="http://schemas.microsoft.com/office/drawing/2014/main" id="{EC82EAD6-7C83-88C2-903E-5292E62EE368}"/>
              </a:ext>
            </a:extLst>
          </p:cNvPr>
          <p:cNvSpPr/>
          <p:nvPr/>
        </p:nvSpPr>
        <p:spPr>
          <a:xfrm>
            <a:off x="367506" y="3649880"/>
            <a:ext cx="4886567" cy="24969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Revenue and Profitability trend for manufacturers</a:t>
            </a:r>
          </a:p>
        </p:txBody>
      </p:sp>
      <p:sp>
        <p:nvSpPr>
          <p:cNvPr id="10" name="Rectangle 9">
            <a:extLst>
              <a:ext uri="{FF2B5EF4-FFF2-40B4-BE49-F238E27FC236}">
                <a16:creationId xmlns:a16="http://schemas.microsoft.com/office/drawing/2014/main" id="{828EF0DB-62A8-6DFE-4459-A4BC7229F28C}"/>
              </a:ext>
            </a:extLst>
          </p:cNvPr>
          <p:cNvSpPr/>
          <p:nvPr/>
        </p:nvSpPr>
        <p:spPr>
          <a:xfrm>
            <a:off x="6360998" y="3082626"/>
            <a:ext cx="4886567" cy="24969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t>Assessing the Market Potential </a:t>
            </a:r>
          </a:p>
        </p:txBody>
      </p:sp>
      <p:grpSp>
        <p:nvGrpSpPr>
          <p:cNvPr id="40" name="Group 39">
            <a:extLst>
              <a:ext uri="{FF2B5EF4-FFF2-40B4-BE49-F238E27FC236}">
                <a16:creationId xmlns:a16="http://schemas.microsoft.com/office/drawing/2014/main" id="{D58AD2B9-313C-FFDC-985F-C1754F67C05C}"/>
              </a:ext>
            </a:extLst>
          </p:cNvPr>
          <p:cNvGrpSpPr/>
          <p:nvPr/>
        </p:nvGrpSpPr>
        <p:grpSpPr>
          <a:xfrm>
            <a:off x="7530525" y="6309822"/>
            <a:ext cx="3255662" cy="281782"/>
            <a:chOff x="7530525" y="6169857"/>
            <a:chExt cx="3255662" cy="281782"/>
          </a:xfrm>
        </p:grpSpPr>
        <p:grpSp>
          <p:nvGrpSpPr>
            <p:cNvPr id="29" name="Group 28">
              <a:extLst>
                <a:ext uri="{FF2B5EF4-FFF2-40B4-BE49-F238E27FC236}">
                  <a16:creationId xmlns:a16="http://schemas.microsoft.com/office/drawing/2014/main" id="{AEB3E885-E855-6DAA-0B9D-BA9B5D845121}"/>
                </a:ext>
              </a:extLst>
            </p:cNvPr>
            <p:cNvGrpSpPr/>
            <p:nvPr/>
          </p:nvGrpSpPr>
          <p:grpSpPr>
            <a:xfrm>
              <a:off x="7530525" y="6174640"/>
              <a:ext cx="724629" cy="276999"/>
              <a:chOff x="7530525" y="6174640"/>
              <a:chExt cx="724629" cy="276999"/>
            </a:xfrm>
          </p:grpSpPr>
          <p:sp>
            <p:nvSpPr>
              <p:cNvPr id="19" name="Oval 18">
                <a:extLst>
                  <a:ext uri="{FF2B5EF4-FFF2-40B4-BE49-F238E27FC236}">
                    <a16:creationId xmlns:a16="http://schemas.microsoft.com/office/drawing/2014/main" id="{C187AAC8-9A41-3605-DFA4-125373F7B689}"/>
                  </a:ext>
                </a:extLst>
              </p:cNvPr>
              <p:cNvSpPr/>
              <p:nvPr/>
            </p:nvSpPr>
            <p:spPr>
              <a:xfrm>
                <a:off x="7530525" y="6232703"/>
                <a:ext cx="152590" cy="170464"/>
              </a:xfrm>
              <a:prstGeom prst="ellipse">
                <a:avLst/>
              </a:prstGeom>
              <a:solidFill>
                <a:srgbClr val="33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4C012382-7671-75F3-A2A6-A1D555E66D1E}"/>
                  </a:ext>
                </a:extLst>
              </p:cNvPr>
              <p:cNvSpPr txBox="1"/>
              <p:nvPr/>
            </p:nvSpPr>
            <p:spPr>
              <a:xfrm>
                <a:off x="7611410" y="6174640"/>
                <a:ext cx="643744" cy="276999"/>
              </a:xfrm>
              <a:prstGeom prst="rect">
                <a:avLst/>
              </a:prstGeom>
              <a:noFill/>
            </p:spPr>
            <p:txBody>
              <a:bodyPr wrap="square" rtlCol="0">
                <a:spAutoFit/>
              </a:bodyPr>
              <a:lstStyle/>
              <a:p>
                <a:r>
                  <a:rPr lang="en-IN" sz="1200" dirty="0"/>
                  <a:t>E-Bikes</a:t>
                </a:r>
              </a:p>
            </p:txBody>
          </p:sp>
        </p:grpSp>
        <p:grpSp>
          <p:nvGrpSpPr>
            <p:cNvPr id="31" name="Group 30">
              <a:extLst>
                <a:ext uri="{FF2B5EF4-FFF2-40B4-BE49-F238E27FC236}">
                  <a16:creationId xmlns:a16="http://schemas.microsoft.com/office/drawing/2014/main" id="{F18F3657-0BEC-DB08-2417-6AA4AB84AFD9}"/>
                </a:ext>
              </a:extLst>
            </p:cNvPr>
            <p:cNvGrpSpPr/>
            <p:nvPr/>
          </p:nvGrpSpPr>
          <p:grpSpPr>
            <a:xfrm>
              <a:off x="8329140" y="6174640"/>
              <a:ext cx="724629" cy="276999"/>
              <a:chOff x="7530525" y="6174640"/>
              <a:chExt cx="724629" cy="276999"/>
            </a:xfrm>
          </p:grpSpPr>
          <p:sp>
            <p:nvSpPr>
              <p:cNvPr id="32" name="Oval 31">
                <a:extLst>
                  <a:ext uri="{FF2B5EF4-FFF2-40B4-BE49-F238E27FC236}">
                    <a16:creationId xmlns:a16="http://schemas.microsoft.com/office/drawing/2014/main" id="{A1658450-2FCF-CCE0-8052-C222C0F91CD2}"/>
                  </a:ext>
                </a:extLst>
              </p:cNvPr>
              <p:cNvSpPr/>
              <p:nvPr/>
            </p:nvSpPr>
            <p:spPr>
              <a:xfrm>
                <a:off x="7530525" y="6232703"/>
                <a:ext cx="152590" cy="17046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6DB1DE4F-BB71-2639-F83D-22A7F2C84444}"/>
                  </a:ext>
                </a:extLst>
              </p:cNvPr>
              <p:cNvSpPr txBox="1"/>
              <p:nvPr/>
            </p:nvSpPr>
            <p:spPr>
              <a:xfrm>
                <a:off x="7611410" y="6174640"/>
                <a:ext cx="643744" cy="276999"/>
              </a:xfrm>
              <a:prstGeom prst="rect">
                <a:avLst/>
              </a:prstGeom>
              <a:noFill/>
            </p:spPr>
            <p:txBody>
              <a:bodyPr wrap="square" rtlCol="0">
                <a:spAutoFit/>
              </a:bodyPr>
              <a:lstStyle/>
              <a:p>
                <a:r>
                  <a:rPr lang="en-IN" sz="1200" dirty="0"/>
                  <a:t>Kids</a:t>
                </a:r>
              </a:p>
            </p:txBody>
          </p:sp>
        </p:grpSp>
        <p:grpSp>
          <p:nvGrpSpPr>
            <p:cNvPr id="34" name="Group 33">
              <a:extLst>
                <a:ext uri="{FF2B5EF4-FFF2-40B4-BE49-F238E27FC236}">
                  <a16:creationId xmlns:a16="http://schemas.microsoft.com/office/drawing/2014/main" id="{3E13E5BB-EFB0-2F82-3142-9175A8366722}"/>
                </a:ext>
              </a:extLst>
            </p:cNvPr>
            <p:cNvGrpSpPr/>
            <p:nvPr/>
          </p:nvGrpSpPr>
          <p:grpSpPr>
            <a:xfrm>
              <a:off x="8943853" y="6169858"/>
              <a:ext cx="866753" cy="276999"/>
              <a:chOff x="7530525" y="6174640"/>
              <a:chExt cx="866753" cy="276999"/>
            </a:xfrm>
          </p:grpSpPr>
          <p:sp>
            <p:nvSpPr>
              <p:cNvPr id="35" name="Oval 34">
                <a:extLst>
                  <a:ext uri="{FF2B5EF4-FFF2-40B4-BE49-F238E27FC236}">
                    <a16:creationId xmlns:a16="http://schemas.microsoft.com/office/drawing/2014/main" id="{D0F108A5-2BAD-762A-7FDF-27DFC87C6022}"/>
                  </a:ext>
                </a:extLst>
              </p:cNvPr>
              <p:cNvSpPr/>
              <p:nvPr/>
            </p:nvSpPr>
            <p:spPr>
              <a:xfrm>
                <a:off x="7530525" y="6232703"/>
                <a:ext cx="152590" cy="17046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BF10CB95-C4FC-ABB2-4433-BFFB4982B1F5}"/>
                  </a:ext>
                </a:extLst>
              </p:cNvPr>
              <p:cNvSpPr txBox="1"/>
              <p:nvPr/>
            </p:nvSpPr>
            <p:spPr>
              <a:xfrm>
                <a:off x="7611409" y="6174640"/>
                <a:ext cx="785869" cy="276999"/>
              </a:xfrm>
              <a:prstGeom prst="rect">
                <a:avLst/>
              </a:prstGeom>
              <a:noFill/>
            </p:spPr>
            <p:txBody>
              <a:bodyPr wrap="square" rtlCol="0">
                <a:spAutoFit/>
              </a:bodyPr>
              <a:lstStyle/>
              <a:p>
                <a:r>
                  <a:rPr lang="en-IN" sz="1200" dirty="0"/>
                  <a:t>Premium</a:t>
                </a:r>
              </a:p>
            </p:txBody>
          </p:sp>
        </p:grpSp>
        <p:grpSp>
          <p:nvGrpSpPr>
            <p:cNvPr id="37" name="Group 36">
              <a:extLst>
                <a:ext uri="{FF2B5EF4-FFF2-40B4-BE49-F238E27FC236}">
                  <a16:creationId xmlns:a16="http://schemas.microsoft.com/office/drawing/2014/main" id="{5E7F86D8-6012-3E80-7AB6-04EE389BBC3C}"/>
                </a:ext>
              </a:extLst>
            </p:cNvPr>
            <p:cNvGrpSpPr/>
            <p:nvPr/>
          </p:nvGrpSpPr>
          <p:grpSpPr>
            <a:xfrm>
              <a:off x="9772396" y="6169857"/>
              <a:ext cx="1013791" cy="276999"/>
              <a:chOff x="7614504" y="6174640"/>
              <a:chExt cx="1013791" cy="276999"/>
            </a:xfrm>
          </p:grpSpPr>
          <p:sp>
            <p:nvSpPr>
              <p:cNvPr id="38" name="Oval 37">
                <a:extLst>
                  <a:ext uri="{FF2B5EF4-FFF2-40B4-BE49-F238E27FC236}">
                    <a16:creationId xmlns:a16="http://schemas.microsoft.com/office/drawing/2014/main" id="{679D68F6-7CCC-C6D8-FFA2-1A1CA65076C2}"/>
                  </a:ext>
                </a:extLst>
              </p:cNvPr>
              <p:cNvSpPr/>
              <p:nvPr/>
            </p:nvSpPr>
            <p:spPr>
              <a:xfrm>
                <a:off x="7614504" y="6232703"/>
                <a:ext cx="152590" cy="170464"/>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243696EB-E325-85EC-3913-D0FCE78077FE}"/>
                  </a:ext>
                </a:extLst>
              </p:cNvPr>
              <p:cNvSpPr txBox="1"/>
              <p:nvPr/>
            </p:nvSpPr>
            <p:spPr>
              <a:xfrm>
                <a:off x="7695388" y="6174640"/>
                <a:ext cx="932907" cy="276999"/>
              </a:xfrm>
              <a:prstGeom prst="rect">
                <a:avLst/>
              </a:prstGeom>
              <a:noFill/>
            </p:spPr>
            <p:txBody>
              <a:bodyPr wrap="square" rtlCol="0">
                <a:spAutoFit/>
              </a:bodyPr>
              <a:lstStyle/>
              <a:p>
                <a:r>
                  <a:rPr lang="en-IN" sz="1200" dirty="0"/>
                  <a:t>Roadster</a:t>
                </a:r>
              </a:p>
            </p:txBody>
          </p:sp>
        </p:grpSp>
      </p:grpSp>
      <p:grpSp>
        <p:nvGrpSpPr>
          <p:cNvPr id="1052" name="Group 1051">
            <a:extLst>
              <a:ext uri="{FF2B5EF4-FFF2-40B4-BE49-F238E27FC236}">
                <a16:creationId xmlns:a16="http://schemas.microsoft.com/office/drawing/2014/main" id="{E8F33D02-8C5D-65DB-8876-CD82721EC2D5}"/>
              </a:ext>
            </a:extLst>
          </p:cNvPr>
          <p:cNvGrpSpPr/>
          <p:nvPr/>
        </p:nvGrpSpPr>
        <p:grpSpPr>
          <a:xfrm>
            <a:off x="10828288" y="4135512"/>
            <a:ext cx="1149250" cy="2381548"/>
            <a:chOff x="10901081" y="3992227"/>
            <a:chExt cx="1149250" cy="2381548"/>
          </a:xfrm>
        </p:grpSpPr>
        <p:sp>
          <p:nvSpPr>
            <p:cNvPr id="1094" name="TextBox 1093">
              <a:extLst>
                <a:ext uri="{FF2B5EF4-FFF2-40B4-BE49-F238E27FC236}">
                  <a16:creationId xmlns:a16="http://schemas.microsoft.com/office/drawing/2014/main" id="{0B78BC03-D71F-23A9-FD4B-A4BD8D4A7356}"/>
                </a:ext>
              </a:extLst>
            </p:cNvPr>
            <p:cNvSpPr txBox="1"/>
            <p:nvPr/>
          </p:nvSpPr>
          <p:spPr>
            <a:xfrm>
              <a:off x="10901081" y="6065998"/>
              <a:ext cx="1083652" cy="307777"/>
            </a:xfrm>
            <a:prstGeom prst="rect">
              <a:avLst/>
            </a:prstGeom>
            <a:noFill/>
          </p:spPr>
          <p:txBody>
            <a:bodyPr wrap="square">
              <a:spAutoFit/>
            </a:bodyPr>
            <a:lstStyle/>
            <a:p>
              <a:pPr algn="ctr"/>
              <a:r>
                <a:rPr lang="en-IN" sz="1400" dirty="0"/>
                <a:t>(FY2030)</a:t>
              </a:r>
            </a:p>
          </p:txBody>
        </p:sp>
        <p:grpSp>
          <p:nvGrpSpPr>
            <p:cNvPr id="42" name="Group 41">
              <a:extLst>
                <a:ext uri="{FF2B5EF4-FFF2-40B4-BE49-F238E27FC236}">
                  <a16:creationId xmlns:a16="http://schemas.microsoft.com/office/drawing/2014/main" id="{C3F18A6C-51BD-43B8-97DA-2E567C992FCE}"/>
                </a:ext>
              </a:extLst>
            </p:cNvPr>
            <p:cNvGrpSpPr/>
            <p:nvPr/>
          </p:nvGrpSpPr>
          <p:grpSpPr>
            <a:xfrm>
              <a:off x="10955604" y="3992227"/>
              <a:ext cx="1094727" cy="2087498"/>
              <a:chOff x="10966175" y="3871299"/>
              <a:chExt cx="1094727" cy="2087498"/>
            </a:xfrm>
          </p:grpSpPr>
          <p:pic>
            <p:nvPicPr>
              <p:cNvPr id="1091" name="Picture 1090">
                <a:extLst>
                  <a:ext uri="{FF2B5EF4-FFF2-40B4-BE49-F238E27FC236}">
                    <a16:creationId xmlns:a16="http://schemas.microsoft.com/office/drawing/2014/main" id="{BEC2BD4D-DE3E-C67E-3B0B-B6C903B0B795}"/>
                  </a:ext>
                </a:extLst>
              </p:cNvPr>
              <p:cNvPicPr>
                <a:picLocks noChangeAspect="1"/>
              </p:cNvPicPr>
              <p:nvPr/>
            </p:nvPicPr>
            <p:blipFill>
              <a:blip r:embed="rId13"/>
              <a:stretch>
                <a:fillRect/>
              </a:stretch>
            </p:blipFill>
            <p:spPr>
              <a:xfrm>
                <a:off x="11082465" y="3871299"/>
                <a:ext cx="742029" cy="2068488"/>
              </a:xfrm>
              <a:prstGeom prst="rect">
                <a:avLst/>
              </a:prstGeom>
            </p:spPr>
          </p:pic>
          <p:sp>
            <p:nvSpPr>
              <p:cNvPr id="1107" name="TextBox 1106">
                <a:extLst>
                  <a:ext uri="{FF2B5EF4-FFF2-40B4-BE49-F238E27FC236}">
                    <a16:creationId xmlns:a16="http://schemas.microsoft.com/office/drawing/2014/main" id="{C0FB6E0C-EC9A-DE60-E506-B663DA2C7D13}"/>
                  </a:ext>
                </a:extLst>
              </p:cNvPr>
              <p:cNvSpPr txBox="1"/>
              <p:nvPr/>
            </p:nvSpPr>
            <p:spPr>
              <a:xfrm>
                <a:off x="10966177" y="5620243"/>
                <a:ext cx="1083652" cy="338554"/>
              </a:xfrm>
              <a:prstGeom prst="rect">
                <a:avLst/>
              </a:prstGeom>
              <a:noFill/>
            </p:spPr>
            <p:txBody>
              <a:bodyPr wrap="square">
                <a:spAutoFit/>
              </a:bodyPr>
              <a:lstStyle/>
              <a:p>
                <a:pPr algn="ctr"/>
                <a:r>
                  <a:rPr lang="en-IN" sz="1600" b="1" dirty="0"/>
                  <a:t>10%</a:t>
                </a:r>
              </a:p>
            </p:txBody>
          </p:sp>
          <p:sp>
            <p:nvSpPr>
              <p:cNvPr id="1108" name="TextBox 1107">
                <a:extLst>
                  <a:ext uri="{FF2B5EF4-FFF2-40B4-BE49-F238E27FC236}">
                    <a16:creationId xmlns:a16="http://schemas.microsoft.com/office/drawing/2014/main" id="{C2C9A071-E46D-5C05-C095-B989CE9D33DA}"/>
                  </a:ext>
                </a:extLst>
              </p:cNvPr>
              <p:cNvSpPr txBox="1"/>
              <p:nvPr/>
            </p:nvSpPr>
            <p:spPr>
              <a:xfrm>
                <a:off x="10966176" y="4011926"/>
                <a:ext cx="1083652" cy="338554"/>
              </a:xfrm>
              <a:prstGeom prst="rect">
                <a:avLst/>
              </a:prstGeom>
              <a:noFill/>
            </p:spPr>
            <p:txBody>
              <a:bodyPr wrap="square">
                <a:spAutoFit/>
              </a:bodyPr>
              <a:lstStyle/>
              <a:p>
                <a:pPr algn="ctr"/>
                <a:r>
                  <a:rPr lang="en-IN" sz="1600" b="1" dirty="0"/>
                  <a:t>30%</a:t>
                </a:r>
              </a:p>
            </p:txBody>
          </p:sp>
          <p:sp>
            <p:nvSpPr>
              <p:cNvPr id="1109" name="TextBox 1108">
                <a:extLst>
                  <a:ext uri="{FF2B5EF4-FFF2-40B4-BE49-F238E27FC236}">
                    <a16:creationId xmlns:a16="http://schemas.microsoft.com/office/drawing/2014/main" id="{EB8706DB-C530-F4AE-EA2C-ECF11DD32D9B}"/>
                  </a:ext>
                </a:extLst>
              </p:cNvPr>
              <p:cNvSpPr txBox="1"/>
              <p:nvPr/>
            </p:nvSpPr>
            <p:spPr>
              <a:xfrm>
                <a:off x="10977250" y="4397145"/>
                <a:ext cx="1083652" cy="338554"/>
              </a:xfrm>
              <a:prstGeom prst="rect">
                <a:avLst/>
              </a:prstGeom>
              <a:noFill/>
            </p:spPr>
            <p:txBody>
              <a:bodyPr wrap="square">
                <a:spAutoFit/>
              </a:bodyPr>
              <a:lstStyle/>
              <a:p>
                <a:pPr algn="ctr"/>
                <a:r>
                  <a:rPr lang="en-IN" sz="1600" b="1" dirty="0"/>
                  <a:t>5%</a:t>
                </a:r>
              </a:p>
            </p:txBody>
          </p:sp>
          <p:sp>
            <p:nvSpPr>
              <p:cNvPr id="1110" name="TextBox 1109">
                <a:extLst>
                  <a:ext uri="{FF2B5EF4-FFF2-40B4-BE49-F238E27FC236}">
                    <a16:creationId xmlns:a16="http://schemas.microsoft.com/office/drawing/2014/main" id="{A42D0344-88E6-121C-D8E4-4B6D26E8C8B4}"/>
                  </a:ext>
                </a:extLst>
              </p:cNvPr>
              <p:cNvSpPr txBox="1"/>
              <p:nvPr/>
            </p:nvSpPr>
            <p:spPr>
              <a:xfrm>
                <a:off x="10966175" y="4923431"/>
                <a:ext cx="1083652" cy="338554"/>
              </a:xfrm>
              <a:prstGeom prst="rect">
                <a:avLst/>
              </a:prstGeom>
              <a:noFill/>
            </p:spPr>
            <p:txBody>
              <a:bodyPr wrap="square">
                <a:spAutoFit/>
              </a:bodyPr>
              <a:lstStyle/>
              <a:p>
                <a:pPr algn="ctr"/>
                <a:r>
                  <a:rPr lang="en-IN" sz="1600" b="1" dirty="0"/>
                  <a:t>55%</a:t>
                </a:r>
              </a:p>
            </p:txBody>
          </p:sp>
        </p:grpSp>
      </p:grpSp>
      <p:sp>
        <p:nvSpPr>
          <p:cNvPr id="43" name="TextBox 42">
            <a:extLst>
              <a:ext uri="{FF2B5EF4-FFF2-40B4-BE49-F238E27FC236}">
                <a16:creationId xmlns:a16="http://schemas.microsoft.com/office/drawing/2014/main" id="{CB1CC791-7933-2F1C-192D-50E74DAEB465}"/>
              </a:ext>
            </a:extLst>
          </p:cNvPr>
          <p:cNvSpPr txBox="1"/>
          <p:nvPr/>
        </p:nvSpPr>
        <p:spPr>
          <a:xfrm>
            <a:off x="10650043" y="3371290"/>
            <a:ext cx="1386304" cy="738664"/>
          </a:xfrm>
          <a:prstGeom prst="rect">
            <a:avLst/>
          </a:prstGeom>
          <a:noFill/>
          <a:ln>
            <a:solidFill>
              <a:schemeClr val="accent2">
                <a:lumMod val="75000"/>
              </a:schemeClr>
            </a:solidFill>
          </a:ln>
        </p:spPr>
        <p:txBody>
          <a:bodyPr wrap="square">
            <a:spAutoFit/>
          </a:bodyPr>
          <a:lstStyle/>
          <a:p>
            <a:pPr algn="ctr"/>
            <a:r>
              <a:rPr lang="en-IN" sz="1400" b="1" dirty="0"/>
              <a:t>Market Size: $3.5 Bn</a:t>
            </a:r>
          </a:p>
          <a:p>
            <a:pPr algn="ctr"/>
            <a:r>
              <a:rPr lang="en-IN" sz="1400" b="1" dirty="0"/>
              <a:t>Exports: 15-20%</a:t>
            </a:r>
          </a:p>
        </p:txBody>
      </p:sp>
      <p:grpSp>
        <p:nvGrpSpPr>
          <p:cNvPr id="50" name="Group 49">
            <a:extLst>
              <a:ext uri="{FF2B5EF4-FFF2-40B4-BE49-F238E27FC236}">
                <a16:creationId xmlns:a16="http://schemas.microsoft.com/office/drawing/2014/main" id="{863C04FF-D6F7-630F-599E-58AA5C2890C6}"/>
              </a:ext>
            </a:extLst>
          </p:cNvPr>
          <p:cNvGrpSpPr/>
          <p:nvPr/>
        </p:nvGrpSpPr>
        <p:grpSpPr>
          <a:xfrm rot="21360896">
            <a:off x="7135940" y="3467718"/>
            <a:ext cx="3464449" cy="712916"/>
            <a:chOff x="7070047" y="4396130"/>
            <a:chExt cx="3776495" cy="712916"/>
          </a:xfrm>
        </p:grpSpPr>
        <p:sp>
          <p:nvSpPr>
            <p:cNvPr id="1087" name="Arrow: Up 1086">
              <a:extLst>
                <a:ext uri="{FF2B5EF4-FFF2-40B4-BE49-F238E27FC236}">
                  <a16:creationId xmlns:a16="http://schemas.microsoft.com/office/drawing/2014/main" id="{281A6D01-4C6A-2518-04A4-91E6C5FAFFE9}"/>
                </a:ext>
              </a:extLst>
            </p:cNvPr>
            <p:cNvSpPr/>
            <p:nvPr/>
          </p:nvSpPr>
          <p:spPr>
            <a:xfrm rot="5400000">
              <a:off x="8714824" y="2977328"/>
              <a:ext cx="552099" cy="3711337"/>
            </a:xfrm>
            <a:prstGeom prst="upArrow">
              <a:avLst/>
            </a:prstGeom>
            <a:solidFill>
              <a:schemeClr val="bg1"/>
            </a:solidFill>
            <a:ln w="19050">
              <a:solidFill>
                <a:schemeClr val="accent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DEF3691D-3B87-7785-FE80-A114E0496678}"/>
                </a:ext>
              </a:extLst>
            </p:cNvPr>
            <p:cNvSpPr txBox="1"/>
            <p:nvPr/>
          </p:nvSpPr>
          <p:spPr>
            <a:xfrm>
              <a:off x="7070047" y="4396130"/>
              <a:ext cx="3711442" cy="307777"/>
            </a:xfrm>
            <a:prstGeom prst="rect">
              <a:avLst/>
            </a:prstGeom>
            <a:noFill/>
          </p:spPr>
          <p:txBody>
            <a:bodyPr wrap="square" rtlCol="0">
              <a:spAutoFit/>
            </a:bodyPr>
            <a:lstStyle/>
            <a:p>
              <a:pPr algn="ctr"/>
              <a:r>
                <a:rPr lang="en-IN" sz="1400" b="1" dirty="0"/>
                <a:t>~3x</a:t>
              </a:r>
              <a:r>
                <a:rPr lang="en-IN" sz="1400" dirty="0"/>
                <a:t> increase in Market size </a:t>
              </a:r>
            </a:p>
          </p:txBody>
        </p:sp>
      </p:grpSp>
      <p:grpSp>
        <p:nvGrpSpPr>
          <p:cNvPr id="1033" name="Group 1032">
            <a:extLst>
              <a:ext uri="{FF2B5EF4-FFF2-40B4-BE49-F238E27FC236}">
                <a16:creationId xmlns:a16="http://schemas.microsoft.com/office/drawing/2014/main" id="{51E50A3A-B938-6BD5-1C2B-198D3A6D6AF4}"/>
              </a:ext>
            </a:extLst>
          </p:cNvPr>
          <p:cNvGrpSpPr/>
          <p:nvPr/>
        </p:nvGrpSpPr>
        <p:grpSpPr>
          <a:xfrm>
            <a:off x="7221802" y="4485914"/>
            <a:ext cx="3491393" cy="1700670"/>
            <a:chOff x="3424336" y="1250302"/>
            <a:chExt cx="3480318" cy="1800808"/>
          </a:xfrm>
        </p:grpSpPr>
        <p:sp>
          <p:nvSpPr>
            <p:cNvPr id="1037" name="Rectangle 1036">
              <a:extLst>
                <a:ext uri="{FF2B5EF4-FFF2-40B4-BE49-F238E27FC236}">
                  <a16:creationId xmlns:a16="http://schemas.microsoft.com/office/drawing/2014/main" id="{F8B4B57F-8107-90F4-E87F-ADD3466E99B5}"/>
                </a:ext>
              </a:extLst>
            </p:cNvPr>
            <p:cNvSpPr/>
            <p:nvPr/>
          </p:nvSpPr>
          <p:spPr>
            <a:xfrm>
              <a:off x="3424336" y="1250302"/>
              <a:ext cx="3480318" cy="1800808"/>
            </a:xfrm>
            <a:prstGeom prst="rect">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39" name="Group 1038">
              <a:extLst>
                <a:ext uri="{FF2B5EF4-FFF2-40B4-BE49-F238E27FC236}">
                  <a16:creationId xmlns:a16="http://schemas.microsoft.com/office/drawing/2014/main" id="{A77D30E1-1CA3-700B-2E5A-CDF99C947392}"/>
                </a:ext>
              </a:extLst>
            </p:cNvPr>
            <p:cNvGrpSpPr/>
            <p:nvPr/>
          </p:nvGrpSpPr>
          <p:grpSpPr>
            <a:xfrm>
              <a:off x="3605026" y="1376012"/>
              <a:ext cx="3170111" cy="1553939"/>
              <a:chOff x="7771095" y="4361691"/>
              <a:chExt cx="3170111" cy="1553939"/>
            </a:xfrm>
          </p:grpSpPr>
          <p:grpSp>
            <p:nvGrpSpPr>
              <p:cNvPr id="1040" name="Group 1039">
                <a:extLst>
                  <a:ext uri="{FF2B5EF4-FFF2-40B4-BE49-F238E27FC236}">
                    <a16:creationId xmlns:a16="http://schemas.microsoft.com/office/drawing/2014/main" id="{5792C339-B854-7F04-CE53-A732F4726C9C}"/>
                  </a:ext>
                </a:extLst>
              </p:cNvPr>
              <p:cNvGrpSpPr/>
              <p:nvPr/>
            </p:nvGrpSpPr>
            <p:grpSpPr>
              <a:xfrm>
                <a:off x="7771095" y="4361691"/>
                <a:ext cx="2359240" cy="360746"/>
                <a:chOff x="7771095" y="4361691"/>
                <a:chExt cx="2359240" cy="360746"/>
              </a:xfrm>
            </p:grpSpPr>
            <p:pic>
              <p:nvPicPr>
                <p:cNvPr id="1050" name="Picture 2" descr="Gig economy ">
                  <a:extLst>
                    <a:ext uri="{FF2B5EF4-FFF2-40B4-BE49-F238E27FC236}">
                      <a16:creationId xmlns:a16="http://schemas.microsoft.com/office/drawing/2014/main" id="{974800F4-C2DD-5F74-CF10-D6784715BFF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1095" y="4361691"/>
                  <a:ext cx="360746" cy="360746"/>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51" name="TextBox 1050">
                  <a:extLst>
                    <a:ext uri="{FF2B5EF4-FFF2-40B4-BE49-F238E27FC236}">
                      <a16:creationId xmlns:a16="http://schemas.microsoft.com/office/drawing/2014/main" id="{886BFE77-C6E5-67BA-2FB7-91FEB84142BD}"/>
                    </a:ext>
                  </a:extLst>
                </p:cNvPr>
                <p:cNvSpPr txBox="1"/>
                <p:nvPr/>
              </p:nvSpPr>
              <p:spPr>
                <a:xfrm>
                  <a:off x="8105676" y="4379573"/>
                  <a:ext cx="2024659" cy="307777"/>
                </a:xfrm>
                <a:prstGeom prst="rect">
                  <a:avLst/>
                </a:prstGeom>
                <a:noFill/>
                <a:ln>
                  <a:noFill/>
                </a:ln>
              </p:spPr>
              <p:txBody>
                <a:bodyPr wrap="square" rtlCol="0">
                  <a:spAutoFit/>
                </a:bodyPr>
                <a:lstStyle/>
                <a:p>
                  <a:r>
                    <a:rPr lang="en-IN" sz="1400" dirty="0"/>
                    <a:t>Rise in gig economy jobs</a:t>
                  </a:r>
                </a:p>
              </p:txBody>
            </p:sp>
          </p:grpSp>
          <p:grpSp>
            <p:nvGrpSpPr>
              <p:cNvPr id="1041" name="Group 1040">
                <a:extLst>
                  <a:ext uri="{FF2B5EF4-FFF2-40B4-BE49-F238E27FC236}">
                    <a16:creationId xmlns:a16="http://schemas.microsoft.com/office/drawing/2014/main" id="{F5F41E8C-E9EC-6406-F5B7-62971B7761E9}"/>
                  </a:ext>
                </a:extLst>
              </p:cNvPr>
              <p:cNvGrpSpPr/>
              <p:nvPr/>
            </p:nvGrpSpPr>
            <p:grpSpPr>
              <a:xfrm>
                <a:off x="7777919" y="4785007"/>
                <a:ext cx="3157055" cy="360746"/>
                <a:chOff x="7813606" y="4849856"/>
                <a:chExt cx="3157055" cy="360746"/>
              </a:xfrm>
            </p:grpSpPr>
            <p:pic>
              <p:nvPicPr>
                <p:cNvPr id="1048" name="Picture 4" descr="Maintenance ">
                  <a:extLst>
                    <a:ext uri="{FF2B5EF4-FFF2-40B4-BE49-F238E27FC236}">
                      <a16:creationId xmlns:a16="http://schemas.microsoft.com/office/drawing/2014/main" id="{743DBD86-AFA2-3FA6-BCBB-757E784A131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13606" y="4849856"/>
                  <a:ext cx="360746" cy="360746"/>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49" name="TextBox 1048">
                  <a:extLst>
                    <a:ext uri="{FF2B5EF4-FFF2-40B4-BE49-F238E27FC236}">
                      <a16:creationId xmlns:a16="http://schemas.microsoft.com/office/drawing/2014/main" id="{8B360AC3-46E8-09E6-B8EF-A843516F9876}"/>
                    </a:ext>
                  </a:extLst>
                </p:cNvPr>
                <p:cNvSpPr txBox="1"/>
                <p:nvPr/>
              </p:nvSpPr>
              <p:spPr>
                <a:xfrm>
                  <a:off x="8129559" y="4883906"/>
                  <a:ext cx="2841102" cy="307777"/>
                </a:xfrm>
                <a:prstGeom prst="rect">
                  <a:avLst/>
                </a:prstGeom>
                <a:noFill/>
                <a:ln>
                  <a:noFill/>
                </a:ln>
              </p:spPr>
              <p:txBody>
                <a:bodyPr wrap="square" rtlCol="0">
                  <a:spAutoFit/>
                </a:bodyPr>
                <a:lstStyle/>
                <a:p>
                  <a:r>
                    <a:rPr lang="en-IN" sz="1400" dirty="0"/>
                    <a:t>Thrust on indigenization and exports</a:t>
                  </a:r>
                </a:p>
              </p:txBody>
            </p:sp>
          </p:grpSp>
          <p:grpSp>
            <p:nvGrpSpPr>
              <p:cNvPr id="1042" name="Group 1041">
                <a:extLst>
                  <a:ext uri="{FF2B5EF4-FFF2-40B4-BE49-F238E27FC236}">
                    <a16:creationId xmlns:a16="http://schemas.microsoft.com/office/drawing/2014/main" id="{89784EA8-D2C4-2E03-6CED-F87D89EB3CCC}"/>
                  </a:ext>
                </a:extLst>
              </p:cNvPr>
              <p:cNvGrpSpPr/>
              <p:nvPr/>
            </p:nvGrpSpPr>
            <p:grpSpPr>
              <a:xfrm>
                <a:off x="7799417" y="5180779"/>
                <a:ext cx="3137135" cy="360745"/>
                <a:chOff x="7799417" y="5180779"/>
                <a:chExt cx="3137135" cy="360745"/>
              </a:xfrm>
            </p:grpSpPr>
            <p:pic>
              <p:nvPicPr>
                <p:cNvPr id="1046" name="Picture 6" descr="Sustainable ">
                  <a:extLst>
                    <a:ext uri="{FF2B5EF4-FFF2-40B4-BE49-F238E27FC236}">
                      <a16:creationId xmlns:a16="http://schemas.microsoft.com/office/drawing/2014/main" id="{69CB40C1-4CD2-2AC0-D42F-85D7113913C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99417" y="5180779"/>
                  <a:ext cx="360745" cy="36074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47" name="TextBox 1046">
                  <a:extLst>
                    <a:ext uri="{FF2B5EF4-FFF2-40B4-BE49-F238E27FC236}">
                      <a16:creationId xmlns:a16="http://schemas.microsoft.com/office/drawing/2014/main" id="{8A48B481-5FB2-85D1-9931-90DAA9BF0D22}"/>
                    </a:ext>
                  </a:extLst>
                </p:cNvPr>
                <p:cNvSpPr txBox="1"/>
                <p:nvPr/>
              </p:nvSpPr>
              <p:spPr>
                <a:xfrm>
                  <a:off x="8095450" y="5204459"/>
                  <a:ext cx="2841102" cy="307777"/>
                </a:xfrm>
                <a:prstGeom prst="rect">
                  <a:avLst/>
                </a:prstGeom>
                <a:noFill/>
                <a:ln>
                  <a:noFill/>
                </a:ln>
              </p:spPr>
              <p:txBody>
                <a:bodyPr wrap="square" rtlCol="0">
                  <a:spAutoFit/>
                </a:bodyPr>
                <a:lstStyle/>
                <a:p>
                  <a:r>
                    <a:rPr lang="en-IN" sz="1400" dirty="0"/>
                    <a:t>Sustainable Future</a:t>
                  </a:r>
                </a:p>
              </p:txBody>
            </p:sp>
          </p:grpSp>
          <p:grpSp>
            <p:nvGrpSpPr>
              <p:cNvPr id="1043" name="Group 1042">
                <a:extLst>
                  <a:ext uri="{FF2B5EF4-FFF2-40B4-BE49-F238E27FC236}">
                    <a16:creationId xmlns:a16="http://schemas.microsoft.com/office/drawing/2014/main" id="{09165E55-67F0-0870-46D2-56C46F6FE45D}"/>
                  </a:ext>
                </a:extLst>
              </p:cNvPr>
              <p:cNvGrpSpPr/>
              <p:nvPr/>
            </p:nvGrpSpPr>
            <p:grpSpPr>
              <a:xfrm>
                <a:off x="7797061" y="5603739"/>
                <a:ext cx="3144145" cy="311891"/>
                <a:chOff x="7797061" y="5603739"/>
                <a:chExt cx="3144145" cy="311891"/>
              </a:xfrm>
            </p:grpSpPr>
            <p:pic>
              <p:nvPicPr>
                <p:cNvPr id="1044" name="Picture 8" descr="Lifestyle ">
                  <a:extLst>
                    <a:ext uri="{FF2B5EF4-FFF2-40B4-BE49-F238E27FC236}">
                      <a16:creationId xmlns:a16="http://schemas.microsoft.com/office/drawing/2014/main" id="{B26D200D-DB59-9C6A-FB1A-F6D9A5CF82F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797061" y="5603739"/>
                  <a:ext cx="294281" cy="29428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45" name="TextBox 1044">
                  <a:extLst>
                    <a:ext uri="{FF2B5EF4-FFF2-40B4-BE49-F238E27FC236}">
                      <a16:creationId xmlns:a16="http://schemas.microsoft.com/office/drawing/2014/main" id="{1FED0C42-9A44-9D0B-0DB8-5805BBDFF811}"/>
                    </a:ext>
                  </a:extLst>
                </p:cNvPr>
                <p:cNvSpPr txBox="1"/>
                <p:nvPr/>
              </p:nvSpPr>
              <p:spPr>
                <a:xfrm>
                  <a:off x="8100104" y="5607853"/>
                  <a:ext cx="2841102" cy="307777"/>
                </a:xfrm>
                <a:prstGeom prst="rect">
                  <a:avLst/>
                </a:prstGeom>
                <a:noFill/>
                <a:ln>
                  <a:noFill/>
                </a:ln>
              </p:spPr>
              <p:txBody>
                <a:bodyPr wrap="square" rtlCol="0">
                  <a:spAutoFit/>
                </a:bodyPr>
                <a:lstStyle/>
                <a:p>
                  <a:r>
                    <a:rPr lang="en-IN" sz="1400" dirty="0"/>
                    <a:t>Fitness &amp; Lifestyle</a:t>
                  </a:r>
                </a:p>
              </p:txBody>
            </p:sp>
          </p:grpSp>
        </p:grpSp>
      </p:grpSp>
      <p:grpSp>
        <p:nvGrpSpPr>
          <p:cNvPr id="11" name="Group 10">
            <a:extLst>
              <a:ext uri="{FF2B5EF4-FFF2-40B4-BE49-F238E27FC236}">
                <a16:creationId xmlns:a16="http://schemas.microsoft.com/office/drawing/2014/main" id="{330847FF-5D3D-CAC6-479D-23559C21BE55}"/>
              </a:ext>
            </a:extLst>
          </p:cNvPr>
          <p:cNvGrpSpPr/>
          <p:nvPr/>
        </p:nvGrpSpPr>
        <p:grpSpPr>
          <a:xfrm>
            <a:off x="0" y="0"/>
            <a:ext cx="12138132" cy="317241"/>
            <a:chOff x="0" y="0"/>
            <a:chExt cx="10723984" cy="317241"/>
          </a:xfrm>
          <a:solidFill>
            <a:schemeClr val="accent2">
              <a:lumMod val="50000"/>
            </a:schemeClr>
          </a:solidFill>
        </p:grpSpPr>
        <p:sp>
          <p:nvSpPr>
            <p:cNvPr id="12" name="Arrow: Pentagon 11">
              <a:extLst>
                <a:ext uri="{FF2B5EF4-FFF2-40B4-BE49-F238E27FC236}">
                  <a16:creationId xmlns:a16="http://schemas.microsoft.com/office/drawing/2014/main" id="{2E2AA26E-BB28-3495-4591-A4C64C264534}"/>
                </a:ext>
              </a:extLst>
            </p:cNvPr>
            <p:cNvSpPr/>
            <p:nvPr/>
          </p:nvSpPr>
          <p:spPr>
            <a:xfrm>
              <a:off x="0" y="0"/>
              <a:ext cx="2313992" cy="317241"/>
            </a:xfrm>
            <a:prstGeom prst="homePlate">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Market Scenario</a:t>
              </a:r>
            </a:p>
          </p:txBody>
        </p:sp>
        <p:sp>
          <p:nvSpPr>
            <p:cNvPr id="13" name="Arrow: Pentagon 12">
              <a:extLst>
                <a:ext uri="{FF2B5EF4-FFF2-40B4-BE49-F238E27FC236}">
                  <a16:creationId xmlns:a16="http://schemas.microsoft.com/office/drawing/2014/main" id="{C63A02B1-3ACA-61E9-2E67-C198CD34FD25}"/>
                </a:ext>
              </a:extLst>
            </p:cNvPr>
            <p:cNvSpPr/>
            <p:nvPr/>
          </p:nvSpPr>
          <p:spPr>
            <a:xfrm>
              <a:off x="2102498"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About Hades</a:t>
              </a:r>
            </a:p>
          </p:txBody>
        </p:sp>
        <p:sp>
          <p:nvSpPr>
            <p:cNvPr id="14" name="Arrow: Pentagon 13">
              <a:extLst>
                <a:ext uri="{FF2B5EF4-FFF2-40B4-BE49-F238E27FC236}">
                  <a16:creationId xmlns:a16="http://schemas.microsoft.com/office/drawing/2014/main" id="{D58D44C6-B95A-77A2-4513-74A4B275A4F5}"/>
                </a:ext>
              </a:extLst>
            </p:cNvPr>
            <p:cNvSpPr/>
            <p:nvPr/>
          </p:nvSpPr>
          <p:spPr>
            <a:xfrm>
              <a:off x="4204996"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Environment Analysis</a:t>
              </a:r>
            </a:p>
          </p:txBody>
        </p:sp>
        <p:sp>
          <p:nvSpPr>
            <p:cNvPr id="15" name="Arrow: Pentagon 14">
              <a:extLst>
                <a:ext uri="{FF2B5EF4-FFF2-40B4-BE49-F238E27FC236}">
                  <a16:creationId xmlns:a16="http://schemas.microsoft.com/office/drawing/2014/main" id="{C4DFBEC1-2882-BDA6-CF5D-931F3972823C}"/>
                </a:ext>
              </a:extLst>
            </p:cNvPr>
            <p:cNvSpPr/>
            <p:nvPr/>
          </p:nvSpPr>
          <p:spPr>
            <a:xfrm>
              <a:off x="6307494"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Revenue Streams</a:t>
              </a:r>
            </a:p>
          </p:txBody>
        </p:sp>
        <p:sp>
          <p:nvSpPr>
            <p:cNvPr id="16" name="Arrow: Pentagon 15">
              <a:extLst>
                <a:ext uri="{FF2B5EF4-FFF2-40B4-BE49-F238E27FC236}">
                  <a16:creationId xmlns:a16="http://schemas.microsoft.com/office/drawing/2014/main" id="{2DC240F6-78CF-66E7-B826-0077A55BCB44}"/>
                </a:ext>
              </a:extLst>
            </p:cNvPr>
            <p:cNvSpPr/>
            <p:nvPr/>
          </p:nvSpPr>
          <p:spPr>
            <a:xfrm>
              <a:off x="8409992"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Threats</a:t>
              </a:r>
            </a:p>
          </p:txBody>
        </p:sp>
      </p:grpSp>
    </p:spTree>
    <p:extLst>
      <p:ext uri="{BB962C8B-B14F-4D97-AF65-F5344CB8AC3E}">
        <p14:creationId xmlns:p14="http://schemas.microsoft.com/office/powerpoint/2010/main" val="21310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2AC4FF81-7F69-3FF1-8835-377360C7A9F2}"/>
              </a:ext>
            </a:extLst>
          </p:cNvPr>
          <p:cNvGrpSpPr/>
          <p:nvPr/>
        </p:nvGrpSpPr>
        <p:grpSpPr>
          <a:xfrm>
            <a:off x="112540" y="435687"/>
            <a:ext cx="6217920" cy="2845715"/>
            <a:chOff x="506436" y="956192"/>
            <a:chExt cx="6217920" cy="2845715"/>
          </a:xfrm>
          <a:solidFill>
            <a:schemeClr val="accent2">
              <a:lumMod val="60000"/>
              <a:lumOff val="40000"/>
            </a:schemeClr>
          </a:solidFill>
        </p:grpSpPr>
        <p:grpSp>
          <p:nvGrpSpPr>
            <p:cNvPr id="15" name="Group 14">
              <a:extLst>
                <a:ext uri="{FF2B5EF4-FFF2-40B4-BE49-F238E27FC236}">
                  <a16:creationId xmlns:a16="http://schemas.microsoft.com/office/drawing/2014/main" id="{DCD94291-E1A2-38A4-8DA7-F60B22E9E5DE}"/>
                </a:ext>
              </a:extLst>
            </p:cNvPr>
            <p:cNvGrpSpPr/>
            <p:nvPr/>
          </p:nvGrpSpPr>
          <p:grpSpPr>
            <a:xfrm>
              <a:off x="506436" y="1006205"/>
              <a:ext cx="6217920" cy="2795702"/>
              <a:chOff x="436098" y="840689"/>
              <a:chExt cx="6217920" cy="2676058"/>
            </a:xfrm>
            <a:grpFill/>
          </p:grpSpPr>
          <p:sp>
            <p:nvSpPr>
              <p:cNvPr id="14" name="Rectangle 13">
                <a:extLst>
                  <a:ext uri="{FF2B5EF4-FFF2-40B4-BE49-F238E27FC236}">
                    <a16:creationId xmlns:a16="http://schemas.microsoft.com/office/drawing/2014/main" id="{9C267F1D-2590-2F22-73A1-0674B4F62B7D}"/>
                  </a:ext>
                </a:extLst>
              </p:cNvPr>
              <p:cNvSpPr/>
              <p:nvPr/>
            </p:nvSpPr>
            <p:spPr>
              <a:xfrm>
                <a:off x="436098" y="914400"/>
                <a:ext cx="6217920" cy="2514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5287570E-A748-9430-0A3B-17812069BCC4}"/>
                  </a:ext>
                </a:extLst>
              </p:cNvPr>
              <p:cNvSpPr txBox="1"/>
              <p:nvPr/>
            </p:nvSpPr>
            <p:spPr>
              <a:xfrm>
                <a:off x="436834" y="840689"/>
                <a:ext cx="6112412" cy="2676058"/>
              </a:xfrm>
              <a:prstGeom prst="rect">
                <a:avLst/>
              </a:prstGeom>
              <a:noFill/>
              <a:ln>
                <a:solidFill>
                  <a:schemeClr val="accent2">
                    <a:lumMod val="60000"/>
                    <a:lumOff val="40000"/>
                  </a:schemeClr>
                </a:solidFill>
              </a:ln>
            </p:spPr>
            <p:txBody>
              <a:bodyPr wrap="square">
                <a:spAutoFit/>
              </a:bodyPr>
              <a:lstStyle/>
              <a:p>
                <a:pPr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107000"/>
                  </a:lnSpc>
                  <a:spcBef>
                    <a:spcPts val="0"/>
                  </a:spcBef>
                  <a:spcAft>
                    <a:spcPts val="80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Founded by Rick Riordon in Olympus sin 1956, Hades focuses on robustness and maximum value-for-money offerings. Market leader in India, with an annual manufacturing capacity of over 7.5 million cycles and a market share of more than </a:t>
                </a:r>
                <a:r>
                  <a:rPr lang="en-US" sz="1400" b="1" dirty="0">
                    <a:effectLst/>
                    <a:latin typeface="Calibri" panose="020F0502020204030204" pitchFamily="34" charset="0"/>
                    <a:ea typeface="Calibri" panose="020F0502020204030204" pitchFamily="34" charset="0"/>
                    <a:cs typeface="Times New Roman" panose="02020603050405020304" pitchFamily="18" charset="0"/>
                  </a:rPr>
                  <a:t>43%.</a:t>
                </a:r>
              </a:p>
              <a:p>
                <a:pPr marL="171450" marR="0" indent="-171450">
                  <a:lnSpc>
                    <a:spcPct val="107000"/>
                  </a:lnSpc>
                  <a:spcBef>
                    <a:spcPts val="0"/>
                  </a:spcBef>
                  <a:spcAft>
                    <a:spcPts val="80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Hades Cycles has also contributed to India's transition to self-sufficiency with the creation of the 380-acre Hades Industrial Park in Olympus. It has captured the hearts and minds of the domestic population with modern designs, limited-edition Hades Sprint Experience Stores, appealing EMI plans, accessories, and routine maintenance.</a:t>
                </a:r>
              </a:p>
              <a:p>
                <a:pPr marL="171450" marR="0" indent="-171450">
                  <a:lnSpc>
                    <a:spcPct val="107000"/>
                  </a:lnSpc>
                  <a:spcBef>
                    <a:spcPts val="0"/>
                  </a:spcBef>
                  <a:spcAft>
                    <a:spcPts val="800"/>
                  </a:spcAft>
                  <a:buFont typeface="Arial" panose="020B060402020202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Hades cycles was a zero-net debt company with cash reserves of over Rs 10 billion till 2020.It acquired Fireflies Bikes Pvt Ltd in 2015 in an all-cash transaction with exclusive distribution rights of ‘Trek’. They also acquired Aphrodite Sports and CNS as they expanded into the European market</a:t>
                </a:r>
                <a:endParaRPr lang="en-IN" sz="1200" dirty="0">
                  <a:cs typeface="Arial" panose="020B0604020202020204" pitchFamily="34" charset="0"/>
                </a:endParaRPr>
              </a:p>
            </p:txBody>
          </p:sp>
        </p:grpSp>
        <p:sp>
          <p:nvSpPr>
            <p:cNvPr id="18" name="Rectangle 17">
              <a:extLst>
                <a:ext uri="{FF2B5EF4-FFF2-40B4-BE49-F238E27FC236}">
                  <a16:creationId xmlns:a16="http://schemas.microsoft.com/office/drawing/2014/main" id="{C6FA8814-3EF5-3E94-698D-5F4615D6467E}"/>
                </a:ext>
              </a:extLst>
            </p:cNvPr>
            <p:cNvSpPr/>
            <p:nvPr/>
          </p:nvSpPr>
          <p:spPr>
            <a:xfrm>
              <a:off x="2668385" y="956192"/>
              <a:ext cx="1894021" cy="25403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About The Company</a:t>
              </a:r>
              <a:endParaRPr lang="en-US" sz="1500" dirty="0"/>
            </a:p>
          </p:txBody>
        </p:sp>
      </p:grpSp>
      <p:grpSp>
        <p:nvGrpSpPr>
          <p:cNvPr id="4106" name="Group 4105">
            <a:extLst>
              <a:ext uri="{FF2B5EF4-FFF2-40B4-BE49-F238E27FC236}">
                <a16:creationId xmlns:a16="http://schemas.microsoft.com/office/drawing/2014/main" id="{15BFBD4C-4A39-EE3D-BBE0-E65E642560C2}"/>
              </a:ext>
            </a:extLst>
          </p:cNvPr>
          <p:cNvGrpSpPr/>
          <p:nvPr/>
        </p:nvGrpSpPr>
        <p:grpSpPr>
          <a:xfrm>
            <a:off x="6467511" y="551994"/>
            <a:ext cx="5611949" cy="2627025"/>
            <a:chOff x="4948199" y="3587077"/>
            <a:chExt cx="5611949" cy="2682628"/>
          </a:xfrm>
        </p:grpSpPr>
        <p:sp>
          <p:nvSpPr>
            <p:cNvPr id="4105" name="Rectangle 4104">
              <a:extLst>
                <a:ext uri="{FF2B5EF4-FFF2-40B4-BE49-F238E27FC236}">
                  <a16:creationId xmlns:a16="http://schemas.microsoft.com/office/drawing/2014/main" id="{58E91B65-001A-B483-6B01-4571E18DFDA2}"/>
                </a:ext>
              </a:extLst>
            </p:cNvPr>
            <p:cNvSpPr/>
            <p:nvPr/>
          </p:nvSpPr>
          <p:spPr>
            <a:xfrm>
              <a:off x="4948199" y="3587077"/>
              <a:ext cx="5611948" cy="2682628"/>
            </a:xfrm>
            <a:prstGeom prst="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96" name="Group 4095">
              <a:extLst>
                <a:ext uri="{FF2B5EF4-FFF2-40B4-BE49-F238E27FC236}">
                  <a16:creationId xmlns:a16="http://schemas.microsoft.com/office/drawing/2014/main" id="{A45EF13E-8908-970E-8F8B-3B28A7678DF2}"/>
                </a:ext>
              </a:extLst>
            </p:cNvPr>
            <p:cNvGrpSpPr/>
            <p:nvPr/>
          </p:nvGrpSpPr>
          <p:grpSpPr>
            <a:xfrm>
              <a:off x="4976335" y="3658779"/>
              <a:ext cx="5583813" cy="2490288"/>
              <a:chOff x="6608187" y="660938"/>
              <a:chExt cx="5583813" cy="2490288"/>
            </a:xfrm>
          </p:grpSpPr>
          <p:sp>
            <p:nvSpPr>
              <p:cNvPr id="21" name="TextBox 20">
                <a:extLst>
                  <a:ext uri="{FF2B5EF4-FFF2-40B4-BE49-F238E27FC236}">
                    <a16:creationId xmlns:a16="http://schemas.microsoft.com/office/drawing/2014/main" id="{51113027-BBAE-1B7B-B0D4-F2F6D12AFFA9}"/>
                  </a:ext>
                </a:extLst>
              </p:cNvPr>
              <p:cNvSpPr txBox="1"/>
              <p:nvPr/>
            </p:nvSpPr>
            <p:spPr>
              <a:xfrm>
                <a:off x="7151075" y="721231"/>
                <a:ext cx="5040925" cy="281231"/>
              </a:xfrm>
              <a:prstGeom prst="rect">
                <a:avLst/>
              </a:prstGeom>
              <a:noFill/>
            </p:spPr>
            <p:txBody>
              <a:bodyPr wrap="square">
                <a:spAutoFit/>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Cycles for all age groups and unique cycle variants for kids, males and females </a:t>
                </a:r>
              </a:p>
            </p:txBody>
          </p:sp>
          <p:pic>
            <p:nvPicPr>
              <p:cNvPr id="4098" name="Picture 2" descr="Age group ">
                <a:extLst>
                  <a:ext uri="{FF2B5EF4-FFF2-40B4-BE49-F238E27FC236}">
                    <a16:creationId xmlns:a16="http://schemas.microsoft.com/office/drawing/2014/main" id="{D30E1515-324F-37C5-CA68-42F9B4A52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8822" y="660938"/>
                <a:ext cx="427879" cy="42787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 bike ">
                <a:extLst>
                  <a:ext uri="{FF2B5EF4-FFF2-40B4-BE49-F238E27FC236}">
                    <a16:creationId xmlns:a16="http://schemas.microsoft.com/office/drawing/2014/main" id="{E01D8423-D090-5519-5FB9-73EC3AD65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8187" y="1269703"/>
                <a:ext cx="458002" cy="45800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B4698152-D0BF-56AD-4A74-A78DF5AD0374}"/>
                  </a:ext>
                </a:extLst>
              </p:cNvPr>
              <p:cNvSpPr txBox="1"/>
              <p:nvPr/>
            </p:nvSpPr>
            <p:spPr>
              <a:xfrm>
                <a:off x="7151074" y="1374642"/>
                <a:ext cx="4631800" cy="276999"/>
              </a:xfrm>
              <a:prstGeom prst="rect">
                <a:avLst/>
              </a:prstGeom>
              <a:noFill/>
            </p:spPr>
            <p:txBody>
              <a:bodyPr wrap="square">
                <a:spAutoFit/>
              </a:bodyPr>
              <a:lstStyle/>
              <a:p>
                <a:r>
                  <a:rPr lang="en-US" sz="1200" dirty="0">
                    <a:effectLst/>
                    <a:latin typeface="Calibri" panose="020F0502020204030204" pitchFamily="34" charset="0"/>
                    <a:ea typeface="Calibri" panose="020F0502020204030204" pitchFamily="34" charset="0"/>
                    <a:cs typeface="Times New Roman" panose="02020603050405020304" pitchFamily="18" charset="0"/>
                  </a:rPr>
                  <a:t>Newly ventured into the e-cycle category </a:t>
                </a:r>
                <a:endParaRPr lang="en-US" sz="1200" dirty="0"/>
              </a:p>
            </p:txBody>
          </p:sp>
          <p:sp>
            <p:nvSpPr>
              <p:cNvPr id="25" name="TextBox 24">
                <a:extLst>
                  <a:ext uri="{FF2B5EF4-FFF2-40B4-BE49-F238E27FC236}">
                    <a16:creationId xmlns:a16="http://schemas.microsoft.com/office/drawing/2014/main" id="{18D137BF-764D-12A5-CE6F-5F9CAE114A1F}"/>
                  </a:ext>
                </a:extLst>
              </p:cNvPr>
              <p:cNvSpPr txBox="1"/>
              <p:nvPr/>
            </p:nvSpPr>
            <p:spPr>
              <a:xfrm>
                <a:off x="7151074" y="1876219"/>
                <a:ext cx="5040925" cy="461665"/>
              </a:xfrm>
              <a:prstGeom prst="rect">
                <a:avLst/>
              </a:prstGeom>
              <a:noFill/>
            </p:spPr>
            <p:txBody>
              <a:bodyPr wrap="square">
                <a:spAutoFit/>
              </a:bodyPr>
              <a:lstStyle/>
              <a:p>
                <a:r>
                  <a:rPr lang="en-US" sz="1200" dirty="0">
                    <a:effectLst/>
                    <a:latin typeface="Calibri" panose="020F0502020204030204" pitchFamily="34" charset="0"/>
                    <a:ea typeface="Calibri" panose="020F0502020204030204" pitchFamily="34" charset="0"/>
                    <a:cs typeface="Times New Roman" panose="02020603050405020304" pitchFamily="18" charset="0"/>
                  </a:rPr>
                  <a:t>It caters to the Indian clientele that prefers high-end cycles, as the main focus is on creating premium quality</a:t>
                </a:r>
                <a:endParaRPr lang="en-US" sz="1200" dirty="0"/>
              </a:p>
            </p:txBody>
          </p:sp>
          <p:pic>
            <p:nvPicPr>
              <p:cNvPr id="4102" name="Picture 6" descr="Target ">
                <a:extLst>
                  <a:ext uri="{FF2B5EF4-FFF2-40B4-BE49-F238E27FC236}">
                    <a16:creationId xmlns:a16="http://schemas.microsoft.com/office/drawing/2014/main" id="{2A569B89-0CF4-FF7B-CFD8-42F52886BA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5381" y="1908592"/>
                <a:ext cx="458002" cy="458002"/>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0DB7022D-DDD8-7295-DD1F-8DC493B36033}"/>
                  </a:ext>
                </a:extLst>
              </p:cNvPr>
              <p:cNvSpPr txBox="1"/>
              <p:nvPr/>
            </p:nvSpPr>
            <p:spPr>
              <a:xfrm>
                <a:off x="7151074" y="2491215"/>
                <a:ext cx="4984213" cy="660011"/>
              </a:xfrm>
              <a:prstGeom prst="rect">
                <a:avLst/>
              </a:prstGeom>
              <a:noFill/>
            </p:spPr>
            <p:txBody>
              <a:bodyPr wrap="square">
                <a:spAutoFit/>
              </a:bodyPr>
              <a:lstStyle/>
              <a:p>
                <a:r>
                  <a:rPr lang="en-US" sz="1200" dirty="0">
                    <a:effectLst/>
                    <a:latin typeface="Calibri" panose="020F0502020204030204" pitchFamily="34" charset="0"/>
                    <a:ea typeface="Calibri" panose="020F0502020204030204" pitchFamily="34" charset="0"/>
                    <a:cs typeface="Times New Roman" panose="02020603050405020304" pitchFamily="18" charset="0"/>
                  </a:rPr>
                  <a:t>It uses an </a:t>
                </a:r>
                <a:r>
                  <a:rPr lang="en-US" sz="1200" dirty="0">
                    <a:latin typeface="Calibri" panose="020F0502020204030204" pitchFamily="34" charset="0"/>
                    <a:ea typeface="Calibri" panose="020F0502020204030204" pitchFamily="34" charset="0"/>
                    <a:cs typeface="Times New Roman" panose="02020603050405020304" pitchFamily="18" charset="0"/>
                  </a:rPr>
                  <a:t>Aluminum</a:t>
                </a:r>
                <a:r>
                  <a:rPr lang="en-US" sz="1200" dirty="0">
                    <a:effectLst/>
                    <a:latin typeface="Calibri" panose="020F0502020204030204" pitchFamily="34" charset="0"/>
                    <a:ea typeface="Calibri" panose="020F0502020204030204" pitchFamily="34" charset="0"/>
                    <a:cs typeface="Times New Roman" panose="02020603050405020304" pitchFamily="18" charset="0"/>
                  </a:rPr>
                  <a:t> frame to make it faster, lighter and easier to maneuver as compared to conventional bikes, but it might not be the most environment friendly</a:t>
                </a:r>
                <a:endParaRPr lang="en-US" sz="1200" dirty="0"/>
              </a:p>
            </p:txBody>
          </p:sp>
          <p:pic>
            <p:nvPicPr>
              <p:cNvPr id="4104" name="Picture 8" descr="Components ">
                <a:extLst>
                  <a:ext uri="{FF2B5EF4-FFF2-40B4-BE49-F238E27FC236}">
                    <a16:creationId xmlns:a16="http://schemas.microsoft.com/office/drawing/2014/main" id="{15C88E47-7810-2681-CBD7-205001F01F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7676" y="2594869"/>
                <a:ext cx="439025" cy="43902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108" name="Rectangle 4107">
            <a:extLst>
              <a:ext uri="{FF2B5EF4-FFF2-40B4-BE49-F238E27FC236}">
                <a16:creationId xmlns:a16="http://schemas.microsoft.com/office/drawing/2014/main" id="{7F3FE798-7C00-F547-E477-CE67AF3F6AD4}"/>
              </a:ext>
            </a:extLst>
          </p:cNvPr>
          <p:cNvSpPr/>
          <p:nvPr/>
        </p:nvSpPr>
        <p:spPr>
          <a:xfrm>
            <a:off x="8195011" y="440783"/>
            <a:ext cx="1797462" cy="2438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Key Offerings</a:t>
            </a:r>
            <a:endParaRPr lang="en-US" sz="1500" dirty="0"/>
          </a:p>
        </p:txBody>
      </p:sp>
      <p:cxnSp>
        <p:nvCxnSpPr>
          <p:cNvPr id="4111" name="Connector: Elbow 4110">
            <a:extLst>
              <a:ext uri="{FF2B5EF4-FFF2-40B4-BE49-F238E27FC236}">
                <a16:creationId xmlns:a16="http://schemas.microsoft.com/office/drawing/2014/main" id="{9ECF17AE-80AF-62EA-5F64-3E6F7F8ADF70}"/>
              </a:ext>
            </a:extLst>
          </p:cNvPr>
          <p:cNvCxnSpPr>
            <a:cxnSpLocks/>
          </p:cNvCxnSpPr>
          <p:nvPr/>
        </p:nvCxnSpPr>
        <p:spPr>
          <a:xfrm rot="10800000">
            <a:off x="4890678" y="4066613"/>
            <a:ext cx="1009417" cy="631996"/>
          </a:xfrm>
          <a:prstGeom prst="bentConnector3">
            <a:avLst>
              <a:gd name="adj1" fmla="val 50000"/>
            </a:avLst>
          </a:prstGeom>
          <a:ln>
            <a:solidFill>
              <a:schemeClr val="accent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4112" name="Connector: Elbow 4111">
            <a:extLst>
              <a:ext uri="{FF2B5EF4-FFF2-40B4-BE49-F238E27FC236}">
                <a16:creationId xmlns:a16="http://schemas.microsoft.com/office/drawing/2014/main" id="{BBB47370-40D2-2F18-07BD-8609C2B0EB49}"/>
              </a:ext>
            </a:extLst>
          </p:cNvPr>
          <p:cNvCxnSpPr>
            <a:cxnSpLocks/>
          </p:cNvCxnSpPr>
          <p:nvPr/>
        </p:nvCxnSpPr>
        <p:spPr>
          <a:xfrm flipV="1">
            <a:off x="6505136" y="4085734"/>
            <a:ext cx="848759" cy="612874"/>
          </a:xfrm>
          <a:prstGeom prst="bentConnector3">
            <a:avLst>
              <a:gd name="adj1" fmla="val 50000"/>
            </a:avLst>
          </a:prstGeom>
          <a:ln>
            <a:solidFill>
              <a:schemeClr val="accent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sp>
        <p:nvSpPr>
          <p:cNvPr id="4115" name="Rectangle: Rounded Corners 4114">
            <a:extLst>
              <a:ext uri="{FF2B5EF4-FFF2-40B4-BE49-F238E27FC236}">
                <a16:creationId xmlns:a16="http://schemas.microsoft.com/office/drawing/2014/main" id="{BF57B685-D1F5-F1C8-B8E6-634EADA0ED0A}"/>
              </a:ext>
            </a:extLst>
          </p:cNvPr>
          <p:cNvSpPr/>
          <p:nvPr/>
        </p:nvSpPr>
        <p:spPr>
          <a:xfrm>
            <a:off x="110729" y="3745147"/>
            <a:ext cx="4709160" cy="1448179"/>
          </a:xfrm>
          <a:prstGeom prst="round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dirty="0">
                <a:solidFill>
                  <a:schemeClr val="tx1"/>
                </a:solidFill>
              </a:rPr>
              <a:t>Hades offers bicycles in multiple categories such as Mountain Bikes, Cyclocross Bike, Road Cycling Bike </a:t>
            </a:r>
            <a:r>
              <a:rPr lang="en-IN" sz="1400" dirty="0">
                <a:solidFill>
                  <a:schemeClr val="tx1"/>
                </a:solidFill>
              </a:rPr>
              <a:t>Limited Menu.</a:t>
            </a:r>
          </a:p>
          <a:p>
            <a:pPr algn="just"/>
            <a:r>
              <a:rPr lang="en-US" sz="1400" dirty="0">
                <a:solidFill>
                  <a:schemeClr val="tx1"/>
                </a:solidFill>
              </a:rPr>
              <a:t>Some of </a:t>
            </a:r>
            <a:r>
              <a:rPr lang="en-US" sz="1400" dirty="0" err="1">
                <a:solidFill>
                  <a:schemeClr val="tx1"/>
                </a:solidFill>
              </a:rPr>
              <a:t>Hades’s</a:t>
            </a:r>
            <a:r>
              <a:rPr lang="en-US" sz="1400" dirty="0">
                <a:solidFill>
                  <a:schemeClr val="tx1"/>
                </a:solidFill>
              </a:rPr>
              <a:t> most popular cycles are- Hades Storm, Hades Sprint, Hades SH5, Hades Big Daddy and Hades </a:t>
            </a:r>
            <a:r>
              <a:rPr lang="en-US" sz="1400" dirty="0" err="1">
                <a:solidFill>
                  <a:schemeClr val="tx1"/>
                </a:solidFill>
              </a:rPr>
              <a:t>Lectro</a:t>
            </a:r>
            <a:r>
              <a:rPr lang="en-US" sz="1400" dirty="0">
                <a:solidFill>
                  <a:schemeClr val="tx1"/>
                </a:solidFill>
              </a:rPr>
              <a:t> E-bicycles. </a:t>
            </a:r>
            <a:r>
              <a:rPr lang="en-IN" sz="1400" dirty="0">
                <a:solidFill>
                  <a:schemeClr val="tx1"/>
                </a:solidFill>
              </a:rPr>
              <a:t> </a:t>
            </a:r>
          </a:p>
        </p:txBody>
      </p:sp>
      <p:sp>
        <p:nvSpPr>
          <p:cNvPr id="4116" name="Rectangle: Rounded Corners 4115">
            <a:extLst>
              <a:ext uri="{FF2B5EF4-FFF2-40B4-BE49-F238E27FC236}">
                <a16:creationId xmlns:a16="http://schemas.microsoft.com/office/drawing/2014/main" id="{64AFDCCC-77AD-E225-FE74-8F0D845DB8AA}"/>
              </a:ext>
            </a:extLst>
          </p:cNvPr>
          <p:cNvSpPr/>
          <p:nvPr/>
        </p:nvSpPr>
        <p:spPr>
          <a:xfrm>
            <a:off x="7353895" y="3711619"/>
            <a:ext cx="4709160" cy="1448179"/>
          </a:xfrm>
          <a:prstGeom prst="round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rPr>
              <a:t>Hades is a market leader in India with 43% market share. It places its products On its personal website, on e-commerce website and offline stores as well.</a:t>
            </a:r>
          </a:p>
          <a:p>
            <a:endParaRPr lang="en-US" sz="1400" dirty="0">
              <a:solidFill>
                <a:schemeClr val="tx1"/>
              </a:solidFill>
            </a:endParaRPr>
          </a:p>
          <a:p>
            <a:r>
              <a:rPr lang="en-US" sz="1400" dirty="0">
                <a:solidFill>
                  <a:schemeClr val="tx1"/>
                </a:solidFill>
              </a:rPr>
              <a:t>It also exports its cycle in different parts of the country.</a:t>
            </a:r>
          </a:p>
        </p:txBody>
      </p:sp>
      <p:sp>
        <p:nvSpPr>
          <p:cNvPr id="4117" name="Rectangle: Rounded Corners 4116">
            <a:extLst>
              <a:ext uri="{FF2B5EF4-FFF2-40B4-BE49-F238E27FC236}">
                <a16:creationId xmlns:a16="http://schemas.microsoft.com/office/drawing/2014/main" id="{257A9855-B7E0-506A-076B-07C4CC28DCB1}"/>
              </a:ext>
            </a:extLst>
          </p:cNvPr>
          <p:cNvSpPr/>
          <p:nvPr/>
        </p:nvSpPr>
        <p:spPr>
          <a:xfrm>
            <a:off x="110729" y="5816650"/>
            <a:ext cx="4709160" cy="851212"/>
          </a:xfrm>
          <a:prstGeom prst="round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sz="1400" dirty="0">
                <a:solidFill>
                  <a:schemeClr val="tx1"/>
                </a:solidFill>
              </a:rPr>
              <a:t>Cycle prices range from Rs 3000-9000 in the moderate cost segment to more than Rs 1 lakh in the Super premium segment</a:t>
            </a:r>
          </a:p>
          <a:p>
            <a:pPr algn="just"/>
            <a:endParaRPr lang="en-US" sz="1400" b="1" dirty="0">
              <a:solidFill>
                <a:schemeClr val="tx1"/>
              </a:solidFill>
            </a:endParaRPr>
          </a:p>
        </p:txBody>
      </p:sp>
      <p:sp>
        <p:nvSpPr>
          <p:cNvPr id="4118" name="Rectangle: Rounded Corners 4117">
            <a:extLst>
              <a:ext uri="{FF2B5EF4-FFF2-40B4-BE49-F238E27FC236}">
                <a16:creationId xmlns:a16="http://schemas.microsoft.com/office/drawing/2014/main" id="{4F74FB38-123B-E609-F073-15D32428348E}"/>
              </a:ext>
            </a:extLst>
          </p:cNvPr>
          <p:cNvSpPr/>
          <p:nvPr/>
        </p:nvSpPr>
        <p:spPr>
          <a:xfrm>
            <a:off x="7372111" y="5816650"/>
            <a:ext cx="4709160" cy="851212"/>
          </a:xfrm>
          <a:prstGeom prst="roundRect">
            <a:avLst/>
          </a:prstGeom>
          <a:solidFill>
            <a:schemeClr val="bg1"/>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400" dirty="0">
                <a:solidFill>
                  <a:schemeClr val="tx1"/>
                </a:solidFill>
              </a:rPr>
              <a:t>Hades do it promotions mostly in offline stores, also recently they have launched multiple marketing campaigns as well to increase awareness amongst the customers</a:t>
            </a:r>
          </a:p>
        </p:txBody>
      </p:sp>
      <p:sp>
        <p:nvSpPr>
          <p:cNvPr id="4125" name="Rectangle 4124">
            <a:extLst>
              <a:ext uri="{FF2B5EF4-FFF2-40B4-BE49-F238E27FC236}">
                <a16:creationId xmlns:a16="http://schemas.microsoft.com/office/drawing/2014/main" id="{1A04C437-A64F-DFAC-712E-8D43D6A7111F}"/>
              </a:ext>
            </a:extLst>
          </p:cNvPr>
          <p:cNvSpPr/>
          <p:nvPr/>
        </p:nvSpPr>
        <p:spPr>
          <a:xfrm>
            <a:off x="1424037" y="3545764"/>
            <a:ext cx="1797462" cy="2438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Product</a:t>
            </a:r>
            <a:endParaRPr lang="en-US" sz="1500" dirty="0"/>
          </a:p>
        </p:txBody>
      </p:sp>
      <p:sp>
        <p:nvSpPr>
          <p:cNvPr id="4126" name="Rectangle 4125">
            <a:extLst>
              <a:ext uri="{FF2B5EF4-FFF2-40B4-BE49-F238E27FC236}">
                <a16:creationId xmlns:a16="http://schemas.microsoft.com/office/drawing/2014/main" id="{E8271B0F-D41E-9E7B-4895-25E1F4520FDF}"/>
              </a:ext>
            </a:extLst>
          </p:cNvPr>
          <p:cNvSpPr/>
          <p:nvPr/>
        </p:nvSpPr>
        <p:spPr>
          <a:xfrm>
            <a:off x="8952285" y="3543031"/>
            <a:ext cx="1797462" cy="2438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Place</a:t>
            </a:r>
            <a:endParaRPr lang="en-US" sz="1500" dirty="0"/>
          </a:p>
        </p:txBody>
      </p:sp>
      <p:sp>
        <p:nvSpPr>
          <p:cNvPr id="4127" name="Rectangle 4126">
            <a:extLst>
              <a:ext uri="{FF2B5EF4-FFF2-40B4-BE49-F238E27FC236}">
                <a16:creationId xmlns:a16="http://schemas.microsoft.com/office/drawing/2014/main" id="{EC20CF43-79A1-CF3E-A167-DEAE6DB7A748}"/>
              </a:ext>
            </a:extLst>
          </p:cNvPr>
          <p:cNvSpPr/>
          <p:nvPr/>
        </p:nvSpPr>
        <p:spPr>
          <a:xfrm>
            <a:off x="1566578" y="5619036"/>
            <a:ext cx="1797462" cy="2438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Price</a:t>
            </a:r>
            <a:endParaRPr lang="en-US" sz="1500" dirty="0"/>
          </a:p>
        </p:txBody>
      </p:sp>
      <p:sp>
        <p:nvSpPr>
          <p:cNvPr id="4128" name="Rectangle 4127">
            <a:extLst>
              <a:ext uri="{FF2B5EF4-FFF2-40B4-BE49-F238E27FC236}">
                <a16:creationId xmlns:a16="http://schemas.microsoft.com/office/drawing/2014/main" id="{9916F382-F9C8-1C5A-F598-5835F9B727BB}"/>
              </a:ext>
            </a:extLst>
          </p:cNvPr>
          <p:cNvSpPr/>
          <p:nvPr/>
        </p:nvSpPr>
        <p:spPr>
          <a:xfrm>
            <a:off x="8952285" y="5692398"/>
            <a:ext cx="1797462" cy="2438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Promotion</a:t>
            </a:r>
            <a:endParaRPr lang="en-US" sz="1500" dirty="0"/>
          </a:p>
        </p:txBody>
      </p:sp>
      <p:sp>
        <p:nvSpPr>
          <p:cNvPr id="4131" name="Oval 4130">
            <a:extLst>
              <a:ext uri="{FF2B5EF4-FFF2-40B4-BE49-F238E27FC236}">
                <a16:creationId xmlns:a16="http://schemas.microsoft.com/office/drawing/2014/main" id="{3DCD38D6-DBCB-80FF-591A-E0602750B410}"/>
              </a:ext>
            </a:extLst>
          </p:cNvPr>
          <p:cNvSpPr/>
          <p:nvPr/>
        </p:nvSpPr>
        <p:spPr>
          <a:xfrm>
            <a:off x="5528930" y="4726602"/>
            <a:ext cx="1460810" cy="684133"/>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HADES</a:t>
            </a:r>
          </a:p>
        </p:txBody>
      </p:sp>
      <p:cxnSp>
        <p:nvCxnSpPr>
          <p:cNvPr id="4138" name="Connector: Elbow 4137">
            <a:extLst>
              <a:ext uri="{FF2B5EF4-FFF2-40B4-BE49-F238E27FC236}">
                <a16:creationId xmlns:a16="http://schemas.microsoft.com/office/drawing/2014/main" id="{CCAA29F0-B222-992E-4117-CDA45DCC8616}"/>
              </a:ext>
            </a:extLst>
          </p:cNvPr>
          <p:cNvCxnSpPr>
            <a:cxnSpLocks/>
          </p:cNvCxnSpPr>
          <p:nvPr/>
        </p:nvCxnSpPr>
        <p:spPr>
          <a:xfrm rot="10800000" flipV="1">
            <a:off x="4940354" y="5452744"/>
            <a:ext cx="975908" cy="720962"/>
          </a:xfrm>
          <a:prstGeom prst="bentConnector3">
            <a:avLst/>
          </a:prstGeom>
          <a:ln>
            <a:solidFill>
              <a:schemeClr val="accent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4145" name="Connector: Elbow 4144">
            <a:extLst>
              <a:ext uri="{FF2B5EF4-FFF2-40B4-BE49-F238E27FC236}">
                <a16:creationId xmlns:a16="http://schemas.microsoft.com/office/drawing/2014/main" id="{49ED15A3-A313-9EC4-7530-E17EBD4E4A35}"/>
              </a:ext>
            </a:extLst>
          </p:cNvPr>
          <p:cNvCxnSpPr>
            <a:cxnSpLocks/>
          </p:cNvCxnSpPr>
          <p:nvPr/>
        </p:nvCxnSpPr>
        <p:spPr>
          <a:xfrm>
            <a:off x="6396202" y="5452744"/>
            <a:ext cx="931573" cy="720963"/>
          </a:xfrm>
          <a:prstGeom prst="bentConnector3">
            <a:avLst>
              <a:gd name="adj1" fmla="val 50000"/>
            </a:avLst>
          </a:prstGeom>
          <a:ln>
            <a:solidFill>
              <a:schemeClr val="accent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4152" name="Straight Connector 4151">
            <a:extLst>
              <a:ext uri="{FF2B5EF4-FFF2-40B4-BE49-F238E27FC236}">
                <a16:creationId xmlns:a16="http://schemas.microsoft.com/office/drawing/2014/main" id="{C2CD201E-F892-B528-CE19-0D8F4579EFFD}"/>
              </a:ext>
            </a:extLst>
          </p:cNvPr>
          <p:cNvCxnSpPr/>
          <p:nvPr/>
        </p:nvCxnSpPr>
        <p:spPr>
          <a:xfrm>
            <a:off x="182411" y="3429000"/>
            <a:ext cx="11667744" cy="0"/>
          </a:xfrm>
          <a:prstGeom prst="line">
            <a:avLst/>
          </a:prstGeom>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AD5E9AAA-E94C-6873-E889-05005CD00CC0}"/>
              </a:ext>
            </a:extLst>
          </p:cNvPr>
          <p:cNvGrpSpPr/>
          <p:nvPr/>
        </p:nvGrpSpPr>
        <p:grpSpPr>
          <a:xfrm>
            <a:off x="0" y="0"/>
            <a:ext cx="12138132" cy="317241"/>
            <a:chOff x="0" y="0"/>
            <a:chExt cx="10723984" cy="317241"/>
          </a:xfrm>
          <a:solidFill>
            <a:schemeClr val="accent2">
              <a:lumMod val="50000"/>
            </a:schemeClr>
          </a:solidFill>
        </p:grpSpPr>
        <p:sp>
          <p:nvSpPr>
            <p:cNvPr id="24" name="Arrow: Pentagon 23">
              <a:extLst>
                <a:ext uri="{FF2B5EF4-FFF2-40B4-BE49-F238E27FC236}">
                  <a16:creationId xmlns:a16="http://schemas.microsoft.com/office/drawing/2014/main" id="{48323D93-72FC-DDF7-70D2-2F27498727C6}"/>
                </a:ext>
              </a:extLst>
            </p:cNvPr>
            <p:cNvSpPr/>
            <p:nvPr/>
          </p:nvSpPr>
          <p:spPr>
            <a:xfrm>
              <a:off x="0"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Market Scenario</a:t>
              </a:r>
            </a:p>
          </p:txBody>
        </p:sp>
        <p:sp>
          <p:nvSpPr>
            <p:cNvPr id="26" name="Arrow: Pentagon 25">
              <a:extLst>
                <a:ext uri="{FF2B5EF4-FFF2-40B4-BE49-F238E27FC236}">
                  <a16:creationId xmlns:a16="http://schemas.microsoft.com/office/drawing/2014/main" id="{2929B662-A4D5-BCF2-0784-3C20F0DDF688}"/>
                </a:ext>
              </a:extLst>
            </p:cNvPr>
            <p:cNvSpPr/>
            <p:nvPr/>
          </p:nvSpPr>
          <p:spPr>
            <a:xfrm>
              <a:off x="2102498" y="0"/>
              <a:ext cx="2313992" cy="317241"/>
            </a:xfrm>
            <a:prstGeom prst="homePlate">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About Hades</a:t>
              </a:r>
            </a:p>
          </p:txBody>
        </p:sp>
        <p:sp>
          <p:nvSpPr>
            <p:cNvPr id="28" name="Arrow: Pentagon 27">
              <a:extLst>
                <a:ext uri="{FF2B5EF4-FFF2-40B4-BE49-F238E27FC236}">
                  <a16:creationId xmlns:a16="http://schemas.microsoft.com/office/drawing/2014/main" id="{6543EB8A-E04F-78A7-BF52-30A837335AE7}"/>
                </a:ext>
              </a:extLst>
            </p:cNvPr>
            <p:cNvSpPr/>
            <p:nvPr/>
          </p:nvSpPr>
          <p:spPr>
            <a:xfrm>
              <a:off x="4204996"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Environment Analysis</a:t>
              </a:r>
            </a:p>
          </p:txBody>
        </p:sp>
        <p:sp>
          <p:nvSpPr>
            <p:cNvPr id="29" name="Arrow: Pentagon 28">
              <a:extLst>
                <a:ext uri="{FF2B5EF4-FFF2-40B4-BE49-F238E27FC236}">
                  <a16:creationId xmlns:a16="http://schemas.microsoft.com/office/drawing/2014/main" id="{245FC050-4CBE-5031-48C6-554E2F1BA362}"/>
                </a:ext>
              </a:extLst>
            </p:cNvPr>
            <p:cNvSpPr/>
            <p:nvPr/>
          </p:nvSpPr>
          <p:spPr>
            <a:xfrm>
              <a:off x="6307494"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Revenue Streams</a:t>
              </a:r>
            </a:p>
          </p:txBody>
        </p:sp>
        <p:sp>
          <p:nvSpPr>
            <p:cNvPr id="30" name="Arrow: Pentagon 29">
              <a:extLst>
                <a:ext uri="{FF2B5EF4-FFF2-40B4-BE49-F238E27FC236}">
                  <a16:creationId xmlns:a16="http://schemas.microsoft.com/office/drawing/2014/main" id="{2DAA93D1-71FF-9AF5-DFF1-37502B188BBE}"/>
                </a:ext>
              </a:extLst>
            </p:cNvPr>
            <p:cNvSpPr/>
            <p:nvPr/>
          </p:nvSpPr>
          <p:spPr>
            <a:xfrm>
              <a:off x="8409992"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Threats</a:t>
              </a:r>
            </a:p>
          </p:txBody>
        </p:sp>
      </p:grpSp>
    </p:spTree>
    <p:extLst>
      <p:ext uri="{BB962C8B-B14F-4D97-AF65-F5344CB8AC3E}">
        <p14:creationId xmlns:p14="http://schemas.microsoft.com/office/powerpoint/2010/main" val="728755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E36D4B8-09E9-ECDB-4E0E-D11920BDE43F}"/>
              </a:ext>
            </a:extLst>
          </p:cNvPr>
          <p:cNvGrpSpPr/>
          <p:nvPr/>
        </p:nvGrpSpPr>
        <p:grpSpPr>
          <a:xfrm>
            <a:off x="58995" y="518865"/>
            <a:ext cx="6604642" cy="7723599"/>
            <a:chOff x="60355" y="600025"/>
            <a:chExt cx="5846539" cy="7723599"/>
          </a:xfrm>
        </p:grpSpPr>
        <p:grpSp>
          <p:nvGrpSpPr>
            <p:cNvPr id="11" name="Group 10">
              <a:extLst>
                <a:ext uri="{FF2B5EF4-FFF2-40B4-BE49-F238E27FC236}">
                  <a16:creationId xmlns:a16="http://schemas.microsoft.com/office/drawing/2014/main" id="{397766CE-DF56-AF32-30AD-B9F256B6773E}"/>
                </a:ext>
              </a:extLst>
            </p:cNvPr>
            <p:cNvGrpSpPr/>
            <p:nvPr/>
          </p:nvGrpSpPr>
          <p:grpSpPr>
            <a:xfrm>
              <a:off x="60355" y="600025"/>
              <a:ext cx="5825336" cy="6238201"/>
              <a:chOff x="141927" y="502051"/>
              <a:chExt cx="5825336" cy="6238201"/>
            </a:xfrm>
          </p:grpSpPr>
          <p:grpSp>
            <p:nvGrpSpPr>
              <p:cNvPr id="17" name="Group 16">
                <a:extLst>
                  <a:ext uri="{FF2B5EF4-FFF2-40B4-BE49-F238E27FC236}">
                    <a16:creationId xmlns:a16="http://schemas.microsoft.com/office/drawing/2014/main" id="{49F5FF5F-0E26-6FDC-89EC-E023532D1ED8}"/>
                  </a:ext>
                </a:extLst>
              </p:cNvPr>
              <p:cNvGrpSpPr/>
              <p:nvPr/>
            </p:nvGrpSpPr>
            <p:grpSpPr>
              <a:xfrm>
                <a:off x="141927" y="502054"/>
                <a:ext cx="5825336" cy="6238198"/>
                <a:chOff x="2491361" y="428867"/>
                <a:chExt cx="6870909" cy="6332863"/>
              </a:xfrm>
            </p:grpSpPr>
            <p:cxnSp>
              <p:nvCxnSpPr>
                <p:cNvPr id="19" name="Straight Connector 18">
                  <a:extLst>
                    <a:ext uri="{FF2B5EF4-FFF2-40B4-BE49-F238E27FC236}">
                      <a16:creationId xmlns:a16="http://schemas.microsoft.com/office/drawing/2014/main" id="{6421BE61-64BD-B08A-E63B-0B9BBFBAAC78}"/>
                    </a:ext>
                  </a:extLst>
                </p:cNvPr>
                <p:cNvCxnSpPr>
                  <a:cxnSpLocks/>
                  <a:endCxn id="18" idx="2"/>
                </p:cNvCxnSpPr>
                <p:nvPr/>
              </p:nvCxnSpPr>
              <p:spPr>
                <a:xfrm flipH="1">
                  <a:off x="5932992" y="428867"/>
                  <a:ext cx="85968" cy="6332863"/>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115467C-FE5D-E508-F6BD-20E4867F7A01}"/>
                    </a:ext>
                  </a:extLst>
                </p:cNvPr>
                <p:cNvCxnSpPr>
                  <a:cxnSpLocks/>
                </p:cNvCxnSpPr>
                <p:nvPr/>
              </p:nvCxnSpPr>
              <p:spPr>
                <a:xfrm>
                  <a:off x="2491361" y="3415600"/>
                  <a:ext cx="6870909" cy="24227"/>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grpSp>
          <p:sp>
            <p:nvSpPr>
              <p:cNvPr id="18" name="Rectangle 17">
                <a:extLst>
                  <a:ext uri="{FF2B5EF4-FFF2-40B4-BE49-F238E27FC236}">
                    <a16:creationId xmlns:a16="http://schemas.microsoft.com/office/drawing/2014/main" id="{A0030D3E-24B0-D9B1-5E0F-AD43F1D290E5}"/>
                  </a:ext>
                </a:extLst>
              </p:cNvPr>
              <p:cNvSpPr/>
              <p:nvPr/>
            </p:nvSpPr>
            <p:spPr>
              <a:xfrm>
                <a:off x="152399" y="502051"/>
                <a:ext cx="5814864" cy="6238201"/>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Box 12">
              <a:extLst>
                <a:ext uri="{FF2B5EF4-FFF2-40B4-BE49-F238E27FC236}">
                  <a16:creationId xmlns:a16="http://schemas.microsoft.com/office/drawing/2014/main" id="{A0325623-CC86-FB89-0151-F90480FE8B36}"/>
                </a:ext>
              </a:extLst>
            </p:cNvPr>
            <p:cNvSpPr txBox="1"/>
            <p:nvPr/>
          </p:nvSpPr>
          <p:spPr>
            <a:xfrm>
              <a:off x="117956" y="645395"/>
              <a:ext cx="2817150" cy="2954655"/>
            </a:xfrm>
            <a:prstGeom prst="rect">
              <a:avLst/>
            </a:prstGeom>
            <a:noFill/>
          </p:spPr>
          <p:txBody>
            <a:bodyPr wrap="square" rtlCol="0">
              <a:spAutoFit/>
            </a:bodyPr>
            <a:lstStyle/>
            <a:p>
              <a:r>
                <a:rPr lang="en-IN" sz="1600" b="1" dirty="0"/>
                <a:t>Strengths:</a:t>
              </a:r>
            </a:p>
            <a:p>
              <a:endParaRPr lang="en-IN" sz="1600" b="1" dirty="0"/>
            </a:p>
            <a:p>
              <a:pPr marL="342900" indent="-342900" algn="just">
                <a:buFont typeface="+mj-lt"/>
                <a:buAutoNum type="arabicPeriod"/>
              </a:pPr>
              <a:r>
                <a:rPr lang="en-IN" sz="1400" dirty="0"/>
                <a:t>Good customer base with 43% market share</a:t>
              </a:r>
            </a:p>
            <a:p>
              <a:pPr marL="342900" indent="-342900" algn="just">
                <a:buFont typeface="+mj-lt"/>
                <a:buAutoNum type="arabicPeriod"/>
              </a:pPr>
              <a:r>
                <a:rPr lang="en-IN" sz="1400" dirty="0"/>
                <a:t>Strong brand Image</a:t>
              </a:r>
            </a:p>
            <a:p>
              <a:pPr marL="342900" indent="-342900">
                <a:buFont typeface="+mj-lt"/>
                <a:buAutoNum type="arabicPeriod"/>
              </a:pPr>
              <a:r>
                <a:rPr lang="en-US" sz="1400" dirty="0"/>
                <a:t>Hades focuses on robustness and maximum value-for-money offerings.</a:t>
              </a:r>
              <a:endParaRPr lang="en-IN" sz="1400" dirty="0"/>
            </a:p>
            <a:p>
              <a:pPr marL="342900" indent="-342900" algn="just">
                <a:buFont typeface="+mj-lt"/>
                <a:buAutoNum type="arabicPeriod"/>
              </a:pPr>
              <a:r>
                <a:rPr lang="en-US" sz="1400" dirty="0"/>
                <a:t>It has exclusive distribution rights of ‘Trek’</a:t>
              </a:r>
            </a:p>
            <a:p>
              <a:pPr marL="342900" indent="-342900" algn="just">
                <a:buFont typeface="+mj-lt"/>
                <a:buAutoNum type="arabicPeriod"/>
              </a:pPr>
              <a:r>
                <a:rPr lang="en-IN" sz="1400" dirty="0"/>
                <a:t>Provides great quality product and is high on innovation</a:t>
              </a:r>
            </a:p>
            <a:p>
              <a:endParaRPr lang="en-IN" sz="1400" dirty="0"/>
            </a:p>
          </p:txBody>
        </p:sp>
        <p:sp>
          <p:nvSpPr>
            <p:cNvPr id="14" name="TextBox 13">
              <a:extLst>
                <a:ext uri="{FF2B5EF4-FFF2-40B4-BE49-F238E27FC236}">
                  <a16:creationId xmlns:a16="http://schemas.microsoft.com/office/drawing/2014/main" id="{238FAE0A-7D6D-414B-DBD5-E4240CF5733E}"/>
                </a:ext>
              </a:extLst>
            </p:cNvPr>
            <p:cNvSpPr txBox="1"/>
            <p:nvPr/>
          </p:nvSpPr>
          <p:spPr>
            <a:xfrm>
              <a:off x="3089744" y="639861"/>
              <a:ext cx="2817150" cy="1846659"/>
            </a:xfrm>
            <a:prstGeom prst="rect">
              <a:avLst/>
            </a:prstGeom>
            <a:noFill/>
          </p:spPr>
          <p:txBody>
            <a:bodyPr wrap="square" rtlCol="0">
              <a:spAutoFit/>
            </a:bodyPr>
            <a:lstStyle/>
            <a:p>
              <a:r>
                <a:rPr lang="en-IN" sz="1600" b="1" dirty="0"/>
                <a:t>Weaknesses:</a:t>
              </a:r>
            </a:p>
            <a:p>
              <a:endParaRPr lang="en-IN" sz="1400" dirty="0"/>
            </a:p>
            <a:p>
              <a:pPr marL="342900" indent="-342900" algn="just">
                <a:buFont typeface="+mj-lt"/>
                <a:buAutoNum type="arabicPeriod"/>
              </a:pPr>
              <a:r>
                <a:rPr lang="en-IN" sz="1400" dirty="0"/>
                <a:t>Decline in market share due to various changes happening in the company</a:t>
              </a:r>
            </a:p>
            <a:p>
              <a:pPr marL="342900" indent="-342900" algn="just">
                <a:buFont typeface="+mj-lt"/>
                <a:buAutoNum type="arabicPeriod"/>
              </a:pPr>
              <a:r>
                <a:rPr lang="en-IN" sz="1400" dirty="0"/>
                <a:t>Unable to full fill the demand  of the product in some regions</a:t>
              </a:r>
            </a:p>
            <a:p>
              <a:endParaRPr lang="en-IN" sz="1400" dirty="0"/>
            </a:p>
          </p:txBody>
        </p:sp>
        <p:sp>
          <p:nvSpPr>
            <p:cNvPr id="15" name="TextBox 14">
              <a:extLst>
                <a:ext uri="{FF2B5EF4-FFF2-40B4-BE49-F238E27FC236}">
                  <a16:creationId xmlns:a16="http://schemas.microsoft.com/office/drawing/2014/main" id="{11C69E77-1C70-80B3-2CBD-AD634390E29F}"/>
                </a:ext>
              </a:extLst>
            </p:cNvPr>
            <p:cNvSpPr txBox="1"/>
            <p:nvPr/>
          </p:nvSpPr>
          <p:spPr>
            <a:xfrm>
              <a:off x="3068541" y="3719125"/>
              <a:ext cx="2817150" cy="2523768"/>
            </a:xfrm>
            <a:prstGeom prst="rect">
              <a:avLst/>
            </a:prstGeom>
            <a:noFill/>
          </p:spPr>
          <p:txBody>
            <a:bodyPr wrap="square" rtlCol="0">
              <a:spAutoFit/>
            </a:bodyPr>
            <a:lstStyle/>
            <a:p>
              <a:r>
                <a:rPr lang="en-IN" sz="1600" b="1" dirty="0"/>
                <a:t>Opportunities:</a:t>
              </a:r>
            </a:p>
            <a:p>
              <a:endParaRPr lang="en-IN" sz="1600" b="1" dirty="0"/>
            </a:p>
            <a:p>
              <a:pPr marL="342900" indent="-342900" algn="just">
                <a:buFont typeface="+mj-lt"/>
                <a:buAutoNum type="arabicPeriod"/>
              </a:pPr>
              <a:r>
                <a:rPr lang="en-IN" sz="1400" dirty="0"/>
                <a:t>Right time for expanding existing capacities</a:t>
              </a:r>
            </a:p>
            <a:p>
              <a:pPr marL="342900" indent="-342900" algn="just">
                <a:buFont typeface="+mj-lt"/>
                <a:buAutoNum type="arabicPeriod"/>
              </a:pPr>
              <a:r>
                <a:rPr lang="en-IN" sz="1400" dirty="0"/>
                <a:t>Venturing into the e-bikes market as it has a huge growth potential</a:t>
              </a:r>
            </a:p>
            <a:p>
              <a:pPr marL="342900" indent="-342900" algn="just">
                <a:buFont typeface="+mj-lt"/>
                <a:buAutoNum type="arabicPeriod"/>
              </a:pPr>
              <a:r>
                <a:rPr lang="en-IN" sz="1400" dirty="0"/>
                <a:t>Capturing the bike leasing market to lease the bikes to rental companies</a:t>
              </a:r>
            </a:p>
            <a:p>
              <a:pPr marL="342900" indent="-342900" algn="just">
                <a:buFont typeface="+mj-lt"/>
                <a:buAutoNum type="arabicPeriod"/>
              </a:pPr>
              <a:r>
                <a:rPr lang="en-IN" sz="1400" dirty="0"/>
                <a:t>Introducing AI based tools attached to the bikes, to provide users with a better customer experience</a:t>
              </a:r>
            </a:p>
          </p:txBody>
        </p:sp>
        <p:sp>
          <p:nvSpPr>
            <p:cNvPr id="16" name="TextBox 15">
              <a:extLst>
                <a:ext uri="{FF2B5EF4-FFF2-40B4-BE49-F238E27FC236}">
                  <a16:creationId xmlns:a16="http://schemas.microsoft.com/office/drawing/2014/main" id="{EBD4FFC1-9E1F-4D1D-3DCB-5D6E2CB5DF59}"/>
                </a:ext>
              </a:extLst>
            </p:cNvPr>
            <p:cNvSpPr txBox="1"/>
            <p:nvPr/>
          </p:nvSpPr>
          <p:spPr>
            <a:xfrm>
              <a:off x="113001" y="3645420"/>
              <a:ext cx="2904477" cy="4678204"/>
            </a:xfrm>
            <a:prstGeom prst="rect">
              <a:avLst/>
            </a:prstGeom>
            <a:noFill/>
          </p:spPr>
          <p:txBody>
            <a:bodyPr wrap="square" rtlCol="0">
              <a:spAutoFit/>
            </a:bodyPr>
            <a:lstStyle/>
            <a:p>
              <a:r>
                <a:rPr lang="en-IN" sz="1600" b="1" dirty="0"/>
                <a:t>Threats :</a:t>
              </a:r>
            </a:p>
            <a:p>
              <a:endParaRPr lang="en-IN" sz="1600" b="1" dirty="0"/>
            </a:p>
            <a:p>
              <a:pPr marL="342900" indent="-342900" algn="just">
                <a:buFont typeface="+mj-lt"/>
                <a:buAutoNum type="arabicPeriod"/>
              </a:pPr>
              <a:r>
                <a:rPr lang="en-IN" sz="1400" dirty="0"/>
                <a:t>High competition in the industry</a:t>
              </a:r>
            </a:p>
            <a:p>
              <a:pPr marL="342900" indent="-342900" algn="just">
                <a:buFont typeface="+mj-lt"/>
                <a:buAutoNum type="arabicPeriod"/>
              </a:pPr>
              <a:r>
                <a:rPr lang="en-IN" sz="1400" dirty="0"/>
                <a:t>Competitors catering more market share by taking hold of the mid-price range customer base</a:t>
              </a:r>
            </a:p>
            <a:p>
              <a:pPr marL="342900" indent="-342900" algn="just">
                <a:buFont typeface="+mj-lt"/>
                <a:buAutoNum type="arabicPeriod"/>
              </a:pPr>
              <a:r>
                <a:rPr lang="en-US" sz="1400" dirty="0">
                  <a:solidFill>
                    <a:srgbClr val="000000"/>
                  </a:solidFill>
                  <a:effectLst/>
                  <a:latin typeface="Regular"/>
                  <a:ea typeface="Times New Roman" panose="02020603050405020304" pitchFamily="18" charset="0"/>
                </a:rPr>
                <a:t>Exclusion of  e-bicycle segment from two major initiatives </a:t>
              </a:r>
              <a:r>
                <a:rPr lang="en-US" sz="1400" dirty="0">
                  <a:solidFill>
                    <a:srgbClr val="000000"/>
                  </a:solidFill>
                  <a:latin typeface="Regular"/>
                  <a:ea typeface="Times New Roman" panose="02020603050405020304" pitchFamily="18" charset="0"/>
                </a:rPr>
                <a:t>by Central Government which it </a:t>
              </a:r>
              <a:r>
                <a:rPr lang="en-US" sz="1400" dirty="0">
                  <a:solidFill>
                    <a:srgbClr val="000000"/>
                  </a:solidFill>
                  <a:effectLst/>
                  <a:latin typeface="Regular"/>
                  <a:ea typeface="Times New Roman" panose="02020603050405020304" pitchFamily="18" charset="0"/>
                </a:rPr>
                <a:t>has introduced FAME-II and Production linked incentive (PLI) scheme risking a loss of 10,000 crore worth of e-bicycle export order to the European union over next 5 years</a:t>
              </a:r>
            </a:p>
            <a:p>
              <a:pPr marL="342900" indent="-342900" algn="just">
                <a:buFont typeface="+mj-lt"/>
                <a:buAutoNum type="arabicPeriod"/>
              </a:pPr>
              <a:endParaRPr lang="en-IN" sz="1400" dirty="0"/>
            </a:p>
            <a:p>
              <a:pPr marL="342900" indent="-342900" algn="just">
                <a:buFont typeface="+mj-lt"/>
                <a:buAutoNum type="arabicPeriod"/>
              </a:pPr>
              <a:endParaRPr lang="en-IN" sz="1400" dirty="0"/>
            </a:p>
            <a:p>
              <a:pPr marL="342900" indent="-342900" algn="just">
                <a:buFont typeface="+mj-lt"/>
                <a:buAutoNum type="arabicPeriod"/>
              </a:pPr>
              <a:endParaRPr lang="en-IN" sz="1400" dirty="0"/>
            </a:p>
            <a:p>
              <a:pPr marL="342900" indent="-342900" algn="just">
                <a:buFont typeface="+mj-lt"/>
                <a:buAutoNum type="arabicPeriod"/>
              </a:pPr>
              <a:endParaRPr lang="en-IN" sz="1400" dirty="0"/>
            </a:p>
            <a:p>
              <a:pPr marL="342900" indent="-342900" algn="just">
                <a:buFont typeface="+mj-lt"/>
                <a:buAutoNum type="arabicPeriod"/>
              </a:pPr>
              <a:endParaRPr lang="en-IN" sz="1400" dirty="0"/>
            </a:p>
            <a:p>
              <a:pPr marL="342900" indent="-342900" algn="just">
                <a:buFont typeface="+mj-lt"/>
                <a:buAutoNum type="arabicPeriod"/>
              </a:pPr>
              <a:endParaRPr lang="en-IN" sz="1400" dirty="0"/>
            </a:p>
            <a:p>
              <a:endParaRPr lang="en-IN" sz="1400" dirty="0"/>
            </a:p>
          </p:txBody>
        </p:sp>
      </p:grpSp>
      <p:sp>
        <p:nvSpPr>
          <p:cNvPr id="22" name="Oval 21">
            <a:extLst>
              <a:ext uri="{FF2B5EF4-FFF2-40B4-BE49-F238E27FC236}">
                <a16:creationId xmlns:a16="http://schemas.microsoft.com/office/drawing/2014/main" id="{3D3A2FAF-F6AE-2640-56F0-81A71B76A63B}"/>
              </a:ext>
            </a:extLst>
          </p:cNvPr>
          <p:cNvSpPr/>
          <p:nvPr/>
        </p:nvSpPr>
        <p:spPr>
          <a:xfrm>
            <a:off x="2814909" y="3131986"/>
            <a:ext cx="1245365" cy="540048"/>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HADES</a:t>
            </a:r>
          </a:p>
        </p:txBody>
      </p:sp>
      <p:graphicFrame>
        <p:nvGraphicFramePr>
          <p:cNvPr id="23" name="Table 23">
            <a:extLst>
              <a:ext uri="{FF2B5EF4-FFF2-40B4-BE49-F238E27FC236}">
                <a16:creationId xmlns:a16="http://schemas.microsoft.com/office/drawing/2014/main" id="{B0930FA3-72F9-ACFD-DAD0-0773B9BF509F}"/>
              </a:ext>
            </a:extLst>
          </p:cNvPr>
          <p:cNvGraphicFramePr>
            <a:graphicFrameLocks noGrp="1"/>
          </p:cNvGraphicFramePr>
          <p:nvPr>
            <p:extLst>
              <p:ext uri="{D42A27DB-BD31-4B8C-83A1-F6EECF244321}">
                <p14:modId xmlns:p14="http://schemas.microsoft.com/office/powerpoint/2010/main" val="2931949809"/>
              </p:ext>
            </p:extLst>
          </p:nvPr>
        </p:nvGraphicFramePr>
        <p:xfrm>
          <a:off x="6760059" y="518865"/>
          <a:ext cx="5399150" cy="3508259"/>
        </p:xfrm>
        <a:graphic>
          <a:graphicData uri="http://schemas.openxmlformats.org/drawingml/2006/table">
            <a:tbl>
              <a:tblPr firstRow="1" bandRow="1">
                <a:tableStyleId>{21E4AEA4-8DFA-4A89-87EB-49C32662AFE0}</a:tableStyleId>
              </a:tblPr>
              <a:tblGrid>
                <a:gridCol w="1255853">
                  <a:extLst>
                    <a:ext uri="{9D8B030D-6E8A-4147-A177-3AD203B41FA5}">
                      <a16:colId xmlns:a16="http://schemas.microsoft.com/office/drawing/2014/main" val="2655138372"/>
                    </a:ext>
                  </a:extLst>
                </a:gridCol>
                <a:gridCol w="1477529">
                  <a:extLst>
                    <a:ext uri="{9D8B030D-6E8A-4147-A177-3AD203B41FA5}">
                      <a16:colId xmlns:a16="http://schemas.microsoft.com/office/drawing/2014/main" val="1007895223"/>
                    </a:ext>
                  </a:extLst>
                </a:gridCol>
                <a:gridCol w="1562683">
                  <a:extLst>
                    <a:ext uri="{9D8B030D-6E8A-4147-A177-3AD203B41FA5}">
                      <a16:colId xmlns:a16="http://schemas.microsoft.com/office/drawing/2014/main" val="2289360777"/>
                    </a:ext>
                  </a:extLst>
                </a:gridCol>
                <a:gridCol w="1103085">
                  <a:extLst>
                    <a:ext uri="{9D8B030D-6E8A-4147-A177-3AD203B41FA5}">
                      <a16:colId xmlns:a16="http://schemas.microsoft.com/office/drawing/2014/main" val="2440294500"/>
                    </a:ext>
                  </a:extLst>
                </a:gridCol>
              </a:tblGrid>
              <a:tr h="376673">
                <a:tc gridSpan="4">
                  <a:txBody>
                    <a:bodyPr/>
                    <a:lstStyle/>
                    <a:p>
                      <a:pPr algn="ctr"/>
                      <a:r>
                        <a:rPr lang="en-US" sz="1400" dirty="0"/>
                        <a:t>Competitor Analysis</a:t>
                      </a:r>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50337136"/>
                  </a:ext>
                </a:extLst>
              </a:tr>
              <a:tr h="349127">
                <a:tc>
                  <a:txBody>
                    <a:bodyPr/>
                    <a:lstStyle/>
                    <a:p>
                      <a:r>
                        <a:rPr lang="en-US" sz="1400" b="1" dirty="0"/>
                        <a:t>Competitor</a:t>
                      </a:r>
                    </a:p>
                  </a:txBody>
                  <a:tcPr/>
                </a:tc>
                <a:tc>
                  <a:txBody>
                    <a:bodyPr/>
                    <a:lstStyle/>
                    <a:p>
                      <a:r>
                        <a:rPr lang="en-US" sz="1400" b="1" dirty="0"/>
                        <a:t>Features</a:t>
                      </a:r>
                    </a:p>
                  </a:txBody>
                  <a:tcPr/>
                </a:tc>
                <a:tc>
                  <a:txBody>
                    <a:bodyPr/>
                    <a:lstStyle/>
                    <a:p>
                      <a:r>
                        <a:rPr lang="en-US" sz="1400" b="1" dirty="0"/>
                        <a:t>Products</a:t>
                      </a:r>
                    </a:p>
                  </a:txBody>
                  <a:tcPr/>
                </a:tc>
                <a:tc>
                  <a:txBody>
                    <a:bodyPr/>
                    <a:lstStyle/>
                    <a:p>
                      <a:r>
                        <a:rPr lang="en-US" sz="1400" b="1" dirty="0"/>
                        <a:t>Segment</a:t>
                      </a:r>
                    </a:p>
                  </a:txBody>
                  <a:tcPr/>
                </a:tc>
                <a:extLst>
                  <a:ext uri="{0D108BD9-81ED-4DB2-BD59-A6C34878D82A}">
                    <a16:rowId xmlns:a16="http://schemas.microsoft.com/office/drawing/2014/main" val="3911057066"/>
                  </a:ext>
                </a:extLst>
              </a:tr>
              <a:tr h="837905">
                <a:tc>
                  <a:txBody>
                    <a:bodyPr/>
                    <a:lstStyle/>
                    <a:p>
                      <a:r>
                        <a:rPr lang="en-US" sz="1400" dirty="0"/>
                        <a:t>Medusa Bicycles</a:t>
                      </a:r>
                    </a:p>
                  </a:txBody>
                  <a:tcPr/>
                </a:tc>
                <a:tc>
                  <a:txBody>
                    <a:bodyPr/>
                    <a:lstStyle/>
                    <a:p>
                      <a:r>
                        <a:rPr lang="en-US" sz="1400" dirty="0"/>
                        <a:t>Economical price</a:t>
                      </a:r>
                    </a:p>
                  </a:txBody>
                  <a:tcPr/>
                </a:tc>
                <a:tc>
                  <a:txBody>
                    <a:bodyPr/>
                    <a:lstStyle/>
                    <a:p>
                      <a:r>
                        <a:rPr lang="en-US" sz="1400" dirty="0"/>
                        <a:t>Medusa Cross 24T, Medusa Flavor 20T </a:t>
                      </a:r>
                      <a:r>
                        <a:rPr lang="en-US" sz="1400" dirty="0" err="1"/>
                        <a:t>etc</a:t>
                      </a:r>
                      <a:endParaRPr lang="en-US" sz="1400" dirty="0"/>
                    </a:p>
                  </a:txBody>
                  <a:tcPr/>
                </a:tc>
                <a:tc>
                  <a:txBody>
                    <a:bodyPr/>
                    <a:lstStyle/>
                    <a:p>
                      <a:r>
                        <a:rPr lang="en-US" sz="1400" dirty="0"/>
                        <a:t>Low-cost segment</a:t>
                      </a:r>
                    </a:p>
                  </a:txBody>
                  <a:tcPr/>
                </a:tc>
                <a:extLst>
                  <a:ext uri="{0D108BD9-81ED-4DB2-BD59-A6C34878D82A}">
                    <a16:rowId xmlns:a16="http://schemas.microsoft.com/office/drawing/2014/main" val="3371191316"/>
                  </a:ext>
                </a:extLst>
              </a:tr>
              <a:tr h="837905">
                <a:tc>
                  <a:txBody>
                    <a:bodyPr/>
                    <a:lstStyle/>
                    <a:p>
                      <a:r>
                        <a:rPr lang="en-US" sz="1400" dirty="0"/>
                        <a:t>Zeus</a:t>
                      </a:r>
                    </a:p>
                  </a:txBody>
                  <a:tcPr/>
                </a:tc>
                <a:tc>
                  <a:txBody>
                    <a:bodyPr/>
                    <a:lstStyle/>
                    <a:p>
                      <a:r>
                        <a:rPr lang="en-US" sz="1400" dirty="0"/>
                        <a:t> Toughness and durability</a:t>
                      </a:r>
                    </a:p>
                  </a:txBody>
                  <a:tcPr/>
                </a:tc>
                <a:tc>
                  <a:txBody>
                    <a:bodyPr/>
                    <a:lstStyle/>
                    <a:p>
                      <a:r>
                        <a:rPr lang="en-US" sz="1400" dirty="0"/>
                        <a:t>Zeus </a:t>
                      </a:r>
                      <a:r>
                        <a:rPr lang="en-US" sz="1400" dirty="0" err="1"/>
                        <a:t>Roadeo</a:t>
                      </a:r>
                      <a:r>
                        <a:rPr lang="en-US" sz="1400" dirty="0"/>
                        <a:t> NFS 29t, Zeus Flunk, </a:t>
                      </a:r>
                      <a:r>
                        <a:rPr lang="en-US" sz="1400" dirty="0" err="1"/>
                        <a:t>etc</a:t>
                      </a:r>
                      <a:endParaRPr lang="en-US" sz="1400" dirty="0"/>
                    </a:p>
                  </a:txBody>
                  <a:tcPr/>
                </a:tc>
                <a:tc>
                  <a:txBody>
                    <a:bodyPr/>
                    <a:lstStyle/>
                    <a:p>
                      <a:r>
                        <a:rPr lang="en-US" sz="1400" dirty="0"/>
                        <a:t>Low-cost segment</a:t>
                      </a:r>
                    </a:p>
                  </a:txBody>
                  <a:tcPr/>
                </a:tc>
                <a:extLst>
                  <a:ext uri="{0D108BD9-81ED-4DB2-BD59-A6C34878D82A}">
                    <a16:rowId xmlns:a16="http://schemas.microsoft.com/office/drawing/2014/main" val="1353897801"/>
                  </a:ext>
                </a:extLst>
              </a:tr>
              <a:tr h="1106649">
                <a:tc>
                  <a:txBody>
                    <a:bodyPr/>
                    <a:lstStyle/>
                    <a:p>
                      <a:r>
                        <a:rPr lang="en-US" sz="1400" dirty="0"/>
                        <a:t>Poseidon</a:t>
                      </a:r>
                    </a:p>
                  </a:txBody>
                  <a:tcPr/>
                </a:tc>
                <a:tc>
                  <a:txBody>
                    <a:bodyPr/>
                    <a:lstStyle/>
                    <a:p>
                      <a:r>
                        <a:rPr lang="en-US" sz="1400" dirty="0"/>
                        <a:t>Excellent quality, economical price</a:t>
                      </a:r>
                    </a:p>
                  </a:txBody>
                  <a:tcPr/>
                </a:tc>
                <a:tc>
                  <a:txBody>
                    <a:bodyPr/>
                    <a:lstStyle/>
                    <a:p>
                      <a:r>
                        <a:rPr lang="en-US" sz="1400" dirty="0"/>
                        <a:t>Poseidon Gamer NV, Poseidon Senapati </a:t>
                      </a:r>
                      <a:r>
                        <a:rPr lang="en-US" sz="1400" dirty="0" err="1"/>
                        <a:t>etc</a:t>
                      </a:r>
                      <a:endParaRPr lang="en-US" sz="1400" dirty="0"/>
                    </a:p>
                  </a:txBody>
                  <a:tcPr/>
                </a:tc>
                <a:tc>
                  <a:txBody>
                    <a:bodyPr/>
                    <a:lstStyle/>
                    <a:p>
                      <a:r>
                        <a:rPr lang="en-US" sz="1400" dirty="0"/>
                        <a:t>Low-cost segment</a:t>
                      </a:r>
                    </a:p>
                  </a:txBody>
                  <a:tcPr/>
                </a:tc>
                <a:extLst>
                  <a:ext uri="{0D108BD9-81ED-4DB2-BD59-A6C34878D82A}">
                    <a16:rowId xmlns:a16="http://schemas.microsoft.com/office/drawing/2014/main" val="2222833741"/>
                  </a:ext>
                </a:extLst>
              </a:tr>
            </a:tbl>
          </a:graphicData>
        </a:graphic>
      </p:graphicFrame>
      <p:grpSp>
        <p:nvGrpSpPr>
          <p:cNvPr id="60" name="Group 59">
            <a:extLst>
              <a:ext uri="{FF2B5EF4-FFF2-40B4-BE49-F238E27FC236}">
                <a16:creationId xmlns:a16="http://schemas.microsoft.com/office/drawing/2014/main" id="{FD6B079B-F2DC-5372-42F3-3E75C70A17F2}"/>
              </a:ext>
            </a:extLst>
          </p:cNvPr>
          <p:cNvGrpSpPr/>
          <p:nvPr/>
        </p:nvGrpSpPr>
        <p:grpSpPr>
          <a:xfrm>
            <a:off x="6765812" y="4142927"/>
            <a:ext cx="5469976" cy="2614139"/>
            <a:chOff x="6722024" y="3724996"/>
            <a:chExt cx="5469976" cy="2614139"/>
          </a:xfrm>
        </p:grpSpPr>
        <p:sp>
          <p:nvSpPr>
            <p:cNvPr id="57" name="Rectangle 56">
              <a:extLst>
                <a:ext uri="{FF2B5EF4-FFF2-40B4-BE49-F238E27FC236}">
                  <a16:creationId xmlns:a16="http://schemas.microsoft.com/office/drawing/2014/main" id="{CBBA9B3E-7FF8-C7C2-6EB7-DA8A13A9D28F}"/>
                </a:ext>
              </a:extLst>
            </p:cNvPr>
            <p:cNvSpPr/>
            <p:nvPr/>
          </p:nvSpPr>
          <p:spPr>
            <a:xfrm>
              <a:off x="6722024" y="3909662"/>
              <a:ext cx="5399151" cy="24294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6" name="Group 55">
              <a:extLst>
                <a:ext uri="{FF2B5EF4-FFF2-40B4-BE49-F238E27FC236}">
                  <a16:creationId xmlns:a16="http://schemas.microsoft.com/office/drawing/2014/main" id="{1D4E8D6A-1F45-C40A-D7EB-B76FD9AD6842}"/>
                </a:ext>
              </a:extLst>
            </p:cNvPr>
            <p:cNvGrpSpPr/>
            <p:nvPr/>
          </p:nvGrpSpPr>
          <p:grpSpPr>
            <a:xfrm>
              <a:off x="6907485" y="4313474"/>
              <a:ext cx="5284515" cy="1742103"/>
              <a:chOff x="6907485" y="4252268"/>
              <a:chExt cx="5284515" cy="1742103"/>
            </a:xfrm>
          </p:grpSpPr>
          <p:grpSp>
            <p:nvGrpSpPr>
              <p:cNvPr id="32" name="Group 31">
                <a:extLst>
                  <a:ext uri="{FF2B5EF4-FFF2-40B4-BE49-F238E27FC236}">
                    <a16:creationId xmlns:a16="http://schemas.microsoft.com/office/drawing/2014/main" id="{6526E63B-986F-D964-E2AF-B5BD3EAAB3FB}"/>
                  </a:ext>
                </a:extLst>
              </p:cNvPr>
              <p:cNvGrpSpPr/>
              <p:nvPr/>
            </p:nvGrpSpPr>
            <p:grpSpPr>
              <a:xfrm>
                <a:off x="6907485" y="5625039"/>
                <a:ext cx="2080591" cy="369332"/>
                <a:chOff x="6983896" y="4209513"/>
                <a:chExt cx="2080591" cy="369332"/>
              </a:xfrm>
            </p:grpSpPr>
            <p:sp>
              <p:nvSpPr>
                <p:cNvPr id="29" name="Rectangle: Rounded Corners 28">
                  <a:extLst>
                    <a:ext uri="{FF2B5EF4-FFF2-40B4-BE49-F238E27FC236}">
                      <a16:creationId xmlns:a16="http://schemas.microsoft.com/office/drawing/2014/main" id="{D83C8A60-16CA-3501-2720-77A2736B5B04}"/>
                    </a:ext>
                  </a:extLst>
                </p:cNvPr>
                <p:cNvSpPr/>
                <p:nvPr/>
              </p:nvSpPr>
              <p:spPr>
                <a:xfrm>
                  <a:off x="6983896" y="4209513"/>
                  <a:ext cx="2080591" cy="369332"/>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1C30BE7-F623-9185-5776-7928634C6A89}"/>
                    </a:ext>
                  </a:extLst>
                </p:cNvPr>
                <p:cNvSpPr txBox="1"/>
                <p:nvPr/>
              </p:nvSpPr>
              <p:spPr>
                <a:xfrm>
                  <a:off x="7009109" y="4209513"/>
                  <a:ext cx="2009334" cy="369332"/>
                </a:xfrm>
                <a:prstGeom prst="rect">
                  <a:avLst/>
                </a:prstGeom>
                <a:noFill/>
                <a:ln>
                  <a:noFill/>
                </a:ln>
              </p:spPr>
              <p:txBody>
                <a:bodyPr wrap="square">
                  <a:spAutoFit/>
                </a:bodyPr>
                <a:lstStyle/>
                <a:p>
                  <a:r>
                    <a:rPr lang="en-US" dirty="0"/>
                    <a:t>Classic sales model</a:t>
                  </a:r>
                </a:p>
              </p:txBody>
            </p:sp>
          </p:grpSp>
          <p:grpSp>
            <p:nvGrpSpPr>
              <p:cNvPr id="34" name="Group 33">
                <a:extLst>
                  <a:ext uri="{FF2B5EF4-FFF2-40B4-BE49-F238E27FC236}">
                    <a16:creationId xmlns:a16="http://schemas.microsoft.com/office/drawing/2014/main" id="{DA6DB57C-599B-4639-14CE-A7E0996815FA}"/>
                  </a:ext>
                </a:extLst>
              </p:cNvPr>
              <p:cNvGrpSpPr/>
              <p:nvPr/>
            </p:nvGrpSpPr>
            <p:grpSpPr>
              <a:xfrm>
                <a:off x="6911264" y="4258780"/>
                <a:ext cx="1655665" cy="369332"/>
                <a:chOff x="7383439" y="4907996"/>
                <a:chExt cx="1655665" cy="369332"/>
              </a:xfrm>
            </p:grpSpPr>
            <p:sp>
              <p:nvSpPr>
                <p:cNvPr id="33" name="Rectangle: Rounded Corners 32">
                  <a:extLst>
                    <a:ext uri="{FF2B5EF4-FFF2-40B4-BE49-F238E27FC236}">
                      <a16:creationId xmlns:a16="http://schemas.microsoft.com/office/drawing/2014/main" id="{D9D83A33-E844-416B-E940-C597A4AE4210}"/>
                    </a:ext>
                  </a:extLst>
                </p:cNvPr>
                <p:cNvSpPr/>
                <p:nvPr/>
              </p:nvSpPr>
              <p:spPr>
                <a:xfrm>
                  <a:off x="7383439" y="4907996"/>
                  <a:ext cx="1650835" cy="369332"/>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6065844-426E-EC4D-CD83-698C922BE228}"/>
                    </a:ext>
                  </a:extLst>
                </p:cNvPr>
                <p:cNvSpPr txBox="1"/>
                <p:nvPr/>
              </p:nvSpPr>
              <p:spPr>
                <a:xfrm>
                  <a:off x="7480392" y="4907996"/>
                  <a:ext cx="1558712" cy="369332"/>
                </a:xfrm>
                <a:prstGeom prst="rect">
                  <a:avLst/>
                </a:prstGeom>
                <a:noFill/>
              </p:spPr>
              <p:txBody>
                <a:bodyPr wrap="square">
                  <a:spAutoFit/>
                </a:bodyPr>
                <a:lstStyle/>
                <a:p>
                  <a:r>
                    <a:rPr lang="en-US" dirty="0"/>
                    <a:t>Customization</a:t>
                  </a:r>
                </a:p>
              </p:txBody>
            </p:sp>
          </p:grpSp>
          <p:grpSp>
            <p:nvGrpSpPr>
              <p:cNvPr id="38" name="Group 37">
                <a:extLst>
                  <a:ext uri="{FF2B5EF4-FFF2-40B4-BE49-F238E27FC236}">
                    <a16:creationId xmlns:a16="http://schemas.microsoft.com/office/drawing/2014/main" id="{0918EFCD-60F9-16DC-CFAB-B26E87773F1E}"/>
                  </a:ext>
                </a:extLst>
              </p:cNvPr>
              <p:cNvGrpSpPr/>
              <p:nvPr/>
            </p:nvGrpSpPr>
            <p:grpSpPr>
              <a:xfrm>
                <a:off x="10257901" y="4899849"/>
                <a:ext cx="1778227" cy="385856"/>
                <a:chOff x="7573074" y="6133590"/>
                <a:chExt cx="1818563" cy="385856"/>
              </a:xfrm>
            </p:grpSpPr>
            <p:sp>
              <p:nvSpPr>
                <p:cNvPr id="37" name="Rectangle: Rounded Corners 36">
                  <a:extLst>
                    <a:ext uri="{FF2B5EF4-FFF2-40B4-BE49-F238E27FC236}">
                      <a16:creationId xmlns:a16="http://schemas.microsoft.com/office/drawing/2014/main" id="{8FE57EC7-1E0A-2D99-16C2-321A6AFBE718}"/>
                    </a:ext>
                  </a:extLst>
                </p:cNvPr>
                <p:cNvSpPr/>
                <p:nvPr/>
              </p:nvSpPr>
              <p:spPr>
                <a:xfrm>
                  <a:off x="7573074" y="6150114"/>
                  <a:ext cx="1818563" cy="369332"/>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095A183-FD56-0F0D-1821-DE15D717BC66}"/>
                    </a:ext>
                  </a:extLst>
                </p:cNvPr>
                <p:cNvSpPr txBox="1"/>
                <p:nvPr/>
              </p:nvSpPr>
              <p:spPr>
                <a:xfrm>
                  <a:off x="7601770" y="6133590"/>
                  <a:ext cx="1598632" cy="369332"/>
                </a:xfrm>
                <a:prstGeom prst="rect">
                  <a:avLst/>
                </a:prstGeom>
                <a:noFill/>
              </p:spPr>
              <p:txBody>
                <a:bodyPr wrap="square">
                  <a:spAutoFit/>
                </a:bodyPr>
                <a:lstStyle/>
                <a:p>
                  <a:r>
                    <a:rPr lang="en-US" dirty="0"/>
                    <a:t>Leasing Model</a:t>
                  </a:r>
                </a:p>
              </p:txBody>
            </p:sp>
          </p:grpSp>
          <p:grpSp>
            <p:nvGrpSpPr>
              <p:cNvPr id="42" name="Group 41">
                <a:extLst>
                  <a:ext uri="{FF2B5EF4-FFF2-40B4-BE49-F238E27FC236}">
                    <a16:creationId xmlns:a16="http://schemas.microsoft.com/office/drawing/2014/main" id="{565461BB-5E89-4269-22D2-9DCF78B27EDD}"/>
                  </a:ext>
                </a:extLst>
              </p:cNvPr>
              <p:cNvGrpSpPr/>
              <p:nvPr/>
            </p:nvGrpSpPr>
            <p:grpSpPr>
              <a:xfrm>
                <a:off x="8732072" y="4254812"/>
                <a:ext cx="1493251" cy="369332"/>
                <a:chOff x="9041463" y="5718696"/>
                <a:chExt cx="1493251" cy="369332"/>
              </a:xfrm>
            </p:grpSpPr>
            <p:sp>
              <p:nvSpPr>
                <p:cNvPr id="41" name="Rectangle: Rounded Corners 40">
                  <a:extLst>
                    <a:ext uri="{FF2B5EF4-FFF2-40B4-BE49-F238E27FC236}">
                      <a16:creationId xmlns:a16="http://schemas.microsoft.com/office/drawing/2014/main" id="{2CB69F1D-3F40-9A85-3A0C-BEDBB4C35C8D}"/>
                    </a:ext>
                  </a:extLst>
                </p:cNvPr>
                <p:cNvSpPr/>
                <p:nvPr/>
              </p:nvSpPr>
              <p:spPr>
                <a:xfrm>
                  <a:off x="9041463" y="5718696"/>
                  <a:ext cx="1493251" cy="369332"/>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6F740934-CDAB-BAC1-EF5C-0856C9649027}"/>
                    </a:ext>
                  </a:extLst>
                </p:cNvPr>
                <p:cNvSpPr txBox="1"/>
                <p:nvPr/>
              </p:nvSpPr>
              <p:spPr>
                <a:xfrm>
                  <a:off x="9093742" y="5718696"/>
                  <a:ext cx="1438660" cy="369332"/>
                </a:xfrm>
                <a:prstGeom prst="rect">
                  <a:avLst/>
                </a:prstGeom>
                <a:noFill/>
              </p:spPr>
              <p:txBody>
                <a:bodyPr wrap="square">
                  <a:spAutoFit/>
                </a:bodyPr>
                <a:lstStyle/>
                <a:p>
                  <a:r>
                    <a:rPr lang="en-US" dirty="0"/>
                    <a:t>Bike Sharing</a:t>
                  </a:r>
                </a:p>
              </p:txBody>
            </p:sp>
          </p:grpSp>
          <p:grpSp>
            <p:nvGrpSpPr>
              <p:cNvPr id="46" name="Group 45">
                <a:extLst>
                  <a:ext uri="{FF2B5EF4-FFF2-40B4-BE49-F238E27FC236}">
                    <a16:creationId xmlns:a16="http://schemas.microsoft.com/office/drawing/2014/main" id="{DC94E76A-48F4-4E39-363D-060829221E25}"/>
                  </a:ext>
                </a:extLst>
              </p:cNvPr>
              <p:cNvGrpSpPr/>
              <p:nvPr/>
            </p:nvGrpSpPr>
            <p:grpSpPr>
              <a:xfrm>
                <a:off x="10367781" y="4252268"/>
                <a:ext cx="1824219" cy="369332"/>
                <a:chOff x="7652580" y="5792401"/>
                <a:chExt cx="1824219" cy="369332"/>
              </a:xfrm>
            </p:grpSpPr>
            <p:sp>
              <p:nvSpPr>
                <p:cNvPr id="45" name="Rectangle: Rounded Corners 44">
                  <a:extLst>
                    <a:ext uri="{FF2B5EF4-FFF2-40B4-BE49-F238E27FC236}">
                      <a16:creationId xmlns:a16="http://schemas.microsoft.com/office/drawing/2014/main" id="{75AEBE6A-BEC8-085A-46D0-8EF40DC121C2}"/>
                    </a:ext>
                  </a:extLst>
                </p:cNvPr>
                <p:cNvSpPr/>
                <p:nvPr/>
              </p:nvSpPr>
              <p:spPr>
                <a:xfrm>
                  <a:off x="7652580" y="5792401"/>
                  <a:ext cx="1650835" cy="369332"/>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5956A5C-412D-6136-5DFF-07BCF4E50ACB}"/>
                    </a:ext>
                  </a:extLst>
                </p:cNvPr>
                <p:cNvSpPr txBox="1"/>
                <p:nvPr/>
              </p:nvSpPr>
              <p:spPr>
                <a:xfrm>
                  <a:off x="7825964" y="5792401"/>
                  <a:ext cx="1650835" cy="369332"/>
                </a:xfrm>
                <a:prstGeom prst="rect">
                  <a:avLst/>
                </a:prstGeom>
                <a:noFill/>
              </p:spPr>
              <p:txBody>
                <a:bodyPr wrap="square">
                  <a:spAutoFit/>
                </a:bodyPr>
                <a:lstStyle/>
                <a:p>
                  <a:r>
                    <a:rPr lang="en-US" dirty="0"/>
                    <a:t>IoT services</a:t>
                  </a:r>
                </a:p>
              </p:txBody>
            </p:sp>
          </p:grpSp>
          <p:grpSp>
            <p:nvGrpSpPr>
              <p:cNvPr id="50" name="Group 49">
                <a:extLst>
                  <a:ext uri="{FF2B5EF4-FFF2-40B4-BE49-F238E27FC236}">
                    <a16:creationId xmlns:a16="http://schemas.microsoft.com/office/drawing/2014/main" id="{72BDE82E-D6FB-89EE-D2FA-A7A4D6E92D70}"/>
                  </a:ext>
                </a:extLst>
              </p:cNvPr>
              <p:cNvGrpSpPr/>
              <p:nvPr/>
            </p:nvGrpSpPr>
            <p:grpSpPr>
              <a:xfrm>
                <a:off x="6907485" y="4927692"/>
                <a:ext cx="3248521" cy="386882"/>
                <a:chOff x="9398665" y="6301282"/>
                <a:chExt cx="3248521" cy="386882"/>
              </a:xfrm>
            </p:grpSpPr>
            <p:sp>
              <p:nvSpPr>
                <p:cNvPr id="49" name="Rectangle: Rounded Corners 48">
                  <a:extLst>
                    <a:ext uri="{FF2B5EF4-FFF2-40B4-BE49-F238E27FC236}">
                      <a16:creationId xmlns:a16="http://schemas.microsoft.com/office/drawing/2014/main" id="{23BF7D5E-0A72-47D6-175C-59D21B04A64E}"/>
                    </a:ext>
                  </a:extLst>
                </p:cNvPr>
                <p:cNvSpPr/>
                <p:nvPr/>
              </p:nvSpPr>
              <p:spPr>
                <a:xfrm>
                  <a:off x="9398665" y="6301282"/>
                  <a:ext cx="3248521" cy="369332"/>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F04194D0-99B0-B44D-0BB9-690199B8F2A4}"/>
                    </a:ext>
                  </a:extLst>
                </p:cNvPr>
                <p:cNvSpPr txBox="1"/>
                <p:nvPr/>
              </p:nvSpPr>
              <p:spPr>
                <a:xfrm>
                  <a:off x="9446631" y="6318832"/>
                  <a:ext cx="3200555" cy="369332"/>
                </a:xfrm>
                <a:prstGeom prst="rect">
                  <a:avLst/>
                </a:prstGeom>
                <a:noFill/>
              </p:spPr>
              <p:txBody>
                <a:bodyPr wrap="square">
                  <a:spAutoFit/>
                </a:bodyPr>
                <a:lstStyle/>
                <a:p>
                  <a:r>
                    <a:rPr lang="en-US" dirty="0"/>
                    <a:t>Exclusive Trek distribution rights</a:t>
                  </a:r>
                </a:p>
              </p:txBody>
            </p:sp>
          </p:grpSp>
          <p:grpSp>
            <p:nvGrpSpPr>
              <p:cNvPr id="55" name="Group 54">
                <a:extLst>
                  <a:ext uri="{FF2B5EF4-FFF2-40B4-BE49-F238E27FC236}">
                    <a16:creationId xmlns:a16="http://schemas.microsoft.com/office/drawing/2014/main" id="{2DEEAFD8-4DDE-FC42-546B-BF71A8269A92}"/>
                  </a:ext>
                </a:extLst>
              </p:cNvPr>
              <p:cNvGrpSpPr/>
              <p:nvPr/>
            </p:nvGrpSpPr>
            <p:grpSpPr>
              <a:xfrm>
                <a:off x="9147543" y="5596604"/>
                <a:ext cx="2888585" cy="385856"/>
                <a:chOff x="9329532" y="6068030"/>
                <a:chExt cx="2888585" cy="385856"/>
              </a:xfrm>
            </p:grpSpPr>
            <p:sp>
              <p:nvSpPr>
                <p:cNvPr id="54" name="Rectangle: Rounded Corners 53">
                  <a:extLst>
                    <a:ext uri="{FF2B5EF4-FFF2-40B4-BE49-F238E27FC236}">
                      <a16:creationId xmlns:a16="http://schemas.microsoft.com/office/drawing/2014/main" id="{28149E39-8758-0887-1034-49A2127BC1B7}"/>
                    </a:ext>
                  </a:extLst>
                </p:cNvPr>
                <p:cNvSpPr/>
                <p:nvPr/>
              </p:nvSpPr>
              <p:spPr>
                <a:xfrm>
                  <a:off x="9329532" y="6084554"/>
                  <a:ext cx="2888585" cy="369332"/>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F59510F-07CE-72F6-22B9-D1A6F3C5A119}"/>
                    </a:ext>
                  </a:extLst>
                </p:cNvPr>
                <p:cNvSpPr txBox="1"/>
                <p:nvPr/>
              </p:nvSpPr>
              <p:spPr>
                <a:xfrm>
                  <a:off x="9380520" y="6068030"/>
                  <a:ext cx="2811480" cy="369332"/>
                </a:xfrm>
                <a:prstGeom prst="rect">
                  <a:avLst/>
                </a:prstGeom>
                <a:noFill/>
              </p:spPr>
              <p:txBody>
                <a:bodyPr wrap="square">
                  <a:spAutoFit/>
                </a:bodyPr>
                <a:lstStyle/>
                <a:p>
                  <a:r>
                    <a:rPr lang="en-US" dirty="0"/>
                    <a:t>Customer Group Alignment</a:t>
                  </a:r>
                </a:p>
              </p:txBody>
            </p:sp>
          </p:grpSp>
        </p:grpSp>
        <p:sp>
          <p:nvSpPr>
            <p:cNvPr id="58" name="Rectangle 57">
              <a:extLst>
                <a:ext uri="{FF2B5EF4-FFF2-40B4-BE49-F238E27FC236}">
                  <a16:creationId xmlns:a16="http://schemas.microsoft.com/office/drawing/2014/main" id="{325819F1-D7BA-06C5-03BF-6F804F92C8CC}"/>
                </a:ext>
              </a:extLst>
            </p:cNvPr>
            <p:cNvSpPr/>
            <p:nvPr/>
          </p:nvSpPr>
          <p:spPr>
            <a:xfrm>
              <a:off x="7797339" y="3724996"/>
              <a:ext cx="3248520" cy="36933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Opportunities to increase profits</a:t>
              </a:r>
            </a:p>
          </p:txBody>
        </p:sp>
      </p:grpSp>
      <p:grpSp>
        <p:nvGrpSpPr>
          <p:cNvPr id="35" name="Group 34">
            <a:extLst>
              <a:ext uri="{FF2B5EF4-FFF2-40B4-BE49-F238E27FC236}">
                <a16:creationId xmlns:a16="http://schemas.microsoft.com/office/drawing/2014/main" id="{723A8C14-C5FC-5C7C-6612-151639A3E3DF}"/>
              </a:ext>
            </a:extLst>
          </p:cNvPr>
          <p:cNvGrpSpPr/>
          <p:nvPr/>
        </p:nvGrpSpPr>
        <p:grpSpPr>
          <a:xfrm>
            <a:off x="0" y="0"/>
            <a:ext cx="12138132" cy="317241"/>
            <a:chOff x="0" y="0"/>
            <a:chExt cx="10723984" cy="317241"/>
          </a:xfrm>
          <a:solidFill>
            <a:schemeClr val="accent2">
              <a:lumMod val="50000"/>
            </a:schemeClr>
          </a:solidFill>
        </p:grpSpPr>
        <p:sp>
          <p:nvSpPr>
            <p:cNvPr id="39" name="Arrow: Pentagon 38">
              <a:extLst>
                <a:ext uri="{FF2B5EF4-FFF2-40B4-BE49-F238E27FC236}">
                  <a16:creationId xmlns:a16="http://schemas.microsoft.com/office/drawing/2014/main" id="{816A611B-E8EB-AF0D-3249-37C28AF2E563}"/>
                </a:ext>
              </a:extLst>
            </p:cNvPr>
            <p:cNvSpPr/>
            <p:nvPr/>
          </p:nvSpPr>
          <p:spPr>
            <a:xfrm>
              <a:off x="0"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Market Scenario</a:t>
              </a:r>
            </a:p>
          </p:txBody>
        </p:sp>
        <p:sp>
          <p:nvSpPr>
            <p:cNvPr id="43" name="Arrow: Pentagon 42">
              <a:extLst>
                <a:ext uri="{FF2B5EF4-FFF2-40B4-BE49-F238E27FC236}">
                  <a16:creationId xmlns:a16="http://schemas.microsoft.com/office/drawing/2014/main" id="{E05EF8D2-DB70-B00A-80E0-4951440E1C74}"/>
                </a:ext>
              </a:extLst>
            </p:cNvPr>
            <p:cNvSpPr/>
            <p:nvPr/>
          </p:nvSpPr>
          <p:spPr>
            <a:xfrm>
              <a:off x="2102498"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About Hades</a:t>
              </a:r>
            </a:p>
          </p:txBody>
        </p:sp>
        <p:sp>
          <p:nvSpPr>
            <p:cNvPr id="47" name="Arrow: Pentagon 46">
              <a:extLst>
                <a:ext uri="{FF2B5EF4-FFF2-40B4-BE49-F238E27FC236}">
                  <a16:creationId xmlns:a16="http://schemas.microsoft.com/office/drawing/2014/main" id="{213F6F1A-E167-8BF5-9DC2-7B81460EAF7D}"/>
                </a:ext>
              </a:extLst>
            </p:cNvPr>
            <p:cNvSpPr/>
            <p:nvPr/>
          </p:nvSpPr>
          <p:spPr>
            <a:xfrm>
              <a:off x="4204996" y="0"/>
              <a:ext cx="2313992" cy="317241"/>
            </a:xfrm>
            <a:prstGeom prst="homePlate">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Environment Analysis</a:t>
              </a:r>
            </a:p>
          </p:txBody>
        </p:sp>
        <p:sp>
          <p:nvSpPr>
            <p:cNvPr id="51" name="Arrow: Pentagon 50">
              <a:extLst>
                <a:ext uri="{FF2B5EF4-FFF2-40B4-BE49-F238E27FC236}">
                  <a16:creationId xmlns:a16="http://schemas.microsoft.com/office/drawing/2014/main" id="{2A8A0900-DE04-FB2D-63F0-B94B6C12D89C}"/>
                </a:ext>
              </a:extLst>
            </p:cNvPr>
            <p:cNvSpPr/>
            <p:nvPr/>
          </p:nvSpPr>
          <p:spPr>
            <a:xfrm>
              <a:off x="6307494"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Revenue Streams</a:t>
              </a:r>
            </a:p>
          </p:txBody>
        </p:sp>
        <p:sp>
          <p:nvSpPr>
            <p:cNvPr id="59" name="Arrow: Pentagon 58">
              <a:extLst>
                <a:ext uri="{FF2B5EF4-FFF2-40B4-BE49-F238E27FC236}">
                  <a16:creationId xmlns:a16="http://schemas.microsoft.com/office/drawing/2014/main" id="{F0F1DE7B-D2A2-4E3F-7225-54F730F35C97}"/>
                </a:ext>
              </a:extLst>
            </p:cNvPr>
            <p:cNvSpPr/>
            <p:nvPr/>
          </p:nvSpPr>
          <p:spPr>
            <a:xfrm>
              <a:off x="8409992"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Threats</a:t>
              </a:r>
            </a:p>
          </p:txBody>
        </p:sp>
      </p:grpSp>
    </p:spTree>
    <p:extLst>
      <p:ext uri="{BB962C8B-B14F-4D97-AF65-F5344CB8AC3E}">
        <p14:creationId xmlns:p14="http://schemas.microsoft.com/office/powerpoint/2010/main" val="3860059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E00DA78-D2F4-596C-4F12-69AEC85DE130}"/>
              </a:ext>
            </a:extLst>
          </p:cNvPr>
          <p:cNvSpPr/>
          <p:nvPr/>
        </p:nvSpPr>
        <p:spPr>
          <a:xfrm>
            <a:off x="0" y="466532"/>
            <a:ext cx="5995484" cy="25192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Classic Sales Model</a:t>
            </a:r>
          </a:p>
        </p:txBody>
      </p:sp>
      <p:grpSp>
        <p:nvGrpSpPr>
          <p:cNvPr id="24" name="Group 23">
            <a:extLst>
              <a:ext uri="{FF2B5EF4-FFF2-40B4-BE49-F238E27FC236}">
                <a16:creationId xmlns:a16="http://schemas.microsoft.com/office/drawing/2014/main" id="{0E6FB0E3-88DB-70CB-0AC2-5FDB57789D6D}"/>
              </a:ext>
            </a:extLst>
          </p:cNvPr>
          <p:cNvGrpSpPr/>
          <p:nvPr/>
        </p:nvGrpSpPr>
        <p:grpSpPr>
          <a:xfrm>
            <a:off x="-1" y="793102"/>
            <a:ext cx="5995485" cy="646331"/>
            <a:chOff x="-1" y="793102"/>
            <a:chExt cx="5995485" cy="646331"/>
          </a:xfrm>
        </p:grpSpPr>
        <p:sp>
          <p:nvSpPr>
            <p:cNvPr id="22" name="TextBox 21">
              <a:extLst>
                <a:ext uri="{FF2B5EF4-FFF2-40B4-BE49-F238E27FC236}">
                  <a16:creationId xmlns:a16="http://schemas.microsoft.com/office/drawing/2014/main" id="{3F246600-86B3-3D44-DBD1-7103313D2D71}"/>
                </a:ext>
              </a:extLst>
            </p:cNvPr>
            <p:cNvSpPr txBox="1"/>
            <p:nvPr/>
          </p:nvSpPr>
          <p:spPr>
            <a:xfrm>
              <a:off x="1123773" y="793102"/>
              <a:ext cx="4871711"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Ensuring the functionality of electric bicycle</a:t>
              </a:r>
            </a:p>
            <a:p>
              <a:pPr marL="171450" indent="-171450">
                <a:buFont typeface="Arial" panose="020B0604020202020204" pitchFamily="34" charset="0"/>
                <a:buChar char="•"/>
              </a:pPr>
              <a:r>
                <a:rPr lang="en-IN" sz="1200" dirty="0"/>
                <a:t>Cost savings in comparison to new component</a:t>
              </a:r>
            </a:p>
            <a:p>
              <a:pPr marL="171450" indent="-171450">
                <a:buFont typeface="Arial" panose="020B0604020202020204" pitchFamily="34" charset="0"/>
                <a:buChar char="•"/>
              </a:pPr>
              <a:r>
                <a:rPr lang="en-IN" sz="1200" dirty="0"/>
                <a:t>Remanufacturing as an ecological sales argument</a:t>
              </a:r>
            </a:p>
          </p:txBody>
        </p:sp>
        <p:sp>
          <p:nvSpPr>
            <p:cNvPr id="23" name="Rectangle 22">
              <a:extLst>
                <a:ext uri="{FF2B5EF4-FFF2-40B4-BE49-F238E27FC236}">
                  <a16:creationId xmlns:a16="http://schemas.microsoft.com/office/drawing/2014/main" id="{0CE6E3AA-F715-8E99-29AF-88400C0F1BF6}"/>
                </a:ext>
              </a:extLst>
            </p:cNvPr>
            <p:cNvSpPr/>
            <p:nvPr/>
          </p:nvSpPr>
          <p:spPr>
            <a:xfrm>
              <a:off x="-1" y="793102"/>
              <a:ext cx="1119673" cy="646331"/>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Value Proposition</a:t>
              </a:r>
            </a:p>
          </p:txBody>
        </p:sp>
      </p:grpSp>
      <p:grpSp>
        <p:nvGrpSpPr>
          <p:cNvPr id="25" name="Group 24">
            <a:extLst>
              <a:ext uri="{FF2B5EF4-FFF2-40B4-BE49-F238E27FC236}">
                <a16:creationId xmlns:a16="http://schemas.microsoft.com/office/drawing/2014/main" id="{DB9277C8-8166-6AB6-B5C8-4D43E527B0FA}"/>
              </a:ext>
            </a:extLst>
          </p:cNvPr>
          <p:cNvGrpSpPr/>
          <p:nvPr/>
        </p:nvGrpSpPr>
        <p:grpSpPr>
          <a:xfrm>
            <a:off x="0" y="1514077"/>
            <a:ext cx="5995485" cy="646331"/>
            <a:chOff x="-1" y="793102"/>
            <a:chExt cx="5995485" cy="646331"/>
          </a:xfrm>
        </p:grpSpPr>
        <p:sp>
          <p:nvSpPr>
            <p:cNvPr id="26" name="TextBox 25">
              <a:extLst>
                <a:ext uri="{FF2B5EF4-FFF2-40B4-BE49-F238E27FC236}">
                  <a16:creationId xmlns:a16="http://schemas.microsoft.com/office/drawing/2014/main" id="{15CB5E81-C970-69EE-8FB7-C0B4538BBEE6}"/>
                </a:ext>
              </a:extLst>
            </p:cNvPr>
            <p:cNvSpPr txBox="1"/>
            <p:nvPr/>
          </p:nvSpPr>
          <p:spPr>
            <a:xfrm>
              <a:off x="1123773" y="793102"/>
              <a:ext cx="4871711"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Remanufacturing of components</a:t>
              </a:r>
            </a:p>
            <a:p>
              <a:pPr marL="171450" indent="-171450">
                <a:buFont typeface="Arial" panose="020B0604020202020204" pitchFamily="34" charset="0"/>
                <a:buChar char="•"/>
              </a:pPr>
              <a:r>
                <a:rPr lang="en-IN" sz="1200" dirty="0"/>
                <a:t>Reverse logistics and take-back of cores</a:t>
              </a:r>
            </a:p>
            <a:p>
              <a:pPr marL="171450" indent="-171450">
                <a:buFont typeface="Arial" panose="020B0604020202020204" pitchFamily="34" charset="0"/>
                <a:buChar char="•"/>
              </a:pPr>
              <a:r>
                <a:rPr lang="en-IN" sz="1200" dirty="0"/>
                <a:t>Upgrades/additive retrofitting</a:t>
              </a:r>
            </a:p>
          </p:txBody>
        </p:sp>
        <p:sp>
          <p:nvSpPr>
            <p:cNvPr id="27" name="Rectangle 26">
              <a:extLst>
                <a:ext uri="{FF2B5EF4-FFF2-40B4-BE49-F238E27FC236}">
                  <a16:creationId xmlns:a16="http://schemas.microsoft.com/office/drawing/2014/main" id="{6609471B-4EC3-F292-FCA1-9D305858EF08}"/>
                </a:ext>
              </a:extLst>
            </p:cNvPr>
            <p:cNvSpPr/>
            <p:nvPr/>
          </p:nvSpPr>
          <p:spPr>
            <a:xfrm>
              <a:off x="-1" y="793102"/>
              <a:ext cx="1119673" cy="6463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Key Activities</a:t>
              </a:r>
            </a:p>
          </p:txBody>
        </p:sp>
      </p:grpSp>
      <p:grpSp>
        <p:nvGrpSpPr>
          <p:cNvPr id="28" name="Group 27">
            <a:extLst>
              <a:ext uri="{FF2B5EF4-FFF2-40B4-BE49-F238E27FC236}">
                <a16:creationId xmlns:a16="http://schemas.microsoft.com/office/drawing/2014/main" id="{3FD5144F-6221-CA76-D9F8-7AFA35E435D2}"/>
              </a:ext>
            </a:extLst>
          </p:cNvPr>
          <p:cNvGrpSpPr/>
          <p:nvPr/>
        </p:nvGrpSpPr>
        <p:grpSpPr>
          <a:xfrm>
            <a:off x="0" y="2235052"/>
            <a:ext cx="5995485" cy="646331"/>
            <a:chOff x="-1" y="793102"/>
            <a:chExt cx="5995485" cy="646331"/>
          </a:xfrm>
        </p:grpSpPr>
        <p:sp>
          <p:nvSpPr>
            <p:cNvPr id="29" name="TextBox 28">
              <a:extLst>
                <a:ext uri="{FF2B5EF4-FFF2-40B4-BE49-F238E27FC236}">
                  <a16:creationId xmlns:a16="http://schemas.microsoft.com/office/drawing/2014/main" id="{DF1B5171-141D-BDFF-DB3A-8CF6040D3F54}"/>
                </a:ext>
              </a:extLst>
            </p:cNvPr>
            <p:cNvSpPr txBox="1"/>
            <p:nvPr/>
          </p:nvSpPr>
          <p:spPr>
            <a:xfrm>
              <a:off x="1123773" y="793102"/>
              <a:ext cx="4871711"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Electric bicycle manufacturers</a:t>
              </a:r>
            </a:p>
            <a:p>
              <a:pPr marL="171450" indent="-171450">
                <a:buFont typeface="Arial" panose="020B0604020202020204" pitchFamily="34" charset="0"/>
                <a:buChar char="•"/>
              </a:pPr>
              <a:r>
                <a:rPr lang="en-IN" sz="1200" dirty="0"/>
                <a:t>Workshops and wholesalers</a:t>
              </a:r>
            </a:p>
            <a:p>
              <a:pPr marL="171450" indent="-171450">
                <a:buFont typeface="Arial" panose="020B0604020202020204" pitchFamily="34" charset="0"/>
                <a:buChar char="•"/>
              </a:pPr>
              <a:r>
                <a:rPr lang="en-IN" sz="1200" dirty="0"/>
                <a:t>Reverse logistics</a:t>
              </a:r>
            </a:p>
          </p:txBody>
        </p:sp>
        <p:sp>
          <p:nvSpPr>
            <p:cNvPr id="30" name="Rectangle 29">
              <a:extLst>
                <a:ext uri="{FF2B5EF4-FFF2-40B4-BE49-F238E27FC236}">
                  <a16:creationId xmlns:a16="http://schemas.microsoft.com/office/drawing/2014/main" id="{689CC4CB-E3B8-0961-6566-526F96D1EFC2}"/>
                </a:ext>
              </a:extLst>
            </p:cNvPr>
            <p:cNvSpPr/>
            <p:nvPr/>
          </p:nvSpPr>
          <p:spPr>
            <a:xfrm>
              <a:off x="-1" y="793102"/>
              <a:ext cx="1119673" cy="6463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Channels</a:t>
              </a:r>
            </a:p>
          </p:txBody>
        </p:sp>
      </p:grpSp>
      <p:grpSp>
        <p:nvGrpSpPr>
          <p:cNvPr id="31" name="Group 30">
            <a:extLst>
              <a:ext uri="{FF2B5EF4-FFF2-40B4-BE49-F238E27FC236}">
                <a16:creationId xmlns:a16="http://schemas.microsoft.com/office/drawing/2014/main" id="{8BA8A341-3FAF-09E6-A979-2C7AC6D81B7A}"/>
              </a:ext>
            </a:extLst>
          </p:cNvPr>
          <p:cNvGrpSpPr/>
          <p:nvPr/>
        </p:nvGrpSpPr>
        <p:grpSpPr>
          <a:xfrm>
            <a:off x="0" y="2956027"/>
            <a:ext cx="5995485" cy="646331"/>
            <a:chOff x="-1" y="793102"/>
            <a:chExt cx="5995485" cy="646331"/>
          </a:xfrm>
        </p:grpSpPr>
        <p:sp>
          <p:nvSpPr>
            <p:cNvPr id="32" name="TextBox 31">
              <a:extLst>
                <a:ext uri="{FF2B5EF4-FFF2-40B4-BE49-F238E27FC236}">
                  <a16:creationId xmlns:a16="http://schemas.microsoft.com/office/drawing/2014/main" id="{54C57585-AB0B-1441-992F-5F9AA98F73B7}"/>
                </a:ext>
              </a:extLst>
            </p:cNvPr>
            <p:cNvSpPr txBox="1"/>
            <p:nvPr/>
          </p:nvSpPr>
          <p:spPr>
            <a:xfrm>
              <a:off x="1123773" y="793102"/>
              <a:ext cx="4871711"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Logistics provider for reverse logistics</a:t>
              </a:r>
            </a:p>
            <a:p>
              <a:pPr marL="171450" indent="-171450">
                <a:buFont typeface="Arial" panose="020B0604020202020204" pitchFamily="34" charset="0"/>
                <a:buChar char="•"/>
              </a:pPr>
              <a:r>
                <a:rPr lang="en-IN" sz="1200" dirty="0"/>
                <a:t>Suppliers of new components</a:t>
              </a:r>
            </a:p>
            <a:p>
              <a:pPr marL="171450" indent="-171450">
                <a:buFont typeface="Arial" panose="020B0604020202020204" pitchFamily="34" charset="0"/>
                <a:buChar char="•"/>
              </a:pPr>
              <a:r>
                <a:rPr lang="en-IN" sz="1200" dirty="0"/>
                <a:t>Third party service providers for spare parts production and delivery</a:t>
              </a:r>
            </a:p>
          </p:txBody>
        </p:sp>
        <p:sp>
          <p:nvSpPr>
            <p:cNvPr id="33" name="Rectangle 32">
              <a:extLst>
                <a:ext uri="{FF2B5EF4-FFF2-40B4-BE49-F238E27FC236}">
                  <a16:creationId xmlns:a16="http://schemas.microsoft.com/office/drawing/2014/main" id="{483C8378-842E-CFA6-CB74-45E73AB089DC}"/>
                </a:ext>
              </a:extLst>
            </p:cNvPr>
            <p:cNvSpPr/>
            <p:nvPr/>
          </p:nvSpPr>
          <p:spPr>
            <a:xfrm>
              <a:off x="-1" y="793102"/>
              <a:ext cx="1119673" cy="6463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Key Partners</a:t>
              </a:r>
            </a:p>
          </p:txBody>
        </p:sp>
      </p:grpSp>
      <p:grpSp>
        <p:nvGrpSpPr>
          <p:cNvPr id="34" name="Group 33">
            <a:extLst>
              <a:ext uri="{FF2B5EF4-FFF2-40B4-BE49-F238E27FC236}">
                <a16:creationId xmlns:a16="http://schemas.microsoft.com/office/drawing/2014/main" id="{06BC384B-9395-9A4C-6ED7-50C9AF2942AF}"/>
              </a:ext>
            </a:extLst>
          </p:cNvPr>
          <p:cNvGrpSpPr/>
          <p:nvPr/>
        </p:nvGrpSpPr>
        <p:grpSpPr>
          <a:xfrm>
            <a:off x="-1" y="3677002"/>
            <a:ext cx="5995485" cy="646331"/>
            <a:chOff x="-1" y="793102"/>
            <a:chExt cx="5995485" cy="646331"/>
          </a:xfrm>
        </p:grpSpPr>
        <p:sp>
          <p:nvSpPr>
            <p:cNvPr id="35" name="TextBox 34">
              <a:extLst>
                <a:ext uri="{FF2B5EF4-FFF2-40B4-BE49-F238E27FC236}">
                  <a16:creationId xmlns:a16="http://schemas.microsoft.com/office/drawing/2014/main" id="{15289E1F-20E5-80C5-F9A8-13EA54033B0C}"/>
                </a:ext>
              </a:extLst>
            </p:cNvPr>
            <p:cNvSpPr txBox="1"/>
            <p:nvPr/>
          </p:nvSpPr>
          <p:spPr>
            <a:xfrm>
              <a:off x="1123773" y="793102"/>
              <a:ext cx="4871711"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Sales revenue from remanufactured components</a:t>
              </a:r>
            </a:p>
            <a:p>
              <a:pPr marL="171450" indent="-171450">
                <a:buFont typeface="Arial" panose="020B0604020202020204" pitchFamily="34" charset="0"/>
                <a:buChar char="•"/>
              </a:pPr>
              <a:r>
                <a:rPr lang="en-IN" sz="1200" dirty="0"/>
                <a:t>Reduction of disposal costs</a:t>
              </a:r>
            </a:p>
            <a:p>
              <a:pPr marL="171450" indent="-171450">
                <a:buFont typeface="Arial" panose="020B0604020202020204" pitchFamily="34" charset="0"/>
                <a:buChar char="•"/>
              </a:pPr>
              <a:r>
                <a:rPr lang="en-IN" sz="1200" dirty="0"/>
                <a:t>Increased market share through new offerings</a:t>
              </a:r>
            </a:p>
          </p:txBody>
        </p:sp>
        <p:sp>
          <p:nvSpPr>
            <p:cNvPr id="36" name="Rectangle 35">
              <a:extLst>
                <a:ext uri="{FF2B5EF4-FFF2-40B4-BE49-F238E27FC236}">
                  <a16:creationId xmlns:a16="http://schemas.microsoft.com/office/drawing/2014/main" id="{A3E04E6C-2644-5B1B-6913-2A15E4A82F9F}"/>
                </a:ext>
              </a:extLst>
            </p:cNvPr>
            <p:cNvSpPr/>
            <p:nvPr/>
          </p:nvSpPr>
          <p:spPr>
            <a:xfrm>
              <a:off x="-1" y="793102"/>
              <a:ext cx="1119673" cy="6463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Cost Structure</a:t>
              </a:r>
            </a:p>
          </p:txBody>
        </p:sp>
      </p:grpSp>
      <p:sp>
        <p:nvSpPr>
          <p:cNvPr id="37" name="Oval 36">
            <a:extLst>
              <a:ext uri="{FF2B5EF4-FFF2-40B4-BE49-F238E27FC236}">
                <a16:creationId xmlns:a16="http://schemas.microsoft.com/office/drawing/2014/main" id="{04C1559A-93C6-E5B3-BC4D-3D7BC4B44CA5}"/>
              </a:ext>
            </a:extLst>
          </p:cNvPr>
          <p:cNvSpPr/>
          <p:nvPr/>
        </p:nvSpPr>
        <p:spPr>
          <a:xfrm>
            <a:off x="2199527" y="4963886"/>
            <a:ext cx="1215476" cy="1101012"/>
          </a:xfrm>
          <a:prstGeom prst="ellipse">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Revenue Stream</a:t>
            </a:r>
          </a:p>
        </p:txBody>
      </p:sp>
      <p:sp>
        <p:nvSpPr>
          <p:cNvPr id="38" name="TextBox 37">
            <a:extLst>
              <a:ext uri="{FF2B5EF4-FFF2-40B4-BE49-F238E27FC236}">
                <a16:creationId xmlns:a16="http://schemas.microsoft.com/office/drawing/2014/main" id="{47029C60-768F-0460-DD39-BE8F67B2BD32}"/>
              </a:ext>
            </a:extLst>
          </p:cNvPr>
          <p:cNvSpPr txBox="1"/>
          <p:nvPr/>
        </p:nvSpPr>
        <p:spPr>
          <a:xfrm>
            <a:off x="1687591" y="4448583"/>
            <a:ext cx="2239347" cy="461665"/>
          </a:xfrm>
          <a:prstGeom prst="rect">
            <a:avLst/>
          </a:prstGeom>
          <a:noFill/>
          <a:ln>
            <a:solidFill>
              <a:schemeClr val="accent2">
                <a:lumMod val="75000"/>
              </a:schemeClr>
            </a:solidFill>
          </a:ln>
        </p:spPr>
        <p:txBody>
          <a:bodyPr wrap="square" rtlCol="0">
            <a:spAutoFit/>
          </a:bodyPr>
          <a:lstStyle/>
          <a:p>
            <a:pPr algn="ctr"/>
            <a:r>
              <a:rPr lang="en-IN" sz="1200" dirty="0"/>
              <a:t>Sales revenue from remanufactured components</a:t>
            </a:r>
          </a:p>
        </p:txBody>
      </p:sp>
      <p:sp>
        <p:nvSpPr>
          <p:cNvPr id="39" name="TextBox 38">
            <a:extLst>
              <a:ext uri="{FF2B5EF4-FFF2-40B4-BE49-F238E27FC236}">
                <a16:creationId xmlns:a16="http://schemas.microsoft.com/office/drawing/2014/main" id="{510CB6CD-0BB5-F579-317A-CF026FCA253D}"/>
              </a:ext>
            </a:extLst>
          </p:cNvPr>
          <p:cNvSpPr txBox="1"/>
          <p:nvPr/>
        </p:nvSpPr>
        <p:spPr>
          <a:xfrm>
            <a:off x="3415003" y="5631223"/>
            <a:ext cx="2239347" cy="646331"/>
          </a:xfrm>
          <a:prstGeom prst="rect">
            <a:avLst/>
          </a:prstGeom>
          <a:noFill/>
          <a:ln>
            <a:solidFill>
              <a:schemeClr val="accent2">
                <a:lumMod val="75000"/>
              </a:schemeClr>
            </a:solidFill>
          </a:ln>
        </p:spPr>
        <p:txBody>
          <a:bodyPr wrap="square" rtlCol="0">
            <a:spAutoFit/>
          </a:bodyPr>
          <a:lstStyle/>
          <a:p>
            <a:pPr algn="ctr"/>
            <a:r>
              <a:rPr lang="en-IN" sz="1200" dirty="0"/>
              <a:t>Reduction of disposal costs, through remanufacturing of accumulators</a:t>
            </a:r>
          </a:p>
        </p:txBody>
      </p:sp>
      <p:sp>
        <p:nvSpPr>
          <p:cNvPr id="40" name="TextBox 39">
            <a:extLst>
              <a:ext uri="{FF2B5EF4-FFF2-40B4-BE49-F238E27FC236}">
                <a16:creationId xmlns:a16="http://schemas.microsoft.com/office/drawing/2014/main" id="{8D81756E-5D4C-8F00-349B-A605902F3E57}"/>
              </a:ext>
            </a:extLst>
          </p:cNvPr>
          <p:cNvSpPr txBox="1"/>
          <p:nvPr/>
        </p:nvSpPr>
        <p:spPr>
          <a:xfrm>
            <a:off x="0" y="5631223"/>
            <a:ext cx="2199527" cy="646331"/>
          </a:xfrm>
          <a:prstGeom prst="rect">
            <a:avLst/>
          </a:prstGeom>
          <a:noFill/>
          <a:ln>
            <a:solidFill>
              <a:schemeClr val="accent2">
                <a:lumMod val="75000"/>
              </a:schemeClr>
            </a:solidFill>
          </a:ln>
        </p:spPr>
        <p:txBody>
          <a:bodyPr wrap="square" rtlCol="0">
            <a:spAutoFit/>
          </a:bodyPr>
          <a:lstStyle/>
          <a:p>
            <a:pPr algn="ctr"/>
            <a:r>
              <a:rPr lang="en-IN" sz="1200" dirty="0"/>
              <a:t>Increased market share through new offerings on remanufactured components</a:t>
            </a:r>
          </a:p>
        </p:txBody>
      </p:sp>
      <p:sp>
        <p:nvSpPr>
          <p:cNvPr id="41" name="Rectangle 40">
            <a:extLst>
              <a:ext uri="{FF2B5EF4-FFF2-40B4-BE49-F238E27FC236}">
                <a16:creationId xmlns:a16="http://schemas.microsoft.com/office/drawing/2014/main" id="{1F5F9335-3903-5613-0EF1-B1D9EAE00C4A}"/>
              </a:ext>
            </a:extLst>
          </p:cNvPr>
          <p:cNvSpPr/>
          <p:nvPr/>
        </p:nvSpPr>
        <p:spPr>
          <a:xfrm>
            <a:off x="-1" y="6391468"/>
            <a:ext cx="5995485" cy="466532"/>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Remanufacturing of components will enables a circular business model, generating additional revenues through spare parts and components</a:t>
            </a:r>
          </a:p>
        </p:txBody>
      </p:sp>
      <p:sp>
        <p:nvSpPr>
          <p:cNvPr id="42" name="Rectangle 41">
            <a:extLst>
              <a:ext uri="{FF2B5EF4-FFF2-40B4-BE49-F238E27FC236}">
                <a16:creationId xmlns:a16="http://schemas.microsoft.com/office/drawing/2014/main" id="{B5FEC83E-9C81-B378-0D70-5F2E22495A35}"/>
              </a:ext>
            </a:extLst>
          </p:cNvPr>
          <p:cNvSpPr/>
          <p:nvPr/>
        </p:nvSpPr>
        <p:spPr>
          <a:xfrm>
            <a:off x="6161313" y="466532"/>
            <a:ext cx="5995484" cy="25192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Customization </a:t>
            </a:r>
          </a:p>
        </p:txBody>
      </p:sp>
      <p:grpSp>
        <p:nvGrpSpPr>
          <p:cNvPr id="43" name="Group 42">
            <a:extLst>
              <a:ext uri="{FF2B5EF4-FFF2-40B4-BE49-F238E27FC236}">
                <a16:creationId xmlns:a16="http://schemas.microsoft.com/office/drawing/2014/main" id="{AF5473B3-C0EE-96DD-628D-EB4F270A404E}"/>
              </a:ext>
            </a:extLst>
          </p:cNvPr>
          <p:cNvGrpSpPr/>
          <p:nvPr/>
        </p:nvGrpSpPr>
        <p:grpSpPr>
          <a:xfrm>
            <a:off x="6162623" y="793104"/>
            <a:ext cx="5994174" cy="276999"/>
            <a:chOff x="-185307" y="793102"/>
            <a:chExt cx="5994174" cy="276999"/>
          </a:xfrm>
        </p:grpSpPr>
        <p:sp>
          <p:nvSpPr>
            <p:cNvPr id="44" name="TextBox 43">
              <a:extLst>
                <a:ext uri="{FF2B5EF4-FFF2-40B4-BE49-F238E27FC236}">
                  <a16:creationId xmlns:a16="http://schemas.microsoft.com/office/drawing/2014/main" id="{3F25CFEB-1E45-8C3C-9AB4-FB864C6E5139}"/>
                </a:ext>
              </a:extLst>
            </p:cNvPr>
            <p:cNvSpPr txBox="1"/>
            <p:nvPr/>
          </p:nvSpPr>
          <p:spPr>
            <a:xfrm>
              <a:off x="1310390" y="793102"/>
              <a:ext cx="4498477" cy="276999"/>
            </a:xfrm>
            <a:prstGeom prst="rect">
              <a:avLst/>
            </a:prstGeom>
            <a:noFill/>
            <a:ln>
              <a:solidFill>
                <a:schemeClr val="tx1"/>
              </a:solidFill>
            </a:ln>
          </p:spPr>
          <p:txBody>
            <a:bodyPr wrap="square" rtlCol="0">
              <a:spAutoFit/>
            </a:bodyPr>
            <a:lstStyle/>
            <a:p>
              <a:r>
                <a:rPr lang="en-IN" sz="1200" dirty="0"/>
                <a:t>Individualization of remanufactured components</a:t>
              </a:r>
            </a:p>
          </p:txBody>
        </p:sp>
        <p:sp>
          <p:nvSpPr>
            <p:cNvPr id="45" name="Rectangle 44">
              <a:extLst>
                <a:ext uri="{FF2B5EF4-FFF2-40B4-BE49-F238E27FC236}">
                  <a16:creationId xmlns:a16="http://schemas.microsoft.com/office/drawing/2014/main" id="{A0E846EC-C3F1-F8C6-9492-D7246F538256}"/>
                </a:ext>
              </a:extLst>
            </p:cNvPr>
            <p:cNvSpPr/>
            <p:nvPr/>
          </p:nvSpPr>
          <p:spPr>
            <a:xfrm>
              <a:off x="-185307" y="793102"/>
              <a:ext cx="1490284" cy="27699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Value Proposition</a:t>
              </a:r>
            </a:p>
          </p:txBody>
        </p:sp>
      </p:grpSp>
      <p:grpSp>
        <p:nvGrpSpPr>
          <p:cNvPr id="46" name="Group 45">
            <a:extLst>
              <a:ext uri="{FF2B5EF4-FFF2-40B4-BE49-F238E27FC236}">
                <a16:creationId xmlns:a16="http://schemas.microsoft.com/office/drawing/2014/main" id="{D52FAA1E-23F1-29D4-C759-0D0E5BF9BB0E}"/>
              </a:ext>
            </a:extLst>
          </p:cNvPr>
          <p:cNvGrpSpPr/>
          <p:nvPr/>
        </p:nvGrpSpPr>
        <p:grpSpPr>
          <a:xfrm>
            <a:off x="6162623" y="1154726"/>
            <a:ext cx="5994174" cy="461665"/>
            <a:chOff x="-185307" y="793102"/>
            <a:chExt cx="5994174" cy="461665"/>
          </a:xfrm>
        </p:grpSpPr>
        <p:sp>
          <p:nvSpPr>
            <p:cNvPr id="47" name="TextBox 46">
              <a:extLst>
                <a:ext uri="{FF2B5EF4-FFF2-40B4-BE49-F238E27FC236}">
                  <a16:creationId xmlns:a16="http://schemas.microsoft.com/office/drawing/2014/main" id="{34066E66-20C2-0CF5-6B6B-73092291E11B}"/>
                </a:ext>
              </a:extLst>
            </p:cNvPr>
            <p:cNvSpPr txBox="1"/>
            <p:nvPr/>
          </p:nvSpPr>
          <p:spPr>
            <a:xfrm>
              <a:off x="1310390" y="793102"/>
              <a:ext cx="4498477" cy="461665"/>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Platform for exchange of ideas</a:t>
              </a:r>
            </a:p>
            <a:p>
              <a:pPr marL="171450" indent="-171450">
                <a:buFont typeface="Arial" panose="020B0604020202020204" pitchFamily="34" charset="0"/>
                <a:buChar char="•"/>
              </a:pPr>
              <a:r>
                <a:rPr lang="en-IN" sz="1200" dirty="0"/>
                <a:t>Analysis and evaluation of ideas</a:t>
              </a:r>
            </a:p>
          </p:txBody>
        </p:sp>
        <p:sp>
          <p:nvSpPr>
            <p:cNvPr id="48" name="Rectangle 47">
              <a:extLst>
                <a:ext uri="{FF2B5EF4-FFF2-40B4-BE49-F238E27FC236}">
                  <a16:creationId xmlns:a16="http://schemas.microsoft.com/office/drawing/2014/main" id="{78AAD668-EF7B-16A5-E64B-A5F74DA85717}"/>
                </a:ext>
              </a:extLst>
            </p:cNvPr>
            <p:cNvSpPr/>
            <p:nvPr/>
          </p:nvSpPr>
          <p:spPr>
            <a:xfrm>
              <a:off x="-185307" y="793102"/>
              <a:ext cx="1490284" cy="4616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Key Activities</a:t>
              </a:r>
            </a:p>
          </p:txBody>
        </p:sp>
      </p:grpSp>
      <p:grpSp>
        <p:nvGrpSpPr>
          <p:cNvPr id="49" name="Group 48">
            <a:extLst>
              <a:ext uri="{FF2B5EF4-FFF2-40B4-BE49-F238E27FC236}">
                <a16:creationId xmlns:a16="http://schemas.microsoft.com/office/drawing/2014/main" id="{4C659F86-5257-E59C-1AEF-63EA722BB93F}"/>
              </a:ext>
            </a:extLst>
          </p:cNvPr>
          <p:cNvGrpSpPr/>
          <p:nvPr/>
        </p:nvGrpSpPr>
        <p:grpSpPr>
          <a:xfrm>
            <a:off x="6160003" y="1708530"/>
            <a:ext cx="5995484" cy="461665"/>
            <a:chOff x="-186617" y="646335"/>
            <a:chExt cx="5995484" cy="461665"/>
          </a:xfrm>
        </p:grpSpPr>
        <p:sp>
          <p:nvSpPr>
            <p:cNvPr id="50" name="TextBox 49">
              <a:extLst>
                <a:ext uri="{FF2B5EF4-FFF2-40B4-BE49-F238E27FC236}">
                  <a16:creationId xmlns:a16="http://schemas.microsoft.com/office/drawing/2014/main" id="{C338C4C6-C9BD-D633-0F36-64CF8A500C73}"/>
                </a:ext>
              </a:extLst>
            </p:cNvPr>
            <p:cNvSpPr txBox="1"/>
            <p:nvPr/>
          </p:nvSpPr>
          <p:spPr>
            <a:xfrm>
              <a:off x="1310390" y="646335"/>
              <a:ext cx="4498477" cy="461665"/>
            </a:xfrm>
            <a:prstGeom prst="rect">
              <a:avLst/>
            </a:prstGeom>
            <a:noFill/>
            <a:ln>
              <a:solidFill>
                <a:schemeClr val="tx1"/>
              </a:solidFill>
            </a:ln>
          </p:spPr>
          <p:txBody>
            <a:bodyPr wrap="square" rtlCol="0" anchor="ctr">
              <a:spAutoFit/>
            </a:bodyPr>
            <a:lstStyle/>
            <a:p>
              <a:pPr marL="171450" indent="-171450">
                <a:buFont typeface="Arial" panose="020B0604020202020204" pitchFamily="34" charset="0"/>
                <a:buChar char="•"/>
              </a:pPr>
              <a:r>
                <a:rPr lang="en-IN" sz="1200" dirty="0"/>
                <a:t>B2C</a:t>
              </a:r>
            </a:p>
            <a:p>
              <a:pPr marL="171450" indent="-171450">
                <a:buFont typeface="Arial" panose="020B0604020202020204" pitchFamily="34" charset="0"/>
                <a:buChar char="•"/>
              </a:pPr>
              <a:r>
                <a:rPr lang="en-IN" sz="1200" dirty="0"/>
                <a:t>Customers as source of ideas for new innovations</a:t>
              </a:r>
            </a:p>
          </p:txBody>
        </p:sp>
        <p:sp>
          <p:nvSpPr>
            <p:cNvPr id="51" name="Rectangle 50">
              <a:extLst>
                <a:ext uri="{FF2B5EF4-FFF2-40B4-BE49-F238E27FC236}">
                  <a16:creationId xmlns:a16="http://schemas.microsoft.com/office/drawing/2014/main" id="{4F4033DF-A649-F93C-6908-8E6E8E080D3A}"/>
                </a:ext>
              </a:extLst>
            </p:cNvPr>
            <p:cNvSpPr/>
            <p:nvPr/>
          </p:nvSpPr>
          <p:spPr>
            <a:xfrm>
              <a:off x="-186617" y="646335"/>
              <a:ext cx="1490284" cy="4616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Customer segments</a:t>
              </a:r>
            </a:p>
          </p:txBody>
        </p:sp>
      </p:grpSp>
      <p:grpSp>
        <p:nvGrpSpPr>
          <p:cNvPr id="52" name="Group 51">
            <a:extLst>
              <a:ext uri="{FF2B5EF4-FFF2-40B4-BE49-F238E27FC236}">
                <a16:creationId xmlns:a16="http://schemas.microsoft.com/office/drawing/2014/main" id="{8F04A0BD-A30A-6430-42EC-D19D8B473A1D}"/>
              </a:ext>
            </a:extLst>
          </p:cNvPr>
          <p:cNvGrpSpPr/>
          <p:nvPr/>
        </p:nvGrpSpPr>
        <p:grpSpPr>
          <a:xfrm>
            <a:off x="6161968" y="2254818"/>
            <a:ext cx="5994174" cy="646331"/>
            <a:chOff x="-185307" y="793102"/>
            <a:chExt cx="5994174" cy="646331"/>
          </a:xfrm>
        </p:grpSpPr>
        <p:sp>
          <p:nvSpPr>
            <p:cNvPr id="53" name="TextBox 52">
              <a:extLst>
                <a:ext uri="{FF2B5EF4-FFF2-40B4-BE49-F238E27FC236}">
                  <a16:creationId xmlns:a16="http://schemas.microsoft.com/office/drawing/2014/main" id="{E97FF42C-C77C-6078-69B1-94D82DD82839}"/>
                </a:ext>
              </a:extLst>
            </p:cNvPr>
            <p:cNvSpPr txBox="1"/>
            <p:nvPr/>
          </p:nvSpPr>
          <p:spPr>
            <a:xfrm>
              <a:off x="1310390" y="793102"/>
              <a:ext cx="4498477"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Infrastructure, facilities and equipment for production</a:t>
              </a:r>
            </a:p>
            <a:p>
              <a:pPr marL="171450" indent="-171450">
                <a:buFont typeface="Arial" panose="020B0604020202020204" pitchFamily="34" charset="0"/>
                <a:buChar char="•"/>
              </a:pPr>
              <a:r>
                <a:rPr lang="en-IN" sz="1200" dirty="0"/>
                <a:t>Personnel qualification</a:t>
              </a:r>
            </a:p>
            <a:p>
              <a:pPr marL="171450" indent="-171450">
                <a:buFont typeface="Arial" panose="020B0604020202020204" pitchFamily="34" charset="0"/>
                <a:buChar char="•"/>
              </a:pPr>
              <a:r>
                <a:rPr lang="en-IN" sz="1200" dirty="0"/>
                <a:t>Storage space for used parts</a:t>
              </a:r>
            </a:p>
          </p:txBody>
        </p:sp>
        <p:sp>
          <p:nvSpPr>
            <p:cNvPr id="54" name="Rectangle 53">
              <a:extLst>
                <a:ext uri="{FF2B5EF4-FFF2-40B4-BE49-F238E27FC236}">
                  <a16:creationId xmlns:a16="http://schemas.microsoft.com/office/drawing/2014/main" id="{5BAFDFF6-4BAD-86C4-D876-FCD064687685}"/>
                </a:ext>
              </a:extLst>
            </p:cNvPr>
            <p:cNvSpPr/>
            <p:nvPr/>
          </p:nvSpPr>
          <p:spPr>
            <a:xfrm>
              <a:off x="-185307" y="793102"/>
              <a:ext cx="1490284" cy="6463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Key Resources</a:t>
              </a:r>
            </a:p>
          </p:txBody>
        </p:sp>
      </p:grpSp>
      <p:grpSp>
        <p:nvGrpSpPr>
          <p:cNvPr id="58" name="Group 57">
            <a:extLst>
              <a:ext uri="{FF2B5EF4-FFF2-40B4-BE49-F238E27FC236}">
                <a16:creationId xmlns:a16="http://schemas.microsoft.com/office/drawing/2014/main" id="{957F4559-F2F4-AB51-1801-F59ADB1AA7BC}"/>
              </a:ext>
            </a:extLst>
          </p:cNvPr>
          <p:cNvGrpSpPr/>
          <p:nvPr/>
        </p:nvGrpSpPr>
        <p:grpSpPr>
          <a:xfrm>
            <a:off x="6161968" y="3324057"/>
            <a:ext cx="5994174" cy="646331"/>
            <a:chOff x="-185307" y="793102"/>
            <a:chExt cx="5994174" cy="646331"/>
          </a:xfrm>
        </p:grpSpPr>
        <p:sp>
          <p:nvSpPr>
            <p:cNvPr id="59" name="TextBox 58">
              <a:extLst>
                <a:ext uri="{FF2B5EF4-FFF2-40B4-BE49-F238E27FC236}">
                  <a16:creationId xmlns:a16="http://schemas.microsoft.com/office/drawing/2014/main" id="{778C4F85-D520-B015-72D6-3D61B06F4245}"/>
                </a:ext>
              </a:extLst>
            </p:cNvPr>
            <p:cNvSpPr txBox="1"/>
            <p:nvPr/>
          </p:nvSpPr>
          <p:spPr>
            <a:xfrm>
              <a:off x="1310390" y="793102"/>
              <a:ext cx="4498477"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Development cost for the platform</a:t>
              </a:r>
            </a:p>
            <a:p>
              <a:pPr marL="171450" indent="-171450">
                <a:buFont typeface="Arial" panose="020B0604020202020204" pitchFamily="34" charset="0"/>
                <a:buChar char="•"/>
              </a:pPr>
              <a:r>
                <a:rPr lang="en-IN" sz="1200" dirty="0"/>
                <a:t>Operating costs for the platform</a:t>
              </a:r>
            </a:p>
            <a:p>
              <a:pPr marL="171450" indent="-171450">
                <a:buFont typeface="Arial" panose="020B0604020202020204" pitchFamily="34" charset="0"/>
                <a:buChar char="•"/>
              </a:pPr>
              <a:r>
                <a:rPr lang="en-IN" sz="1200" dirty="0"/>
                <a:t>Incentivizing new design ideas; events</a:t>
              </a:r>
            </a:p>
          </p:txBody>
        </p:sp>
        <p:sp>
          <p:nvSpPr>
            <p:cNvPr id="60" name="Rectangle 59">
              <a:extLst>
                <a:ext uri="{FF2B5EF4-FFF2-40B4-BE49-F238E27FC236}">
                  <a16:creationId xmlns:a16="http://schemas.microsoft.com/office/drawing/2014/main" id="{C4FA966C-BDC9-0A16-E2D1-F92493682101}"/>
                </a:ext>
              </a:extLst>
            </p:cNvPr>
            <p:cNvSpPr/>
            <p:nvPr/>
          </p:nvSpPr>
          <p:spPr>
            <a:xfrm>
              <a:off x="-185307" y="793102"/>
              <a:ext cx="1490284" cy="6463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Cost Structure</a:t>
              </a:r>
            </a:p>
          </p:txBody>
        </p:sp>
      </p:grpSp>
      <p:grpSp>
        <p:nvGrpSpPr>
          <p:cNvPr id="61" name="Group 60">
            <a:extLst>
              <a:ext uri="{FF2B5EF4-FFF2-40B4-BE49-F238E27FC236}">
                <a16:creationId xmlns:a16="http://schemas.microsoft.com/office/drawing/2014/main" id="{82EC6979-A746-7FD2-D8F1-749421B95472}"/>
              </a:ext>
            </a:extLst>
          </p:cNvPr>
          <p:cNvGrpSpPr/>
          <p:nvPr/>
        </p:nvGrpSpPr>
        <p:grpSpPr>
          <a:xfrm>
            <a:off x="6161968" y="2966460"/>
            <a:ext cx="5994174" cy="276999"/>
            <a:chOff x="-185307" y="793102"/>
            <a:chExt cx="5994174" cy="276999"/>
          </a:xfrm>
        </p:grpSpPr>
        <p:sp>
          <p:nvSpPr>
            <p:cNvPr id="62" name="TextBox 61">
              <a:extLst>
                <a:ext uri="{FF2B5EF4-FFF2-40B4-BE49-F238E27FC236}">
                  <a16:creationId xmlns:a16="http://schemas.microsoft.com/office/drawing/2014/main" id="{74AD3BF6-0DE0-1A1B-1C33-EA8F1E6B699A}"/>
                </a:ext>
              </a:extLst>
            </p:cNvPr>
            <p:cNvSpPr txBox="1"/>
            <p:nvPr/>
          </p:nvSpPr>
          <p:spPr>
            <a:xfrm>
              <a:off x="1310390" y="793102"/>
              <a:ext cx="4498477" cy="276999"/>
            </a:xfrm>
            <a:prstGeom prst="rect">
              <a:avLst/>
            </a:prstGeom>
            <a:noFill/>
            <a:ln>
              <a:solidFill>
                <a:schemeClr val="tx1"/>
              </a:solidFill>
            </a:ln>
          </p:spPr>
          <p:txBody>
            <a:bodyPr wrap="square" rtlCol="0">
              <a:spAutoFit/>
            </a:bodyPr>
            <a:lstStyle/>
            <a:p>
              <a:r>
                <a:rPr lang="en-IN" sz="1200" dirty="0"/>
                <a:t>Digital platform for information exchange</a:t>
              </a:r>
            </a:p>
          </p:txBody>
        </p:sp>
        <p:sp>
          <p:nvSpPr>
            <p:cNvPr id="63" name="Rectangle 62">
              <a:extLst>
                <a:ext uri="{FF2B5EF4-FFF2-40B4-BE49-F238E27FC236}">
                  <a16:creationId xmlns:a16="http://schemas.microsoft.com/office/drawing/2014/main" id="{C289994E-8160-4911-4059-EB6D1E108CE1}"/>
                </a:ext>
              </a:extLst>
            </p:cNvPr>
            <p:cNvSpPr/>
            <p:nvPr/>
          </p:nvSpPr>
          <p:spPr>
            <a:xfrm>
              <a:off x="-185307" y="793102"/>
              <a:ext cx="1490284" cy="27699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Channels</a:t>
              </a:r>
            </a:p>
          </p:txBody>
        </p:sp>
      </p:grpSp>
      <p:sp>
        <p:nvSpPr>
          <p:cNvPr id="1024" name="Oval 1023">
            <a:extLst>
              <a:ext uri="{FF2B5EF4-FFF2-40B4-BE49-F238E27FC236}">
                <a16:creationId xmlns:a16="http://schemas.microsoft.com/office/drawing/2014/main" id="{B084220E-AFE3-81A7-91A7-C64D4B47B5EA}"/>
              </a:ext>
            </a:extLst>
          </p:cNvPr>
          <p:cNvSpPr/>
          <p:nvPr/>
        </p:nvSpPr>
        <p:spPr>
          <a:xfrm>
            <a:off x="8270603" y="4774218"/>
            <a:ext cx="1215476" cy="1101012"/>
          </a:xfrm>
          <a:prstGeom prst="ellipse">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Revenue Stream</a:t>
            </a:r>
          </a:p>
        </p:txBody>
      </p:sp>
      <p:sp>
        <p:nvSpPr>
          <p:cNvPr id="1025" name="TextBox 1024">
            <a:extLst>
              <a:ext uri="{FF2B5EF4-FFF2-40B4-BE49-F238E27FC236}">
                <a16:creationId xmlns:a16="http://schemas.microsoft.com/office/drawing/2014/main" id="{409833B4-7411-9811-F992-C20CEED766D3}"/>
              </a:ext>
            </a:extLst>
          </p:cNvPr>
          <p:cNvSpPr txBox="1"/>
          <p:nvPr/>
        </p:nvSpPr>
        <p:spPr>
          <a:xfrm>
            <a:off x="7749205" y="4451902"/>
            <a:ext cx="2239347" cy="276999"/>
          </a:xfrm>
          <a:prstGeom prst="rect">
            <a:avLst/>
          </a:prstGeom>
          <a:noFill/>
          <a:ln>
            <a:solidFill>
              <a:schemeClr val="accent2">
                <a:lumMod val="75000"/>
              </a:schemeClr>
            </a:solidFill>
          </a:ln>
        </p:spPr>
        <p:txBody>
          <a:bodyPr wrap="square" rtlCol="0">
            <a:spAutoFit/>
          </a:bodyPr>
          <a:lstStyle/>
          <a:p>
            <a:pPr algn="ctr"/>
            <a:r>
              <a:rPr lang="en-IN" sz="1200" dirty="0"/>
              <a:t>Sale of spare parts</a:t>
            </a:r>
          </a:p>
        </p:txBody>
      </p:sp>
      <p:sp>
        <p:nvSpPr>
          <p:cNvPr id="1027" name="TextBox 1026">
            <a:extLst>
              <a:ext uri="{FF2B5EF4-FFF2-40B4-BE49-F238E27FC236}">
                <a16:creationId xmlns:a16="http://schemas.microsoft.com/office/drawing/2014/main" id="{67533FED-4113-0BAF-85EF-4412650A59B2}"/>
              </a:ext>
            </a:extLst>
          </p:cNvPr>
          <p:cNvSpPr txBox="1"/>
          <p:nvPr/>
        </p:nvSpPr>
        <p:spPr>
          <a:xfrm>
            <a:off x="6267589" y="5842760"/>
            <a:ext cx="2239347" cy="276999"/>
          </a:xfrm>
          <a:prstGeom prst="rect">
            <a:avLst/>
          </a:prstGeom>
          <a:noFill/>
          <a:ln>
            <a:solidFill>
              <a:schemeClr val="accent2">
                <a:lumMod val="75000"/>
              </a:schemeClr>
            </a:solidFill>
          </a:ln>
        </p:spPr>
        <p:txBody>
          <a:bodyPr wrap="square" rtlCol="0">
            <a:spAutoFit/>
          </a:bodyPr>
          <a:lstStyle/>
          <a:p>
            <a:pPr algn="ctr"/>
            <a:r>
              <a:rPr lang="en-IN" sz="1200" dirty="0"/>
              <a:t>Monetization/sales of CAD data</a:t>
            </a:r>
          </a:p>
        </p:txBody>
      </p:sp>
      <p:sp>
        <p:nvSpPr>
          <p:cNvPr id="1029" name="TextBox 1028">
            <a:extLst>
              <a:ext uri="{FF2B5EF4-FFF2-40B4-BE49-F238E27FC236}">
                <a16:creationId xmlns:a16="http://schemas.microsoft.com/office/drawing/2014/main" id="{241CD3A4-051F-D8AA-8AEB-8395B6AD4D54}"/>
              </a:ext>
            </a:extLst>
          </p:cNvPr>
          <p:cNvSpPr txBox="1"/>
          <p:nvPr/>
        </p:nvSpPr>
        <p:spPr>
          <a:xfrm>
            <a:off x="9367913" y="5753393"/>
            <a:ext cx="2824087" cy="461665"/>
          </a:xfrm>
          <a:prstGeom prst="rect">
            <a:avLst/>
          </a:prstGeom>
          <a:noFill/>
          <a:ln>
            <a:solidFill>
              <a:schemeClr val="accent2">
                <a:lumMod val="75000"/>
              </a:schemeClr>
            </a:solidFill>
          </a:ln>
        </p:spPr>
        <p:txBody>
          <a:bodyPr wrap="square" rtlCol="0">
            <a:spAutoFit/>
          </a:bodyPr>
          <a:lstStyle/>
          <a:p>
            <a:pPr algn="ctr"/>
            <a:r>
              <a:rPr lang="en-IN" sz="1200" dirty="0"/>
              <a:t>Reduction of innovation costs and market research</a:t>
            </a:r>
          </a:p>
        </p:txBody>
      </p:sp>
      <p:sp>
        <p:nvSpPr>
          <p:cNvPr id="1031" name="Rectangle 1030">
            <a:extLst>
              <a:ext uri="{FF2B5EF4-FFF2-40B4-BE49-F238E27FC236}">
                <a16:creationId xmlns:a16="http://schemas.microsoft.com/office/drawing/2014/main" id="{BF51B55E-F51A-2E35-9ADF-AB90C6AFEAF1}"/>
              </a:ext>
            </a:extLst>
          </p:cNvPr>
          <p:cNvSpPr/>
          <p:nvPr/>
        </p:nvSpPr>
        <p:spPr>
          <a:xfrm>
            <a:off x="6161313" y="6387007"/>
            <a:ext cx="6030687" cy="466532"/>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Customization of bicycle or its components would incur higher cost to customer, hence this model is feasible applied to limited edition of bicycles to reduce production complexity</a:t>
            </a:r>
          </a:p>
        </p:txBody>
      </p:sp>
      <p:grpSp>
        <p:nvGrpSpPr>
          <p:cNvPr id="14" name="Group 13">
            <a:extLst>
              <a:ext uri="{FF2B5EF4-FFF2-40B4-BE49-F238E27FC236}">
                <a16:creationId xmlns:a16="http://schemas.microsoft.com/office/drawing/2014/main" id="{34FFBF2F-2582-86E4-FB64-1BE2BCDEFE3B}"/>
              </a:ext>
            </a:extLst>
          </p:cNvPr>
          <p:cNvGrpSpPr/>
          <p:nvPr/>
        </p:nvGrpSpPr>
        <p:grpSpPr>
          <a:xfrm>
            <a:off x="0" y="0"/>
            <a:ext cx="12138132" cy="317241"/>
            <a:chOff x="0" y="0"/>
            <a:chExt cx="10723984" cy="317241"/>
          </a:xfrm>
          <a:solidFill>
            <a:schemeClr val="accent2">
              <a:lumMod val="50000"/>
            </a:schemeClr>
          </a:solidFill>
        </p:grpSpPr>
        <p:sp>
          <p:nvSpPr>
            <p:cNvPr id="15" name="Arrow: Pentagon 14">
              <a:extLst>
                <a:ext uri="{FF2B5EF4-FFF2-40B4-BE49-F238E27FC236}">
                  <a16:creationId xmlns:a16="http://schemas.microsoft.com/office/drawing/2014/main" id="{68EE9813-4A37-614E-6AF2-7DF1E677E312}"/>
                </a:ext>
              </a:extLst>
            </p:cNvPr>
            <p:cNvSpPr/>
            <p:nvPr/>
          </p:nvSpPr>
          <p:spPr>
            <a:xfrm>
              <a:off x="0"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Market Scenario</a:t>
              </a:r>
            </a:p>
          </p:txBody>
        </p:sp>
        <p:sp>
          <p:nvSpPr>
            <p:cNvPr id="16" name="Arrow: Pentagon 15">
              <a:extLst>
                <a:ext uri="{FF2B5EF4-FFF2-40B4-BE49-F238E27FC236}">
                  <a16:creationId xmlns:a16="http://schemas.microsoft.com/office/drawing/2014/main" id="{A6D6AEBD-AD60-8111-B988-097B8C8B8FE7}"/>
                </a:ext>
              </a:extLst>
            </p:cNvPr>
            <p:cNvSpPr/>
            <p:nvPr/>
          </p:nvSpPr>
          <p:spPr>
            <a:xfrm>
              <a:off x="2102498"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About Hades</a:t>
              </a:r>
            </a:p>
          </p:txBody>
        </p:sp>
        <p:sp>
          <p:nvSpPr>
            <p:cNvPr id="17" name="Arrow: Pentagon 16">
              <a:extLst>
                <a:ext uri="{FF2B5EF4-FFF2-40B4-BE49-F238E27FC236}">
                  <a16:creationId xmlns:a16="http://schemas.microsoft.com/office/drawing/2014/main" id="{B2A11A16-D062-2004-090B-A3C535113E8B}"/>
                </a:ext>
              </a:extLst>
            </p:cNvPr>
            <p:cNvSpPr/>
            <p:nvPr/>
          </p:nvSpPr>
          <p:spPr>
            <a:xfrm>
              <a:off x="4204996"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Environment Analysis</a:t>
              </a:r>
            </a:p>
          </p:txBody>
        </p:sp>
        <p:sp>
          <p:nvSpPr>
            <p:cNvPr id="18" name="Arrow: Pentagon 17">
              <a:extLst>
                <a:ext uri="{FF2B5EF4-FFF2-40B4-BE49-F238E27FC236}">
                  <a16:creationId xmlns:a16="http://schemas.microsoft.com/office/drawing/2014/main" id="{12C98EAC-E81C-9ACE-10CE-7C48EB6119D6}"/>
                </a:ext>
              </a:extLst>
            </p:cNvPr>
            <p:cNvSpPr/>
            <p:nvPr/>
          </p:nvSpPr>
          <p:spPr>
            <a:xfrm>
              <a:off x="6307494" y="0"/>
              <a:ext cx="2313992" cy="317241"/>
            </a:xfrm>
            <a:prstGeom prst="homePlate">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Revenue Streams</a:t>
              </a:r>
            </a:p>
          </p:txBody>
        </p:sp>
        <p:sp>
          <p:nvSpPr>
            <p:cNvPr id="19" name="Arrow: Pentagon 18">
              <a:extLst>
                <a:ext uri="{FF2B5EF4-FFF2-40B4-BE49-F238E27FC236}">
                  <a16:creationId xmlns:a16="http://schemas.microsoft.com/office/drawing/2014/main" id="{3162F790-A73D-D5E8-4123-8A23F6B0302C}"/>
                </a:ext>
              </a:extLst>
            </p:cNvPr>
            <p:cNvSpPr/>
            <p:nvPr/>
          </p:nvSpPr>
          <p:spPr>
            <a:xfrm>
              <a:off x="8409992"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Threats</a:t>
              </a:r>
            </a:p>
          </p:txBody>
        </p:sp>
      </p:grpSp>
    </p:spTree>
    <p:extLst>
      <p:ext uri="{BB962C8B-B14F-4D97-AF65-F5344CB8AC3E}">
        <p14:creationId xmlns:p14="http://schemas.microsoft.com/office/powerpoint/2010/main" val="3067735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E00DA78-D2F4-596C-4F12-69AEC85DE130}"/>
              </a:ext>
            </a:extLst>
          </p:cNvPr>
          <p:cNvSpPr/>
          <p:nvPr/>
        </p:nvSpPr>
        <p:spPr>
          <a:xfrm>
            <a:off x="0" y="466532"/>
            <a:ext cx="5995484" cy="25192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Leasing Model</a:t>
            </a:r>
          </a:p>
        </p:txBody>
      </p:sp>
      <p:grpSp>
        <p:nvGrpSpPr>
          <p:cNvPr id="24" name="Group 23">
            <a:extLst>
              <a:ext uri="{FF2B5EF4-FFF2-40B4-BE49-F238E27FC236}">
                <a16:creationId xmlns:a16="http://schemas.microsoft.com/office/drawing/2014/main" id="{0E6FB0E3-88DB-70CB-0AC2-5FDB57789D6D}"/>
              </a:ext>
            </a:extLst>
          </p:cNvPr>
          <p:cNvGrpSpPr/>
          <p:nvPr/>
        </p:nvGrpSpPr>
        <p:grpSpPr>
          <a:xfrm>
            <a:off x="-1" y="793102"/>
            <a:ext cx="5995485" cy="646331"/>
            <a:chOff x="-1" y="793102"/>
            <a:chExt cx="5995485" cy="646331"/>
          </a:xfrm>
        </p:grpSpPr>
        <p:sp>
          <p:nvSpPr>
            <p:cNvPr id="22" name="TextBox 21">
              <a:extLst>
                <a:ext uri="{FF2B5EF4-FFF2-40B4-BE49-F238E27FC236}">
                  <a16:creationId xmlns:a16="http://schemas.microsoft.com/office/drawing/2014/main" id="{3F246600-86B3-3D44-DBD1-7103313D2D71}"/>
                </a:ext>
              </a:extLst>
            </p:cNvPr>
            <p:cNvSpPr txBox="1"/>
            <p:nvPr/>
          </p:nvSpPr>
          <p:spPr>
            <a:xfrm>
              <a:off x="1123773" y="793102"/>
              <a:ext cx="4871711"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Use-Oriented and service dominant business model</a:t>
              </a:r>
            </a:p>
            <a:p>
              <a:pPr marL="171450" indent="-171450">
                <a:buFont typeface="Arial" panose="020B0604020202020204" pitchFamily="34" charset="0"/>
                <a:buChar char="•"/>
              </a:pPr>
              <a:r>
                <a:rPr lang="en-IN" sz="1200" dirty="0"/>
                <a:t>Leasing, that includes maintenance, insurance, repair, remanufacturing and disposal</a:t>
              </a:r>
            </a:p>
          </p:txBody>
        </p:sp>
        <p:sp>
          <p:nvSpPr>
            <p:cNvPr id="23" name="Rectangle 22">
              <a:extLst>
                <a:ext uri="{FF2B5EF4-FFF2-40B4-BE49-F238E27FC236}">
                  <a16:creationId xmlns:a16="http://schemas.microsoft.com/office/drawing/2014/main" id="{0CE6E3AA-F715-8E99-29AF-88400C0F1BF6}"/>
                </a:ext>
              </a:extLst>
            </p:cNvPr>
            <p:cNvSpPr/>
            <p:nvPr/>
          </p:nvSpPr>
          <p:spPr>
            <a:xfrm>
              <a:off x="-1" y="793102"/>
              <a:ext cx="1119673" cy="646331"/>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Value Proposition</a:t>
              </a:r>
            </a:p>
          </p:txBody>
        </p:sp>
      </p:grpSp>
      <p:grpSp>
        <p:nvGrpSpPr>
          <p:cNvPr id="25" name="Group 24">
            <a:extLst>
              <a:ext uri="{FF2B5EF4-FFF2-40B4-BE49-F238E27FC236}">
                <a16:creationId xmlns:a16="http://schemas.microsoft.com/office/drawing/2014/main" id="{DB9277C8-8166-6AB6-B5C8-4D43E527B0FA}"/>
              </a:ext>
            </a:extLst>
          </p:cNvPr>
          <p:cNvGrpSpPr/>
          <p:nvPr/>
        </p:nvGrpSpPr>
        <p:grpSpPr>
          <a:xfrm>
            <a:off x="0" y="1514077"/>
            <a:ext cx="5995485" cy="830997"/>
            <a:chOff x="-1" y="793102"/>
            <a:chExt cx="5995485" cy="830997"/>
          </a:xfrm>
        </p:grpSpPr>
        <p:sp>
          <p:nvSpPr>
            <p:cNvPr id="26" name="TextBox 25">
              <a:extLst>
                <a:ext uri="{FF2B5EF4-FFF2-40B4-BE49-F238E27FC236}">
                  <a16:creationId xmlns:a16="http://schemas.microsoft.com/office/drawing/2014/main" id="{15CB5E81-C970-69EE-8FB7-C0B4538BBEE6}"/>
                </a:ext>
              </a:extLst>
            </p:cNvPr>
            <p:cNvSpPr txBox="1"/>
            <p:nvPr/>
          </p:nvSpPr>
          <p:spPr>
            <a:xfrm>
              <a:off x="1123773" y="793102"/>
              <a:ext cx="4871711" cy="830997"/>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Leasing of electric bicycles</a:t>
              </a:r>
            </a:p>
            <a:p>
              <a:pPr marL="171450" indent="-171450">
                <a:buFont typeface="Arial" panose="020B0604020202020204" pitchFamily="34" charset="0"/>
                <a:buChar char="•"/>
              </a:pPr>
              <a:r>
                <a:rPr lang="en-IN" sz="1200" dirty="0"/>
                <a:t>Customer support</a:t>
              </a:r>
            </a:p>
            <a:p>
              <a:pPr marL="171450" indent="-171450">
                <a:buFont typeface="Arial" panose="020B0604020202020204" pitchFamily="34" charset="0"/>
                <a:buChar char="•"/>
              </a:pPr>
              <a:r>
                <a:rPr lang="en-IN" sz="1200" dirty="0"/>
                <a:t>Establishment and maintenance of strategic partners</a:t>
              </a:r>
            </a:p>
            <a:p>
              <a:pPr marL="171450" indent="-171450">
                <a:buFont typeface="Arial" panose="020B0604020202020204" pitchFamily="34" charset="0"/>
                <a:buChar char="•"/>
              </a:pPr>
              <a:r>
                <a:rPr lang="en-IN" sz="1200" dirty="0"/>
                <a:t>Repair, remanufacturing and disposal of electric bicycles</a:t>
              </a:r>
            </a:p>
          </p:txBody>
        </p:sp>
        <p:sp>
          <p:nvSpPr>
            <p:cNvPr id="27" name="Rectangle 26">
              <a:extLst>
                <a:ext uri="{FF2B5EF4-FFF2-40B4-BE49-F238E27FC236}">
                  <a16:creationId xmlns:a16="http://schemas.microsoft.com/office/drawing/2014/main" id="{6609471B-4EC3-F292-FCA1-9D305858EF08}"/>
                </a:ext>
              </a:extLst>
            </p:cNvPr>
            <p:cNvSpPr/>
            <p:nvPr/>
          </p:nvSpPr>
          <p:spPr>
            <a:xfrm>
              <a:off x="-1" y="793102"/>
              <a:ext cx="1119673" cy="83099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Key Activities</a:t>
              </a:r>
            </a:p>
          </p:txBody>
        </p:sp>
      </p:grpSp>
      <p:grpSp>
        <p:nvGrpSpPr>
          <p:cNvPr id="28" name="Group 27">
            <a:extLst>
              <a:ext uri="{FF2B5EF4-FFF2-40B4-BE49-F238E27FC236}">
                <a16:creationId xmlns:a16="http://schemas.microsoft.com/office/drawing/2014/main" id="{3FD5144F-6221-CA76-D9F8-7AFA35E435D2}"/>
              </a:ext>
            </a:extLst>
          </p:cNvPr>
          <p:cNvGrpSpPr/>
          <p:nvPr/>
        </p:nvGrpSpPr>
        <p:grpSpPr>
          <a:xfrm>
            <a:off x="0" y="2419717"/>
            <a:ext cx="5971474" cy="646332"/>
            <a:chOff x="15449" y="725841"/>
            <a:chExt cx="5971474" cy="646332"/>
          </a:xfrm>
        </p:grpSpPr>
        <p:sp>
          <p:nvSpPr>
            <p:cNvPr id="29" name="TextBox 28">
              <a:extLst>
                <a:ext uri="{FF2B5EF4-FFF2-40B4-BE49-F238E27FC236}">
                  <a16:creationId xmlns:a16="http://schemas.microsoft.com/office/drawing/2014/main" id="{DF1B5171-141D-BDFF-DB3A-8CF6040D3F54}"/>
                </a:ext>
              </a:extLst>
            </p:cNvPr>
            <p:cNvSpPr txBox="1"/>
            <p:nvPr/>
          </p:nvSpPr>
          <p:spPr>
            <a:xfrm>
              <a:off x="1115212" y="725841"/>
              <a:ext cx="4871711"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Stationary or online dealers who offer leasing</a:t>
              </a:r>
            </a:p>
            <a:p>
              <a:pPr marL="171450" indent="-171450">
                <a:buFont typeface="Arial" panose="020B0604020202020204" pitchFamily="34" charset="0"/>
                <a:buChar char="•"/>
              </a:pPr>
              <a:r>
                <a:rPr lang="en-IN" sz="1200" dirty="0"/>
                <a:t>Special providers for company bicycle leasing or for leasing with all round service of electric bicycles are often available online</a:t>
              </a:r>
            </a:p>
          </p:txBody>
        </p:sp>
        <p:sp>
          <p:nvSpPr>
            <p:cNvPr id="30" name="Rectangle 29">
              <a:extLst>
                <a:ext uri="{FF2B5EF4-FFF2-40B4-BE49-F238E27FC236}">
                  <a16:creationId xmlns:a16="http://schemas.microsoft.com/office/drawing/2014/main" id="{689CC4CB-E3B8-0961-6566-526F96D1EFC2}"/>
                </a:ext>
              </a:extLst>
            </p:cNvPr>
            <p:cNvSpPr/>
            <p:nvPr/>
          </p:nvSpPr>
          <p:spPr>
            <a:xfrm>
              <a:off x="15449" y="725842"/>
              <a:ext cx="1119673" cy="6463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Channels</a:t>
              </a:r>
            </a:p>
          </p:txBody>
        </p:sp>
      </p:grpSp>
      <p:grpSp>
        <p:nvGrpSpPr>
          <p:cNvPr id="31" name="Group 30">
            <a:extLst>
              <a:ext uri="{FF2B5EF4-FFF2-40B4-BE49-F238E27FC236}">
                <a16:creationId xmlns:a16="http://schemas.microsoft.com/office/drawing/2014/main" id="{8BA8A341-3FAF-09E6-A979-2C7AC6D81B7A}"/>
              </a:ext>
            </a:extLst>
          </p:cNvPr>
          <p:cNvGrpSpPr/>
          <p:nvPr/>
        </p:nvGrpSpPr>
        <p:grpSpPr>
          <a:xfrm>
            <a:off x="0" y="3125139"/>
            <a:ext cx="5995485" cy="646332"/>
            <a:chOff x="-1" y="793099"/>
            <a:chExt cx="5995485" cy="1658202"/>
          </a:xfrm>
        </p:grpSpPr>
        <p:sp>
          <p:nvSpPr>
            <p:cNvPr id="32" name="TextBox 31">
              <a:extLst>
                <a:ext uri="{FF2B5EF4-FFF2-40B4-BE49-F238E27FC236}">
                  <a16:creationId xmlns:a16="http://schemas.microsoft.com/office/drawing/2014/main" id="{54C57585-AB0B-1441-992F-5F9AA98F73B7}"/>
                </a:ext>
              </a:extLst>
            </p:cNvPr>
            <p:cNvSpPr txBox="1"/>
            <p:nvPr/>
          </p:nvSpPr>
          <p:spPr>
            <a:xfrm>
              <a:off x="1123773" y="793102"/>
              <a:ext cx="4871711" cy="1658199"/>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Manufacturers of electric bicycles</a:t>
              </a:r>
            </a:p>
            <a:p>
              <a:pPr marL="171450" indent="-171450">
                <a:buFont typeface="Arial" panose="020B0604020202020204" pitchFamily="34" charset="0"/>
                <a:buChar char="•"/>
              </a:pPr>
              <a:r>
                <a:rPr lang="en-IN" sz="1200" dirty="0"/>
                <a:t>Workshops, which ensure repair and remanufacturing</a:t>
              </a:r>
            </a:p>
            <a:p>
              <a:pPr marL="171450" indent="-171450">
                <a:buFont typeface="Arial" panose="020B0604020202020204" pitchFamily="34" charset="0"/>
                <a:buChar char="•"/>
              </a:pPr>
              <a:r>
                <a:rPr lang="en-IN" sz="1200" dirty="0"/>
                <a:t>Stationary or online bicycle dealers</a:t>
              </a:r>
            </a:p>
          </p:txBody>
        </p:sp>
        <p:sp>
          <p:nvSpPr>
            <p:cNvPr id="33" name="Rectangle 32">
              <a:extLst>
                <a:ext uri="{FF2B5EF4-FFF2-40B4-BE49-F238E27FC236}">
                  <a16:creationId xmlns:a16="http://schemas.microsoft.com/office/drawing/2014/main" id="{483C8378-842E-CFA6-CB74-45E73AB089DC}"/>
                </a:ext>
              </a:extLst>
            </p:cNvPr>
            <p:cNvSpPr/>
            <p:nvPr/>
          </p:nvSpPr>
          <p:spPr>
            <a:xfrm>
              <a:off x="-1" y="793099"/>
              <a:ext cx="1119673" cy="165819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Key Partners</a:t>
              </a:r>
            </a:p>
          </p:txBody>
        </p:sp>
      </p:grpSp>
      <p:grpSp>
        <p:nvGrpSpPr>
          <p:cNvPr id="34" name="Group 33">
            <a:extLst>
              <a:ext uri="{FF2B5EF4-FFF2-40B4-BE49-F238E27FC236}">
                <a16:creationId xmlns:a16="http://schemas.microsoft.com/office/drawing/2014/main" id="{06BC384B-9395-9A4C-6ED7-50C9AF2942AF}"/>
              </a:ext>
            </a:extLst>
          </p:cNvPr>
          <p:cNvGrpSpPr/>
          <p:nvPr/>
        </p:nvGrpSpPr>
        <p:grpSpPr>
          <a:xfrm>
            <a:off x="0" y="3849809"/>
            <a:ext cx="5995485" cy="646331"/>
            <a:chOff x="-1" y="793102"/>
            <a:chExt cx="5995485" cy="646331"/>
          </a:xfrm>
        </p:grpSpPr>
        <p:sp>
          <p:nvSpPr>
            <p:cNvPr id="35" name="TextBox 34">
              <a:extLst>
                <a:ext uri="{FF2B5EF4-FFF2-40B4-BE49-F238E27FC236}">
                  <a16:creationId xmlns:a16="http://schemas.microsoft.com/office/drawing/2014/main" id="{15289E1F-20E5-80C5-F9A8-13EA54033B0C}"/>
                </a:ext>
              </a:extLst>
            </p:cNvPr>
            <p:cNvSpPr txBox="1"/>
            <p:nvPr/>
          </p:nvSpPr>
          <p:spPr>
            <a:xfrm>
              <a:off x="1123773" y="793102"/>
              <a:ext cx="4871711" cy="646331"/>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Production cost for electric bicycles</a:t>
              </a:r>
            </a:p>
            <a:p>
              <a:pPr marL="171450" indent="-171450">
                <a:buFont typeface="Arial" panose="020B0604020202020204" pitchFamily="34" charset="0"/>
                <a:buChar char="•"/>
              </a:pPr>
              <a:r>
                <a:rPr lang="en-IN" sz="1200" dirty="0"/>
                <a:t>Running cost : maintenance, repair, remanufacturing, disposal, cost for office buildings, transport cost, personnel cost for leasing contracts.</a:t>
              </a:r>
            </a:p>
          </p:txBody>
        </p:sp>
        <p:sp>
          <p:nvSpPr>
            <p:cNvPr id="36" name="Rectangle 35">
              <a:extLst>
                <a:ext uri="{FF2B5EF4-FFF2-40B4-BE49-F238E27FC236}">
                  <a16:creationId xmlns:a16="http://schemas.microsoft.com/office/drawing/2014/main" id="{A3E04E6C-2644-5B1B-6913-2A15E4A82F9F}"/>
                </a:ext>
              </a:extLst>
            </p:cNvPr>
            <p:cNvSpPr/>
            <p:nvPr/>
          </p:nvSpPr>
          <p:spPr>
            <a:xfrm>
              <a:off x="-1" y="793102"/>
              <a:ext cx="1119673" cy="6463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Cost Structure</a:t>
              </a:r>
            </a:p>
          </p:txBody>
        </p:sp>
      </p:grpSp>
      <p:sp>
        <p:nvSpPr>
          <p:cNvPr id="37" name="Oval 36">
            <a:extLst>
              <a:ext uri="{FF2B5EF4-FFF2-40B4-BE49-F238E27FC236}">
                <a16:creationId xmlns:a16="http://schemas.microsoft.com/office/drawing/2014/main" id="{04C1559A-93C6-E5B3-BC4D-3D7BC4B44CA5}"/>
              </a:ext>
            </a:extLst>
          </p:cNvPr>
          <p:cNvSpPr/>
          <p:nvPr/>
        </p:nvSpPr>
        <p:spPr>
          <a:xfrm>
            <a:off x="2199527" y="5030764"/>
            <a:ext cx="1215476" cy="1034134"/>
          </a:xfrm>
          <a:prstGeom prst="ellipse">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Revenue Stream</a:t>
            </a:r>
          </a:p>
        </p:txBody>
      </p:sp>
      <p:sp>
        <p:nvSpPr>
          <p:cNvPr id="38" name="TextBox 37">
            <a:extLst>
              <a:ext uri="{FF2B5EF4-FFF2-40B4-BE49-F238E27FC236}">
                <a16:creationId xmlns:a16="http://schemas.microsoft.com/office/drawing/2014/main" id="{47029C60-768F-0460-DD39-BE8F67B2BD32}"/>
              </a:ext>
            </a:extLst>
          </p:cNvPr>
          <p:cNvSpPr txBox="1"/>
          <p:nvPr/>
        </p:nvSpPr>
        <p:spPr>
          <a:xfrm>
            <a:off x="1687591" y="4534019"/>
            <a:ext cx="2239347" cy="461665"/>
          </a:xfrm>
          <a:prstGeom prst="rect">
            <a:avLst/>
          </a:prstGeom>
          <a:noFill/>
          <a:ln>
            <a:solidFill>
              <a:schemeClr val="accent2">
                <a:lumMod val="75000"/>
              </a:schemeClr>
            </a:solidFill>
          </a:ln>
        </p:spPr>
        <p:txBody>
          <a:bodyPr wrap="square" rtlCol="0">
            <a:spAutoFit/>
          </a:bodyPr>
          <a:lstStyle/>
          <a:p>
            <a:pPr algn="ctr"/>
            <a:r>
              <a:rPr lang="en-IN" sz="1200" dirty="0"/>
              <a:t>Monthly or annual payments by the customers</a:t>
            </a:r>
          </a:p>
        </p:txBody>
      </p:sp>
      <p:sp>
        <p:nvSpPr>
          <p:cNvPr id="39" name="TextBox 38">
            <a:extLst>
              <a:ext uri="{FF2B5EF4-FFF2-40B4-BE49-F238E27FC236}">
                <a16:creationId xmlns:a16="http://schemas.microsoft.com/office/drawing/2014/main" id="{510CB6CD-0BB5-F579-317A-CF026FCA253D}"/>
              </a:ext>
            </a:extLst>
          </p:cNvPr>
          <p:cNvSpPr txBox="1"/>
          <p:nvPr/>
        </p:nvSpPr>
        <p:spPr>
          <a:xfrm>
            <a:off x="3415003" y="5686045"/>
            <a:ext cx="2580481" cy="646331"/>
          </a:xfrm>
          <a:prstGeom prst="rect">
            <a:avLst/>
          </a:prstGeom>
          <a:noFill/>
          <a:ln>
            <a:solidFill>
              <a:schemeClr val="accent2">
                <a:lumMod val="75000"/>
              </a:schemeClr>
            </a:solidFill>
          </a:ln>
        </p:spPr>
        <p:txBody>
          <a:bodyPr wrap="square" rtlCol="0">
            <a:spAutoFit/>
          </a:bodyPr>
          <a:lstStyle/>
          <a:p>
            <a:pPr algn="just"/>
            <a:r>
              <a:rPr lang="en-IN" sz="1200" dirty="0"/>
              <a:t>Leasing for customers to obtain a high priced electric bicycle with the latest technology at a lower acquisition cost</a:t>
            </a:r>
          </a:p>
        </p:txBody>
      </p:sp>
      <p:sp>
        <p:nvSpPr>
          <p:cNvPr id="40" name="TextBox 39">
            <a:extLst>
              <a:ext uri="{FF2B5EF4-FFF2-40B4-BE49-F238E27FC236}">
                <a16:creationId xmlns:a16="http://schemas.microsoft.com/office/drawing/2014/main" id="{8D81756E-5D4C-8F00-349B-A605902F3E57}"/>
              </a:ext>
            </a:extLst>
          </p:cNvPr>
          <p:cNvSpPr txBox="1"/>
          <p:nvPr/>
        </p:nvSpPr>
        <p:spPr>
          <a:xfrm>
            <a:off x="-1" y="5530925"/>
            <a:ext cx="2179619" cy="830997"/>
          </a:xfrm>
          <a:prstGeom prst="rect">
            <a:avLst/>
          </a:prstGeom>
          <a:noFill/>
          <a:ln>
            <a:solidFill>
              <a:schemeClr val="accent2">
                <a:lumMod val="75000"/>
              </a:schemeClr>
            </a:solidFill>
          </a:ln>
        </p:spPr>
        <p:txBody>
          <a:bodyPr wrap="square" rtlCol="0">
            <a:spAutoFit/>
          </a:bodyPr>
          <a:lstStyle/>
          <a:p>
            <a:pPr algn="just"/>
            <a:r>
              <a:rPr lang="en-IN" sz="1200" dirty="0"/>
              <a:t>Access of the data on the use, maintenance and repair of the bicycles through status monitoring</a:t>
            </a:r>
          </a:p>
        </p:txBody>
      </p:sp>
      <p:sp>
        <p:nvSpPr>
          <p:cNvPr id="41" name="Rectangle 40">
            <a:extLst>
              <a:ext uri="{FF2B5EF4-FFF2-40B4-BE49-F238E27FC236}">
                <a16:creationId xmlns:a16="http://schemas.microsoft.com/office/drawing/2014/main" id="{1F5F9335-3903-5613-0EF1-B1D9EAE00C4A}"/>
              </a:ext>
            </a:extLst>
          </p:cNvPr>
          <p:cNvSpPr/>
          <p:nvPr/>
        </p:nvSpPr>
        <p:spPr>
          <a:xfrm>
            <a:off x="-1" y="6391468"/>
            <a:ext cx="6096001" cy="466532"/>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0" i="0" dirty="0">
                <a:solidFill>
                  <a:schemeClr val="bg1"/>
                </a:solidFill>
                <a:effectLst/>
                <a:latin typeface="MuseoSans"/>
              </a:rPr>
              <a:t>Leasing of bicycles will reduces the financial pressure on the lessee and provides the lessor with a stable flow of liquidity  on a monthly or annual basis, thus generating additional revenue </a:t>
            </a:r>
            <a:endParaRPr lang="en-IN" sz="1200" dirty="0">
              <a:solidFill>
                <a:schemeClr val="bg1"/>
              </a:solidFill>
            </a:endParaRPr>
          </a:p>
        </p:txBody>
      </p:sp>
      <p:sp>
        <p:nvSpPr>
          <p:cNvPr id="42" name="Rectangle 41">
            <a:extLst>
              <a:ext uri="{FF2B5EF4-FFF2-40B4-BE49-F238E27FC236}">
                <a16:creationId xmlns:a16="http://schemas.microsoft.com/office/drawing/2014/main" id="{B5FEC83E-9C81-B378-0D70-5F2E22495A35}"/>
              </a:ext>
            </a:extLst>
          </p:cNvPr>
          <p:cNvSpPr/>
          <p:nvPr/>
        </p:nvSpPr>
        <p:spPr>
          <a:xfrm>
            <a:off x="6161313" y="466532"/>
            <a:ext cx="5995484" cy="25192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Bike Sharing  </a:t>
            </a:r>
          </a:p>
        </p:txBody>
      </p:sp>
      <p:grpSp>
        <p:nvGrpSpPr>
          <p:cNvPr id="43" name="Group 42">
            <a:extLst>
              <a:ext uri="{FF2B5EF4-FFF2-40B4-BE49-F238E27FC236}">
                <a16:creationId xmlns:a16="http://schemas.microsoft.com/office/drawing/2014/main" id="{AF5473B3-C0EE-96DD-628D-EB4F270A404E}"/>
              </a:ext>
            </a:extLst>
          </p:cNvPr>
          <p:cNvGrpSpPr/>
          <p:nvPr/>
        </p:nvGrpSpPr>
        <p:grpSpPr>
          <a:xfrm>
            <a:off x="6162623" y="793104"/>
            <a:ext cx="5994174" cy="830997"/>
            <a:chOff x="-185307" y="793102"/>
            <a:chExt cx="5994174" cy="830997"/>
          </a:xfrm>
        </p:grpSpPr>
        <p:sp>
          <p:nvSpPr>
            <p:cNvPr id="44" name="TextBox 43">
              <a:extLst>
                <a:ext uri="{FF2B5EF4-FFF2-40B4-BE49-F238E27FC236}">
                  <a16:creationId xmlns:a16="http://schemas.microsoft.com/office/drawing/2014/main" id="{3F25CFEB-1E45-8C3C-9AB4-FB864C6E5139}"/>
                </a:ext>
              </a:extLst>
            </p:cNvPr>
            <p:cNvSpPr txBox="1"/>
            <p:nvPr/>
          </p:nvSpPr>
          <p:spPr>
            <a:xfrm>
              <a:off x="1310390" y="793102"/>
              <a:ext cx="4498477" cy="830997"/>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Flexible, demand oriented use</a:t>
              </a:r>
            </a:p>
            <a:p>
              <a:pPr marL="171450" indent="-171450">
                <a:buFont typeface="Arial" panose="020B0604020202020204" pitchFamily="34" charset="0"/>
                <a:buChar char="•"/>
              </a:pPr>
              <a:r>
                <a:rPr lang="en-IN" sz="1200" dirty="0"/>
                <a:t>Regular maintenance, repair of damage and remanufacturing of components</a:t>
              </a:r>
            </a:p>
            <a:p>
              <a:pPr marL="171450" indent="-171450">
                <a:buFont typeface="Arial" panose="020B0604020202020204" pitchFamily="34" charset="0"/>
                <a:buChar char="•"/>
              </a:pPr>
              <a:r>
                <a:rPr lang="en-IN" sz="1200" dirty="0"/>
                <a:t>Product period take back and upgrade</a:t>
              </a:r>
            </a:p>
          </p:txBody>
        </p:sp>
        <p:sp>
          <p:nvSpPr>
            <p:cNvPr id="45" name="Rectangle 44">
              <a:extLst>
                <a:ext uri="{FF2B5EF4-FFF2-40B4-BE49-F238E27FC236}">
                  <a16:creationId xmlns:a16="http://schemas.microsoft.com/office/drawing/2014/main" id="{A0E846EC-C3F1-F8C6-9492-D7246F538256}"/>
                </a:ext>
              </a:extLst>
            </p:cNvPr>
            <p:cNvSpPr/>
            <p:nvPr/>
          </p:nvSpPr>
          <p:spPr>
            <a:xfrm>
              <a:off x="-185307" y="793102"/>
              <a:ext cx="1490284" cy="83099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Value Proposition</a:t>
              </a:r>
            </a:p>
          </p:txBody>
        </p:sp>
      </p:grpSp>
      <p:grpSp>
        <p:nvGrpSpPr>
          <p:cNvPr id="46" name="Group 45">
            <a:extLst>
              <a:ext uri="{FF2B5EF4-FFF2-40B4-BE49-F238E27FC236}">
                <a16:creationId xmlns:a16="http://schemas.microsoft.com/office/drawing/2014/main" id="{D52FAA1E-23F1-29D4-C759-0D0E5BF9BB0E}"/>
              </a:ext>
            </a:extLst>
          </p:cNvPr>
          <p:cNvGrpSpPr/>
          <p:nvPr/>
        </p:nvGrpSpPr>
        <p:grpSpPr>
          <a:xfrm>
            <a:off x="6161968" y="1765002"/>
            <a:ext cx="5994174" cy="461665"/>
            <a:chOff x="-185307" y="793102"/>
            <a:chExt cx="5994174" cy="461665"/>
          </a:xfrm>
        </p:grpSpPr>
        <p:sp>
          <p:nvSpPr>
            <p:cNvPr id="47" name="TextBox 46">
              <a:extLst>
                <a:ext uri="{FF2B5EF4-FFF2-40B4-BE49-F238E27FC236}">
                  <a16:creationId xmlns:a16="http://schemas.microsoft.com/office/drawing/2014/main" id="{34066E66-20C2-0CF5-6B6B-73092291E11B}"/>
                </a:ext>
              </a:extLst>
            </p:cNvPr>
            <p:cNvSpPr txBox="1"/>
            <p:nvPr/>
          </p:nvSpPr>
          <p:spPr>
            <a:xfrm>
              <a:off x="1310390" y="793102"/>
              <a:ext cx="4498477" cy="461665"/>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Rental of fully functional and charged electric bicycles</a:t>
              </a:r>
            </a:p>
            <a:p>
              <a:pPr marL="171450" indent="-171450">
                <a:buFont typeface="Arial" panose="020B0604020202020204" pitchFamily="34" charset="0"/>
                <a:buChar char="•"/>
              </a:pPr>
              <a:r>
                <a:rPr lang="en-IN" sz="1200" dirty="0"/>
                <a:t>Establishment of strategic partnership</a:t>
              </a:r>
            </a:p>
          </p:txBody>
        </p:sp>
        <p:sp>
          <p:nvSpPr>
            <p:cNvPr id="48" name="Rectangle 47">
              <a:extLst>
                <a:ext uri="{FF2B5EF4-FFF2-40B4-BE49-F238E27FC236}">
                  <a16:creationId xmlns:a16="http://schemas.microsoft.com/office/drawing/2014/main" id="{78AAD668-EF7B-16A5-E64B-A5F74DA85717}"/>
                </a:ext>
              </a:extLst>
            </p:cNvPr>
            <p:cNvSpPr/>
            <p:nvPr/>
          </p:nvSpPr>
          <p:spPr>
            <a:xfrm>
              <a:off x="-185307" y="793102"/>
              <a:ext cx="1490284" cy="4616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Key Activities</a:t>
              </a:r>
            </a:p>
          </p:txBody>
        </p:sp>
      </p:grpSp>
      <p:grpSp>
        <p:nvGrpSpPr>
          <p:cNvPr id="49" name="Group 48">
            <a:extLst>
              <a:ext uri="{FF2B5EF4-FFF2-40B4-BE49-F238E27FC236}">
                <a16:creationId xmlns:a16="http://schemas.microsoft.com/office/drawing/2014/main" id="{4C659F86-5257-E59C-1AEF-63EA722BB93F}"/>
              </a:ext>
            </a:extLst>
          </p:cNvPr>
          <p:cNvGrpSpPr/>
          <p:nvPr/>
        </p:nvGrpSpPr>
        <p:grpSpPr>
          <a:xfrm>
            <a:off x="6161968" y="2377971"/>
            <a:ext cx="5994174" cy="461665"/>
            <a:chOff x="-185307" y="793102"/>
            <a:chExt cx="5994174" cy="461665"/>
          </a:xfrm>
        </p:grpSpPr>
        <p:sp>
          <p:nvSpPr>
            <p:cNvPr id="50" name="TextBox 49">
              <a:extLst>
                <a:ext uri="{FF2B5EF4-FFF2-40B4-BE49-F238E27FC236}">
                  <a16:creationId xmlns:a16="http://schemas.microsoft.com/office/drawing/2014/main" id="{C338C4C6-C9BD-D633-0F36-64CF8A500C73}"/>
                </a:ext>
              </a:extLst>
            </p:cNvPr>
            <p:cNvSpPr txBox="1"/>
            <p:nvPr/>
          </p:nvSpPr>
          <p:spPr>
            <a:xfrm>
              <a:off x="1310390" y="793102"/>
              <a:ext cx="4498477" cy="461665"/>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Particularly attractive too lower income consumers who do not want to commit the financial obligation of leasing contract</a:t>
              </a:r>
            </a:p>
          </p:txBody>
        </p:sp>
        <p:sp>
          <p:nvSpPr>
            <p:cNvPr id="51" name="Rectangle 50">
              <a:extLst>
                <a:ext uri="{FF2B5EF4-FFF2-40B4-BE49-F238E27FC236}">
                  <a16:creationId xmlns:a16="http://schemas.microsoft.com/office/drawing/2014/main" id="{4F4033DF-A649-F93C-6908-8E6E8E080D3A}"/>
                </a:ext>
              </a:extLst>
            </p:cNvPr>
            <p:cNvSpPr/>
            <p:nvPr/>
          </p:nvSpPr>
          <p:spPr>
            <a:xfrm>
              <a:off x="-185307" y="793102"/>
              <a:ext cx="1490284" cy="4616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Customer segments</a:t>
              </a:r>
            </a:p>
          </p:txBody>
        </p:sp>
      </p:grpSp>
      <p:grpSp>
        <p:nvGrpSpPr>
          <p:cNvPr id="52" name="Group 51">
            <a:extLst>
              <a:ext uri="{FF2B5EF4-FFF2-40B4-BE49-F238E27FC236}">
                <a16:creationId xmlns:a16="http://schemas.microsoft.com/office/drawing/2014/main" id="{8F04A0BD-A30A-6430-42EC-D19D8B473A1D}"/>
              </a:ext>
            </a:extLst>
          </p:cNvPr>
          <p:cNvGrpSpPr/>
          <p:nvPr/>
        </p:nvGrpSpPr>
        <p:grpSpPr>
          <a:xfrm>
            <a:off x="6161968" y="2979011"/>
            <a:ext cx="5994174" cy="461665"/>
            <a:chOff x="-185307" y="793102"/>
            <a:chExt cx="5994174" cy="461665"/>
          </a:xfrm>
        </p:grpSpPr>
        <p:sp>
          <p:nvSpPr>
            <p:cNvPr id="53" name="TextBox 52">
              <a:extLst>
                <a:ext uri="{FF2B5EF4-FFF2-40B4-BE49-F238E27FC236}">
                  <a16:creationId xmlns:a16="http://schemas.microsoft.com/office/drawing/2014/main" id="{E97FF42C-C77C-6078-69B1-94D82DD82839}"/>
                </a:ext>
              </a:extLst>
            </p:cNvPr>
            <p:cNvSpPr txBox="1"/>
            <p:nvPr/>
          </p:nvSpPr>
          <p:spPr>
            <a:xfrm>
              <a:off x="1310390" y="793102"/>
              <a:ext cx="4498477" cy="461665"/>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Electric bicycle fleet</a:t>
              </a:r>
            </a:p>
            <a:p>
              <a:pPr marL="171450" indent="-171450">
                <a:buFont typeface="Arial" panose="020B0604020202020204" pitchFamily="34" charset="0"/>
                <a:buChar char="•"/>
              </a:pPr>
              <a:r>
                <a:rPr lang="en-IN" sz="1200" dirty="0"/>
                <a:t>Technical infrastructure (app, website)</a:t>
              </a:r>
            </a:p>
          </p:txBody>
        </p:sp>
        <p:sp>
          <p:nvSpPr>
            <p:cNvPr id="54" name="Rectangle 53">
              <a:extLst>
                <a:ext uri="{FF2B5EF4-FFF2-40B4-BE49-F238E27FC236}">
                  <a16:creationId xmlns:a16="http://schemas.microsoft.com/office/drawing/2014/main" id="{5BAFDFF6-4BAD-86C4-D876-FCD064687685}"/>
                </a:ext>
              </a:extLst>
            </p:cNvPr>
            <p:cNvSpPr/>
            <p:nvPr/>
          </p:nvSpPr>
          <p:spPr>
            <a:xfrm>
              <a:off x="-185307" y="793102"/>
              <a:ext cx="1490284" cy="4616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Key Resources</a:t>
              </a:r>
            </a:p>
          </p:txBody>
        </p:sp>
      </p:grpSp>
      <p:grpSp>
        <p:nvGrpSpPr>
          <p:cNvPr id="58" name="Group 57">
            <a:extLst>
              <a:ext uri="{FF2B5EF4-FFF2-40B4-BE49-F238E27FC236}">
                <a16:creationId xmlns:a16="http://schemas.microsoft.com/office/drawing/2014/main" id="{957F4559-F2F4-AB51-1801-F59ADB1AA7BC}"/>
              </a:ext>
            </a:extLst>
          </p:cNvPr>
          <p:cNvGrpSpPr/>
          <p:nvPr/>
        </p:nvGrpSpPr>
        <p:grpSpPr>
          <a:xfrm>
            <a:off x="6161313" y="4219141"/>
            <a:ext cx="5994174" cy="276999"/>
            <a:chOff x="-185307" y="793102"/>
            <a:chExt cx="5994174" cy="276999"/>
          </a:xfrm>
        </p:grpSpPr>
        <p:sp>
          <p:nvSpPr>
            <p:cNvPr id="59" name="TextBox 58">
              <a:extLst>
                <a:ext uri="{FF2B5EF4-FFF2-40B4-BE49-F238E27FC236}">
                  <a16:creationId xmlns:a16="http://schemas.microsoft.com/office/drawing/2014/main" id="{778C4F85-D520-B015-72D6-3D61B06F4245}"/>
                </a:ext>
              </a:extLst>
            </p:cNvPr>
            <p:cNvSpPr txBox="1"/>
            <p:nvPr/>
          </p:nvSpPr>
          <p:spPr>
            <a:xfrm>
              <a:off x="1310390" y="793102"/>
              <a:ext cx="4498477" cy="276999"/>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200" dirty="0"/>
                <a:t>High acquisition cost for the bicycle fleet</a:t>
              </a:r>
            </a:p>
          </p:txBody>
        </p:sp>
        <p:sp>
          <p:nvSpPr>
            <p:cNvPr id="60" name="Rectangle 59">
              <a:extLst>
                <a:ext uri="{FF2B5EF4-FFF2-40B4-BE49-F238E27FC236}">
                  <a16:creationId xmlns:a16="http://schemas.microsoft.com/office/drawing/2014/main" id="{C4FA966C-BDC9-0A16-E2D1-F92493682101}"/>
                </a:ext>
              </a:extLst>
            </p:cNvPr>
            <p:cNvSpPr/>
            <p:nvPr/>
          </p:nvSpPr>
          <p:spPr>
            <a:xfrm>
              <a:off x="-185307" y="793102"/>
              <a:ext cx="1490284" cy="27699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Cost Structure</a:t>
              </a:r>
            </a:p>
          </p:txBody>
        </p:sp>
      </p:grpSp>
      <p:grpSp>
        <p:nvGrpSpPr>
          <p:cNvPr id="61" name="Group 60">
            <a:extLst>
              <a:ext uri="{FF2B5EF4-FFF2-40B4-BE49-F238E27FC236}">
                <a16:creationId xmlns:a16="http://schemas.microsoft.com/office/drawing/2014/main" id="{82EC6979-A746-7FD2-D8F1-749421B95472}"/>
              </a:ext>
            </a:extLst>
          </p:cNvPr>
          <p:cNvGrpSpPr/>
          <p:nvPr/>
        </p:nvGrpSpPr>
        <p:grpSpPr>
          <a:xfrm>
            <a:off x="6161313" y="3590338"/>
            <a:ext cx="5994174" cy="507832"/>
            <a:chOff x="-185307" y="793101"/>
            <a:chExt cx="5994174" cy="461665"/>
          </a:xfrm>
        </p:grpSpPr>
        <p:sp>
          <p:nvSpPr>
            <p:cNvPr id="62" name="TextBox 61">
              <a:extLst>
                <a:ext uri="{FF2B5EF4-FFF2-40B4-BE49-F238E27FC236}">
                  <a16:creationId xmlns:a16="http://schemas.microsoft.com/office/drawing/2014/main" id="{74AD3BF6-0DE0-1A1B-1C33-EA8F1E6B699A}"/>
                </a:ext>
              </a:extLst>
            </p:cNvPr>
            <p:cNvSpPr txBox="1"/>
            <p:nvPr/>
          </p:nvSpPr>
          <p:spPr>
            <a:xfrm>
              <a:off x="1310390" y="793101"/>
              <a:ext cx="4498477" cy="461665"/>
            </a:xfrm>
            <a:prstGeom prst="rect">
              <a:avLst/>
            </a:prstGeom>
            <a:noFill/>
            <a:ln>
              <a:solidFill>
                <a:schemeClr val="tx1"/>
              </a:solidFill>
            </a:ln>
          </p:spPr>
          <p:txBody>
            <a:bodyPr wrap="square" rtlCol="0">
              <a:spAutoFit/>
            </a:bodyPr>
            <a:lstStyle/>
            <a:p>
              <a:r>
                <a:rPr lang="en-IN" sz="1200" dirty="0"/>
                <a:t>Sharing apps</a:t>
              </a:r>
            </a:p>
            <a:p>
              <a:r>
                <a:rPr lang="en-IN" sz="1200" dirty="0"/>
                <a:t>Offline visibility of the electric vehicles for customer awareness</a:t>
              </a:r>
            </a:p>
          </p:txBody>
        </p:sp>
        <p:sp>
          <p:nvSpPr>
            <p:cNvPr id="63" name="Rectangle 62">
              <a:extLst>
                <a:ext uri="{FF2B5EF4-FFF2-40B4-BE49-F238E27FC236}">
                  <a16:creationId xmlns:a16="http://schemas.microsoft.com/office/drawing/2014/main" id="{C289994E-8160-4911-4059-EB6D1E108CE1}"/>
                </a:ext>
              </a:extLst>
            </p:cNvPr>
            <p:cNvSpPr/>
            <p:nvPr/>
          </p:nvSpPr>
          <p:spPr>
            <a:xfrm>
              <a:off x="-185307" y="793102"/>
              <a:ext cx="1490284" cy="46139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dirty="0"/>
                <a:t>Channels</a:t>
              </a:r>
            </a:p>
          </p:txBody>
        </p:sp>
      </p:grpSp>
      <p:sp>
        <p:nvSpPr>
          <p:cNvPr id="1029" name="TextBox 1028">
            <a:extLst>
              <a:ext uri="{FF2B5EF4-FFF2-40B4-BE49-F238E27FC236}">
                <a16:creationId xmlns:a16="http://schemas.microsoft.com/office/drawing/2014/main" id="{241CD3A4-051F-D8AA-8AEB-8395B6AD4D54}"/>
              </a:ext>
            </a:extLst>
          </p:cNvPr>
          <p:cNvSpPr txBox="1"/>
          <p:nvPr/>
        </p:nvSpPr>
        <p:spPr>
          <a:xfrm>
            <a:off x="7764612" y="5833574"/>
            <a:ext cx="2824087" cy="461665"/>
          </a:xfrm>
          <a:prstGeom prst="rect">
            <a:avLst/>
          </a:prstGeom>
          <a:noFill/>
          <a:ln>
            <a:solidFill>
              <a:schemeClr val="accent2">
                <a:lumMod val="75000"/>
              </a:schemeClr>
            </a:solidFill>
          </a:ln>
        </p:spPr>
        <p:txBody>
          <a:bodyPr wrap="square" rtlCol="0">
            <a:spAutoFit/>
          </a:bodyPr>
          <a:lstStyle/>
          <a:p>
            <a:pPr algn="ctr"/>
            <a:r>
              <a:rPr lang="en-IN" sz="1200" dirty="0"/>
              <a:t>Payment by customers per use (Per minute/Kilometre)</a:t>
            </a:r>
          </a:p>
        </p:txBody>
      </p:sp>
      <p:sp>
        <p:nvSpPr>
          <p:cNvPr id="1031" name="Rectangle 1030">
            <a:extLst>
              <a:ext uri="{FF2B5EF4-FFF2-40B4-BE49-F238E27FC236}">
                <a16:creationId xmlns:a16="http://schemas.microsoft.com/office/drawing/2014/main" id="{BF51B55E-F51A-2E35-9ADF-AB90C6AFEAF1}"/>
              </a:ext>
            </a:extLst>
          </p:cNvPr>
          <p:cNvSpPr/>
          <p:nvPr/>
        </p:nvSpPr>
        <p:spPr>
          <a:xfrm>
            <a:off x="6161313" y="6391468"/>
            <a:ext cx="6030687" cy="461665"/>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1200" dirty="0">
                <a:solidFill>
                  <a:schemeClr val="bg1"/>
                </a:solidFill>
                <a:effectLst/>
                <a:latin typeface="MuseoSans"/>
                <a:ea typeface="Calibri" panose="020F0502020204030204" pitchFamily="34" charset="0"/>
                <a:cs typeface="Times New Roman" panose="02020603050405020304" pitchFamily="18" charset="0"/>
              </a:rPr>
              <a:t> In this  B2C bike-sharing business models, electric bicycles will be  made available to customers via free-floating or docking stations to make it available to the target customers</a:t>
            </a:r>
            <a:endParaRPr lang="en-IN" sz="1200" dirty="0">
              <a:solidFill>
                <a:schemeClr val="bg1"/>
              </a:solidFill>
              <a:latin typeface="MuseoSans"/>
            </a:endParaRPr>
          </a:p>
        </p:txBody>
      </p:sp>
      <p:sp>
        <p:nvSpPr>
          <p:cNvPr id="2" name="Oval 1">
            <a:extLst>
              <a:ext uri="{FF2B5EF4-FFF2-40B4-BE49-F238E27FC236}">
                <a16:creationId xmlns:a16="http://schemas.microsoft.com/office/drawing/2014/main" id="{6ECAA3D2-198D-2AC3-707E-A0498BD82C8D}"/>
              </a:ext>
            </a:extLst>
          </p:cNvPr>
          <p:cNvSpPr/>
          <p:nvPr/>
        </p:nvSpPr>
        <p:spPr>
          <a:xfrm>
            <a:off x="8568917" y="4630496"/>
            <a:ext cx="1215476" cy="1101012"/>
          </a:xfrm>
          <a:prstGeom prst="ellipse">
            <a:avLst/>
          </a:prstGeom>
          <a:solidFill>
            <a:schemeClr val="accent2">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Revenue Stream</a:t>
            </a:r>
          </a:p>
        </p:txBody>
      </p:sp>
      <p:grpSp>
        <p:nvGrpSpPr>
          <p:cNvPr id="14" name="Group 13">
            <a:extLst>
              <a:ext uri="{FF2B5EF4-FFF2-40B4-BE49-F238E27FC236}">
                <a16:creationId xmlns:a16="http://schemas.microsoft.com/office/drawing/2014/main" id="{94CC18B8-CBC9-BF16-DEC0-E44442B3A9E5}"/>
              </a:ext>
            </a:extLst>
          </p:cNvPr>
          <p:cNvGrpSpPr/>
          <p:nvPr/>
        </p:nvGrpSpPr>
        <p:grpSpPr>
          <a:xfrm>
            <a:off x="0" y="0"/>
            <a:ext cx="12138132" cy="317241"/>
            <a:chOff x="0" y="0"/>
            <a:chExt cx="10723984" cy="317241"/>
          </a:xfrm>
          <a:solidFill>
            <a:schemeClr val="accent2">
              <a:lumMod val="50000"/>
            </a:schemeClr>
          </a:solidFill>
        </p:grpSpPr>
        <p:sp>
          <p:nvSpPr>
            <p:cNvPr id="15" name="Arrow: Pentagon 14">
              <a:extLst>
                <a:ext uri="{FF2B5EF4-FFF2-40B4-BE49-F238E27FC236}">
                  <a16:creationId xmlns:a16="http://schemas.microsoft.com/office/drawing/2014/main" id="{081DB624-1C2B-B5C9-19DE-1D7B9D16F3F4}"/>
                </a:ext>
              </a:extLst>
            </p:cNvPr>
            <p:cNvSpPr/>
            <p:nvPr/>
          </p:nvSpPr>
          <p:spPr>
            <a:xfrm>
              <a:off x="0"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Market Scenario</a:t>
              </a:r>
            </a:p>
          </p:txBody>
        </p:sp>
        <p:sp>
          <p:nvSpPr>
            <p:cNvPr id="16" name="Arrow: Pentagon 15">
              <a:extLst>
                <a:ext uri="{FF2B5EF4-FFF2-40B4-BE49-F238E27FC236}">
                  <a16:creationId xmlns:a16="http://schemas.microsoft.com/office/drawing/2014/main" id="{0E23D636-9C18-38C1-B34A-B128F0080FF2}"/>
                </a:ext>
              </a:extLst>
            </p:cNvPr>
            <p:cNvSpPr/>
            <p:nvPr/>
          </p:nvSpPr>
          <p:spPr>
            <a:xfrm>
              <a:off x="2102498"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About Hades</a:t>
              </a:r>
            </a:p>
          </p:txBody>
        </p:sp>
        <p:sp>
          <p:nvSpPr>
            <p:cNvPr id="17" name="Arrow: Pentagon 16">
              <a:extLst>
                <a:ext uri="{FF2B5EF4-FFF2-40B4-BE49-F238E27FC236}">
                  <a16:creationId xmlns:a16="http://schemas.microsoft.com/office/drawing/2014/main" id="{4B4D26AF-3044-63BD-5862-E11DC1765AD2}"/>
                </a:ext>
              </a:extLst>
            </p:cNvPr>
            <p:cNvSpPr/>
            <p:nvPr/>
          </p:nvSpPr>
          <p:spPr>
            <a:xfrm>
              <a:off x="4204996"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Environment Analysis</a:t>
              </a:r>
            </a:p>
          </p:txBody>
        </p:sp>
        <p:sp>
          <p:nvSpPr>
            <p:cNvPr id="18" name="Arrow: Pentagon 17">
              <a:extLst>
                <a:ext uri="{FF2B5EF4-FFF2-40B4-BE49-F238E27FC236}">
                  <a16:creationId xmlns:a16="http://schemas.microsoft.com/office/drawing/2014/main" id="{D5F88606-BAA6-62DE-7BFF-03C8E0FE76AF}"/>
                </a:ext>
              </a:extLst>
            </p:cNvPr>
            <p:cNvSpPr/>
            <p:nvPr/>
          </p:nvSpPr>
          <p:spPr>
            <a:xfrm>
              <a:off x="6307494" y="0"/>
              <a:ext cx="2313992" cy="317241"/>
            </a:xfrm>
            <a:prstGeom prst="homePlate">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Revenue Streams</a:t>
              </a:r>
            </a:p>
          </p:txBody>
        </p:sp>
        <p:sp>
          <p:nvSpPr>
            <p:cNvPr id="19" name="Arrow: Pentagon 18">
              <a:extLst>
                <a:ext uri="{FF2B5EF4-FFF2-40B4-BE49-F238E27FC236}">
                  <a16:creationId xmlns:a16="http://schemas.microsoft.com/office/drawing/2014/main" id="{F91213CD-C041-D21A-FA75-7B49E474B9CC}"/>
                </a:ext>
              </a:extLst>
            </p:cNvPr>
            <p:cNvSpPr/>
            <p:nvPr/>
          </p:nvSpPr>
          <p:spPr>
            <a:xfrm>
              <a:off x="8409992"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Threats</a:t>
              </a:r>
            </a:p>
          </p:txBody>
        </p:sp>
      </p:grpSp>
    </p:spTree>
    <p:extLst>
      <p:ext uri="{BB962C8B-B14F-4D97-AF65-F5344CB8AC3E}">
        <p14:creationId xmlns:p14="http://schemas.microsoft.com/office/powerpoint/2010/main" val="860238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10465D-4C9D-97C5-1B14-97D6864F2F59}"/>
              </a:ext>
            </a:extLst>
          </p:cNvPr>
          <p:cNvSpPr/>
          <p:nvPr/>
        </p:nvSpPr>
        <p:spPr>
          <a:xfrm>
            <a:off x="0" y="466532"/>
            <a:ext cx="5995484" cy="25192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Emerging Mobility</a:t>
            </a:r>
          </a:p>
        </p:txBody>
      </p:sp>
      <p:grpSp>
        <p:nvGrpSpPr>
          <p:cNvPr id="15" name="Group 14">
            <a:extLst>
              <a:ext uri="{FF2B5EF4-FFF2-40B4-BE49-F238E27FC236}">
                <a16:creationId xmlns:a16="http://schemas.microsoft.com/office/drawing/2014/main" id="{3B880E62-66E2-25F0-F543-81F9A69DB2F0}"/>
              </a:ext>
            </a:extLst>
          </p:cNvPr>
          <p:cNvGrpSpPr/>
          <p:nvPr/>
        </p:nvGrpSpPr>
        <p:grpSpPr>
          <a:xfrm>
            <a:off x="916668" y="1926013"/>
            <a:ext cx="1560262" cy="749657"/>
            <a:chOff x="270589" y="1717482"/>
            <a:chExt cx="1560262" cy="749657"/>
          </a:xfrm>
        </p:grpSpPr>
        <p:pic>
          <p:nvPicPr>
            <p:cNvPr id="2050" name="Picture 2" descr="Charging Station ">
              <a:extLst>
                <a:ext uri="{FF2B5EF4-FFF2-40B4-BE49-F238E27FC236}">
                  <a16:creationId xmlns:a16="http://schemas.microsoft.com/office/drawing/2014/main" id="{A17BA497-EE15-C64A-F62E-F36A1F4E21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899" y="1717482"/>
              <a:ext cx="441880" cy="4418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B960DC9-6490-142E-2307-ACF7BE5CA298}"/>
                </a:ext>
              </a:extLst>
            </p:cNvPr>
            <p:cNvSpPr txBox="1"/>
            <p:nvPr/>
          </p:nvSpPr>
          <p:spPr>
            <a:xfrm>
              <a:off x="270589" y="2159362"/>
              <a:ext cx="1560262" cy="307777"/>
            </a:xfrm>
            <a:prstGeom prst="rect">
              <a:avLst/>
            </a:prstGeom>
            <a:noFill/>
          </p:spPr>
          <p:txBody>
            <a:bodyPr wrap="square" rtlCol="0">
              <a:spAutoFit/>
            </a:bodyPr>
            <a:lstStyle/>
            <a:p>
              <a:r>
                <a:rPr lang="en-IN" sz="1400" b="1" dirty="0"/>
                <a:t>Charging Stations</a:t>
              </a:r>
            </a:p>
          </p:txBody>
        </p:sp>
      </p:grpSp>
      <p:grpSp>
        <p:nvGrpSpPr>
          <p:cNvPr id="16" name="Group 15">
            <a:extLst>
              <a:ext uri="{FF2B5EF4-FFF2-40B4-BE49-F238E27FC236}">
                <a16:creationId xmlns:a16="http://schemas.microsoft.com/office/drawing/2014/main" id="{FB1774A8-D505-B583-93BC-CC37E99B8CAC}"/>
              </a:ext>
            </a:extLst>
          </p:cNvPr>
          <p:cNvGrpSpPr/>
          <p:nvPr/>
        </p:nvGrpSpPr>
        <p:grpSpPr>
          <a:xfrm>
            <a:off x="3464042" y="1926013"/>
            <a:ext cx="2180978" cy="749657"/>
            <a:chOff x="3098258" y="1655426"/>
            <a:chExt cx="2180978" cy="749657"/>
          </a:xfrm>
        </p:grpSpPr>
        <p:sp>
          <p:nvSpPr>
            <p:cNvPr id="14" name="TextBox 13">
              <a:extLst>
                <a:ext uri="{FF2B5EF4-FFF2-40B4-BE49-F238E27FC236}">
                  <a16:creationId xmlns:a16="http://schemas.microsoft.com/office/drawing/2014/main" id="{5D5EC2EB-7816-589B-ACF2-0BEA4425CD24}"/>
                </a:ext>
              </a:extLst>
            </p:cNvPr>
            <p:cNvSpPr txBox="1"/>
            <p:nvPr/>
          </p:nvSpPr>
          <p:spPr>
            <a:xfrm>
              <a:off x="3098258" y="2097306"/>
              <a:ext cx="2180978" cy="307777"/>
            </a:xfrm>
            <a:prstGeom prst="rect">
              <a:avLst/>
            </a:prstGeom>
            <a:noFill/>
          </p:spPr>
          <p:txBody>
            <a:bodyPr wrap="square" rtlCol="0">
              <a:spAutoFit/>
            </a:bodyPr>
            <a:lstStyle/>
            <a:p>
              <a:r>
                <a:rPr lang="en-IN" sz="1400" b="1" dirty="0"/>
                <a:t>Battery and allied services</a:t>
              </a:r>
            </a:p>
          </p:txBody>
        </p:sp>
        <p:pic>
          <p:nvPicPr>
            <p:cNvPr id="2052" name="Picture 4" descr="Battery ">
              <a:extLst>
                <a:ext uri="{FF2B5EF4-FFF2-40B4-BE49-F238E27FC236}">
                  <a16:creationId xmlns:a16="http://schemas.microsoft.com/office/drawing/2014/main" id="{0AD69EEC-CA8E-FB26-827C-B3766A5FCF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5613" y="1655426"/>
              <a:ext cx="441880" cy="4418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27">
            <a:extLst>
              <a:ext uri="{FF2B5EF4-FFF2-40B4-BE49-F238E27FC236}">
                <a16:creationId xmlns:a16="http://schemas.microsoft.com/office/drawing/2014/main" id="{724212BA-F8FD-9826-F7A3-34219DD80822}"/>
              </a:ext>
            </a:extLst>
          </p:cNvPr>
          <p:cNvGrpSpPr/>
          <p:nvPr/>
        </p:nvGrpSpPr>
        <p:grpSpPr>
          <a:xfrm>
            <a:off x="37324" y="793795"/>
            <a:ext cx="5962259" cy="1015663"/>
            <a:chOff x="37324" y="747140"/>
            <a:chExt cx="5962259" cy="1015663"/>
          </a:xfrm>
        </p:grpSpPr>
        <p:sp>
          <p:nvSpPr>
            <p:cNvPr id="11" name="TextBox 10">
              <a:extLst>
                <a:ext uri="{FF2B5EF4-FFF2-40B4-BE49-F238E27FC236}">
                  <a16:creationId xmlns:a16="http://schemas.microsoft.com/office/drawing/2014/main" id="{39671E31-435A-7411-5C7D-3D083A2D9834}"/>
                </a:ext>
              </a:extLst>
            </p:cNvPr>
            <p:cNvSpPr txBox="1"/>
            <p:nvPr/>
          </p:nvSpPr>
          <p:spPr>
            <a:xfrm>
              <a:off x="354562" y="747140"/>
              <a:ext cx="5645021" cy="1015663"/>
            </a:xfrm>
            <a:prstGeom prst="rect">
              <a:avLst/>
            </a:prstGeom>
            <a:noFill/>
            <a:ln>
              <a:solidFill>
                <a:schemeClr val="accent2">
                  <a:lumMod val="75000"/>
                </a:schemeClr>
              </a:solidFill>
            </a:ln>
          </p:spPr>
          <p:txBody>
            <a:bodyPr wrap="square" rtlCol="0">
              <a:spAutoFit/>
            </a:bodyPr>
            <a:lstStyle/>
            <a:p>
              <a:r>
                <a:rPr lang="en-IN" sz="1200" b="1" dirty="0"/>
                <a:t>Infrastructure: </a:t>
              </a:r>
              <a:r>
                <a:rPr lang="en-IN" sz="1200" dirty="0"/>
                <a:t>While EV adoption rates in the country are observed to have a substantial increase over the past couple of years, however availability of battery or charging infrastructure has not been able to meet the demand. Hades can look forward to provide charging stations, battery and allied services through collaborations with other organizations, government and even standalone centres</a:t>
              </a:r>
            </a:p>
          </p:txBody>
        </p:sp>
        <p:sp>
          <p:nvSpPr>
            <p:cNvPr id="17" name="Oval 16">
              <a:extLst>
                <a:ext uri="{FF2B5EF4-FFF2-40B4-BE49-F238E27FC236}">
                  <a16:creationId xmlns:a16="http://schemas.microsoft.com/office/drawing/2014/main" id="{6009E0D4-F626-A606-6584-71D9BDC8BEC5}"/>
                </a:ext>
              </a:extLst>
            </p:cNvPr>
            <p:cNvSpPr/>
            <p:nvPr/>
          </p:nvSpPr>
          <p:spPr>
            <a:xfrm>
              <a:off x="37324" y="774438"/>
              <a:ext cx="270589" cy="251926"/>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grpSp>
      <p:grpSp>
        <p:nvGrpSpPr>
          <p:cNvPr id="33" name="Group 32">
            <a:extLst>
              <a:ext uri="{FF2B5EF4-FFF2-40B4-BE49-F238E27FC236}">
                <a16:creationId xmlns:a16="http://schemas.microsoft.com/office/drawing/2014/main" id="{F9E88DAA-D6D2-1361-273B-2135EF29CD55}"/>
              </a:ext>
            </a:extLst>
          </p:cNvPr>
          <p:cNvGrpSpPr/>
          <p:nvPr/>
        </p:nvGrpSpPr>
        <p:grpSpPr>
          <a:xfrm>
            <a:off x="37323" y="2806422"/>
            <a:ext cx="6246719" cy="2208577"/>
            <a:chOff x="37323" y="2778429"/>
            <a:chExt cx="6246719" cy="2208577"/>
          </a:xfrm>
        </p:grpSpPr>
        <p:sp>
          <p:nvSpPr>
            <p:cNvPr id="18" name="Oval 17">
              <a:extLst>
                <a:ext uri="{FF2B5EF4-FFF2-40B4-BE49-F238E27FC236}">
                  <a16:creationId xmlns:a16="http://schemas.microsoft.com/office/drawing/2014/main" id="{1C131693-88C9-9678-8D74-052DCE13E164}"/>
                </a:ext>
              </a:extLst>
            </p:cNvPr>
            <p:cNvSpPr/>
            <p:nvPr/>
          </p:nvSpPr>
          <p:spPr>
            <a:xfrm>
              <a:off x="37323" y="2820945"/>
              <a:ext cx="270589" cy="251926"/>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grpSp>
          <p:nvGrpSpPr>
            <p:cNvPr id="29" name="Group 28">
              <a:extLst>
                <a:ext uri="{FF2B5EF4-FFF2-40B4-BE49-F238E27FC236}">
                  <a16:creationId xmlns:a16="http://schemas.microsoft.com/office/drawing/2014/main" id="{EEBC3A03-8312-CC49-57D5-D06877AB6863}"/>
                </a:ext>
              </a:extLst>
            </p:cNvPr>
            <p:cNvGrpSpPr/>
            <p:nvPr/>
          </p:nvGrpSpPr>
          <p:grpSpPr>
            <a:xfrm>
              <a:off x="40326" y="2778429"/>
              <a:ext cx="6243716" cy="2208577"/>
              <a:chOff x="40326" y="3058354"/>
              <a:chExt cx="6243716" cy="2208577"/>
            </a:xfrm>
          </p:grpSpPr>
          <p:sp>
            <p:nvSpPr>
              <p:cNvPr id="19" name="TextBox 18">
                <a:extLst>
                  <a:ext uri="{FF2B5EF4-FFF2-40B4-BE49-F238E27FC236}">
                    <a16:creationId xmlns:a16="http://schemas.microsoft.com/office/drawing/2014/main" id="{64C975C9-CEE3-4188-F126-1D79293FAD8A}"/>
                  </a:ext>
                </a:extLst>
              </p:cNvPr>
              <p:cNvSpPr txBox="1"/>
              <p:nvPr/>
            </p:nvSpPr>
            <p:spPr>
              <a:xfrm>
                <a:off x="354563" y="3058354"/>
                <a:ext cx="5640922" cy="1015663"/>
              </a:xfrm>
              <a:prstGeom prst="rect">
                <a:avLst/>
              </a:prstGeom>
              <a:noFill/>
              <a:ln>
                <a:solidFill>
                  <a:schemeClr val="accent2">
                    <a:lumMod val="75000"/>
                  </a:schemeClr>
                </a:solidFill>
              </a:ln>
            </p:spPr>
            <p:txBody>
              <a:bodyPr wrap="square" rtlCol="0">
                <a:spAutoFit/>
              </a:bodyPr>
              <a:lstStyle/>
              <a:p>
                <a:r>
                  <a:rPr lang="en-IN" sz="1200" b="1" dirty="0"/>
                  <a:t>IoT/Embedded Technology based services: </a:t>
                </a:r>
                <a:r>
                  <a:rPr lang="en-IN" sz="1200" dirty="0"/>
                  <a:t>With increase in smartphones and hence  smartwatches, and individuals getting more active about personal health and fitness, these technologies can be leveraged to provide additional wellbeing services to the consumers. Also, technologies enabling theft protection, insurance and data sharing services could be incorporated to increase revenue streams</a:t>
                </a:r>
              </a:p>
            </p:txBody>
          </p:sp>
          <p:grpSp>
            <p:nvGrpSpPr>
              <p:cNvPr id="21" name="Group 20">
                <a:extLst>
                  <a:ext uri="{FF2B5EF4-FFF2-40B4-BE49-F238E27FC236}">
                    <a16:creationId xmlns:a16="http://schemas.microsoft.com/office/drawing/2014/main" id="{C200BDFF-4AAD-7BFF-5487-9892FA154C5B}"/>
                  </a:ext>
                </a:extLst>
              </p:cNvPr>
              <p:cNvGrpSpPr/>
              <p:nvPr/>
            </p:nvGrpSpPr>
            <p:grpSpPr>
              <a:xfrm>
                <a:off x="40326" y="4190717"/>
                <a:ext cx="1617384" cy="1076214"/>
                <a:chOff x="816190" y="4165659"/>
                <a:chExt cx="1617384" cy="1076214"/>
              </a:xfrm>
            </p:grpSpPr>
            <p:pic>
              <p:nvPicPr>
                <p:cNvPr id="2054" name="Picture 6" descr="Wellbeing ">
                  <a:extLst>
                    <a:ext uri="{FF2B5EF4-FFF2-40B4-BE49-F238E27FC236}">
                      <a16:creationId xmlns:a16="http://schemas.microsoft.com/office/drawing/2014/main" id="{1EA77E4D-7D1D-730B-3263-C44BD38D89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4576" y="4165659"/>
                  <a:ext cx="830684" cy="83068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FF7DCD2C-73A0-A193-1BBE-F40028996366}"/>
                    </a:ext>
                  </a:extLst>
                </p:cNvPr>
                <p:cNvSpPr txBox="1"/>
                <p:nvPr/>
              </p:nvSpPr>
              <p:spPr>
                <a:xfrm>
                  <a:off x="816190" y="4934096"/>
                  <a:ext cx="1617384" cy="307777"/>
                </a:xfrm>
                <a:prstGeom prst="rect">
                  <a:avLst/>
                </a:prstGeom>
                <a:noFill/>
              </p:spPr>
              <p:txBody>
                <a:bodyPr wrap="square" rtlCol="0">
                  <a:spAutoFit/>
                </a:bodyPr>
                <a:lstStyle/>
                <a:p>
                  <a:r>
                    <a:rPr lang="en-IN" sz="1400" b="1" dirty="0"/>
                    <a:t>Wellbeing Services</a:t>
                  </a:r>
                </a:p>
              </p:txBody>
            </p:sp>
          </p:grpSp>
          <p:grpSp>
            <p:nvGrpSpPr>
              <p:cNvPr id="24" name="Group 23">
                <a:extLst>
                  <a:ext uri="{FF2B5EF4-FFF2-40B4-BE49-F238E27FC236}">
                    <a16:creationId xmlns:a16="http://schemas.microsoft.com/office/drawing/2014/main" id="{D8D6F044-4353-FA13-2E0B-B04CD4A3596F}"/>
                  </a:ext>
                </a:extLst>
              </p:cNvPr>
              <p:cNvGrpSpPr/>
              <p:nvPr/>
            </p:nvGrpSpPr>
            <p:grpSpPr>
              <a:xfrm>
                <a:off x="1589097" y="4190717"/>
                <a:ext cx="1383967" cy="1076214"/>
                <a:chOff x="2217649" y="4190717"/>
                <a:chExt cx="1383967" cy="1076214"/>
              </a:xfrm>
            </p:grpSpPr>
            <p:pic>
              <p:nvPicPr>
                <p:cNvPr id="2056" name="Picture 8" descr="Theft insurance ">
                  <a:extLst>
                    <a:ext uri="{FF2B5EF4-FFF2-40B4-BE49-F238E27FC236}">
                      <a16:creationId xmlns:a16="http://schemas.microsoft.com/office/drawing/2014/main" id="{B5F66730-1247-3035-CFF7-1742ACF7FD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6930" y="4190717"/>
                  <a:ext cx="830684" cy="830684"/>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94EB7DD-5157-B7BD-9E10-EB65E386A1FF}"/>
                    </a:ext>
                  </a:extLst>
                </p:cNvPr>
                <p:cNvSpPr txBox="1"/>
                <p:nvPr/>
              </p:nvSpPr>
              <p:spPr>
                <a:xfrm>
                  <a:off x="2217649" y="4959154"/>
                  <a:ext cx="1383967" cy="307777"/>
                </a:xfrm>
                <a:prstGeom prst="rect">
                  <a:avLst/>
                </a:prstGeom>
                <a:noFill/>
              </p:spPr>
              <p:txBody>
                <a:bodyPr wrap="square" rtlCol="0">
                  <a:spAutoFit/>
                </a:bodyPr>
                <a:lstStyle/>
                <a:p>
                  <a:pPr algn="ctr"/>
                  <a:r>
                    <a:rPr lang="en-IN" sz="1400" b="1" dirty="0"/>
                    <a:t>Theft Protection</a:t>
                  </a:r>
                </a:p>
              </p:txBody>
            </p:sp>
          </p:grpSp>
          <p:grpSp>
            <p:nvGrpSpPr>
              <p:cNvPr id="25" name="Group 24">
                <a:extLst>
                  <a:ext uri="{FF2B5EF4-FFF2-40B4-BE49-F238E27FC236}">
                    <a16:creationId xmlns:a16="http://schemas.microsoft.com/office/drawing/2014/main" id="{088329D7-EE3F-B162-BC9D-7BB823DC4023}"/>
                  </a:ext>
                </a:extLst>
              </p:cNvPr>
              <p:cNvGrpSpPr/>
              <p:nvPr/>
            </p:nvGrpSpPr>
            <p:grpSpPr>
              <a:xfrm>
                <a:off x="2817046" y="4190717"/>
                <a:ext cx="1761218" cy="1076214"/>
                <a:chOff x="3585017" y="4190717"/>
                <a:chExt cx="1761218" cy="1076214"/>
              </a:xfrm>
            </p:grpSpPr>
            <p:pic>
              <p:nvPicPr>
                <p:cNvPr id="2058" name="Picture 10" descr="Insurance ">
                  <a:extLst>
                    <a:ext uri="{FF2B5EF4-FFF2-40B4-BE49-F238E27FC236}">
                      <a16:creationId xmlns:a16="http://schemas.microsoft.com/office/drawing/2014/main" id="{BE01C2DC-0672-D8C7-14B7-82093A5227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6995" y="4190717"/>
                  <a:ext cx="836932" cy="83693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61AC09D8-9F56-8B0A-B10B-F8F79A5297A4}"/>
                    </a:ext>
                  </a:extLst>
                </p:cNvPr>
                <p:cNvSpPr txBox="1"/>
                <p:nvPr/>
              </p:nvSpPr>
              <p:spPr>
                <a:xfrm>
                  <a:off x="3585017" y="4959154"/>
                  <a:ext cx="1761218" cy="307777"/>
                </a:xfrm>
                <a:prstGeom prst="rect">
                  <a:avLst/>
                </a:prstGeom>
                <a:noFill/>
              </p:spPr>
              <p:txBody>
                <a:bodyPr wrap="square" rtlCol="0">
                  <a:spAutoFit/>
                </a:bodyPr>
                <a:lstStyle/>
                <a:p>
                  <a:pPr algn="ctr"/>
                  <a:r>
                    <a:rPr lang="en-IN" sz="1400" b="1" dirty="0"/>
                    <a:t>Insurance services</a:t>
                  </a:r>
                </a:p>
              </p:txBody>
            </p:sp>
          </p:grpSp>
          <p:grpSp>
            <p:nvGrpSpPr>
              <p:cNvPr id="27" name="Group 26">
                <a:extLst>
                  <a:ext uri="{FF2B5EF4-FFF2-40B4-BE49-F238E27FC236}">
                    <a16:creationId xmlns:a16="http://schemas.microsoft.com/office/drawing/2014/main" id="{8E988658-98B5-9C98-3BD7-687734403C61}"/>
                  </a:ext>
                </a:extLst>
              </p:cNvPr>
              <p:cNvGrpSpPr/>
              <p:nvPr/>
            </p:nvGrpSpPr>
            <p:grpSpPr>
              <a:xfrm>
                <a:off x="4522824" y="4139422"/>
                <a:ext cx="1761218" cy="1127509"/>
                <a:chOff x="4620172" y="4141509"/>
                <a:chExt cx="1761218" cy="1127509"/>
              </a:xfrm>
            </p:grpSpPr>
            <p:pic>
              <p:nvPicPr>
                <p:cNvPr id="2060" name="Picture 12" descr="Cloud service ">
                  <a:extLst>
                    <a:ext uri="{FF2B5EF4-FFF2-40B4-BE49-F238E27FC236}">
                      <a16:creationId xmlns:a16="http://schemas.microsoft.com/office/drawing/2014/main" id="{8FFFCA78-7DA2-A1AA-0F69-50B469CB43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8473" y="4141509"/>
                  <a:ext cx="830684" cy="83068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B66555EE-7596-8496-7F9C-675ADCBA96E1}"/>
                    </a:ext>
                  </a:extLst>
                </p:cNvPr>
                <p:cNvSpPr txBox="1"/>
                <p:nvPr/>
              </p:nvSpPr>
              <p:spPr>
                <a:xfrm>
                  <a:off x="4620172" y="4961241"/>
                  <a:ext cx="1761218" cy="307777"/>
                </a:xfrm>
                <a:prstGeom prst="rect">
                  <a:avLst/>
                </a:prstGeom>
                <a:noFill/>
              </p:spPr>
              <p:txBody>
                <a:bodyPr wrap="square" rtlCol="0">
                  <a:spAutoFit/>
                </a:bodyPr>
                <a:lstStyle/>
                <a:p>
                  <a:pPr algn="ctr"/>
                  <a:r>
                    <a:rPr lang="en-IN" sz="1400" b="1" dirty="0"/>
                    <a:t>Data sharing services</a:t>
                  </a:r>
                </a:p>
              </p:txBody>
            </p:sp>
          </p:grpSp>
        </p:grpSp>
      </p:grpSp>
      <p:sp>
        <p:nvSpPr>
          <p:cNvPr id="30" name="Rectangle 29">
            <a:extLst>
              <a:ext uri="{FF2B5EF4-FFF2-40B4-BE49-F238E27FC236}">
                <a16:creationId xmlns:a16="http://schemas.microsoft.com/office/drawing/2014/main" id="{45CB4012-6ADC-ECC6-FEEB-DB65BB9EED56}"/>
              </a:ext>
            </a:extLst>
          </p:cNvPr>
          <p:cNvSpPr/>
          <p:nvPr/>
        </p:nvSpPr>
        <p:spPr>
          <a:xfrm>
            <a:off x="0" y="5111194"/>
            <a:ext cx="5995484" cy="25192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Revenue from Patented Designs/Components</a:t>
            </a:r>
          </a:p>
        </p:txBody>
      </p:sp>
      <p:sp>
        <p:nvSpPr>
          <p:cNvPr id="32" name="TextBox 31">
            <a:extLst>
              <a:ext uri="{FF2B5EF4-FFF2-40B4-BE49-F238E27FC236}">
                <a16:creationId xmlns:a16="http://schemas.microsoft.com/office/drawing/2014/main" id="{573337A6-8A4B-7578-8B9E-C8F32DEFB61A}"/>
              </a:ext>
            </a:extLst>
          </p:cNvPr>
          <p:cNvSpPr txBox="1"/>
          <p:nvPr/>
        </p:nvSpPr>
        <p:spPr>
          <a:xfrm>
            <a:off x="37323" y="5461292"/>
            <a:ext cx="5958161" cy="1200329"/>
          </a:xfrm>
          <a:prstGeom prst="rect">
            <a:avLst/>
          </a:prstGeom>
          <a:noFill/>
          <a:ln>
            <a:solidFill>
              <a:schemeClr val="accent2">
                <a:lumMod val="75000"/>
              </a:schemeClr>
            </a:solidFill>
          </a:ln>
        </p:spPr>
        <p:txBody>
          <a:bodyPr wrap="square" rtlCol="0">
            <a:spAutoFit/>
          </a:bodyPr>
          <a:lstStyle/>
          <a:p>
            <a:pPr marL="285750" indent="-285750">
              <a:buFont typeface="Arial" panose="020B0604020202020204" pitchFamily="34" charset="0"/>
              <a:buChar char="•"/>
            </a:pPr>
            <a:r>
              <a:rPr lang="en-IN" sz="1200" dirty="0"/>
              <a:t>Analyze customer feedback to apply for patents for design, which provide consumers aspects or features serving their primary purpose</a:t>
            </a:r>
          </a:p>
          <a:p>
            <a:pPr marL="285750" indent="-285750">
              <a:buFont typeface="Arial" panose="020B0604020202020204" pitchFamily="34" charset="0"/>
              <a:buChar char="•"/>
            </a:pPr>
            <a:r>
              <a:rPr lang="en-IN" sz="1200" dirty="0"/>
              <a:t>Apply for patent of components which have been observed to provide optimum performance</a:t>
            </a:r>
          </a:p>
          <a:p>
            <a:pPr marL="285750" indent="-285750">
              <a:buFont typeface="Arial" panose="020B0604020202020204" pitchFamily="34" charset="0"/>
              <a:buChar char="•"/>
            </a:pPr>
            <a:r>
              <a:rPr lang="en-IN" sz="1200" dirty="0"/>
              <a:t>Use these patents for IPR, and collaborate with other OEMs for meeting their production purposes</a:t>
            </a:r>
          </a:p>
        </p:txBody>
      </p:sp>
      <p:sp>
        <p:nvSpPr>
          <p:cNvPr id="34" name="Rectangle 33">
            <a:extLst>
              <a:ext uri="{FF2B5EF4-FFF2-40B4-BE49-F238E27FC236}">
                <a16:creationId xmlns:a16="http://schemas.microsoft.com/office/drawing/2014/main" id="{0E168C64-0D88-9226-D9AA-A459EA6184F3}"/>
              </a:ext>
            </a:extLst>
          </p:cNvPr>
          <p:cNvSpPr/>
          <p:nvPr/>
        </p:nvSpPr>
        <p:spPr>
          <a:xfrm>
            <a:off x="6096000" y="466532"/>
            <a:ext cx="5995484" cy="25192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Leveraging the distribution rights of Trek</a:t>
            </a:r>
          </a:p>
        </p:txBody>
      </p:sp>
      <p:pic>
        <p:nvPicPr>
          <p:cNvPr id="2062" name="Picture 14" descr="Box ">
            <a:extLst>
              <a:ext uri="{FF2B5EF4-FFF2-40B4-BE49-F238E27FC236}">
                <a16:creationId xmlns:a16="http://schemas.microsoft.com/office/drawing/2014/main" id="{3345DA70-1482-4B1F-0703-86F0E77018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7744" y="867749"/>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7FFBDB73-7AED-5544-2F03-20AFA779F4D7}"/>
              </a:ext>
            </a:extLst>
          </p:cNvPr>
          <p:cNvSpPr txBox="1"/>
          <p:nvPr/>
        </p:nvSpPr>
        <p:spPr>
          <a:xfrm>
            <a:off x="7570238" y="1018463"/>
            <a:ext cx="4267200" cy="954107"/>
          </a:xfrm>
          <a:prstGeom prst="rect">
            <a:avLst/>
          </a:prstGeom>
          <a:noFill/>
          <a:ln>
            <a:solidFill>
              <a:schemeClr val="accent2">
                <a:lumMod val="75000"/>
              </a:schemeClr>
            </a:solidFill>
          </a:ln>
        </p:spPr>
        <p:txBody>
          <a:bodyPr wrap="square" rtlCol="0">
            <a:spAutoFit/>
          </a:bodyPr>
          <a:lstStyle/>
          <a:p>
            <a:r>
              <a:rPr lang="en-IN" sz="1400" dirty="0"/>
              <a:t>Using the vast and penetrated network of Fireflies Ltd for extended reach to the international market and increasing their exports, emerging as a new full-range supplier in the European e-bike market</a:t>
            </a:r>
          </a:p>
        </p:txBody>
      </p:sp>
      <p:pic>
        <p:nvPicPr>
          <p:cNvPr id="2064" name="Picture 16" descr="Technical Support ">
            <a:extLst>
              <a:ext uri="{FF2B5EF4-FFF2-40B4-BE49-F238E27FC236}">
                <a16:creationId xmlns:a16="http://schemas.microsoft.com/office/drawing/2014/main" id="{B6B705B4-3691-B5CD-2C1D-39FC411C2FC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3514" y="2602885"/>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098DE1BA-904E-BF9F-8C3C-904671091C39}"/>
              </a:ext>
            </a:extLst>
          </p:cNvPr>
          <p:cNvSpPr txBox="1"/>
          <p:nvPr/>
        </p:nvSpPr>
        <p:spPr>
          <a:xfrm>
            <a:off x="7570238" y="2793087"/>
            <a:ext cx="4267200" cy="738664"/>
          </a:xfrm>
          <a:prstGeom prst="rect">
            <a:avLst/>
          </a:prstGeom>
          <a:noFill/>
          <a:ln>
            <a:solidFill>
              <a:schemeClr val="accent2">
                <a:lumMod val="75000"/>
              </a:schemeClr>
            </a:solidFill>
          </a:ln>
        </p:spPr>
        <p:txBody>
          <a:bodyPr wrap="square" rtlCol="0">
            <a:spAutoFit/>
          </a:bodyPr>
          <a:lstStyle/>
          <a:p>
            <a:r>
              <a:rPr lang="en-IN" sz="1400" dirty="0"/>
              <a:t>After sales service of accessories and spare parts, and other MRO activities, will deepen income pockets and hence expand revenue streams</a:t>
            </a:r>
          </a:p>
        </p:txBody>
      </p:sp>
      <p:pic>
        <p:nvPicPr>
          <p:cNvPr id="2066" name="Picture 18" descr="Partners ">
            <a:extLst>
              <a:ext uri="{FF2B5EF4-FFF2-40B4-BE49-F238E27FC236}">
                <a16:creationId xmlns:a16="http://schemas.microsoft.com/office/drawing/2014/main" id="{C7B55802-9822-9A33-DCE8-8DCC5DB4CB3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23514" y="4465913"/>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A13DA172-3CC3-CB3D-1FFD-CC3E3B23B157}"/>
              </a:ext>
            </a:extLst>
          </p:cNvPr>
          <p:cNvSpPr txBox="1"/>
          <p:nvPr/>
        </p:nvSpPr>
        <p:spPr>
          <a:xfrm>
            <a:off x="7589708" y="4587327"/>
            <a:ext cx="4267200" cy="1169551"/>
          </a:xfrm>
          <a:prstGeom prst="rect">
            <a:avLst/>
          </a:prstGeom>
          <a:noFill/>
          <a:ln>
            <a:solidFill>
              <a:schemeClr val="accent2">
                <a:lumMod val="75000"/>
              </a:schemeClr>
            </a:solidFill>
          </a:ln>
        </p:spPr>
        <p:txBody>
          <a:bodyPr wrap="square" rtlCol="0">
            <a:spAutoFit/>
          </a:bodyPr>
          <a:lstStyle/>
          <a:p>
            <a:r>
              <a:rPr lang="en-IN" sz="1400" dirty="0"/>
              <a:t>Since, Trek is majorly into mountain cycling, leveraging its value proposition to conduct events and programs by collaborating with adventure organizations or fitness clubs like Cult Fit, promoting activities and increasing first hand experience of the product</a:t>
            </a:r>
          </a:p>
        </p:txBody>
      </p:sp>
      <p:grpSp>
        <p:nvGrpSpPr>
          <p:cNvPr id="39" name="Group 38">
            <a:extLst>
              <a:ext uri="{FF2B5EF4-FFF2-40B4-BE49-F238E27FC236}">
                <a16:creationId xmlns:a16="http://schemas.microsoft.com/office/drawing/2014/main" id="{9AB37207-DF1F-C7DC-E988-2AC694294B38}"/>
              </a:ext>
            </a:extLst>
          </p:cNvPr>
          <p:cNvGrpSpPr/>
          <p:nvPr/>
        </p:nvGrpSpPr>
        <p:grpSpPr>
          <a:xfrm>
            <a:off x="0" y="0"/>
            <a:ext cx="12138132" cy="317241"/>
            <a:chOff x="0" y="0"/>
            <a:chExt cx="10723984" cy="317241"/>
          </a:xfrm>
          <a:solidFill>
            <a:schemeClr val="accent2">
              <a:lumMod val="50000"/>
            </a:schemeClr>
          </a:solidFill>
        </p:grpSpPr>
        <p:sp>
          <p:nvSpPr>
            <p:cNvPr id="40" name="Arrow: Pentagon 39">
              <a:extLst>
                <a:ext uri="{FF2B5EF4-FFF2-40B4-BE49-F238E27FC236}">
                  <a16:creationId xmlns:a16="http://schemas.microsoft.com/office/drawing/2014/main" id="{789CBB75-8B6F-FBE4-2A24-5E92581EEC3B}"/>
                </a:ext>
              </a:extLst>
            </p:cNvPr>
            <p:cNvSpPr/>
            <p:nvPr/>
          </p:nvSpPr>
          <p:spPr>
            <a:xfrm>
              <a:off x="0"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Market Scenario</a:t>
              </a:r>
            </a:p>
          </p:txBody>
        </p:sp>
        <p:sp>
          <p:nvSpPr>
            <p:cNvPr id="41" name="Arrow: Pentagon 40">
              <a:extLst>
                <a:ext uri="{FF2B5EF4-FFF2-40B4-BE49-F238E27FC236}">
                  <a16:creationId xmlns:a16="http://schemas.microsoft.com/office/drawing/2014/main" id="{98A1F5C1-2EE5-0F5D-D544-6AFE7DC8CD19}"/>
                </a:ext>
              </a:extLst>
            </p:cNvPr>
            <p:cNvSpPr/>
            <p:nvPr/>
          </p:nvSpPr>
          <p:spPr>
            <a:xfrm>
              <a:off x="2102498"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About Hades</a:t>
              </a:r>
            </a:p>
          </p:txBody>
        </p:sp>
        <p:sp>
          <p:nvSpPr>
            <p:cNvPr id="42" name="Arrow: Pentagon 41">
              <a:extLst>
                <a:ext uri="{FF2B5EF4-FFF2-40B4-BE49-F238E27FC236}">
                  <a16:creationId xmlns:a16="http://schemas.microsoft.com/office/drawing/2014/main" id="{9C6FD27C-338A-15A9-3780-830B353A0EC4}"/>
                </a:ext>
              </a:extLst>
            </p:cNvPr>
            <p:cNvSpPr/>
            <p:nvPr/>
          </p:nvSpPr>
          <p:spPr>
            <a:xfrm>
              <a:off x="4204996"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Environment Analysis</a:t>
              </a:r>
            </a:p>
          </p:txBody>
        </p:sp>
        <p:sp>
          <p:nvSpPr>
            <p:cNvPr id="43" name="Arrow: Pentagon 42">
              <a:extLst>
                <a:ext uri="{FF2B5EF4-FFF2-40B4-BE49-F238E27FC236}">
                  <a16:creationId xmlns:a16="http://schemas.microsoft.com/office/drawing/2014/main" id="{9AC8D5E0-F938-CA11-7530-39BF822DA16B}"/>
                </a:ext>
              </a:extLst>
            </p:cNvPr>
            <p:cNvSpPr/>
            <p:nvPr/>
          </p:nvSpPr>
          <p:spPr>
            <a:xfrm>
              <a:off x="6307494" y="0"/>
              <a:ext cx="2313992" cy="317241"/>
            </a:xfrm>
            <a:prstGeom prst="homePlate">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Revenue Streams</a:t>
              </a:r>
            </a:p>
          </p:txBody>
        </p:sp>
        <p:sp>
          <p:nvSpPr>
            <p:cNvPr id="44" name="Arrow: Pentagon 43">
              <a:extLst>
                <a:ext uri="{FF2B5EF4-FFF2-40B4-BE49-F238E27FC236}">
                  <a16:creationId xmlns:a16="http://schemas.microsoft.com/office/drawing/2014/main" id="{38D003C4-AD98-2165-1FD3-EE4CA429C504}"/>
                </a:ext>
              </a:extLst>
            </p:cNvPr>
            <p:cNvSpPr/>
            <p:nvPr/>
          </p:nvSpPr>
          <p:spPr>
            <a:xfrm>
              <a:off x="8409992"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Threats</a:t>
              </a:r>
            </a:p>
          </p:txBody>
        </p:sp>
      </p:grpSp>
    </p:spTree>
    <p:extLst>
      <p:ext uri="{BB962C8B-B14F-4D97-AF65-F5344CB8AC3E}">
        <p14:creationId xmlns:p14="http://schemas.microsoft.com/office/powerpoint/2010/main" val="1089231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F62FC2-8AEC-E030-D634-C29AAF00549A}"/>
              </a:ext>
            </a:extLst>
          </p:cNvPr>
          <p:cNvSpPr/>
          <p:nvPr/>
        </p:nvSpPr>
        <p:spPr>
          <a:xfrm>
            <a:off x="106017" y="416251"/>
            <a:ext cx="11979965" cy="2228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Customer Group alignment</a:t>
            </a:r>
          </a:p>
        </p:txBody>
      </p:sp>
      <p:sp>
        <p:nvSpPr>
          <p:cNvPr id="6" name="TextBox 5">
            <a:extLst>
              <a:ext uri="{FF2B5EF4-FFF2-40B4-BE49-F238E27FC236}">
                <a16:creationId xmlns:a16="http://schemas.microsoft.com/office/drawing/2014/main" id="{75FF5419-BB35-2BBD-F598-5E0BF8C22757}"/>
              </a:ext>
            </a:extLst>
          </p:cNvPr>
          <p:cNvSpPr txBox="1"/>
          <p:nvPr/>
        </p:nvSpPr>
        <p:spPr>
          <a:xfrm>
            <a:off x="53008" y="705436"/>
            <a:ext cx="12085982" cy="281231"/>
          </a:xfrm>
          <a:prstGeom prst="rect">
            <a:avLst/>
          </a:prstGeom>
          <a:noFill/>
          <a:ln>
            <a:solidFill>
              <a:schemeClr val="accent2">
                <a:lumMod val="75000"/>
              </a:schemeClr>
            </a:solidFill>
          </a:ln>
        </p:spPr>
        <p:txBody>
          <a:bodyPr wrap="square">
            <a:spAutoFit/>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market campaigns should be done in alignment with the target customer group, with the specific bicycle type and value proposition in place. It should cater to both men as well as women </a:t>
            </a:r>
          </a:p>
        </p:txBody>
      </p:sp>
      <p:sp>
        <p:nvSpPr>
          <p:cNvPr id="23" name="TextBox 22">
            <a:extLst>
              <a:ext uri="{FF2B5EF4-FFF2-40B4-BE49-F238E27FC236}">
                <a16:creationId xmlns:a16="http://schemas.microsoft.com/office/drawing/2014/main" id="{0B05AFF1-5653-9E92-40A8-F802852B1F16}"/>
              </a:ext>
            </a:extLst>
          </p:cNvPr>
          <p:cNvSpPr txBox="1"/>
          <p:nvPr/>
        </p:nvSpPr>
        <p:spPr>
          <a:xfrm>
            <a:off x="53008" y="6474036"/>
            <a:ext cx="12085982" cy="281231"/>
          </a:xfrm>
          <a:prstGeom prst="rect">
            <a:avLst/>
          </a:prstGeom>
          <a:solidFill>
            <a:schemeClr val="accent2">
              <a:lumMod val="75000"/>
            </a:schemeClr>
          </a:solidFill>
          <a:ln>
            <a:solidFill>
              <a:schemeClr val="accent2">
                <a:lumMod val="20000"/>
                <a:lumOff val="80000"/>
              </a:schemeClr>
            </a:solidFill>
          </a:ln>
        </p:spPr>
        <p:txBody>
          <a:bodyPr wrap="square">
            <a:spAutoFit/>
          </a:bodyPr>
          <a:lstStyle/>
          <a:p>
            <a:pPr marL="0" marR="0">
              <a:lnSpc>
                <a:spcPct val="107000"/>
              </a:lnSpc>
              <a:spcBef>
                <a:spcPts val="0"/>
              </a:spcBef>
              <a:spcAft>
                <a:spcPts val="800"/>
              </a:spcAft>
            </a:pPr>
            <a:r>
              <a:rPr lang="en-US" sz="1200" dirty="0">
                <a:solidFill>
                  <a:schemeClr val="bg1"/>
                </a:solidFill>
                <a:latin typeface="Calibri" panose="020F0502020204030204" pitchFamily="34" charset="0"/>
                <a:ea typeface="Calibri" panose="020F0502020204030204" pitchFamily="34" charset="0"/>
                <a:cs typeface="Times New Roman" panose="02020603050405020304" pitchFamily="18" charset="0"/>
              </a:rPr>
              <a:t>Having marketing campaigns by a</a:t>
            </a:r>
            <a:r>
              <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ligning the respective customer segment with the respective kind of bikes in turn will lead to an increase in sales and will act as an added source of revenue</a:t>
            </a:r>
          </a:p>
        </p:txBody>
      </p:sp>
      <p:grpSp>
        <p:nvGrpSpPr>
          <p:cNvPr id="29" name="Group 28">
            <a:extLst>
              <a:ext uri="{FF2B5EF4-FFF2-40B4-BE49-F238E27FC236}">
                <a16:creationId xmlns:a16="http://schemas.microsoft.com/office/drawing/2014/main" id="{D4C4BE24-F692-1914-DC4F-2F4D7C743FC5}"/>
              </a:ext>
            </a:extLst>
          </p:cNvPr>
          <p:cNvGrpSpPr/>
          <p:nvPr/>
        </p:nvGrpSpPr>
        <p:grpSpPr>
          <a:xfrm>
            <a:off x="106017" y="1053826"/>
            <a:ext cx="5552661" cy="2225626"/>
            <a:chOff x="149087" y="1082800"/>
            <a:chExt cx="5552661" cy="2225626"/>
          </a:xfrm>
        </p:grpSpPr>
        <p:sp>
          <p:nvSpPr>
            <p:cNvPr id="25" name="Rectangle 24">
              <a:extLst>
                <a:ext uri="{FF2B5EF4-FFF2-40B4-BE49-F238E27FC236}">
                  <a16:creationId xmlns:a16="http://schemas.microsoft.com/office/drawing/2014/main" id="{0A1E3307-49F9-177A-6289-0228BB4E2CBA}"/>
                </a:ext>
              </a:extLst>
            </p:cNvPr>
            <p:cNvSpPr/>
            <p:nvPr/>
          </p:nvSpPr>
          <p:spPr>
            <a:xfrm>
              <a:off x="149087" y="1186166"/>
              <a:ext cx="5552661" cy="2122260"/>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DE4091E-59A8-0168-757B-24E24D97BFAA}"/>
                </a:ext>
              </a:extLst>
            </p:cNvPr>
            <p:cNvSpPr txBox="1"/>
            <p:nvPr/>
          </p:nvSpPr>
          <p:spPr>
            <a:xfrm>
              <a:off x="149088" y="1232734"/>
              <a:ext cx="3352947" cy="1972335"/>
            </a:xfrm>
            <a:prstGeom prst="rect">
              <a:avLst/>
            </a:prstGeom>
            <a:noFill/>
          </p:spPr>
          <p:txBody>
            <a:bodyPr wrap="square">
              <a:spAutoFit/>
            </a:bodyPr>
            <a:lstStyle/>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Value proposition </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latin typeface="Calibri" panose="020F0502020204030204" pitchFamily="34" charset="0"/>
                  <a:ea typeface="Calibri" panose="020F0502020204030204" pitchFamily="34" charset="0"/>
                  <a:cs typeface="Times New Roman" panose="02020603050405020304" pitchFamily="18" charset="0"/>
                </a:rPr>
                <a:t>C</a:t>
              </a:r>
              <a:r>
                <a:rPr lang="en-US" sz="1200" dirty="0">
                  <a:effectLst/>
                  <a:latin typeface="Calibri" panose="020F0502020204030204" pitchFamily="34" charset="0"/>
                  <a:ea typeface="Calibri" panose="020F0502020204030204" pitchFamily="34" charset="0"/>
                  <a:cs typeface="Times New Roman" panose="02020603050405020304" pitchFamily="18" charset="0"/>
                </a:rPr>
                <a:t>omfort, design and reliability </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Target customer </a:t>
              </a:r>
              <a:r>
                <a:rPr lang="en-US" sz="1200" dirty="0">
                  <a:effectLst/>
                  <a:latin typeface="Calibri" panose="020F0502020204030204" pitchFamily="34" charset="0"/>
                  <a:ea typeface="Calibri" panose="020F0502020204030204" pitchFamily="34" charset="0"/>
                  <a:cs typeface="Times New Roman" panose="02020603050405020304" pitchFamily="18" charset="0"/>
                </a:rPr>
                <a:t>: Mountain bikers </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Key activities</a:t>
              </a:r>
              <a:r>
                <a:rPr lang="en-US" sz="1200" dirty="0">
                  <a:effectLst/>
                  <a:latin typeface="Calibri" panose="020F0502020204030204" pitchFamily="34" charset="0"/>
                  <a:ea typeface="Calibri" panose="020F0502020204030204" pitchFamily="34" charset="0"/>
                  <a:cs typeface="Times New Roman" panose="02020603050405020304" pitchFamily="18" charset="0"/>
                </a:rPr>
                <a:t> : To travel off road in rough and unfavorable surfaces and for mountain biking</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Campaign</a:t>
              </a:r>
              <a:r>
                <a:rPr lang="en-US" sz="1200" dirty="0">
                  <a:effectLst/>
                  <a:latin typeface="Calibri" panose="020F0502020204030204" pitchFamily="34" charset="0"/>
                  <a:ea typeface="Calibri" panose="020F0502020204030204" pitchFamily="34" charset="0"/>
                  <a:cs typeface="Times New Roman" panose="02020603050405020304" pitchFamily="18" charset="0"/>
                </a:rPr>
                <a:t> : The campaigning of the product should be done in such a way that it shows the over all design of the product, the comfort it provides and the safety and reliability that the bike offers</a:t>
              </a:r>
            </a:p>
          </p:txBody>
        </p:sp>
        <p:pic>
          <p:nvPicPr>
            <p:cNvPr id="7" name="Picture 6">
              <a:extLst>
                <a:ext uri="{FF2B5EF4-FFF2-40B4-BE49-F238E27FC236}">
                  <a16:creationId xmlns:a16="http://schemas.microsoft.com/office/drawing/2014/main" id="{24D7669A-4C5F-F77F-997D-B04D350D9B87}"/>
                </a:ext>
              </a:extLst>
            </p:cNvPr>
            <p:cNvPicPr>
              <a:picLocks noChangeAspect="1"/>
            </p:cNvPicPr>
            <p:nvPr/>
          </p:nvPicPr>
          <p:blipFill>
            <a:blip r:embed="rId2"/>
            <a:stretch>
              <a:fillRect/>
            </a:stretch>
          </p:blipFill>
          <p:spPr>
            <a:xfrm>
              <a:off x="3502035" y="1458853"/>
              <a:ext cx="2093696" cy="1544813"/>
            </a:xfrm>
            <a:prstGeom prst="rect">
              <a:avLst/>
            </a:prstGeom>
          </p:spPr>
        </p:pic>
        <p:sp>
          <p:nvSpPr>
            <p:cNvPr id="28" name="Rectangle 27">
              <a:extLst>
                <a:ext uri="{FF2B5EF4-FFF2-40B4-BE49-F238E27FC236}">
                  <a16:creationId xmlns:a16="http://schemas.microsoft.com/office/drawing/2014/main" id="{86461E0C-B9E9-8394-8EC8-09C974CBC894}"/>
                </a:ext>
              </a:extLst>
            </p:cNvPr>
            <p:cNvSpPr/>
            <p:nvPr/>
          </p:nvSpPr>
          <p:spPr>
            <a:xfrm>
              <a:off x="2193572" y="1082800"/>
              <a:ext cx="1338135" cy="19688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Mountain Bikes </a:t>
              </a:r>
            </a:p>
          </p:txBody>
        </p:sp>
      </p:grpSp>
      <p:grpSp>
        <p:nvGrpSpPr>
          <p:cNvPr id="41" name="Group 40">
            <a:extLst>
              <a:ext uri="{FF2B5EF4-FFF2-40B4-BE49-F238E27FC236}">
                <a16:creationId xmlns:a16="http://schemas.microsoft.com/office/drawing/2014/main" id="{2CE82C76-9285-EC86-6367-39264FACA4D2}"/>
              </a:ext>
            </a:extLst>
          </p:cNvPr>
          <p:cNvGrpSpPr/>
          <p:nvPr/>
        </p:nvGrpSpPr>
        <p:grpSpPr>
          <a:xfrm>
            <a:off x="53008" y="3729703"/>
            <a:ext cx="5573017" cy="2607341"/>
            <a:chOff x="85128" y="3584125"/>
            <a:chExt cx="5659906" cy="2607341"/>
          </a:xfrm>
        </p:grpSpPr>
        <p:grpSp>
          <p:nvGrpSpPr>
            <p:cNvPr id="38" name="Group 37">
              <a:extLst>
                <a:ext uri="{FF2B5EF4-FFF2-40B4-BE49-F238E27FC236}">
                  <a16:creationId xmlns:a16="http://schemas.microsoft.com/office/drawing/2014/main" id="{6903F242-8E2A-5128-C929-3D816AD6F04E}"/>
                </a:ext>
              </a:extLst>
            </p:cNvPr>
            <p:cNvGrpSpPr/>
            <p:nvPr/>
          </p:nvGrpSpPr>
          <p:grpSpPr>
            <a:xfrm>
              <a:off x="85128" y="3694201"/>
              <a:ext cx="5659906" cy="2497265"/>
              <a:chOff x="39463" y="3678152"/>
              <a:chExt cx="5659906" cy="2497265"/>
            </a:xfrm>
          </p:grpSpPr>
          <p:sp>
            <p:nvSpPr>
              <p:cNvPr id="35" name="Rectangle 34">
                <a:extLst>
                  <a:ext uri="{FF2B5EF4-FFF2-40B4-BE49-F238E27FC236}">
                    <a16:creationId xmlns:a16="http://schemas.microsoft.com/office/drawing/2014/main" id="{2D6B9F89-7258-FD92-81A9-0F1C0BFD085D}"/>
                  </a:ext>
                </a:extLst>
              </p:cNvPr>
              <p:cNvSpPr/>
              <p:nvPr/>
            </p:nvSpPr>
            <p:spPr>
              <a:xfrm>
                <a:off x="60136" y="3678152"/>
                <a:ext cx="5639233" cy="2497265"/>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C12E90DD-ED53-095F-2E36-9360AAFA3E00}"/>
                  </a:ext>
                </a:extLst>
              </p:cNvPr>
              <p:cNvSpPr txBox="1"/>
              <p:nvPr/>
            </p:nvSpPr>
            <p:spPr>
              <a:xfrm>
                <a:off x="39463" y="3782860"/>
                <a:ext cx="3519089" cy="2367571"/>
              </a:xfrm>
              <a:prstGeom prst="rect">
                <a:avLst/>
              </a:prstGeom>
              <a:noFill/>
            </p:spPr>
            <p:txBody>
              <a:bodyPr wrap="square">
                <a:spAutoFit/>
              </a:bodyPr>
              <a:lstStyle/>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Value proposition </a:t>
                </a:r>
                <a:r>
                  <a:rPr lang="en-US" sz="1200" b="1" dirty="0">
                    <a:latin typeface="Calibri" panose="020F0502020204030204" pitchFamily="34" charset="0"/>
                    <a:ea typeface="Calibri" panose="020F0502020204030204" pitchFamily="34" charset="0"/>
                    <a:cs typeface="Times New Roman" panose="02020603050405020304" pitchFamily="18" charset="0"/>
                  </a:rPr>
                  <a:t> : E</a:t>
                </a:r>
                <a:r>
                  <a:rPr lang="en-US" sz="1200" dirty="0">
                    <a:effectLst/>
                    <a:latin typeface="Calibri" panose="020F0502020204030204" pitchFamily="34" charset="0"/>
                    <a:ea typeface="Calibri" panose="020F0502020204030204" pitchFamily="34" charset="0"/>
                    <a:cs typeface="Times New Roman" panose="02020603050405020304" pitchFamily="18" charset="0"/>
                  </a:rPr>
                  <a:t>ase of use, fast and flexible</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Target customer </a:t>
                </a:r>
                <a:r>
                  <a:rPr lang="en-US" sz="1200" b="1" dirty="0">
                    <a:latin typeface="Calibri" panose="020F0502020204030204" pitchFamily="34" charset="0"/>
                    <a:ea typeface="Calibri" panose="020F0502020204030204" pitchFamily="34" charset="0"/>
                    <a:cs typeface="Times New Roman" panose="02020603050405020304" pitchFamily="18" charset="0"/>
                  </a:rPr>
                  <a:t>:</a:t>
                </a:r>
                <a:r>
                  <a:rPr lang="en-US" sz="1200" dirty="0">
                    <a:effectLst/>
                    <a:latin typeface="Calibri" panose="020F0502020204030204" pitchFamily="34" charset="0"/>
                    <a:ea typeface="Calibri" panose="020F0502020204030204" pitchFamily="34" charset="0"/>
                    <a:cs typeface="Times New Roman" panose="02020603050405020304" pitchFamily="18" charset="0"/>
                  </a:rPr>
                  <a:t> The recreational rider, The student rider, The commuting worker, The urban rider</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Key activities </a:t>
                </a:r>
                <a:r>
                  <a:rPr lang="en-US" sz="1200" dirty="0">
                    <a:effectLst/>
                    <a:latin typeface="Calibri" panose="020F0502020204030204" pitchFamily="34" charset="0"/>
                    <a:ea typeface="Calibri" panose="020F0502020204030204" pitchFamily="34" charset="0"/>
                    <a:cs typeface="Times New Roman" panose="02020603050405020304" pitchFamily="18" charset="0"/>
                  </a:rPr>
                  <a:t>: In providing product delivery to the customer faster for college purposes and running household errands, for recreational activities as well</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Campaign</a:t>
                </a:r>
                <a:r>
                  <a:rPr lang="en-US" sz="1200" dirty="0">
                    <a:effectLst/>
                    <a:latin typeface="Calibri" panose="020F0502020204030204" pitchFamily="34" charset="0"/>
                    <a:ea typeface="Calibri" panose="020F0502020204030204" pitchFamily="34" charset="0"/>
                    <a:cs typeface="Times New Roman" panose="02020603050405020304" pitchFamily="18" charset="0"/>
                  </a:rPr>
                  <a:t> : The campaign should focus on the ease of use of the bike and the multipurpose use of the product. Also it can focus of the positive impact it is making on the environment</a:t>
                </a:r>
              </a:p>
            </p:txBody>
          </p:sp>
          <p:pic>
            <p:nvPicPr>
              <p:cNvPr id="31" name="Picture 30">
                <a:extLst>
                  <a:ext uri="{FF2B5EF4-FFF2-40B4-BE49-F238E27FC236}">
                    <a16:creationId xmlns:a16="http://schemas.microsoft.com/office/drawing/2014/main" id="{BE741A1B-60E2-76BC-8A88-F5D69E870999}"/>
                  </a:ext>
                </a:extLst>
              </p:cNvPr>
              <p:cNvPicPr>
                <a:picLocks noChangeAspect="1"/>
              </p:cNvPicPr>
              <p:nvPr/>
            </p:nvPicPr>
            <p:blipFill>
              <a:blip r:embed="rId3"/>
              <a:stretch>
                <a:fillRect/>
              </a:stretch>
            </p:blipFill>
            <p:spPr>
              <a:xfrm>
                <a:off x="3573019" y="4123482"/>
                <a:ext cx="2072482" cy="1542695"/>
              </a:xfrm>
              <a:prstGeom prst="rect">
                <a:avLst/>
              </a:prstGeom>
            </p:spPr>
          </p:pic>
        </p:grpSp>
        <p:sp>
          <p:nvSpPr>
            <p:cNvPr id="40" name="Rectangle 39">
              <a:extLst>
                <a:ext uri="{FF2B5EF4-FFF2-40B4-BE49-F238E27FC236}">
                  <a16:creationId xmlns:a16="http://schemas.microsoft.com/office/drawing/2014/main" id="{D5B7438D-12B4-81FE-63CB-C46FC680E048}"/>
                </a:ext>
              </a:extLst>
            </p:cNvPr>
            <p:cNvSpPr/>
            <p:nvPr/>
          </p:nvSpPr>
          <p:spPr>
            <a:xfrm>
              <a:off x="2232723" y="3584125"/>
              <a:ext cx="1216486" cy="19688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Electric Bikes </a:t>
              </a:r>
            </a:p>
          </p:txBody>
        </p:sp>
      </p:grpSp>
      <p:grpSp>
        <p:nvGrpSpPr>
          <p:cNvPr id="47" name="Group 46">
            <a:extLst>
              <a:ext uri="{FF2B5EF4-FFF2-40B4-BE49-F238E27FC236}">
                <a16:creationId xmlns:a16="http://schemas.microsoft.com/office/drawing/2014/main" id="{56845A8C-84A9-4021-24A5-23B1560647EB}"/>
              </a:ext>
            </a:extLst>
          </p:cNvPr>
          <p:cNvGrpSpPr/>
          <p:nvPr/>
        </p:nvGrpSpPr>
        <p:grpSpPr>
          <a:xfrm>
            <a:off x="5815426" y="1157192"/>
            <a:ext cx="6180363" cy="2856081"/>
            <a:chOff x="5905619" y="1097702"/>
            <a:chExt cx="6180363" cy="2856081"/>
          </a:xfrm>
        </p:grpSpPr>
        <p:sp>
          <p:nvSpPr>
            <p:cNvPr id="45" name="Rectangle 44">
              <a:extLst>
                <a:ext uri="{FF2B5EF4-FFF2-40B4-BE49-F238E27FC236}">
                  <a16:creationId xmlns:a16="http://schemas.microsoft.com/office/drawing/2014/main" id="{BD06D0C6-3F5F-CAE1-4C36-90A8A2CD8FD8}"/>
                </a:ext>
              </a:extLst>
            </p:cNvPr>
            <p:cNvSpPr/>
            <p:nvPr/>
          </p:nvSpPr>
          <p:spPr>
            <a:xfrm>
              <a:off x="5905619" y="1097702"/>
              <a:ext cx="6180363" cy="2856081"/>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5D1389EB-8E9C-9E9C-1964-75DC1EBAD74F}"/>
                </a:ext>
              </a:extLst>
            </p:cNvPr>
            <p:cNvGrpSpPr/>
            <p:nvPr/>
          </p:nvGrpSpPr>
          <p:grpSpPr>
            <a:xfrm>
              <a:off x="5905620" y="1175295"/>
              <a:ext cx="6026835" cy="2762808"/>
              <a:chOff x="5905620" y="1175295"/>
              <a:chExt cx="6026835" cy="2762808"/>
            </a:xfrm>
          </p:grpSpPr>
          <p:sp>
            <p:nvSpPr>
              <p:cNvPr id="18" name="TextBox 17">
                <a:extLst>
                  <a:ext uri="{FF2B5EF4-FFF2-40B4-BE49-F238E27FC236}">
                    <a16:creationId xmlns:a16="http://schemas.microsoft.com/office/drawing/2014/main" id="{A082EADE-40C5-745D-9BD8-CAE0BBC7EF2B}"/>
                  </a:ext>
                </a:extLst>
              </p:cNvPr>
              <p:cNvSpPr txBox="1"/>
              <p:nvPr/>
            </p:nvSpPr>
            <p:spPr>
              <a:xfrm>
                <a:off x="5905620" y="1175295"/>
                <a:ext cx="3599162" cy="2762808"/>
              </a:xfrm>
              <a:prstGeom prst="rect">
                <a:avLst/>
              </a:prstGeom>
              <a:noFill/>
            </p:spPr>
            <p:txBody>
              <a:bodyPr wrap="square">
                <a:spAutoFit/>
              </a:bodyPr>
              <a:lstStyle/>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Value proposition </a:t>
                </a:r>
                <a:r>
                  <a:rPr lang="en-US" sz="1200" dirty="0">
                    <a:effectLst/>
                    <a:latin typeface="Calibri" panose="020F0502020204030204" pitchFamily="34" charset="0"/>
                    <a:ea typeface="Calibri" panose="020F0502020204030204" pitchFamily="34" charset="0"/>
                    <a:cs typeface="Times New Roman" panose="02020603050405020304" pitchFamily="18" charset="0"/>
                  </a:rPr>
                  <a:t>: Design , Safety , Weight to sturdiness ratio and accessories</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Target customer </a:t>
                </a:r>
                <a:r>
                  <a:rPr lang="en-US" sz="1200" dirty="0">
                    <a:effectLst/>
                    <a:latin typeface="Calibri" panose="020F0502020204030204" pitchFamily="34" charset="0"/>
                    <a:ea typeface="Calibri" panose="020F0502020204030204" pitchFamily="34" charset="0"/>
                    <a:cs typeface="Times New Roman" panose="02020603050405020304" pitchFamily="18" charset="0"/>
                  </a:rPr>
                  <a:t>: People who like to go for mountain rides occasionally and like using bicycles for regular use as well</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Key activities </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solidFill>
                      <a:srgbClr val="313131"/>
                    </a:solidFill>
                    <a:effectLst/>
                    <a:latin typeface="Calibri" panose="020F0502020204030204" pitchFamily="34" charset="0"/>
                    <a:ea typeface="Calibri" panose="020F0502020204030204" pitchFamily="34" charset="0"/>
                    <a:cs typeface="Times New Roman" panose="02020603050405020304" pitchFamily="18" charset="0"/>
                  </a:rPr>
                  <a:t>Cyclocross bikes are a hybrid of road and mountain biking, these could be used in regular as well as for off road travels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Campaign </a:t>
                </a:r>
                <a:r>
                  <a:rPr lang="en-US" sz="1200" dirty="0">
                    <a:effectLst/>
                    <a:latin typeface="Calibri" panose="020F0502020204030204" pitchFamily="34" charset="0"/>
                    <a:ea typeface="Calibri" panose="020F0502020204030204" pitchFamily="34" charset="0"/>
                    <a:cs typeface="Times New Roman" panose="02020603050405020304" pitchFamily="18" charset="0"/>
                  </a:rPr>
                  <a:t>: The campaign should highlight cyclocross bike as a hybrid bike, which provides a wholesome experience and is designed in such a way that it provides style, speed and safety</a:t>
                </a:r>
              </a:p>
            </p:txBody>
          </p:sp>
          <p:pic>
            <p:nvPicPr>
              <p:cNvPr id="1026" name="Picture 2" descr="Ferrand-Prévot starts full December cyclocross campaign at Superprestige  Boom | Cyclingnews">
                <a:extLst>
                  <a:ext uri="{FF2B5EF4-FFF2-40B4-BE49-F238E27FC236}">
                    <a16:creationId xmlns:a16="http://schemas.microsoft.com/office/drawing/2014/main" id="{284111ED-2472-8CBB-6130-904E8788A1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0974" y="1677425"/>
                <a:ext cx="2341481" cy="143072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8" name="Rectangle 47">
            <a:extLst>
              <a:ext uri="{FF2B5EF4-FFF2-40B4-BE49-F238E27FC236}">
                <a16:creationId xmlns:a16="http://schemas.microsoft.com/office/drawing/2014/main" id="{B0883E56-9EDB-5537-A0F8-9EBC037BFA4D}"/>
              </a:ext>
            </a:extLst>
          </p:cNvPr>
          <p:cNvSpPr/>
          <p:nvPr/>
        </p:nvSpPr>
        <p:spPr>
          <a:xfrm>
            <a:off x="8169632" y="1067445"/>
            <a:ext cx="1471949" cy="19688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Cyclocross Bikes </a:t>
            </a:r>
          </a:p>
        </p:txBody>
      </p:sp>
      <p:grpSp>
        <p:nvGrpSpPr>
          <p:cNvPr id="53" name="Group 52">
            <a:extLst>
              <a:ext uri="{FF2B5EF4-FFF2-40B4-BE49-F238E27FC236}">
                <a16:creationId xmlns:a16="http://schemas.microsoft.com/office/drawing/2014/main" id="{32D00CCA-6B1F-6D5A-EB21-5F1E36B9E100}"/>
              </a:ext>
            </a:extLst>
          </p:cNvPr>
          <p:cNvGrpSpPr/>
          <p:nvPr/>
        </p:nvGrpSpPr>
        <p:grpSpPr>
          <a:xfrm>
            <a:off x="5815426" y="4272835"/>
            <a:ext cx="6180363" cy="2059916"/>
            <a:chOff x="5852760" y="4246142"/>
            <a:chExt cx="6180363" cy="2059916"/>
          </a:xfrm>
        </p:grpSpPr>
        <p:sp>
          <p:nvSpPr>
            <p:cNvPr id="52" name="Rectangle 51">
              <a:extLst>
                <a:ext uri="{FF2B5EF4-FFF2-40B4-BE49-F238E27FC236}">
                  <a16:creationId xmlns:a16="http://schemas.microsoft.com/office/drawing/2014/main" id="{2C16ACC2-8BEA-E604-D972-88BCA1FB6149}"/>
                </a:ext>
              </a:extLst>
            </p:cNvPr>
            <p:cNvSpPr/>
            <p:nvPr/>
          </p:nvSpPr>
          <p:spPr>
            <a:xfrm>
              <a:off x="5852760" y="4246142"/>
              <a:ext cx="6180363" cy="2059916"/>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820B9CB9-8B4E-07BE-55CE-69CB93B045A4}"/>
                </a:ext>
              </a:extLst>
            </p:cNvPr>
            <p:cNvSpPr txBox="1"/>
            <p:nvPr/>
          </p:nvSpPr>
          <p:spPr>
            <a:xfrm>
              <a:off x="5936578" y="4391762"/>
              <a:ext cx="3339945" cy="1774717"/>
            </a:xfrm>
            <a:prstGeom prst="rect">
              <a:avLst/>
            </a:prstGeom>
            <a:noFill/>
          </p:spPr>
          <p:txBody>
            <a:bodyPr wrap="square">
              <a:spAutoFit/>
            </a:bodyPr>
            <a:lstStyle/>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Value proposition </a:t>
              </a:r>
              <a:r>
                <a:rPr lang="en-US" sz="1200" dirty="0">
                  <a:effectLst/>
                  <a:latin typeface="Calibri" panose="020F0502020204030204" pitchFamily="34" charset="0"/>
                  <a:ea typeface="Calibri" panose="020F0502020204030204" pitchFamily="34" charset="0"/>
                  <a:cs typeface="Times New Roman" panose="02020603050405020304" pitchFamily="18" charset="0"/>
                </a:rPr>
                <a:t>: Affordable, safe and comfort</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Target customer </a:t>
              </a:r>
              <a:r>
                <a:rPr lang="en-US" sz="1200" dirty="0">
                  <a:effectLst/>
                  <a:latin typeface="Calibri" panose="020F0502020204030204" pitchFamily="34" charset="0"/>
                  <a:ea typeface="Calibri" panose="020F0502020204030204" pitchFamily="34" charset="0"/>
                  <a:cs typeface="Times New Roman" panose="02020603050405020304" pitchFamily="18" charset="0"/>
                </a:rPr>
                <a:t>:  Regular men/women</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Key activities </a:t>
              </a:r>
              <a:r>
                <a:rPr lang="en-US" sz="1200" dirty="0">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For regular work ,for family activities</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Campaign</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The campaign should focus on the affordability, comfort and the extensive usefulness of the product</a:t>
              </a:r>
            </a:p>
          </p:txBody>
        </p:sp>
        <p:pic>
          <p:nvPicPr>
            <p:cNvPr id="1028" name="Picture 4" descr="Cycling Benefits: 12 Reasons Cycling Is Good for You">
              <a:extLst>
                <a:ext uri="{FF2B5EF4-FFF2-40B4-BE49-F238E27FC236}">
                  <a16:creationId xmlns:a16="http://schemas.microsoft.com/office/drawing/2014/main" id="{AC3EBCC1-0DCE-9D30-27E1-3313B76D3C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6523" y="4624063"/>
              <a:ext cx="2565739" cy="1513851"/>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Rectangle 53">
            <a:extLst>
              <a:ext uri="{FF2B5EF4-FFF2-40B4-BE49-F238E27FC236}">
                <a16:creationId xmlns:a16="http://schemas.microsoft.com/office/drawing/2014/main" id="{7F0342E2-7618-E7A7-8F6E-F224CAE7D96C}"/>
              </a:ext>
            </a:extLst>
          </p:cNvPr>
          <p:cNvSpPr/>
          <p:nvPr/>
        </p:nvSpPr>
        <p:spPr>
          <a:xfrm>
            <a:off x="8169632" y="4139136"/>
            <a:ext cx="1619144" cy="19688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Road Cycling Bikes </a:t>
            </a:r>
          </a:p>
        </p:txBody>
      </p:sp>
      <p:grpSp>
        <p:nvGrpSpPr>
          <p:cNvPr id="26" name="Group 25">
            <a:extLst>
              <a:ext uri="{FF2B5EF4-FFF2-40B4-BE49-F238E27FC236}">
                <a16:creationId xmlns:a16="http://schemas.microsoft.com/office/drawing/2014/main" id="{9753FF1F-2FED-EFED-5475-8674E7876189}"/>
              </a:ext>
            </a:extLst>
          </p:cNvPr>
          <p:cNvGrpSpPr/>
          <p:nvPr/>
        </p:nvGrpSpPr>
        <p:grpSpPr>
          <a:xfrm>
            <a:off x="0" y="0"/>
            <a:ext cx="12138132" cy="317241"/>
            <a:chOff x="0" y="0"/>
            <a:chExt cx="10723984" cy="317241"/>
          </a:xfrm>
          <a:solidFill>
            <a:schemeClr val="accent2">
              <a:lumMod val="50000"/>
            </a:schemeClr>
          </a:solidFill>
        </p:grpSpPr>
        <p:sp>
          <p:nvSpPr>
            <p:cNvPr id="27" name="Arrow: Pentagon 26">
              <a:extLst>
                <a:ext uri="{FF2B5EF4-FFF2-40B4-BE49-F238E27FC236}">
                  <a16:creationId xmlns:a16="http://schemas.microsoft.com/office/drawing/2014/main" id="{150CF5A1-C14A-9B17-DB1F-42F65AB9149D}"/>
                </a:ext>
              </a:extLst>
            </p:cNvPr>
            <p:cNvSpPr/>
            <p:nvPr/>
          </p:nvSpPr>
          <p:spPr>
            <a:xfrm>
              <a:off x="0"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Market Scenario</a:t>
              </a:r>
            </a:p>
          </p:txBody>
        </p:sp>
        <p:sp>
          <p:nvSpPr>
            <p:cNvPr id="30" name="Arrow: Pentagon 29">
              <a:extLst>
                <a:ext uri="{FF2B5EF4-FFF2-40B4-BE49-F238E27FC236}">
                  <a16:creationId xmlns:a16="http://schemas.microsoft.com/office/drawing/2014/main" id="{94A1F65D-CE1B-8F75-5308-B6513F35452B}"/>
                </a:ext>
              </a:extLst>
            </p:cNvPr>
            <p:cNvSpPr/>
            <p:nvPr/>
          </p:nvSpPr>
          <p:spPr>
            <a:xfrm>
              <a:off x="2102498"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About Hades</a:t>
              </a:r>
            </a:p>
          </p:txBody>
        </p:sp>
        <p:sp>
          <p:nvSpPr>
            <p:cNvPr id="32" name="Arrow: Pentagon 31">
              <a:extLst>
                <a:ext uri="{FF2B5EF4-FFF2-40B4-BE49-F238E27FC236}">
                  <a16:creationId xmlns:a16="http://schemas.microsoft.com/office/drawing/2014/main" id="{862677DB-12A0-44BB-8391-C1736083EC4E}"/>
                </a:ext>
              </a:extLst>
            </p:cNvPr>
            <p:cNvSpPr/>
            <p:nvPr/>
          </p:nvSpPr>
          <p:spPr>
            <a:xfrm>
              <a:off x="4204996"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Environment Analysis</a:t>
              </a:r>
            </a:p>
          </p:txBody>
        </p:sp>
        <p:sp>
          <p:nvSpPr>
            <p:cNvPr id="33" name="Arrow: Pentagon 32">
              <a:extLst>
                <a:ext uri="{FF2B5EF4-FFF2-40B4-BE49-F238E27FC236}">
                  <a16:creationId xmlns:a16="http://schemas.microsoft.com/office/drawing/2014/main" id="{6B932180-F7F5-C05D-F61F-B96A416D36FF}"/>
                </a:ext>
              </a:extLst>
            </p:cNvPr>
            <p:cNvSpPr/>
            <p:nvPr/>
          </p:nvSpPr>
          <p:spPr>
            <a:xfrm>
              <a:off x="6307494" y="0"/>
              <a:ext cx="2313992" cy="317241"/>
            </a:xfrm>
            <a:prstGeom prst="homePlate">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Revenue Streams</a:t>
              </a:r>
            </a:p>
          </p:txBody>
        </p:sp>
        <p:sp>
          <p:nvSpPr>
            <p:cNvPr id="36" name="Arrow: Pentagon 35">
              <a:extLst>
                <a:ext uri="{FF2B5EF4-FFF2-40B4-BE49-F238E27FC236}">
                  <a16:creationId xmlns:a16="http://schemas.microsoft.com/office/drawing/2014/main" id="{393DCAAF-84D2-44BF-41F6-700BF27F78D0}"/>
                </a:ext>
              </a:extLst>
            </p:cNvPr>
            <p:cNvSpPr/>
            <p:nvPr/>
          </p:nvSpPr>
          <p:spPr>
            <a:xfrm>
              <a:off x="8409992"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Threats</a:t>
              </a:r>
            </a:p>
          </p:txBody>
        </p:sp>
      </p:grpSp>
    </p:spTree>
    <p:extLst>
      <p:ext uri="{BB962C8B-B14F-4D97-AF65-F5344CB8AC3E}">
        <p14:creationId xmlns:p14="http://schemas.microsoft.com/office/powerpoint/2010/main" val="2585301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196B9C-7039-B178-75B1-82A79D9507FD}"/>
              </a:ext>
            </a:extLst>
          </p:cNvPr>
          <p:cNvSpPr/>
          <p:nvPr/>
        </p:nvSpPr>
        <p:spPr>
          <a:xfrm>
            <a:off x="92399" y="530942"/>
            <a:ext cx="2513150" cy="23597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Potential Threats</a:t>
            </a:r>
          </a:p>
        </p:txBody>
      </p:sp>
      <p:sp>
        <p:nvSpPr>
          <p:cNvPr id="10" name="Rectangle 9">
            <a:extLst>
              <a:ext uri="{FF2B5EF4-FFF2-40B4-BE49-F238E27FC236}">
                <a16:creationId xmlns:a16="http://schemas.microsoft.com/office/drawing/2014/main" id="{1357A9F2-CC28-D31E-4D1E-D359B59FF3EC}"/>
              </a:ext>
            </a:extLst>
          </p:cNvPr>
          <p:cNvSpPr/>
          <p:nvPr/>
        </p:nvSpPr>
        <p:spPr>
          <a:xfrm>
            <a:off x="3004465" y="530941"/>
            <a:ext cx="3981352" cy="2523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How </a:t>
            </a:r>
          </a:p>
        </p:txBody>
      </p:sp>
      <p:sp>
        <p:nvSpPr>
          <p:cNvPr id="11" name="Rectangle 10">
            <a:extLst>
              <a:ext uri="{FF2B5EF4-FFF2-40B4-BE49-F238E27FC236}">
                <a16:creationId xmlns:a16="http://schemas.microsoft.com/office/drawing/2014/main" id="{29266E4A-EC22-D5D9-1190-728255022EEC}"/>
              </a:ext>
            </a:extLst>
          </p:cNvPr>
          <p:cNvSpPr/>
          <p:nvPr/>
        </p:nvSpPr>
        <p:spPr>
          <a:xfrm>
            <a:off x="7311347" y="530941"/>
            <a:ext cx="4785800" cy="2299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Mitigation Strategy</a:t>
            </a:r>
          </a:p>
        </p:txBody>
      </p:sp>
      <p:sp>
        <p:nvSpPr>
          <p:cNvPr id="13" name="TextBox 12">
            <a:extLst>
              <a:ext uri="{FF2B5EF4-FFF2-40B4-BE49-F238E27FC236}">
                <a16:creationId xmlns:a16="http://schemas.microsoft.com/office/drawing/2014/main" id="{472CD91B-B0B2-20D6-A8EA-9998D5EDABED}"/>
              </a:ext>
            </a:extLst>
          </p:cNvPr>
          <p:cNvSpPr txBox="1"/>
          <p:nvPr/>
        </p:nvSpPr>
        <p:spPr>
          <a:xfrm>
            <a:off x="-332430" y="1554742"/>
            <a:ext cx="3323479" cy="369332"/>
          </a:xfrm>
          <a:prstGeom prst="rect">
            <a:avLst/>
          </a:prstGeom>
          <a:noFill/>
        </p:spPr>
        <p:txBody>
          <a:bodyPr wrap="square">
            <a:spAutoFit/>
          </a:bodyPr>
          <a:lstStyle/>
          <a:p>
            <a:pPr algn="ctr"/>
            <a:r>
              <a:rPr lang="en-IN" sz="1800" dirty="0"/>
              <a:t>MARKET COMPETITION </a:t>
            </a:r>
          </a:p>
        </p:txBody>
      </p:sp>
      <p:sp>
        <p:nvSpPr>
          <p:cNvPr id="15" name="TextBox 14">
            <a:extLst>
              <a:ext uri="{FF2B5EF4-FFF2-40B4-BE49-F238E27FC236}">
                <a16:creationId xmlns:a16="http://schemas.microsoft.com/office/drawing/2014/main" id="{59D66303-C2BC-7014-413B-51B2BFFBD0E2}"/>
              </a:ext>
            </a:extLst>
          </p:cNvPr>
          <p:cNvSpPr txBox="1"/>
          <p:nvPr/>
        </p:nvSpPr>
        <p:spPr>
          <a:xfrm>
            <a:off x="3077821" y="816078"/>
            <a:ext cx="3979214" cy="1169551"/>
          </a:xfrm>
          <a:prstGeom prst="rect">
            <a:avLst/>
          </a:prstGeom>
          <a:noFill/>
        </p:spPr>
        <p:txBody>
          <a:bodyPr wrap="square">
            <a:spAutoFit/>
          </a:bodyPr>
          <a:lstStyle/>
          <a:p>
            <a:r>
              <a:rPr lang="en-IN" sz="1400" dirty="0"/>
              <a:t>Increase in new players in the bicycle segment with offerings at various price points meeting various purposes of the consumers. Competitors tweak price points with features and use omni channel strategies to reach out to consumers</a:t>
            </a:r>
          </a:p>
        </p:txBody>
      </p:sp>
      <p:sp>
        <p:nvSpPr>
          <p:cNvPr id="17" name="TextBox 16">
            <a:extLst>
              <a:ext uri="{FF2B5EF4-FFF2-40B4-BE49-F238E27FC236}">
                <a16:creationId xmlns:a16="http://schemas.microsoft.com/office/drawing/2014/main" id="{CAA3C999-DE61-CE17-3F19-1FFBF7D89520}"/>
              </a:ext>
            </a:extLst>
          </p:cNvPr>
          <p:cNvSpPr txBox="1"/>
          <p:nvPr/>
        </p:nvSpPr>
        <p:spPr>
          <a:xfrm>
            <a:off x="7311345" y="816078"/>
            <a:ext cx="4785799" cy="738664"/>
          </a:xfrm>
          <a:prstGeom prst="rect">
            <a:avLst/>
          </a:prstGeom>
          <a:noFill/>
        </p:spPr>
        <p:txBody>
          <a:bodyPr wrap="square">
            <a:spAutoFit/>
          </a:bodyPr>
          <a:lstStyle/>
          <a:p>
            <a:r>
              <a:rPr lang="en-IN" sz="1400" dirty="0"/>
              <a:t>Using a differentiation focus strategy to push products to the retail markets with campaigns being more pronounced about the specific benefits and features of the product</a:t>
            </a:r>
          </a:p>
        </p:txBody>
      </p:sp>
      <p:pic>
        <p:nvPicPr>
          <p:cNvPr id="18" name="Picture 2" descr="Fake Hurts Real: How Adidas' Visual Storytelling Sent a Compelling Warning  to Imitators | by Mark | Better Marketing">
            <a:extLst>
              <a:ext uri="{FF2B5EF4-FFF2-40B4-BE49-F238E27FC236}">
                <a16:creationId xmlns:a16="http://schemas.microsoft.com/office/drawing/2014/main" id="{E78830D4-2B72-BA79-FDBF-677AC01271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8262" y="1592817"/>
            <a:ext cx="1553498" cy="103617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5342119-DF91-3027-2B6C-54DE8E87342E}"/>
              </a:ext>
            </a:extLst>
          </p:cNvPr>
          <p:cNvSpPr txBox="1"/>
          <p:nvPr/>
        </p:nvSpPr>
        <p:spPr>
          <a:xfrm>
            <a:off x="8971760" y="1831759"/>
            <a:ext cx="2909574" cy="738664"/>
          </a:xfrm>
          <a:prstGeom prst="rect">
            <a:avLst/>
          </a:prstGeom>
          <a:noFill/>
        </p:spPr>
        <p:txBody>
          <a:bodyPr wrap="square" rtlCol="0">
            <a:spAutoFit/>
          </a:bodyPr>
          <a:lstStyle/>
          <a:p>
            <a:r>
              <a:rPr lang="en-IN" sz="1400" dirty="0"/>
              <a:t>A visual storytelling campaign which narrates how the actual products have the expected benefits</a:t>
            </a:r>
          </a:p>
        </p:txBody>
      </p:sp>
      <p:sp>
        <p:nvSpPr>
          <p:cNvPr id="20" name="TextBox 19">
            <a:extLst>
              <a:ext uri="{FF2B5EF4-FFF2-40B4-BE49-F238E27FC236}">
                <a16:creationId xmlns:a16="http://schemas.microsoft.com/office/drawing/2014/main" id="{3DA143E1-8B00-95A0-9980-7F01A375A31D}"/>
              </a:ext>
            </a:extLst>
          </p:cNvPr>
          <p:cNvSpPr txBox="1"/>
          <p:nvPr/>
        </p:nvSpPr>
        <p:spPr>
          <a:xfrm>
            <a:off x="-327363" y="3129159"/>
            <a:ext cx="3323479" cy="369332"/>
          </a:xfrm>
          <a:prstGeom prst="rect">
            <a:avLst/>
          </a:prstGeom>
          <a:noFill/>
        </p:spPr>
        <p:txBody>
          <a:bodyPr wrap="square">
            <a:spAutoFit/>
          </a:bodyPr>
          <a:lstStyle/>
          <a:p>
            <a:pPr algn="ctr"/>
            <a:r>
              <a:rPr lang="en-IN" sz="1800" dirty="0"/>
              <a:t>CANNIBALIZATION</a:t>
            </a:r>
          </a:p>
        </p:txBody>
      </p:sp>
      <p:sp>
        <p:nvSpPr>
          <p:cNvPr id="21" name="TextBox 20">
            <a:extLst>
              <a:ext uri="{FF2B5EF4-FFF2-40B4-BE49-F238E27FC236}">
                <a16:creationId xmlns:a16="http://schemas.microsoft.com/office/drawing/2014/main" id="{2A0B194C-40D7-5C2B-FFBB-6E531D4F4F3A}"/>
              </a:ext>
            </a:extLst>
          </p:cNvPr>
          <p:cNvSpPr txBox="1"/>
          <p:nvPr/>
        </p:nvSpPr>
        <p:spPr>
          <a:xfrm>
            <a:off x="-332430" y="4339366"/>
            <a:ext cx="3323479" cy="646331"/>
          </a:xfrm>
          <a:prstGeom prst="rect">
            <a:avLst/>
          </a:prstGeom>
          <a:noFill/>
        </p:spPr>
        <p:txBody>
          <a:bodyPr wrap="square">
            <a:spAutoFit/>
          </a:bodyPr>
          <a:lstStyle/>
          <a:p>
            <a:pPr algn="ctr"/>
            <a:r>
              <a:rPr lang="en-IN" sz="1800" dirty="0"/>
              <a:t>VOLATILE BUSINESS ENVIRONMENT</a:t>
            </a:r>
          </a:p>
        </p:txBody>
      </p:sp>
      <p:sp>
        <p:nvSpPr>
          <p:cNvPr id="22" name="TextBox 21">
            <a:extLst>
              <a:ext uri="{FF2B5EF4-FFF2-40B4-BE49-F238E27FC236}">
                <a16:creationId xmlns:a16="http://schemas.microsoft.com/office/drawing/2014/main" id="{A0AD42EE-CDE5-DE39-B4BF-3741A7490EC6}"/>
              </a:ext>
            </a:extLst>
          </p:cNvPr>
          <p:cNvSpPr txBox="1"/>
          <p:nvPr/>
        </p:nvSpPr>
        <p:spPr>
          <a:xfrm>
            <a:off x="-211569" y="5807784"/>
            <a:ext cx="3323479" cy="369332"/>
          </a:xfrm>
          <a:prstGeom prst="rect">
            <a:avLst/>
          </a:prstGeom>
          <a:noFill/>
        </p:spPr>
        <p:txBody>
          <a:bodyPr wrap="square">
            <a:spAutoFit/>
          </a:bodyPr>
          <a:lstStyle/>
          <a:p>
            <a:pPr algn="ctr"/>
            <a:r>
              <a:rPr lang="en-IN" sz="1800" dirty="0"/>
              <a:t>INFLATION RELATED ISSUES</a:t>
            </a:r>
          </a:p>
        </p:txBody>
      </p:sp>
      <p:pic>
        <p:nvPicPr>
          <p:cNvPr id="4098" name="Picture 2" descr="Tube Investments of India Ltd - TII - A Murugappa Group Company - Home |  Facebook">
            <a:extLst>
              <a:ext uri="{FF2B5EF4-FFF2-40B4-BE49-F238E27FC236}">
                <a16:creationId xmlns:a16="http://schemas.microsoft.com/office/drawing/2014/main" id="{4AEED0D5-3BA6-B4CD-7AE2-35C0E8622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9483" y="1985104"/>
            <a:ext cx="722495" cy="72249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OSEIDON - Poseidon Crown Bike Corp. Trademark Registration">
            <a:extLst>
              <a:ext uri="{FF2B5EF4-FFF2-40B4-BE49-F238E27FC236}">
                <a16:creationId xmlns:a16="http://schemas.microsoft.com/office/drawing/2014/main" id="{6D8208A1-3384-23DB-B257-59D5B3AEDD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2072" y="1985104"/>
            <a:ext cx="626562" cy="722495"/>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86E4D2A8-9FE9-3B06-A47F-AB4717796BCF}"/>
              </a:ext>
            </a:extLst>
          </p:cNvPr>
          <p:cNvSpPr txBox="1"/>
          <p:nvPr/>
        </p:nvSpPr>
        <p:spPr>
          <a:xfrm>
            <a:off x="3097486" y="2964821"/>
            <a:ext cx="3979214" cy="954107"/>
          </a:xfrm>
          <a:prstGeom prst="rect">
            <a:avLst/>
          </a:prstGeom>
          <a:noFill/>
        </p:spPr>
        <p:txBody>
          <a:bodyPr wrap="square">
            <a:spAutoFit/>
          </a:bodyPr>
          <a:lstStyle/>
          <a:p>
            <a:r>
              <a:rPr lang="en-IN" sz="1400" dirty="0"/>
              <a:t>Mergers &amp; Acquisitions of various organizations to maintain the leadership position, might lead to cannibalization of its own existing mass market, impacting sales of the most profitable products </a:t>
            </a:r>
          </a:p>
        </p:txBody>
      </p:sp>
      <p:sp>
        <p:nvSpPr>
          <p:cNvPr id="24" name="TextBox 23">
            <a:extLst>
              <a:ext uri="{FF2B5EF4-FFF2-40B4-BE49-F238E27FC236}">
                <a16:creationId xmlns:a16="http://schemas.microsoft.com/office/drawing/2014/main" id="{891081EC-76D0-FEFF-323F-4B5873746AFB}"/>
              </a:ext>
            </a:extLst>
          </p:cNvPr>
          <p:cNvSpPr txBox="1"/>
          <p:nvPr/>
        </p:nvSpPr>
        <p:spPr>
          <a:xfrm>
            <a:off x="7311345" y="3022592"/>
            <a:ext cx="4720530" cy="738664"/>
          </a:xfrm>
          <a:prstGeom prst="rect">
            <a:avLst/>
          </a:prstGeom>
          <a:noFill/>
        </p:spPr>
        <p:txBody>
          <a:bodyPr wrap="square">
            <a:spAutoFit/>
          </a:bodyPr>
          <a:lstStyle/>
          <a:p>
            <a:r>
              <a:rPr lang="en-IN" sz="1400" dirty="0"/>
              <a:t>Launching different product segments depending on their primary purpose and the benefits served, and pricing at the sweet spot to stay ahead of the competition</a:t>
            </a:r>
          </a:p>
        </p:txBody>
      </p:sp>
      <p:sp>
        <p:nvSpPr>
          <p:cNvPr id="26" name="TextBox 25">
            <a:extLst>
              <a:ext uri="{FF2B5EF4-FFF2-40B4-BE49-F238E27FC236}">
                <a16:creationId xmlns:a16="http://schemas.microsoft.com/office/drawing/2014/main" id="{D3F49163-F8FE-0E60-41B3-166A7F4F6F5C}"/>
              </a:ext>
            </a:extLst>
          </p:cNvPr>
          <p:cNvSpPr txBox="1"/>
          <p:nvPr/>
        </p:nvSpPr>
        <p:spPr>
          <a:xfrm>
            <a:off x="3097486" y="3974137"/>
            <a:ext cx="4036670" cy="1358000"/>
          </a:xfrm>
          <a:prstGeom prst="rect">
            <a:avLst/>
          </a:prstGeom>
          <a:noFill/>
        </p:spPr>
        <p:txBody>
          <a:bodyPr wrap="square">
            <a:spAutoFit/>
          </a:bodyPr>
          <a:lstStyle/>
          <a:p>
            <a:pPr marL="0" marR="0">
              <a:lnSpc>
                <a:spcPts val="1950"/>
              </a:lnSpc>
              <a:spcBef>
                <a:spcPts val="0"/>
              </a:spcBef>
            </a:pPr>
            <a:r>
              <a:rPr lang="en-US" sz="1400" dirty="0">
                <a:solidFill>
                  <a:srgbClr val="000000"/>
                </a:solidFill>
                <a:latin typeface="Regular"/>
                <a:ea typeface="Times New Roman" panose="02020603050405020304" pitchFamily="18" charset="0"/>
              </a:rPr>
              <a:t>While </a:t>
            </a:r>
            <a:r>
              <a:rPr lang="en-US" sz="1400" dirty="0">
                <a:solidFill>
                  <a:srgbClr val="000000"/>
                </a:solidFill>
                <a:effectLst/>
                <a:latin typeface="Regular"/>
                <a:ea typeface="Times New Roman" panose="02020603050405020304" pitchFamily="18" charset="0"/>
              </a:rPr>
              <a:t>certain initiatives have been taken by the central and the state government to encourage </a:t>
            </a:r>
            <a:r>
              <a:rPr lang="en-US" sz="1400" dirty="0">
                <a:solidFill>
                  <a:srgbClr val="000000"/>
                </a:solidFill>
                <a:latin typeface="Regular"/>
                <a:ea typeface="Times New Roman" panose="02020603050405020304" pitchFamily="18" charset="0"/>
              </a:rPr>
              <a:t>faster adoption of </a:t>
            </a:r>
            <a:r>
              <a:rPr lang="en-US" sz="1400" dirty="0">
                <a:solidFill>
                  <a:srgbClr val="000000"/>
                </a:solidFill>
                <a:effectLst/>
                <a:latin typeface="Regular"/>
                <a:ea typeface="Times New Roman" panose="02020603050405020304" pitchFamily="18" charset="0"/>
              </a:rPr>
              <a:t>electric mobility, e-bicycle segment has been excluded from to major initiatives which it has introduces FAME-II and PLI scheme</a:t>
            </a:r>
          </a:p>
        </p:txBody>
      </p:sp>
      <p:sp>
        <p:nvSpPr>
          <p:cNvPr id="27" name="TextBox 26">
            <a:extLst>
              <a:ext uri="{FF2B5EF4-FFF2-40B4-BE49-F238E27FC236}">
                <a16:creationId xmlns:a16="http://schemas.microsoft.com/office/drawing/2014/main" id="{5CBAD24E-04E2-B505-F67C-0B492FB45860}"/>
              </a:ext>
            </a:extLst>
          </p:cNvPr>
          <p:cNvSpPr txBox="1"/>
          <p:nvPr/>
        </p:nvSpPr>
        <p:spPr>
          <a:xfrm>
            <a:off x="7313580" y="3937555"/>
            <a:ext cx="2740092" cy="1614481"/>
          </a:xfrm>
          <a:prstGeom prst="rect">
            <a:avLst/>
          </a:prstGeom>
          <a:noFill/>
        </p:spPr>
        <p:txBody>
          <a:bodyPr wrap="square">
            <a:spAutoFit/>
          </a:bodyPr>
          <a:lstStyle/>
          <a:p>
            <a:pPr marL="0" marR="0">
              <a:lnSpc>
                <a:spcPts val="1950"/>
              </a:lnSpc>
              <a:spcBef>
                <a:spcPts val="0"/>
              </a:spcBef>
            </a:pPr>
            <a:r>
              <a:rPr lang="en-US" sz="1400" dirty="0">
                <a:solidFill>
                  <a:srgbClr val="000000"/>
                </a:solidFill>
                <a:effectLst/>
                <a:latin typeface="Regular"/>
                <a:ea typeface="Times New Roman" panose="02020603050405020304" pitchFamily="18" charset="0"/>
              </a:rPr>
              <a:t>Collaborations with state and central gove</a:t>
            </a:r>
            <a:r>
              <a:rPr lang="en-US" sz="1400" dirty="0">
                <a:solidFill>
                  <a:srgbClr val="000000"/>
                </a:solidFill>
                <a:latin typeface="Regular"/>
                <a:ea typeface="Times New Roman" panose="02020603050405020304" pitchFamily="18" charset="0"/>
              </a:rPr>
              <a:t>rnment on MoUs to develop safe cycling infrastructure to reduce dependence on fossil fuels and meet clean energy commitments</a:t>
            </a:r>
            <a:endParaRPr lang="en-US" sz="1400" dirty="0">
              <a:solidFill>
                <a:srgbClr val="000000"/>
              </a:solidFill>
              <a:effectLst/>
              <a:latin typeface="Regular"/>
              <a:ea typeface="Times New Roman" panose="02020603050405020304" pitchFamily="18" charset="0"/>
            </a:endParaRPr>
          </a:p>
        </p:txBody>
      </p:sp>
      <p:sp>
        <p:nvSpPr>
          <p:cNvPr id="28" name="TextBox 27">
            <a:extLst>
              <a:ext uri="{FF2B5EF4-FFF2-40B4-BE49-F238E27FC236}">
                <a16:creationId xmlns:a16="http://schemas.microsoft.com/office/drawing/2014/main" id="{CE9CB92E-7F0D-FDD7-A1C7-2B4F83A2A511}"/>
              </a:ext>
            </a:extLst>
          </p:cNvPr>
          <p:cNvSpPr txBox="1"/>
          <p:nvPr/>
        </p:nvSpPr>
        <p:spPr>
          <a:xfrm>
            <a:off x="3111911" y="5626356"/>
            <a:ext cx="4036670" cy="1101520"/>
          </a:xfrm>
          <a:prstGeom prst="rect">
            <a:avLst/>
          </a:prstGeom>
          <a:noFill/>
        </p:spPr>
        <p:txBody>
          <a:bodyPr wrap="square">
            <a:spAutoFit/>
          </a:bodyPr>
          <a:lstStyle/>
          <a:p>
            <a:pPr marL="0" marR="0">
              <a:lnSpc>
                <a:spcPts val="1950"/>
              </a:lnSpc>
              <a:spcBef>
                <a:spcPts val="0"/>
              </a:spcBef>
            </a:pPr>
            <a:r>
              <a:rPr lang="en-US" sz="1400" dirty="0">
                <a:solidFill>
                  <a:srgbClr val="000000"/>
                </a:solidFill>
                <a:latin typeface="Regular"/>
                <a:ea typeface="Times New Roman" panose="02020603050405020304" pitchFamily="18" charset="0"/>
              </a:rPr>
              <a:t>While the disposable income of individuals have increased, prices of regular commodities have increased, due to increase in price of raw materials or production-related factors</a:t>
            </a:r>
            <a:endParaRPr lang="en-US" sz="1400" dirty="0">
              <a:solidFill>
                <a:srgbClr val="000000"/>
              </a:solidFill>
              <a:effectLst/>
              <a:latin typeface="Regular"/>
              <a:ea typeface="Times New Roman" panose="02020603050405020304" pitchFamily="18" charset="0"/>
            </a:endParaRPr>
          </a:p>
        </p:txBody>
      </p:sp>
      <p:sp>
        <p:nvSpPr>
          <p:cNvPr id="29" name="TextBox 28">
            <a:extLst>
              <a:ext uri="{FF2B5EF4-FFF2-40B4-BE49-F238E27FC236}">
                <a16:creationId xmlns:a16="http://schemas.microsoft.com/office/drawing/2014/main" id="{7B49846E-2C93-FE59-1B2D-DC0558787972}"/>
              </a:ext>
            </a:extLst>
          </p:cNvPr>
          <p:cNvSpPr txBox="1"/>
          <p:nvPr/>
        </p:nvSpPr>
        <p:spPr>
          <a:xfrm>
            <a:off x="7311345" y="5572779"/>
            <a:ext cx="4785799" cy="1101520"/>
          </a:xfrm>
          <a:prstGeom prst="rect">
            <a:avLst/>
          </a:prstGeom>
          <a:noFill/>
        </p:spPr>
        <p:txBody>
          <a:bodyPr wrap="square">
            <a:spAutoFit/>
          </a:bodyPr>
          <a:lstStyle/>
          <a:p>
            <a:pPr marL="0" marR="0">
              <a:lnSpc>
                <a:spcPts val="1950"/>
              </a:lnSpc>
              <a:spcBef>
                <a:spcPts val="0"/>
              </a:spcBef>
            </a:pPr>
            <a:r>
              <a:rPr lang="en-US" sz="1400" dirty="0">
                <a:solidFill>
                  <a:srgbClr val="000000"/>
                </a:solidFill>
                <a:effectLst/>
                <a:latin typeface="Regular"/>
                <a:ea typeface="Times New Roman" panose="02020603050405020304" pitchFamily="18" charset="0"/>
              </a:rPr>
              <a:t>Due to increase in input cost, price of end products have also increase substantially. This can be mitigated to a certain extent through strategic procurement, forecasting demand and slabs on sales targets to be achieved</a:t>
            </a:r>
          </a:p>
        </p:txBody>
      </p:sp>
      <p:cxnSp>
        <p:nvCxnSpPr>
          <p:cNvPr id="31" name="Straight Connector 30">
            <a:extLst>
              <a:ext uri="{FF2B5EF4-FFF2-40B4-BE49-F238E27FC236}">
                <a16:creationId xmlns:a16="http://schemas.microsoft.com/office/drawing/2014/main" id="{7CB18734-2D7F-DA40-0B1B-237AF37A47DB}"/>
              </a:ext>
            </a:extLst>
          </p:cNvPr>
          <p:cNvCxnSpPr/>
          <p:nvPr/>
        </p:nvCxnSpPr>
        <p:spPr>
          <a:xfrm>
            <a:off x="2812202" y="530942"/>
            <a:ext cx="0" cy="6196934"/>
          </a:xfrm>
          <a:prstGeom prst="line">
            <a:avLst/>
          </a:prstGeom>
          <a:ln>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2044311-EBE4-4E15-8A1A-FA7A54046B57}"/>
              </a:ext>
            </a:extLst>
          </p:cNvPr>
          <p:cNvCxnSpPr/>
          <p:nvPr/>
        </p:nvCxnSpPr>
        <p:spPr>
          <a:xfrm>
            <a:off x="7148581" y="530942"/>
            <a:ext cx="0" cy="6196934"/>
          </a:xfrm>
          <a:prstGeom prst="line">
            <a:avLst/>
          </a:prstGeom>
          <a:ln>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AB04E86-E564-B428-D2C0-BB7DC965046B}"/>
              </a:ext>
            </a:extLst>
          </p:cNvPr>
          <p:cNvCxnSpPr/>
          <p:nvPr/>
        </p:nvCxnSpPr>
        <p:spPr>
          <a:xfrm>
            <a:off x="78658" y="2861188"/>
            <a:ext cx="11959141" cy="0"/>
          </a:xfrm>
          <a:prstGeom prst="line">
            <a:avLst/>
          </a:prstGeom>
          <a:ln>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F5914E3-9CE6-9AFE-1332-AD52BB950121}"/>
              </a:ext>
            </a:extLst>
          </p:cNvPr>
          <p:cNvCxnSpPr/>
          <p:nvPr/>
        </p:nvCxnSpPr>
        <p:spPr>
          <a:xfrm>
            <a:off x="72734" y="3918928"/>
            <a:ext cx="11959141" cy="0"/>
          </a:xfrm>
          <a:prstGeom prst="line">
            <a:avLst/>
          </a:prstGeom>
          <a:ln>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2E89101-66E2-4598-E015-FC85BB32F54A}"/>
              </a:ext>
            </a:extLst>
          </p:cNvPr>
          <p:cNvCxnSpPr/>
          <p:nvPr/>
        </p:nvCxnSpPr>
        <p:spPr>
          <a:xfrm>
            <a:off x="72734" y="5519201"/>
            <a:ext cx="11959141" cy="0"/>
          </a:xfrm>
          <a:prstGeom prst="line">
            <a:avLst/>
          </a:prstGeom>
          <a:ln>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37" name="Picture 6" descr="cycling - New Town: 3-day fest promotes cycling - Telegraph India">
            <a:extLst>
              <a:ext uri="{FF2B5EF4-FFF2-40B4-BE49-F238E27FC236}">
                <a16:creationId xmlns:a16="http://schemas.microsoft.com/office/drawing/2014/main" id="{87D2BD67-DBE3-E543-5CAA-89DE485C3A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24176" y="3968914"/>
            <a:ext cx="1929845" cy="1184956"/>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2E79355D-09F9-4D89-55D0-2B1CBCA2C374}"/>
              </a:ext>
            </a:extLst>
          </p:cNvPr>
          <p:cNvSpPr txBox="1"/>
          <p:nvPr/>
        </p:nvSpPr>
        <p:spPr>
          <a:xfrm>
            <a:off x="9786368" y="5153870"/>
            <a:ext cx="2317799" cy="307777"/>
          </a:xfrm>
          <a:prstGeom prst="rect">
            <a:avLst/>
          </a:prstGeom>
          <a:noFill/>
        </p:spPr>
        <p:txBody>
          <a:bodyPr wrap="square" rtlCol="0">
            <a:spAutoFit/>
          </a:bodyPr>
          <a:lstStyle/>
          <a:p>
            <a:r>
              <a:rPr lang="en-IN" sz="1400" dirty="0"/>
              <a:t>Cycling events held in Kolkata</a:t>
            </a:r>
          </a:p>
        </p:txBody>
      </p:sp>
      <p:grpSp>
        <p:nvGrpSpPr>
          <p:cNvPr id="39" name="Group 38">
            <a:extLst>
              <a:ext uri="{FF2B5EF4-FFF2-40B4-BE49-F238E27FC236}">
                <a16:creationId xmlns:a16="http://schemas.microsoft.com/office/drawing/2014/main" id="{14312FC5-BA86-E77A-83AB-4A66236DCA4A}"/>
              </a:ext>
            </a:extLst>
          </p:cNvPr>
          <p:cNvGrpSpPr/>
          <p:nvPr/>
        </p:nvGrpSpPr>
        <p:grpSpPr>
          <a:xfrm>
            <a:off x="0" y="0"/>
            <a:ext cx="12138132" cy="317241"/>
            <a:chOff x="0" y="0"/>
            <a:chExt cx="10723984" cy="317241"/>
          </a:xfrm>
          <a:solidFill>
            <a:schemeClr val="accent2">
              <a:lumMod val="50000"/>
            </a:schemeClr>
          </a:solidFill>
        </p:grpSpPr>
        <p:sp>
          <p:nvSpPr>
            <p:cNvPr id="40" name="Arrow: Pentagon 39">
              <a:extLst>
                <a:ext uri="{FF2B5EF4-FFF2-40B4-BE49-F238E27FC236}">
                  <a16:creationId xmlns:a16="http://schemas.microsoft.com/office/drawing/2014/main" id="{F41D1366-F9BA-7FC6-DC9B-68ECA1C923B8}"/>
                </a:ext>
              </a:extLst>
            </p:cNvPr>
            <p:cNvSpPr/>
            <p:nvPr/>
          </p:nvSpPr>
          <p:spPr>
            <a:xfrm>
              <a:off x="0"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Market Scenario</a:t>
              </a:r>
            </a:p>
          </p:txBody>
        </p:sp>
        <p:sp>
          <p:nvSpPr>
            <p:cNvPr id="41" name="Arrow: Pentagon 40">
              <a:extLst>
                <a:ext uri="{FF2B5EF4-FFF2-40B4-BE49-F238E27FC236}">
                  <a16:creationId xmlns:a16="http://schemas.microsoft.com/office/drawing/2014/main" id="{53AF9985-9A13-BBD2-8836-FF4191F16655}"/>
                </a:ext>
              </a:extLst>
            </p:cNvPr>
            <p:cNvSpPr/>
            <p:nvPr/>
          </p:nvSpPr>
          <p:spPr>
            <a:xfrm>
              <a:off x="2102498"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About Hades</a:t>
              </a:r>
            </a:p>
          </p:txBody>
        </p:sp>
        <p:sp>
          <p:nvSpPr>
            <p:cNvPr id="42" name="Arrow: Pentagon 41">
              <a:extLst>
                <a:ext uri="{FF2B5EF4-FFF2-40B4-BE49-F238E27FC236}">
                  <a16:creationId xmlns:a16="http://schemas.microsoft.com/office/drawing/2014/main" id="{270A439F-4482-5820-857F-B7BAD0EF76A9}"/>
                </a:ext>
              </a:extLst>
            </p:cNvPr>
            <p:cNvSpPr/>
            <p:nvPr/>
          </p:nvSpPr>
          <p:spPr>
            <a:xfrm>
              <a:off x="4204996"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Environment Analysis</a:t>
              </a:r>
            </a:p>
          </p:txBody>
        </p:sp>
        <p:sp>
          <p:nvSpPr>
            <p:cNvPr id="43" name="Arrow: Pentagon 42">
              <a:extLst>
                <a:ext uri="{FF2B5EF4-FFF2-40B4-BE49-F238E27FC236}">
                  <a16:creationId xmlns:a16="http://schemas.microsoft.com/office/drawing/2014/main" id="{C85A3E90-840F-6281-3A19-736FB32AC498}"/>
                </a:ext>
              </a:extLst>
            </p:cNvPr>
            <p:cNvSpPr/>
            <p:nvPr/>
          </p:nvSpPr>
          <p:spPr>
            <a:xfrm>
              <a:off x="6307494" y="0"/>
              <a:ext cx="2313992" cy="317241"/>
            </a:xfrm>
            <a:prstGeom prst="homePlate">
              <a:avLst/>
            </a:prstGeom>
            <a:grp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Revenue Streams</a:t>
              </a:r>
            </a:p>
          </p:txBody>
        </p:sp>
        <p:sp>
          <p:nvSpPr>
            <p:cNvPr id="44" name="Arrow: Pentagon 43">
              <a:extLst>
                <a:ext uri="{FF2B5EF4-FFF2-40B4-BE49-F238E27FC236}">
                  <a16:creationId xmlns:a16="http://schemas.microsoft.com/office/drawing/2014/main" id="{18AEE94D-8806-3FFC-78F3-1CAB01A2B2C5}"/>
                </a:ext>
              </a:extLst>
            </p:cNvPr>
            <p:cNvSpPr/>
            <p:nvPr/>
          </p:nvSpPr>
          <p:spPr>
            <a:xfrm>
              <a:off x="8409992" y="0"/>
              <a:ext cx="2313992" cy="317241"/>
            </a:xfrm>
            <a:prstGeom prst="homePlate">
              <a:avLst/>
            </a:prstGeom>
            <a:solidFill>
              <a:schemeClr val="accent2"/>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Potential Threats</a:t>
              </a:r>
            </a:p>
          </p:txBody>
        </p:sp>
      </p:grpSp>
    </p:spTree>
    <p:extLst>
      <p:ext uri="{BB962C8B-B14F-4D97-AF65-F5344CB8AC3E}">
        <p14:creationId xmlns:p14="http://schemas.microsoft.com/office/powerpoint/2010/main" val="1241205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97D3FF-63C1-B4BE-37F0-13C0DFA06706}"/>
              </a:ext>
            </a:extLst>
          </p:cNvPr>
          <p:cNvSpPr txBox="1"/>
          <p:nvPr/>
        </p:nvSpPr>
        <p:spPr>
          <a:xfrm>
            <a:off x="3751006" y="2875002"/>
            <a:ext cx="4689987" cy="1107996"/>
          </a:xfrm>
          <a:prstGeom prst="rect">
            <a:avLst/>
          </a:prstGeom>
          <a:noFill/>
          <a:ln>
            <a:solidFill>
              <a:schemeClr val="accent2">
                <a:lumMod val="50000"/>
              </a:schemeClr>
            </a:solidFill>
          </a:ln>
        </p:spPr>
        <p:txBody>
          <a:bodyPr wrap="square" rtlCol="0">
            <a:spAutoFit/>
          </a:bodyPr>
          <a:lstStyle/>
          <a:p>
            <a:pPr algn="ctr"/>
            <a:r>
              <a:rPr lang="en-IN" sz="6600" dirty="0">
                <a:solidFill>
                  <a:schemeClr val="accent2">
                    <a:lumMod val="75000"/>
                  </a:schemeClr>
                </a:solidFill>
              </a:rPr>
              <a:t>THANK YOU</a:t>
            </a:r>
          </a:p>
        </p:txBody>
      </p:sp>
    </p:spTree>
    <p:extLst>
      <p:ext uri="{BB962C8B-B14F-4D97-AF65-F5344CB8AC3E}">
        <p14:creationId xmlns:p14="http://schemas.microsoft.com/office/powerpoint/2010/main" val="3777328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3120</TotalTime>
  <Words>2471</Words>
  <Application>Microsoft Office PowerPoint</Application>
  <PresentationFormat>Widescreen</PresentationFormat>
  <Paragraphs>319</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MuseoSans</vt:lpstr>
      <vt:lpstr>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Devesh Sinha</dc:creator>
  <cp:lastModifiedBy>Devesh Sinha</cp:lastModifiedBy>
  <cp:revision>29</cp:revision>
  <dcterms:created xsi:type="dcterms:W3CDTF">2023-01-18T17:38:16Z</dcterms:created>
  <dcterms:modified xsi:type="dcterms:W3CDTF">2023-01-23T09:10:34Z</dcterms:modified>
</cp:coreProperties>
</file>