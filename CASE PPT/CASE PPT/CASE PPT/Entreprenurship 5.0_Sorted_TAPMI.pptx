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6" r:id="rId2"/>
    <p:sldId id="256" r:id="rId3"/>
    <p:sldId id="257" r:id="rId4"/>
    <p:sldId id="258" r:id="rId5"/>
    <p:sldId id="263" r:id="rId6"/>
    <p:sldId id="264"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2018</c:v>
                </c:pt>
                <c:pt idx="1">
                  <c:v>2023</c:v>
                </c:pt>
                <c:pt idx="2">
                  <c:v>2028</c:v>
                </c:pt>
              </c:numCache>
            </c:numRef>
          </c:cat>
          <c:val>
            <c:numRef>
              <c:f>Sheet1!$B$2:$B$4</c:f>
              <c:numCache>
                <c:formatCode>General</c:formatCode>
                <c:ptCount val="3"/>
                <c:pt idx="0">
                  <c:v>732.74</c:v>
                </c:pt>
                <c:pt idx="1">
                  <c:v>1116.82</c:v>
                </c:pt>
                <c:pt idx="2">
                  <c:v>1661.47</c:v>
                </c:pt>
              </c:numCache>
            </c:numRef>
          </c:val>
          <c:extLst>
            <c:ext xmlns:c16="http://schemas.microsoft.com/office/drawing/2014/chart" uri="{C3380CC4-5D6E-409C-BE32-E72D297353CC}">
              <c16:uniqueId val="{00000000-9C75-40BD-8B62-B644EDA75FFE}"/>
            </c:ext>
          </c:extLst>
        </c:ser>
        <c:dLbls>
          <c:dLblPos val="outEnd"/>
          <c:showLegendKey val="0"/>
          <c:showVal val="1"/>
          <c:showCatName val="0"/>
          <c:showSerName val="0"/>
          <c:showPercent val="0"/>
          <c:showBubbleSize val="0"/>
        </c:dLbls>
        <c:gapWidth val="219"/>
        <c:overlap val="-27"/>
        <c:axId val="1375989616"/>
        <c:axId val="1376004592"/>
      </c:barChart>
      <c:catAx>
        <c:axId val="13759896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76004592"/>
        <c:crosses val="autoZero"/>
        <c:auto val="1"/>
        <c:lblAlgn val="ctr"/>
        <c:lblOffset val="100"/>
        <c:noMultiLvlLbl val="0"/>
      </c:catAx>
      <c:valAx>
        <c:axId val="13760045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1100" dirty="0"/>
                  <a:t>Value in Billion Indian Rupees</a:t>
                </a:r>
              </a:p>
            </c:rich>
          </c:tx>
          <c:layout>
            <c:manualLayout>
              <c:xMode val="edge"/>
              <c:yMode val="edge"/>
              <c:x val="3.1531556384381536E-2"/>
              <c:y val="6.4594716748180181E-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759896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C0FA86-1567-458F-A16F-F9A08A0D996A}"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22621AFF-1736-4C47-83F7-70A5A5FACB36}">
      <dgm:prSet phldrT="[Text]" custT="1"/>
      <dgm:spPr/>
      <dgm:t>
        <a:bodyPr/>
        <a:lstStyle/>
        <a:p>
          <a:r>
            <a:rPr lang="en-IN" sz="1200" dirty="0"/>
            <a:t>Realised the benefits of bamboo fabric for their kids over other fabrics</a:t>
          </a:r>
          <a:endParaRPr lang="en-US" sz="1200" dirty="0"/>
        </a:p>
      </dgm:t>
    </dgm:pt>
    <dgm:pt modelId="{D61292C9-0DF5-4D1A-A248-93690B49F1A5}" type="parTrans" cxnId="{685D2B26-F43B-4254-8EC0-AA9B606D1898}">
      <dgm:prSet/>
      <dgm:spPr/>
      <dgm:t>
        <a:bodyPr/>
        <a:lstStyle/>
        <a:p>
          <a:endParaRPr lang="en-US"/>
        </a:p>
      </dgm:t>
    </dgm:pt>
    <dgm:pt modelId="{6EC1DB8B-03D9-4A87-BFBA-1710A2DA3711}" type="sibTrans" cxnId="{685D2B26-F43B-4254-8EC0-AA9B606D1898}">
      <dgm:prSet/>
      <dgm:spPr/>
      <dgm:t>
        <a:bodyPr/>
        <a:lstStyle/>
        <a:p>
          <a:endParaRPr lang="en-US"/>
        </a:p>
      </dgm:t>
    </dgm:pt>
    <dgm:pt modelId="{519BFAB9-49C9-45CD-A9D9-9328ACC435DE}">
      <dgm:prSet phldrT="[Text]" custT="1"/>
      <dgm:spPr/>
      <dgm:t>
        <a:bodyPr/>
        <a:lstStyle/>
        <a:p>
          <a:r>
            <a:rPr lang="en-IN" sz="1200" dirty="0"/>
            <a:t>Agreed to try bamboo fabric for their kids while considering higher price point. Major concern was health consciousness</a:t>
          </a:r>
          <a:endParaRPr lang="en-US" sz="1200" dirty="0"/>
        </a:p>
      </dgm:t>
    </dgm:pt>
    <dgm:pt modelId="{6F6EF0A4-A1BB-4CE7-AE4B-FD7E4532E96D}" type="parTrans" cxnId="{37D7F656-0CC0-4763-8B0E-5B5F8F39963A}">
      <dgm:prSet/>
      <dgm:spPr/>
      <dgm:t>
        <a:bodyPr/>
        <a:lstStyle/>
        <a:p>
          <a:endParaRPr lang="en-US"/>
        </a:p>
      </dgm:t>
    </dgm:pt>
    <dgm:pt modelId="{084C7A00-96B8-478E-BCF2-629B08FC6184}" type="sibTrans" cxnId="{37D7F656-0CC0-4763-8B0E-5B5F8F39963A}">
      <dgm:prSet/>
      <dgm:spPr/>
      <dgm:t>
        <a:bodyPr/>
        <a:lstStyle/>
        <a:p>
          <a:endParaRPr lang="en-US"/>
        </a:p>
      </dgm:t>
    </dgm:pt>
    <dgm:pt modelId="{F96305E0-0D1D-4D68-92A7-66928F87D7CA}">
      <dgm:prSet phldrT="[Text]" custT="1"/>
      <dgm:spPr/>
      <dgm:t>
        <a:bodyPr/>
        <a:lstStyle/>
        <a:p>
          <a:r>
            <a:rPr lang="en-IN" sz="1200" dirty="0"/>
            <a:t>Did not know if any brand offering bamboo fabric Kids wear in India</a:t>
          </a:r>
          <a:endParaRPr lang="en-US" sz="1200" dirty="0"/>
        </a:p>
      </dgm:t>
    </dgm:pt>
    <dgm:pt modelId="{E7F275CB-E83B-4CAE-9A97-4EB0CEC382E1}" type="parTrans" cxnId="{F9D25226-A187-409B-8B78-73FF528D7B0F}">
      <dgm:prSet/>
      <dgm:spPr/>
      <dgm:t>
        <a:bodyPr/>
        <a:lstStyle/>
        <a:p>
          <a:endParaRPr lang="en-US"/>
        </a:p>
      </dgm:t>
    </dgm:pt>
    <dgm:pt modelId="{C8849819-EA93-4D10-B104-E776D7E416E3}" type="sibTrans" cxnId="{F9D25226-A187-409B-8B78-73FF528D7B0F}">
      <dgm:prSet/>
      <dgm:spPr/>
      <dgm:t>
        <a:bodyPr/>
        <a:lstStyle/>
        <a:p>
          <a:endParaRPr lang="en-US"/>
        </a:p>
      </dgm:t>
    </dgm:pt>
    <dgm:pt modelId="{27D3F165-6432-4BA5-9890-7E430626C327}" type="pres">
      <dgm:prSet presAssocID="{FAC0FA86-1567-458F-A16F-F9A08A0D996A}" presName="rootnode" presStyleCnt="0">
        <dgm:presLayoutVars>
          <dgm:chMax/>
          <dgm:chPref/>
          <dgm:dir/>
          <dgm:animLvl val="lvl"/>
        </dgm:presLayoutVars>
      </dgm:prSet>
      <dgm:spPr/>
    </dgm:pt>
    <dgm:pt modelId="{738F90CC-5998-477B-8749-A8AFCD358DA5}" type="pres">
      <dgm:prSet presAssocID="{22621AFF-1736-4C47-83F7-70A5A5FACB36}" presName="composite" presStyleCnt="0"/>
      <dgm:spPr/>
    </dgm:pt>
    <dgm:pt modelId="{D3CDB312-90CA-407C-BF72-9079F0CD4BE9}" type="pres">
      <dgm:prSet presAssocID="{22621AFF-1736-4C47-83F7-70A5A5FACB36}" presName="LShape" presStyleLbl="alignNode1" presStyleIdx="0" presStyleCnt="5"/>
      <dgm:spPr>
        <a:solidFill>
          <a:schemeClr val="accent5"/>
        </a:solidFill>
      </dgm:spPr>
    </dgm:pt>
    <dgm:pt modelId="{B99B2409-11F4-427E-9544-B615B8CDA337}" type="pres">
      <dgm:prSet presAssocID="{22621AFF-1736-4C47-83F7-70A5A5FACB36}" presName="ParentText" presStyleLbl="revTx" presStyleIdx="0" presStyleCnt="3" custScaleX="125179" custLinFactNeighborX="14052" custLinFactNeighborY="883">
        <dgm:presLayoutVars>
          <dgm:chMax val="0"/>
          <dgm:chPref val="0"/>
          <dgm:bulletEnabled val="1"/>
        </dgm:presLayoutVars>
      </dgm:prSet>
      <dgm:spPr/>
    </dgm:pt>
    <dgm:pt modelId="{AB08318B-F1A0-41DE-91B9-499181B71325}" type="pres">
      <dgm:prSet presAssocID="{22621AFF-1736-4C47-83F7-70A5A5FACB36}" presName="Triangle" presStyleLbl="alignNode1" presStyleIdx="1" presStyleCnt="5"/>
      <dgm:spPr/>
    </dgm:pt>
    <dgm:pt modelId="{ECF9C29E-215F-4D1C-805D-AEDF54F086AE}" type="pres">
      <dgm:prSet presAssocID="{6EC1DB8B-03D9-4A87-BFBA-1710A2DA3711}" presName="sibTrans" presStyleCnt="0"/>
      <dgm:spPr/>
    </dgm:pt>
    <dgm:pt modelId="{573AF1A1-E48B-4FC8-B0FC-B69835C7C083}" type="pres">
      <dgm:prSet presAssocID="{6EC1DB8B-03D9-4A87-BFBA-1710A2DA3711}" presName="space" presStyleCnt="0"/>
      <dgm:spPr/>
    </dgm:pt>
    <dgm:pt modelId="{C6EBD449-BD4A-42D4-AB1D-A1F8402567D6}" type="pres">
      <dgm:prSet presAssocID="{519BFAB9-49C9-45CD-A9D9-9328ACC435DE}" presName="composite" presStyleCnt="0"/>
      <dgm:spPr/>
    </dgm:pt>
    <dgm:pt modelId="{E9A4B992-D085-4A83-8826-FA39A5608E45}" type="pres">
      <dgm:prSet presAssocID="{519BFAB9-49C9-45CD-A9D9-9328ACC435DE}" presName="LShape" presStyleLbl="alignNode1" presStyleIdx="2" presStyleCnt="5"/>
      <dgm:spPr>
        <a:solidFill>
          <a:schemeClr val="accent5"/>
        </a:solidFill>
      </dgm:spPr>
    </dgm:pt>
    <dgm:pt modelId="{DE30575C-4BB2-4DA9-8346-D41B55FC4C05}" type="pres">
      <dgm:prSet presAssocID="{519BFAB9-49C9-45CD-A9D9-9328ACC435DE}" presName="ParentText" presStyleLbl="revTx" presStyleIdx="1" presStyleCnt="3" custScaleX="126208" custLinFactNeighborX="16397" custLinFactNeighborY="1299">
        <dgm:presLayoutVars>
          <dgm:chMax val="0"/>
          <dgm:chPref val="0"/>
          <dgm:bulletEnabled val="1"/>
        </dgm:presLayoutVars>
      </dgm:prSet>
      <dgm:spPr/>
    </dgm:pt>
    <dgm:pt modelId="{3C76DEF6-90FA-47AB-913E-0394E74D4047}" type="pres">
      <dgm:prSet presAssocID="{519BFAB9-49C9-45CD-A9D9-9328ACC435DE}" presName="Triangle" presStyleLbl="alignNode1" presStyleIdx="3" presStyleCnt="5"/>
      <dgm:spPr/>
    </dgm:pt>
    <dgm:pt modelId="{275AA7DA-27CF-4DE9-944C-CCB522923575}" type="pres">
      <dgm:prSet presAssocID="{084C7A00-96B8-478E-BCF2-629B08FC6184}" presName="sibTrans" presStyleCnt="0"/>
      <dgm:spPr/>
    </dgm:pt>
    <dgm:pt modelId="{81526629-9BB1-4D7F-9FBD-A33DD5C2082A}" type="pres">
      <dgm:prSet presAssocID="{084C7A00-96B8-478E-BCF2-629B08FC6184}" presName="space" presStyleCnt="0"/>
      <dgm:spPr/>
    </dgm:pt>
    <dgm:pt modelId="{51327BA6-3623-4CE3-9105-BBD9A01F960B}" type="pres">
      <dgm:prSet presAssocID="{F96305E0-0D1D-4D68-92A7-66928F87D7CA}" presName="composite" presStyleCnt="0"/>
      <dgm:spPr/>
    </dgm:pt>
    <dgm:pt modelId="{07967DF4-B577-4488-8734-A3D1ABC12C48}" type="pres">
      <dgm:prSet presAssocID="{F96305E0-0D1D-4D68-92A7-66928F87D7CA}" presName="LShape" presStyleLbl="alignNode1" presStyleIdx="4" presStyleCnt="5"/>
      <dgm:spPr>
        <a:solidFill>
          <a:schemeClr val="accent5"/>
        </a:solidFill>
      </dgm:spPr>
    </dgm:pt>
    <dgm:pt modelId="{5CA2852D-61C9-4E91-A686-5765F96BAEB1}" type="pres">
      <dgm:prSet presAssocID="{F96305E0-0D1D-4D68-92A7-66928F87D7CA}" presName="ParentText" presStyleLbl="revTx" presStyleIdx="2" presStyleCnt="3">
        <dgm:presLayoutVars>
          <dgm:chMax val="0"/>
          <dgm:chPref val="0"/>
          <dgm:bulletEnabled val="1"/>
        </dgm:presLayoutVars>
      </dgm:prSet>
      <dgm:spPr/>
    </dgm:pt>
  </dgm:ptLst>
  <dgm:cxnLst>
    <dgm:cxn modelId="{3B7F341A-0723-4B7F-8953-7DBBCD1CA9D3}" type="presOf" srcId="{519BFAB9-49C9-45CD-A9D9-9328ACC435DE}" destId="{DE30575C-4BB2-4DA9-8346-D41B55FC4C05}" srcOrd="0" destOrd="0" presId="urn:microsoft.com/office/officeart/2009/3/layout/StepUpProcess"/>
    <dgm:cxn modelId="{685D2B26-F43B-4254-8EC0-AA9B606D1898}" srcId="{FAC0FA86-1567-458F-A16F-F9A08A0D996A}" destId="{22621AFF-1736-4C47-83F7-70A5A5FACB36}" srcOrd="0" destOrd="0" parTransId="{D61292C9-0DF5-4D1A-A248-93690B49F1A5}" sibTransId="{6EC1DB8B-03D9-4A87-BFBA-1710A2DA3711}"/>
    <dgm:cxn modelId="{F9D25226-A187-409B-8B78-73FF528D7B0F}" srcId="{FAC0FA86-1567-458F-A16F-F9A08A0D996A}" destId="{F96305E0-0D1D-4D68-92A7-66928F87D7CA}" srcOrd="2" destOrd="0" parTransId="{E7F275CB-E83B-4CAE-9A97-4EB0CEC382E1}" sibTransId="{C8849819-EA93-4D10-B104-E776D7E416E3}"/>
    <dgm:cxn modelId="{E47BF54A-9C68-45BD-AB79-47FFDF9BA0E0}" type="presOf" srcId="{FAC0FA86-1567-458F-A16F-F9A08A0D996A}" destId="{27D3F165-6432-4BA5-9890-7E430626C327}" srcOrd="0" destOrd="0" presId="urn:microsoft.com/office/officeart/2009/3/layout/StepUpProcess"/>
    <dgm:cxn modelId="{37D7F656-0CC0-4763-8B0E-5B5F8F39963A}" srcId="{FAC0FA86-1567-458F-A16F-F9A08A0D996A}" destId="{519BFAB9-49C9-45CD-A9D9-9328ACC435DE}" srcOrd="1" destOrd="0" parTransId="{6F6EF0A4-A1BB-4CE7-AE4B-FD7E4532E96D}" sibTransId="{084C7A00-96B8-478E-BCF2-629B08FC6184}"/>
    <dgm:cxn modelId="{8CF50E7C-45A9-47BC-A039-6172A9B3ED89}" type="presOf" srcId="{22621AFF-1736-4C47-83F7-70A5A5FACB36}" destId="{B99B2409-11F4-427E-9544-B615B8CDA337}" srcOrd="0" destOrd="0" presId="urn:microsoft.com/office/officeart/2009/3/layout/StepUpProcess"/>
    <dgm:cxn modelId="{FF2F83B2-B557-47B2-A7A2-F765A3500287}" type="presOf" srcId="{F96305E0-0D1D-4D68-92A7-66928F87D7CA}" destId="{5CA2852D-61C9-4E91-A686-5765F96BAEB1}" srcOrd="0" destOrd="0" presId="urn:microsoft.com/office/officeart/2009/3/layout/StepUpProcess"/>
    <dgm:cxn modelId="{980301BD-0CEF-4808-9150-51A3E59A3970}" type="presParOf" srcId="{27D3F165-6432-4BA5-9890-7E430626C327}" destId="{738F90CC-5998-477B-8749-A8AFCD358DA5}" srcOrd="0" destOrd="0" presId="urn:microsoft.com/office/officeart/2009/3/layout/StepUpProcess"/>
    <dgm:cxn modelId="{4F6DFC5B-B3E3-440D-BE02-24A7C526613B}" type="presParOf" srcId="{738F90CC-5998-477B-8749-A8AFCD358DA5}" destId="{D3CDB312-90CA-407C-BF72-9079F0CD4BE9}" srcOrd="0" destOrd="0" presId="urn:microsoft.com/office/officeart/2009/3/layout/StepUpProcess"/>
    <dgm:cxn modelId="{2810A5F1-03B3-41ED-9956-D8C8B9689003}" type="presParOf" srcId="{738F90CC-5998-477B-8749-A8AFCD358DA5}" destId="{B99B2409-11F4-427E-9544-B615B8CDA337}" srcOrd="1" destOrd="0" presId="urn:microsoft.com/office/officeart/2009/3/layout/StepUpProcess"/>
    <dgm:cxn modelId="{B557C3F7-4E4C-4527-A692-C528761D21D9}" type="presParOf" srcId="{738F90CC-5998-477B-8749-A8AFCD358DA5}" destId="{AB08318B-F1A0-41DE-91B9-499181B71325}" srcOrd="2" destOrd="0" presId="urn:microsoft.com/office/officeart/2009/3/layout/StepUpProcess"/>
    <dgm:cxn modelId="{B3493729-A6F3-410F-855D-F73370457199}" type="presParOf" srcId="{27D3F165-6432-4BA5-9890-7E430626C327}" destId="{ECF9C29E-215F-4D1C-805D-AEDF54F086AE}" srcOrd="1" destOrd="0" presId="urn:microsoft.com/office/officeart/2009/3/layout/StepUpProcess"/>
    <dgm:cxn modelId="{A7533178-E869-4939-B579-085EFAD0E0AF}" type="presParOf" srcId="{ECF9C29E-215F-4D1C-805D-AEDF54F086AE}" destId="{573AF1A1-E48B-4FC8-B0FC-B69835C7C083}" srcOrd="0" destOrd="0" presId="urn:microsoft.com/office/officeart/2009/3/layout/StepUpProcess"/>
    <dgm:cxn modelId="{A2E4A40C-4EEC-41E5-9B31-B1D0F922F4BE}" type="presParOf" srcId="{27D3F165-6432-4BA5-9890-7E430626C327}" destId="{C6EBD449-BD4A-42D4-AB1D-A1F8402567D6}" srcOrd="2" destOrd="0" presId="urn:microsoft.com/office/officeart/2009/3/layout/StepUpProcess"/>
    <dgm:cxn modelId="{7D4DD88C-E04F-4090-8319-98D42D4E4062}" type="presParOf" srcId="{C6EBD449-BD4A-42D4-AB1D-A1F8402567D6}" destId="{E9A4B992-D085-4A83-8826-FA39A5608E45}" srcOrd="0" destOrd="0" presId="urn:microsoft.com/office/officeart/2009/3/layout/StepUpProcess"/>
    <dgm:cxn modelId="{4E57CA18-EFCC-4953-B090-E5553301895C}" type="presParOf" srcId="{C6EBD449-BD4A-42D4-AB1D-A1F8402567D6}" destId="{DE30575C-4BB2-4DA9-8346-D41B55FC4C05}" srcOrd="1" destOrd="0" presId="urn:microsoft.com/office/officeart/2009/3/layout/StepUpProcess"/>
    <dgm:cxn modelId="{4063AD38-4243-4F29-9D39-244E032EB965}" type="presParOf" srcId="{C6EBD449-BD4A-42D4-AB1D-A1F8402567D6}" destId="{3C76DEF6-90FA-47AB-913E-0394E74D4047}" srcOrd="2" destOrd="0" presId="urn:microsoft.com/office/officeart/2009/3/layout/StepUpProcess"/>
    <dgm:cxn modelId="{4DB5A130-DE9A-472C-8092-146F4E24920E}" type="presParOf" srcId="{27D3F165-6432-4BA5-9890-7E430626C327}" destId="{275AA7DA-27CF-4DE9-944C-CCB522923575}" srcOrd="3" destOrd="0" presId="urn:microsoft.com/office/officeart/2009/3/layout/StepUpProcess"/>
    <dgm:cxn modelId="{ED842E4D-B63C-4135-9518-52E2C1651177}" type="presParOf" srcId="{275AA7DA-27CF-4DE9-944C-CCB522923575}" destId="{81526629-9BB1-4D7F-9FBD-A33DD5C2082A}" srcOrd="0" destOrd="0" presId="urn:microsoft.com/office/officeart/2009/3/layout/StepUpProcess"/>
    <dgm:cxn modelId="{177AA343-E516-4FF6-8B6F-1053F8A9D64F}" type="presParOf" srcId="{27D3F165-6432-4BA5-9890-7E430626C327}" destId="{51327BA6-3623-4CE3-9105-BBD9A01F960B}" srcOrd="4" destOrd="0" presId="urn:microsoft.com/office/officeart/2009/3/layout/StepUpProcess"/>
    <dgm:cxn modelId="{A2F3EC7D-24DC-4253-92B0-BF99EAC853F3}" type="presParOf" srcId="{51327BA6-3623-4CE3-9105-BBD9A01F960B}" destId="{07967DF4-B577-4488-8734-A3D1ABC12C48}" srcOrd="0" destOrd="0" presId="urn:microsoft.com/office/officeart/2009/3/layout/StepUpProcess"/>
    <dgm:cxn modelId="{2113155A-ABA6-46DD-B91A-18A07CD49D28}" type="presParOf" srcId="{51327BA6-3623-4CE3-9105-BBD9A01F960B}" destId="{5CA2852D-61C9-4E91-A686-5765F96BAEB1}" srcOrd="1" destOrd="0" presId="urn:microsoft.com/office/officeart/2009/3/layout/StepUp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CC7DF7-DB9F-446E-BA50-F412C937C835}" type="doc">
      <dgm:prSet loTypeId="urn:microsoft.com/office/officeart/2005/8/layout/hChevron3" loCatId="process" qsTypeId="urn:microsoft.com/office/officeart/2005/8/quickstyle/simple1" qsCatId="simple" csTypeId="urn:microsoft.com/office/officeart/2005/8/colors/accent1_2" csCatId="accent1" phldr="1"/>
      <dgm:spPr/>
    </dgm:pt>
    <dgm:pt modelId="{64CCA924-8572-4D4A-BC93-FCF6F22C19E9}">
      <dgm:prSet phldrT="[Text]"/>
      <dgm:spPr>
        <a:solidFill>
          <a:schemeClr val="accent5"/>
        </a:solidFill>
      </dgm:spPr>
      <dgm:t>
        <a:bodyPr/>
        <a:lstStyle/>
        <a:p>
          <a:r>
            <a:rPr lang="en-IN" b="1" dirty="0"/>
            <a:t>3x softer than cotton</a:t>
          </a:r>
          <a:endParaRPr lang="en-US" b="1" dirty="0"/>
        </a:p>
      </dgm:t>
    </dgm:pt>
    <dgm:pt modelId="{D6C95AEF-EFB4-430C-BE24-E3E738F32711}" type="parTrans" cxnId="{E82EBCD8-48A4-48FE-A8C5-1BFD18BD74A8}">
      <dgm:prSet/>
      <dgm:spPr/>
      <dgm:t>
        <a:bodyPr/>
        <a:lstStyle/>
        <a:p>
          <a:endParaRPr lang="en-US"/>
        </a:p>
      </dgm:t>
    </dgm:pt>
    <dgm:pt modelId="{945BCFD5-A574-4ED4-996F-FA2FE1771062}" type="sibTrans" cxnId="{E82EBCD8-48A4-48FE-A8C5-1BFD18BD74A8}">
      <dgm:prSet/>
      <dgm:spPr/>
      <dgm:t>
        <a:bodyPr/>
        <a:lstStyle/>
        <a:p>
          <a:endParaRPr lang="en-US"/>
        </a:p>
      </dgm:t>
    </dgm:pt>
    <dgm:pt modelId="{B72F0DDB-BA01-477F-9CA5-3F73B122D774}">
      <dgm:prSet phldrT="[Text]"/>
      <dgm:spPr>
        <a:solidFill>
          <a:schemeClr val="accent5"/>
        </a:solidFill>
      </dgm:spPr>
      <dgm:t>
        <a:bodyPr/>
        <a:lstStyle/>
        <a:p>
          <a:r>
            <a:rPr lang="en-IN" b="1" dirty="0"/>
            <a:t>Enablers of sleep</a:t>
          </a:r>
          <a:endParaRPr lang="en-US" b="1" dirty="0"/>
        </a:p>
      </dgm:t>
    </dgm:pt>
    <dgm:pt modelId="{DC687AE8-BEC9-4806-95CD-31BBF093867B}" type="parTrans" cxnId="{740D9527-A550-49E1-B740-1BA75FCDBA1C}">
      <dgm:prSet/>
      <dgm:spPr/>
      <dgm:t>
        <a:bodyPr/>
        <a:lstStyle/>
        <a:p>
          <a:endParaRPr lang="en-US"/>
        </a:p>
      </dgm:t>
    </dgm:pt>
    <dgm:pt modelId="{8EE11868-3321-40F7-8821-2FACD9052D7A}" type="sibTrans" cxnId="{740D9527-A550-49E1-B740-1BA75FCDBA1C}">
      <dgm:prSet/>
      <dgm:spPr/>
      <dgm:t>
        <a:bodyPr/>
        <a:lstStyle/>
        <a:p>
          <a:endParaRPr lang="en-US"/>
        </a:p>
      </dgm:t>
    </dgm:pt>
    <dgm:pt modelId="{AF3699FB-2F75-4606-AF0C-060429B26F8B}">
      <dgm:prSet phldrT="[Text]"/>
      <dgm:spPr>
        <a:solidFill>
          <a:schemeClr val="accent5"/>
        </a:solidFill>
      </dgm:spPr>
      <dgm:t>
        <a:bodyPr/>
        <a:lstStyle/>
        <a:p>
          <a:r>
            <a:rPr lang="en-IN" b="1" dirty="0"/>
            <a:t>Safe as a mother’s womb</a:t>
          </a:r>
          <a:endParaRPr lang="en-US" b="1" dirty="0"/>
        </a:p>
      </dgm:t>
    </dgm:pt>
    <dgm:pt modelId="{69B11482-BE22-417D-8D2B-7470CBE64AAC}" type="parTrans" cxnId="{4CEB0818-9AD9-4926-98D9-8B67B2386E65}">
      <dgm:prSet/>
      <dgm:spPr/>
      <dgm:t>
        <a:bodyPr/>
        <a:lstStyle/>
        <a:p>
          <a:endParaRPr lang="en-US"/>
        </a:p>
      </dgm:t>
    </dgm:pt>
    <dgm:pt modelId="{1A109F74-6574-4551-9A2F-ADBF031BD58C}" type="sibTrans" cxnId="{4CEB0818-9AD9-4926-98D9-8B67B2386E65}">
      <dgm:prSet/>
      <dgm:spPr/>
      <dgm:t>
        <a:bodyPr/>
        <a:lstStyle/>
        <a:p>
          <a:endParaRPr lang="en-US"/>
        </a:p>
      </dgm:t>
    </dgm:pt>
    <dgm:pt modelId="{6ECC7425-077E-4873-95FE-B7781F5C395A}">
      <dgm:prSet phldrT="[Text]"/>
      <dgm:spPr>
        <a:solidFill>
          <a:schemeClr val="accent5"/>
        </a:solidFill>
      </dgm:spPr>
      <dgm:t>
        <a:bodyPr/>
        <a:lstStyle/>
        <a:p>
          <a:r>
            <a:rPr lang="en-IN" b="1" dirty="0"/>
            <a:t>A conscious choice</a:t>
          </a:r>
          <a:endParaRPr lang="en-US" b="1" dirty="0"/>
        </a:p>
      </dgm:t>
    </dgm:pt>
    <dgm:pt modelId="{7D185959-7D57-4B19-8BFD-CEA2973C7F1B}" type="parTrans" cxnId="{D58A837C-66C4-4446-B298-676CCCCF188C}">
      <dgm:prSet/>
      <dgm:spPr/>
      <dgm:t>
        <a:bodyPr/>
        <a:lstStyle/>
        <a:p>
          <a:endParaRPr lang="en-US"/>
        </a:p>
      </dgm:t>
    </dgm:pt>
    <dgm:pt modelId="{D53D7172-0436-4BCB-BB45-641713E1EA3F}" type="sibTrans" cxnId="{D58A837C-66C4-4446-B298-676CCCCF188C}">
      <dgm:prSet/>
      <dgm:spPr/>
      <dgm:t>
        <a:bodyPr/>
        <a:lstStyle/>
        <a:p>
          <a:endParaRPr lang="en-US"/>
        </a:p>
      </dgm:t>
    </dgm:pt>
    <dgm:pt modelId="{D5CB6739-439E-4A14-A982-0C0EEB4002CC}" type="pres">
      <dgm:prSet presAssocID="{0ECC7DF7-DB9F-446E-BA50-F412C937C835}" presName="Name0" presStyleCnt="0">
        <dgm:presLayoutVars>
          <dgm:dir/>
          <dgm:resizeHandles val="exact"/>
        </dgm:presLayoutVars>
      </dgm:prSet>
      <dgm:spPr/>
    </dgm:pt>
    <dgm:pt modelId="{0602C9AA-1855-43F9-A75D-D14AB31F74B6}" type="pres">
      <dgm:prSet presAssocID="{64CCA924-8572-4D4A-BC93-FCF6F22C19E9}" presName="parTxOnly" presStyleLbl="node1" presStyleIdx="0" presStyleCnt="4">
        <dgm:presLayoutVars>
          <dgm:bulletEnabled val="1"/>
        </dgm:presLayoutVars>
      </dgm:prSet>
      <dgm:spPr/>
    </dgm:pt>
    <dgm:pt modelId="{3568C2B3-A8AC-45FB-B68C-17D52603B840}" type="pres">
      <dgm:prSet presAssocID="{945BCFD5-A574-4ED4-996F-FA2FE1771062}" presName="parSpace" presStyleCnt="0"/>
      <dgm:spPr/>
    </dgm:pt>
    <dgm:pt modelId="{AD2021B5-AA2D-4200-905C-81F42BCC9C6B}" type="pres">
      <dgm:prSet presAssocID="{B72F0DDB-BA01-477F-9CA5-3F73B122D774}" presName="parTxOnly" presStyleLbl="node1" presStyleIdx="1" presStyleCnt="4">
        <dgm:presLayoutVars>
          <dgm:bulletEnabled val="1"/>
        </dgm:presLayoutVars>
      </dgm:prSet>
      <dgm:spPr/>
    </dgm:pt>
    <dgm:pt modelId="{B1475AD7-97CD-49D4-80BF-9988C4F25BEB}" type="pres">
      <dgm:prSet presAssocID="{8EE11868-3321-40F7-8821-2FACD9052D7A}" presName="parSpace" presStyleCnt="0"/>
      <dgm:spPr/>
    </dgm:pt>
    <dgm:pt modelId="{69A5B0BF-F29D-432C-8CCE-284722C0E7AC}" type="pres">
      <dgm:prSet presAssocID="{AF3699FB-2F75-4606-AF0C-060429B26F8B}" presName="parTxOnly" presStyleLbl="node1" presStyleIdx="2" presStyleCnt="4">
        <dgm:presLayoutVars>
          <dgm:bulletEnabled val="1"/>
        </dgm:presLayoutVars>
      </dgm:prSet>
      <dgm:spPr/>
    </dgm:pt>
    <dgm:pt modelId="{F90C3F7D-D7E5-4F75-B82D-319A14765857}" type="pres">
      <dgm:prSet presAssocID="{1A109F74-6574-4551-9A2F-ADBF031BD58C}" presName="parSpace" presStyleCnt="0"/>
      <dgm:spPr/>
    </dgm:pt>
    <dgm:pt modelId="{63B62E7F-C8E1-4527-9C0D-33B829AB1A9D}" type="pres">
      <dgm:prSet presAssocID="{6ECC7425-077E-4873-95FE-B7781F5C395A}" presName="parTxOnly" presStyleLbl="node1" presStyleIdx="3" presStyleCnt="4">
        <dgm:presLayoutVars>
          <dgm:bulletEnabled val="1"/>
        </dgm:presLayoutVars>
      </dgm:prSet>
      <dgm:spPr/>
    </dgm:pt>
  </dgm:ptLst>
  <dgm:cxnLst>
    <dgm:cxn modelId="{4CEB0818-9AD9-4926-98D9-8B67B2386E65}" srcId="{0ECC7DF7-DB9F-446E-BA50-F412C937C835}" destId="{AF3699FB-2F75-4606-AF0C-060429B26F8B}" srcOrd="2" destOrd="0" parTransId="{69B11482-BE22-417D-8D2B-7470CBE64AAC}" sibTransId="{1A109F74-6574-4551-9A2F-ADBF031BD58C}"/>
    <dgm:cxn modelId="{60638B26-967A-49F2-9ED9-D4B00D09B3DE}" type="presOf" srcId="{6ECC7425-077E-4873-95FE-B7781F5C395A}" destId="{63B62E7F-C8E1-4527-9C0D-33B829AB1A9D}" srcOrd="0" destOrd="0" presId="urn:microsoft.com/office/officeart/2005/8/layout/hChevron3"/>
    <dgm:cxn modelId="{740D9527-A550-49E1-B740-1BA75FCDBA1C}" srcId="{0ECC7DF7-DB9F-446E-BA50-F412C937C835}" destId="{B72F0DDB-BA01-477F-9CA5-3F73B122D774}" srcOrd="1" destOrd="0" parTransId="{DC687AE8-BEC9-4806-95CD-31BBF093867B}" sibTransId="{8EE11868-3321-40F7-8821-2FACD9052D7A}"/>
    <dgm:cxn modelId="{5C28C474-92BA-4B47-B37D-56C1CF7FB926}" type="presOf" srcId="{AF3699FB-2F75-4606-AF0C-060429B26F8B}" destId="{69A5B0BF-F29D-432C-8CCE-284722C0E7AC}" srcOrd="0" destOrd="0" presId="urn:microsoft.com/office/officeart/2005/8/layout/hChevron3"/>
    <dgm:cxn modelId="{D58A837C-66C4-4446-B298-676CCCCF188C}" srcId="{0ECC7DF7-DB9F-446E-BA50-F412C937C835}" destId="{6ECC7425-077E-4873-95FE-B7781F5C395A}" srcOrd="3" destOrd="0" parTransId="{7D185959-7D57-4B19-8BFD-CEA2973C7F1B}" sibTransId="{D53D7172-0436-4BCB-BB45-641713E1EA3F}"/>
    <dgm:cxn modelId="{EEDCF99F-6088-4614-B97D-7BD3DC38FFA9}" type="presOf" srcId="{0ECC7DF7-DB9F-446E-BA50-F412C937C835}" destId="{D5CB6739-439E-4A14-A982-0C0EEB4002CC}" srcOrd="0" destOrd="0" presId="urn:microsoft.com/office/officeart/2005/8/layout/hChevron3"/>
    <dgm:cxn modelId="{13D39FC1-4966-4868-B907-A68C0D2ACD68}" type="presOf" srcId="{B72F0DDB-BA01-477F-9CA5-3F73B122D774}" destId="{AD2021B5-AA2D-4200-905C-81F42BCC9C6B}" srcOrd="0" destOrd="0" presId="urn:microsoft.com/office/officeart/2005/8/layout/hChevron3"/>
    <dgm:cxn modelId="{E82EBCD8-48A4-48FE-A8C5-1BFD18BD74A8}" srcId="{0ECC7DF7-DB9F-446E-BA50-F412C937C835}" destId="{64CCA924-8572-4D4A-BC93-FCF6F22C19E9}" srcOrd="0" destOrd="0" parTransId="{D6C95AEF-EFB4-430C-BE24-E3E738F32711}" sibTransId="{945BCFD5-A574-4ED4-996F-FA2FE1771062}"/>
    <dgm:cxn modelId="{9FBC11E9-9654-44BA-ABEB-436AE1E74993}" type="presOf" srcId="{64CCA924-8572-4D4A-BC93-FCF6F22C19E9}" destId="{0602C9AA-1855-43F9-A75D-D14AB31F74B6}" srcOrd="0" destOrd="0" presId="urn:microsoft.com/office/officeart/2005/8/layout/hChevron3"/>
    <dgm:cxn modelId="{0F4B227D-2E84-4FEC-94D3-A1566251A986}" type="presParOf" srcId="{D5CB6739-439E-4A14-A982-0C0EEB4002CC}" destId="{0602C9AA-1855-43F9-A75D-D14AB31F74B6}" srcOrd="0" destOrd="0" presId="urn:microsoft.com/office/officeart/2005/8/layout/hChevron3"/>
    <dgm:cxn modelId="{F08AD45D-C4E2-4292-AC63-85C85717E19A}" type="presParOf" srcId="{D5CB6739-439E-4A14-A982-0C0EEB4002CC}" destId="{3568C2B3-A8AC-45FB-B68C-17D52603B840}" srcOrd="1" destOrd="0" presId="urn:microsoft.com/office/officeart/2005/8/layout/hChevron3"/>
    <dgm:cxn modelId="{03D445BD-E988-4389-9E00-3184FA50EE52}" type="presParOf" srcId="{D5CB6739-439E-4A14-A982-0C0EEB4002CC}" destId="{AD2021B5-AA2D-4200-905C-81F42BCC9C6B}" srcOrd="2" destOrd="0" presId="urn:microsoft.com/office/officeart/2005/8/layout/hChevron3"/>
    <dgm:cxn modelId="{4071B847-4EF4-4DA8-BEAC-64147923F804}" type="presParOf" srcId="{D5CB6739-439E-4A14-A982-0C0EEB4002CC}" destId="{B1475AD7-97CD-49D4-80BF-9988C4F25BEB}" srcOrd="3" destOrd="0" presId="urn:microsoft.com/office/officeart/2005/8/layout/hChevron3"/>
    <dgm:cxn modelId="{61E3161C-960C-4B1E-AB49-329F803F5412}" type="presParOf" srcId="{D5CB6739-439E-4A14-A982-0C0EEB4002CC}" destId="{69A5B0BF-F29D-432C-8CCE-284722C0E7AC}" srcOrd="4" destOrd="0" presId="urn:microsoft.com/office/officeart/2005/8/layout/hChevron3"/>
    <dgm:cxn modelId="{F38A5CFF-8133-45C9-914E-92DB16FDE122}" type="presParOf" srcId="{D5CB6739-439E-4A14-A982-0C0EEB4002CC}" destId="{F90C3F7D-D7E5-4F75-B82D-319A14765857}" srcOrd="5" destOrd="0" presId="urn:microsoft.com/office/officeart/2005/8/layout/hChevron3"/>
    <dgm:cxn modelId="{C520D304-8933-463D-8511-68182438B2EF}" type="presParOf" srcId="{D5CB6739-439E-4A14-A982-0C0EEB4002CC}" destId="{63B62E7F-C8E1-4527-9C0D-33B829AB1A9D}" srcOrd="6" destOrd="0" presId="urn:microsoft.com/office/officeart/2005/8/layout/hChevron3"/>
  </dgm:cxnLst>
  <dgm:bg>
    <a:noFill/>
  </dgm:bg>
  <dgm:whole/>
  <dgm:extLst>
    <a:ext uri="http://schemas.microsoft.com/office/drawing/2008/diagram">
      <dsp:dataModelExt xmlns:dsp="http://schemas.microsoft.com/office/drawing/2008/diagram" relId="rId1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CDB312-90CA-407C-BF72-9079F0CD4BE9}">
      <dsp:nvSpPr>
        <dsp:cNvPr id="0" name=""/>
        <dsp:cNvSpPr/>
      </dsp:nvSpPr>
      <dsp:spPr>
        <a:xfrm rot="5400000">
          <a:off x="257287" y="884380"/>
          <a:ext cx="721950" cy="1201308"/>
        </a:xfrm>
        <a:prstGeom prst="corner">
          <a:avLst>
            <a:gd name="adj1" fmla="val 16120"/>
            <a:gd name="adj2" fmla="val 16110"/>
          </a:avLst>
        </a:prstGeom>
        <a:solidFill>
          <a:schemeClr val="accent5"/>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9B2409-11F4-427E-9544-B615B8CDA337}">
      <dsp:nvSpPr>
        <dsp:cNvPr id="0" name=""/>
        <dsp:cNvSpPr/>
      </dsp:nvSpPr>
      <dsp:spPr>
        <a:xfrm>
          <a:off x="152637" y="1251707"/>
          <a:ext cx="1357626" cy="950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kern="1200" dirty="0"/>
            <a:t>Realised the benefits of bamboo fabric for their kids over other fabrics</a:t>
          </a:r>
          <a:endParaRPr lang="en-US" sz="1200" kern="1200" dirty="0"/>
        </a:p>
      </dsp:txBody>
      <dsp:txXfrm>
        <a:off x="152637" y="1251707"/>
        <a:ext cx="1357626" cy="950670"/>
      </dsp:txXfrm>
    </dsp:sp>
    <dsp:sp modelId="{AB08318B-F1A0-41DE-91B9-499181B71325}">
      <dsp:nvSpPr>
        <dsp:cNvPr id="0" name=""/>
        <dsp:cNvSpPr/>
      </dsp:nvSpPr>
      <dsp:spPr>
        <a:xfrm>
          <a:off x="1016693" y="795938"/>
          <a:ext cx="204631" cy="204631"/>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A4B992-D085-4A83-8826-FA39A5608E45}">
      <dsp:nvSpPr>
        <dsp:cNvPr id="0" name=""/>
        <dsp:cNvSpPr/>
      </dsp:nvSpPr>
      <dsp:spPr>
        <a:xfrm rot="5400000">
          <a:off x="1744477" y="555839"/>
          <a:ext cx="721950" cy="1201308"/>
        </a:xfrm>
        <a:prstGeom prst="corner">
          <a:avLst>
            <a:gd name="adj1" fmla="val 16120"/>
            <a:gd name="adj2" fmla="val 16110"/>
          </a:avLst>
        </a:prstGeom>
        <a:solidFill>
          <a:schemeClr val="accent5"/>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30575C-4BB2-4DA9-8346-D41B55FC4C05}">
      <dsp:nvSpPr>
        <dsp:cNvPr id="0" name=""/>
        <dsp:cNvSpPr/>
      </dsp:nvSpPr>
      <dsp:spPr>
        <a:xfrm>
          <a:off x="1659680" y="927121"/>
          <a:ext cx="1368786" cy="950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kern="1200" dirty="0"/>
            <a:t>Agreed to try bamboo fabric for their kids while considering higher price point. Major concern was health consciousness</a:t>
          </a:r>
          <a:endParaRPr lang="en-US" sz="1200" kern="1200" dirty="0"/>
        </a:p>
      </dsp:txBody>
      <dsp:txXfrm>
        <a:off x="1659680" y="927121"/>
        <a:ext cx="1368786" cy="950670"/>
      </dsp:txXfrm>
    </dsp:sp>
    <dsp:sp modelId="{3C76DEF6-90FA-47AB-913E-0394E74D4047}">
      <dsp:nvSpPr>
        <dsp:cNvPr id="0" name=""/>
        <dsp:cNvSpPr/>
      </dsp:nvSpPr>
      <dsp:spPr>
        <a:xfrm>
          <a:off x="2503882" y="467398"/>
          <a:ext cx="204631" cy="204631"/>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967DF4-B577-4488-8734-A3D1ABC12C48}">
      <dsp:nvSpPr>
        <dsp:cNvPr id="0" name=""/>
        <dsp:cNvSpPr/>
      </dsp:nvSpPr>
      <dsp:spPr>
        <a:xfrm rot="5400000">
          <a:off x="3203135" y="227299"/>
          <a:ext cx="721950" cy="1201308"/>
        </a:xfrm>
        <a:prstGeom prst="corner">
          <a:avLst>
            <a:gd name="adj1" fmla="val 16120"/>
            <a:gd name="adj2" fmla="val 16110"/>
          </a:avLst>
        </a:prstGeom>
        <a:solidFill>
          <a:schemeClr val="accent5"/>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A2852D-61C9-4E91-A686-5765F96BAEB1}">
      <dsp:nvSpPr>
        <dsp:cNvPr id="0" name=""/>
        <dsp:cNvSpPr/>
      </dsp:nvSpPr>
      <dsp:spPr>
        <a:xfrm>
          <a:off x="3082624" y="586232"/>
          <a:ext cx="1084548" cy="950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kern="1200" dirty="0"/>
            <a:t>Did not know if any brand offering bamboo fabric Kids wear in India</a:t>
          </a:r>
          <a:endParaRPr lang="en-US" sz="1200" kern="1200" dirty="0"/>
        </a:p>
      </dsp:txBody>
      <dsp:txXfrm>
        <a:off x="3082624" y="586232"/>
        <a:ext cx="1084548" cy="9506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02C9AA-1855-43F9-A75D-D14AB31F74B6}">
      <dsp:nvSpPr>
        <dsp:cNvPr id="0" name=""/>
        <dsp:cNvSpPr/>
      </dsp:nvSpPr>
      <dsp:spPr>
        <a:xfrm>
          <a:off x="1633" y="0"/>
          <a:ext cx="1638559" cy="568438"/>
        </a:xfrm>
        <a:prstGeom prst="homePlate">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32004" rIns="16002" bIns="32004" numCol="1" spcCol="1270" anchor="ctr" anchorCtr="0">
          <a:noAutofit/>
        </a:bodyPr>
        <a:lstStyle/>
        <a:p>
          <a:pPr marL="0" lvl="0" indent="0" algn="ctr" defTabSz="533400">
            <a:lnSpc>
              <a:spcPct val="90000"/>
            </a:lnSpc>
            <a:spcBef>
              <a:spcPct val="0"/>
            </a:spcBef>
            <a:spcAft>
              <a:spcPct val="35000"/>
            </a:spcAft>
            <a:buNone/>
          </a:pPr>
          <a:r>
            <a:rPr lang="en-IN" sz="1200" b="1" kern="1200" dirty="0"/>
            <a:t>3x softer than cotton</a:t>
          </a:r>
          <a:endParaRPr lang="en-US" sz="1200" b="1" kern="1200" dirty="0"/>
        </a:p>
      </dsp:txBody>
      <dsp:txXfrm>
        <a:off x="1633" y="0"/>
        <a:ext cx="1496450" cy="568438"/>
      </dsp:txXfrm>
    </dsp:sp>
    <dsp:sp modelId="{AD2021B5-AA2D-4200-905C-81F42BCC9C6B}">
      <dsp:nvSpPr>
        <dsp:cNvPr id="0" name=""/>
        <dsp:cNvSpPr/>
      </dsp:nvSpPr>
      <dsp:spPr>
        <a:xfrm>
          <a:off x="1312481" y="0"/>
          <a:ext cx="1638559" cy="568438"/>
        </a:xfrm>
        <a:prstGeom prst="chevron">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32004" rIns="16002" bIns="32004" numCol="1" spcCol="1270" anchor="ctr" anchorCtr="0">
          <a:noAutofit/>
        </a:bodyPr>
        <a:lstStyle/>
        <a:p>
          <a:pPr marL="0" lvl="0" indent="0" algn="ctr" defTabSz="533400">
            <a:lnSpc>
              <a:spcPct val="90000"/>
            </a:lnSpc>
            <a:spcBef>
              <a:spcPct val="0"/>
            </a:spcBef>
            <a:spcAft>
              <a:spcPct val="35000"/>
            </a:spcAft>
            <a:buNone/>
          </a:pPr>
          <a:r>
            <a:rPr lang="en-IN" sz="1200" b="1" kern="1200" dirty="0"/>
            <a:t>Enablers of sleep</a:t>
          </a:r>
          <a:endParaRPr lang="en-US" sz="1200" b="1" kern="1200" dirty="0"/>
        </a:p>
      </dsp:txBody>
      <dsp:txXfrm>
        <a:off x="1596700" y="0"/>
        <a:ext cx="1070121" cy="568438"/>
      </dsp:txXfrm>
    </dsp:sp>
    <dsp:sp modelId="{69A5B0BF-F29D-432C-8CCE-284722C0E7AC}">
      <dsp:nvSpPr>
        <dsp:cNvPr id="0" name=""/>
        <dsp:cNvSpPr/>
      </dsp:nvSpPr>
      <dsp:spPr>
        <a:xfrm>
          <a:off x="2623329" y="0"/>
          <a:ext cx="1638559" cy="568438"/>
        </a:xfrm>
        <a:prstGeom prst="chevron">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32004" rIns="16002" bIns="32004" numCol="1" spcCol="1270" anchor="ctr" anchorCtr="0">
          <a:noAutofit/>
        </a:bodyPr>
        <a:lstStyle/>
        <a:p>
          <a:pPr marL="0" lvl="0" indent="0" algn="ctr" defTabSz="533400">
            <a:lnSpc>
              <a:spcPct val="90000"/>
            </a:lnSpc>
            <a:spcBef>
              <a:spcPct val="0"/>
            </a:spcBef>
            <a:spcAft>
              <a:spcPct val="35000"/>
            </a:spcAft>
            <a:buNone/>
          </a:pPr>
          <a:r>
            <a:rPr lang="en-IN" sz="1200" b="1" kern="1200" dirty="0"/>
            <a:t>Safe as a mother’s womb</a:t>
          </a:r>
          <a:endParaRPr lang="en-US" sz="1200" b="1" kern="1200" dirty="0"/>
        </a:p>
      </dsp:txBody>
      <dsp:txXfrm>
        <a:off x="2907548" y="0"/>
        <a:ext cx="1070121" cy="568438"/>
      </dsp:txXfrm>
    </dsp:sp>
    <dsp:sp modelId="{63B62E7F-C8E1-4527-9C0D-33B829AB1A9D}">
      <dsp:nvSpPr>
        <dsp:cNvPr id="0" name=""/>
        <dsp:cNvSpPr/>
      </dsp:nvSpPr>
      <dsp:spPr>
        <a:xfrm>
          <a:off x="3934176" y="0"/>
          <a:ext cx="1638559" cy="568438"/>
        </a:xfrm>
        <a:prstGeom prst="chevron">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32004" rIns="16002" bIns="32004" numCol="1" spcCol="1270" anchor="ctr" anchorCtr="0">
          <a:noAutofit/>
        </a:bodyPr>
        <a:lstStyle/>
        <a:p>
          <a:pPr marL="0" lvl="0" indent="0" algn="ctr" defTabSz="533400">
            <a:lnSpc>
              <a:spcPct val="90000"/>
            </a:lnSpc>
            <a:spcBef>
              <a:spcPct val="0"/>
            </a:spcBef>
            <a:spcAft>
              <a:spcPct val="35000"/>
            </a:spcAft>
            <a:buNone/>
          </a:pPr>
          <a:r>
            <a:rPr lang="en-IN" sz="1200" b="1" kern="1200" dirty="0"/>
            <a:t>A conscious choice</a:t>
          </a:r>
          <a:endParaRPr lang="en-US" sz="1200" b="1" kern="1200" dirty="0"/>
        </a:p>
      </dsp:txBody>
      <dsp:txXfrm>
        <a:off x="4218395" y="0"/>
        <a:ext cx="1070121" cy="568438"/>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EE4460-F266-4F0C-8AD7-7106C1351414}" type="datetimeFigureOut">
              <a:rPr lang="en-US" smtClean="0"/>
              <a:t>8/14/2022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60613A-8319-44F0-94BB-102C8211B9C9}" type="slidenum">
              <a:rPr lang="en-US" smtClean="0"/>
              <a:t>‹#›</a:t>
            </a:fld>
            <a:endParaRPr lang="en-US"/>
          </a:p>
        </p:txBody>
      </p:sp>
    </p:spTree>
    <p:extLst>
      <p:ext uri="{BB962C8B-B14F-4D97-AF65-F5344CB8AC3E}">
        <p14:creationId xmlns:p14="http://schemas.microsoft.com/office/powerpoint/2010/main" val="2902015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60613A-8319-44F0-94BB-102C8211B9C9}" type="slidenum">
              <a:rPr lang="en-US" smtClean="0"/>
              <a:t>3</a:t>
            </a:fld>
            <a:endParaRPr lang="en-US"/>
          </a:p>
        </p:txBody>
      </p:sp>
    </p:spTree>
    <p:extLst>
      <p:ext uri="{BB962C8B-B14F-4D97-AF65-F5344CB8AC3E}">
        <p14:creationId xmlns:p14="http://schemas.microsoft.com/office/powerpoint/2010/main" val="3368403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78E81-68B6-63BA-AC26-C8862055E6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E8C4D6-9E91-88FD-0EB1-29F1AC136E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C121C8-FD3F-966F-A649-37E7E5AC6433}"/>
              </a:ext>
            </a:extLst>
          </p:cNvPr>
          <p:cNvSpPr>
            <a:spLocks noGrp="1"/>
          </p:cNvSpPr>
          <p:nvPr>
            <p:ph type="dt" sz="half" idx="10"/>
          </p:nvPr>
        </p:nvSpPr>
        <p:spPr/>
        <p:txBody>
          <a:bodyPr/>
          <a:lstStyle/>
          <a:p>
            <a:fld id="{BAD3443B-B985-4277-BA59-A7E91F4CCBF5}" type="datetimeFigureOut">
              <a:rPr lang="en-US" smtClean="0"/>
              <a:t>8/14/2022</a:t>
            </a:fld>
            <a:endParaRPr lang="en-US"/>
          </a:p>
        </p:txBody>
      </p:sp>
      <p:sp>
        <p:nvSpPr>
          <p:cNvPr id="5" name="Footer Placeholder 4">
            <a:extLst>
              <a:ext uri="{FF2B5EF4-FFF2-40B4-BE49-F238E27FC236}">
                <a16:creationId xmlns:a16="http://schemas.microsoft.com/office/drawing/2014/main" id="{A838EDA1-1B2E-6BFB-463A-632D6ABD44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587A17-A0D1-E2A6-B2EF-181E4D835EF3}"/>
              </a:ext>
            </a:extLst>
          </p:cNvPr>
          <p:cNvSpPr>
            <a:spLocks noGrp="1"/>
          </p:cNvSpPr>
          <p:nvPr>
            <p:ph type="sldNum" sz="quarter" idx="12"/>
          </p:nvPr>
        </p:nvSpPr>
        <p:spPr/>
        <p:txBody>
          <a:bodyPr/>
          <a:lstStyle/>
          <a:p>
            <a:fld id="{06E9994E-3850-461A-BE95-912EE01ABC1F}" type="slidenum">
              <a:rPr lang="en-US" smtClean="0"/>
              <a:t>‹#›</a:t>
            </a:fld>
            <a:endParaRPr lang="en-US"/>
          </a:p>
        </p:txBody>
      </p:sp>
    </p:spTree>
    <p:extLst>
      <p:ext uri="{BB962C8B-B14F-4D97-AF65-F5344CB8AC3E}">
        <p14:creationId xmlns:p14="http://schemas.microsoft.com/office/powerpoint/2010/main" val="2062500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50BB-ECDC-BCB5-0CF3-615DDFA7DF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89FDE7-6CC4-C447-E36D-DA21475D66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7BD53-EEE3-4591-37E8-D636DEFC8485}"/>
              </a:ext>
            </a:extLst>
          </p:cNvPr>
          <p:cNvSpPr>
            <a:spLocks noGrp="1"/>
          </p:cNvSpPr>
          <p:nvPr>
            <p:ph type="dt" sz="half" idx="10"/>
          </p:nvPr>
        </p:nvSpPr>
        <p:spPr/>
        <p:txBody>
          <a:bodyPr/>
          <a:lstStyle/>
          <a:p>
            <a:fld id="{BAD3443B-B985-4277-BA59-A7E91F4CCBF5}" type="datetimeFigureOut">
              <a:rPr lang="en-US" smtClean="0"/>
              <a:t>8/14/2022</a:t>
            </a:fld>
            <a:endParaRPr lang="en-US"/>
          </a:p>
        </p:txBody>
      </p:sp>
      <p:sp>
        <p:nvSpPr>
          <p:cNvPr id="5" name="Footer Placeholder 4">
            <a:extLst>
              <a:ext uri="{FF2B5EF4-FFF2-40B4-BE49-F238E27FC236}">
                <a16:creationId xmlns:a16="http://schemas.microsoft.com/office/drawing/2014/main" id="{A37A8993-C919-8B57-17B5-906F2D853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4D026A-09B3-CD0F-7A86-8E7276364302}"/>
              </a:ext>
            </a:extLst>
          </p:cNvPr>
          <p:cNvSpPr>
            <a:spLocks noGrp="1"/>
          </p:cNvSpPr>
          <p:nvPr>
            <p:ph type="sldNum" sz="quarter" idx="12"/>
          </p:nvPr>
        </p:nvSpPr>
        <p:spPr/>
        <p:txBody>
          <a:bodyPr/>
          <a:lstStyle/>
          <a:p>
            <a:fld id="{06E9994E-3850-461A-BE95-912EE01ABC1F}" type="slidenum">
              <a:rPr lang="en-US" smtClean="0"/>
              <a:t>‹#›</a:t>
            </a:fld>
            <a:endParaRPr lang="en-US"/>
          </a:p>
        </p:txBody>
      </p:sp>
    </p:spTree>
    <p:extLst>
      <p:ext uri="{BB962C8B-B14F-4D97-AF65-F5344CB8AC3E}">
        <p14:creationId xmlns:p14="http://schemas.microsoft.com/office/powerpoint/2010/main" val="802403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8BE4-8A15-CE4B-DE83-D1323D4ABD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575674-976C-C12A-3316-A3784A7EF2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28EE45-7E07-037B-8471-21BE4EDD70D7}"/>
              </a:ext>
            </a:extLst>
          </p:cNvPr>
          <p:cNvSpPr>
            <a:spLocks noGrp="1"/>
          </p:cNvSpPr>
          <p:nvPr>
            <p:ph type="dt" sz="half" idx="10"/>
          </p:nvPr>
        </p:nvSpPr>
        <p:spPr/>
        <p:txBody>
          <a:bodyPr/>
          <a:lstStyle/>
          <a:p>
            <a:fld id="{BAD3443B-B985-4277-BA59-A7E91F4CCBF5}" type="datetimeFigureOut">
              <a:rPr lang="en-US" smtClean="0"/>
              <a:t>8/14/2022</a:t>
            </a:fld>
            <a:endParaRPr lang="en-US"/>
          </a:p>
        </p:txBody>
      </p:sp>
      <p:sp>
        <p:nvSpPr>
          <p:cNvPr id="5" name="Footer Placeholder 4">
            <a:extLst>
              <a:ext uri="{FF2B5EF4-FFF2-40B4-BE49-F238E27FC236}">
                <a16:creationId xmlns:a16="http://schemas.microsoft.com/office/drawing/2014/main" id="{08C01E8F-803D-222A-05E0-324DE5B5D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8FAE6B-F60D-5A7C-E3E8-28DF3CC373C2}"/>
              </a:ext>
            </a:extLst>
          </p:cNvPr>
          <p:cNvSpPr>
            <a:spLocks noGrp="1"/>
          </p:cNvSpPr>
          <p:nvPr>
            <p:ph type="sldNum" sz="quarter" idx="12"/>
          </p:nvPr>
        </p:nvSpPr>
        <p:spPr/>
        <p:txBody>
          <a:bodyPr/>
          <a:lstStyle/>
          <a:p>
            <a:fld id="{06E9994E-3850-461A-BE95-912EE01ABC1F}" type="slidenum">
              <a:rPr lang="en-US" smtClean="0"/>
              <a:t>‹#›</a:t>
            </a:fld>
            <a:endParaRPr lang="en-US"/>
          </a:p>
        </p:txBody>
      </p:sp>
    </p:spTree>
    <p:extLst>
      <p:ext uri="{BB962C8B-B14F-4D97-AF65-F5344CB8AC3E}">
        <p14:creationId xmlns:p14="http://schemas.microsoft.com/office/powerpoint/2010/main" val="1934146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0DAD8-0975-B665-7BD5-C8B97AD2B5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E61DB6-93E0-93B9-0055-01869D9940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060CE0-D854-46A4-4752-30C9B239DA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C174E3-EAF1-08B0-D889-11DC2613D3C9}"/>
              </a:ext>
            </a:extLst>
          </p:cNvPr>
          <p:cNvSpPr>
            <a:spLocks noGrp="1"/>
          </p:cNvSpPr>
          <p:nvPr>
            <p:ph type="dt" sz="half" idx="10"/>
          </p:nvPr>
        </p:nvSpPr>
        <p:spPr/>
        <p:txBody>
          <a:bodyPr/>
          <a:lstStyle/>
          <a:p>
            <a:fld id="{BAD3443B-B985-4277-BA59-A7E91F4CCBF5}" type="datetimeFigureOut">
              <a:rPr lang="en-US" smtClean="0"/>
              <a:t>8/14/2022</a:t>
            </a:fld>
            <a:endParaRPr lang="en-US"/>
          </a:p>
        </p:txBody>
      </p:sp>
      <p:sp>
        <p:nvSpPr>
          <p:cNvPr id="6" name="Footer Placeholder 5">
            <a:extLst>
              <a:ext uri="{FF2B5EF4-FFF2-40B4-BE49-F238E27FC236}">
                <a16:creationId xmlns:a16="http://schemas.microsoft.com/office/drawing/2014/main" id="{78DD81A1-9BC5-1DC5-663E-7868C73EE7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9A7445-1160-3DF3-BA10-E0585E4B89C8}"/>
              </a:ext>
            </a:extLst>
          </p:cNvPr>
          <p:cNvSpPr>
            <a:spLocks noGrp="1"/>
          </p:cNvSpPr>
          <p:nvPr>
            <p:ph type="sldNum" sz="quarter" idx="12"/>
          </p:nvPr>
        </p:nvSpPr>
        <p:spPr/>
        <p:txBody>
          <a:bodyPr/>
          <a:lstStyle/>
          <a:p>
            <a:fld id="{06E9994E-3850-461A-BE95-912EE01ABC1F}" type="slidenum">
              <a:rPr lang="en-US" smtClean="0"/>
              <a:t>‹#›</a:t>
            </a:fld>
            <a:endParaRPr lang="en-US"/>
          </a:p>
        </p:txBody>
      </p:sp>
    </p:spTree>
    <p:extLst>
      <p:ext uri="{BB962C8B-B14F-4D97-AF65-F5344CB8AC3E}">
        <p14:creationId xmlns:p14="http://schemas.microsoft.com/office/powerpoint/2010/main" val="2191105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9D0CA-7E37-39AB-08B6-DD84D2A039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4D2122-772B-7FB4-27CD-2E6E46911F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A0832E-258E-E90F-9FC2-8D2AC9DF70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0A68B8-B2B6-3FD2-C5BF-1AF9A8D89D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B979B5-5E87-55C4-EA01-4834677819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93C542-E64C-B9D2-28EF-8298D217B29F}"/>
              </a:ext>
            </a:extLst>
          </p:cNvPr>
          <p:cNvSpPr>
            <a:spLocks noGrp="1"/>
          </p:cNvSpPr>
          <p:nvPr>
            <p:ph type="dt" sz="half" idx="10"/>
          </p:nvPr>
        </p:nvSpPr>
        <p:spPr/>
        <p:txBody>
          <a:bodyPr/>
          <a:lstStyle/>
          <a:p>
            <a:fld id="{BAD3443B-B985-4277-BA59-A7E91F4CCBF5}" type="datetimeFigureOut">
              <a:rPr lang="en-US" smtClean="0"/>
              <a:t>8/14/2022</a:t>
            </a:fld>
            <a:endParaRPr lang="en-US"/>
          </a:p>
        </p:txBody>
      </p:sp>
      <p:sp>
        <p:nvSpPr>
          <p:cNvPr id="8" name="Footer Placeholder 7">
            <a:extLst>
              <a:ext uri="{FF2B5EF4-FFF2-40B4-BE49-F238E27FC236}">
                <a16:creationId xmlns:a16="http://schemas.microsoft.com/office/drawing/2014/main" id="{60D9CD5A-E30B-B69E-620E-99EA2F868C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D64C7C-0D95-C537-507E-72F318BF08CB}"/>
              </a:ext>
            </a:extLst>
          </p:cNvPr>
          <p:cNvSpPr>
            <a:spLocks noGrp="1"/>
          </p:cNvSpPr>
          <p:nvPr>
            <p:ph type="sldNum" sz="quarter" idx="12"/>
          </p:nvPr>
        </p:nvSpPr>
        <p:spPr/>
        <p:txBody>
          <a:bodyPr/>
          <a:lstStyle/>
          <a:p>
            <a:fld id="{06E9994E-3850-461A-BE95-912EE01ABC1F}" type="slidenum">
              <a:rPr lang="en-US" smtClean="0"/>
              <a:t>‹#›</a:t>
            </a:fld>
            <a:endParaRPr lang="en-US"/>
          </a:p>
        </p:txBody>
      </p:sp>
    </p:spTree>
    <p:extLst>
      <p:ext uri="{BB962C8B-B14F-4D97-AF65-F5344CB8AC3E}">
        <p14:creationId xmlns:p14="http://schemas.microsoft.com/office/powerpoint/2010/main" val="3727206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D0BC8-00FD-B0FF-3891-FB3A1BA3C9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EF015F-ED90-2A8E-19FD-C076DF489897}"/>
              </a:ext>
            </a:extLst>
          </p:cNvPr>
          <p:cNvSpPr>
            <a:spLocks noGrp="1"/>
          </p:cNvSpPr>
          <p:nvPr>
            <p:ph type="dt" sz="half" idx="10"/>
          </p:nvPr>
        </p:nvSpPr>
        <p:spPr/>
        <p:txBody>
          <a:bodyPr/>
          <a:lstStyle/>
          <a:p>
            <a:fld id="{BAD3443B-B985-4277-BA59-A7E91F4CCBF5}" type="datetimeFigureOut">
              <a:rPr lang="en-US" smtClean="0"/>
              <a:t>8/14/2022</a:t>
            </a:fld>
            <a:endParaRPr lang="en-US"/>
          </a:p>
        </p:txBody>
      </p:sp>
      <p:sp>
        <p:nvSpPr>
          <p:cNvPr id="4" name="Footer Placeholder 3">
            <a:extLst>
              <a:ext uri="{FF2B5EF4-FFF2-40B4-BE49-F238E27FC236}">
                <a16:creationId xmlns:a16="http://schemas.microsoft.com/office/drawing/2014/main" id="{6B4D1B93-FA72-C452-8DF2-C2CA9FADD1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1BE33E-028E-1474-2519-B58A6B74439A}"/>
              </a:ext>
            </a:extLst>
          </p:cNvPr>
          <p:cNvSpPr>
            <a:spLocks noGrp="1"/>
          </p:cNvSpPr>
          <p:nvPr>
            <p:ph type="sldNum" sz="quarter" idx="12"/>
          </p:nvPr>
        </p:nvSpPr>
        <p:spPr/>
        <p:txBody>
          <a:bodyPr/>
          <a:lstStyle/>
          <a:p>
            <a:fld id="{06E9994E-3850-461A-BE95-912EE01ABC1F}" type="slidenum">
              <a:rPr lang="en-US" smtClean="0"/>
              <a:t>‹#›</a:t>
            </a:fld>
            <a:endParaRPr lang="en-US"/>
          </a:p>
        </p:txBody>
      </p:sp>
    </p:spTree>
    <p:extLst>
      <p:ext uri="{BB962C8B-B14F-4D97-AF65-F5344CB8AC3E}">
        <p14:creationId xmlns:p14="http://schemas.microsoft.com/office/powerpoint/2010/main" val="2030588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C9F986-CE46-1271-FE40-B293EB071EDD}"/>
              </a:ext>
            </a:extLst>
          </p:cNvPr>
          <p:cNvSpPr>
            <a:spLocks noGrp="1"/>
          </p:cNvSpPr>
          <p:nvPr>
            <p:ph type="dt" sz="half" idx="10"/>
          </p:nvPr>
        </p:nvSpPr>
        <p:spPr/>
        <p:txBody>
          <a:bodyPr/>
          <a:lstStyle/>
          <a:p>
            <a:fld id="{BAD3443B-B985-4277-BA59-A7E91F4CCBF5}" type="datetimeFigureOut">
              <a:rPr lang="en-US" smtClean="0"/>
              <a:t>8/14/2022</a:t>
            </a:fld>
            <a:endParaRPr lang="en-US"/>
          </a:p>
        </p:txBody>
      </p:sp>
      <p:sp>
        <p:nvSpPr>
          <p:cNvPr id="3" name="Footer Placeholder 2">
            <a:extLst>
              <a:ext uri="{FF2B5EF4-FFF2-40B4-BE49-F238E27FC236}">
                <a16:creationId xmlns:a16="http://schemas.microsoft.com/office/drawing/2014/main" id="{7B1ADECD-8CFC-E578-973D-2A89654DA6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95C42D-6101-A15D-C95B-CD772BDBF21B}"/>
              </a:ext>
            </a:extLst>
          </p:cNvPr>
          <p:cNvSpPr>
            <a:spLocks noGrp="1"/>
          </p:cNvSpPr>
          <p:nvPr>
            <p:ph type="sldNum" sz="quarter" idx="12"/>
          </p:nvPr>
        </p:nvSpPr>
        <p:spPr/>
        <p:txBody>
          <a:bodyPr/>
          <a:lstStyle/>
          <a:p>
            <a:fld id="{06E9994E-3850-461A-BE95-912EE01ABC1F}" type="slidenum">
              <a:rPr lang="en-US" smtClean="0"/>
              <a:t>‹#›</a:t>
            </a:fld>
            <a:endParaRPr lang="en-US"/>
          </a:p>
        </p:txBody>
      </p:sp>
    </p:spTree>
    <p:extLst>
      <p:ext uri="{BB962C8B-B14F-4D97-AF65-F5344CB8AC3E}">
        <p14:creationId xmlns:p14="http://schemas.microsoft.com/office/powerpoint/2010/main" val="3994739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44E95-C4D7-1886-BDFF-7FD83AD21C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9BE2F7-9D13-CACF-D31D-80188556E9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3F68F9-D149-41D1-E789-5849A5A95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C12A35-83D8-D945-5A8F-B76D1A2EBEC2}"/>
              </a:ext>
            </a:extLst>
          </p:cNvPr>
          <p:cNvSpPr>
            <a:spLocks noGrp="1"/>
          </p:cNvSpPr>
          <p:nvPr>
            <p:ph type="dt" sz="half" idx="10"/>
          </p:nvPr>
        </p:nvSpPr>
        <p:spPr/>
        <p:txBody>
          <a:bodyPr/>
          <a:lstStyle/>
          <a:p>
            <a:fld id="{BAD3443B-B985-4277-BA59-A7E91F4CCBF5}" type="datetimeFigureOut">
              <a:rPr lang="en-US" smtClean="0"/>
              <a:t>8/14/2022</a:t>
            </a:fld>
            <a:endParaRPr lang="en-US"/>
          </a:p>
        </p:txBody>
      </p:sp>
      <p:sp>
        <p:nvSpPr>
          <p:cNvPr id="6" name="Footer Placeholder 5">
            <a:extLst>
              <a:ext uri="{FF2B5EF4-FFF2-40B4-BE49-F238E27FC236}">
                <a16:creationId xmlns:a16="http://schemas.microsoft.com/office/drawing/2014/main" id="{0AA4C4EC-6C60-0171-7935-3E217FE97D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B9EB94-C031-DAB9-9612-909D7957C204}"/>
              </a:ext>
            </a:extLst>
          </p:cNvPr>
          <p:cNvSpPr>
            <a:spLocks noGrp="1"/>
          </p:cNvSpPr>
          <p:nvPr>
            <p:ph type="sldNum" sz="quarter" idx="12"/>
          </p:nvPr>
        </p:nvSpPr>
        <p:spPr/>
        <p:txBody>
          <a:bodyPr/>
          <a:lstStyle/>
          <a:p>
            <a:fld id="{06E9994E-3850-461A-BE95-912EE01ABC1F}" type="slidenum">
              <a:rPr lang="en-US" smtClean="0"/>
              <a:t>‹#›</a:t>
            </a:fld>
            <a:endParaRPr lang="en-US"/>
          </a:p>
        </p:txBody>
      </p:sp>
    </p:spTree>
    <p:extLst>
      <p:ext uri="{BB962C8B-B14F-4D97-AF65-F5344CB8AC3E}">
        <p14:creationId xmlns:p14="http://schemas.microsoft.com/office/powerpoint/2010/main" val="3009678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B3F71-F6C1-D9C2-DBAF-52B0B11D72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01DA10-E3FA-8D15-EF6D-1D5B3AAFB4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017784-6F09-F217-4D11-C2F519F95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69EC81-785F-A248-58AA-9F5F1F289929}"/>
              </a:ext>
            </a:extLst>
          </p:cNvPr>
          <p:cNvSpPr>
            <a:spLocks noGrp="1"/>
          </p:cNvSpPr>
          <p:nvPr>
            <p:ph type="dt" sz="half" idx="10"/>
          </p:nvPr>
        </p:nvSpPr>
        <p:spPr/>
        <p:txBody>
          <a:bodyPr/>
          <a:lstStyle/>
          <a:p>
            <a:fld id="{BAD3443B-B985-4277-BA59-A7E91F4CCBF5}" type="datetimeFigureOut">
              <a:rPr lang="en-US" smtClean="0"/>
              <a:t>8/14/2022</a:t>
            </a:fld>
            <a:endParaRPr lang="en-US"/>
          </a:p>
        </p:txBody>
      </p:sp>
      <p:sp>
        <p:nvSpPr>
          <p:cNvPr id="6" name="Footer Placeholder 5">
            <a:extLst>
              <a:ext uri="{FF2B5EF4-FFF2-40B4-BE49-F238E27FC236}">
                <a16:creationId xmlns:a16="http://schemas.microsoft.com/office/drawing/2014/main" id="{B5DDFD6F-6444-50FE-48A5-F643E0F109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E10C9A-4317-98C4-4927-A5626DB78AD5}"/>
              </a:ext>
            </a:extLst>
          </p:cNvPr>
          <p:cNvSpPr>
            <a:spLocks noGrp="1"/>
          </p:cNvSpPr>
          <p:nvPr>
            <p:ph type="sldNum" sz="quarter" idx="12"/>
          </p:nvPr>
        </p:nvSpPr>
        <p:spPr/>
        <p:txBody>
          <a:bodyPr/>
          <a:lstStyle/>
          <a:p>
            <a:fld id="{06E9994E-3850-461A-BE95-912EE01ABC1F}" type="slidenum">
              <a:rPr lang="en-US" smtClean="0"/>
              <a:t>‹#›</a:t>
            </a:fld>
            <a:endParaRPr lang="en-US"/>
          </a:p>
        </p:txBody>
      </p:sp>
    </p:spTree>
    <p:extLst>
      <p:ext uri="{BB962C8B-B14F-4D97-AF65-F5344CB8AC3E}">
        <p14:creationId xmlns:p14="http://schemas.microsoft.com/office/powerpoint/2010/main" val="3607910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FC4CD-0826-4A7B-D1DE-291CC9EEF8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155035-AF84-BDF2-2CB3-F7247334E9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2A16D4-ABD2-C46F-11F2-631810F6E170}"/>
              </a:ext>
            </a:extLst>
          </p:cNvPr>
          <p:cNvSpPr>
            <a:spLocks noGrp="1"/>
          </p:cNvSpPr>
          <p:nvPr>
            <p:ph type="dt" sz="half" idx="10"/>
          </p:nvPr>
        </p:nvSpPr>
        <p:spPr/>
        <p:txBody>
          <a:bodyPr/>
          <a:lstStyle/>
          <a:p>
            <a:fld id="{BAD3443B-B985-4277-BA59-A7E91F4CCBF5}" type="datetimeFigureOut">
              <a:rPr lang="en-US" smtClean="0"/>
              <a:t>8/14/2022</a:t>
            </a:fld>
            <a:endParaRPr lang="en-US"/>
          </a:p>
        </p:txBody>
      </p:sp>
      <p:sp>
        <p:nvSpPr>
          <p:cNvPr id="5" name="Footer Placeholder 4">
            <a:extLst>
              <a:ext uri="{FF2B5EF4-FFF2-40B4-BE49-F238E27FC236}">
                <a16:creationId xmlns:a16="http://schemas.microsoft.com/office/drawing/2014/main" id="{0B98AC0E-4B2E-9051-2F6B-0DAABFFAAF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A544E8-FAA4-3041-A15C-69CC838CE464}"/>
              </a:ext>
            </a:extLst>
          </p:cNvPr>
          <p:cNvSpPr>
            <a:spLocks noGrp="1"/>
          </p:cNvSpPr>
          <p:nvPr>
            <p:ph type="sldNum" sz="quarter" idx="12"/>
          </p:nvPr>
        </p:nvSpPr>
        <p:spPr/>
        <p:txBody>
          <a:bodyPr/>
          <a:lstStyle/>
          <a:p>
            <a:fld id="{06E9994E-3850-461A-BE95-912EE01ABC1F}" type="slidenum">
              <a:rPr lang="en-US" smtClean="0"/>
              <a:t>‹#›</a:t>
            </a:fld>
            <a:endParaRPr lang="en-US"/>
          </a:p>
        </p:txBody>
      </p:sp>
    </p:spTree>
    <p:extLst>
      <p:ext uri="{BB962C8B-B14F-4D97-AF65-F5344CB8AC3E}">
        <p14:creationId xmlns:p14="http://schemas.microsoft.com/office/powerpoint/2010/main" val="4243718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429B2D-C1AC-0179-26D7-67FC9579D8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CC6EA9-1331-B480-2A03-AFBA030AEC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1D9805-0735-2FF5-AF1C-A1B8F64DE22D}"/>
              </a:ext>
            </a:extLst>
          </p:cNvPr>
          <p:cNvSpPr>
            <a:spLocks noGrp="1"/>
          </p:cNvSpPr>
          <p:nvPr>
            <p:ph type="dt" sz="half" idx="10"/>
          </p:nvPr>
        </p:nvSpPr>
        <p:spPr/>
        <p:txBody>
          <a:bodyPr/>
          <a:lstStyle/>
          <a:p>
            <a:fld id="{BAD3443B-B985-4277-BA59-A7E91F4CCBF5}" type="datetimeFigureOut">
              <a:rPr lang="en-US" smtClean="0"/>
              <a:t>8/14/2022</a:t>
            </a:fld>
            <a:endParaRPr lang="en-US"/>
          </a:p>
        </p:txBody>
      </p:sp>
      <p:sp>
        <p:nvSpPr>
          <p:cNvPr id="5" name="Footer Placeholder 4">
            <a:extLst>
              <a:ext uri="{FF2B5EF4-FFF2-40B4-BE49-F238E27FC236}">
                <a16:creationId xmlns:a16="http://schemas.microsoft.com/office/drawing/2014/main" id="{C03F99EC-9827-34A4-A6B7-A2556F0BBB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B499FB-3161-F974-18FB-2E9B09BE10D9}"/>
              </a:ext>
            </a:extLst>
          </p:cNvPr>
          <p:cNvSpPr>
            <a:spLocks noGrp="1"/>
          </p:cNvSpPr>
          <p:nvPr>
            <p:ph type="sldNum" sz="quarter" idx="12"/>
          </p:nvPr>
        </p:nvSpPr>
        <p:spPr/>
        <p:txBody>
          <a:bodyPr/>
          <a:lstStyle/>
          <a:p>
            <a:fld id="{06E9994E-3850-461A-BE95-912EE01ABC1F}" type="slidenum">
              <a:rPr lang="en-US" smtClean="0"/>
              <a:t>‹#›</a:t>
            </a:fld>
            <a:endParaRPr lang="en-US"/>
          </a:p>
        </p:txBody>
      </p:sp>
    </p:spTree>
    <p:extLst>
      <p:ext uri="{BB962C8B-B14F-4D97-AF65-F5344CB8AC3E}">
        <p14:creationId xmlns:p14="http://schemas.microsoft.com/office/powerpoint/2010/main" val="1906894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094301-4794-E82C-70DB-7EFDB3BF2B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1F7EBC-741E-C470-7273-1625FDA621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FB02F-31A0-F455-6A0C-107FE51D8A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D3443B-B985-4277-BA59-A7E91F4CCBF5}" type="datetimeFigureOut">
              <a:rPr lang="en-US" smtClean="0"/>
              <a:t>8/14/2022</a:t>
            </a:fld>
            <a:endParaRPr lang="en-US"/>
          </a:p>
        </p:txBody>
      </p:sp>
      <p:sp>
        <p:nvSpPr>
          <p:cNvPr id="5" name="Footer Placeholder 4">
            <a:extLst>
              <a:ext uri="{FF2B5EF4-FFF2-40B4-BE49-F238E27FC236}">
                <a16:creationId xmlns:a16="http://schemas.microsoft.com/office/drawing/2014/main" id="{2C05E0C8-9D13-9AD5-EC92-F5DF3D1AAB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BF8E61-1601-0A1C-C30E-A3511193C1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E9994E-3850-461A-BE95-912EE01ABC1F}" type="slidenum">
              <a:rPr lang="en-US" smtClean="0"/>
              <a:t>‹#›</a:t>
            </a:fld>
            <a:endParaRPr lang="en-US"/>
          </a:p>
        </p:txBody>
      </p:sp>
    </p:spTree>
    <p:extLst>
      <p:ext uri="{BB962C8B-B14F-4D97-AF65-F5344CB8AC3E}">
        <p14:creationId xmlns:p14="http://schemas.microsoft.com/office/powerpoint/2010/main" val="752660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png"/><Relationship Id="rId7" Type="http://schemas.openxmlformats.org/officeDocument/2006/relationships/diagramColors" Target="../diagrams/colors1.xml"/><Relationship Id="rId12" Type="http://schemas.openxmlformats.org/officeDocument/2006/relationships/image" Target="../media/image10.png"/><Relationship Id="rId2" Type="http://schemas.openxmlformats.org/officeDocument/2006/relationships/chart" Target="../charts/chart1.xml"/><Relationship Id="rId1" Type="http://schemas.openxmlformats.org/officeDocument/2006/relationships/slideLayout" Target="../slideLayouts/slideLayout1.xml"/><Relationship Id="rId6" Type="http://schemas.openxmlformats.org/officeDocument/2006/relationships/diagramQuickStyle" Target="../diagrams/quickStyle1.xml"/><Relationship Id="rId11" Type="http://schemas.openxmlformats.org/officeDocument/2006/relationships/image" Target="../media/image9.png"/><Relationship Id="rId5" Type="http://schemas.openxmlformats.org/officeDocument/2006/relationships/diagramLayout" Target="../diagrams/layout1.xml"/><Relationship Id="rId10" Type="http://schemas.openxmlformats.org/officeDocument/2006/relationships/image" Target="../media/image8.png"/><Relationship Id="rId4" Type="http://schemas.openxmlformats.org/officeDocument/2006/relationships/diagramData" Target="../diagrams/data1.xm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diagramColors" Target="../diagrams/colors2.xml"/><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diagramQuickStyle" Target="../diagrams/quickStyle2.xml"/><Relationship Id="rId2" Type="http://schemas.openxmlformats.org/officeDocument/2006/relationships/notesSlide" Target="../notesSlides/notesSlide1.xml"/><Relationship Id="rId16" Type="http://schemas.openxmlformats.org/officeDocument/2006/relationships/diagramLayout" Target="../diagrams/layout2.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diagramData" Target="../diagrams/data2.xml"/><Relationship Id="rId10" Type="http://schemas.openxmlformats.org/officeDocument/2006/relationships/image" Target="../media/image18.jpeg"/><Relationship Id="rId19" Type="http://schemas.microsoft.com/office/2007/relationships/diagramDrawing" Target="../diagrams/drawing2.xml"/><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4.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image" Target="../media/image24.png"/><Relationship Id="rId7" Type="http://schemas.openxmlformats.org/officeDocument/2006/relationships/image" Target="../media/image27.emf"/><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6.emf"/><Relationship Id="rId5" Type="http://schemas.openxmlformats.org/officeDocument/2006/relationships/package" Target="../embeddings/Microsoft_Excel_Worksheet1.xlsx"/><Relationship Id="rId4" Type="http://schemas.openxmlformats.org/officeDocument/2006/relationships/image" Target="../media/image25.png"/><Relationship Id="rId9" Type="http://schemas.openxmlformats.org/officeDocument/2006/relationships/image" Target="../media/image29.emf"/></Relationships>
</file>

<file path=ppt/slides/_rels/slide5.xml.rels><?xml version="1.0" encoding="UTF-8" standalone="yes"?>
<Relationships xmlns="http://schemas.openxmlformats.org/package/2006/relationships"><Relationship Id="rId8" Type="http://schemas.openxmlformats.org/officeDocument/2006/relationships/hyperlink" Target="https://www.fibre2fashion.com/industry-article/3842/benefits-of-bamboo-fabric" TargetMode="External"/><Relationship Id="rId13" Type="http://schemas.openxmlformats.org/officeDocument/2006/relationships/hyperlink" Target="https://www.researchgate.net/publication/335836217_A_Study_on_Parents'_Opinion_and_Awareness_about_Kidswear" TargetMode="External"/><Relationship Id="rId18" Type="http://schemas.openxmlformats.org/officeDocument/2006/relationships/hyperlink" Target="https://www.ieltstrainingtips.com/the-diagram-describes-the-recycling-process-of-aluminium-cans-2/" TargetMode="External"/><Relationship Id="rId3" Type="http://schemas.openxmlformats.org/officeDocument/2006/relationships/hyperlink" Target="https://www.fortunebusinessinsights.com/kids-apparel-market-104630" TargetMode="External"/><Relationship Id="rId7" Type="http://schemas.openxmlformats.org/officeDocument/2006/relationships/hyperlink" Target="https://naturefabstore.com/bamboo-industry-in-india-cultivation-and-export/" TargetMode="External"/><Relationship Id="rId12" Type="http://schemas.openxmlformats.org/officeDocument/2006/relationships/hyperlink" Target="https://softsensbaby.com/blogs/from-softsens/bamboo-fabric-for-babies#:~:text=Bamboo%20fabric%20is%20also%20hypoallergenic,such%20as%20wool%20or%20hemp" TargetMode="External"/><Relationship Id="rId17" Type="http://schemas.openxmlformats.org/officeDocument/2006/relationships/hyperlink" Target="https://www.statista.com/outlook/cmo/apparel/india#revenue" TargetMode="External"/><Relationship Id="rId2" Type="http://schemas.openxmlformats.org/officeDocument/2006/relationships/hyperlink" Target="https://www.businesswire.com/news/home/20210112005540/en/India-Kids-Wear-Market-2021-to-2026---by-Gender-Category-Season-Sector-Distribution-Channel-and-Region---ResearchAndMarkets.com" TargetMode="External"/><Relationship Id="rId16" Type="http://schemas.openxmlformats.org/officeDocument/2006/relationships/hyperlink" Target="https://www.organictextiles.com/blogs/news/organic-cotton-vs-bamboo#:~:text=Both%20are%20soft%2C%20eco%2Dfriendly,%2C%20delicate%2C%20and%20more%20breathable" TargetMode="External"/><Relationship Id="rId1" Type="http://schemas.openxmlformats.org/officeDocument/2006/relationships/slideLayout" Target="../slideLayouts/slideLayout7.xml"/><Relationship Id="rId6" Type="http://schemas.openxmlformats.org/officeDocument/2006/relationships/hyperlink" Target="https://www.statista.com/statistics/730996/kid-s-apparel-market-size-india/" TargetMode="External"/><Relationship Id="rId11" Type="http://schemas.openxmlformats.org/officeDocument/2006/relationships/hyperlink" Target="https://www.panaprium.com/blogs/i/bamboo-fabric" TargetMode="External"/><Relationship Id="rId5" Type="http://schemas.openxmlformats.org/officeDocument/2006/relationships/hyperlink" Target="https://www.globenewswire.com/en/news-release/2021/01/11/2156393/28124/en/Insights-on-the-Kids-Wear-Indian-Market-to-2026-Featuring-Shoppers-Stop-Arvind-Fashions-and-Lilliput-Kids-Wear-Among-Others.html" TargetMode="External"/><Relationship Id="rId15" Type="http://schemas.openxmlformats.org/officeDocument/2006/relationships/hyperlink" Target="https://www.upchoose.com/blog/why-is-organic-clothing-better-for-babies" TargetMode="External"/><Relationship Id="rId10" Type="http://schemas.openxmlformats.org/officeDocument/2006/relationships/hyperlink" Target="https://theprint.in/opinion/india-can-go-the-khadi-way-to-realise-its-bamboo-potential-cut-imports-from-china/735470/" TargetMode="External"/><Relationship Id="rId4" Type="http://schemas.openxmlformats.org/officeDocument/2006/relationships/hyperlink" Target="https://www.sutlejtextiles.com/blogs/blog-post.php?id=D11" TargetMode="External"/><Relationship Id="rId9" Type="http://schemas.openxmlformats.org/officeDocument/2006/relationships/hyperlink" Target="https://fashionandtextiles.springeropen.com/articles/10.1186/s40691-015-0054-5" TargetMode="External"/><Relationship Id="rId14" Type="http://schemas.openxmlformats.org/officeDocument/2006/relationships/hyperlink" Target="https://www.babydestination.com/fabrics-avoid-for-babie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yellow and black can on water">
            <a:extLst>
              <a:ext uri="{FF2B5EF4-FFF2-40B4-BE49-F238E27FC236}">
                <a16:creationId xmlns:a16="http://schemas.microsoft.com/office/drawing/2014/main" id="{FAEDCB6A-7B24-0BFF-75BA-DD65FE9A5B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8095"/>
          <a:stretch/>
        </p:blipFill>
        <p:spPr bwMode="auto">
          <a:xfrm>
            <a:off x="6095992" y="0"/>
            <a:ext cx="6096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green bamboo tree during daytime">
            <a:extLst>
              <a:ext uri="{FF2B5EF4-FFF2-40B4-BE49-F238E27FC236}">
                <a16:creationId xmlns:a16="http://schemas.microsoft.com/office/drawing/2014/main" id="{305CA80C-7771-1E08-0C4D-CFB3748829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096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0" name="Rectangle: Rounded Corners 49">
            <a:extLst>
              <a:ext uri="{FF2B5EF4-FFF2-40B4-BE49-F238E27FC236}">
                <a16:creationId xmlns:a16="http://schemas.microsoft.com/office/drawing/2014/main" id="{A78CA66A-23E6-E7BA-71BF-0B68DBCCEBB1}"/>
              </a:ext>
            </a:extLst>
          </p:cNvPr>
          <p:cNvSpPr/>
          <p:nvPr/>
        </p:nvSpPr>
        <p:spPr>
          <a:xfrm>
            <a:off x="2942893" y="1864641"/>
            <a:ext cx="6306207" cy="3508953"/>
          </a:xfrm>
          <a:prstGeom prst="roundRect">
            <a:avLst/>
          </a:prstGeom>
          <a:solidFill>
            <a:schemeClr val="bg1"/>
          </a:solidFill>
          <a:effectLst>
            <a:glow rad="228600">
              <a:schemeClr val="accent3">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51" name="Group 50">
            <a:extLst>
              <a:ext uri="{FF2B5EF4-FFF2-40B4-BE49-F238E27FC236}">
                <a16:creationId xmlns:a16="http://schemas.microsoft.com/office/drawing/2014/main" id="{57DFF060-6531-9B76-86B2-92A2BE6A5B0C}"/>
              </a:ext>
            </a:extLst>
          </p:cNvPr>
          <p:cNvGrpSpPr/>
          <p:nvPr/>
        </p:nvGrpSpPr>
        <p:grpSpPr>
          <a:xfrm>
            <a:off x="3983418" y="3290850"/>
            <a:ext cx="4225159" cy="1114106"/>
            <a:chOff x="3983420" y="3303309"/>
            <a:chExt cx="4225159" cy="1114106"/>
          </a:xfrm>
        </p:grpSpPr>
        <p:pic>
          <p:nvPicPr>
            <p:cNvPr id="52" name="Picture 51" descr="A person with long hair wearing glasses&#10;&#10;Description automatically generated with low confidence">
              <a:extLst>
                <a:ext uri="{FF2B5EF4-FFF2-40B4-BE49-F238E27FC236}">
                  <a16:creationId xmlns:a16="http://schemas.microsoft.com/office/drawing/2014/main" id="{7157AB6F-6C10-44FD-B0C9-BB1C75EB84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7721" y="3303310"/>
              <a:ext cx="940858" cy="1114104"/>
            </a:xfrm>
            <a:prstGeom prst="rect">
              <a:avLst/>
            </a:prstGeom>
            <a:effectLst>
              <a:outerShdw blurRad="50800" dist="38100" dir="2700000" algn="tl" rotWithShape="0">
                <a:prstClr val="black">
                  <a:alpha val="40000"/>
                </a:prstClr>
              </a:outerShdw>
            </a:effectLst>
          </p:spPr>
        </p:pic>
        <p:pic>
          <p:nvPicPr>
            <p:cNvPr id="53" name="Picture 52" descr="A person in a suit and tie&#10;&#10;Description automatically generated">
              <a:extLst>
                <a:ext uri="{FF2B5EF4-FFF2-40B4-BE49-F238E27FC236}">
                  <a16:creationId xmlns:a16="http://schemas.microsoft.com/office/drawing/2014/main" id="{E627FFFA-2F42-2C95-EDF5-949AC03139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83420" y="3303311"/>
              <a:ext cx="940859" cy="1114104"/>
            </a:xfrm>
            <a:prstGeom prst="rect">
              <a:avLst/>
            </a:prstGeom>
            <a:effectLst>
              <a:outerShdw blurRad="50800" dist="38100" dir="2700000" algn="tl" rotWithShape="0">
                <a:prstClr val="black">
                  <a:alpha val="40000"/>
                </a:prstClr>
              </a:outerShdw>
            </a:effectLst>
          </p:spPr>
        </p:pic>
        <p:pic>
          <p:nvPicPr>
            <p:cNvPr id="54" name="Picture 53" descr="A person wearing glasses and a suit&#10;&#10;Description automatically generated with medium confidence">
              <a:extLst>
                <a:ext uri="{FF2B5EF4-FFF2-40B4-BE49-F238E27FC236}">
                  <a16:creationId xmlns:a16="http://schemas.microsoft.com/office/drawing/2014/main" id="{35CFCDD8-714E-0E0B-1ABB-BD064C64E65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25571" y="3303309"/>
              <a:ext cx="940858" cy="1114105"/>
            </a:xfrm>
            <a:prstGeom prst="rect">
              <a:avLst/>
            </a:prstGeom>
            <a:effectLst>
              <a:outerShdw blurRad="50800" dist="38100" dir="2700000" algn="tl" rotWithShape="0">
                <a:prstClr val="black">
                  <a:alpha val="40000"/>
                </a:prstClr>
              </a:outerShdw>
            </a:effectLst>
          </p:spPr>
        </p:pic>
      </p:grpSp>
      <p:sp>
        <p:nvSpPr>
          <p:cNvPr id="55" name="Subtitle 2">
            <a:extLst>
              <a:ext uri="{FF2B5EF4-FFF2-40B4-BE49-F238E27FC236}">
                <a16:creationId xmlns:a16="http://schemas.microsoft.com/office/drawing/2014/main" id="{29F587F2-3925-93CD-098A-90AAE767F90F}"/>
              </a:ext>
            </a:extLst>
          </p:cNvPr>
          <p:cNvSpPr txBox="1">
            <a:spLocks/>
          </p:cNvSpPr>
          <p:nvPr/>
        </p:nvSpPr>
        <p:spPr>
          <a:xfrm>
            <a:off x="3802024" y="4500321"/>
            <a:ext cx="4763907" cy="2973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600" b="1" dirty="0"/>
              <a:t>Devesh Sinha           Mohit Kiradoo           Kajal Gupta</a:t>
            </a:r>
          </a:p>
        </p:txBody>
      </p:sp>
      <p:sp>
        <p:nvSpPr>
          <p:cNvPr id="56" name="Subtitle 2">
            <a:extLst>
              <a:ext uri="{FF2B5EF4-FFF2-40B4-BE49-F238E27FC236}">
                <a16:creationId xmlns:a16="http://schemas.microsoft.com/office/drawing/2014/main" id="{07FCA09B-34A1-49A1-9864-C15B53414F81}"/>
              </a:ext>
            </a:extLst>
          </p:cNvPr>
          <p:cNvSpPr txBox="1">
            <a:spLocks/>
          </p:cNvSpPr>
          <p:nvPr/>
        </p:nvSpPr>
        <p:spPr>
          <a:xfrm>
            <a:off x="3714044" y="4871966"/>
            <a:ext cx="4763907" cy="2973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b="1" dirty="0"/>
              <a:t>T. A. Pai Management Institute</a:t>
            </a:r>
          </a:p>
        </p:txBody>
      </p:sp>
      <p:sp>
        <p:nvSpPr>
          <p:cNvPr id="57" name="Subtitle 2">
            <a:extLst>
              <a:ext uri="{FF2B5EF4-FFF2-40B4-BE49-F238E27FC236}">
                <a16:creationId xmlns:a16="http://schemas.microsoft.com/office/drawing/2014/main" id="{2A157FBA-403D-38D3-F4B3-58E10929A648}"/>
              </a:ext>
            </a:extLst>
          </p:cNvPr>
          <p:cNvSpPr txBox="1">
            <a:spLocks/>
          </p:cNvSpPr>
          <p:nvPr/>
        </p:nvSpPr>
        <p:spPr>
          <a:xfrm>
            <a:off x="4337951" y="1637999"/>
            <a:ext cx="3516090" cy="357918"/>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800" b="1" dirty="0"/>
              <a:t>Team SORTED</a:t>
            </a:r>
          </a:p>
        </p:txBody>
      </p:sp>
      <p:sp>
        <p:nvSpPr>
          <p:cNvPr id="58" name="Title 1">
            <a:extLst>
              <a:ext uri="{FF2B5EF4-FFF2-40B4-BE49-F238E27FC236}">
                <a16:creationId xmlns:a16="http://schemas.microsoft.com/office/drawing/2014/main" id="{D2535850-A009-BBAC-0ADC-49B43F7BF160}"/>
              </a:ext>
            </a:extLst>
          </p:cNvPr>
          <p:cNvSpPr>
            <a:spLocks noGrp="1"/>
          </p:cNvSpPr>
          <p:nvPr>
            <p:ph type="ctrTitle"/>
          </p:nvPr>
        </p:nvSpPr>
        <p:spPr>
          <a:xfrm>
            <a:off x="1523996" y="623158"/>
            <a:ext cx="9144000" cy="2387600"/>
          </a:xfrm>
        </p:spPr>
        <p:txBody>
          <a:bodyPr>
            <a:normAutofit/>
          </a:bodyPr>
          <a:lstStyle/>
          <a:p>
            <a:r>
              <a:rPr lang="en-US" sz="4400" b="0" i="0" dirty="0">
                <a:effectLst/>
              </a:rPr>
              <a:t>Entrée-</a:t>
            </a:r>
            <a:r>
              <a:rPr lang="en-US" sz="4400" b="0" i="0" dirty="0" err="1">
                <a:effectLst/>
              </a:rPr>
              <a:t>preneurship</a:t>
            </a:r>
            <a:r>
              <a:rPr lang="en-US" sz="4400" b="0" i="0" dirty="0">
                <a:effectLst/>
              </a:rPr>
              <a:t> 5.0</a:t>
            </a:r>
          </a:p>
        </p:txBody>
      </p:sp>
      <p:sp>
        <p:nvSpPr>
          <p:cNvPr id="66" name="Title 1">
            <a:extLst>
              <a:ext uri="{FF2B5EF4-FFF2-40B4-BE49-F238E27FC236}">
                <a16:creationId xmlns:a16="http://schemas.microsoft.com/office/drawing/2014/main" id="{57D59C3D-C4F1-A752-FE94-F2F98BA56CBB}"/>
              </a:ext>
            </a:extLst>
          </p:cNvPr>
          <p:cNvSpPr txBox="1">
            <a:spLocks/>
          </p:cNvSpPr>
          <p:nvPr/>
        </p:nvSpPr>
        <p:spPr>
          <a:xfrm>
            <a:off x="1567984" y="133505"/>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IN" sz="4800" dirty="0">
              <a:latin typeface="+mn-lt"/>
            </a:endParaRPr>
          </a:p>
        </p:txBody>
      </p:sp>
    </p:spTree>
    <p:extLst>
      <p:ext uri="{BB962C8B-B14F-4D97-AF65-F5344CB8AC3E}">
        <p14:creationId xmlns:p14="http://schemas.microsoft.com/office/powerpoint/2010/main" val="257469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3B47945-8B76-5315-B7F9-95C5C6B97E9E}"/>
              </a:ext>
            </a:extLst>
          </p:cNvPr>
          <p:cNvSpPr/>
          <p:nvPr/>
        </p:nvSpPr>
        <p:spPr>
          <a:xfrm>
            <a:off x="4105926" y="0"/>
            <a:ext cx="8086074" cy="939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0" i="0" u="none" strike="noStrike" dirty="0">
                <a:solidFill>
                  <a:schemeClr val="bg1"/>
                </a:solidFill>
                <a:effectLst/>
                <a:latin typeface="Verdana" panose="020B0604030504040204" pitchFamily="34" charset="0"/>
              </a:rPr>
              <a:t>Bamboo Fabric Apparel for Kids in a recycled and reusable </a:t>
            </a:r>
            <a:r>
              <a:rPr lang="en-US" sz="2400" dirty="0" err="1">
                <a:solidFill>
                  <a:schemeClr val="bg1"/>
                </a:solidFill>
                <a:latin typeface="Verdana" panose="020B0604030504040204" pitchFamily="34" charset="0"/>
              </a:rPr>
              <a:t>aluminium</a:t>
            </a:r>
            <a:r>
              <a:rPr lang="en-US" sz="2400" b="0" i="0" u="none" strike="noStrike" dirty="0">
                <a:solidFill>
                  <a:schemeClr val="bg1"/>
                </a:solidFill>
                <a:effectLst/>
                <a:latin typeface="Verdana" panose="020B0604030504040204" pitchFamily="34" charset="0"/>
              </a:rPr>
              <a:t> can packaging.</a:t>
            </a:r>
            <a:endParaRPr lang="en-US" sz="2400" b="1" dirty="0">
              <a:solidFill>
                <a:schemeClr val="bg1"/>
              </a:solidFill>
            </a:endParaRPr>
          </a:p>
        </p:txBody>
      </p:sp>
      <p:sp>
        <p:nvSpPr>
          <p:cNvPr id="5" name="Rectangle: Rounded Corners 4">
            <a:extLst>
              <a:ext uri="{FF2B5EF4-FFF2-40B4-BE49-F238E27FC236}">
                <a16:creationId xmlns:a16="http://schemas.microsoft.com/office/drawing/2014/main" id="{5FAC6F68-7F27-C09B-68B5-C955B847DF18}"/>
              </a:ext>
            </a:extLst>
          </p:cNvPr>
          <p:cNvSpPr/>
          <p:nvPr/>
        </p:nvSpPr>
        <p:spPr>
          <a:xfrm>
            <a:off x="152400" y="1230086"/>
            <a:ext cx="3624940" cy="424548"/>
          </a:xfrm>
          <a:prstGeom prst="round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bg1"/>
                </a:solidFill>
              </a:rPr>
              <a:t>Sector Overview</a:t>
            </a:r>
            <a:endParaRPr lang="en-US" sz="2000" b="1" dirty="0">
              <a:solidFill>
                <a:schemeClr val="bg1"/>
              </a:solidFill>
            </a:endParaRPr>
          </a:p>
        </p:txBody>
      </p:sp>
      <p:sp>
        <p:nvSpPr>
          <p:cNvPr id="6" name="Rectangle: Rounded Corners 5">
            <a:extLst>
              <a:ext uri="{FF2B5EF4-FFF2-40B4-BE49-F238E27FC236}">
                <a16:creationId xmlns:a16="http://schemas.microsoft.com/office/drawing/2014/main" id="{DA5392DF-5030-86A7-DB7D-3EBC43AE3CD6}"/>
              </a:ext>
            </a:extLst>
          </p:cNvPr>
          <p:cNvSpPr/>
          <p:nvPr/>
        </p:nvSpPr>
        <p:spPr>
          <a:xfrm>
            <a:off x="4105926" y="1230080"/>
            <a:ext cx="4025678" cy="402771"/>
          </a:xfrm>
          <a:prstGeom prst="round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bg1"/>
                </a:solidFill>
              </a:rPr>
              <a:t>Unrealised demand and cues</a:t>
            </a:r>
            <a:endParaRPr lang="en-US" sz="2000" b="1" dirty="0">
              <a:solidFill>
                <a:schemeClr val="bg1"/>
              </a:solidFill>
            </a:endParaRPr>
          </a:p>
        </p:txBody>
      </p:sp>
      <p:sp>
        <p:nvSpPr>
          <p:cNvPr id="7" name="Rectangle: Rounded Corners 6">
            <a:extLst>
              <a:ext uri="{FF2B5EF4-FFF2-40B4-BE49-F238E27FC236}">
                <a16:creationId xmlns:a16="http://schemas.microsoft.com/office/drawing/2014/main" id="{C9E3DAE1-361B-BB78-039C-5CAF012ED54E}"/>
              </a:ext>
            </a:extLst>
          </p:cNvPr>
          <p:cNvSpPr/>
          <p:nvPr/>
        </p:nvSpPr>
        <p:spPr>
          <a:xfrm>
            <a:off x="8436439" y="1230086"/>
            <a:ext cx="3603156" cy="402765"/>
          </a:xfrm>
          <a:prstGeom prst="round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bg1"/>
                </a:solidFill>
              </a:rPr>
              <a:t>Market Sizing</a:t>
            </a:r>
            <a:endParaRPr lang="en-US" sz="2000" b="1" dirty="0">
              <a:solidFill>
                <a:schemeClr val="bg1"/>
              </a:solidFill>
            </a:endParaRPr>
          </a:p>
        </p:txBody>
      </p:sp>
      <p:cxnSp>
        <p:nvCxnSpPr>
          <p:cNvPr id="9" name="Straight Connector 8">
            <a:extLst>
              <a:ext uri="{FF2B5EF4-FFF2-40B4-BE49-F238E27FC236}">
                <a16:creationId xmlns:a16="http://schemas.microsoft.com/office/drawing/2014/main" id="{3538AFF2-EC52-2623-0549-5DEA38AE651D}"/>
              </a:ext>
            </a:extLst>
          </p:cNvPr>
          <p:cNvCxnSpPr/>
          <p:nvPr/>
        </p:nvCxnSpPr>
        <p:spPr>
          <a:xfrm>
            <a:off x="3929743" y="1230086"/>
            <a:ext cx="0" cy="5486400"/>
          </a:xfrm>
          <a:prstGeom prst="line">
            <a:avLst/>
          </a:prstGeom>
          <a:ln w="12700">
            <a:prstDash val="lgDash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47631A4-ECDA-32FB-35A1-EA42DF80B3F7}"/>
              </a:ext>
            </a:extLst>
          </p:cNvPr>
          <p:cNvCxnSpPr/>
          <p:nvPr/>
        </p:nvCxnSpPr>
        <p:spPr>
          <a:xfrm>
            <a:off x="8284029" y="1230086"/>
            <a:ext cx="0" cy="5486400"/>
          </a:xfrm>
          <a:prstGeom prst="line">
            <a:avLst/>
          </a:prstGeom>
          <a:ln w="12700">
            <a:prstDash val="lgDashDot"/>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9E68C0D-9E1C-8231-0877-BB0B1A5D25AD}"/>
              </a:ext>
            </a:extLst>
          </p:cNvPr>
          <p:cNvSpPr/>
          <p:nvPr/>
        </p:nvSpPr>
        <p:spPr>
          <a:xfrm>
            <a:off x="152400" y="1785256"/>
            <a:ext cx="3624941" cy="3143857"/>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IN" sz="1200" dirty="0">
                <a:solidFill>
                  <a:schemeClr val="tx1"/>
                </a:solidFill>
              </a:rPr>
              <a:t>Market value of kid’s apparel in 2018 with estimates for 2023 and 2028</a:t>
            </a:r>
          </a:p>
          <a:p>
            <a:pPr algn="just"/>
            <a:endParaRPr lang="en-IN" sz="1200" dirty="0">
              <a:solidFill>
                <a:schemeClr val="tx1"/>
              </a:solidFill>
            </a:endParaRPr>
          </a:p>
          <a:p>
            <a:pPr algn="just"/>
            <a:endParaRPr lang="en-IN" sz="1200" dirty="0">
              <a:solidFill>
                <a:schemeClr val="tx1"/>
              </a:solidFill>
            </a:endParaRPr>
          </a:p>
          <a:p>
            <a:pPr algn="just"/>
            <a:endParaRPr lang="en-IN" sz="1200" dirty="0">
              <a:solidFill>
                <a:schemeClr val="tx1"/>
              </a:solidFill>
            </a:endParaRPr>
          </a:p>
          <a:p>
            <a:pPr algn="just"/>
            <a:endParaRPr lang="en-IN" sz="1200" dirty="0">
              <a:solidFill>
                <a:schemeClr val="tx1"/>
              </a:solidFill>
            </a:endParaRPr>
          </a:p>
          <a:p>
            <a:pPr algn="just"/>
            <a:endParaRPr lang="en-IN" sz="1200" dirty="0">
              <a:solidFill>
                <a:schemeClr val="tx1"/>
              </a:solidFill>
            </a:endParaRPr>
          </a:p>
          <a:p>
            <a:pPr algn="just"/>
            <a:endParaRPr lang="en-IN" sz="1200" dirty="0">
              <a:solidFill>
                <a:schemeClr val="tx1"/>
              </a:solidFill>
            </a:endParaRPr>
          </a:p>
          <a:p>
            <a:pPr algn="just"/>
            <a:endParaRPr lang="en-IN" sz="1200" dirty="0">
              <a:solidFill>
                <a:schemeClr val="tx1"/>
              </a:solidFill>
            </a:endParaRPr>
          </a:p>
          <a:p>
            <a:pPr algn="just"/>
            <a:endParaRPr lang="en-IN" sz="1200" dirty="0">
              <a:solidFill>
                <a:schemeClr val="tx1"/>
              </a:solidFill>
            </a:endParaRPr>
          </a:p>
          <a:p>
            <a:pPr algn="just"/>
            <a:endParaRPr lang="en-IN" sz="1200" dirty="0">
              <a:solidFill>
                <a:schemeClr val="tx1"/>
              </a:solidFill>
            </a:endParaRPr>
          </a:p>
          <a:p>
            <a:pPr algn="just"/>
            <a:endParaRPr lang="en-IN" sz="1200" dirty="0">
              <a:solidFill>
                <a:schemeClr val="tx1"/>
              </a:solidFill>
            </a:endParaRPr>
          </a:p>
          <a:p>
            <a:pPr algn="just"/>
            <a:r>
              <a:rPr lang="en-US" sz="1200" b="0" i="0" dirty="0">
                <a:solidFill>
                  <a:schemeClr val="tx1"/>
                </a:solidFill>
                <a:effectLst/>
              </a:rPr>
              <a:t>At a CAGR of </a:t>
            </a:r>
            <a:r>
              <a:rPr lang="en-US" sz="1400" b="1" i="0" dirty="0">
                <a:solidFill>
                  <a:schemeClr val="tx1"/>
                </a:solidFill>
                <a:effectLst/>
              </a:rPr>
              <a:t>10.5%</a:t>
            </a:r>
            <a:r>
              <a:rPr lang="en-US" sz="1200" b="0" i="0" dirty="0">
                <a:solidFill>
                  <a:schemeClr val="tx1"/>
                </a:solidFill>
                <a:effectLst/>
              </a:rPr>
              <a:t>, it is expected that the Kids apparel market will be of 1116 billion Indian Rupees by 2023, which is around </a:t>
            </a:r>
            <a:r>
              <a:rPr lang="en-US" sz="1400" b="1" i="0" dirty="0">
                <a:solidFill>
                  <a:schemeClr val="tx1"/>
                </a:solidFill>
                <a:effectLst/>
              </a:rPr>
              <a:t>22%</a:t>
            </a:r>
            <a:r>
              <a:rPr lang="en-US" sz="1200" b="0" i="0" dirty="0">
                <a:solidFill>
                  <a:schemeClr val="tx1"/>
                </a:solidFill>
                <a:effectLst/>
              </a:rPr>
              <a:t> of the total Indian Apparel market.</a:t>
            </a:r>
            <a:endParaRPr lang="en-IN" sz="1200" dirty="0">
              <a:solidFill>
                <a:schemeClr val="tx1"/>
              </a:solidFill>
            </a:endParaRPr>
          </a:p>
        </p:txBody>
      </p:sp>
      <p:graphicFrame>
        <p:nvGraphicFramePr>
          <p:cNvPr id="16" name="Chart 15">
            <a:extLst>
              <a:ext uri="{FF2B5EF4-FFF2-40B4-BE49-F238E27FC236}">
                <a16:creationId xmlns:a16="http://schemas.microsoft.com/office/drawing/2014/main" id="{D2FDDBE2-1CE3-42DA-67DB-6A99F3FB0432}"/>
              </a:ext>
            </a:extLst>
          </p:cNvPr>
          <p:cNvGraphicFramePr/>
          <p:nvPr>
            <p:extLst>
              <p:ext uri="{D42A27DB-BD31-4B8C-83A1-F6EECF244321}">
                <p14:modId xmlns:p14="http://schemas.microsoft.com/office/powerpoint/2010/main" val="3988532481"/>
              </p:ext>
            </p:extLst>
          </p:nvPr>
        </p:nvGraphicFramePr>
        <p:xfrm>
          <a:off x="152401" y="2280547"/>
          <a:ext cx="3624940" cy="1632858"/>
        </p:xfrm>
        <a:graphic>
          <a:graphicData uri="http://schemas.openxmlformats.org/drawingml/2006/chart">
            <c:chart xmlns:c="http://schemas.openxmlformats.org/drawingml/2006/chart" xmlns:r="http://schemas.openxmlformats.org/officeDocument/2006/relationships" r:id="rId2"/>
          </a:graphicData>
        </a:graphic>
      </p:graphicFrame>
      <p:pic>
        <p:nvPicPr>
          <p:cNvPr id="1028" name="Picture 4" descr="Steering wheel ">
            <a:extLst>
              <a:ext uri="{FF2B5EF4-FFF2-40B4-BE49-F238E27FC236}">
                <a16:creationId xmlns:a16="http://schemas.microsoft.com/office/drawing/2014/main" id="{4CAB3D13-26E4-EA91-CEE5-8545423BC5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5059735"/>
            <a:ext cx="402771" cy="40277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3C86C66D-DC1B-F791-48DE-E688C1EA31C8}"/>
              </a:ext>
            </a:extLst>
          </p:cNvPr>
          <p:cNvSpPr txBox="1"/>
          <p:nvPr/>
        </p:nvSpPr>
        <p:spPr>
          <a:xfrm>
            <a:off x="152403" y="5146826"/>
            <a:ext cx="3777340" cy="1846659"/>
          </a:xfrm>
          <a:prstGeom prst="rect">
            <a:avLst/>
          </a:prstGeom>
          <a:noFill/>
        </p:spPr>
        <p:txBody>
          <a:bodyPr wrap="square" rtlCol="0">
            <a:spAutoFit/>
          </a:bodyPr>
          <a:lstStyle/>
          <a:p>
            <a:pPr algn="just"/>
            <a:r>
              <a:rPr lang="en-IN" sz="1200" b="1" dirty="0"/>
              <a:t>           Key drivers of the growing kids apparel market</a:t>
            </a:r>
          </a:p>
          <a:p>
            <a:pPr algn="just"/>
            <a:endParaRPr lang="en-IN" sz="1200" b="1" dirty="0"/>
          </a:p>
          <a:p>
            <a:pPr marL="171450" indent="-171450" algn="just">
              <a:buFont typeface="Wingdings" panose="05000000000000000000" pitchFamily="2" charset="2"/>
              <a:buChar char="v"/>
            </a:pPr>
            <a:r>
              <a:rPr lang="en-IN" sz="1200" dirty="0"/>
              <a:t>Rising disposable income of Indian households.</a:t>
            </a:r>
          </a:p>
          <a:p>
            <a:pPr marL="171450" indent="-171450" algn="just">
              <a:buFont typeface="Wingdings" panose="05000000000000000000" pitchFamily="2" charset="2"/>
              <a:buChar char="v"/>
            </a:pPr>
            <a:r>
              <a:rPr lang="en-IN" sz="1200" dirty="0"/>
              <a:t>Changing lifestyle in urban areas specially after COVID.</a:t>
            </a:r>
          </a:p>
          <a:p>
            <a:pPr marL="171450" indent="-171450" algn="just">
              <a:buFont typeface="Wingdings" panose="05000000000000000000" pitchFamily="2" charset="2"/>
              <a:buChar char="v"/>
            </a:pPr>
            <a:r>
              <a:rPr lang="en-IN" sz="1200" dirty="0"/>
              <a:t>Increasing number of nuclear families in Tier 1 cities.</a:t>
            </a:r>
          </a:p>
          <a:p>
            <a:pPr marL="171450" indent="-171450" algn="just">
              <a:buFont typeface="Wingdings" panose="05000000000000000000" pitchFamily="2" charset="2"/>
              <a:buChar char="v"/>
            </a:pPr>
            <a:r>
              <a:rPr lang="en-IN" sz="1200" dirty="0"/>
              <a:t>Rising number of dual income households.</a:t>
            </a:r>
            <a:endParaRPr lang="en-IN" sz="1200" b="1" dirty="0"/>
          </a:p>
          <a:p>
            <a:pPr marL="171450" indent="-171450" algn="just">
              <a:buFont typeface="Wingdings" panose="05000000000000000000" pitchFamily="2" charset="2"/>
              <a:buChar char="v"/>
            </a:pPr>
            <a:r>
              <a:rPr lang="en-IN" sz="1200" dirty="0"/>
              <a:t>Increased spending on kids apparels in Tier 1 cities.</a:t>
            </a:r>
          </a:p>
          <a:p>
            <a:pPr algn="just"/>
            <a:r>
              <a:rPr lang="en-IN" sz="1400" b="1" dirty="0"/>
              <a:t>     Sources: </a:t>
            </a:r>
            <a:r>
              <a:rPr lang="en-IN" sz="1400" dirty="0"/>
              <a:t>Appendix</a:t>
            </a:r>
            <a:endParaRPr lang="en-IN" sz="1400" b="1" dirty="0"/>
          </a:p>
          <a:p>
            <a:pPr marL="171450" indent="-171450" algn="just">
              <a:buFont typeface="Wingdings" panose="05000000000000000000" pitchFamily="2" charset="2"/>
              <a:buChar char="v"/>
            </a:pPr>
            <a:endParaRPr lang="en-IN" sz="1200" dirty="0"/>
          </a:p>
        </p:txBody>
      </p:sp>
      <p:graphicFrame>
        <p:nvGraphicFramePr>
          <p:cNvPr id="18" name="Diagram 17">
            <a:extLst>
              <a:ext uri="{FF2B5EF4-FFF2-40B4-BE49-F238E27FC236}">
                <a16:creationId xmlns:a16="http://schemas.microsoft.com/office/drawing/2014/main" id="{8536274A-B844-9B1B-2799-F6DEBAC5AE9D}"/>
              </a:ext>
            </a:extLst>
          </p:cNvPr>
          <p:cNvGraphicFramePr/>
          <p:nvPr>
            <p:extLst>
              <p:ext uri="{D42A27DB-BD31-4B8C-83A1-F6EECF244321}">
                <p14:modId xmlns:p14="http://schemas.microsoft.com/office/powerpoint/2010/main" val="3213251283"/>
              </p:ext>
            </p:extLst>
          </p:nvPr>
        </p:nvGraphicFramePr>
        <p:xfrm>
          <a:off x="4023180" y="2688765"/>
          <a:ext cx="4167410" cy="26609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9" name="TextBox 18">
            <a:extLst>
              <a:ext uri="{FF2B5EF4-FFF2-40B4-BE49-F238E27FC236}">
                <a16:creationId xmlns:a16="http://schemas.microsoft.com/office/drawing/2014/main" id="{D14BD7AC-8B84-86DB-65FE-D3B91E640FB2}"/>
              </a:ext>
            </a:extLst>
          </p:cNvPr>
          <p:cNvSpPr txBox="1"/>
          <p:nvPr/>
        </p:nvSpPr>
        <p:spPr>
          <a:xfrm>
            <a:off x="4023180" y="1785256"/>
            <a:ext cx="4108440" cy="830997"/>
          </a:xfrm>
          <a:prstGeom prst="rect">
            <a:avLst/>
          </a:prstGeom>
          <a:noFill/>
        </p:spPr>
        <p:txBody>
          <a:bodyPr wrap="square" rtlCol="0">
            <a:spAutoFit/>
          </a:bodyPr>
          <a:lstStyle/>
          <a:p>
            <a:pPr algn="just"/>
            <a:r>
              <a:rPr lang="en-IN" sz="1200" dirty="0"/>
              <a:t>Primary research: (Sample size 45, In-depth interview). We briefed them about bamboo fabric and its features and benefits if used as apparels for kids (age – 0 to 5) and the major findings are as follows</a:t>
            </a:r>
            <a:endParaRPr lang="en-US" sz="1200" dirty="0"/>
          </a:p>
        </p:txBody>
      </p:sp>
      <p:sp>
        <p:nvSpPr>
          <p:cNvPr id="21" name="Rectangle 20">
            <a:extLst>
              <a:ext uri="{FF2B5EF4-FFF2-40B4-BE49-F238E27FC236}">
                <a16:creationId xmlns:a16="http://schemas.microsoft.com/office/drawing/2014/main" id="{49878763-FC0C-C91A-DBE9-5B12FAE14867}"/>
              </a:ext>
            </a:extLst>
          </p:cNvPr>
          <p:cNvSpPr/>
          <p:nvPr/>
        </p:nvSpPr>
        <p:spPr>
          <a:xfrm>
            <a:off x="3870777" y="3096976"/>
            <a:ext cx="1382110" cy="646331"/>
          </a:xfrm>
          <a:prstGeom prst="rect">
            <a:avLst/>
          </a:prstGeom>
          <a:noFill/>
        </p:spPr>
        <p:txBody>
          <a:bodyPr wrap="square" lIns="91440" tIns="45720" rIns="91440" bIns="45720">
            <a:spAutoFit/>
          </a:bodyPr>
          <a:lstStyle/>
          <a:p>
            <a:pPr algn="ctr"/>
            <a:r>
              <a:rPr lang="en-US" sz="3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78%</a:t>
            </a:r>
          </a:p>
        </p:txBody>
      </p:sp>
      <p:sp>
        <p:nvSpPr>
          <p:cNvPr id="24" name="Rectangle 23">
            <a:extLst>
              <a:ext uri="{FF2B5EF4-FFF2-40B4-BE49-F238E27FC236}">
                <a16:creationId xmlns:a16="http://schemas.microsoft.com/office/drawing/2014/main" id="{F6F4EFF3-7079-20FB-7091-D9C425EFFB16}"/>
              </a:ext>
            </a:extLst>
          </p:cNvPr>
          <p:cNvSpPr/>
          <p:nvPr/>
        </p:nvSpPr>
        <p:spPr>
          <a:xfrm>
            <a:off x="5415831" y="2860206"/>
            <a:ext cx="1382110" cy="646331"/>
          </a:xfrm>
          <a:prstGeom prst="rect">
            <a:avLst/>
          </a:prstGeom>
          <a:noFill/>
        </p:spPr>
        <p:txBody>
          <a:bodyPr wrap="square" lIns="91440" tIns="45720" rIns="91440" bIns="45720">
            <a:spAutoFit/>
          </a:bodyPr>
          <a:lstStyle/>
          <a:p>
            <a:pPr algn="ctr"/>
            <a:r>
              <a:rPr lang="en-US"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63</a:t>
            </a:r>
            <a:r>
              <a:rPr lang="en-US" sz="3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t>
            </a:r>
          </a:p>
        </p:txBody>
      </p:sp>
      <p:sp>
        <p:nvSpPr>
          <p:cNvPr id="25" name="Rectangle 24">
            <a:extLst>
              <a:ext uri="{FF2B5EF4-FFF2-40B4-BE49-F238E27FC236}">
                <a16:creationId xmlns:a16="http://schemas.microsoft.com/office/drawing/2014/main" id="{1E7B19FA-6806-AD39-8696-0F457DEDEF75}"/>
              </a:ext>
            </a:extLst>
          </p:cNvPr>
          <p:cNvSpPr/>
          <p:nvPr/>
        </p:nvSpPr>
        <p:spPr>
          <a:xfrm>
            <a:off x="6945272" y="2450645"/>
            <a:ext cx="1382110" cy="646331"/>
          </a:xfrm>
          <a:prstGeom prst="rect">
            <a:avLst/>
          </a:prstGeom>
          <a:noFill/>
        </p:spPr>
        <p:txBody>
          <a:bodyPr wrap="square" lIns="91440" tIns="45720" rIns="91440" bIns="45720">
            <a:spAutoFit/>
          </a:bodyPr>
          <a:lstStyle/>
          <a:p>
            <a:pPr algn="ctr"/>
            <a:r>
              <a:rPr lang="en-US"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98%</a:t>
            </a:r>
            <a:endParaRPr lang="en-US" sz="3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grpSp>
        <p:nvGrpSpPr>
          <p:cNvPr id="22" name="Group 21">
            <a:extLst>
              <a:ext uri="{FF2B5EF4-FFF2-40B4-BE49-F238E27FC236}">
                <a16:creationId xmlns:a16="http://schemas.microsoft.com/office/drawing/2014/main" id="{9FD85BC4-DD5D-D70C-7B3C-3BAE702A3DBD}"/>
              </a:ext>
            </a:extLst>
          </p:cNvPr>
          <p:cNvGrpSpPr/>
          <p:nvPr/>
        </p:nvGrpSpPr>
        <p:grpSpPr>
          <a:xfrm>
            <a:off x="4012489" y="5028366"/>
            <a:ext cx="4260846" cy="1719490"/>
            <a:chOff x="4082145" y="4635888"/>
            <a:chExt cx="4260846" cy="1719490"/>
          </a:xfrm>
        </p:grpSpPr>
        <p:pic>
          <p:nvPicPr>
            <p:cNvPr id="1032" name="Picture 8" descr="Chest pain">
              <a:extLst>
                <a:ext uri="{FF2B5EF4-FFF2-40B4-BE49-F238E27FC236}">
                  <a16:creationId xmlns:a16="http://schemas.microsoft.com/office/drawing/2014/main" id="{CB23AA7C-7D5F-AF92-6346-9E77A0AF56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82145" y="4635888"/>
              <a:ext cx="466692" cy="466692"/>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AE260740-C96C-2A4B-E3DE-98E78509B2FB}"/>
                </a:ext>
              </a:extLst>
            </p:cNvPr>
            <p:cNvSpPr txBox="1"/>
            <p:nvPr/>
          </p:nvSpPr>
          <p:spPr>
            <a:xfrm>
              <a:off x="4175582" y="4754940"/>
              <a:ext cx="4167409" cy="1600438"/>
            </a:xfrm>
            <a:prstGeom prst="rect">
              <a:avLst/>
            </a:prstGeom>
            <a:noFill/>
          </p:spPr>
          <p:txBody>
            <a:bodyPr wrap="square" rtlCol="0">
              <a:spAutoFit/>
            </a:bodyPr>
            <a:lstStyle/>
            <a:p>
              <a:pPr algn="just"/>
              <a:r>
                <a:rPr lang="en-IN" sz="1200" b="1" dirty="0"/>
                <a:t>          Common pain points regarding kids apparel offered now</a:t>
              </a:r>
            </a:p>
            <a:p>
              <a:pPr algn="just"/>
              <a:endParaRPr lang="en-IN" sz="1200" b="1" dirty="0"/>
            </a:p>
            <a:p>
              <a:pPr marL="171450" indent="-171450" algn="just">
                <a:buFont typeface="Wingdings" panose="05000000000000000000" pitchFamily="2" charset="2"/>
                <a:buChar char="v"/>
              </a:pPr>
              <a:r>
                <a:rPr lang="en-IN" sz="1200" dirty="0"/>
                <a:t>Pure cotton is a myth, brands offering mix cotton i.e. harmful</a:t>
              </a:r>
            </a:p>
            <a:p>
              <a:pPr marL="171450" indent="-171450" algn="just">
                <a:buFont typeface="Wingdings" panose="05000000000000000000" pitchFamily="2" charset="2"/>
                <a:buChar char="v"/>
              </a:pPr>
              <a:r>
                <a:rPr lang="en-IN" sz="1200" dirty="0"/>
                <a:t>The Bacteria present in cotton apparels give skin allergy</a:t>
              </a:r>
            </a:p>
            <a:p>
              <a:pPr marL="171450" indent="-171450" algn="just">
                <a:buFont typeface="Wingdings" panose="05000000000000000000" pitchFamily="2" charset="2"/>
                <a:buChar char="v"/>
              </a:pPr>
              <a:r>
                <a:rPr lang="en-IN" sz="1200" dirty="0"/>
                <a:t>The best cotton fabric available in the market is very costly</a:t>
              </a:r>
            </a:p>
            <a:p>
              <a:pPr marL="171450" indent="-171450" algn="just">
                <a:buFont typeface="Wingdings" panose="05000000000000000000" pitchFamily="2" charset="2"/>
                <a:buChar char="v"/>
              </a:pPr>
              <a:r>
                <a:rPr lang="en-IN" sz="1200" dirty="0"/>
                <a:t>Cotton and other fabric does not absorb odour and stink a lot</a:t>
              </a:r>
            </a:p>
            <a:p>
              <a:pPr marL="171450" indent="-171450" algn="just">
                <a:buFont typeface="Wingdings" panose="05000000000000000000" pitchFamily="2" charset="2"/>
                <a:buChar char="v"/>
              </a:pPr>
              <a:r>
                <a:rPr lang="en-IN" sz="1200" dirty="0"/>
                <a:t>Chemicals used in the fabric are harmful for the new-borns</a:t>
              </a:r>
            </a:p>
            <a:p>
              <a:pPr algn="just"/>
              <a:r>
                <a:rPr lang="en-IN" sz="1400" b="1" dirty="0"/>
                <a:t>     </a:t>
              </a:r>
              <a:endParaRPr lang="en-IN" sz="1200" dirty="0"/>
            </a:p>
          </p:txBody>
        </p:sp>
      </p:grpSp>
      <p:sp>
        <p:nvSpPr>
          <p:cNvPr id="2" name="Oval 1">
            <a:extLst>
              <a:ext uri="{FF2B5EF4-FFF2-40B4-BE49-F238E27FC236}">
                <a16:creationId xmlns:a16="http://schemas.microsoft.com/office/drawing/2014/main" id="{63E4C2D1-01ED-3600-93CF-D031BDBF3976}"/>
              </a:ext>
            </a:extLst>
          </p:cNvPr>
          <p:cNvSpPr/>
          <p:nvPr/>
        </p:nvSpPr>
        <p:spPr>
          <a:xfrm>
            <a:off x="8840788" y="1795903"/>
            <a:ext cx="2794454" cy="279445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F5BDE84A-F342-5D81-F365-3ED5AF584800}"/>
              </a:ext>
            </a:extLst>
          </p:cNvPr>
          <p:cNvSpPr/>
          <p:nvPr/>
        </p:nvSpPr>
        <p:spPr>
          <a:xfrm>
            <a:off x="9219515" y="2550419"/>
            <a:ext cx="2037002" cy="2037002"/>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92F8E75-6CC4-0EEB-2DC1-834313933052}"/>
              </a:ext>
            </a:extLst>
          </p:cNvPr>
          <p:cNvSpPr/>
          <p:nvPr/>
        </p:nvSpPr>
        <p:spPr>
          <a:xfrm>
            <a:off x="9622787" y="3339863"/>
            <a:ext cx="1247558" cy="1247558"/>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2D766F1-C56C-0ABF-F716-FF90A45AB904}"/>
              </a:ext>
            </a:extLst>
          </p:cNvPr>
          <p:cNvSpPr txBox="1"/>
          <p:nvPr/>
        </p:nvSpPr>
        <p:spPr>
          <a:xfrm>
            <a:off x="9513773" y="2011852"/>
            <a:ext cx="1448484" cy="400110"/>
          </a:xfrm>
          <a:prstGeom prst="rect">
            <a:avLst/>
          </a:prstGeom>
          <a:noFill/>
        </p:spPr>
        <p:txBody>
          <a:bodyPr wrap="square" rtlCol="0">
            <a:spAutoFit/>
          </a:bodyPr>
          <a:lstStyle/>
          <a:p>
            <a:pPr algn="ctr"/>
            <a:r>
              <a:rPr lang="en-IN" sz="2000" b="1" dirty="0"/>
              <a:t>$87.59 Bn</a:t>
            </a:r>
            <a:endParaRPr lang="en-US" sz="2000" b="1" dirty="0"/>
          </a:p>
        </p:txBody>
      </p:sp>
      <p:sp>
        <p:nvSpPr>
          <p:cNvPr id="13" name="TextBox 12">
            <a:extLst>
              <a:ext uri="{FF2B5EF4-FFF2-40B4-BE49-F238E27FC236}">
                <a16:creationId xmlns:a16="http://schemas.microsoft.com/office/drawing/2014/main" id="{60BAF5B6-C9AC-5525-DE28-942C8BBFA8BF}"/>
              </a:ext>
            </a:extLst>
          </p:cNvPr>
          <p:cNvSpPr txBox="1"/>
          <p:nvPr/>
        </p:nvSpPr>
        <p:spPr>
          <a:xfrm>
            <a:off x="9511520" y="2839276"/>
            <a:ext cx="1448484" cy="369332"/>
          </a:xfrm>
          <a:prstGeom prst="rect">
            <a:avLst/>
          </a:prstGeom>
          <a:noFill/>
        </p:spPr>
        <p:txBody>
          <a:bodyPr wrap="square" rtlCol="0">
            <a:spAutoFit/>
          </a:bodyPr>
          <a:lstStyle/>
          <a:p>
            <a:pPr algn="ctr"/>
            <a:r>
              <a:rPr lang="en-IN" b="1" dirty="0"/>
              <a:t>$19.78 Bn</a:t>
            </a:r>
            <a:endParaRPr lang="en-US" b="1" dirty="0"/>
          </a:p>
        </p:txBody>
      </p:sp>
      <p:sp>
        <p:nvSpPr>
          <p:cNvPr id="14" name="TextBox 13">
            <a:extLst>
              <a:ext uri="{FF2B5EF4-FFF2-40B4-BE49-F238E27FC236}">
                <a16:creationId xmlns:a16="http://schemas.microsoft.com/office/drawing/2014/main" id="{AC35E2B3-001D-B628-9D95-A30C027ED561}"/>
              </a:ext>
            </a:extLst>
          </p:cNvPr>
          <p:cNvSpPr txBox="1"/>
          <p:nvPr/>
        </p:nvSpPr>
        <p:spPr>
          <a:xfrm>
            <a:off x="9511520" y="3658384"/>
            <a:ext cx="1448484" cy="369332"/>
          </a:xfrm>
          <a:prstGeom prst="rect">
            <a:avLst/>
          </a:prstGeom>
          <a:noFill/>
        </p:spPr>
        <p:txBody>
          <a:bodyPr wrap="square" rtlCol="0">
            <a:spAutoFit/>
          </a:bodyPr>
          <a:lstStyle/>
          <a:p>
            <a:pPr algn="ctr"/>
            <a:r>
              <a:rPr lang="en-IN" b="1" dirty="0"/>
              <a:t>$4.15 Bn</a:t>
            </a:r>
            <a:endParaRPr lang="en-US" b="1" dirty="0"/>
          </a:p>
        </p:txBody>
      </p:sp>
      <p:sp>
        <p:nvSpPr>
          <p:cNvPr id="15" name="TextBox 14">
            <a:extLst>
              <a:ext uri="{FF2B5EF4-FFF2-40B4-BE49-F238E27FC236}">
                <a16:creationId xmlns:a16="http://schemas.microsoft.com/office/drawing/2014/main" id="{EA4F6486-0A61-32AB-93BC-257AB46E12E8}"/>
              </a:ext>
            </a:extLst>
          </p:cNvPr>
          <p:cNvSpPr txBox="1"/>
          <p:nvPr/>
        </p:nvSpPr>
        <p:spPr>
          <a:xfrm>
            <a:off x="8368786" y="4770961"/>
            <a:ext cx="3755560" cy="1785104"/>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a:defRPr sz="12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lang="en-IN" sz="1600" b="1" dirty="0">
                <a:solidFill>
                  <a:schemeClr val="tx1"/>
                </a:solidFill>
              </a:rPr>
              <a:t>Approach:</a:t>
            </a:r>
          </a:p>
          <a:p>
            <a:pPr algn="just"/>
            <a:endParaRPr lang="en-IN" dirty="0">
              <a:solidFill>
                <a:schemeClr val="tx1"/>
              </a:solidFill>
            </a:endParaRPr>
          </a:p>
          <a:p>
            <a:pPr algn="just"/>
            <a:r>
              <a:rPr lang="en-IN" sz="1400" b="1" dirty="0">
                <a:solidFill>
                  <a:schemeClr val="tx1"/>
                </a:solidFill>
              </a:rPr>
              <a:t>TAM</a:t>
            </a:r>
            <a:r>
              <a:rPr lang="en-IN" sz="1400" dirty="0">
                <a:solidFill>
                  <a:schemeClr val="tx1"/>
                </a:solidFill>
              </a:rPr>
              <a:t> -&gt; Total apparel market in India = $87.56 Bn.</a:t>
            </a:r>
          </a:p>
          <a:p>
            <a:pPr algn="just"/>
            <a:r>
              <a:rPr lang="en-IN" sz="1400" b="1" dirty="0">
                <a:solidFill>
                  <a:schemeClr val="tx1"/>
                </a:solidFill>
              </a:rPr>
              <a:t>SAM</a:t>
            </a:r>
            <a:r>
              <a:rPr lang="en-IN" sz="1400" dirty="0">
                <a:solidFill>
                  <a:schemeClr val="tx1"/>
                </a:solidFill>
              </a:rPr>
              <a:t> -&gt; Kid’s apparel market share is 22.5% of the total market = 87.59*.225 = $19.78 Bn.</a:t>
            </a:r>
          </a:p>
          <a:p>
            <a:pPr algn="just"/>
            <a:r>
              <a:rPr lang="en-IN" sz="1400" b="1" dirty="0">
                <a:solidFill>
                  <a:schemeClr val="tx1"/>
                </a:solidFill>
              </a:rPr>
              <a:t>SOM</a:t>
            </a:r>
            <a:r>
              <a:rPr lang="en-IN" sz="1400" dirty="0">
                <a:solidFill>
                  <a:schemeClr val="tx1"/>
                </a:solidFill>
              </a:rPr>
              <a:t> -&gt; Sustainable fashion market as of now is 2.1% of the total. Assuming the same % in Kid’s wear it is = 19.78*.21 = $5.15 Bn.</a:t>
            </a:r>
          </a:p>
          <a:p>
            <a:pPr algn="just"/>
            <a:endParaRPr lang="en-US" dirty="0">
              <a:solidFill>
                <a:schemeClr val="tx1"/>
              </a:solidFill>
            </a:endParaRPr>
          </a:p>
        </p:txBody>
      </p:sp>
      <p:sp>
        <p:nvSpPr>
          <p:cNvPr id="26" name="Rectangle 25">
            <a:extLst>
              <a:ext uri="{FF2B5EF4-FFF2-40B4-BE49-F238E27FC236}">
                <a16:creationId xmlns:a16="http://schemas.microsoft.com/office/drawing/2014/main" id="{1789B08E-AFC8-8672-4D10-1D1BB43A3EFE}"/>
              </a:ext>
            </a:extLst>
          </p:cNvPr>
          <p:cNvSpPr/>
          <p:nvPr/>
        </p:nvSpPr>
        <p:spPr>
          <a:xfrm>
            <a:off x="0" y="0"/>
            <a:ext cx="4105920" cy="93900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solidFill>
                  <a:schemeClr val="tx1"/>
                </a:solidFill>
              </a:rPr>
              <a:t>Resources Used:</a:t>
            </a:r>
            <a:endParaRPr lang="en-US" sz="1600" b="1" dirty="0">
              <a:solidFill>
                <a:schemeClr val="tx1"/>
              </a:solidFill>
            </a:endParaRPr>
          </a:p>
        </p:txBody>
      </p:sp>
      <p:pic>
        <p:nvPicPr>
          <p:cNvPr id="1026" name="Picture 2" descr="Bamboo ">
            <a:extLst>
              <a:ext uri="{FF2B5EF4-FFF2-40B4-BE49-F238E27FC236}">
                <a16:creationId xmlns:a16="http://schemas.microsoft.com/office/drawing/2014/main" id="{67AEA0D7-E28E-557C-5640-64E47740EA3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78429" y="54430"/>
            <a:ext cx="8382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anned food ">
            <a:extLst>
              <a:ext uri="{FF2B5EF4-FFF2-40B4-BE49-F238E27FC236}">
                <a16:creationId xmlns:a16="http://schemas.microsoft.com/office/drawing/2014/main" id="{F4C3281E-157D-03BD-38F4-A36CB8F7DB9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27705" y="37853"/>
            <a:ext cx="865662" cy="86566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lus ">
            <a:extLst>
              <a:ext uri="{FF2B5EF4-FFF2-40B4-BE49-F238E27FC236}">
                <a16:creationId xmlns:a16="http://schemas.microsoft.com/office/drawing/2014/main" id="{2180143D-A1A4-C7FC-5DB5-24F08BD8087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14720" y="310996"/>
            <a:ext cx="416365" cy="416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1421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30003BCC-7453-D2BB-96DD-8531F3E713A1}"/>
              </a:ext>
            </a:extLst>
          </p:cNvPr>
          <p:cNvSpPr txBox="1"/>
          <p:nvPr/>
        </p:nvSpPr>
        <p:spPr>
          <a:xfrm>
            <a:off x="3819935" y="3554010"/>
            <a:ext cx="2077318" cy="3046988"/>
          </a:xfrm>
          <a:prstGeom prst="rect">
            <a:avLst/>
          </a:prstGeom>
          <a:noFill/>
          <a:ln w="9525">
            <a:solidFill>
              <a:schemeClr val="tx1"/>
            </a:solidFill>
            <a:prstDash val="lgDashDot"/>
            <a:extLst>
              <a:ext uri="{C807C97D-BFC1-408E-A445-0C87EB9F89A2}">
                <ask:lineSketchStyleProps xmlns:ask="http://schemas.microsoft.com/office/drawing/2018/sketchyshapes" sd="879467300">
                  <a:custGeom>
                    <a:avLst/>
                    <a:gdLst>
                      <a:gd name="connsiteX0" fmla="*/ 0 w 5715000"/>
                      <a:gd name="connsiteY0" fmla="*/ 0 h 2246769"/>
                      <a:gd name="connsiteX1" fmla="*/ 571500 w 5715000"/>
                      <a:gd name="connsiteY1" fmla="*/ 0 h 2246769"/>
                      <a:gd name="connsiteX2" fmla="*/ 1143000 w 5715000"/>
                      <a:gd name="connsiteY2" fmla="*/ 0 h 2246769"/>
                      <a:gd name="connsiteX3" fmla="*/ 1714500 w 5715000"/>
                      <a:gd name="connsiteY3" fmla="*/ 0 h 2246769"/>
                      <a:gd name="connsiteX4" fmla="*/ 2400300 w 5715000"/>
                      <a:gd name="connsiteY4" fmla="*/ 0 h 2246769"/>
                      <a:gd name="connsiteX5" fmla="*/ 2800350 w 5715000"/>
                      <a:gd name="connsiteY5" fmla="*/ 0 h 2246769"/>
                      <a:gd name="connsiteX6" fmla="*/ 3486150 w 5715000"/>
                      <a:gd name="connsiteY6" fmla="*/ 0 h 2246769"/>
                      <a:gd name="connsiteX7" fmla="*/ 3886200 w 5715000"/>
                      <a:gd name="connsiteY7" fmla="*/ 0 h 2246769"/>
                      <a:gd name="connsiteX8" fmla="*/ 4572000 w 5715000"/>
                      <a:gd name="connsiteY8" fmla="*/ 0 h 2246769"/>
                      <a:gd name="connsiteX9" fmla="*/ 4972050 w 5715000"/>
                      <a:gd name="connsiteY9" fmla="*/ 0 h 2246769"/>
                      <a:gd name="connsiteX10" fmla="*/ 5715000 w 5715000"/>
                      <a:gd name="connsiteY10" fmla="*/ 0 h 2246769"/>
                      <a:gd name="connsiteX11" fmla="*/ 5715000 w 5715000"/>
                      <a:gd name="connsiteY11" fmla="*/ 606628 h 2246769"/>
                      <a:gd name="connsiteX12" fmla="*/ 5715000 w 5715000"/>
                      <a:gd name="connsiteY12" fmla="*/ 1190788 h 2246769"/>
                      <a:gd name="connsiteX13" fmla="*/ 5715000 w 5715000"/>
                      <a:gd name="connsiteY13" fmla="*/ 2246769 h 2246769"/>
                      <a:gd name="connsiteX14" fmla="*/ 5086350 w 5715000"/>
                      <a:gd name="connsiteY14" fmla="*/ 2246769 h 2246769"/>
                      <a:gd name="connsiteX15" fmla="*/ 4572000 w 5715000"/>
                      <a:gd name="connsiteY15" fmla="*/ 2246769 h 2246769"/>
                      <a:gd name="connsiteX16" fmla="*/ 4114800 w 5715000"/>
                      <a:gd name="connsiteY16" fmla="*/ 2246769 h 2246769"/>
                      <a:gd name="connsiteX17" fmla="*/ 3714750 w 5715000"/>
                      <a:gd name="connsiteY17" fmla="*/ 2246769 h 2246769"/>
                      <a:gd name="connsiteX18" fmla="*/ 3028950 w 5715000"/>
                      <a:gd name="connsiteY18" fmla="*/ 2246769 h 2246769"/>
                      <a:gd name="connsiteX19" fmla="*/ 2457450 w 5715000"/>
                      <a:gd name="connsiteY19" fmla="*/ 2246769 h 2246769"/>
                      <a:gd name="connsiteX20" fmla="*/ 1885950 w 5715000"/>
                      <a:gd name="connsiteY20" fmla="*/ 2246769 h 2246769"/>
                      <a:gd name="connsiteX21" fmla="*/ 1428750 w 5715000"/>
                      <a:gd name="connsiteY21" fmla="*/ 2246769 h 2246769"/>
                      <a:gd name="connsiteX22" fmla="*/ 742950 w 5715000"/>
                      <a:gd name="connsiteY22" fmla="*/ 2246769 h 2246769"/>
                      <a:gd name="connsiteX23" fmla="*/ 0 w 5715000"/>
                      <a:gd name="connsiteY23" fmla="*/ 2246769 h 2246769"/>
                      <a:gd name="connsiteX24" fmla="*/ 0 w 5715000"/>
                      <a:gd name="connsiteY24" fmla="*/ 1730012 h 2246769"/>
                      <a:gd name="connsiteX25" fmla="*/ 0 w 5715000"/>
                      <a:gd name="connsiteY25" fmla="*/ 1168320 h 2246769"/>
                      <a:gd name="connsiteX26" fmla="*/ 0 w 5715000"/>
                      <a:gd name="connsiteY26" fmla="*/ 674031 h 2246769"/>
                      <a:gd name="connsiteX27" fmla="*/ 0 w 5715000"/>
                      <a:gd name="connsiteY27" fmla="*/ 0 h 2246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15000" h="2246769" extrusionOk="0">
                        <a:moveTo>
                          <a:pt x="0" y="0"/>
                        </a:moveTo>
                        <a:cubicBezTo>
                          <a:pt x="129941" y="-47727"/>
                          <a:pt x="289325" y="49665"/>
                          <a:pt x="571500" y="0"/>
                        </a:cubicBezTo>
                        <a:cubicBezTo>
                          <a:pt x="853675" y="-49665"/>
                          <a:pt x="1016760" y="26007"/>
                          <a:pt x="1143000" y="0"/>
                        </a:cubicBezTo>
                        <a:cubicBezTo>
                          <a:pt x="1269240" y="-26007"/>
                          <a:pt x="1569322" y="23220"/>
                          <a:pt x="1714500" y="0"/>
                        </a:cubicBezTo>
                        <a:cubicBezTo>
                          <a:pt x="1859678" y="-23220"/>
                          <a:pt x="2182239" y="9639"/>
                          <a:pt x="2400300" y="0"/>
                        </a:cubicBezTo>
                        <a:cubicBezTo>
                          <a:pt x="2618361" y="-9639"/>
                          <a:pt x="2686217" y="8107"/>
                          <a:pt x="2800350" y="0"/>
                        </a:cubicBezTo>
                        <a:cubicBezTo>
                          <a:pt x="2914483" y="-8107"/>
                          <a:pt x="3302080" y="46316"/>
                          <a:pt x="3486150" y="0"/>
                        </a:cubicBezTo>
                        <a:cubicBezTo>
                          <a:pt x="3670220" y="-46316"/>
                          <a:pt x="3687608" y="7334"/>
                          <a:pt x="3886200" y="0"/>
                        </a:cubicBezTo>
                        <a:cubicBezTo>
                          <a:pt x="4084792" y="-7334"/>
                          <a:pt x="4275868" y="69766"/>
                          <a:pt x="4572000" y="0"/>
                        </a:cubicBezTo>
                        <a:cubicBezTo>
                          <a:pt x="4868132" y="-69766"/>
                          <a:pt x="4881829" y="9978"/>
                          <a:pt x="4972050" y="0"/>
                        </a:cubicBezTo>
                        <a:cubicBezTo>
                          <a:pt x="5062271" y="-9978"/>
                          <a:pt x="5493306" y="4751"/>
                          <a:pt x="5715000" y="0"/>
                        </a:cubicBezTo>
                        <a:cubicBezTo>
                          <a:pt x="5760118" y="275580"/>
                          <a:pt x="5701101" y="344889"/>
                          <a:pt x="5715000" y="606628"/>
                        </a:cubicBezTo>
                        <a:cubicBezTo>
                          <a:pt x="5728899" y="868367"/>
                          <a:pt x="5708641" y="914979"/>
                          <a:pt x="5715000" y="1190788"/>
                        </a:cubicBezTo>
                        <a:cubicBezTo>
                          <a:pt x="5721359" y="1466597"/>
                          <a:pt x="5700563" y="1785151"/>
                          <a:pt x="5715000" y="2246769"/>
                        </a:cubicBezTo>
                        <a:cubicBezTo>
                          <a:pt x="5460018" y="2247787"/>
                          <a:pt x="5304134" y="2183125"/>
                          <a:pt x="5086350" y="2246769"/>
                        </a:cubicBezTo>
                        <a:cubicBezTo>
                          <a:pt x="4868566" y="2310413"/>
                          <a:pt x="4822624" y="2238101"/>
                          <a:pt x="4572000" y="2246769"/>
                        </a:cubicBezTo>
                        <a:cubicBezTo>
                          <a:pt x="4321376" y="2255437"/>
                          <a:pt x="4248017" y="2218084"/>
                          <a:pt x="4114800" y="2246769"/>
                        </a:cubicBezTo>
                        <a:cubicBezTo>
                          <a:pt x="3981583" y="2275454"/>
                          <a:pt x="3829450" y="2200913"/>
                          <a:pt x="3714750" y="2246769"/>
                        </a:cubicBezTo>
                        <a:cubicBezTo>
                          <a:pt x="3600050" y="2292625"/>
                          <a:pt x="3180251" y="2236443"/>
                          <a:pt x="3028950" y="2246769"/>
                        </a:cubicBezTo>
                        <a:cubicBezTo>
                          <a:pt x="2877649" y="2257095"/>
                          <a:pt x="2717132" y="2186363"/>
                          <a:pt x="2457450" y="2246769"/>
                        </a:cubicBezTo>
                        <a:cubicBezTo>
                          <a:pt x="2197768" y="2307175"/>
                          <a:pt x="2126506" y="2208834"/>
                          <a:pt x="1885950" y="2246769"/>
                        </a:cubicBezTo>
                        <a:cubicBezTo>
                          <a:pt x="1645394" y="2284704"/>
                          <a:pt x="1636436" y="2221242"/>
                          <a:pt x="1428750" y="2246769"/>
                        </a:cubicBezTo>
                        <a:cubicBezTo>
                          <a:pt x="1221064" y="2272296"/>
                          <a:pt x="1035876" y="2171497"/>
                          <a:pt x="742950" y="2246769"/>
                        </a:cubicBezTo>
                        <a:cubicBezTo>
                          <a:pt x="450024" y="2322041"/>
                          <a:pt x="183530" y="2197005"/>
                          <a:pt x="0" y="2246769"/>
                        </a:cubicBezTo>
                        <a:cubicBezTo>
                          <a:pt x="-45062" y="1992132"/>
                          <a:pt x="9193" y="1938862"/>
                          <a:pt x="0" y="1730012"/>
                        </a:cubicBezTo>
                        <a:cubicBezTo>
                          <a:pt x="-9193" y="1521162"/>
                          <a:pt x="17384" y="1295193"/>
                          <a:pt x="0" y="1168320"/>
                        </a:cubicBezTo>
                        <a:cubicBezTo>
                          <a:pt x="-17384" y="1041447"/>
                          <a:pt x="24490" y="835722"/>
                          <a:pt x="0" y="674031"/>
                        </a:cubicBezTo>
                        <a:cubicBezTo>
                          <a:pt x="-24490" y="512340"/>
                          <a:pt x="42306" y="239594"/>
                          <a:pt x="0" y="0"/>
                        </a:cubicBezTo>
                        <a:close/>
                      </a:path>
                    </a:pathLst>
                  </a:custGeom>
                  <ask:type>
                    <ask:lineSketchNone/>
                  </ask:type>
                </ask:lineSketchStyleProps>
              </a:ext>
            </a:extLst>
          </a:ln>
        </p:spPr>
        <p:txBody>
          <a:bodyPr wrap="square" rtlCol="0">
            <a:spAutoFit/>
          </a:bodyPr>
          <a:lstStyle/>
          <a:p>
            <a:pPr marL="171450" indent="-171450" algn="just">
              <a:buFont typeface="Arial" panose="020B0604020202020204" pitchFamily="34" charset="0"/>
              <a:buChar char="•"/>
            </a:pPr>
            <a:r>
              <a:rPr lang="en-US" sz="1200" dirty="0"/>
              <a:t>Production space and warehouse on rent</a:t>
            </a:r>
          </a:p>
          <a:p>
            <a:pPr marL="171450" indent="-171450" algn="just">
              <a:buFont typeface="Arial" panose="020B0604020202020204" pitchFamily="34" charset="0"/>
              <a:buChar char="•"/>
            </a:pPr>
            <a:r>
              <a:rPr lang="en-US" sz="1200" dirty="0"/>
              <a:t>Research and development space</a:t>
            </a:r>
          </a:p>
          <a:p>
            <a:pPr marL="171450" indent="-171450" algn="just">
              <a:buFont typeface="Arial" panose="020B0604020202020204" pitchFamily="34" charset="0"/>
              <a:buChar char="•"/>
            </a:pPr>
            <a:r>
              <a:rPr lang="en-IN" sz="1200" dirty="0"/>
              <a:t>Manufacturing tools on rent</a:t>
            </a:r>
            <a:endParaRPr lang="en-US" sz="1200" dirty="0"/>
          </a:p>
          <a:p>
            <a:pPr marL="171450" indent="-171450" algn="just">
              <a:buFont typeface="Arial" panose="020B0604020202020204" pitchFamily="34" charset="0"/>
              <a:buChar char="•"/>
            </a:pPr>
            <a:r>
              <a:rPr lang="en-IN" sz="1200" dirty="0"/>
              <a:t>Aluminium subcontractors </a:t>
            </a:r>
          </a:p>
          <a:p>
            <a:pPr marL="171450" indent="-171450" algn="just">
              <a:buFont typeface="Arial" panose="020B0604020202020204" pitchFamily="34" charset="0"/>
              <a:buChar char="•"/>
            </a:pPr>
            <a:r>
              <a:rPr lang="en-US" sz="1200" dirty="0"/>
              <a:t>Personal website</a:t>
            </a:r>
            <a:endParaRPr lang="en-IN" sz="1200" dirty="0"/>
          </a:p>
          <a:p>
            <a:pPr marL="171450" indent="-171450" algn="just">
              <a:buFont typeface="Arial" panose="020B0604020202020204" pitchFamily="34" charset="0"/>
              <a:buChar char="•"/>
            </a:pPr>
            <a:r>
              <a:rPr lang="en-US" sz="1200" dirty="0"/>
              <a:t>high-tech software</a:t>
            </a:r>
          </a:p>
          <a:p>
            <a:pPr marL="171450" indent="-171450" algn="just">
              <a:buFont typeface="Arial" panose="020B0604020202020204" pitchFamily="34" charset="0"/>
              <a:buChar char="•"/>
            </a:pPr>
            <a:r>
              <a:rPr lang="en-US" sz="1200" dirty="0"/>
              <a:t>Capital</a:t>
            </a:r>
          </a:p>
          <a:p>
            <a:pPr marL="171450" indent="-171450" algn="just">
              <a:buFont typeface="Arial" panose="020B0604020202020204" pitchFamily="34" charset="0"/>
              <a:buChar char="•"/>
            </a:pPr>
            <a:r>
              <a:rPr lang="en-IN" sz="1200" dirty="0"/>
              <a:t>Individual resources : </a:t>
            </a:r>
            <a:endParaRPr lang="en-US" sz="1200" dirty="0"/>
          </a:p>
          <a:p>
            <a:pPr marL="628650" lvl="1" indent="-171450" algn="just">
              <a:buFont typeface="Arial" panose="020B0604020202020204" pitchFamily="34" charset="0"/>
              <a:buChar char="•"/>
            </a:pPr>
            <a:r>
              <a:rPr lang="en-IN" sz="1200" dirty="0"/>
              <a:t>In house tailors</a:t>
            </a:r>
            <a:endParaRPr lang="en-US" sz="1200" dirty="0"/>
          </a:p>
          <a:p>
            <a:pPr marL="628650" lvl="1" indent="-171450" algn="just">
              <a:buFont typeface="Arial" panose="020B0604020202020204" pitchFamily="34" charset="0"/>
              <a:buChar char="•"/>
            </a:pPr>
            <a:r>
              <a:rPr lang="en-IN" sz="1200" dirty="0"/>
              <a:t>Machinery/equipment</a:t>
            </a:r>
            <a:endParaRPr lang="en-US" sz="1200" dirty="0"/>
          </a:p>
          <a:p>
            <a:pPr marL="628650" lvl="1" indent="-171450" algn="just">
              <a:buFont typeface="Arial" panose="020B0604020202020204" pitchFamily="34" charset="0"/>
              <a:buChar char="•"/>
            </a:pPr>
            <a:r>
              <a:rPr lang="en-IN" sz="1200" dirty="0"/>
              <a:t>Staff : Employee</a:t>
            </a:r>
          </a:p>
          <a:p>
            <a:pPr marL="171450" indent="-171450" algn="just">
              <a:buFont typeface="Arial" panose="020B0604020202020204" pitchFamily="34" charset="0"/>
              <a:buChar char="•"/>
            </a:pPr>
            <a:endParaRPr lang="en-US" sz="1200" dirty="0"/>
          </a:p>
        </p:txBody>
      </p:sp>
      <p:sp>
        <p:nvSpPr>
          <p:cNvPr id="4" name="TextBox 3">
            <a:extLst>
              <a:ext uri="{FF2B5EF4-FFF2-40B4-BE49-F238E27FC236}">
                <a16:creationId xmlns:a16="http://schemas.microsoft.com/office/drawing/2014/main" id="{7430CC32-8530-8EA1-4DB8-5DD1C04CBA52}"/>
              </a:ext>
            </a:extLst>
          </p:cNvPr>
          <p:cNvSpPr txBox="1"/>
          <p:nvPr/>
        </p:nvSpPr>
        <p:spPr>
          <a:xfrm>
            <a:off x="116248" y="3556568"/>
            <a:ext cx="3318390" cy="3046988"/>
          </a:xfrm>
          <a:prstGeom prst="rect">
            <a:avLst/>
          </a:prstGeom>
          <a:noFill/>
          <a:ln w="9525">
            <a:solidFill>
              <a:schemeClr val="tx1"/>
            </a:solidFill>
            <a:prstDash val="lgDashDot"/>
            <a:extLst>
              <a:ext uri="{C807C97D-BFC1-408E-A445-0C87EB9F89A2}">
                <ask:lineSketchStyleProps xmlns:ask="http://schemas.microsoft.com/office/drawing/2018/sketchyshapes" sd="879467300">
                  <a:custGeom>
                    <a:avLst/>
                    <a:gdLst>
                      <a:gd name="connsiteX0" fmla="*/ 0 w 5715000"/>
                      <a:gd name="connsiteY0" fmla="*/ 0 h 2246769"/>
                      <a:gd name="connsiteX1" fmla="*/ 571500 w 5715000"/>
                      <a:gd name="connsiteY1" fmla="*/ 0 h 2246769"/>
                      <a:gd name="connsiteX2" fmla="*/ 1143000 w 5715000"/>
                      <a:gd name="connsiteY2" fmla="*/ 0 h 2246769"/>
                      <a:gd name="connsiteX3" fmla="*/ 1714500 w 5715000"/>
                      <a:gd name="connsiteY3" fmla="*/ 0 h 2246769"/>
                      <a:gd name="connsiteX4" fmla="*/ 2400300 w 5715000"/>
                      <a:gd name="connsiteY4" fmla="*/ 0 h 2246769"/>
                      <a:gd name="connsiteX5" fmla="*/ 2800350 w 5715000"/>
                      <a:gd name="connsiteY5" fmla="*/ 0 h 2246769"/>
                      <a:gd name="connsiteX6" fmla="*/ 3486150 w 5715000"/>
                      <a:gd name="connsiteY6" fmla="*/ 0 h 2246769"/>
                      <a:gd name="connsiteX7" fmla="*/ 3886200 w 5715000"/>
                      <a:gd name="connsiteY7" fmla="*/ 0 h 2246769"/>
                      <a:gd name="connsiteX8" fmla="*/ 4572000 w 5715000"/>
                      <a:gd name="connsiteY8" fmla="*/ 0 h 2246769"/>
                      <a:gd name="connsiteX9" fmla="*/ 4972050 w 5715000"/>
                      <a:gd name="connsiteY9" fmla="*/ 0 h 2246769"/>
                      <a:gd name="connsiteX10" fmla="*/ 5715000 w 5715000"/>
                      <a:gd name="connsiteY10" fmla="*/ 0 h 2246769"/>
                      <a:gd name="connsiteX11" fmla="*/ 5715000 w 5715000"/>
                      <a:gd name="connsiteY11" fmla="*/ 606628 h 2246769"/>
                      <a:gd name="connsiteX12" fmla="*/ 5715000 w 5715000"/>
                      <a:gd name="connsiteY12" fmla="*/ 1190788 h 2246769"/>
                      <a:gd name="connsiteX13" fmla="*/ 5715000 w 5715000"/>
                      <a:gd name="connsiteY13" fmla="*/ 2246769 h 2246769"/>
                      <a:gd name="connsiteX14" fmla="*/ 5086350 w 5715000"/>
                      <a:gd name="connsiteY14" fmla="*/ 2246769 h 2246769"/>
                      <a:gd name="connsiteX15" fmla="*/ 4572000 w 5715000"/>
                      <a:gd name="connsiteY15" fmla="*/ 2246769 h 2246769"/>
                      <a:gd name="connsiteX16" fmla="*/ 4114800 w 5715000"/>
                      <a:gd name="connsiteY16" fmla="*/ 2246769 h 2246769"/>
                      <a:gd name="connsiteX17" fmla="*/ 3714750 w 5715000"/>
                      <a:gd name="connsiteY17" fmla="*/ 2246769 h 2246769"/>
                      <a:gd name="connsiteX18" fmla="*/ 3028950 w 5715000"/>
                      <a:gd name="connsiteY18" fmla="*/ 2246769 h 2246769"/>
                      <a:gd name="connsiteX19" fmla="*/ 2457450 w 5715000"/>
                      <a:gd name="connsiteY19" fmla="*/ 2246769 h 2246769"/>
                      <a:gd name="connsiteX20" fmla="*/ 1885950 w 5715000"/>
                      <a:gd name="connsiteY20" fmla="*/ 2246769 h 2246769"/>
                      <a:gd name="connsiteX21" fmla="*/ 1428750 w 5715000"/>
                      <a:gd name="connsiteY21" fmla="*/ 2246769 h 2246769"/>
                      <a:gd name="connsiteX22" fmla="*/ 742950 w 5715000"/>
                      <a:gd name="connsiteY22" fmla="*/ 2246769 h 2246769"/>
                      <a:gd name="connsiteX23" fmla="*/ 0 w 5715000"/>
                      <a:gd name="connsiteY23" fmla="*/ 2246769 h 2246769"/>
                      <a:gd name="connsiteX24" fmla="*/ 0 w 5715000"/>
                      <a:gd name="connsiteY24" fmla="*/ 1730012 h 2246769"/>
                      <a:gd name="connsiteX25" fmla="*/ 0 w 5715000"/>
                      <a:gd name="connsiteY25" fmla="*/ 1168320 h 2246769"/>
                      <a:gd name="connsiteX26" fmla="*/ 0 w 5715000"/>
                      <a:gd name="connsiteY26" fmla="*/ 674031 h 2246769"/>
                      <a:gd name="connsiteX27" fmla="*/ 0 w 5715000"/>
                      <a:gd name="connsiteY27" fmla="*/ 0 h 2246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15000" h="2246769" extrusionOk="0">
                        <a:moveTo>
                          <a:pt x="0" y="0"/>
                        </a:moveTo>
                        <a:cubicBezTo>
                          <a:pt x="129941" y="-47727"/>
                          <a:pt x="289325" y="49665"/>
                          <a:pt x="571500" y="0"/>
                        </a:cubicBezTo>
                        <a:cubicBezTo>
                          <a:pt x="853675" y="-49665"/>
                          <a:pt x="1016760" y="26007"/>
                          <a:pt x="1143000" y="0"/>
                        </a:cubicBezTo>
                        <a:cubicBezTo>
                          <a:pt x="1269240" y="-26007"/>
                          <a:pt x="1569322" y="23220"/>
                          <a:pt x="1714500" y="0"/>
                        </a:cubicBezTo>
                        <a:cubicBezTo>
                          <a:pt x="1859678" y="-23220"/>
                          <a:pt x="2182239" y="9639"/>
                          <a:pt x="2400300" y="0"/>
                        </a:cubicBezTo>
                        <a:cubicBezTo>
                          <a:pt x="2618361" y="-9639"/>
                          <a:pt x="2686217" y="8107"/>
                          <a:pt x="2800350" y="0"/>
                        </a:cubicBezTo>
                        <a:cubicBezTo>
                          <a:pt x="2914483" y="-8107"/>
                          <a:pt x="3302080" y="46316"/>
                          <a:pt x="3486150" y="0"/>
                        </a:cubicBezTo>
                        <a:cubicBezTo>
                          <a:pt x="3670220" y="-46316"/>
                          <a:pt x="3687608" y="7334"/>
                          <a:pt x="3886200" y="0"/>
                        </a:cubicBezTo>
                        <a:cubicBezTo>
                          <a:pt x="4084792" y="-7334"/>
                          <a:pt x="4275868" y="69766"/>
                          <a:pt x="4572000" y="0"/>
                        </a:cubicBezTo>
                        <a:cubicBezTo>
                          <a:pt x="4868132" y="-69766"/>
                          <a:pt x="4881829" y="9978"/>
                          <a:pt x="4972050" y="0"/>
                        </a:cubicBezTo>
                        <a:cubicBezTo>
                          <a:pt x="5062271" y="-9978"/>
                          <a:pt x="5493306" y="4751"/>
                          <a:pt x="5715000" y="0"/>
                        </a:cubicBezTo>
                        <a:cubicBezTo>
                          <a:pt x="5760118" y="275580"/>
                          <a:pt x="5701101" y="344889"/>
                          <a:pt x="5715000" y="606628"/>
                        </a:cubicBezTo>
                        <a:cubicBezTo>
                          <a:pt x="5728899" y="868367"/>
                          <a:pt x="5708641" y="914979"/>
                          <a:pt x="5715000" y="1190788"/>
                        </a:cubicBezTo>
                        <a:cubicBezTo>
                          <a:pt x="5721359" y="1466597"/>
                          <a:pt x="5700563" y="1785151"/>
                          <a:pt x="5715000" y="2246769"/>
                        </a:cubicBezTo>
                        <a:cubicBezTo>
                          <a:pt x="5460018" y="2247787"/>
                          <a:pt x="5304134" y="2183125"/>
                          <a:pt x="5086350" y="2246769"/>
                        </a:cubicBezTo>
                        <a:cubicBezTo>
                          <a:pt x="4868566" y="2310413"/>
                          <a:pt x="4822624" y="2238101"/>
                          <a:pt x="4572000" y="2246769"/>
                        </a:cubicBezTo>
                        <a:cubicBezTo>
                          <a:pt x="4321376" y="2255437"/>
                          <a:pt x="4248017" y="2218084"/>
                          <a:pt x="4114800" y="2246769"/>
                        </a:cubicBezTo>
                        <a:cubicBezTo>
                          <a:pt x="3981583" y="2275454"/>
                          <a:pt x="3829450" y="2200913"/>
                          <a:pt x="3714750" y="2246769"/>
                        </a:cubicBezTo>
                        <a:cubicBezTo>
                          <a:pt x="3600050" y="2292625"/>
                          <a:pt x="3180251" y="2236443"/>
                          <a:pt x="3028950" y="2246769"/>
                        </a:cubicBezTo>
                        <a:cubicBezTo>
                          <a:pt x="2877649" y="2257095"/>
                          <a:pt x="2717132" y="2186363"/>
                          <a:pt x="2457450" y="2246769"/>
                        </a:cubicBezTo>
                        <a:cubicBezTo>
                          <a:pt x="2197768" y="2307175"/>
                          <a:pt x="2126506" y="2208834"/>
                          <a:pt x="1885950" y="2246769"/>
                        </a:cubicBezTo>
                        <a:cubicBezTo>
                          <a:pt x="1645394" y="2284704"/>
                          <a:pt x="1636436" y="2221242"/>
                          <a:pt x="1428750" y="2246769"/>
                        </a:cubicBezTo>
                        <a:cubicBezTo>
                          <a:pt x="1221064" y="2272296"/>
                          <a:pt x="1035876" y="2171497"/>
                          <a:pt x="742950" y="2246769"/>
                        </a:cubicBezTo>
                        <a:cubicBezTo>
                          <a:pt x="450024" y="2322041"/>
                          <a:pt x="183530" y="2197005"/>
                          <a:pt x="0" y="2246769"/>
                        </a:cubicBezTo>
                        <a:cubicBezTo>
                          <a:pt x="-45062" y="1992132"/>
                          <a:pt x="9193" y="1938862"/>
                          <a:pt x="0" y="1730012"/>
                        </a:cubicBezTo>
                        <a:cubicBezTo>
                          <a:pt x="-9193" y="1521162"/>
                          <a:pt x="17384" y="1295193"/>
                          <a:pt x="0" y="1168320"/>
                        </a:cubicBezTo>
                        <a:cubicBezTo>
                          <a:pt x="-17384" y="1041447"/>
                          <a:pt x="24490" y="835722"/>
                          <a:pt x="0" y="674031"/>
                        </a:cubicBezTo>
                        <a:cubicBezTo>
                          <a:pt x="-24490" y="512340"/>
                          <a:pt x="42306" y="239594"/>
                          <a:pt x="0" y="0"/>
                        </a:cubicBezTo>
                        <a:close/>
                      </a:path>
                    </a:pathLst>
                  </a:custGeom>
                  <ask:type>
                    <ask:lineSketchNone/>
                  </ask:type>
                </ask:lineSketchStyleProps>
              </a:ext>
            </a:extLst>
          </a:ln>
        </p:spPr>
        <p:txBody>
          <a:bodyPr wrap="square" rtlCol="0">
            <a:spAutoFit/>
          </a:bodyPr>
          <a:lstStyle/>
          <a:p>
            <a:pPr marL="171450" indent="-171450" algn="just">
              <a:buFont typeface="Arial" panose="020B0604020202020204" pitchFamily="34" charset="0"/>
              <a:buChar char="•"/>
            </a:pPr>
            <a:r>
              <a:rPr lang="en-US" sz="1200" b="1" dirty="0"/>
              <a:t>Raw Material supplier</a:t>
            </a:r>
            <a:r>
              <a:rPr lang="en-US" sz="1200" dirty="0"/>
              <a:t>: Bamboo , scraped tin ,organic seeds</a:t>
            </a:r>
          </a:p>
          <a:p>
            <a:pPr marL="171450" indent="-171450" algn="just">
              <a:buFont typeface="Arial" panose="020B0604020202020204" pitchFamily="34" charset="0"/>
              <a:buChar char="•"/>
            </a:pPr>
            <a:r>
              <a:rPr lang="en-US" sz="1200" b="1" dirty="0"/>
              <a:t>Scrape aluminum Supplier </a:t>
            </a:r>
            <a:r>
              <a:rPr lang="en-US" sz="1200" dirty="0"/>
              <a:t>From Morbi, Gujarat, India</a:t>
            </a:r>
          </a:p>
          <a:p>
            <a:pPr marL="171450" indent="-171450" algn="just">
              <a:buFont typeface="Arial" panose="020B0604020202020204" pitchFamily="34" charset="0"/>
              <a:buChar char="•"/>
            </a:pPr>
            <a:r>
              <a:rPr lang="en-US" sz="1200" dirty="0"/>
              <a:t>Aluminum tin packaging manufacturers and designers</a:t>
            </a:r>
          </a:p>
          <a:p>
            <a:pPr marL="171450" indent="-171450" algn="just">
              <a:buFont typeface="Arial" panose="020B0604020202020204" pitchFamily="34" charset="0"/>
              <a:buChar char="•"/>
            </a:pPr>
            <a:r>
              <a:rPr lang="en-IN" sz="1200" b="1" dirty="0"/>
              <a:t>Retailers</a:t>
            </a:r>
            <a:r>
              <a:rPr lang="en-IN" sz="1200" dirty="0"/>
              <a:t> : Gini &amp; Jony, Lilliput, Max, GAP etc</a:t>
            </a:r>
            <a:endParaRPr lang="en-US" sz="1200" dirty="0"/>
          </a:p>
          <a:p>
            <a:pPr marL="171450" indent="-171450" algn="just">
              <a:buFont typeface="Arial" panose="020B0604020202020204" pitchFamily="34" charset="0"/>
              <a:buChar char="•"/>
            </a:pPr>
            <a:r>
              <a:rPr lang="en-US" sz="1200" b="1" dirty="0"/>
              <a:t>Ecommerce partners</a:t>
            </a:r>
            <a:r>
              <a:rPr lang="en-US" sz="1200" dirty="0"/>
              <a:t> : amazon, flipkart,  theyarnbazaar, Itsy bitsy</a:t>
            </a:r>
          </a:p>
          <a:p>
            <a:pPr marL="171450" indent="-171450" algn="just">
              <a:buFont typeface="Arial" panose="020B0604020202020204" pitchFamily="34" charset="0"/>
              <a:buChar char="•"/>
            </a:pPr>
            <a:r>
              <a:rPr lang="en-IN" sz="1200" dirty="0"/>
              <a:t>Corporate social responsibility organization</a:t>
            </a:r>
            <a:endParaRPr lang="en-US" sz="1200" dirty="0"/>
          </a:p>
          <a:p>
            <a:pPr marL="171450" indent="-171450" algn="just">
              <a:buFont typeface="Arial" panose="020B0604020202020204" pitchFamily="34" charset="0"/>
              <a:buChar char="•"/>
            </a:pPr>
            <a:r>
              <a:rPr lang="en-IN" sz="1200" dirty="0"/>
              <a:t>Bamboo yarning partners</a:t>
            </a:r>
            <a:endParaRPr lang="en-US" sz="1200" dirty="0"/>
          </a:p>
          <a:p>
            <a:pPr marL="171450" indent="-171450" algn="just">
              <a:buFont typeface="Arial" panose="020B0604020202020204" pitchFamily="34" charset="0"/>
              <a:buChar char="•"/>
            </a:pPr>
            <a:r>
              <a:rPr lang="en-IN" sz="1200" dirty="0"/>
              <a:t>Promotion and  branding partners</a:t>
            </a:r>
            <a:endParaRPr lang="en-US" sz="1200" dirty="0"/>
          </a:p>
          <a:p>
            <a:pPr marL="171450" indent="-171450" algn="just">
              <a:buFont typeface="Arial" panose="020B0604020202020204" pitchFamily="34" charset="0"/>
              <a:buChar char="•"/>
            </a:pPr>
            <a:r>
              <a:rPr lang="en-IN" sz="1200" dirty="0"/>
              <a:t>Technology partner</a:t>
            </a:r>
            <a:endParaRPr lang="en-US" sz="1200" dirty="0"/>
          </a:p>
          <a:p>
            <a:pPr marL="171450" indent="-171450" algn="just">
              <a:buFont typeface="Arial" panose="020B0604020202020204" pitchFamily="34" charset="0"/>
              <a:buChar char="•"/>
            </a:pPr>
            <a:r>
              <a:rPr lang="fr-FR" sz="1200" b="1" dirty="0"/>
              <a:t>Certifier</a:t>
            </a:r>
            <a:r>
              <a:rPr lang="fr-FR" sz="1200" dirty="0"/>
              <a:t> : FSC certification, GOTS certification, ISI 9001:2015</a:t>
            </a:r>
            <a:endParaRPr lang="en-US" sz="1200" dirty="0"/>
          </a:p>
          <a:p>
            <a:pPr marL="171450" indent="-171450" algn="just">
              <a:buFont typeface="Arial" panose="020B0604020202020204" pitchFamily="34" charset="0"/>
              <a:buChar char="•"/>
            </a:pPr>
            <a:r>
              <a:rPr lang="en-IN" sz="1200" dirty="0"/>
              <a:t>Legal advisors</a:t>
            </a:r>
            <a:r>
              <a:rPr lang="en-US" sz="1200" dirty="0"/>
              <a:t>, </a:t>
            </a:r>
            <a:r>
              <a:rPr lang="en-IN" sz="1200" dirty="0"/>
              <a:t>Audit partners</a:t>
            </a:r>
            <a:r>
              <a:rPr lang="en-US" sz="1200" dirty="0"/>
              <a:t>,</a:t>
            </a:r>
            <a:r>
              <a:rPr lang="en-IN" sz="1200" dirty="0"/>
              <a:t>Logistics</a:t>
            </a:r>
          </a:p>
        </p:txBody>
      </p:sp>
      <p:grpSp>
        <p:nvGrpSpPr>
          <p:cNvPr id="8" name="Group 7">
            <a:extLst>
              <a:ext uri="{FF2B5EF4-FFF2-40B4-BE49-F238E27FC236}">
                <a16:creationId xmlns:a16="http://schemas.microsoft.com/office/drawing/2014/main" id="{A23C3567-78FC-A627-B60E-6AAF455D3CE7}"/>
              </a:ext>
            </a:extLst>
          </p:cNvPr>
          <p:cNvGrpSpPr/>
          <p:nvPr/>
        </p:nvGrpSpPr>
        <p:grpSpPr>
          <a:xfrm>
            <a:off x="348343" y="536642"/>
            <a:ext cx="1600200" cy="2309167"/>
            <a:chOff x="381000" y="293914"/>
            <a:chExt cx="3178629" cy="3995057"/>
          </a:xfrm>
        </p:grpSpPr>
        <p:sp>
          <p:nvSpPr>
            <p:cNvPr id="5" name="Oval 4">
              <a:extLst>
                <a:ext uri="{FF2B5EF4-FFF2-40B4-BE49-F238E27FC236}">
                  <a16:creationId xmlns:a16="http://schemas.microsoft.com/office/drawing/2014/main" id="{1C0A6C03-E2E2-83CC-A65A-4D7398B3EEB4}"/>
                </a:ext>
              </a:extLst>
            </p:cNvPr>
            <p:cNvSpPr/>
            <p:nvPr/>
          </p:nvSpPr>
          <p:spPr>
            <a:xfrm>
              <a:off x="381000" y="293914"/>
              <a:ext cx="3178629" cy="3995057"/>
            </a:xfrm>
            <a:prstGeom prst="ellipse">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D8E024B-26CF-B83B-D7C3-33D50D84CAAE}"/>
                </a:ext>
              </a:extLst>
            </p:cNvPr>
            <p:cNvSpPr/>
            <p:nvPr/>
          </p:nvSpPr>
          <p:spPr>
            <a:xfrm>
              <a:off x="827046" y="1415142"/>
              <a:ext cx="2286535" cy="2873829"/>
            </a:xfrm>
            <a:prstGeom prst="ellipse">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C0E8291-9610-03B6-7F0A-E5E3BFBCE4E7}"/>
                </a:ext>
              </a:extLst>
            </p:cNvPr>
            <p:cNvSpPr/>
            <p:nvPr/>
          </p:nvSpPr>
          <p:spPr>
            <a:xfrm>
              <a:off x="1320729" y="2656113"/>
              <a:ext cx="1299168" cy="1632858"/>
            </a:xfrm>
            <a:prstGeom prst="ellipse">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2B984934-16B3-2A0A-507E-F0C42DA0322E}"/>
              </a:ext>
            </a:extLst>
          </p:cNvPr>
          <p:cNvSpPr txBox="1"/>
          <p:nvPr/>
        </p:nvSpPr>
        <p:spPr>
          <a:xfrm>
            <a:off x="1382486" y="137146"/>
            <a:ext cx="3418114" cy="323165"/>
          </a:xfrm>
          <a:prstGeom prst="rect">
            <a:avLst/>
          </a:prstGeom>
          <a:noFill/>
        </p:spPr>
        <p:txBody>
          <a:bodyPr wrap="square" rtlCol="0">
            <a:spAutoFit/>
          </a:bodyPr>
          <a:lstStyle/>
          <a:p>
            <a:pPr algn="ctr"/>
            <a:r>
              <a:rPr lang="en-IN" sz="1500" b="1" dirty="0"/>
              <a:t>The Golden Circle of our product</a:t>
            </a:r>
            <a:endParaRPr lang="en-US" sz="1500" b="1" dirty="0"/>
          </a:p>
        </p:txBody>
      </p:sp>
      <p:sp>
        <p:nvSpPr>
          <p:cNvPr id="10" name="Rectangle 9">
            <a:extLst>
              <a:ext uri="{FF2B5EF4-FFF2-40B4-BE49-F238E27FC236}">
                <a16:creationId xmlns:a16="http://schemas.microsoft.com/office/drawing/2014/main" id="{04601444-8FA5-D18E-7B23-A03A64E9C11A}"/>
              </a:ext>
            </a:extLst>
          </p:cNvPr>
          <p:cNvSpPr/>
          <p:nvPr/>
        </p:nvSpPr>
        <p:spPr>
          <a:xfrm>
            <a:off x="87086" y="97971"/>
            <a:ext cx="6008914" cy="2960915"/>
          </a:xfrm>
          <a:prstGeom prst="rect">
            <a:avLst/>
          </a:prstGeom>
          <a:noFill/>
          <a:ln w="952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4FB98203-2991-9E3E-06D8-5DC676157AA0}"/>
              </a:ext>
            </a:extLst>
          </p:cNvPr>
          <p:cNvCxnSpPr>
            <a:cxnSpLocks/>
            <a:stCxn id="5" idx="7"/>
          </p:cNvCxnSpPr>
          <p:nvPr/>
        </p:nvCxnSpPr>
        <p:spPr>
          <a:xfrm flipV="1">
            <a:off x="1714199" y="874811"/>
            <a:ext cx="865714"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3DE10345-FA0E-9A68-3A01-D292CF7C1841}"/>
              </a:ext>
            </a:extLst>
          </p:cNvPr>
          <p:cNvCxnSpPr>
            <a:cxnSpLocks/>
          </p:cNvCxnSpPr>
          <p:nvPr/>
        </p:nvCxnSpPr>
        <p:spPr>
          <a:xfrm>
            <a:off x="1584597" y="1440651"/>
            <a:ext cx="9844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7B9B8D0E-A136-FE68-EDAD-CB82B6C0D054}"/>
              </a:ext>
            </a:extLst>
          </p:cNvPr>
          <p:cNvCxnSpPr>
            <a:cxnSpLocks/>
            <a:stCxn id="7" idx="6"/>
          </p:cNvCxnSpPr>
          <p:nvPr/>
        </p:nvCxnSpPr>
        <p:spPr>
          <a:xfrm flipV="1">
            <a:off x="1475459" y="2373907"/>
            <a:ext cx="1093569"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A427391D-7772-0B2F-3577-C7A713B0BD42}"/>
              </a:ext>
            </a:extLst>
          </p:cNvPr>
          <p:cNvSpPr txBox="1"/>
          <p:nvPr/>
        </p:nvSpPr>
        <p:spPr>
          <a:xfrm>
            <a:off x="2677885" y="531379"/>
            <a:ext cx="3320143" cy="461665"/>
          </a:xfrm>
          <a:prstGeom prst="rect">
            <a:avLst/>
          </a:prstGeom>
          <a:noFill/>
          <a:ln>
            <a:solidFill>
              <a:schemeClr val="tx1"/>
            </a:solidFill>
            <a:prstDash val="dash"/>
          </a:ln>
        </p:spPr>
        <p:txBody>
          <a:bodyPr wrap="square" rtlCol="0">
            <a:spAutoFit/>
          </a:bodyPr>
          <a:lstStyle/>
          <a:p>
            <a:pPr algn="just"/>
            <a:r>
              <a:rPr lang="en-IN" sz="1200" dirty="0"/>
              <a:t>Bamboo fabric kid’s apparels in a recycled and reusable aluminium tin can packaging</a:t>
            </a:r>
            <a:endParaRPr lang="en-US" sz="1200" dirty="0"/>
          </a:p>
        </p:txBody>
      </p:sp>
      <p:sp>
        <p:nvSpPr>
          <p:cNvPr id="25" name="TextBox 24">
            <a:extLst>
              <a:ext uri="{FF2B5EF4-FFF2-40B4-BE49-F238E27FC236}">
                <a16:creationId xmlns:a16="http://schemas.microsoft.com/office/drawing/2014/main" id="{38EF7461-50CA-6175-B080-75047937EB2B}"/>
              </a:ext>
            </a:extLst>
          </p:cNvPr>
          <p:cNvSpPr txBox="1"/>
          <p:nvPr/>
        </p:nvSpPr>
        <p:spPr>
          <a:xfrm>
            <a:off x="2677885" y="1088354"/>
            <a:ext cx="3320143" cy="830997"/>
          </a:xfrm>
          <a:prstGeom prst="rect">
            <a:avLst/>
          </a:prstGeom>
          <a:noFill/>
          <a:ln>
            <a:solidFill>
              <a:schemeClr val="tx1"/>
            </a:solidFill>
            <a:prstDash val="dash"/>
          </a:ln>
        </p:spPr>
        <p:txBody>
          <a:bodyPr wrap="square" rtlCol="0">
            <a:spAutoFit/>
          </a:bodyPr>
          <a:lstStyle/>
          <a:p>
            <a:pPr algn="just"/>
            <a:r>
              <a:rPr lang="en-IN" sz="1200" dirty="0"/>
              <a:t>Best in world bamboo plants extracted using mechanical method and sourcing trash recycled aluminium cans embedding seed paper in them for re-use, completing the circular economy</a:t>
            </a:r>
            <a:endParaRPr lang="en-US" sz="1200" dirty="0"/>
          </a:p>
        </p:txBody>
      </p:sp>
      <p:sp>
        <p:nvSpPr>
          <p:cNvPr id="26" name="TextBox 25">
            <a:extLst>
              <a:ext uri="{FF2B5EF4-FFF2-40B4-BE49-F238E27FC236}">
                <a16:creationId xmlns:a16="http://schemas.microsoft.com/office/drawing/2014/main" id="{29D6FBEC-02F2-B7DA-7C84-A0E8E1416DF0}"/>
              </a:ext>
            </a:extLst>
          </p:cNvPr>
          <p:cNvSpPr txBox="1"/>
          <p:nvPr/>
        </p:nvSpPr>
        <p:spPr>
          <a:xfrm>
            <a:off x="2677885" y="2014814"/>
            <a:ext cx="3320143" cy="830997"/>
          </a:xfrm>
          <a:prstGeom prst="rect">
            <a:avLst/>
          </a:prstGeom>
          <a:noFill/>
          <a:ln>
            <a:solidFill>
              <a:schemeClr val="tx1"/>
            </a:solidFill>
            <a:prstDash val="dash"/>
          </a:ln>
        </p:spPr>
        <p:txBody>
          <a:bodyPr wrap="square" rtlCol="0">
            <a:spAutoFit/>
          </a:bodyPr>
          <a:lstStyle/>
          <a:p>
            <a:pPr algn="just"/>
            <a:r>
              <a:rPr lang="en-IN" sz="1200" dirty="0"/>
              <a:t>Bamboo fabric has various advantages over other fabrics such as – Eco Print, Built in temperature control, chemical free, hypoallergic, UV Resistant and is one of the most sustainable plants for fabric</a:t>
            </a:r>
            <a:endParaRPr lang="en-US" sz="1200" dirty="0"/>
          </a:p>
        </p:txBody>
      </p:sp>
      <p:sp>
        <p:nvSpPr>
          <p:cNvPr id="27" name="TextBox 26">
            <a:extLst>
              <a:ext uri="{FF2B5EF4-FFF2-40B4-BE49-F238E27FC236}">
                <a16:creationId xmlns:a16="http://schemas.microsoft.com/office/drawing/2014/main" id="{493FD801-030D-33C5-72BF-3F6779FF2E15}"/>
              </a:ext>
            </a:extLst>
          </p:cNvPr>
          <p:cNvSpPr txBox="1"/>
          <p:nvPr/>
        </p:nvSpPr>
        <p:spPr>
          <a:xfrm>
            <a:off x="821426" y="720922"/>
            <a:ext cx="687253" cy="307777"/>
          </a:xfrm>
          <a:prstGeom prst="rect">
            <a:avLst/>
          </a:prstGeom>
          <a:noFill/>
        </p:spPr>
        <p:txBody>
          <a:bodyPr wrap="square" rtlCol="0">
            <a:spAutoFit/>
          </a:bodyPr>
          <a:lstStyle/>
          <a:p>
            <a:pPr algn="ctr"/>
            <a:r>
              <a:rPr lang="en-IN" sz="1400" b="1" dirty="0"/>
              <a:t>What?</a:t>
            </a:r>
            <a:endParaRPr lang="en-US" sz="1400" b="1" dirty="0"/>
          </a:p>
        </p:txBody>
      </p:sp>
      <p:sp>
        <p:nvSpPr>
          <p:cNvPr id="28" name="TextBox 27">
            <a:extLst>
              <a:ext uri="{FF2B5EF4-FFF2-40B4-BE49-F238E27FC236}">
                <a16:creationId xmlns:a16="http://schemas.microsoft.com/office/drawing/2014/main" id="{37664B1D-1C0A-249A-7292-B5CDCDB21F84}"/>
              </a:ext>
            </a:extLst>
          </p:cNvPr>
          <p:cNvSpPr txBox="1"/>
          <p:nvPr/>
        </p:nvSpPr>
        <p:spPr>
          <a:xfrm>
            <a:off x="806745" y="1467746"/>
            <a:ext cx="687253" cy="307777"/>
          </a:xfrm>
          <a:prstGeom prst="rect">
            <a:avLst/>
          </a:prstGeom>
          <a:noFill/>
        </p:spPr>
        <p:txBody>
          <a:bodyPr wrap="square" rtlCol="0">
            <a:spAutoFit/>
          </a:bodyPr>
          <a:lstStyle/>
          <a:p>
            <a:pPr algn="ctr"/>
            <a:r>
              <a:rPr lang="en-IN" sz="1400" b="1" dirty="0"/>
              <a:t>How?</a:t>
            </a:r>
            <a:endParaRPr lang="en-US" sz="1400" b="1" dirty="0"/>
          </a:p>
        </p:txBody>
      </p:sp>
      <p:sp>
        <p:nvSpPr>
          <p:cNvPr id="29" name="TextBox 28">
            <a:extLst>
              <a:ext uri="{FF2B5EF4-FFF2-40B4-BE49-F238E27FC236}">
                <a16:creationId xmlns:a16="http://schemas.microsoft.com/office/drawing/2014/main" id="{4A60B429-CCE8-41C7-8ABD-72D595C3F3DD}"/>
              </a:ext>
            </a:extLst>
          </p:cNvPr>
          <p:cNvSpPr txBox="1"/>
          <p:nvPr/>
        </p:nvSpPr>
        <p:spPr>
          <a:xfrm>
            <a:off x="830050" y="2185413"/>
            <a:ext cx="687253" cy="307777"/>
          </a:xfrm>
          <a:prstGeom prst="rect">
            <a:avLst/>
          </a:prstGeom>
          <a:noFill/>
        </p:spPr>
        <p:txBody>
          <a:bodyPr wrap="square" rtlCol="0">
            <a:spAutoFit/>
          </a:bodyPr>
          <a:lstStyle/>
          <a:p>
            <a:pPr algn="ctr"/>
            <a:r>
              <a:rPr lang="en-IN" sz="1400" b="1" dirty="0"/>
              <a:t>Why?</a:t>
            </a:r>
            <a:endParaRPr lang="en-US" sz="1400" b="1" dirty="0"/>
          </a:p>
        </p:txBody>
      </p:sp>
      <p:sp>
        <p:nvSpPr>
          <p:cNvPr id="41" name="Arrow: Right 40">
            <a:extLst>
              <a:ext uri="{FF2B5EF4-FFF2-40B4-BE49-F238E27FC236}">
                <a16:creationId xmlns:a16="http://schemas.microsoft.com/office/drawing/2014/main" id="{95F67CDC-976B-DCF7-4C03-A0D94A4A899A}"/>
              </a:ext>
            </a:extLst>
          </p:cNvPr>
          <p:cNvSpPr/>
          <p:nvPr/>
        </p:nvSpPr>
        <p:spPr>
          <a:xfrm>
            <a:off x="5612935" y="160240"/>
            <a:ext cx="936171" cy="181158"/>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66" name="Group 2065">
            <a:extLst>
              <a:ext uri="{FF2B5EF4-FFF2-40B4-BE49-F238E27FC236}">
                <a16:creationId xmlns:a16="http://schemas.microsoft.com/office/drawing/2014/main" id="{3A1EAC41-2BDE-C012-E696-DD85832EE960}"/>
              </a:ext>
            </a:extLst>
          </p:cNvPr>
          <p:cNvGrpSpPr/>
          <p:nvPr/>
        </p:nvGrpSpPr>
        <p:grpSpPr>
          <a:xfrm>
            <a:off x="6265263" y="2999234"/>
            <a:ext cx="5793802" cy="3608964"/>
            <a:chOff x="6286500" y="34003"/>
            <a:chExt cx="5793802" cy="3608964"/>
          </a:xfrm>
        </p:grpSpPr>
        <p:sp>
          <p:nvSpPr>
            <p:cNvPr id="53" name="TextBox 52">
              <a:extLst>
                <a:ext uri="{FF2B5EF4-FFF2-40B4-BE49-F238E27FC236}">
                  <a16:creationId xmlns:a16="http://schemas.microsoft.com/office/drawing/2014/main" id="{110CF364-4E66-F2F9-3F73-5E8BC0172EEC}"/>
                </a:ext>
              </a:extLst>
            </p:cNvPr>
            <p:cNvSpPr txBox="1"/>
            <p:nvPr/>
          </p:nvSpPr>
          <p:spPr>
            <a:xfrm>
              <a:off x="6286500" y="591337"/>
              <a:ext cx="5715000" cy="1754326"/>
            </a:xfrm>
            <a:prstGeom prst="rect">
              <a:avLst/>
            </a:prstGeom>
            <a:noFill/>
            <a:ln w="9525">
              <a:solidFill>
                <a:schemeClr val="tx1"/>
              </a:solidFill>
              <a:prstDash val="lgDashDot"/>
              <a:extLst>
                <a:ext uri="{C807C97D-BFC1-408E-A445-0C87EB9F89A2}">
                  <ask:lineSketchStyleProps xmlns:ask="http://schemas.microsoft.com/office/drawing/2018/sketchyshapes" sd="879467300">
                    <a:custGeom>
                      <a:avLst/>
                      <a:gdLst>
                        <a:gd name="connsiteX0" fmla="*/ 0 w 5715000"/>
                        <a:gd name="connsiteY0" fmla="*/ 0 h 2246769"/>
                        <a:gd name="connsiteX1" fmla="*/ 571500 w 5715000"/>
                        <a:gd name="connsiteY1" fmla="*/ 0 h 2246769"/>
                        <a:gd name="connsiteX2" fmla="*/ 1143000 w 5715000"/>
                        <a:gd name="connsiteY2" fmla="*/ 0 h 2246769"/>
                        <a:gd name="connsiteX3" fmla="*/ 1714500 w 5715000"/>
                        <a:gd name="connsiteY3" fmla="*/ 0 h 2246769"/>
                        <a:gd name="connsiteX4" fmla="*/ 2400300 w 5715000"/>
                        <a:gd name="connsiteY4" fmla="*/ 0 h 2246769"/>
                        <a:gd name="connsiteX5" fmla="*/ 2800350 w 5715000"/>
                        <a:gd name="connsiteY5" fmla="*/ 0 h 2246769"/>
                        <a:gd name="connsiteX6" fmla="*/ 3486150 w 5715000"/>
                        <a:gd name="connsiteY6" fmla="*/ 0 h 2246769"/>
                        <a:gd name="connsiteX7" fmla="*/ 3886200 w 5715000"/>
                        <a:gd name="connsiteY7" fmla="*/ 0 h 2246769"/>
                        <a:gd name="connsiteX8" fmla="*/ 4572000 w 5715000"/>
                        <a:gd name="connsiteY8" fmla="*/ 0 h 2246769"/>
                        <a:gd name="connsiteX9" fmla="*/ 4972050 w 5715000"/>
                        <a:gd name="connsiteY9" fmla="*/ 0 h 2246769"/>
                        <a:gd name="connsiteX10" fmla="*/ 5715000 w 5715000"/>
                        <a:gd name="connsiteY10" fmla="*/ 0 h 2246769"/>
                        <a:gd name="connsiteX11" fmla="*/ 5715000 w 5715000"/>
                        <a:gd name="connsiteY11" fmla="*/ 606628 h 2246769"/>
                        <a:gd name="connsiteX12" fmla="*/ 5715000 w 5715000"/>
                        <a:gd name="connsiteY12" fmla="*/ 1190788 h 2246769"/>
                        <a:gd name="connsiteX13" fmla="*/ 5715000 w 5715000"/>
                        <a:gd name="connsiteY13" fmla="*/ 2246769 h 2246769"/>
                        <a:gd name="connsiteX14" fmla="*/ 5086350 w 5715000"/>
                        <a:gd name="connsiteY14" fmla="*/ 2246769 h 2246769"/>
                        <a:gd name="connsiteX15" fmla="*/ 4572000 w 5715000"/>
                        <a:gd name="connsiteY15" fmla="*/ 2246769 h 2246769"/>
                        <a:gd name="connsiteX16" fmla="*/ 4114800 w 5715000"/>
                        <a:gd name="connsiteY16" fmla="*/ 2246769 h 2246769"/>
                        <a:gd name="connsiteX17" fmla="*/ 3714750 w 5715000"/>
                        <a:gd name="connsiteY17" fmla="*/ 2246769 h 2246769"/>
                        <a:gd name="connsiteX18" fmla="*/ 3028950 w 5715000"/>
                        <a:gd name="connsiteY18" fmla="*/ 2246769 h 2246769"/>
                        <a:gd name="connsiteX19" fmla="*/ 2457450 w 5715000"/>
                        <a:gd name="connsiteY19" fmla="*/ 2246769 h 2246769"/>
                        <a:gd name="connsiteX20" fmla="*/ 1885950 w 5715000"/>
                        <a:gd name="connsiteY20" fmla="*/ 2246769 h 2246769"/>
                        <a:gd name="connsiteX21" fmla="*/ 1428750 w 5715000"/>
                        <a:gd name="connsiteY21" fmla="*/ 2246769 h 2246769"/>
                        <a:gd name="connsiteX22" fmla="*/ 742950 w 5715000"/>
                        <a:gd name="connsiteY22" fmla="*/ 2246769 h 2246769"/>
                        <a:gd name="connsiteX23" fmla="*/ 0 w 5715000"/>
                        <a:gd name="connsiteY23" fmla="*/ 2246769 h 2246769"/>
                        <a:gd name="connsiteX24" fmla="*/ 0 w 5715000"/>
                        <a:gd name="connsiteY24" fmla="*/ 1730012 h 2246769"/>
                        <a:gd name="connsiteX25" fmla="*/ 0 w 5715000"/>
                        <a:gd name="connsiteY25" fmla="*/ 1168320 h 2246769"/>
                        <a:gd name="connsiteX26" fmla="*/ 0 w 5715000"/>
                        <a:gd name="connsiteY26" fmla="*/ 674031 h 2246769"/>
                        <a:gd name="connsiteX27" fmla="*/ 0 w 5715000"/>
                        <a:gd name="connsiteY27" fmla="*/ 0 h 2246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15000" h="2246769" extrusionOk="0">
                          <a:moveTo>
                            <a:pt x="0" y="0"/>
                          </a:moveTo>
                          <a:cubicBezTo>
                            <a:pt x="129941" y="-47727"/>
                            <a:pt x="289325" y="49665"/>
                            <a:pt x="571500" y="0"/>
                          </a:cubicBezTo>
                          <a:cubicBezTo>
                            <a:pt x="853675" y="-49665"/>
                            <a:pt x="1016760" y="26007"/>
                            <a:pt x="1143000" y="0"/>
                          </a:cubicBezTo>
                          <a:cubicBezTo>
                            <a:pt x="1269240" y="-26007"/>
                            <a:pt x="1569322" y="23220"/>
                            <a:pt x="1714500" y="0"/>
                          </a:cubicBezTo>
                          <a:cubicBezTo>
                            <a:pt x="1859678" y="-23220"/>
                            <a:pt x="2182239" y="9639"/>
                            <a:pt x="2400300" y="0"/>
                          </a:cubicBezTo>
                          <a:cubicBezTo>
                            <a:pt x="2618361" y="-9639"/>
                            <a:pt x="2686217" y="8107"/>
                            <a:pt x="2800350" y="0"/>
                          </a:cubicBezTo>
                          <a:cubicBezTo>
                            <a:pt x="2914483" y="-8107"/>
                            <a:pt x="3302080" y="46316"/>
                            <a:pt x="3486150" y="0"/>
                          </a:cubicBezTo>
                          <a:cubicBezTo>
                            <a:pt x="3670220" y="-46316"/>
                            <a:pt x="3687608" y="7334"/>
                            <a:pt x="3886200" y="0"/>
                          </a:cubicBezTo>
                          <a:cubicBezTo>
                            <a:pt x="4084792" y="-7334"/>
                            <a:pt x="4275868" y="69766"/>
                            <a:pt x="4572000" y="0"/>
                          </a:cubicBezTo>
                          <a:cubicBezTo>
                            <a:pt x="4868132" y="-69766"/>
                            <a:pt x="4881829" y="9978"/>
                            <a:pt x="4972050" y="0"/>
                          </a:cubicBezTo>
                          <a:cubicBezTo>
                            <a:pt x="5062271" y="-9978"/>
                            <a:pt x="5493306" y="4751"/>
                            <a:pt x="5715000" y="0"/>
                          </a:cubicBezTo>
                          <a:cubicBezTo>
                            <a:pt x="5760118" y="275580"/>
                            <a:pt x="5701101" y="344889"/>
                            <a:pt x="5715000" y="606628"/>
                          </a:cubicBezTo>
                          <a:cubicBezTo>
                            <a:pt x="5728899" y="868367"/>
                            <a:pt x="5708641" y="914979"/>
                            <a:pt x="5715000" y="1190788"/>
                          </a:cubicBezTo>
                          <a:cubicBezTo>
                            <a:pt x="5721359" y="1466597"/>
                            <a:pt x="5700563" y="1785151"/>
                            <a:pt x="5715000" y="2246769"/>
                          </a:cubicBezTo>
                          <a:cubicBezTo>
                            <a:pt x="5460018" y="2247787"/>
                            <a:pt x="5304134" y="2183125"/>
                            <a:pt x="5086350" y="2246769"/>
                          </a:cubicBezTo>
                          <a:cubicBezTo>
                            <a:pt x="4868566" y="2310413"/>
                            <a:pt x="4822624" y="2238101"/>
                            <a:pt x="4572000" y="2246769"/>
                          </a:cubicBezTo>
                          <a:cubicBezTo>
                            <a:pt x="4321376" y="2255437"/>
                            <a:pt x="4248017" y="2218084"/>
                            <a:pt x="4114800" y="2246769"/>
                          </a:cubicBezTo>
                          <a:cubicBezTo>
                            <a:pt x="3981583" y="2275454"/>
                            <a:pt x="3829450" y="2200913"/>
                            <a:pt x="3714750" y="2246769"/>
                          </a:cubicBezTo>
                          <a:cubicBezTo>
                            <a:pt x="3600050" y="2292625"/>
                            <a:pt x="3180251" y="2236443"/>
                            <a:pt x="3028950" y="2246769"/>
                          </a:cubicBezTo>
                          <a:cubicBezTo>
                            <a:pt x="2877649" y="2257095"/>
                            <a:pt x="2717132" y="2186363"/>
                            <a:pt x="2457450" y="2246769"/>
                          </a:cubicBezTo>
                          <a:cubicBezTo>
                            <a:pt x="2197768" y="2307175"/>
                            <a:pt x="2126506" y="2208834"/>
                            <a:pt x="1885950" y="2246769"/>
                          </a:cubicBezTo>
                          <a:cubicBezTo>
                            <a:pt x="1645394" y="2284704"/>
                            <a:pt x="1636436" y="2221242"/>
                            <a:pt x="1428750" y="2246769"/>
                          </a:cubicBezTo>
                          <a:cubicBezTo>
                            <a:pt x="1221064" y="2272296"/>
                            <a:pt x="1035876" y="2171497"/>
                            <a:pt x="742950" y="2246769"/>
                          </a:cubicBezTo>
                          <a:cubicBezTo>
                            <a:pt x="450024" y="2322041"/>
                            <a:pt x="183530" y="2197005"/>
                            <a:pt x="0" y="2246769"/>
                          </a:cubicBezTo>
                          <a:cubicBezTo>
                            <a:pt x="-45062" y="1992132"/>
                            <a:pt x="9193" y="1938862"/>
                            <a:pt x="0" y="1730012"/>
                          </a:cubicBezTo>
                          <a:cubicBezTo>
                            <a:pt x="-9193" y="1521162"/>
                            <a:pt x="17384" y="1295193"/>
                            <a:pt x="0" y="1168320"/>
                          </a:cubicBezTo>
                          <a:cubicBezTo>
                            <a:pt x="-17384" y="1041447"/>
                            <a:pt x="24490" y="835722"/>
                            <a:pt x="0" y="674031"/>
                          </a:cubicBezTo>
                          <a:cubicBezTo>
                            <a:pt x="-24490" y="512340"/>
                            <a:pt x="42306" y="239594"/>
                            <a:pt x="0" y="0"/>
                          </a:cubicBezTo>
                          <a:close/>
                        </a:path>
                      </a:pathLst>
                    </a:custGeom>
                    <ask:type>
                      <ask:lineSketchNone/>
                    </ask:type>
                  </ask:lineSketchStyleProps>
                </a:ext>
              </a:extLst>
            </a:ln>
          </p:spPr>
          <p:txBody>
            <a:bodyPr wrap="square" rtlCol="0">
              <a:spAutoFit/>
            </a:bodyPr>
            <a:lstStyle/>
            <a:p>
              <a:pPr algn="just"/>
              <a:r>
                <a:rPr lang="en-IN" sz="1200" b="1" dirty="0"/>
                <a:t>Kajal </a:t>
              </a:r>
              <a:r>
                <a:rPr lang="en-IN" sz="1200" dirty="0"/>
                <a:t>is a </a:t>
              </a:r>
              <a:r>
                <a:rPr lang="en-IN" sz="1200" b="1" dirty="0"/>
                <a:t>28 years old mother</a:t>
              </a:r>
              <a:r>
                <a:rPr lang="en-IN" sz="1200" dirty="0"/>
                <a:t> of a </a:t>
              </a:r>
              <a:r>
                <a:rPr lang="en-IN" sz="1200" b="1" dirty="0"/>
                <a:t>6 months </a:t>
              </a:r>
              <a:r>
                <a:rPr lang="en-IN" sz="1200" dirty="0"/>
                <a:t>old baby boy staying in the city of </a:t>
              </a:r>
              <a:r>
                <a:rPr lang="en-IN" sz="1200" b="1" dirty="0"/>
                <a:t>Mumbai.</a:t>
              </a:r>
              <a:r>
                <a:rPr lang="en-IN" sz="1200" dirty="0"/>
                <a:t> She works as a consultant at CommScope, and her CTC is </a:t>
              </a:r>
              <a:r>
                <a:rPr lang="en-IN" sz="1200" b="1" dirty="0"/>
                <a:t>14 Lpa</a:t>
              </a:r>
              <a:r>
                <a:rPr lang="en-IN" sz="1200" dirty="0"/>
                <a:t> her husband earns </a:t>
              </a:r>
              <a:r>
                <a:rPr lang="en-IN" sz="1200" b="1" dirty="0"/>
                <a:t>15 Lpa</a:t>
              </a:r>
              <a:r>
                <a:rPr lang="en-IN" sz="1200" dirty="0"/>
                <a:t>. She has become very </a:t>
              </a:r>
              <a:r>
                <a:rPr lang="en-IN" sz="1200" b="1" dirty="0"/>
                <a:t>health conscious </a:t>
              </a:r>
              <a:r>
                <a:rPr lang="en-IN" sz="1200" dirty="0"/>
                <a:t>specially after COVID and has kept the </a:t>
              </a:r>
              <a:r>
                <a:rPr lang="en-IN" sz="1200" b="1" dirty="0"/>
                <a:t>utmost care of her baby </a:t>
              </a:r>
              <a:r>
                <a:rPr lang="en-IN" sz="1200" dirty="0"/>
                <a:t>during pregnancy </a:t>
              </a:r>
              <a:r>
                <a:rPr lang="en-IN" sz="1200" i="1" dirty="0"/>
                <a:t>(Ex – consumed </a:t>
              </a:r>
              <a:r>
                <a:rPr lang="en-IN" sz="1200" b="1" i="1" dirty="0"/>
                <a:t>organic and sustainably </a:t>
              </a:r>
              <a:r>
                <a:rPr lang="en-IN" sz="1200" i="1" dirty="0"/>
                <a:t>produced chemical free fruits and vegetables, got treated by the best of gynaecologists). </a:t>
              </a:r>
              <a:r>
                <a:rPr lang="en-IN" sz="1200" dirty="0"/>
                <a:t>She is very conscious about the </a:t>
              </a:r>
              <a:r>
                <a:rPr lang="en-IN" sz="1200" b="1" dirty="0"/>
                <a:t>food; baby products and clothes</a:t>
              </a:r>
              <a:r>
                <a:rPr lang="en-IN" sz="1200" dirty="0"/>
                <a:t> used for her baby boy and has </a:t>
              </a:r>
              <a:r>
                <a:rPr lang="en-IN" sz="1200" b="1" dirty="0"/>
                <a:t>high engagement</a:t>
              </a:r>
              <a:r>
                <a:rPr lang="en-IN" sz="1200" dirty="0"/>
                <a:t> while buying them. She has an average purchase of </a:t>
              </a:r>
              <a:r>
                <a:rPr lang="en-IN" sz="1200" b="1" dirty="0"/>
                <a:t>5 order per month from Ecommerce</a:t>
              </a:r>
              <a:r>
                <a:rPr lang="en-IN" sz="1200" dirty="0"/>
                <a:t> and visits the nearby mall </a:t>
              </a:r>
              <a:r>
                <a:rPr lang="en-IN" sz="1200" b="1" dirty="0"/>
                <a:t>every weekend</a:t>
              </a:r>
              <a:r>
                <a:rPr lang="en-IN" sz="1200" dirty="0"/>
                <a:t>.</a:t>
              </a:r>
            </a:p>
            <a:p>
              <a:pPr algn="just"/>
              <a:endParaRPr lang="en-IN" sz="1200" b="1" dirty="0"/>
            </a:p>
          </p:txBody>
        </p:sp>
        <p:pic>
          <p:nvPicPr>
            <p:cNvPr id="2050" name="Picture 2" descr="Rasta ">
              <a:extLst>
                <a:ext uri="{FF2B5EF4-FFF2-40B4-BE49-F238E27FC236}">
                  <a16:creationId xmlns:a16="http://schemas.microsoft.com/office/drawing/2014/main" id="{3F74DBA0-475C-CDC2-C43F-2D1D17A4B5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87583" y="34003"/>
              <a:ext cx="592719" cy="592719"/>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3A5926B2-2C27-1160-5717-5B72BFCBAEAE}"/>
                </a:ext>
              </a:extLst>
            </p:cNvPr>
            <p:cNvSpPr txBox="1"/>
            <p:nvPr/>
          </p:nvSpPr>
          <p:spPr>
            <a:xfrm>
              <a:off x="6671797" y="265939"/>
              <a:ext cx="2345872" cy="338554"/>
            </a:xfrm>
            <a:prstGeom prst="rect">
              <a:avLst/>
            </a:prstGeom>
            <a:solidFill>
              <a:schemeClr val="accent5"/>
            </a:solidFill>
          </p:spPr>
          <p:txBody>
            <a:bodyPr wrap="square" rtlCol="0">
              <a:spAutoFit/>
            </a:bodyPr>
            <a:lstStyle/>
            <a:p>
              <a:pPr algn="ctr"/>
              <a:r>
                <a:rPr lang="en-IN" sz="1600" b="1" dirty="0">
                  <a:solidFill>
                    <a:schemeClr val="bg1"/>
                  </a:solidFill>
                </a:rPr>
                <a:t>Our Customer Persona</a:t>
              </a:r>
              <a:endParaRPr lang="en-US" sz="1600" b="1" dirty="0">
                <a:solidFill>
                  <a:schemeClr val="bg1"/>
                </a:solidFill>
              </a:endParaRPr>
            </a:p>
          </p:txBody>
        </p:sp>
        <p:sp>
          <p:nvSpPr>
            <p:cNvPr id="2156" name="TextBox 2155">
              <a:extLst>
                <a:ext uri="{FF2B5EF4-FFF2-40B4-BE49-F238E27FC236}">
                  <a16:creationId xmlns:a16="http://schemas.microsoft.com/office/drawing/2014/main" id="{64AA8886-EEFD-0D8E-22BF-A27111D60439}"/>
                </a:ext>
              </a:extLst>
            </p:cNvPr>
            <p:cNvSpPr txBox="1"/>
            <p:nvPr/>
          </p:nvSpPr>
          <p:spPr>
            <a:xfrm>
              <a:off x="6286500" y="2473416"/>
              <a:ext cx="5715000" cy="1169551"/>
            </a:xfrm>
            <a:prstGeom prst="rect">
              <a:avLst/>
            </a:prstGeom>
            <a:noFill/>
            <a:ln w="9525">
              <a:solidFill>
                <a:schemeClr val="tx1"/>
              </a:solidFill>
              <a:prstDash val="lgDashDot"/>
              <a:extLst>
                <a:ext uri="{C807C97D-BFC1-408E-A445-0C87EB9F89A2}">
                  <ask:lineSketchStyleProps xmlns:ask="http://schemas.microsoft.com/office/drawing/2018/sketchyshapes" sd="879467300">
                    <a:custGeom>
                      <a:avLst/>
                      <a:gdLst>
                        <a:gd name="connsiteX0" fmla="*/ 0 w 5715000"/>
                        <a:gd name="connsiteY0" fmla="*/ 0 h 2246769"/>
                        <a:gd name="connsiteX1" fmla="*/ 571500 w 5715000"/>
                        <a:gd name="connsiteY1" fmla="*/ 0 h 2246769"/>
                        <a:gd name="connsiteX2" fmla="*/ 1143000 w 5715000"/>
                        <a:gd name="connsiteY2" fmla="*/ 0 h 2246769"/>
                        <a:gd name="connsiteX3" fmla="*/ 1714500 w 5715000"/>
                        <a:gd name="connsiteY3" fmla="*/ 0 h 2246769"/>
                        <a:gd name="connsiteX4" fmla="*/ 2400300 w 5715000"/>
                        <a:gd name="connsiteY4" fmla="*/ 0 h 2246769"/>
                        <a:gd name="connsiteX5" fmla="*/ 2800350 w 5715000"/>
                        <a:gd name="connsiteY5" fmla="*/ 0 h 2246769"/>
                        <a:gd name="connsiteX6" fmla="*/ 3486150 w 5715000"/>
                        <a:gd name="connsiteY6" fmla="*/ 0 h 2246769"/>
                        <a:gd name="connsiteX7" fmla="*/ 3886200 w 5715000"/>
                        <a:gd name="connsiteY7" fmla="*/ 0 h 2246769"/>
                        <a:gd name="connsiteX8" fmla="*/ 4572000 w 5715000"/>
                        <a:gd name="connsiteY8" fmla="*/ 0 h 2246769"/>
                        <a:gd name="connsiteX9" fmla="*/ 4972050 w 5715000"/>
                        <a:gd name="connsiteY9" fmla="*/ 0 h 2246769"/>
                        <a:gd name="connsiteX10" fmla="*/ 5715000 w 5715000"/>
                        <a:gd name="connsiteY10" fmla="*/ 0 h 2246769"/>
                        <a:gd name="connsiteX11" fmla="*/ 5715000 w 5715000"/>
                        <a:gd name="connsiteY11" fmla="*/ 606628 h 2246769"/>
                        <a:gd name="connsiteX12" fmla="*/ 5715000 w 5715000"/>
                        <a:gd name="connsiteY12" fmla="*/ 1190788 h 2246769"/>
                        <a:gd name="connsiteX13" fmla="*/ 5715000 w 5715000"/>
                        <a:gd name="connsiteY13" fmla="*/ 2246769 h 2246769"/>
                        <a:gd name="connsiteX14" fmla="*/ 5086350 w 5715000"/>
                        <a:gd name="connsiteY14" fmla="*/ 2246769 h 2246769"/>
                        <a:gd name="connsiteX15" fmla="*/ 4572000 w 5715000"/>
                        <a:gd name="connsiteY15" fmla="*/ 2246769 h 2246769"/>
                        <a:gd name="connsiteX16" fmla="*/ 4114800 w 5715000"/>
                        <a:gd name="connsiteY16" fmla="*/ 2246769 h 2246769"/>
                        <a:gd name="connsiteX17" fmla="*/ 3714750 w 5715000"/>
                        <a:gd name="connsiteY17" fmla="*/ 2246769 h 2246769"/>
                        <a:gd name="connsiteX18" fmla="*/ 3028950 w 5715000"/>
                        <a:gd name="connsiteY18" fmla="*/ 2246769 h 2246769"/>
                        <a:gd name="connsiteX19" fmla="*/ 2457450 w 5715000"/>
                        <a:gd name="connsiteY19" fmla="*/ 2246769 h 2246769"/>
                        <a:gd name="connsiteX20" fmla="*/ 1885950 w 5715000"/>
                        <a:gd name="connsiteY20" fmla="*/ 2246769 h 2246769"/>
                        <a:gd name="connsiteX21" fmla="*/ 1428750 w 5715000"/>
                        <a:gd name="connsiteY21" fmla="*/ 2246769 h 2246769"/>
                        <a:gd name="connsiteX22" fmla="*/ 742950 w 5715000"/>
                        <a:gd name="connsiteY22" fmla="*/ 2246769 h 2246769"/>
                        <a:gd name="connsiteX23" fmla="*/ 0 w 5715000"/>
                        <a:gd name="connsiteY23" fmla="*/ 2246769 h 2246769"/>
                        <a:gd name="connsiteX24" fmla="*/ 0 w 5715000"/>
                        <a:gd name="connsiteY24" fmla="*/ 1730012 h 2246769"/>
                        <a:gd name="connsiteX25" fmla="*/ 0 w 5715000"/>
                        <a:gd name="connsiteY25" fmla="*/ 1168320 h 2246769"/>
                        <a:gd name="connsiteX26" fmla="*/ 0 w 5715000"/>
                        <a:gd name="connsiteY26" fmla="*/ 674031 h 2246769"/>
                        <a:gd name="connsiteX27" fmla="*/ 0 w 5715000"/>
                        <a:gd name="connsiteY27" fmla="*/ 0 h 2246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15000" h="2246769" extrusionOk="0">
                          <a:moveTo>
                            <a:pt x="0" y="0"/>
                          </a:moveTo>
                          <a:cubicBezTo>
                            <a:pt x="129941" y="-47727"/>
                            <a:pt x="289325" y="49665"/>
                            <a:pt x="571500" y="0"/>
                          </a:cubicBezTo>
                          <a:cubicBezTo>
                            <a:pt x="853675" y="-49665"/>
                            <a:pt x="1016760" y="26007"/>
                            <a:pt x="1143000" y="0"/>
                          </a:cubicBezTo>
                          <a:cubicBezTo>
                            <a:pt x="1269240" y="-26007"/>
                            <a:pt x="1569322" y="23220"/>
                            <a:pt x="1714500" y="0"/>
                          </a:cubicBezTo>
                          <a:cubicBezTo>
                            <a:pt x="1859678" y="-23220"/>
                            <a:pt x="2182239" y="9639"/>
                            <a:pt x="2400300" y="0"/>
                          </a:cubicBezTo>
                          <a:cubicBezTo>
                            <a:pt x="2618361" y="-9639"/>
                            <a:pt x="2686217" y="8107"/>
                            <a:pt x="2800350" y="0"/>
                          </a:cubicBezTo>
                          <a:cubicBezTo>
                            <a:pt x="2914483" y="-8107"/>
                            <a:pt x="3302080" y="46316"/>
                            <a:pt x="3486150" y="0"/>
                          </a:cubicBezTo>
                          <a:cubicBezTo>
                            <a:pt x="3670220" y="-46316"/>
                            <a:pt x="3687608" y="7334"/>
                            <a:pt x="3886200" y="0"/>
                          </a:cubicBezTo>
                          <a:cubicBezTo>
                            <a:pt x="4084792" y="-7334"/>
                            <a:pt x="4275868" y="69766"/>
                            <a:pt x="4572000" y="0"/>
                          </a:cubicBezTo>
                          <a:cubicBezTo>
                            <a:pt x="4868132" y="-69766"/>
                            <a:pt x="4881829" y="9978"/>
                            <a:pt x="4972050" y="0"/>
                          </a:cubicBezTo>
                          <a:cubicBezTo>
                            <a:pt x="5062271" y="-9978"/>
                            <a:pt x="5493306" y="4751"/>
                            <a:pt x="5715000" y="0"/>
                          </a:cubicBezTo>
                          <a:cubicBezTo>
                            <a:pt x="5760118" y="275580"/>
                            <a:pt x="5701101" y="344889"/>
                            <a:pt x="5715000" y="606628"/>
                          </a:cubicBezTo>
                          <a:cubicBezTo>
                            <a:pt x="5728899" y="868367"/>
                            <a:pt x="5708641" y="914979"/>
                            <a:pt x="5715000" y="1190788"/>
                          </a:cubicBezTo>
                          <a:cubicBezTo>
                            <a:pt x="5721359" y="1466597"/>
                            <a:pt x="5700563" y="1785151"/>
                            <a:pt x="5715000" y="2246769"/>
                          </a:cubicBezTo>
                          <a:cubicBezTo>
                            <a:pt x="5460018" y="2247787"/>
                            <a:pt x="5304134" y="2183125"/>
                            <a:pt x="5086350" y="2246769"/>
                          </a:cubicBezTo>
                          <a:cubicBezTo>
                            <a:pt x="4868566" y="2310413"/>
                            <a:pt x="4822624" y="2238101"/>
                            <a:pt x="4572000" y="2246769"/>
                          </a:cubicBezTo>
                          <a:cubicBezTo>
                            <a:pt x="4321376" y="2255437"/>
                            <a:pt x="4248017" y="2218084"/>
                            <a:pt x="4114800" y="2246769"/>
                          </a:cubicBezTo>
                          <a:cubicBezTo>
                            <a:pt x="3981583" y="2275454"/>
                            <a:pt x="3829450" y="2200913"/>
                            <a:pt x="3714750" y="2246769"/>
                          </a:cubicBezTo>
                          <a:cubicBezTo>
                            <a:pt x="3600050" y="2292625"/>
                            <a:pt x="3180251" y="2236443"/>
                            <a:pt x="3028950" y="2246769"/>
                          </a:cubicBezTo>
                          <a:cubicBezTo>
                            <a:pt x="2877649" y="2257095"/>
                            <a:pt x="2717132" y="2186363"/>
                            <a:pt x="2457450" y="2246769"/>
                          </a:cubicBezTo>
                          <a:cubicBezTo>
                            <a:pt x="2197768" y="2307175"/>
                            <a:pt x="2126506" y="2208834"/>
                            <a:pt x="1885950" y="2246769"/>
                          </a:cubicBezTo>
                          <a:cubicBezTo>
                            <a:pt x="1645394" y="2284704"/>
                            <a:pt x="1636436" y="2221242"/>
                            <a:pt x="1428750" y="2246769"/>
                          </a:cubicBezTo>
                          <a:cubicBezTo>
                            <a:pt x="1221064" y="2272296"/>
                            <a:pt x="1035876" y="2171497"/>
                            <a:pt x="742950" y="2246769"/>
                          </a:cubicBezTo>
                          <a:cubicBezTo>
                            <a:pt x="450024" y="2322041"/>
                            <a:pt x="183530" y="2197005"/>
                            <a:pt x="0" y="2246769"/>
                          </a:cubicBezTo>
                          <a:cubicBezTo>
                            <a:pt x="-45062" y="1992132"/>
                            <a:pt x="9193" y="1938862"/>
                            <a:pt x="0" y="1730012"/>
                          </a:cubicBezTo>
                          <a:cubicBezTo>
                            <a:pt x="-9193" y="1521162"/>
                            <a:pt x="17384" y="1295193"/>
                            <a:pt x="0" y="1168320"/>
                          </a:cubicBezTo>
                          <a:cubicBezTo>
                            <a:pt x="-17384" y="1041447"/>
                            <a:pt x="24490" y="835722"/>
                            <a:pt x="0" y="674031"/>
                          </a:cubicBezTo>
                          <a:cubicBezTo>
                            <a:pt x="-24490" y="512340"/>
                            <a:pt x="42306" y="239594"/>
                            <a:pt x="0" y="0"/>
                          </a:cubicBezTo>
                          <a:close/>
                        </a:path>
                      </a:pathLst>
                    </a:custGeom>
                    <ask:type>
                      <ask:lineSketchNone/>
                    </ask:type>
                  </ask:lineSketchStyleProps>
                </a:ext>
              </a:extLst>
            </a:ln>
          </p:spPr>
          <p:txBody>
            <a:bodyPr wrap="square" rtlCol="0">
              <a:spAutoFit/>
            </a:bodyPr>
            <a:lstStyle/>
            <a:p>
              <a:pPr algn="just"/>
              <a:r>
                <a:rPr lang="en-IN" sz="1400" b="1" dirty="0"/>
                <a:t>Value Proposition:</a:t>
              </a:r>
            </a:p>
            <a:p>
              <a:pPr algn="just"/>
              <a:endParaRPr lang="en-IN" sz="1400" b="1" dirty="0"/>
            </a:p>
            <a:p>
              <a:pPr algn="just"/>
              <a:endParaRPr lang="en-IN" sz="1400" b="1" dirty="0"/>
            </a:p>
            <a:p>
              <a:pPr algn="just"/>
              <a:endParaRPr lang="en-IN" sz="1400" b="1" dirty="0"/>
            </a:p>
            <a:p>
              <a:pPr algn="just"/>
              <a:endParaRPr lang="en-IN" sz="1400" b="1" dirty="0"/>
            </a:p>
          </p:txBody>
        </p:sp>
      </p:grpSp>
      <p:sp>
        <p:nvSpPr>
          <p:cNvPr id="2067" name="TextBox 2066">
            <a:extLst>
              <a:ext uri="{FF2B5EF4-FFF2-40B4-BE49-F238E27FC236}">
                <a16:creationId xmlns:a16="http://schemas.microsoft.com/office/drawing/2014/main" id="{05BF1729-48CE-2C87-FC00-7703EE60D010}"/>
              </a:ext>
            </a:extLst>
          </p:cNvPr>
          <p:cNvSpPr txBox="1"/>
          <p:nvPr/>
        </p:nvSpPr>
        <p:spPr>
          <a:xfrm>
            <a:off x="6612817" y="97971"/>
            <a:ext cx="1594824" cy="338554"/>
          </a:xfrm>
          <a:prstGeom prst="rect">
            <a:avLst/>
          </a:prstGeom>
          <a:solidFill>
            <a:schemeClr val="accent5"/>
          </a:solidFill>
        </p:spPr>
        <p:txBody>
          <a:bodyPr wrap="square" rtlCol="0">
            <a:spAutoFit/>
          </a:bodyPr>
          <a:lstStyle/>
          <a:p>
            <a:pPr algn="ctr"/>
            <a:r>
              <a:rPr lang="en-IN" sz="1600" b="1" dirty="0">
                <a:solidFill>
                  <a:schemeClr val="bg1"/>
                </a:solidFill>
              </a:rPr>
              <a:t>Product Journey</a:t>
            </a:r>
            <a:endParaRPr lang="en-US" sz="1600" b="1" dirty="0">
              <a:solidFill>
                <a:schemeClr val="bg1"/>
              </a:solidFill>
            </a:endParaRPr>
          </a:p>
        </p:txBody>
      </p:sp>
      <p:grpSp>
        <p:nvGrpSpPr>
          <p:cNvPr id="2111" name="Group 2110">
            <a:extLst>
              <a:ext uri="{FF2B5EF4-FFF2-40B4-BE49-F238E27FC236}">
                <a16:creationId xmlns:a16="http://schemas.microsoft.com/office/drawing/2014/main" id="{EF5B7B9E-2577-F51A-3663-8E3EFBBDCAB6}"/>
              </a:ext>
            </a:extLst>
          </p:cNvPr>
          <p:cNvGrpSpPr/>
          <p:nvPr/>
        </p:nvGrpSpPr>
        <p:grpSpPr>
          <a:xfrm>
            <a:off x="6066516" y="572406"/>
            <a:ext cx="5895554" cy="2510498"/>
            <a:chOff x="4980455" y="578935"/>
            <a:chExt cx="7105516" cy="3025730"/>
          </a:xfrm>
        </p:grpSpPr>
        <p:grpSp>
          <p:nvGrpSpPr>
            <p:cNvPr id="2109" name="Group 2108">
              <a:extLst>
                <a:ext uri="{FF2B5EF4-FFF2-40B4-BE49-F238E27FC236}">
                  <a16:creationId xmlns:a16="http://schemas.microsoft.com/office/drawing/2014/main" id="{D1DE32A0-00B2-67E8-0F66-0284DFE5BE57}"/>
                </a:ext>
              </a:extLst>
            </p:cNvPr>
            <p:cNvGrpSpPr/>
            <p:nvPr/>
          </p:nvGrpSpPr>
          <p:grpSpPr>
            <a:xfrm>
              <a:off x="4980455" y="578935"/>
              <a:ext cx="7105516" cy="3025730"/>
              <a:chOff x="4980455" y="578935"/>
              <a:chExt cx="7105516" cy="3025730"/>
            </a:xfrm>
          </p:grpSpPr>
          <p:pic>
            <p:nvPicPr>
              <p:cNvPr id="2069" name="Picture 2068">
                <a:extLst>
                  <a:ext uri="{FF2B5EF4-FFF2-40B4-BE49-F238E27FC236}">
                    <a16:creationId xmlns:a16="http://schemas.microsoft.com/office/drawing/2014/main" id="{99B85117-4FEB-D2E4-0C04-B41F9175D1C2}"/>
                  </a:ext>
                </a:extLst>
              </p:cNvPr>
              <p:cNvPicPr>
                <a:picLocks noChangeAspect="1"/>
              </p:cNvPicPr>
              <p:nvPr/>
            </p:nvPicPr>
            <p:blipFill>
              <a:blip r:embed="rId4"/>
              <a:stretch>
                <a:fillRect/>
              </a:stretch>
            </p:blipFill>
            <p:spPr>
              <a:xfrm>
                <a:off x="6444138" y="581592"/>
                <a:ext cx="666784" cy="711237"/>
              </a:xfrm>
              <a:prstGeom prst="rect">
                <a:avLst/>
              </a:prstGeom>
            </p:spPr>
          </p:pic>
          <p:pic>
            <p:nvPicPr>
              <p:cNvPr id="2071" name="Picture 2070">
                <a:extLst>
                  <a:ext uri="{FF2B5EF4-FFF2-40B4-BE49-F238E27FC236}">
                    <a16:creationId xmlns:a16="http://schemas.microsoft.com/office/drawing/2014/main" id="{32323C71-626A-6AD1-1251-260BD7A08B42}"/>
                  </a:ext>
                </a:extLst>
              </p:cNvPr>
              <p:cNvPicPr>
                <a:picLocks noChangeAspect="1"/>
              </p:cNvPicPr>
              <p:nvPr/>
            </p:nvPicPr>
            <p:blipFill>
              <a:blip r:embed="rId5"/>
              <a:stretch>
                <a:fillRect/>
              </a:stretch>
            </p:blipFill>
            <p:spPr>
              <a:xfrm>
                <a:off x="7557032" y="586002"/>
                <a:ext cx="666784" cy="708158"/>
              </a:xfrm>
              <a:prstGeom prst="rect">
                <a:avLst/>
              </a:prstGeom>
            </p:spPr>
          </p:pic>
          <p:pic>
            <p:nvPicPr>
              <p:cNvPr id="2073" name="Picture 2072">
                <a:extLst>
                  <a:ext uri="{FF2B5EF4-FFF2-40B4-BE49-F238E27FC236}">
                    <a16:creationId xmlns:a16="http://schemas.microsoft.com/office/drawing/2014/main" id="{D4108044-63BE-79B9-922C-6B675EA10E4C}"/>
                  </a:ext>
                </a:extLst>
              </p:cNvPr>
              <p:cNvPicPr>
                <a:picLocks noChangeAspect="1"/>
              </p:cNvPicPr>
              <p:nvPr/>
            </p:nvPicPr>
            <p:blipFill>
              <a:blip r:embed="rId6"/>
              <a:stretch>
                <a:fillRect/>
              </a:stretch>
            </p:blipFill>
            <p:spPr>
              <a:xfrm>
                <a:off x="8698122" y="578935"/>
                <a:ext cx="666785" cy="708158"/>
              </a:xfrm>
              <a:prstGeom prst="rect">
                <a:avLst/>
              </a:prstGeom>
            </p:spPr>
          </p:pic>
          <p:pic>
            <p:nvPicPr>
              <p:cNvPr id="2075" name="Picture 2074">
                <a:extLst>
                  <a:ext uri="{FF2B5EF4-FFF2-40B4-BE49-F238E27FC236}">
                    <a16:creationId xmlns:a16="http://schemas.microsoft.com/office/drawing/2014/main" id="{9602FA86-40C3-4BA7-6C93-D7C4D14333C7}"/>
                  </a:ext>
                </a:extLst>
              </p:cNvPr>
              <p:cNvPicPr>
                <a:picLocks noChangeAspect="1"/>
              </p:cNvPicPr>
              <p:nvPr/>
            </p:nvPicPr>
            <p:blipFill>
              <a:blip r:embed="rId7"/>
              <a:stretch>
                <a:fillRect/>
              </a:stretch>
            </p:blipFill>
            <p:spPr>
              <a:xfrm>
                <a:off x="9811017" y="586002"/>
                <a:ext cx="666784" cy="702419"/>
              </a:xfrm>
              <a:prstGeom prst="rect">
                <a:avLst/>
              </a:prstGeom>
            </p:spPr>
          </p:pic>
          <p:pic>
            <p:nvPicPr>
              <p:cNvPr id="2077" name="Picture 2076">
                <a:extLst>
                  <a:ext uri="{FF2B5EF4-FFF2-40B4-BE49-F238E27FC236}">
                    <a16:creationId xmlns:a16="http://schemas.microsoft.com/office/drawing/2014/main" id="{2B29EA8E-BD84-EE20-67AC-2B9FF39E2826}"/>
                  </a:ext>
                </a:extLst>
              </p:cNvPr>
              <p:cNvPicPr>
                <a:picLocks noChangeAspect="1"/>
              </p:cNvPicPr>
              <p:nvPr/>
            </p:nvPicPr>
            <p:blipFill>
              <a:blip r:embed="rId8"/>
              <a:stretch>
                <a:fillRect/>
              </a:stretch>
            </p:blipFill>
            <p:spPr>
              <a:xfrm>
                <a:off x="10923911" y="578935"/>
                <a:ext cx="666784" cy="702419"/>
              </a:xfrm>
              <a:prstGeom prst="rect">
                <a:avLst/>
              </a:prstGeom>
            </p:spPr>
          </p:pic>
          <p:cxnSp>
            <p:nvCxnSpPr>
              <p:cNvPr id="2079" name="Straight Arrow Connector 2078">
                <a:extLst>
                  <a:ext uri="{FF2B5EF4-FFF2-40B4-BE49-F238E27FC236}">
                    <a16:creationId xmlns:a16="http://schemas.microsoft.com/office/drawing/2014/main" id="{A937F2FB-960D-258B-1941-E8D14F8C2FB7}"/>
                  </a:ext>
                </a:extLst>
              </p:cNvPr>
              <p:cNvCxnSpPr>
                <a:stCxn id="2069" idx="3"/>
                <a:endCxn id="2071" idx="1"/>
              </p:cNvCxnSpPr>
              <p:nvPr/>
            </p:nvCxnSpPr>
            <p:spPr>
              <a:xfrm>
                <a:off x="7110922" y="937211"/>
                <a:ext cx="446110" cy="287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80" name="Straight Arrow Connector 2079">
                <a:extLst>
                  <a:ext uri="{FF2B5EF4-FFF2-40B4-BE49-F238E27FC236}">
                    <a16:creationId xmlns:a16="http://schemas.microsoft.com/office/drawing/2014/main" id="{ABFAB7E0-CF07-5A00-C25A-616A24515828}"/>
                  </a:ext>
                </a:extLst>
              </p:cNvPr>
              <p:cNvCxnSpPr>
                <a:cxnSpLocks/>
                <a:endCxn id="2073" idx="1"/>
              </p:cNvCxnSpPr>
              <p:nvPr/>
            </p:nvCxnSpPr>
            <p:spPr>
              <a:xfrm flipV="1">
                <a:off x="8223816" y="933014"/>
                <a:ext cx="474306" cy="419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82" name="Straight Arrow Connector 2081">
                <a:extLst>
                  <a:ext uri="{FF2B5EF4-FFF2-40B4-BE49-F238E27FC236}">
                    <a16:creationId xmlns:a16="http://schemas.microsoft.com/office/drawing/2014/main" id="{28C6852F-36E6-8316-9674-59AC992841DC}"/>
                  </a:ext>
                </a:extLst>
              </p:cNvPr>
              <p:cNvCxnSpPr>
                <a:cxnSpLocks/>
              </p:cNvCxnSpPr>
              <p:nvPr/>
            </p:nvCxnSpPr>
            <p:spPr>
              <a:xfrm flipV="1">
                <a:off x="9364907" y="925948"/>
                <a:ext cx="474306" cy="419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83" name="Straight Arrow Connector 2082">
                <a:extLst>
                  <a:ext uri="{FF2B5EF4-FFF2-40B4-BE49-F238E27FC236}">
                    <a16:creationId xmlns:a16="http://schemas.microsoft.com/office/drawing/2014/main" id="{6C1E10DA-2F28-6936-BB89-D11A1D221D63}"/>
                  </a:ext>
                </a:extLst>
              </p:cNvPr>
              <p:cNvCxnSpPr>
                <a:cxnSpLocks/>
              </p:cNvCxnSpPr>
              <p:nvPr/>
            </p:nvCxnSpPr>
            <p:spPr>
              <a:xfrm flipV="1">
                <a:off x="10477801" y="940081"/>
                <a:ext cx="474306" cy="419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084" name="TextBox 2083">
                <a:extLst>
                  <a:ext uri="{FF2B5EF4-FFF2-40B4-BE49-F238E27FC236}">
                    <a16:creationId xmlns:a16="http://schemas.microsoft.com/office/drawing/2014/main" id="{B87FD6C3-7E1D-B1F2-EA35-72B43C45D625}"/>
                  </a:ext>
                </a:extLst>
              </p:cNvPr>
              <p:cNvSpPr txBox="1"/>
              <p:nvPr/>
            </p:nvSpPr>
            <p:spPr>
              <a:xfrm>
                <a:off x="6241929" y="1302027"/>
                <a:ext cx="1071202" cy="276999"/>
              </a:xfrm>
              <a:prstGeom prst="rect">
                <a:avLst/>
              </a:prstGeom>
              <a:noFill/>
            </p:spPr>
            <p:txBody>
              <a:bodyPr wrap="square" rtlCol="0">
                <a:spAutoFit/>
              </a:bodyPr>
              <a:lstStyle/>
              <a:p>
                <a:pPr algn="ctr"/>
                <a:r>
                  <a:rPr lang="en-IN" sz="1200" dirty="0"/>
                  <a:t>Raw bamboo</a:t>
                </a:r>
                <a:endParaRPr lang="en-US" sz="1200" dirty="0"/>
              </a:p>
            </p:txBody>
          </p:sp>
          <p:sp>
            <p:nvSpPr>
              <p:cNvPr id="2085" name="TextBox 2084">
                <a:extLst>
                  <a:ext uri="{FF2B5EF4-FFF2-40B4-BE49-F238E27FC236}">
                    <a16:creationId xmlns:a16="http://schemas.microsoft.com/office/drawing/2014/main" id="{6F7CB90D-D863-999E-2D42-C349291F97A9}"/>
                  </a:ext>
                </a:extLst>
              </p:cNvPr>
              <p:cNvSpPr txBox="1"/>
              <p:nvPr/>
            </p:nvSpPr>
            <p:spPr>
              <a:xfrm>
                <a:off x="7354823" y="1306505"/>
                <a:ext cx="1071202" cy="461665"/>
              </a:xfrm>
              <a:prstGeom prst="rect">
                <a:avLst/>
              </a:prstGeom>
              <a:noFill/>
            </p:spPr>
            <p:txBody>
              <a:bodyPr wrap="square" rtlCol="0">
                <a:spAutoFit/>
              </a:bodyPr>
              <a:lstStyle/>
              <a:p>
                <a:pPr algn="ctr"/>
                <a:r>
                  <a:rPr lang="en-IN" sz="1200" dirty="0"/>
                  <a:t>Processed into thick pulp</a:t>
                </a:r>
                <a:endParaRPr lang="en-US" sz="1200" dirty="0"/>
              </a:p>
            </p:txBody>
          </p:sp>
          <p:sp>
            <p:nvSpPr>
              <p:cNvPr id="2086" name="TextBox 2085">
                <a:extLst>
                  <a:ext uri="{FF2B5EF4-FFF2-40B4-BE49-F238E27FC236}">
                    <a16:creationId xmlns:a16="http://schemas.microsoft.com/office/drawing/2014/main" id="{2679103B-EB38-FB9B-B774-206BBE83A39B}"/>
                  </a:ext>
                </a:extLst>
              </p:cNvPr>
              <p:cNvSpPr txBox="1"/>
              <p:nvPr/>
            </p:nvSpPr>
            <p:spPr>
              <a:xfrm>
                <a:off x="8495913" y="1302027"/>
                <a:ext cx="1071202" cy="461665"/>
              </a:xfrm>
              <a:prstGeom prst="rect">
                <a:avLst/>
              </a:prstGeom>
              <a:noFill/>
            </p:spPr>
            <p:txBody>
              <a:bodyPr wrap="square" rtlCol="0">
                <a:spAutoFit/>
              </a:bodyPr>
              <a:lstStyle/>
              <a:p>
                <a:pPr algn="ctr"/>
                <a:r>
                  <a:rPr lang="en-IN" sz="1200" dirty="0"/>
                  <a:t>Processed into sheet</a:t>
                </a:r>
                <a:endParaRPr lang="en-US" sz="1200" dirty="0"/>
              </a:p>
            </p:txBody>
          </p:sp>
          <p:sp>
            <p:nvSpPr>
              <p:cNvPr id="2087" name="TextBox 2086">
                <a:extLst>
                  <a:ext uri="{FF2B5EF4-FFF2-40B4-BE49-F238E27FC236}">
                    <a16:creationId xmlns:a16="http://schemas.microsoft.com/office/drawing/2014/main" id="{3341F34E-059C-0948-F7E9-8823710BFA8E}"/>
                  </a:ext>
                </a:extLst>
              </p:cNvPr>
              <p:cNvSpPr txBox="1"/>
              <p:nvPr/>
            </p:nvSpPr>
            <p:spPr>
              <a:xfrm>
                <a:off x="9609478" y="1293214"/>
                <a:ext cx="1071202" cy="461665"/>
              </a:xfrm>
              <a:prstGeom prst="rect">
                <a:avLst/>
              </a:prstGeom>
              <a:noFill/>
            </p:spPr>
            <p:txBody>
              <a:bodyPr wrap="square" rtlCol="0">
                <a:spAutoFit/>
              </a:bodyPr>
              <a:lstStyle/>
              <a:p>
                <a:pPr algn="ctr"/>
                <a:r>
                  <a:rPr lang="en-IN" sz="1200" dirty="0"/>
                  <a:t>Processed into sheet</a:t>
                </a:r>
                <a:endParaRPr lang="en-US" sz="1200" dirty="0"/>
              </a:p>
            </p:txBody>
          </p:sp>
          <p:sp>
            <p:nvSpPr>
              <p:cNvPr id="2088" name="TextBox 2087">
                <a:extLst>
                  <a:ext uri="{FF2B5EF4-FFF2-40B4-BE49-F238E27FC236}">
                    <a16:creationId xmlns:a16="http://schemas.microsoft.com/office/drawing/2014/main" id="{83181FC7-2710-DCEC-F910-289DD7C85636}"/>
                  </a:ext>
                </a:extLst>
              </p:cNvPr>
              <p:cNvSpPr txBox="1"/>
              <p:nvPr/>
            </p:nvSpPr>
            <p:spPr>
              <a:xfrm>
                <a:off x="10723043" y="1284401"/>
                <a:ext cx="1071202" cy="461665"/>
              </a:xfrm>
              <a:prstGeom prst="rect">
                <a:avLst/>
              </a:prstGeom>
              <a:noFill/>
            </p:spPr>
            <p:txBody>
              <a:bodyPr wrap="square" rtlCol="0">
                <a:spAutoFit/>
              </a:bodyPr>
              <a:lstStyle/>
              <a:p>
                <a:pPr algn="ctr"/>
                <a:r>
                  <a:rPr lang="en-IN" sz="1200" dirty="0"/>
                  <a:t>Spun into yarn</a:t>
                </a:r>
                <a:endParaRPr lang="en-US" sz="1200" dirty="0"/>
              </a:p>
            </p:txBody>
          </p:sp>
          <p:cxnSp>
            <p:nvCxnSpPr>
              <p:cNvPr id="2096" name="Connector: Elbow 2095">
                <a:extLst>
                  <a:ext uri="{FF2B5EF4-FFF2-40B4-BE49-F238E27FC236}">
                    <a16:creationId xmlns:a16="http://schemas.microsoft.com/office/drawing/2014/main" id="{1FC6CC0D-F622-0DD7-9AEF-C31ACE403922}"/>
                  </a:ext>
                </a:extLst>
              </p:cNvPr>
              <p:cNvCxnSpPr>
                <a:cxnSpLocks/>
                <a:stCxn id="2077" idx="3"/>
              </p:cNvCxnSpPr>
              <p:nvPr/>
            </p:nvCxnSpPr>
            <p:spPr>
              <a:xfrm>
                <a:off x="11590695" y="930144"/>
                <a:ext cx="471737" cy="1649817"/>
              </a:xfrm>
              <a:prstGeom prst="bentConnector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7" name="Straight Arrow Connector 2096">
                <a:extLst>
                  <a:ext uri="{FF2B5EF4-FFF2-40B4-BE49-F238E27FC236}">
                    <a16:creationId xmlns:a16="http://schemas.microsoft.com/office/drawing/2014/main" id="{4AEDDD1D-C75A-18EE-DEFB-3782165872E6}"/>
                  </a:ext>
                </a:extLst>
              </p:cNvPr>
              <p:cNvCxnSpPr>
                <a:cxnSpLocks/>
                <a:endCxn id="2101" idx="3"/>
              </p:cNvCxnSpPr>
              <p:nvPr/>
            </p:nvCxnSpPr>
            <p:spPr>
              <a:xfrm flipH="1">
                <a:off x="11617601" y="2564924"/>
                <a:ext cx="46837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2101" name="Picture 2100">
                <a:extLst>
                  <a:ext uri="{FF2B5EF4-FFF2-40B4-BE49-F238E27FC236}">
                    <a16:creationId xmlns:a16="http://schemas.microsoft.com/office/drawing/2014/main" id="{25540D52-E90D-91CA-C480-F3ED6BB36222}"/>
                  </a:ext>
                </a:extLst>
              </p:cNvPr>
              <p:cNvPicPr>
                <a:picLocks noChangeAspect="1"/>
              </p:cNvPicPr>
              <p:nvPr/>
            </p:nvPicPr>
            <p:blipFill>
              <a:blip r:embed="rId9"/>
              <a:stretch>
                <a:fillRect/>
              </a:stretch>
            </p:blipFill>
            <p:spPr>
              <a:xfrm>
                <a:off x="10950818" y="2268562"/>
                <a:ext cx="666784" cy="592715"/>
              </a:xfrm>
              <a:prstGeom prst="rect">
                <a:avLst/>
              </a:prstGeom>
            </p:spPr>
          </p:pic>
          <p:pic>
            <p:nvPicPr>
              <p:cNvPr id="2105" name="Picture 6">
                <a:extLst>
                  <a:ext uri="{FF2B5EF4-FFF2-40B4-BE49-F238E27FC236}">
                    <a16:creationId xmlns:a16="http://schemas.microsoft.com/office/drawing/2014/main" id="{5A4879D0-1319-B32B-F8BD-4C1CF5108C9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2381" t="17275" r="12675" b="18807"/>
              <a:stretch/>
            </p:blipFill>
            <p:spPr bwMode="auto">
              <a:xfrm>
                <a:off x="9839213" y="2268566"/>
                <a:ext cx="665496" cy="621620"/>
              </a:xfrm>
              <a:prstGeom prst="rect">
                <a:avLst/>
              </a:prstGeom>
              <a:noFill/>
              <a:extLst>
                <a:ext uri="{909E8E84-426E-40DD-AFC4-6F175D3DCCD1}">
                  <a14:hiddenFill xmlns:a14="http://schemas.microsoft.com/office/drawing/2010/main">
                    <a:solidFill>
                      <a:srgbClr val="FFFFFF"/>
                    </a:solidFill>
                  </a14:hiddenFill>
                </a:ext>
              </a:extLst>
            </p:spPr>
          </p:pic>
          <p:cxnSp>
            <p:nvCxnSpPr>
              <p:cNvPr id="2106" name="Straight Arrow Connector 2105">
                <a:extLst>
                  <a:ext uri="{FF2B5EF4-FFF2-40B4-BE49-F238E27FC236}">
                    <a16:creationId xmlns:a16="http://schemas.microsoft.com/office/drawing/2014/main" id="{3E58A545-1108-8BB3-ABF4-55E964B95E86}"/>
                  </a:ext>
                </a:extLst>
              </p:cNvPr>
              <p:cNvCxnSpPr>
                <a:cxnSpLocks/>
              </p:cNvCxnSpPr>
              <p:nvPr/>
            </p:nvCxnSpPr>
            <p:spPr>
              <a:xfrm flipH="1">
                <a:off x="10473402" y="2564924"/>
                <a:ext cx="46837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16" name="Straight Arrow Connector 2115">
                <a:extLst>
                  <a:ext uri="{FF2B5EF4-FFF2-40B4-BE49-F238E27FC236}">
                    <a16:creationId xmlns:a16="http://schemas.microsoft.com/office/drawing/2014/main" id="{EAE5CFCA-4B22-5D78-F201-2179FCDB6769}"/>
                  </a:ext>
                </a:extLst>
              </p:cNvPr>
              <p:cNvCxnSpPr>
                <a:cxnSpLocks/>
              </p:cNvCxnSpPr>
              <p:nvPr/>
            </p:nvCxnSpPr>
            <p:spPr>
              <a:xfrm>
                <a:off x="5096830" y="2561428"/>
                <a:ext cx="320697"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36" name="Straight Arrow Connector 2135">
                <a:extLst>
                  <a:ext uri="{FF2B5EF4-FFF2-40B4-BE49-F238E27FC236}">
                    <a16:creationId xmlns:a16="http://schemas.microsoft.com/office/drawing/2014/main" id="{1B8E4324-C62D-719A-0E87-4B1DBD8DFBC0}"/>
                  </a:ext>
                </a:extLst>
              </p:cNvPr>
              <p:cNvCxnSpPr>
                <a:cxnSpLocks/>
                <a:endCxn id="2133" idx="1"/>
              </p:cNvCxnSpPr>
              <p:nvPr/>
            </p:nvCxnSpPr>
            <p:spPr>
              <a:xfrm>
                <a:off x="6106226" y="2632151"/>
                <a:ext cx="36899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40" name="Straight Arrow Connector 2139">
                <a:extLst>
                  <a:ext uri="{FF2B5EF4-FFF2-40B4-BE49-F238E27FC236}">
                    <a16:creationId xmlns:a16="http://schemas.microsoft.com/office/drawing/2014/main" id="{F109B433-EC24-C13E-C532-70B850613E0F}"/>
                  </a:ext>
                </a:extLst>
              </p:cNvPr>
              <p:cNvCxnSpPr>
                <a:cxnSpLocks/>
              </p:cNvCxnSpPr>
              <p:nvPr/>
            </p:nvCxnSpPr>
            <p:spPr>
              <a:xfrm>
                <a:off x="7170327" y="2632151"/>
                <a:ext cx="36899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143" name="TextBox 2142">
                <a:extLst>
                  <a:ext uri="{FF2B5EF4-FFF2-40B4-BE49-F238E27FC236}">
                    <a16:creationId xmlns:a16="http://schemas.microsoft.com/office/drawing/2014/main" id="{0A7D53EF-B7C7-46A7-F464-6B9AA35977F9}"/>
                  </a:ext>
                </a:extLst>
              </p:cNvPr>
              <p:cNvSpPr txBox="1"/>
              <p:nvPr/>
            </p:nvSpPr>
            <p:spPr>
              <a:xfrm>
                <a:off x="4980455" y="1305645"/>
                <a:ext cx="1515732" cy="556413"/>
              </a:xfrm>
              <a:prstGeom prst="rect">
                <a:avLst/>
              </a:prstGeom>
              <a:noFill/>
            </p:spPr>
            <p:txBody>
              <a:bodyPr wrap="square" rtlCol="0">
                <a:spAutoFit/>
              </a:bodyPr>
              <a:lstStyle/>
              <a:p>
                <a:pPr algn="ctr"/>
                <a:r>
                  <a:rPr lang="en-IN" sz="1200" dirty="0"/>
                  <a:t>Collection of aluminium can</a:t>
                </a:r>
                <a:endParaRPr lang="en-US" sz="1200" dirty="0"/>
              </a:p>
            </p:txBody>
          </p:sp>
          <p:sp>
            <p:nvSpPr>
              <p:cNvPr id="2144" name="TextBox 2143">
                <a:extLst>
                  <a:ext uri="{FF2B5EF4-FFF2-40B4-BE49-F238E27FC236}">
                    <a16:creationId xmlns:a16="http://schemas.microsoft.com/office/drawing/2014/main" id="{11528F73-ABA6-D0EE-C105-54AB41712157}"/>
                  </a:ext>
                </a:extLst>
              </p:cNvPr>
              <p:cNvSpPr txBox="1"/>
              <p:nvPr/>
            </p:nvSpPr>
            <p:spPr>
              <a:xfrm>
                <a:off x="5114471" y="2996184"/>
                <a:ext cx="1282444" cy="556413"/>
              </a:xfrm>
              <a:prstGeom prst="rect">
                <a:avLst/>
              </a:prstGeom>
              <a:noFill/>
            </p:spPr>
            <p:txBody>
              <a:bodyPr wrap="square" rtlCol="0">
                <a:spAutoFit/>
              </a:bodyPr>
              <a:lstStyle/>
              <a:p>
                <a:pPr algn="ctr"/>
                <a:r>
                  <a:rPr lang="en-IN" sz="1200" dirty="0"/>
                  <a:t>Cleaning &amp; melting</a:t>
                </a:r>
                <a:endParaRPr lang="en-US" sz="1200" dirty="0"/>
              </a:p>
            </p:txBody>
          </p:sp>
          <p:sp>
            <p:nvSpPr>
              <p:cNvPr id="2145" name="TextBox 2144">
                <a:extLst>
                  <a:ext uri="{FF2B5EF4-FFF2-40B4-BE49-F238E27FC236}">
                    <a16:creationId xmlns:a16="http://schemas.microsoft.com/office/drawing/2014/main" id="{DA7E854F-068A-4656-1C33-D732E759FB68}"/>
                  </a:ext>
                </a:extLst>
              </p:cNvPr>
              <p:cNvSpPr txBox="1"/>
              <p:nvPr/>
            </p:nvSpPr>
            <p:spPr>
              <a:xfrm>
                <a:off x="6175481" y="3006673"/>
                <a:ext cx="1282444" cy="333848"/>
              </a:xfrm>
              <a:prstGeom prst="rect">
                <a:avLst/>
              </a:prstGeom>
              <a:noFill/>
            </p:spPr>
            <p:txBody>
              <a:bodyPr wrap="square" rtlCol="0">
                <a:spAutoFit/>
              </a:bodyPr>
              <a:lstStyle/>
              <a:p>
                <a:pPr algn="ctr"/>
                <a:r>
                  <a:rPr lang="en-IN" sz="1200" dirty="0"/>
                  <a:t>Rolling</a:t>
                </a:r>
                <a:endParaRPr lang="en-US" sz="1200" dirty="0"/>
              </a:p>
            </p:txBody>
          </p:sp>
          <p:sp>
            <p:nvSpPr>
              <p:cNvPr id="2146" name="TextBox 2145">
                <a:extLst>
                  <a:ext uri="{FF2B5EF4-FFF2-40B4-BE49-F238E27FC236}">
                    <a16:creationId xmlns:a16="http://schemas.microsoft.com/office/drawing/2014/main" id="{4CAFC721-376B-DE9D-720E-7EE731C08BB2}"/>
                  </a:ext>
                </a:extLst>
              </p:cNvPr>
              <p:cNvSpPr txBox="1"/>
              <p:nvPr/>
            </p:nvSpPr>
            <p:spPr>
              <a:xfrm>
                <a:off x="7236491" y="3017162"/>
                <a:ext cx="1282444" cy="556413"/>
              </a:xfrm>
              <a:prstGeom prst="rect">
                <a:avLst/>
              </a:prstGeom>
              <a:noFill/>
            </p:spPr>
            <p:txBody>
              <a:bodyPr wrap="square" rtlCol="0">
                <a:spAutoFit/>
              </a:bodyPr>
              <a:lstStyle/>
              <a:p>
                <a:pPr algn="ctr"/>
                <a:r>
                  <a:rPr lang="en-IN" sz="1200" dirty="0"/>
                  <a:t>Recycled with seed paper</a:t>
                </a:r>
                <a:endParaRPr lang="en-US" sz="1200" dirty="0"/>
              </a:p>
            </p:txBody>
          </p:sp>
          <p:sp>
            <p:nvSpPr>
              <p:cNvPr id="2153" name="TextBox 2152">
                <a:extLst>
                  <a:ext uri="{FF2B5EF4-FFF2-40B4-BE49-F238E27FC236}">
                    <a16:creationId xmlns:a16="http://schemas.microsoft.com/office/drawing/2014/main" id="{DC6E7225-57C4-1B45-993B-053D82D616C9}"/>
                  </a:ext>
                </a:extLst>
              </p:cNvPr>
              <p:cNvSpPr txBox="1"/>
              <p:nvPr/>
            </p:nvSpPr>
            <p:spPr>
              <a:xfrm>
                <a:off x="8547640" y="3048252"/>
                <a:ext cx="1003901" cy="556413"/>
              </a:xfrm>
              <a:prstGeom prst="rect">
                <a:avLst/>
              </a:prstGeom>
              <a:solidFill>
                <a:schemeClr val="accent5"/>
              </a:solidFill>
            </p:spPr>
            <p:txBody>
              <a:bodyPr wrap="square" rtlCol="0">
                <a:spAutoFit/>
              </a:bodyPr>
              <a:lstStyle/>
              <a:p>
                <a:pPr algn="ctr"/>
                <a:r>
                  <a:rPr lang="en-IN" sz="1200" b="1" dirty="0">
                    <a:solidFill>
                      <a:schemeClr val="bg1"/>
                    </a:solidFill>
                  </a:rPr>
                  <a:t>OUR PRODUCT</a:t>
                </a:r>
                <a:endParaRPr lang="en-US" sz="1200" b="1" dirty="0">
                  <a:solidFill>
                    <a:schemeClr val="bg1"/>
                  </a:solidFill>
                </a:endParaRPr>
              </a:p>
            </p:txBody>
          </p:sp>
        </p:grpSp>
        <p:grpSp>
          <p:nvGrpSpPr>
            <p:cNvPr id="2110" name="Group 2109">
              <a:extLst>
                <a:ext uri="{FF2B5EF4-FFF2-40B4-BE49-F238E27FC236}">
                  <a16:creationId xmlns:a16="http://schemas.microsoft.com/office/drawing/2014/main" id="{75CF09E5-D5A0-E853-BF96-14574B82984C}"/>
                </a:ext>
              </a:extLst>
            </p:cNvPr>
            <p:cNvGrpSpPr/>
            <p:nvPr/>
          </p:nvGrpSpPr>
          <p:grpSpPr>
            <a:xfrm>
              <a:off x="9502097" y="2880379"/>
              <a:ext cx="2451331" cy="466142"/>
              <a:chOff x="9502097" y="2880379"/>
              <a:chExt cx="2451331" cy="466142"/>
            </a:xfrm>
          </p:grpSpPr>
          <p:sp>
            <p:nvSpPr>
              <p:cNvPr id="2107" name="TextBox 2106">
                <a:extLst>
                  <a:ext uri="{FF2B5EF4-FFF2-40B4-BE49-F238E27FC236}">
                    <a16:creationId xmlns:a16="http://schemas.microsoft.com/office/drawing/2014/main" id="{FC492FD5-7B1D-46C2-8048-D02D46B6D9B6}"/>
                  </a:ext>
                </a:extLst>
              </p:cNvPr>
              <p:cNvSpPr txBox="1"/>
              <p:nvPr/>
            </p:nvSpPr>
            <p:spPr>
              <a:xfrm>
                <a:off x="10614991" y="2884857"/>
                <a:ext cx="1338437" cy="461664"/>
              </a:xfrm>
              <a:prstGeom prst="rect">
                <a:avLst/>
              </a:prstGeom>
              <a:noFill/>
            </p:spPr>
            <p:txBody>
              <a:bodyPr wrap="square" rtlCol="0">
                <a:spAutoFit/>
              </a:bodyPr>
              <a:lstStyle/>
              <a:p>
                <a:pPr algn="ctr"/>
                <a:r>
                  <a:rPr lang="en-IN" sz="1200" dirty="0"/>
                  <a:t>Woven bamboo fabric</a:t>
                </a:r>
                <a:endParaRPr lang="en-US" sz="1200" dirty="0"/>
              </a:p>
            </p:txBody>
          </p:sp>
          <p:sp>
            <p:nvSpPr>
              <p:cNvPr id="2108" name="TextBox 2107">
                <a:extLst>
                  <a:ext uri="{FF2B5EF4-FFF2-40B4-BE49-F238E27FC236}">
                    <a16:creationId xmlns:a16="http://schemas.microsoft.com/office/drawing/2014/main" id="{CC849F10-8F07-183F-17B9-2529A40B82D3}"/>
                  </a:ext>
                </a:extLst>
              </p:cNvPr>
              <p:cNvSpPr txBox="1"/>
              <p:nvPr/>
            </p:nvSpPr>
            <p:spPr>
              <a:xfrm>
                <a:off x="9502097" y="2880379"/>
                <a:ext cx="1338437" cy="461666"/>
              </a:xfrm>
              <a:prstGeom prst="rect">
                <a:avLst/>
              </a:prstGeom>
              <a:noFill/>
            </p:spPr>
            <p:txBody>
              <a:bodyPr wrap="square" rtlCol="0">
                <a:spAutoFit/>
              </a:bodyPr>
              <a:lstStyle/>
              <a:p>
                <a:pPr algn="ctr"/>
                <a:r>
                  <a:rPr lang="en-IN" sz="1200" dirty="0"/>
                  <a:t>Stitched Kid’s wear</a:t>
                </a:r>
                <a:endParaRPr lang="en-US" sz="1200" dirty="0"/>
              </a:p>
            </p:txBody>
          </p:sp>
        </p:grpSp>
      </p:grpSp>
      <p:pic>
        <p:nvPicPr>
          <p:cNvPr id="2113" name="Picture 2112">
            <a:extLst>
              <a:ext uri="{FF2B5EF4-FFF2-40B4-BE49-F238E27FC236}">
                <a16:creationId xmlns:a16="http://schemas.microsoft.com/office/drawing/2014/main" id="{DC594D54-231C-F4F5-EB19-54082CC59A9B}"/>
              </a:ext>
            </a:extLst>
          </p:cNvPr>
          <p:cNvPicPr>
            <a:picLocks noChangeAspect="1"/>
          </p:cNvPicPr>
          <p:nvPr/>
        </p:nvPicPr>
        <p:blipFill>
          <a:blip r:embed="rId11"/>
          <a:stretch>
            <a:fillRect/>
          </a:stretch>
        </p:blipFill>
        <p:spPr>
          <a:xfrm>
            <a:off x="6398732" y="572406"/>
            <a:ext cx="553242" cy="590124"/>
          </a:xfrm>
          <a:prstGeom prst="rect">
            <a:avLst/>
          </a:prstGeom>
        </p:spPr>
      </p:pic>
      <p:cxnSp>
        <p:nvCxnSpPr>
          <p:cNvPr id="2115" name="Connector: Elbow 2114">
            <a:extLst>
              <a:ext uri="{FF2B5EF4-FFF2-40B4-BE49-F238E27FC236}">
                <a16:creationId xmlns:a16="http://schemas.microsoft.com/office/drawing/2014/main" id="{81EA3A7E-F4CE-227C-8F76-843ECDE83E5A}"/>
              </a:ext>
            </a:extLst>
          </p:cNvPr>
          <p:cNvCxnSpPr>
            <a:cxnSpLocks/>
            <a:stCxn id="2113" idx="1"/>
          </p:cNvCxnSpPr>
          <p:nvPr/>
        </p:nvCxnSpPr>
        <p:spPr>
          <a:xfrm rot="10800000" flipV="1">
            <a:off x="6163074" y="867468"/>
            <a:ext cx="235658" cy="1364736"/>
          </a:xfrm>
          <a:prstGeom prst="bentConnector2">
            <a:avLst/>
          </a:prstGeom>
          <a:ln w="28575"/>
        </p:spPr>
        <p:style>
          <a:lnRef idx="1">
            <a:schemeClr val="dk1"/>
          </a:lnRef>
          <a:fillRef idx="0">
            <a:schemeClr val="dk1"/>
          </a:fillRef>
          <a:effectRef idx="0">
            <a:schemeClr val="dk1"/>
          </a:effectRef>
          <a:fontRef idx="minor">
            <a:schemeClr val="tx1"/>
          </a:fontRef>
        </p:style>
      </p:cxnSp>
      <p:pic>
        <p:nvPicPr>
          <p:cNvPr id="2118" name="Picture 2117">
            <a:extLst>
              <a:ext uri="{FF2B5EF4-FFF2-40B4-BE49-F238E27FC236}">
                <a16:creationId xmlns:a16="http://schemas.microsoft.com/office/drawing/2014/main" id="{21D5FC0C-2B70-4434-1A1F-1BDDE005CA11}"/>
              </a:ext>
            </a:extLst>
          </p:cNvPr>
          <p:cNvPicPr>
            <a:picLocks noChangeAspect="1"/>
          </p:cNvPicPr>
          <p:nvPr/>
        </p:nvPicPr>
        <p:blipFill>
          <a:blip r:embed="rId12"/>
          <a:stretch>
            <a:fillRect/>
          </a:stretch>
        </p:blipFill>
        <p:spPr>
          <a:xfrm>
            <a:off x="6426407" y="1973949"/>
            <a:ext cx="566673" cy="590125"/>
          </a:xfrm>
          <a:prstGeom prst="rect">
            <a:avLst/>
          </a:prstGeom>
        </p:spPr>
      </p:pic>
      <p:pic>
        <p:nvPicPr>
          <p:cNvPr id="2133" name="Picture 2132">
            <a:extLst>
              <a:ext uri="{FF2B5EF4-FFF2-40B4-BE49-F238E27FC236}">
                <a16:creationId xmlns:a16="http://schemas.microsoft.com/office/drawing/2014/main" id="{C32E4122-8F72-A37A-3B09-AC0DBA851D45}"/>
              </a:ext>
            </a:extLst>
          </p:cNvPr>
          <p:cNvPicPr>
            <a:picLocks noChangeAspect="1"/>
          </p:cNvPicPr>
          <p:nvPr/>
        </p:nvPicPr>
        <p:blipFill>
          <a:blip r:embed="rId13"/>
          <a:stretch>
            <a:fillRect/>
          </a:stretch>
        </p:blipFill>
        <p:spPr>
          <a:xfrm>
            <a:off x="7306743" y="1982119"/>
            <a:ext cx="566673" cy="587746"/>
          </a:xfrm>
          <a:prstGeom prst="rect">
            <a:avLst/>
          </a:prstGeom>
        </p:spPr>
      </p:pic>
      <p:pic>
        <p:nvPicPr>
          <p:cNvPr id="2135" name="Picture 2134">
            <a:extLst>
              <a:ext uri="{FF2B5EF4-FFF2-40B4-BE49-F238E27FC236}">
                <a16:creationId xmlns:a16="http://schemas.microsoft.com/office/drawing/2014/main" id="{040E7B8F-E980-37F4-28B1-A1FF64A60D13}"/>
              </a:ext>
            </a:extLst>
          </p:cNvPr>
          <p:cNvPicPr>
            <a:picLocks noChangeAspect="1"/>
          </p:cNvPicPr>
          <p:nvPr/>
        </p:nvPicPr>
        <p:blipFill>
          <a:blip r:embed="rId14"/>
          <a:stretch>
            <a:fillRect/>
          </a:stretch>
        </p:blipFill>
        <p:spPr>
          <a:xfrm>
            <a:off x="8203823" y="1973948"/>
            <a:ext cx="566673" cy="604089"/>
          </a:xfrm>
          <a:prstGeom prst="rect">
            <a:avLst/>
          </a:prstGeom>
        </p:spPr>
      </p:pic>
      <p:cxnSp>
        <p:nvCxnSpPr>
          <p:cNvPr id="2150" name="Straight Arrow Connector 2149">
            <a:extLst>
              <a:ext uri="{FF2B5EF4-FFF2-40B4-BE49-F238E27FC236}">
                <a16:creationId xmlns:a16="http://schemas.microsoft.com/office/drawing/2014/main" id="{BFA29F8A-2DB6-9BC3-C8B0-F13C12A47EBE}"/>
              </a:ext>
            </a:extLst>
          </p:cNvPr>
          <p:cNvCxnSpPr>
            <a:cxnSpLocks/>
          </p:cNvCxnSpPr>
          <p:nvPr/>
        </p:nvCxnSpPr>
        <p:spPr>
          <a:xfrm flipV="1">
            <a:off x="8770496" y="2066984"/>
            <a:ext cx="1304010" cy="6982"/>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52" name="Straight Arrow Connector 2151">
            <a:extLst>
              <a:ext uri="{FF2B5EF4-FFF2-40B4-BE49-F238E27FC236}">
                <a16:creationId xmlns:a16="http://schemas.microsoft.com/office/drawing/2014/main" id="{4AA97AAA-5512-E6F5-5259-821D341A80D0}"/>
              </a:ext>
            </a:extLst>
          </p:cNvPr>
          <p:cNvCxnSpPr/>
          <p:nvPr/>
        </p:nvCxnSpPr>
        <p:spPr>
          <a:xfrm>
            <a:off x="9422501" y="2068450"/>
            <a:ext cx="0" cy="48806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54" name="Arrow: Right 2153">
            <a:extLst>
              <a:ext uri="{FF2B5EF4-FFF2-40B4-BE49-F238E27FC236}">
                <a16:creationId xmlns:a16="http://schemas.microsoft.com/office/drawing/2014/main" id="{BE2A5405-109D-F71D-7928-060B0865CCAC}"/>
              </a:ext>
            </a:extLst>
          </p:cNvPr>
          <p:cNvSpPr/>
          <p:nvPr/>
        </p:nvSpPr>
        <p:spPr>
          <a:xfrm rot="5400000">
            <a:off x="11477068" y="5241578"/>
            <a:ext cx="651991" cy="138632"/>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57" name="Diagram 2156">
            <a:extLst>
              <a:ext uri="{FF2B5EF4-FFF2-40B4-BE49-F238E27FC236}">
                <a16:creationId xmlns:a16="http://schemas.microsoft.com/office/drawing/2014/main" id="{9C983841-508F-BFE8-FE3A-A6692235B011}"/>
              </a:ext>
            </a:extLst>
          </p:cNvPr>
          <p:cNvGraphicFramePr/>
          <p:nvPr>
            <p:extLst>
              <p:ext uri="{D42A27DB-BD31-4B8C-83A1-F6EECF244321}">
                <p14:modId xmlns:p14="http://schemas.microsoft.com/office/powerpoint/2010/main" val="2780689865"/>
              </p:ext>
            </p:extLst>
          </p:nvPr>
        </p:nvGraphicFramePr>
        <p:xfrm>
          <a:off x="6328790" y="5873205"/>
          <a:ext cx="5574370" cy="568438"/>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
        <p:nvSpPr>
          <p:cNvPr id="2" name="TextBox 1">
            <a:extLst>
              <a:ext uri="{FF2B5EF4-FFF2-40B4-BE49-F238E27FC236}">
                <a16:creationId xmlns:a16="http://schemas.microsoft.com/office/drawing/2014/main" id="{2AA25807-64B7-0E68-19E8-81DABC769C56}"/>
              </a:ext>
            </a:extLst>
          </p:cNvPr>
          <p:cNvSpPr txBox="1"/>
          <p:nvPr/>
        </p:nvSpPr>
        <p:spPr>
          <a:xfrm>
            <a:off x="348343" y="3283924"/>
            <a:ext cx="2859091" cy="338554"/>
          </a:xfrm>
          <a:prstGeom prst="rect">
            <a:avLst/>
          </a:prstGeom>
          <a:solidFill>
            <a:schemeClr val="accent5"/>
          </a:solidFill>
        </p:spPr>
        <p:txBody>
          <a:bodyPr wrap="square" rtlCol="0">
            <a:spAutoFit/>
          </a:bodyPr>
          <a:lstStyle/>
          <a:p>
            <a:pPr algn="ctr"/>
            <a:r>
              <a:rPr lang="en-IN" sz="1600" b="1" dirty="0">
                <a:solidFill>
                  <a:schemeClr val="bg1"/>
                </a:solidFill>
              </a:rPr>
              <a:t>Key Partners</a:t>
            </a:r>
            <a:endParaRPr lang="en-US" sz="1600" b="1" dirty="0">
              <a:solidFill>
                <a:schemeClr val="bg1"/>
              </a:solidFill>
            </a:endParaRPr>
          </a:p>
        </p:txBody>
      </p:sp>
      <p:sp>
        <p:nvSpPr>
          <p:cNvPr id="3" name="TextBox 2">
            <a:extLst>
              <a:ext uri="{FF2B5EF4-FFF2-40B4-BE49-F238E27FC236}">
                <a16:creationId xmlns:a16="http://schemas.microsoft.com/office/drawing/2014/main" id="{5163D15C-6607-B93F-5088-559322ABCDD0}"/>
              </a:ext>
            </a:extLst>
          </p:cNvPr>
          <p:cNvSpPr txBox="1"/>
          <p:nvPr/>
        </p:nvSpPr>
        <p:spPr>
          <a:xfrm>
            <a:off x="4000290" y="3262261"/>
            <a:ext cx="1716607" cy="338554"/>
          </a:xfrm>
          <a:prstGeom prst="rect">
            <a:avLst/>
          </a:prstGeom>
          <a:solidFill>
            <a:schemeClr val="accent5"/>
          </a:solidFill>
        </p:spPr>
        <p:txBody>
          <a:bodyPr wrap="square" rtlCol="0">
            <a:spAutoFit/>
          </a:bodyPr>
          <a:lstStyle/>
          <a:p>
            <a:pPr algn="ctr"/>
            <a:r>
              <a:rPr lang="en-IN" sz="1600" b="1" dirty="0">
                <a:solidFill>
                  <a:schemeClr val="bg1"/>
                </a:solidFill>
              </a:rPr>
              <a:t>Key Resources</a:t>
            </a:r>
            <a:endParaRPr lang="en-US" sz="1600" b="1" dirty="0">
              <a:solidFill>
                <a:schemeClr val="bg1"/>
              </a:solidFill>
            </a:endParaRPr>
          </a:p>
        </p:txBody>
      </p:sp>
      <p:sp>
        <p:nvSpPr>
          <p:cNvPr id="16" name="Arrow: Right 15">
            <a:extLst>
              <a:ext uri="{FF2B5EF4-FFF2-40B4-BE49-F238E27FC236}">
                <a16:creationId xmlns:a16="http://schemas.microsoft.com/office/drawing/2014/main" id="{47FC85AF-83FD-B952-7081-16BD0A05C5F5}"/>
              </a:ext>
            </a:extLst>
          </p:cNvPr>
          <p:cNvSpPr/>
          <p:nvPr/>
        </p:nvSpPr>
        <p:spPr>
          <a:xfrm rot="10800000">
            <a:off x="5799658" y="5678464"/>
            <a:ext cx="529132" cy="153167"/>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EEFBB1BE-5C61-C67C-D885-0A28254E2433}"/>
              </a:ext>
            </a:extLst>
          </p:cNvPr>
          <p:cNvSpPr/>
          <p:nvPr/>
        </p:nvSpPr>
        <p:spPr>
          <a:xfrm rot="10800000">
            <a:off x="3354077" y="5678464"/>
            <a:ext cx="529132" cy="153167"/>
          </a:xfrm>
          <a:prstGeom prst="right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1563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8C73BF-9EDF-3D05-C641-8482C94B91E8}"/>
              </a:ext>
            </a:extLst>
          </p:cNvPr>
          <p:cNvSpPr/>
          <p:nvPr/>
        </p:nvSpPr>
        <p:spPr>
          <a:xfrm>
            <a:off x="78658" y="118692"/>
            <a:ext cx="4375355" cy="383458"/>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Estimating revenue generation for the first year</a:t>
            </a:r>
          </a:p>
        </p:txBody>
      </p:sp>
      <p:sp>
        <p:nvSpPr>
          <p:cNvPr id="3" name="Rectangle 2">
            <a:extLst>
              <a:ext uri="{FF2B5EF4-FFF2-40B4-BE49-F238E27FC236}">
                <a16:creationId xmlns:a16="http://schemas.microsoft.com/office/drawing/2014/main" id="{C53ACA0A-752F-9E4D-736D-C0E702E69457}"/>
              </a:ext>
            </a:extLst>
          </p:cNvPr>
          <p:cNvSpPr/>
          <p:nvPr/>
        </p:nvSpPr>
        <p:spPr>
          <a:xfrm>
            <a:off x="446140" y="6002265"/>
            <a:ext cx="3870219" cy="43088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Revenue:  ₹1.025 cr </a:t>
            </a:r>
          </a:p>
        </p:txBody>
      </p:sp>
      <p:sp>
        <p:nvSpPr>
          <p:cNvPr id="4" name="Rectangle 3">
            <a:extLst>
              <a:ext uri="{FF2B5EF4-FFF2-40B4-BE49-F238E27FC236}">
                <a16:creationId xmlns:a16="http://schemas.microsoft.com/office/drawing/2014/main" id="{055CC059-94DE-D574-EFEB-E67FABCCFB80}"/>
              </a:ext>
            </a:extLst>
          </p:cNvPr>
          <p:cNvSpPr/>
          <p:nvPr/>
        </p:nvSpPr>
        <p:spPr>
          <a:xfrm>
            <a:off x="732502" y="1396883"/>
            <a:ext cx="639097" cy="250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25-30</a:t>
            </a:r>
          </a:p>
        </p:txBody>
      </p:sp>
      <p:sp>
        <p:nvSpPr>
          <p:cNvPr id="5" name="Rectangle 4">
            <a:extLst>
              <a:ext uri="{FF2B5EF4-FFF2-40B4-BE49-F238E27FC236}">
                <a16:creationId xmlns:a16="http://schemas.microsoft.com/office/drawing/2014/main" id="{CA0F74DB-E1BC-E35A-5C5D-C75FCFAA0EAB}"/>
              </a:ext>
            </a:extLst>
          </p:cNvPr>
          <p:cNvSpPr/>
          <p:nvPr/>
        </p:nvSpPr>
        <p:spPr>
          <a:xfrm>
            <a:off x="3259395" y="1396883"/>
            <a:ext cx="639097" cy="250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31-35</a:t>
            </a:r>
          </a:p>
        </p:txBody>
      </p:sp>
      <p:sp>
        <p:nvSpPr>
          <p:cNvPr id="8" name="Rectangle 7">
            <a:extLst>
              <a:ext uri="{FF2B5EF4-FFF2-40B4-BE49-F238E27FC236}">
                <a16:creationId xmlns:a16="http://schemas.microsoft.com/office/drawing/2014/main" id="{F657E831-2B24-9052-E71E-1A2F4EBDDF1C}"/>
              </a:ext>
            </a:extLst>
          </p:cNvPr>
          <p:cNvSpPr/>
          <p:nvPr/>
        </p:nvSpPr>
        <p:spPr>
          <a:xfrm>
            <a:off x="433849" y="2347804"/>
            <a:ext cx="1347020" cy="250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Total pop: 105 mn</a:t>
            </a:r>
          </a:p>
        </p:txBody>
      </p:sp>
      <p:sp>
        <p:nvSpPr>
          <p:cNvPr id="9" name="Rectangle 8">
            <a:extLst>
              <a:ext uri="{FF2B5EF4-FFF2-40B4-BE49-F238E27FC236}">
                <a16:creationId xmlns:a16="http://schemas.microsoft.com/office/drawing/2014/main" id="{0D943A2E-F1F0-E3CD-BE3A-0F45373B5862}"/>
              </a:ext>
            </a:extLst>
          </p:cNvPr>
          <p:cNvSpPr/>
          <p:nvPr/>
        </p:nvSpPr>
        <p:spPr>
          <a:xfrm>
            <a:off x="2969340" y="2345378"/>
            <a:ext cx="1347020" cy="250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Total pop: 100 mn</a:t>
            </a:r>
          </a:p>
        </p:txBody>
      </p:sp>
      <p:sp>
        <p:nvSpPr>
          <p:cNvPr id="10" name="Rectangle 9">
            <a:extLst>
              <a:ext uri="{FF2B5EF4-FFF2-40B4-BE49-F238E27FC236}">
                <a16:creationId xmlns:a16="http://schemas.microsoft.com/office/drawing/2014/main" id="{0CF590F9-3EF3-C79B-9CB2-38DA5743EDDE}"/>
              </a:ext>
            </a:extLst>
          </p:cNvPr>
          <p:cNvSpPr/>
          <p:nvPr/>
        </p:nvSpPr>
        <p:spPr>
          <a:xfrm>
            <a:off x="433849" y="3287137"/>
            <a:ext cx="1347020" cy="26231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Households:26.25mn</a:t>
            </a:r>
          </a:p>
        </p:txBody>
      </p:sp>
      <p:sp>
        <p:nvSpPr>
          <p:cNvPr id="11" name="Rectangle 10">
            <a:extLst>
              <a:ext uri="{FF2B5EF4-FFF2-40B4-BE49-F238E27FC236}">
                <a16:creationId xmlns:a16="http://schemas.microsoft.com/office/drawing/2014/main" id="{014BC4FC-25FE-358A-4D38-60743BB978F7}"/>
              </a:ext>
            </a:extLst>
          </p:cNvPr>
          <p:cNvSpPr/>
          <p:nvPr/>
        </p:nvSpPr>
        <p:spPr>
          <a:xfrm>
            <a:off x="2969340" y="3287137"/>
            <a:ext cx="1347020" cy="250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Households:25mn</a:t>
            </a:r>
          </a:p>
        </p:txBody>
      </p:sp>
      <p:sp>
        <p:nvSpPr>
          <p:cNvPr id="13" name="Rectangle 12">
            <a:extLst>
              <a:ext uri="{FF2B5EF4-FFF2-40B4-BE49-F238E27FC236}">
                <a16:creationId xmlns:a16="http://schemas.microsoft.com/office/drawing/2014/main" id="{A2B9C9CD-D4AE-9FA1-BCCF-9E3F002B5FB5}"/>
              </a:ext>
            </a:extLst>
          </p:cNvPr>
          <p:cNvSpPr/>
          <p:nvPr/>
        </p:nvSpPr>
        <p:spPr>
          <a:xfrm>
            <a:off x="2969340" y="4326504"/>
            <a:ext cx="1347020" cy="250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TG Households:5 lac</a:t>
            </a:r>
          </a:p>
        </p:txBody>
      </p:sp>
      <p:sp>
        <p:nvSpPr>
          <p:cNvPr id="14" name="Rectangle 13">
            <a:extLst>
              <a:ext uri="{FF2B5EF4-FFF2-40B4-BE49-F238E27FC236}">
                <a16:creationId xmlns:a16="http://schemas.microsoft.com/office/drawing/2014/main" id="{0F052EEA-3549-10FE-2D67-2B2B20097835}"/>
              </a:ext>
            </a:extLst>
          </p:cNvPr>
          <p:cNvSpPr/>
          <p:nvPr/>
        </p:nvSpPr>
        <p:spPr>
          <a:xfrm>
            <a:off x="436308" y="5039694"/>
            <a:ext cx="1347020" cy="250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Customers: 10500</a:t>
            </a:r>
          </a:p>
        </p:txBody>
      </p:sp>
      <p:sp>
        <p:nvSpPr>
          <p:cNvPr id="15" name="Rectangle 14">
            <a:extLst>
              <a:ext uri="{FF2B5EF4-FFF2-40B4-BE49-F238E27FC236}">
                <a16:creationId xmlns:a16="http://schemas.microsoft.com/office/drawing/2014/main" id="{C2F5388F-915C-EABA-81AE-6545D9815610}"/>
              </a:ext>
            </a:extLst>
          </p:cNvPr>
          <p:cNvSpPr/>
          <p:nvPr/>
        </p:nvSpPr>
        <p:spPr>
          <a:xfrm>
            <a:off x="2969340" y="5039693"/>
            <a:ext cx="1347020" cy="250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Customers: 10000</a:t>
            </a:r>
          </a:p>
        </p:txBody>
      </p:sp>
      <p:pic>
        <p:nvPicPr>
          <p:cNvPr id="1026" name="Picture 2" descr="Target audience ">
            <a:extLst>
              <a:ext uri="{FF2B5EF4-FFF2-40B4-BE49-F238E27FC236}">
                <a16:creationId xmlns:a16="http://schemas.microsoft.com/office/drawing/2014/main" id="{A7F72645-188F-9673-F8E2-CBB6C7582F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049" y="620134"/>
            <a:ext cx="442453" cy="44245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9AF6E939-1361-2C67-A00B-EAD7D12D46E9}"/>
              </a:ext>
            </a:extLst>
          </p:cNvPr>
          <p:cNvSpPr txBox="1"/>
          <p:nvPr/>
        </p:nvSpPr>
        <p:spPr>
          <a:xfrm>
            <a:off x="752166" y="579750"/>
            <a:ext cx="2890684" cy="523220"/>
          </a:xfrm>
          <a:prstGeom prst="rect">
            <a:avLst/>
          </a:prstGeom>
          <a:noFill/>
          <a:ln w="19050">
            <a:solidFill>
              <a:srgbClr val="00B0F0"/>
            </a:solidFill>
            <a:prstDash val="dash"/>
          </a:ln>
        </p:spPr>
        <p:txBody>
          <a:bodyPr wrap="square" rtlCol="0">
            <a:spAutoFit/>
          </a:bodyPr>
          <a:lstStyle/>
          <a:p>
            <a:r>
              <a:rPr lang="en-IN" sz="1400" b="1" dirty="0"/>
              <a:t>Age: </a:t>
            </a:r>
            <a:r>
              <a:rPr lang="en-IN" sz="1400" dirty="0"/>
              <a:t>25-35 years</a:t>
            </a:r>
          </a:p>
          <a:p>
            <a:r>
              <a:rPr lang="en-IN" sz="1400" dirty="0"/>
              <a:t>Family Income &gt; 1.5lacs per month</a:t>
            </a:r>
          </a:p>
        </p:txBody>
      </p:sp>
      <p:cxnSp>
        <p:nvCxnSpPr>
          <p:cNvPr id="18" name="Straight Arrow Connector 17">
            <a:extLst>
              <a:ext uri="{FF2B5EF4-FFF2-40B4-BE49-F238E27FC236}">
                <a16:creationId xmlns:a16="http://schemas.microsoft.com/office/drawing/2014/main" id="{42FF7084-A067-298D-E9E5-B91A787F51B7}"/>
              </a:ext>
            </a:extLst>
          </p:cNvPr>
          <p:cNvCxnSpPr>
            <a:stCxn id="16" idx="2"/>
            <a:endCxn id="4" idx="0"/>
          </p:cNvCxnSpPr>
          <p:nvPr/>
        </p:nvCxnSpPr>
        <p:spPr>
          <a:xfrm flipH="1">
            <a:off x="1052051" y="1102970"/>
            <a:ext cx="1145457" cy="293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8104687-45C5-E292-A86F-E1380171663A}"/>
              </a:ext>
            </a:extLst>
          </p:cNvPr>
          <p:cNvCxnSpPr>
            <a:stCxn id="16" idx="2"/>
            <a:endCxn id="5" idx="0"/>
          </p:cNvCxnSpPr>
          <p:nvPr/>
        </p:nvCxnSpPr>
        <p:spPr>
          <a:xfrm>
            <a:off x="2197508" y="1102970"/>
            <a:ext cx="1381436" cy="293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8" name="Picture 4" descr="Man ">
            <a:extLst>
              <a:ext uri="{FF2B5EF4-FFF2-40B4-BE49-F238E27FC236}">
                <a16:creationId xmlns:a16="http://schemas.microsoft.com/office/drawing/2014/main" id="{C2177038-8127-67D6-E11C-F96C40EAC7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232" y="1762785"/>
            <a:ext cx="314634" cy="31463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Man ">
            <a:extLst>
              <a:ext uri="{FF2B5EF4-FFF2-40B4-BE49-F238E27FC236}">
                <a16:creationId xmlns:a16="http://schemas.microsoft.com/office/drawing/2014/main" id="{95D1046F-997C-42AB-B189-291B99A66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7104" y="1762785"/>
            <a:ext cx="314634" cy="31463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oman ">
            <a:extLst>
              <a:ext uri="{FF2B5EF4-FFF2-40B4-BE49-F238E27FC236}">
                <a16:creationId xmlns:a16="http://schemas.microsoft.com/office/drawing/2014/main" id="{E1555F08-E5A0-4B21-2A38-09FE43ADAB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9650" y="1762784"/>
            <a:ext cx="314635" cy="31463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Woman ">
            <a:extLst>
              <a:ext uri="{FF2B5EF4-FFF2-40B4-BE49-F238E27FC236}">
                <a16:creationId xmlns:a16="http://schemas.microsoft.com/office/drawing/2014/main" id="{82170956-8183-48FC-CF4E-E89BFA9D38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2183" y="1762783"/>
            <a:ext cx="314635" cy="314635"/>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2875ADBF-03AA-E9BB-304C-33BF34445675}"/>
              </a:ext>
            </a:extLst>
          </p:cNvPr>
          <p:cNvSpPr txBox="1"/>
          <p:nvPr/>
        </p:nvSpPr>
        <p:spPr>
          <a:xfrm>
            <a:off x="573958" y="2077419"/>
            <a:ext cx="533401" cy="253916"/>
          </a:xfrm>
          <a:prstGeom prst="rect">
            <a:avLst/>
          </a:prstGeom>
          <a:noFill/>
        </p:spPr>
        <p:txBody>
          <a:bodyPr wrap="square" rtlCol="0">
            <a:spAutoFit/>
          </a:bodyPr>
          <a:lstStyle/>
          <a:p>
            <a:r>
              <a:rPr lang="en-IN" sz="1050" b="1" dirty="0"/>
              <a:t>55 mn</a:t>
            </a:r>
          </a:p>
        </p:txBody>
      </p:sp>
      <p:sp>
        <p:nvSpPr>
          <p:cNvPr id="24" name="TextBox 23">
            <a:extLst>
              <a:ext uri="{FF2B5EF4-FFF2-40B4-BE49-F238E27FC236}">
                <a16:creationId xmlns:a16="http://schemas.microsoft.com/office/drawing/2014/main" id="{5D682ED5-5917-F15C-4490-D475154E062B}"/>
              </a:ext>
            </a:extLst>
          </p:cNvPr>
          <p:cNvSpPr txBox="1"/>
          <p:nvPr/>
        </p:nvSpPr>
        <p:spPr>
          <a:xfrm>
            <a:off x="1029929" y="2077419"/>
            <a:ext cx="533401" cy="253916"/>
          </a:xfrm>
          <a:prstGeom prst="rect">
            <a:avLst/>
          </a:prstGeom>
          <a:noFill/>
        </p:spPr>
        <p:txBody>
          <a:bodyPr wrap="square" rtlCol="0">
            <a:spAutoFit/>
          </a:bodyPr>
          <a:lstStyle/>
          <a:p>
            <a:r>
              <a:rPr lang="en-IN" sz="1050" b="1" dirty="0"/>
              <a:t>50 mn</a:t>
            </a:r>
          </a:p>
        </p:txBody>
      </p:sp>
      <p:sp>
        <p:nvSpPr>
          <p:cNvPr id="25" name="TextBox 24">
            <a:extLst>
              <a:ext uri="{FF2B5EF4-FFF2-40B4-BE49-F238E27FC236}">
                <a16:creationId xmlns:a16="http://schemas.microsoft.com/office/drawing/2014/main" id="{25779B74-8FB8-059E-4A10-BC4DD4711943}"/>
              </a:ext>
            </a:extLst>
          </p:cNvPr>
          <p:cNvSpPr txBox="1"/>
          <p:nvPr/>
        </p:nvSpPr>
        <p:spPr>
          <a:xfrm>
            <a:off x="3148782" y="2077419"/>
            <a:ext cx="533401" cy="253916"/>
          </a:xfrm>
          <a:prstGeom prst="rect">
            <a:avLst/>
          </a:prstGeom>
          <a:noFill/>
        </p:spPr>
        <p:txBody>
          <a:bodyPr wrap="square" rtlCol="0">
            <a:spAutoFit/>
          </a:bodyPr>
          <a:lstStyle/>
          <a:p>
            <a:r>
              <a:rPr lang="en-IN" sz="1050" b="1" dirty="0"/>
              <a:t>52 mn</a:t>
            </a:r>
          </a:p>
        </p:txBody>
      </p:sp>
      <p:sp>
        <p:nvSpPr>
          <p:cNvPr id="26" name="TextBox 25">
            <a:extLst>
              <a:ext uri="{FF2B5EF4-FFF2-40B4-BE49-F238E27FC236}">
                <a16:creationId xmlns:a16="http://schemas.microsoft.com/office/drawing/2014/main" id="{CD5EC75C-8773-9F13-A895-86879B7917A3}"/>
              </a:ext>
            </a:extLst>
          </p:cNvPr>
          <p:cNvSpPr txBox="1"/>
          <p:nvPr/>
        </p:nvSpPr>
        <p:spPr>
          <a:xfrm>
            <a:off x="3591235" y="2079524"/>
            <a:ext cx="533401" cy="253916"/>
          </a:xfrm>
          <a:prstGeom prst="rect">
            <a:avLst/>
          </a:prstGeom>
          <a:noFill/>
        </p:spPr>
        <p:txBody>
          <a:bodyPr wrap="square" rtlCol="0">
            <a:spAutoFit/>
          </a:bodyPr>
          <a:lstStyle/>
          <a:p>
            <a:r>
              <a:rPr lang="en-IN" sz="1050" b="1" dirty="0"/>
              <a:t>48 mn</a:t>
            </a:r>
          </a:p>
        </p:txBody>
      </p:sp>
      <p:sp>
        <p:nvSpPr>
          <p:cNvPr id="27" name="TextBox 26">
            <a:extLst>
              <a:ext uri="{FF2B5EF4-FFF2-40B4-BE49-F238E27FC236}">
                <a16:creationId xmlns:a16="http://schemas.microsoft.com/office/drawing/2014/main" id="{4C23D2BC-F071-F912-0FAD-8D7D6C891640}"/>
              </a:ext>
            </a:extLst>
          </p:cNvPr>
          <p:cNvSpPr txBox="1"/>
          <p:nvPr/>
        </p:nvSpPr>
        <p:spPr>
          <a:xfrm>
            <a:off x="1354394" y="2646116"/>
            <a:ext cx="1977510" cy="600164"/>
          </a:xfrm>
          <a:prstGeom prst="rect">
            <a:avLst/>
          </a:prstGeom>
          <a:noFill/>
          <a:ln>
            <a:solidFill>
              <a:schemeClr val="accent1">
                <a:lumMod val="60000"/>
                <a:lumOff val="40000"/>
              </a:schemeClr>
            </a:solidFill>
            <a:prstDash val="dash"/>
          </a:ln>
        </p:spPr>
        <p:txBody>
          <a:bodyPr wrap="square" rtlCol="0">
            <a:spAutoFit/>
          </a:bodyPr>
          <a:lstStyle/>
          <a:p>
            <a:r>
              <a:rPr lang="en-IN" sz="1100" dirty="0"/>
              <a:t>As obtained from secondary sources, an average household in India has 4 members</a:t>
            </a:r>
          </a:p>
        </p:txBody>
      </p:sp>
      <p:sp>
        <p:nvSpPr>
          <p:cNvPr id="30" name="TextBox 29">
            <a:extLst>
              <a:ext uri="{FF2B5EF4-FFF2-40B4-BE49-F238E27FC236}">
                <a16:creationId xmlns:a16="http://schemas.microsoft.com/office/drawing/2014/main" id="{A496844D-A247-93F6-EA19-FAF74D012304}"/>
              </a:ext>
            </a:extLst>
          </p:cNvPr>
          <p:cNvSpPr txBox="1"/>
          <p:nvPr/>
        </p:nvSpPr>
        <p:spPr>
          <a:xfrm>
            <a:off x="1354395" y="3637894"/>
            <a:ext cx="1977509" cy="600164"/>
          </a:xfrm>
          <a:prstGeom prst="rect">
            <a:avLst/>
          </a:prstGeom>
          <a:noFill/>
          <a:ln>
            <a:solidFill>
              <a:schemeClr val="accent1">
                <a:lumMod val="60000"/>
                <a:lumOff val="40000"/>
              </a:schemeClr>
            </a:solidFill>
            <a:prstDash val="dash"/>
          </a:ln>
        </p:spPr>
        <p:txBody>
          <a:bodyPr wrap="square" rtlCol="0">
            <a:spAutoFit/>
          </a:bodyPr>
          <a:lstStyle/>
          <a:p>
            <a:r>
              <a:rPr lang="en-IN" sz="1100" dirty="0"/>
              <a:t>Only 2% of these households have family income above 1.5 lacs per month</a:t>
            </a:r>
          </a:p>
        </p:txBody>
      </p:sp>
      <p:sp>
        <p:nvSpPr>
          <p:cNvPr id="31" name="TextBox 30">
            <a:extLst>
              <a:ext uri="{FF2B5EF4-FFF2-40B4-BE49-F238E27FC236}">
                <a16:creationId xmlns:a16="http://schemas.microsoft.com/office/drawing/2014/main" id="{09056029-DF60-7E0E-5A5B-5CA66E1A5040}"/>
              </a:ext>
            </a:extLst>
          </p:cNvPr>
          <p:cNvSpPr txBox="1"/>
          <p:nvPr/>
        </p:nvSpPr>
        <p:spPr>
          <a:xfrm>
            <a:off x="1354395" y="4589142"/>
            <a:ext cx="1977509" cy="430887"/>
          </a:xfrm>
          <a:prstGeom prst="rect">
            <a:avLst/>
          </a:prstGeom>
          <a:noFill/>
          <a:ln>
            <a:solidFill>
              <a:schemeClr val="accent1">
                <a:lumMod val="60000"/>
                <a:lumOff val="40000"/>
              </a:schemeClr>
            </a:solidFill>
            <a:prstDash val="dash"/>
          </a:ln>
        </p:spPr>
        <p:txBody>
          <a:bodyPr wrap="square" rtlCol="0">
            <a:spAutoFit/>
          </a:bodyPr>
          <a:lstStyle/>
          <a:p>
            <a:r>
              <a:rPr lang="en-IN" sz="1100" dirty="0"/>
              <a:t>Considering only 2% of these households buy our products</a:t>
            </a:r>
          </a:p>
        </p:txBody>
      </p:sp>
      <p:sp>
        <p:nvSpPr>
          <p:cNvPr id="32" name="TextBox 31">
            <a:extLst>
              <a:ext uri="{FF2B5EF4-FFF2-40B4-BE49-F238E27FC236}">
                <a16:creationId xmlns:a16="http://schemas.microsoft.com/office/drawing/2014/main" id="{BA60E06D-1D09-A16B-C0C3-D855E6163F87}"/>
              </a:ext>
            </a:extLst>
          </p:cNvPr>
          <p:cNvSpPr txBox="1"/>
          <p:nvPr/>
        </p:nvSpPr>
        <p:spPr>
          <a:xfrm>
            <a:off x="1780869" y="5266554"/>
            <a:ext cx="1501570" cy="430887"/>
          </a:xfrm>
          <a:prstGeom prst="rect">
            <a:avLst/>
          </a:prstGeom>
          <a:noFill/>
        </p:spPr>
        <p:txBody>
          <a:bodyPr wrap="square" rtlCol="0">
            <a:spAutoFit/>
          </a:bodyPr>
          <a:lstStyle/>
          <a:p>
            <a:r>
              <a:rPr lang="en-IN" sz="1100" dirty="0"/>
              <a:t>Considering Average Ticket Price: </a:t>
            </a:r>
            <a:r>
              <a:rPr lang="en-IN" sz="1100" b="0" i="0" dirty="0">
                <a:solidFill>
                  <a:srgbClr val="202124"/>
                </a:solidFill>
                <a:effectLst/>
                <a:latin typeface="Google Sans"/>
              </a:rPr>
              <a:t>₹ </a:t>
            </a:r>
            <a:r>
              <a:rPr lang="en-IN" sz="1100" dirty="0"/>
              <a:t>500</a:t>
            </a:r>
          </a:p>
        </p:txBody>
      </p:sp>
      <p:sp>
        <p:nvSpPr>
          <p:cNvPr id="33" name="Rectangle 32">
            <a:extLst>
              <a:ext uri="{FF2B5EF4-FFF2-40B4-BE49-F238E27FC236}">
                <a16:creationId xmlns:a16="http://schemas.microsoft.com/office/drawing/2014/main" id="{403C4B6C-AC5A-D450-24C4-D0D3F0B62BD0}"/>
              </a:ext>
            </a:extLst>
          </p:cNvPr>
          <p:cNvSpPr/>
          <p:nvPr/>
        </p:nvSpPr>
        <p:spPr>
          <a:xfrm>
            <a:off x="366498" y="4329726"/>
            <a:ext cx="1481722" cy="250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t>TG Households:5.25 lac</a:t>
            </a:r>
          </a:p>
        </p:txBody>
      </p:sp>
      <p:cxnSp>
        <p:nvCxnSpPr>
          <p:cNvPr id="35" name="Straight Arrow Connector 34">
            <a:extLst>
              <a:ext uri="{FF2B5EF4-FFF2-40B4-BE49-F238E27FC236}">
                <a16:creationId xmlns:a16="http://schemas.microsoft.com/office/drawing/2014/main" id="{A6A0E979-17F5-EB55-58FE-6F42ED89557D}"/>
              </a:ext>
            </a:extLst>
          </p:cNvPr>
          <p:cNvCxnSpPr>
            <a:stCxn id="8" idx="2"/>
            <a:endCxn id="10" idx="0"/>
          </p:cNvCxnSpPr>
          <p:nvPr/>
        </p:nvCxnSpPr>
        <p:spPr>
          <a:xfrm>
            <a:off x="1107359" y="2598527"/>
            <a:ext cx="0" cy="688610"/>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7C1E00D-093D-6740-2F20-0E6F8DD89E9D}"/>
              </a:ext>
            </a:extLst>
          </p:cNvPr>
          <p:cNvCxnSpPr>
            <a:stCxn id="9" idx="2"/>
            <a:endCxn id="11" idx="0"/>
          </p:cNvCxnSpPr>
          <p:nvPr/>
        </p:nvCxnSpPr>
        <p:spPr>
          <a:xfrm>
            <a:off x="3642850" y="2596101"/>
            <a:ext cx="0" cy="691036"/>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9BC3A81-B084-2F9C-6E25-DE1386BF8A4A}"/>
              </a:ext>
            </a:extLst>
          </p:cNvPr>
          <p:cNvCxnSpPr>
            <a:stCxn id="10" idx="2"/>
            <a:endCxn id="33" idx="0"/>
          </p:cNvCxnSpPr>
          <p:nvPr/>
        </p:nvCxnSpPr>
        <p:spPr>
          <a:xfrm>
            <a:off x="1107359" y="3549448"/>
            <a:ext cx="0" cy="780278"/>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9803F31-C100-C9B6-E078-7581D9C719C5}"/>
              </a:ext>
            </a:extLst>
          </p:cNvPr>
          <p:cNvCxnSpPr>
            <a:stCxn id="11" idx="2"/>
            <a:endCxn id="13" idx="0"/>
          </p:cNvCxnSpPr>
          <p:nvPr/>
        </p:nvCxnSpPr>
        <p:spPr>
          <a:xfrm>
            <a:off x="3642850" y="3537860"/>
            <a:ext cx="0" cy="788644"/>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92C5D36-437B-702B-B1D7-D40EAEFAAA9A}"/>
              </a:ext>
            </a:extLst>
          </p:cNvPr>
          <p:cNvCxnSpPr>
            <a:cxnSpLocks/>
            <a:stCxn id="33" idx="2"/>
            <a:endCxn id="14" idx="0"/>
          </p:cNvCxnSpPr>
          <p:nvPr/>
        </p:nvCxnSpPr>
        <p:spPr>
          <a:xfrm>
            <a:off x="1107359" y="4580449"/>
            <a:ext cx="2459" cy="459245"/>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655BC17-3800-6397-F230-3AD6FFD6D9D1}"/>
              </a:ext>
            </a:extLst>
          </p:cNvPr>
          <p:cNvCxnSpPr>
            <a:stCxn id="13" idx="2"/>
            <a:endCxn id="15" idx="0"/>
          </p:cNvCxnSpPr>
          <p:nvPr/>
        </p:nvCxnSpPr>
        <p:spPr>
          <a:xfrm>
            <a:off x="3642850" y="4577227"/>
            <a:ext cx="0" cy="462466"/>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B675B53-6899-0E02-27E9-5927BC62C043}"/>
              </a:ext>
            </a:extLst>
          </p:cNvPr>
          <p:cNvCxnSpPr>
            <a:cxnSpLocks/>
            <a:stCxn id="14" idx="2"/>
            <a:endCxn id="3" idx="0"/>
          </p:cNvCxnSpPr>
          <p:nvPr/>
        </p:nvCxnSpPr>
        <p:spPr>
          <a:xfrm>
            <a:off x="1109818" y="5290417"/>
            <a:ext cx="1271432" cy="711848"/>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52BEDD8-1CC1-12A4-1470-84F4A4396438}"/>
              </a:ext>
            </a:extLst>
          </p:cNvPr>
          <p:cNvCxnSpPr>
            <a:cxnSpLocks/>
            <a:stCxn id="15" idx="2"/>
            <a:endCxn id="3" idx="0"/>
          </p:cNvCxnSpPr>
          <p:nvPr/>
        </p:nvCxnSpPr>
        <p:spPr>
          <a:xfrm flipH="1">
            <a:off x="2381250" y="5290416"/>
            <a:ext cx="1261600" cy="711849"/>
          </a:xfrm>
          <a:prstGeom prst="straightConnector1">
            <a:avLst/>
          </a:prstGeom>
          <a:ln>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65884A4C-6AA5-758F-4289-6952816A1E20}"/>
              </a:ext>
            </a:extLst>
          </p:cNvPr>
          <p:cNvSpPr/>
          <p:nvPr/>
        </p:nvSpPr>
        <p:spPr>
          <a:xfrm>
            <a:off x="4960379" y="118692"/>
            <a:ext cx="6898893" cy="383458"/>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Generating revenue from 3 distribution channels</a:t>
            </a:r>
          </a:p>
        </p:txBody>
      </p:sp>
      <p:graphicFrame>
        <p:nvGraphicFramePr>
          <p:cNvPr id="56" name="Object 55">
            <a:extLst>
              <a:ext uri="{FF2B5EF4-FFF2-40B4-BE49-F238E27FC236}">
                <a16:creationId xmlns:a16="http://schemas.microsoft.com/office/drawing/2014/main" id="{3099153D-99BB-281B-66BE-542729E99D8D}"/>
              </a:ext>
            </a:extLst>
          </p:cNvPr>
          <p:cNvGraphicFramePr>
            <a:graphicFrameLocks noChangeAspect="1"/>
          </p:cNvGraphicFramePr>
          <p:nvPr>
            <p:extLst>
              <p:ext uri="{D42A27DB-BD31-4B8C-83A1-F6EECF244321}">
                <p14:modId xmlns:p14="http://schemas.microsoft.com/office/powerpoint/2010/main" val="1268992107"/>
              </p:ext>
            </p:extLst>
          </p:nvPr>
        </p:nvGraphicFramePr>
        <p:xfrm>
          <a:off x="4960379" y="757629"/>
          <a:ext cx="6898895" cy="848167"/>
        </p:xfrm>
        <a:graphic>
          <a:graphicData uri="http://schemas.openxmlformats.org/presentationml/2006/ole">
            <mc:AlternateContent xmlns:mc="http://schemas.openxmlformats.org/markup-compatibility/2006">
              <mc:Choice xmlns:v="urn:schemas-microsoft-com:vml" Requires="v">
                <p:oleObj name="Worksheet" r:id="rId5" imgW="7193138" imgH="922224" progId="Excel.Sheet.12">
                  <p:embed/>
                </p:oleObj>
              </mc:Choice>
              <mc:Fallback>
                <p:oleObj name="Worksheet" r:id="rId5" imgW="7193138" imgH="922224" progId="Excel.Sheet.12">
                  <p:embed/>
                  <p:pic>
                    <p:nvPicPr>
                      <p:cNvPr id="56" name="Object 55">
                        <a:extLst>
                          <a:ext uri="{FF2B5EF4-FFF2-40B4-BE49-F238E27FC236}">
                            <a16:creationId xmlns:a16="http://schemas.microsoft.com/office/drawing/2014/main" id="{3099153D-99BB-281B-66BE-542729E99D8D}"/>
                          </a:ext>
                        </a:extLst>
                      </p:cNvPr>
                      <p:cNvPicPr/>
                      <p:nvPr/>
                    </p:nvPicPr>
                    <p:blipFill>
                      <a:blip r:embed="rId6"/>
                      <a:stretch>
                        <a:fillRect/>
                      </a:stretch>
                    </p:blipFill>
                    <p:spPr>
                      <a:xfrm>
                        <a:off x="4960379" y="757629"/>
                        <a:ext cx="6898895" cy="848167"/>
                      </a:xfrm>
                      <a:prstGeom prst="rect">
                        <a:avLst/>
                      </a:prstGeom>
                    </p:spPr>
                  </p:pic>
                </p:oleObj>
              </mc:Fallback>
            </mc:AlternateContent>
          </a:graphicData>
        </a:graphic>
      </p:graphicFrame>
      <p:sp>
        <p:nvSpPr>
          <p:cNvPr id="57" name="TextBox 56">
            <a:extLst>
              <a:ext uri="{FF2B5EF4-FFF2-40B4-BE49-F238E27FC236}">
                <a16:creationId xmlns:a16="http://schemas.microsoft.com/office/drawing/2014/main" id="{65027DBF-033A-A23D-4729-4043041C7178}"/>
              </a:ext>
            </a:extLst>
          </p:cNvPr>
          <p:cNvSpPr txBox="1"/>
          <p:nvPr/>
        </p:nvSpPr>
        <p:spPr>
          <a:xfrm>
            <a:off x="10471355" y="502150"/>
            <a:ext cx="1539528" cy="246221"/>
          </a:xfrm>
          <a:prstGeom prst="rect">
            <a:avLst/>
          </a:prstGeom>
          <a:noFill/>
        </p:spPr>
        <p:txBody>
          <a:bodyPr wrap="square" rtlCol="0">
            <a:spAutoFit/>
          </a:bodyPr>
          <a:lstStyle/>
          <a:p>
            <a:r>
              <a:rPr lang="en-IN" sz="1000" b="1" dirty="0"/>
              <a:t>Assumption: </a:t>
            </a:r>
            <a:r>
              <a:rPr lang="en-IN" sz="1000" dirty="0"/>
              <a:t>8% CAGR </a:t>
            </a:r>
          </a:p>
        </p:txBody>
      </p:sp>
      <p:pic>
        <p:nvPicPr>
          <p:cNvPr id="61" name="Picture 60">
            <a:extLst>
              <a:ext uri="{FF2B5EF4-FFF2-40B4-BE49-F238E27FC236}">
                <a16:creationId xmlns:a16="http://schemas.microsoft.com/office/drawing/2014/main" id="{1046B826-367B-532A-7F3B-7ED5E5CE13D4}"/>
              </a:ext>
            </a:extLst>
          </p:cNvPr>
          <p:cNvPicPr>
            <a:picLocks noChangeAspect="1"/>
          </p:cNvPicPr>
          <p:nvPr/>
        </p:nvPicPr>
        <p:blipFill>
          <a:blip r:embed="rId7"/>
          <a:stretch>
            <a:fillRect/>
          </a:stretch>
        </p:blipFill>
        <p:spPr>
          <a:xfrm>
            <a:off x="4986540" y="2165949"/>
            <a:ext cx="3459480" cy="1478280"/>
          </a:xfrm>
          <a:prstGeom prst="rect">
            <a:avLst/>
          </a:prstGeom>
        </p:spPr>
      </p:pic>
      <p:pic>
        <p:nvPicPr>
          <p:cNvPr id="1024" name="Picture 1023">
            <a:extLst>
              <a:ext uri="{FF2B5EF4-FFF2-40B4-BE49-F238E27FC236}">
                <a16:creationId xmlns:a16="http://schemas.microsoft.com/office/drawing/2014/main" id="{558777E4-C38A-4929-446B-336BF359DBD9}"/>
              </a:ext>
            </a:extLst>
          </p:cNvPr>
          <p:cNvPicPr>
            <a:picLocks noChangeAspect="1"/>
          </p:cNvPicPr>
          <p:nvPr/>
        </p:nvPicPr>
        <p:blipFill>
          <a:blip r:embed="rId8"/>
          <a:stretch>
            <a:fillRect/>
          </a:stretch>
        </p:blipFill>
        <p:spPr>
          <a:xfrm>
            <a:off x="8545486" y="2159614"/>
            <a:ext cx="3313788" cy="1753084"/>
          </a:xfrm>
          <a:prstGeom prst="rect">
            <a:avLst/>
          </a:prstGeom>
        </p:spPr>
      </p:pic>
      <p:sp>
        <p:nvSpPr>
          <p:cNvPr id="1027" name="Rectangle 1026">
            <a:extLst>
              <a:ext uri="{FF2B5EF4-FFF2-40B4-BE49-F238E27FC236}">
                <a16:creationId xmlns:a16="http://schemas.microsoft.com/office/drawing/2014/main" id="{8BD3A83C-9C56-7536-D1DE-606FD390B6A8}"/>
              </a:ext>
            </a:extLst>
          </p:cNvPr>
          <p:cNvSpPr/>
          <p:nvPr/>
        </p:nvSpPr>
        <p:spPr>
          <a:xfrm>
            <a:off x="4960380" y="1681657"/>
            <a:ext cx="6898892" cy="383458"/>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Asset-light cost structure for lower fixed costs</a:t>
            </a:r>
          </a:p>
        </p:txBody>
      </p:sp>
      <p:sp>
        <p:nvSpPr>
          <p:cNvPr id="1029" name="Rectangle 1028">
            <a:extLst>
              <a:ext uri="{FF2B5EF4-FFF2-40B4-BE49-F238E27FC236}">
                <a16:creationId xmlns:a16="http://schemas.microsoft.com/office/drawing/2014/main" id="{845B0293-D5C9-F4EF-F1D0-B13924BC6413}"/>
              </a:ext>
            </a:extLst>
          </p:cNvPr>
          <p:cNvSpPr/>
          <p:nvPr/>
        </p:nvSpPr>
        <p:spPr>
          <a:xfrm>
            <a:off x="4986540" y="4068407"/>
            <a:ext cx="6872731" cy="383458"/>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ROI based cost allocation for each of the departments</a:t>
            </a:r>
          </a:p>
        </p:txBody>
      </p:sp>
      <p:pic>
        <p:nvPicPr>
          <p:cNvPr id="1035" name="Picture 1034">
            <a:extLst>
              <a:ext uri="{FF2B5EF4-FFF2-40B4-BE49-F238E27FC236}">
                <a16:creationId xmlns:a16="http://schemas.microsoft.com/office/drawing/2014/main" id="{94F591AB-1C85-C0D9-E45C-99AB6D0275B7}"/>
              </a:ext>
            </a:extLst>
          </p:cNvPr>
          <p:cNvPicPr>
            <a:picLocks noChangeAspect="1"/>
          </p:cNvPicPr>
          <p:nvPr/>
        </p:nvPicPr>
        <p:blipFill>
          <a:blip r:embed="rId9"/>
          <a:stretch>
            <a:fillRect/>
          </a:stretch>
        </p:blipFill>
        <p:spPr>
          <a:xfrm>
            <a:off x="5098556" y="4607574"/>
            <a:ext cx="2751840" cy="2161364"/>
          </a:xfrm>
          <a:prstGeom prst="rect">
            <a:avLst/>
          </a:prstGeom>
        </p:spPr>
      </p:pic>
      <p:cxnSp>
        <p:nvCxnSpPr>
          <p:cNvPr id="1036" name="Straight Connector 1035">
            <a:extLst>
              <a:ext uri="{FF2B5EF4-FFF2-40B4-BE49-F238E27FC236}">
                <a16:creationId xmlns:a16="http://schemas.microsoft.com/office/drawing/2014/main" id="{02EC412B-F8E4-F11E-4F45-7E32B9BCBF7D}"/>
              </a:ext>
            </a:extLst>
          </p:cNvPr>
          <p:cNvCxnSpPr>
            <a:cxnSpLocks/>
          </p:cNvCxnSpPr>
          <p:nvPr/>
        </p:nvCxnSpPr>
        <p:spPr>
          <a:xfrm>
            <a:off x="4686827" y="118692"/>
            <a:ext cx="0" cy="6612432"/>
          </a:xfrm>
          <a:prstGeom prst="line">
            <a:avLst/>
          </a:prstGeom>
          <a:ln w="12700">
            <a:prstDash val="lgDashDot"/>
          </a:ln>
        </p:spPr>
        <p:style>
          <a:lnRef idx="1">
            <a:schemeClr val="accent1"/>
          </a:lnRef>
          <a:fillRef idx="0">
            <a:schemeClr val="accent1"/>
          </a:fillRef>
          <a:effectRef idx="0">
            <a:schemeClr val="accent1"/>
          </a:effectRef>
          <a:fontRef idx="minor">
            <a:schemeClr val="tx1"/>
          </a:fontRef>
        </p:style>
      </p:cxnSp>
      <p:sp>
        <p:nvSpPr>
          <p:cNvPr id="1039" name="TextBox 1038">
            <a:extLst>
              <a:ext uri="{FF2B5EF4-FFF2-40B4-BE49-F238E27FC236}">
                <a16:creationId xmlns:a16="http://schemas.microsoft.com/office/drawing/2014/main" id="{844218C8-77C5-190C-E908-A064E61187F5}"/>
              </a:ext>
            </a:extLst>
          </p:cNvPr>
          <p:cNvSpPr txBox="1"/>
          <p:nvPr/>
        </p:nvSpPr>
        <p:spPr>
          <a:xfrm>
            <a:off x="8002056" y="4607574"/>
            <a:ext cx="3732569" cy="1384995"/>
          </a:xfrm>
          <a:prstGeom prst="rect">
            <a:avLst/>
          </a:prstGeom>
          <a:noFill/>
          <a:ln>
            <a:solidFill>
              <a:schemeClr val="accent1">
                <a:lumMod val="60000"/>
                <a:lumOff val="40000"/>
              </a:schemeClr>
            </a:solidFill>
          </a:ln>
        </p:spPr>
        <p:txBody>
          <a:bodyPr wrap="square" rtlCol="0">
            <a:spAutoFit/>
          </a:bodyPr>
          <a:lstStyle/>
          <a:p>
            <a:r>
              <a:rPr lang="en-IN" sz="1200" dirty="0"/>
              <a:t>The total amount is allocated to each department based on </a:t>
            </a:r>
            <a:r>
              <a:rPr lang="en-IN" sz="1200" b="1" dirty="0"/>
              <a:t>Return on Investment(ROI) </a:t>
            </a:r>
            <a:r>
              <a:rPr lang="en-IN" sz="1200" dirty="0"/>
              <a:t>method. Sales and marketing are two the major functions for increasing the reach and boost sales of the product. Hence, these are allocated higher percentages. In the future, this allocation can be varied depending on the return obtained from the investment.</a:t>
            </a:r>
          </a:p>
        </p:txBody>
      </p:sp>
      <p:sp>
        <p:nvSpPr>
          <p:cNvPr id="1040" name="TextBox 1039">
            <a:extLst>
              <a:ext uri="{FF2B5EF4-FFF2-40B4-BE49-F238E27FC236}">
                <a16:creationId xmlns:a16="http://schemas.microsoft.com/office/drawing/2014/main" id="{EC43C07E-80FD-41A1-044C-2B9CCF6726F9}"/>
              </a:ext>
            </a:extLst>
          </p:cNvPr>
          <p:cNvSpPr txBox="1"/>
          <p:nvPr/>
        </p:nvSpPr>
        <p:spPr>
          <a:xfrm>
            <a:off x="8002056" y="6084793"/>
            <a:ext cx="3732569" cy="646331"/>
          </a:xfrm>
          <a:prstGeom prst="rect">
            <a:avLst/>
          </a:prstGeom>
          <a:noFill/>
          <a:ln w="19050">
            <a:solidFill>
              <a:schemeClr val="accent1">
                <a:lumMod val="60000"/>
                <a:lumOff val="40000"/>
              </a:schemeClr>
            </a:solidFill>
            <a:prstDash val="dash"/>
          </a:ln>
        </p:spPr>
        <p:txBody>
          <a:bodyPr wrap="square" rtlCol="0">
            <a:spAutoFit/>
          </a:bodyPr>
          <a:lstStyle/>
          <a:p>
            <a:r>
              <a:rPr lang="en-IN" sz="1200" dirty="0"/>
              <a:t>The unutilised allocation to each department is to be used to scale up the business, on multiple locations/geographies.</a:t>
            </a:r>
          </a:p>
        </p:txBody>
      </p:sp>
    </p:spTree>
    <p:extLst>
      <p:ext uri="{BB962C8B-B14F-4D97-AF65-F5344CB8AC3E}">
        <p14:creationId xmlns:p14="http://schemas.microsoft.com/office/powerpoint/2010/main" val="841070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2453E7-A22A-9CAB-DB5C-3AF6DC2F1C29}"/>
              </a:ext>
            </a:extLst>
          </p:cNvPr>
          <p:cNvSpPr txBox="1"/>
          <p:nvPr/>
        </p:nvSpPr>
        <p:spPr>
          <a:xfrm>
            <a:off x="0" y="0"/>
            <a:ext cx="12192000" cy="461665"/>
          </a:xfrm>
          <a:prstGeom prst="rect">
            <a:avLst/>
          </a:prstGeom>
          <a:solidFill>
            <a:schemeClr val="accent5"/>
          </a:solidFill>
        </p:spPr>
        <p:txBody>
          <a:bodyPr wrap="square" rtlCol="0">
            <a:spAutoFit/>
          </a:bodyPr>
          <a:lstStyle/>
          <a:p>
            <a:r>
              <a:rPr lang="en-IN" sz="2400" dirty="0">
                <a:solidFill>
                  <a:schemeClr val="bg1"/>
                </a:solidFill>
              </a:rPr>
              <a:t>APPENDIX: Secondary Research Sources</a:t>
            </a:r>
            <a:endParaRPr lang="en-IN" sz="6600" dirty="0">
              <a:solidFill>
                <a:schemeClr val="bg1"/>
              </a:solidFill>
            </a:endParaRPr>
          </a:p>
        </p:txBody>
      </p:sp>
      <p:sp>
        <p:nvSpPr>
          <p:cNvPr id="3" name="TextBox 2">
            <a:extLst>
              <a:ext uri="{FF2B5EF4-FFF2-40B4-BE49-F238E27FC236}">
                <a16:creationId xmlns:a16="http://schemas.microsoft.com/office/drawing/2014/main" id="{39154010-A9B5-49B4-3B9C-0ABC6A33A1F5}"/>
              </a:ext>
            </a:extLst>
          </p:cNvPr>
          <p:cNvSpPr txBox="1"/>
          <p:nvPr/>
        </p:nvSpPr>
        <p:spPr>
          <a:xfrm>
            <a:off x="239486" y="718457"/>
            <a:ext cx="11734800" cy="5879495"/>
          </a:xfrm>
          <a:prstGeom prst="rect">
            <a:avLst/>
          </a:prstGeom>
          <a:noFill/>
          <a:ln w="19050">
            <a:solidFill>
              <a:schemeClr val="tx1"/>
            </a:solidFill>
            <a:prstDash val="lgDashDot"/>
          </a:ln>
        </p:spPr>
        <p:txBody>
          <a:bodyPr wrap="square" rtlCol="0">
            <a:spAutoFit/>
          </a:bodyPr>
          <a:lstStyle/>
          <a:p>
            <a:pPr marL="342900" indent="-342900" rtl="0">
              <a:lnSpc>
                <a:spcPct val="150000"/>
              </a:lnSpc>
              <a:spcBef>
                <a:spcPts val="1100"/>
              </a:spcBef>
              <a:spcAft>
                <a:spcPts val="0"/>
              </a:spcAft>
              <a:buFont typeface="+mj-lt"/>
              <a:buAutoNum type="arabicPeriod"/>
            </a:pPr>
            <a:r>
              <a:rPr lang="en-US" sz="1200" b="0" i="0" u="sng" strike="noStrike" dirty="0">
                <a:effectLst/>
                <a:latin typeface="Arial" panose="020B0604020202020204" pitchFamily="34" charset="0"/>
                <a:hlinkClick r:id="rId2">
                  <a:extLst>
                    <a:ext uri="{A12FA001-AC4F-418D-AE19-62706E023703}">
                      <ahyp:hlinkClr xmlns:ahyp="http://schemas.microsoft.com/office/drawing/2018/hyperlinkcolor" val="tx"/>
                    </a:ext>
                  </a:extLst>
                </a:hlinkClick>
              </a:rPr>
              <a:t>https://www.businesswire.com/news/home/20210112005540/en/India-Kids-Wear-Market-2021-to-2026---by-Gender-Category-Season-Sector-Distribution-Channel-and-Region---ResearchAndMarkets.com</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3">
                  <a:extLst>
                    <a:ext uri="{A12FA001-AC4F-418D-AE19-62706E023703}">
                      <ahyp:hlinkClr xmlns:ahyp="http://schemas.microsoft.com/office/drawing/2018/hyperlinkcolor" val="tx"/>
                    </a:ext>
                  </a:extLst>
                </a:hlinkClick>
              </a:rPr>
              <a:t>https://www.fortunebusinessinsights.com/kids-apparel-market-104630</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4">
                  <a:extLst>
                    <a:ext uri="{A12FA001-AC4F-418D-AE19-62706E023703}">
                      <ahyp:hlinkClr xmlns:ahyp="http://schemas.microsoft.com/office/drawing/2018/hyperlinkcolor" val="tx"/>
                    </a:ext>
                  </a:extLst>
                </a:hlinkClick>
              </a:rPr>
              <a:t>https://www.sutlejtextiles.com/blogs/blog-post.php?id=D11</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5">
                  <a:extLst>
                    <a:ext uri="{A12FA001-AC4F-418D-AE19-62706E023703}">
                      <ahyp:hlinkClr xmlns:ahyp="http://schemas.microsoft.com/office/drawing/2018/hyperlinkcolor" val="tx"/>
                    </a:ext>
                  </a:extLst>
                </a:hlinkClick>
              </a:rPr>
              <a:t>https://www.globenewswire.com/en/news-release/2021/01/11/2156393/28124/en/Insights-on-the-Kids-Wear-Indian-Market-to-2026-Featuring-Shoppers-Stop-Arvind-Fashions-and-Lilliput-Kids-Wear-Among-Others.html</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6">
                  <a:extLst>
                    <a:ext uri="{A12FA001-AC4F-418D-AE19-62706E023703}">
                      <ahyp:hlinkClr xmlns:ahyp="http://schemas.microsoft.com/office/drawing/2018/hyperlinkcolor" val="tx"/>
                    </a:ext>
                  </a:extLst>
                </a:hlinkClick>
              </a:rPr>
              <a:t>https://www.statista.com/statistics/730996/kid-s-apparel-market-size-india/</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7">
                  <a:extLst>
                    <a:ext uri="{A12FA001-AC4F-418D-AE19-62706E023703}">
                      <ahyp:hlinkClr xmlns:ahyp="http://schemas.microsoft.com/office/drawing/2018/hyperlinkcolor" val="tx"/>
                    </a:ext>
                  </a:extLst>
                </a:hlinkClick>
              </a:rPr>
              <a:t>https://naturefabstore.com/bamboo-industry-in-india-cultivation-and-export/</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8">
                  <a:extLst>
                    <a:ext uri="{A12FA001-AC4F-418D-AE19-62706E023703}">
                      <ahyp:hlinkClr xmlns:ahyp="http://schemas.microsoft.com/office/drawing/2018/hyperlinkcolor" val="tx"/>
                    </a:ext>
                  </a:extLst>
                </a:hlinkClick>
              </a:rPr>
              <a:t>https://www.fibre2fashion.com/industry-article/3842/benefits-of-bamboo-fabric</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9">
                  <a:extLst>
                    <a:ext uri="{A12FA001-AC4F-418D-AE19-62706E023703}">
                      <ahyp:hlinkClr xmlns:ahyp="http://schemas.microsoft.com/office/drawing/2018/hyperlinkcolor" val="tx"/>
                    </a:ext>
                  </a:extLst>
                </a:hlinkClick>
              </a:rPr>
              <a:t>https://fashionandtextiles.springeropen.com/articles/10.1186/s40691-015-0054-5</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10">
                  <a:extLst>
                    <a:ext uri="{A12FA001-AC4F-418D-AE19-62706E023703}">
                      <ahyp:hlinkClr xmlns:ahyp="http://schemas.microsoft.com/office/drawing/2018/hyperlinkcolor" val="tx"/>
                    </a:ext>
                  </a:extLst>
                </a:hlinkClick>
              </a:rPr>
              <a:t>https://theprint.in/opinion/india-can-go-the-khadi-way-to-realise-its-bamboo-potential-cut-imports-from-china/735470/</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11">
                  <a:extLst>
                    <a:ext uri="{A12FA001-AC4F-418D-AE19-62706E023703}">
                      <ahyp:hlinkClr xmlns:ahyp="http://schemas.microsoft.com/office/drawing/2018/hyperlinkcolor" val="tx"/>
                    </a:ext>
                  </a:extLst>
                </a:hlinkClick>
              </a:rPr>
              <a:t>https://www.panaprium.com/blogs/i/bamboo-fabric</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12">
                  <a:extLst>
                    <a:ext uri="{A12FA001-AC4F-418D-AE19-62706E023703}">
                      <ahyp:hlinkClr xmlns:ahyp="http://schemas.microsoft.com/office/drawing/2018/hyperlinkcolor" val="tx"/>
                    </a:ext>
                  </a:extLst>
                </a:hlinkClick>
              </a:rPr>
              <a:t>https://softsensbaby.com/blogs/from-softsens/bamboo-fabric-for-babies#:~:text=Bamboo%20fabric%20is%20also%20hypoallergenic,such%20as%20wool%20or%20hemp</a:t>
            </a:r>
            <a:r>
              <a:rPr lang="en-US" sz="1200" b="0" i="0" u="none" strike="noStrike" dirty="0">
                <a:effectLst/>
                <a:latin typeface="Arial" panose="020B0604020202020204" pitchFamily="34" charset="0"/>
              </a:rPr>
              <a:t>.</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13">
                  <a:extLst>
                    <a:ext uri="{A12FA001-AC4F-418D-AE19-62706E023703}">
                      <ahyp:hlinkClr xmlns:ahyp="http://schemas.microsoft.com/office/drawing/2018/hyperlinkcolor" val="tx"/>
                    </a:ext>
                  </a:extLst>
                </a:hlinkClick>
              </a:rPr>
              <a:t>https://www.researchgate.net/publication/335836217_A_Study_on_Parents'_Opinion_and_Awareness_about_Kidswear</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14">
                  <a:extLst>
                    <a:ext uri="{A12FA001-AC4F-418D-AE19-62706E023703}">
                      <ahyp:hlinkClr xmlns:ahyp="http://schemas.microsoft.com/office/drawing/2018/hyperlinkcolor" val="tx"/>
                    </a:ext>
                  </a:extLst>
                </a:hlinkClick>
              </a:rPr>
              <a:t>https://www.babydestination.com/fabrics-avoid-for-babies</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15">
                  <a:extLst>
                    <a:ext uri="{A12FA001-AC4F-418D-AE19-62706E023703}">
                      <ahyp:hlinkClr xmlns:ahyp="http://schemas.microsoft.com/office/drawing/2018/hyperlinkcolor" val="tx"/>
                    </a:ext>
                  </a:extLst>
                </a:hlinkClick>
              </a:rPr>
              <a:t>https://www.upchoose.com/blog/why-is-organic-clothing-better-for-babies</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16">
                  <a:extLst>
                    <a:ext uri="{A12FA001-AC4F-418D-AE19-62706E023703}">
                      <ahyp:hlinkClr xmlns:ahyp="http://schemas.microsoft.com/office/drawing/2018/hyperlinkcolor" val="tx"/>
                    </a:ext>
                  </a:extLst>
                </a:hlinkClick>
              </a:rPr>
              <a:t>https://www.organictextiles.com/blogs/news/organic-cotton-vs-bamboo#:~:text=Both%20are%20soft%2C%20eco%2Dfriendly,%2C%20delicate%2C%20and%20more%20breathable</a:t>
            </a:r>
            <a:r>
              <a:rPr lang="en-US" sz="1200" b="0" i="0" u="none" strike="noStrike" dirty="0">
                <a:effectLst/>
                <a:latin typeface="Arial" panose="020B0604020202020204" pitchFamily="34" charset="0"/>
              </a:rPr>
              <a:t>.</a:t>
            </a:r>
            <a:endParaRPr lang="en-US" sz="1200" b="0" dirty="0">
              <a:effectLst/>
            </a:endParaRPr>
          </a:p>
          <a:p>
            <a:pPr marL="342900" indent="-342900" rtl="0">
              <a:lnSpc>
                <a:spcPct val="150000"/>
              </a:lnSpc>
              <a:spcBef>
                <a:spcPts val="0"/>
              </a:spcBef>
              <a:spcAft>
                <a:spcPts val="0"/>
              </a:spcAft>
              <a:buFont typeface="+mj-lt"/>
              <a:buAutoNum type="arabicPeriod"/>
            </a:pPr>
            <a:r>
              <a:rPr lang="en-US" sz="1200" b="0" i="0" u="sng" strike="noStrike" dirty="0">
                <a:effectLst/>
                <a:latin typeface="Arial" panose="020B0604020202020204" pitchFamily="34" charset="0"/>
                <a:hlinkClick r:id="rId17">
                  <a:extLst>
                    <a:ext uri="{A12FA001-AC4F-418D-AE19-62706E023703}">
                      <ahyp:hlinkClr xmlns:ahyp="http://schemas.microsoft.com/office/drawing/2018/hyperlinkcolor" val="tx"/>
                    </a:ext>
                  </a:extLst>
                </a:hlinkClick>
              </a:rPr>
              <a:t>https://www.statista.com/outlook/cmo/apparel/india#revenue</a:t>
            </a:r>
            <a:endParaRPr lang="en-US" sz="1200" b="0" dirty="0">
              <a:effectLst/>
            </a:endParaRPr>
          </a:p>
          <a:p>
            <a:pPr marL="342900" indent="-342900" rtl="0">
              <a:lnSpc>
                <a:spcPct val="150000"/>
              </a:lnSpc>
              <a:spcBef>
                <a:spcPts val="0"/>
              </a:spcBef>
              <a:spcAft>
                <a:spcPts val="2000"/>
              </a:spcAft>
              <a:buFont typeface="+mj-lt"/>
              <a:buAutoNum type="arabicPeriod"/>
            </a:pPr>
            <a:r>
              <a:rPr lang="en-US" sz="1200" b="0" i="0" u="sng" strike="noStrike" dirty="0">
                <a:effectLst/>
                <a:latin typeface="Arial" panose="020B0604020202020204" pitchFamily="34" charset="0"/>
                <a:hlinkClick r:id="rId18">
                  <a:extLst>
                    <a:ext uri="{A12FA001-AC4F-418D-AE19-62706E023703}">
                      <ahyp:hlinkClr xmlns:ahyp="http://schemas.microsoft.com/office/drawing/2018/hyperlinkcolor" val="tx"/>
                    </a:ext>
                  </a:extLst>
                </a:hlinkClick>
              </a:rPr>
              <a:t>https://www.ieltstrainingtips.com/the-diagram-describes-the-recycling-process-of-aluminium-cans-2/</a:t>
            </a:r>
            <a:endParaRPr lang="en-US" sz="1200" b="0" dirty="0">
              <a:effectLst/>
            </a:endParaRPr>
          </a:p>
        </p:txBody>
      </p:sp>
    </p:spTree>
    <p:extLst>
      <p:ext uri="{BB962C8B-B14F-4D97-AF65-F5344CB8AC3E}">
        <p14:creationId xmlns:p14="http://schemas.microsoft.com/office/powerpoint/2010/main" val="1269042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2453E7-A22A-9CAB-DB5C-3AF6DC2F1C29}"/>
              </a:ext>
            </a:extLst>
          </p:cNvPr>
          <p:cNvSpPr txBox="1"/>
          <p:nvPr/>
        </p:nvSpPr>
        <p:spPr>
          <a:xfrm>
            <a:off x="0" y="0"/>
            <a:ext cx="12192000" cy="461665"/>
          </a:xfrm>
          <a:prstGeom prst="rect">
            <a:avLst/>
          </a:prstGeom>
          <a:solidFill>
            <a:schemeClr val="accent5"/>
          </a:solidFill>
        </p:spPr>
        <p:txBody>
          <a:bodyPr wrap="square" rtlCol="0">
            <a:spAutoFit/>
          </a:bodyPr>
          <a:lstStyle/>
          <a:p>
            <a:r>
              <a:rPr lang="en-IN" sz="2400" dirty="0">
                <a:solidFill>
                  <a:schemeClr val="bg1"/>
                </a:solidFill>
              </a:rPr>
              <a:t>APPENDIX: Fixed costs and Employee salaries (assumptions and calculations)</a:t>
            </a:r>
            <a:endParaRPr lang="en-IN" sz="6600" dirty="0">
              <a:solidFill>
                <a:schemeClr val="bg1"/>
              </a:solidFill>
            </a:endParaRPr>
          </a:p>
        </p:txBody>
      </p:sp>
      <p:pic>
        <p:nvPicPr>
          <p:cNvPr id="4" name="Picture 3">
            <a:extLst>
              <a:ext uri="{FF2B5EF4-FFF2-40B4-BE49-F238E27FC236}">
                <a16:creationId xmlns:a16="http://schemas.microsoft.com/office/drawing/2014/main" id="{7FC6EF80-B795-07CB-C311-009C62F4BE90}"/>
              </a:ext>
            </a:extLst>
          </p:cNvPr>
          <p:cNvPicPr>
            <a:picLocks noChangeAspect="1"/>
          </p:cNvPicPr>
          <p:nvPr/>
        </p:nvPicPr>
        <p:blipFill>
          <a:blip r:embed="rId2"/>
          <a:stretch>
            <a:fillRect/>
          </a:stretch>
        </p:blipFill>
        <p:spPr>
          <a:xfrm>
            <a:off x="2599441" y="844205"/>
            <a:ext cx="6993117" cy="1888110"/>
          </a:xfrm>
          <a:prstGeom prst="rect">
            <a:avLst/>
          </a:prstGeom>
        </p:spPr>
      </p:pic>
      <p:pic>
        <p:nvPicPr>
          <p:cNvPr id="5" name="Picture 4">
            <a:extLst>
              <a:ext uri="{FF2B5EF4-FFF2-40B4-BE49-F238E27FC236}">
                <a16:creationId xmlns:a16="http://schemas.microsoft.com/office/drawing/2014/main" id="{0F30EBC3-EF00-197E-8ED7-87914B4E14EA}"/>
              </a:ext>
            </a:extLst>
          </p:cNvPr>
          <p:cNvPicPr>
            <a:picLocks noChangeAspect="1"/>
          </p:cNvPicPr>
          <p:nvPr/>
        </p:nvPicPr>
        <p:blipFill>
          <a:blip r:embed="rId3"/>
          <a:stretch>
            <a:fillRect/>
          </a:stretch>
        </p:blipFill>
        <p:spPr>
          <a:xfrm>
            <a:off x="3306876" y="3114855"/>
            <a:ext cx="5578245" cy="3456184"/>
          </a:xfrm>
          <a:prstGeom prst="rect">
            <a:avLst/>
          </a:prstGeom>
        </p:spPr>
      </p:pic>
    </p:spTree>
    <p:extLst>
      <p:ext uri="{BB962C8B-B14F-4D97-AF65-F5344CB8AC3E}">
        <p14:creationId xmlns:p14="http://schemas.microsoft.com/office/powerpoint/2010/main" val="193581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2453E7-A22A-9CAB-DB5C-3AF6DC2F1C29}"/>
              </a:ext>
            </a:extLst>
          </p:cNvPr>
          <p:cNvSpPr txBox="1"/>
          <p:nvPr/>
        </p:nvSpPr>
        <p:spPr>
          <a:xfrm>
            <a:off x="0" y="0"/>
            <a:ext cx="12192000" cy="461665"/>
          </a:xfrm>
          <a:prstGeom prst="rect">
            <a:avLst/>
          </a:prstGeom>
          <a:solidFill>
            <a:schemeClr val="accent5"/>
          </a:solidFill>
        </p:spPr>
        <p:txBody>
          <a:bodyPr wrap="square" rtlCol="0">
            <a:spAutoFit/>
          </a:bodyPr>
          <a:lstStyle/>
          <a:p>
            <a:r>
              <a:rPr lang="en-IN" sz="2400" dirty="0">
                <a:solidFill>
                  <a:schemeClr val="bg1"/>
                </a:solidFill>
              </a:rPr>
              <a:t>APPENDIX: Variable costs and ROI based calculations for each department</a:t>
            </a:r>
            <a:endParaRPr lang="en-IN" sz="6600" dirty="0">
              <a:solidFill>
                <a:schemeClr val="bg1"/>
              </a:solidFill>
            </a:endParaRPr>
          </a:p>
        </p:txBody>
      </p:sp>
      <p:pic>
        <p:nvPicPr>
          <p:cNvPr id="3" name="Picture 2">
            <a:extLst>
              <a:ext uri="{FF2B5EF4-FFF2-40B4-BE49-F238E27FC236}">
                <a16:creationId xmlns:a16="http://schemas.microsoft.com/office/drawing/2014/main" id="{DFE02A63-6AD5-94BF-E42D-F0AF4B32E5AE}"/>
              </a:ext>
            </a:extLst>
          </p:cNvPr>
          <p:cNvPicPr>
            <a:picLocks noChangeAspect="1"/>
          </p:cNvPicPr>
          <p:nvPr/>
        </p:nvPicPr>
        <p:blipFill>
          <a:blip r:embed="rId2"/>
          <a:stretch>
            <a:fillRect/>
          </a:stretch>
        </p:blipFill>
        <p:spPr>
          <a:xfrm>
            <a:off x="1110947" y="635969"/>
            <a:ext cx="9970105" cy="3057096"/>
          </a:xfrm>
          <a:prstGeom prst="rect">
            <a:avLst/>
          </a:prstGeom>
        </p:spPr>
      </p:pic>
      <p:pic>
        <p:nvPicPr>
          <p:cNvPr id="6" name="Picture 5">
            <a:extLst>
              <a:ext uri="{FF2B5EF4-FFF2-40B4-BE49-F238E27FC236}">
                <a16:creationId xmlns:a16="http://schemas.microsoft.com/office/drawing/2014/main" id="{F922035C-641D-AED0-B17A-AA05B5BD072B}"/>
              </a:ext>
            </a:extLst>
          </p:cNvPr>
          <p:cNvPicPr>
            <a:picLocks noChangeAspect="1"/>
          </p:cNvPicPr>
          <p:nvPr/>
        </p:nvPicPr>
        <p:blipFill>
          <a:blip r:embed="rId3"/>
          <a:stretch>
            <a:fillRect/>
          </a:stretch>
        </p:blipFill>
        <p:spPr>
          <a:xfrm>
            <a:off x="3667888" y="4173828"/>
            <a:ext cx="4856221" cy="2314759"/>
          </a:xfrm>
          <a:prstGeom prst="rect">
            <a:avLst/>
          </a:prstGeom>
        </p:spPr>
      </p:pic>
    </p:spTree>
    <p:extLst>
      <p:ext uri="{BB962C8B-B14F-4D97-AF65-F5344CB8AC3E}">
        <p14:creationId xmlns:p14="http://schemas.microsoft.com/office/powerpoint/2010/main" val="33820007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1769</TotalTime>
  <Words>1320</Words>
  <Application>Microsoft Office PowerPoint</Application>
  <PresentationFormat>Widescreen</PresentationFormat>
  <Paragraphs>155</Paragraphs>
  <Slides>7</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5" baseType="lpstr">
      <vt:lpstr>Arial</vt:lpstr>
      <vt:lpstr>Calibri</vt:lpstr>
      <vt:lpstr>Calibri Light</vt:lpstr>
      <vt:lpstr>Google Sans</vt:lpstr>
      <vt:lpstr>Verdana</vt:lpstr>
      <vt:lpstr>Wingdings</vt:lpstr>
      <vt:lpstr>Office Theme</vt:lpstr>
      <vt:lpstr>Worksheet</vt:lpstr>
      <vt:lpstr>Entrée-preneurship 5.0</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Mohit Kiradoo</dc:creator>
  <cp:lastModifiedBy>Mohit Kiradoo</cp:lastModifiedBy>
  <cp:revision>11</cp:revision>
  <dcterms:created xsi:type="dcterms:W3CDTF">2022-08-11T17:15:08Z</dcterms:created>
  <dcterms:modified xsi:type="dcterms:W3CDTF">2022-08-14T10:57:36Z</dcterms:modified>
</cp:coreProperties>
</file>