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65" r:id="rId2"/>
    <p:sldId id="256" r:id="rId3"/>
    <p:sldId id="263" r:id="rId4"/>
    <p:sldId id="262" r:id="rId5"/>
    <p:sldId id="259" r:id="rId6"/>
    <p:sldId id="264"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671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7" d="100"/>
          <a:sy n="67" d="100"/>
        </p:scale>
        <p:origin x="644" y="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1018F29-E7A9-46B4-8B75-C987D7F03814}"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IN"/>
        </a:p>
      </dgm:t>
    </dgm:pt>
    <dgm:pt modelId="{0987C568-DAFF-4028-A0FD-8049BE1828A2}">
      <dgm:prSet phldrT="[Text]" custT="1"/>
      <dgm:spPr>
        <a:ln>
          <a:solidFill>
            <a:schemeClr val="tx1">
              <a:lumMod val="85000"/>
              <a:lumOff val="15000"/>
            </a:schemeClr>
          </a:solidFill>
        </a:ln>
        <a:scene3d>
          <a:camera prst="orthographicFront"/>
          <a:lightRig rig="threePt" dir="t"/>
        </a:scene3d>
        <a:sp3d>
          <a:bevelT/>
        </a:sp3d>
      </dgm:spPr>
      <dgm:t>
        <a:bodyPr/>
        <a:lstStyle/>
        <a:p>
          <a:r>
            <a:rPr lang="en-US" sz="1400" dirty="0"/>
            <a:t>Pain Points</a:t>
          </a:r>
          <a:endParaRPr lang="en-IN" sz="1400" dirty="0"/>
        </a:p>
      </dgm:t>
    </dgm:pt>
    <dgm:pt modelId="{C6EF4B9C-CB4A-46D1-8C8B-C5F4A1FB5FEC}" type="parTrans" cxnId="{F29EBBB8-3D3D-4E29-BEF5-E9A0EBD9BC29}">
      <dgm:prSet/>
      <dgm:spPr/>
      <dgm:t>
        <a:bodyPr/>
        <a:lstStyle/>
        <a:p>
          <a:endParaRPr lang="en-IN"/>
        </a:p>
      </dgm:t>
    </dgm:pt>
    <dgm:pt modelId="{A4DA16CB-8168-48F7-97C6-D7414E372126}" type="sibTrans" cxnId="{F29EBBB8-3D3D-4E29-BEF5-E9A0EBD9BC29}">
      <dgm:prSet/>
      <dgm:spPr/>
      <dgm:t>
        <a:bodyPr/>
        <a:lstStyle/>
        <a:p>
          <a:endParaRPr lang="en-IN"/>
        </a:p>
      </dgm:t>
    </dgm:pt>
    <dgm:pt modelId="{A8166BFD-B248-4EA1-8815-D8CC64130C81}">
      <dgm:prSet phldrT="[Text]" custT="1"/>
      <dgm:spPr>
        <a:ln>
          <a:solidFill>
            <a:schemeClr val="tx1">
              <a:lumMod val="85000"/>
              <a:lumOff val="15000"/>
            </a:schemeClr>
          </a:solidFill>
        </a:ln>
        <a:scene3d>
          <a:camera prst="orthographicFront"/>
          <a:lightRig rig="threePt" dir="t"/>
        </a:scene3d>
        <a:sp3d>
          <a:bevelT/>
        </a:sp3d>
      </dgm:spPr>
      <dgm:t>
        <a:bodyPr/>
        <a:lstStyle/>
        <a:p>
          <a:r>
            <a:rPr lang="en-US" sz="1400" dirty="0"/>
            <a:t>User Issues</a:t>
          </a:r>
          <a:endParaRPr lang="en-IN" sz="1400" dirty="0"/>
        </a:p>
      </dgm:t>
    </dgm:pt>
    <dgm:pt modelId="{D19C9985-37EE-4119-AD5C-69CF46C91A7C}" type="parTrans" cxnId="{1AF311DD-CEB0-430F-B48D-B05A96E2D389}">
      <dgm:prSet/>
      <dgm:spPr>
        <a:ln>
          <a:solidFill>
            <a:schemeClr val="tx1">
              <a:lumMod val="85000"/>
              <a:lumOff val="15000"/>
            </a:schemeClr>
          </a:solidFill>
        </a:ln>
      </dgm:spPr>
      <dgm:t>
        <a:bodyPr/>
        <a:lstStyle/>
        <a:p>
          <a:endParaRPr lang="en-IN"/>
        </a:p>
      </dgm:t>
    </dgm:pt>
    <dgm:pt modelId="{B8F388B9-93E2-416C-A82D-61595DB7429E}" type="sibTrans" cxnId="{1AF311DD-CEB0-430F-B48D-B05A96E2D389}">
      <dgm:prSet/>
      <dgm:spPr/>
      <dgm:t>
        <a:bodyPr/>
        <a:lstStyle/>
        <a:p>
          <a:endParaRPr lang="en-IN"/>
        </a:p>
      </dgm:t>
    </dgm:pt>
    <dgm:pt modelId="{E8552642-214A-44C1-8E8A-8F3248435566}">
      <dgm:prSet phldrT="[Text]" custT="1"/>
      <dgm:spPr>
        <a:ln>
          <a:solidFill>
            <a:schemeClr val="tx1">
              <a:lumMod val="85000"/>
              <a:lumOff val="15000"/>
            </a:schemeClr>
          </a:solidFill>
        </a:ln>
        <a:scene3d>
          <a:camera prst="orthographicFront"/>
          <a:lightRig rig="threePt" dir="t"/>
        </a:scene3d>
        <a:sp3d>
          <a:bevelT/>
        </a:sp3d>
      </dgm:spPr>
      <dgm:t>
        <a:bodyPr/>
        <a:lstStyle/>
        <a:p>
          <a:r>
            <a:rPr lang="en-US" sz="1400" dirty="0"/>
            <a:t>App Issues</a:t>
          </a:r>
          <a:endParaRPr lang="en-IN" sz="1400" dirty="0"/>
        </a:p>
      </dgm:t>
    </dgm:pt>
    <dgm:pt modelId="{81F9BAE0-33FD-44D1-9480-E0B6A2B5BB30}" type="parTrans" cxnId="{7547B47F-1823-46AC-863E-B28DDF54908D}">
      <dgm:prSet/>
      <dgm:spPr>
        <a:ln>
          <a:solidFill>
            <a:schemeClr val="tx1">
              <a:lumMod val="85000"/>
              <a:lumOff val="15000"/>
            </a:schemeClr>
          </a:solidFill>
        </a:ln>
      </dgm:spPr>
      <dgm:t>
        <a:bodyPr/>
        <a:lstStyle/>
        <a:p>
          <a:endParaRPr lang="en-IN"/>
        </a:p>
      </dgm:t>
    </dgm:pt>
    <dgm:pt modelId="{C8061435-EDE9-4817-9987-9B5C055CE65C}" type="sibTrans" cxnId="{7547B47F-1823-46AC-863E-B28DDF54908D}">
      <dgm:prSet/>
      <dgm:spPr/>
      <dgm:t>
        <a:bodyPr/>
        <a:lstStyle/>
        <a:p>
          <a:endParaRPr lang="en-IN"/>
        </a:p>
      </dgm:t>
    </dgm:pt>
    <dgm:pt modelId="{8AE3DAA6-32D2-48B6-87C6-77189873AF11}" type="asst">
      <dgm:prSet custT="1"/>
      <dgm:spPr>
        <a:ln>
          <a:solidFill>
            <a:schemeClr val="tx1">
              <a:lumMod val="85000"/>
              <a:lumOff val="15000"/>
            </a:schemeClr>
          </a:solidFill>
        </a:ln>
        <a:scene3d>
          <a:camera prst="orthographicFront"/>
          <a:lightRig rig="threePt" dir="t"/>
        </a:scene3d>
        <a:sp3d>
          <a:bevelT/>
        </a:sp3d>
      </dgm:spPr>
      <dgm:t>
        <a:bodyPr/>
        <a:lstStyle/>
        <a:p>
          <a:pPr algn="ctr"/>
          <a:r>
            <a:rPr lang="en-IN" sz="1200" dirty="0"/>
            <a:t>Old School Approach</a:t>
          </a:r>
        </a:p>
      </dgm:t>
    </dgm:pt>
    <dgm:pt modelId="{25388A34-7F95-4E0C-9B3D-15A1C7A40C60}" type="parTrans" cxnId="{951CF1B9-CFBA-4F24-B714-F6251C710E30}">
      <dgm:prSet/>
      <dgm:spPr>
        <a:ln>
          <a:solidFill>
            <a:schemeClr val="tx1">
              <a:lumMod val="85000"/>
              <a:lumOff val="15000"/>
            </a:schemeClr>
          </a:solidFill>
        </a:ln>
      </dgm:spPr>
      <dgm:t>
        <a:bodyPr/>
        <a:lstStyle/>
        <a:p>
          <a:endParaRPr lang="en-IN"/>
        </a:p>
      </dgm:t>
    </dgm:pt>
    <dgm:pt modelId="{5C49DB71-798A-4A12-A20D-9B0A9F720E07}" type="sibTrans" cxnId="{951CF1B9-CFBA-4F24-B714-F6251C710E30}">
      <dgm:prSet/>
      <dgm:spPr/>
      <dgm:t>
        <a:bodyPr/>
        <a:lstStyle/>
        <a:p>
          <a:endParaRPr lang="en-IN"/>
        </a:p>
      </dgm:t>
    </dgm:pt>
    <dgm:pt modelId="{97A01BEB-1A72-4620-A06C-2243BA2E283B}" type="asst">
      <dgm:prSet custT="1"/>
      <dgm:spPr>
        <a:ln>
          <a:solidFill>
            <a:schemeClr val="tx1">
              <a:lumMod val="85000"/>
              <a:lumOff val="15000"/>
            </a:schemeClr>
          </a:solidFill>
        </a:ln>
        <a:scene3d>
          <a:camera prst="orthographicFront"/>
          <a:lightRig rig="threePt" dir="t"/>
        </a:scene3d>
        <a:sp3d>
          <a:bevelT/>
        </a:sp3d>
      </dgm:spPr>
      <dgm:t>
        <a:bodyPr/>
        <a:lstStyle/>
        <a:p>
          <a:r>
            <a:rPr lang="en-GB" sz="1200" dirty="0"/>
            <a:t>D</a:t>
          </a:r>
          <a:r>
            <a:rPr lang="en-IN" sz="1200" dirty="0"/>
            <a:t>ocuments getting lost</a:t>
          </a:r>
        </a:p>
      </dgm:t>
    </dgm:pt>
    <dgm:pt modelId="{A957B877-013C-4559-AFCE-F39F83BF9612}" type="sibTrans" cxnId="{A31A1AE3-908A-4018-A43C-8DD309A74F45}">
      <dgm:prSet/>
      <dgm:spPr/>
      <dgm:t>
        <a:bodyPr/>
        <a:lstStyle/>
        <a:p>
          <a:endParaRPr lang="en-IN"/>
        </a:p>
      </dgm:t>
    </dgm:pt>
    <dgm:pt modelId="{87595EC8-B11C-4906-B260-14E020FBE59A}" type="parTrans" cxnId="{A31A1AE3-908A-4018-A43C-8DD309A74F45}">
      <dgm:prSet/>
      <dgm:spPr/>
      <dgm:t>
        <a:bodyPr/>
        <a:lstStyle/>
        <a:p>
          <a:endParaRPr lang="en-IN"/>
        </a:p>
      </dgm:t>
    </dgm:pt>
    <dgm:pt modelId="{20512BC6-B93D-466C-8BBB-FCB0582E4088}" type="asst">
      <dgm:prSet custT="1"/>
      <dgm:spPr>
        <a:ln>
          <a:solidFill>
            <a:schemeClr val="tx1">
              <a:lumMod val="85000"/>
              <a:lumOff val="15000"/>
            </a:schemeClr>
          </a:solidFill>
        </a:ln>
        <a:scene3d>
          <a:camera prst="orthographicFront"/>
          <a:lightRig rig="threePt" dir="t"/>
        </a:scene3d>
        <a:sp3d>
          <a:bevelT/>
        </a:sp3d>
      </dgm:spPr>
      <dgm:t>
        <a:bodyPr/>
        <a:lstStyle/>
        <a:p>
          <a:r>
            <a:rPr lang="en-IN" sz="1200" dirty="0"/>
            <a:t>People forget about medicines</a:t>
          </a:r>
        </a:p>
      </dgm:t>
    </dgm:pt>
    <dgm:pt modelId="{5A0B82AE-161F-4D9F-B83E-7A32FC07F074}" type="parTrans" cxnId="{6D28DDF9-0867-43BC-BB0F-EE75D5BA08F6}">
      <dgm:prSet/>
      <dgm:spPr>
        <a:ln>
          <a:solidFill>
            <a:schemeClr val="tx1">
              <a:lumMod val="85000"/>
              <a:lumOff val="15000"/>
            </a:schemeClr>
          </a:solidFill>
        </a:ln>
      </dgm:spPr>
      <dgm:t>
        <a:bodyPr/>
        <a:lstStyle/>
        <a:p>
          <a:endParaRPr lang="en-IN"/>
        </a:p>
      </dgm:t>
    </dgm:pt>
    <dgm:pt modelId="{A20B3167-B940-48EA-A835-16F04CB10309}" type="sibTrans" cxnId="{6D28DDF9-0867-43BC-BB0F-EE75D5BA08F6}">
      <dgm:prSet/>
      <dgm:spPr/>
      <dgm:t>
        <a:bodyPr/>
        <a:lstStyle/>
        <a:p>
          <a:endParaRPr lang="en-IN"/>
        </a:p>
      </dgm:t>
    </dgm:pt>
    <dgm:pt modelId="{7F8F5D84-D60D-4C89-A8D2-2611D9B61107}" type="asst">
      <dgm:prSet/>
      <dgm:spPr>
        <a:ln>
          <a:solidFill>
            <a:schemeClr val="tx1">
              <a:lumMod val="85000"/>
              <a:lumOff val="15000"/>
            </a:schemeClr>
          </a:solidFill>
        </a:ln>
        <a:scene3d>
          <a:camera prst="orthographicFront"/>
          <a:lightRig rig="threePt" dir="t"/>
        </a:scene3d>
        <a:sp3d>
          <a:bevelT/>
        </a:sp3d>
      </dgm:spPr>
      <dgm:t>
        <a:bodyPr/>
        <a:lstStyle/>
        <a:p>
          <a:r>
            <a:rPr lang="en-GB" dirty="0"/>
            <a:t>P</a:t>
          </a:r>
          <a:r>
            <a:rPr lang="en-IN" dirty="0"/>
            <a:t>eople want to maintain health budget but they don’t</a:t>
          </a:r>
        </a:p>
      </dgm:t>
    </dgm:pt>
    <dgm:pt modelId="{6C87237E-5B2E-4B6D-8F94-CE24DC87813E}" type="parTrans" cxnId="{D05F1B7A-8B2B-47D4-81A6-EA494D24456A}">
      <dgm:prSet/>
      <dgm:spPr/>
      <dgm:t>
        <a:bodyPr/>
        <a:lstStyle/>
        <a:p>
          <a:endParaRPr lang="en-IN"/>
        </a:p>
      </dgm:t>
    </dgm:pt>
    <dgm:pt modelId="{EF5E3B32-5F6D-4405-AA2F-1389D325126D}" type="sibTrans" cxnId="{D05F1B7A-8B2B-47D4-81A6-EA494D24456A}">
      <dgm:prSet/>
      <dgm:spPr/>
      <dgm:t>
        <a:bodyPr/>
        <a:lstStyle/>
        <a:p>
          <a:endParaRPr lang="en-IN"/>
        </a:p>
      </dgm:t>
    </dgm:pt>
    <dgm:pt modelId="{EA467B69-71AC-46A9-93CB-F02A449EE46E}" type="asst">
      <dgm:prSet custT="1"/>
      <dgm:spPr>
        <a:ln>
          <a:solidFill>
            <a:schemeClr val="tx1">
              <a:lumMod val="85000"/>
              <a:lumOff val="15000"/>
            </a:schemeClr>
          </a:solidFill>
        </a:ln>
        <a:scene3d>
          <a:camera prst="orthographicFront"/>
          <a:lightRig rig="threePt" dir="t"/>
        </a:scene3d>
        <a:sp3d>
          <a:bevelT/>
        </a:sp3d>
      </dgm:spPr>
      <dgm:t>
        <a:bodyPr/>
        <a:lstStyle/>
        <a:p>
          <a:r>
            <a:rPr lang="en-IN" sz="1200" dirty="0"/>
            <a:t>Trust Issues</a:t>
          </a:r>
        </a:p>
      </dgm:t>
    </dgm:pt>
    <dgm:pt modelId="{33E77513-E8A3-487C-9E5A-6427965841C4}" type="parTrans" cxnId="{25854305-181D-4844-9FA8-C3A5A4AC67D0}">
      <dgm:prSet/>
      <dgm:spPr>
        <a:ln>
          <a:solidFill>
            <a:schemeClr val="tx1">
              <a:lumMod val="85000"/>
              <a:lumOff val="15000"/>
            </a:schemeClr>
          </a:solidFill>
        </a:ln>
      </dgm:spPr>
      <dgm:t>
        <a:bodyPr/>
        <a:lstStyle/>
        <a:p>
          <a:endParaRPr lang="en-IN"/>
        </a:p>
      </dgm:t>
    </dgm:pt>
    <dgm:pt modelId="{A1AF427B-FDC1-4530-9626-F1EF5CB79010}" type="sibTrans" cxnId="{25854305-181D-4844-9FA8-C3A5A4AC67D0}">
      <dgm:prSet/>
      <dgm:spPr/>
      <dgm:t>
        <a:bodyPr/>
        <a:lstStyle/>
        <a:p>
          <a:endParaRPr lang="en-IN"/>
        </a:p>
      </dgm:t>
    </dgm:pt>
    <dgm:pt modelId="{36DF7074-7F52-4D41-8104-0B028043701E}" type="asst">
      <dgm:prSet custT="1"/>
      <dgm:spPr>
        <a:ln>
          <a:solidFill>
            <a:schemeClr val="tx1">
              <a:lumMod val="85000"/>
              <a:lumOff val="15000"/>
            </a:schemeClr>
          </a:solidFill>
        </a:ln>
        <a:scene3d>
          <a:camera prst="orthographicFront"/>
          <a:lightRig rig="threePt" dir="t"/>
        </a:scene3d>
        <a:sp3d>
          <a:bevelT/>
        </a:sp3d>
      </dgm:spPr>
      <dgm:t>
        <a:bodyPr/>
        <a:lstStyle/>
        <a:p>
          <a:r>
            <a:rPr lang="en-US" sz="1200" dirty="0"/>
            <a:t>App Complexity</a:t>
          </a:r>
          <a:endParaRPr lang="en-IN" sz="1200" dirty="0"/>
        </a:p>
      </dgm:t>
    </dgm:pt>
    <dgm:pt modelId="{E3058CFC-8F91-4ABB-8CA3-097B6164635D}" type="parTrans" cxnId="{3FED8CBB-0195-4A78-94B0-E3890C3E22DA}">
      <dgm:prSet/>
      <dgm:spPr/>
      <dgm:t>
        <a:bodyPr/>
        <a:lstStyle/>
        <a:p>
          <a:endParaRPr lang="en-IN"/>
        </a:p>
      </dgm:t>
    </dgm:pt>
    <dgm:pt modelId="{0F00434E-7F7D-4714-80ED-74048841D960}" type="sibTrans" cxnId="{3FED8CBB-0195-4A78-94B0-E3890C3E22DA}">
      <dgm:prSet/>
      <dgm:spPr/>
      <dgm:t>
        <a:bodyPr/>
        <a:lstStyle/>
        <a:p>
          <a:endParaRPr lang="en-IN"/>
        </a:p>
      </dgm:t>
    </dgm:pt>
    <dgm:pt modelId="{506F65EA-AF6E-45AC-B15F-44FC0DA0C66A}" type="asst">
      <dgm:prSet custT="1"/>
      <dgm:spPr>
        <a:ln>
          <a:solidFill>
            <a:schemeClr val="tx1">
              <a:lumMod val="85000"/>
              <a:lumOff val="15000"/>
            </a:schemeClr>
          </a:solidFill>
        </a:ln>
        <a:scene3d>
          <a:camera prst="orthographicFront"/>
          <a:lightRig rig="threePt" dir="t"/>
        </a:scene3d>
        <a:sp3d>
          <a:bevelT/>
        </a:sp3d>
      </dgm:spPr>
      <dgm:t>
        <a:bodyPr/>
        <a:lstStyle/>
        <a:p>
          <a:r>
            <a:rPr lang="en-US" sz="1200" dirty="0"/>
            <a:t>Advertisements</a:t>
          </a:r>
          <a:endParaRPr lang="en-IN" sz="1200" dirty="0"/>
        </a:p>
      </dgm:t>
    </dgm:pt>
    <dgm:pt modelId="{78ABD7AA-0398-4737-B39F-6B95F3369619}" type="parTrans" cxnId="{8346B047-8B3F-4E12-B7C2-FB1BF081F58B}">
      <dgm:prSet/>
      <dgm:spPr>
        <a:ln>
          <a:solidFill>
            <a:schemeClr val="tx1">
              <a:lumMod val="85000"/>
              <a:lumOff val="15000"/>
            </a:schemeClr>
          </a:solidFill>
        </a:ln>
      </dgm:spPr>
      <dgm:t>
        <a:bodyPr/>
        <a:lstStyle/>
        <a:p>
          <a:endParaRPr lang="en-IN"/>
        </a:p>
      </dgm:t>
    </dgm:pt>
    <dgm:pt modelId="{BD167A39-72B4-4C07-B319-29510627ED18}" type="sibTrans" cxnId="{8346B047-8B3F-4E12-B7C2-FB1BF081F58B}">
      <dgm:prSet/>
      <dgm:spPr/>
      <dgm:t>
        <a:bodyPr/>
        <a:lstStyle/>
        <a:p>
          <a:endParaRPr lang="en-IN"/>
        </a:p>
      </dgm:t>
    </dgm:pt>
    <dgm:pt modelId="{E44359FE-7BFB-43A3-88E5-4154E3D0CC0C}" type="asst">
      <dgm:prSet custT="1"/>
      <dgm:spPr>
        <a:ln>
          <a:solidFill>
            <a:schemeClr val="tx1">
              <a:lumMod val="85000"/>
              <a:lumOff val="15000"/>
            </a:schemeClr>
          </a:solidFill>
        </a:ln>
        <a:scene3d>
          <a:camera prst="orthographicFront"/>
          <a:lightRig rig="threePt" dir="t"/>
        </a:scene3d>
        <a:sp3d>
          <a:bevelT/>
        </a:sp3d>
      </dgm:spPr>
      <dgm:t>
        <a:bodyPr/>
        <a:lstStyle/>
        <a:p>
          <a:r>
            <a:rPr lang="en-US" sz="1200" dirty="0"/>
            <a:t>Manual Intervention</a:t>
          </a:r>
          <a:endParaRPr lang="en-IN" sz="1200" dirty="0"/>
        </a:p>
      </dgm:t>
    </dgm:pt>
    <dgm:pt modelId="{F71738FA-70A1-4F77-9F6C-F5F7302BFA15}" type="parTrans" cxnId="{5796908E-DCB3-46E1-B1C6-E084BECF6FFE}">
      <dgm:prSet/>
      <dgm:spPr/>
      <dgm:t>
        <a:bodyPr/>
        <a:lstStyle/>
        <a:p>
          <a:endParaRPr lang="en-IN"/>
        </a:p>
      </dgm:t>
    </dgm:pt>
    <dgm:pt modelId="{8FD51274-AC19-4F54-9E01-20B2C09AB304}" type="sibTrans" cxnId="{5796908E-DCB3-46E1-B1C6-E084BECF6FFE}">
      <dgm:prSet/>
      <dgm:spPr/>
      <dgm:t>
        <a:bodyPr/>
        <a:lstStyle/>
        <a:p>
          <a:endParaRPr lang="en-IN"/>
        </a:p>
      </dgm:t>
    </dgm:pt>
    <dgm:pt modelId="{58CF3D39-ABD5-438E-8D21-2470CD17635F}" type="pres">
      <dgm:prSet presAssocID="{51018F29-E7A9-46B4-8B75-C987D7F03814}" presName="hierChild1" presStyleCnt="0">
        <dgm:presLayoutVars>
          <dgm:orgChart val="1"/>
          <dgm:chPref val="1"/>
          <dgm:dir/>
          <dgm:animOne val="branch"/>
          <dgm:animLvl val="lvl"/>
          <dgm:resizeHandles/>
        </dgm:presLayoutVars>
      </dgm:prSet>
      <dgm:spPr/>
    </dgm:pt>
    <dgm:pt modelId="{CF67ADD1-7149-437D-B940-8CBF13B5A858}" type="pres">
      <dgm:prSet presAssocID="{0987C568-DAFF-4028-A0FD-8049BE1828A2}" presName="hierRoot1" presStyleCnt="0">
        <dgm:presLayoutVars>
          <dgm:hierBranch val="init"/>
        </dgm:presLayoutVars>
      </dgm:prSet>
      <dgm:spPr/>
    </dgm:pt>
    <dgm:pt modelId="{18007429-3256-4416-B7A0-4143FA661993}" type="pres">
      <dgm:prSet presAssocID="{0987C568-DAFF-4028-A0FD-8049BE1828A2}" presName="rootComposite1" presStyleCnt="0"/>
      <dgm:spPr/>
    </dgm:pt>
    <dgm:pt modelId="{E37D7E09-FF9F-4F03-87D5-05C7FD7E4626}" type="pres">
      <dgm:prSet presAssocID="{0987C568-DAFF-4028-A0FD-8049BE1828A2}" presName="rootText1" presStyleLbl="node0" presStyleIdx="0" presStyleCnt="1">
        <dgm:presLayoutVars>
          <dgm:chPref val="3"/>
        </dgm:presLayoutVars>
      </dgm:prSet>
      <dgm:spPr/>
    </dgm:pt>
    <dgm:pt modelId="{AC984B9D-8980-467D-B4FB-0D5A40C4070C}" type="pres">
      <dgm:prSet presAssocID="{0987C568-DAFF-4028-A0FD-8049BE1828A2}" presName="rootConnector1" presStyleLbl="node1" presStyleIdx="0" presStyleCnt="0"/>
      <dgm:spPr/>
    </dgm:pt>
    <dgm:pt modelId="{15860870-D903-4994-BA64-E1691310D3D3}" type="pres">
      <dgm:prSet presAssocID="{0987C568-DAFF-4028-A0FD-8049BE1828A2}" presName="hierChild2" presStyleCnt="0"/>
      <dgm:spPr/>
    </dgm:pt>
    <dgm:pt modelId="{F4B757DB-D4E4-4095-9C6A-8549F2CB2C88}" type="pres">
      <dgm:prSet presAssocID="{D19C9985-37EE-4119-AD5C-69CF46C91A7C}" presName="Name37" presStyleLbl="parChTrans1D2" presStyleIdx="0" presStyleCnt="2"/>
      <dgm:spPr/>
    </dgm:pt>
    <dgm:pt modelId="{12B01795-875D-4B3A-AC81-D0B3E52729BE}" type="pres">
      <dgm:prSet presAssocID="{A8166BFD-B248-4EA1-8815-D8CC64130C81}" presName="hierRoot2" presStyleCnt="0">
        <dgm:presLayoutVars>
          <dgm:hierBranch val="init"/>
        </dgm:presLayoutVars>
      </dgm:prSet>
      <dgm:spPr/>
    </dgm:pt>
    <dgm:pt modelId="{F98CF45B-66F5-4688-A85D-8A6738F94AB6}" type="pres">
      <dgm:prSet presAssocID="{A8166BFD-B248-4EA1-8815-D8CC64130C81}" presName="rootComposite" presStyleCnt="0"/>
      <dgm:spPr/>
    </dgm:pt>
    <dgm:pt modelId="{2A89D3A7-9609-4337-9C39-838AD761E961}" type="pres">
      <dgm:prSet presAssocID="{A8166BFD-B248-4EA1-8815-D8CC64130C81}" presName="rootText" presStyleLbl="node2" presStyleIdx="0" presStyleCnt="2">
        <dgm:presLayoutVars>
          <dgm:chPref val="3"/>
        </dgm:presLayoutVars>
      </dgm:prSet>
      <dgm:spPr/>
    </dgm:pt>
    <dgm:pt modelId="{FD1966AB-7C6A-47F0-80B4-3E5ADF9E4A24}" type="pres">
      <dgm:prSet presAssocID="{A8166BFD-B248-4EA1-8815-D8CC64130C81}" presName="rootConnector" presStyleLbl="node2" presStyleIdx="0" presStyleCnt="2"/>
      <dgm:spPr/>
    </dgm:pt>
    <dgm:pt modelId="{011F3E68-7560-402F-BB80-E5753AB41AD9}" type="pres">
      <dgm:prSet presAssocID="{A8166BFD-B248-4EA1-8815-D8CC64130C81}" presName="hierChild4" presStyleCnt="0"/>
      <dgm:spPr/>
    </dgm:pt>
    <dgm:pt modelId="{FC94BE3E-8E5B-4C66-91D5-1B310147E04E}" type="pres">
      <dgm:prSet presAssocID="{A8166BFD-B248-4EA1-8815-D8CC64130C81}" presName="hierChild5" presStyleCnt="0"/>
      <dgm:spPr/>
    </dgm:pt>
    <dgm:pt modelId="{43B1ACE3-8770-4E44-90BE-C2DA38B60ACB}" type="pres">
      <dgm:prSet presAssocID="{25388A34-7F95-4E0C-9B3D-15A1C7A40C60}" presName="Name111" presStyleLbl="parChTrans1D3" presStyleIdx="0" presStyleCnt="8"/>
      <dgm:spPr/>
    </dgm:pt>
    <dgm:pt modelId="{4F3B878A-4E2C-4D9A-9AA1-30710D687AFC}" type="pres">
      <dgm:prSet presAssocID="{8AE3DAA6-32D2-48B6-87C6-77189873AF11}" presName="hierRoot3" presStyleCnt="0">
        <dgm:presLayoutVars>
          <dgm:hierBranch val="init"/>
        </dgm:presLayoutVars>
      </dgm:prSet>
      <dgm:spPr/>
    </dgm:pt>
    <dgm:pt modelId="{C870F697-FEB9-4054-AC4C-AACF24BB575B}" type="pres">
      <dgm:prSet presAssocID="{8AE3DAA6-32D2-48B6-87C6-77189873AF11}" presName="rootComposite3" presStyleCnt="0"/>
      <dgm:spPr/>
    </dgm:pt>
    <dgm:pt modelId="{D24014D3-313B-4C40-83D8-C2F7A1267C41}" type="pres">
      <dgm:prSet presAssocID="{8AE3DAA6-32D2-48B6-87C6-77189873AF11}" presName="rootText3" presStyleLbl="asst2" presStyleIdx="0" presStyleCnt="8">
        <dgm:presLayoutVars>
          <dgm:chPref val="3"/>
        </dgm:presLayoutVars>
      </dgm:prSet>
      <dgm:spPr/>
    </dgm:pt>
    <dgm:pt modelId="{F2A434BB-763D-4BEB-9E8D-846E045E2112}" type="pres">
      <dgm:prSet presAssocID="{8AE3DAA6-32D2-48B6-87C6-77189873AF11}" presName="rootConnector3" presStyleLbl="asst2" presStyleIdx="0" presStyleCnt="8"/>
      <dgm:spPr/>
    </dgm:pt>
    <dgm:pt modelId="{0AA310A3-F390-40E7-9B7F-EE686E8487CD}" type="pres">
      <dgm:prSet presAssocID="{8AE3DAA6-32D2-48B6-87C6-77189873AF11}" presName="hierChild6" presStyleCnt="0"/>
      <dgm:spPr/>
    </dgm:pt>
    <dgm:pt modelId="{4C116511-2612-402E-9CDF-BB9332CB615E}" type="pres">
      <dgm:prSet presAssocID="{8AE3DAA6-32D2-48B6-87C6-77189873AF11}" presName="hierChild7" presStyleCnt="0"/>
      <dgm:spPr/>
    </dgm:pt>
    <dgm:pt modelId="{6C7AEAF0-BCFF-4ED7-A872-78D93BBF79C2}" type="pres">
      <dgm:prSet presAssocID="{87595EC8-B11C-4906-B260-14E020FBE59A}" presName="Name111" presStyleLbl="parChTrans1D3" presStyleIdx="1" presStyleCnt="8"/>
      <dgm:spPr/>
    </dgm:pt>
    <dgm:pt modelId="{B3621E84-32C5-4D54-A92A-B602A9E8DFA5}" type="pres">
      <dgm:prSet presAssocID="{97A01BEB-1A72-4620-A06C-2243BA2E283B}" presName="hierRoot3" presStyleCnt="0">
        <dgm:presLayoutVars>
          <dgm:hierBranch val="init"/>
        </dgm:presLayoutVars>
      </dgm:prSet>
      <dgm:spPr/>
    </dgm:pt>
    <dgm:pt modelId="{8A40F470-C887-4C13-8408-AE89A22DC6B0}" type="pres">
      <dgm:prSet presAssocID="{97A01BEB-1A72-4620-A06C-2243BA2E283B}" presName="rootComposite3" presStyleCnt="0"/>
      <dgm:spPr/>
    </dgm:pt>
    <dgm:pt modelId="{BC83877D-5203-441F-AD9F-4D63721B10DB}" type="pres">
      <dgm:prSet presAssocID="{97A01BEB-1A72-4620-A06C-2243BA2E283B}" presName="rootText3" presStyleLbl="asst2" presStyleIdx="1" presStyleCnt="8">
        <dgm:presLayoutVars>
          <dgm:chPref val="3"/>
        </dgm:presLayoutVars>
      </dgm:prSet>
      <dgm:spPr/>
    </dgm:pt>
    <dgm:pt modelId="{C3E3F625-C497-4224-AD6D-F1144DA74156}" type="pres">
      <dgm:prSet presAssocID="{97A01BEB-1A72-4620-A06C-2243BA2E283B}" presName="rootConnector3" presStyleLbl="asst2" presStyleIdx="1" presStyleCnt="8"/>
      <dgm:spPr/>
    </dgm:pt>
    <dgm:pt modelId="{59F29438-75C1-4111-A7EE-61CAB9F9A6C3}" type="pres">
      <dgm:prSet presAssocID="{97A01BEB-1A72-4620-A06C-2243BA2E283B}" presName="hierChild6" presStyleCnt="0"/>
      <dgm:spPr/>
    </dgm:pt>
    <dgm:pt modelId="{2D59E05C-9C07-4DF2-A47A-664022E468A0}" type="pres">
      <dgm:prSet presAssocID="{97A01BEB-1A72-4620-A06C-2243BA2E283B}" presName="hierChild7" presStyleCnt="0"/>
      <dgm:spPr/>
    </dgm:pt>
    <dgm:pt modelId="{6F6AEA38-24B6-475F-A688-97B47AF5F2A0}" type="pres">
      <dgm:prSet presAssocID="{5A0B82AE-161F-4D9F-B83E-7A32FC07F074}" presName="Name111" presStyleLbl="parChTrans1D3" presStyleIdx="2" presStyleCnt="8"/>
      <dgm:spPr/>
    </dgm:pt>
    <dgm:pt modelId="{C03C8723-779B-4AA7-A9D5-9A83E268FFB8}" type="pres">
      <dgm:prSet presAssocID="{20512BC6-B93D-466C-8BBB-FCB0582E4088}" presName="hierRoot3" presStyleCnt="0">
        <dgm:presLayoutVars>
          <dgm:hierBranch val="init"/>
        </dgm:presLayoutVars>
      </dgm:prSet>
      <dgm:spPr/>
    </dgm:pt>
    <dgm:pt modelId="{F652035F-948C-45E7-A39A-4B9CEA9894AA}" type="pres">
      <dgm:prSet presAssocID="{20512BC6-B93D-466C-8BBB-FCB0582E4088}" presName="rootComposite3" presStyleCnt="0"/>
      <dgm:spPr/>
    </dgm:pt>
    <dgm:pt modelId="{00094455-FA9A-46AB-8C62-53F46AAA0986}" type="pres">
      <dgm:prSet presAssocID="{20512BC6-B93D-466C-8BBB-FCB0582E4088}" presName="rootText3" presStyleLbl="asst2" presStyleIdx="2" presStyleCnt="8" custLinFactNeighborX="-130" custLinFactNeighborY="-579">
        <dgm:presLayoutVars>
          <dgm:chPref val="3"/>
        </dgm:presLayoutVars>
      </dgm:prSet>
      <dgm:spPr/>
    </dgm:pt>
    <dgm:pt modelId="{7CF3EBCA-8B9F-4E8B-8052-0CC60604DDD6}" type="pres">
      <dgm:prSet presAssocID="{20512BC6-B93D-466C-8BBB-FCB0582E4088}" presName="rootConnector3" presStyleLbl="asst2" presStyleIdx="2" presStyleCnt="8"/>
      <dgm:spPr/>
    </dgm:pt>
    <dgm:pt modelId="{B7C6A25F-B353-454B-B18A-0AA0F23D8460}" type="pres">
      <dgm:prSet presAssocID="{20512BC6-B93D-466C-8BBB-FCB0582E4088}" presName="hierChild6" presStyleCnt="0"/>
      <dgm:spPr/>
    </dgm:pt>
    <dgm:pt modelId="{81DE9036-DEC9-46AA-B602-21BD7832EAF8}" type="pres">
      <dgm:prSet presAssocID="{20512BC6-B93D-466C-8BBB-FCB0582E4088}" presName="hierChild7" presStyleCnt="0"/>
      <dgm:spPr/>
    </dgm:pt>
    <dgm:pt modelId="{9DFF1002-C561-4389-AF25-BCA2FAEECF1F}" type="pres">
      <dgm:prSet presAssocID="{6C87237E-5B2E-4B6D-8F94-CE24DC87813E}" presName="Name111" presStyleLbl="parChTrans1D3" presStyleIdx="3" presStyleCnt="8"/>
      <dgm:spPr/>
    </dgm:pt>
    <dgm:pt modelId="{DD797BEE-3C1D-4776-8208-F26F2E600057}" type="pres">
      <dgm:prSet presAssocID="{7F8F5D84-D60D-4C89-A8D2-2611D9B61107}" presName="hierRoot3" presStyleCnt="0">
        <dgm:presLayoutVars>
          <dgm:hierBranch val="init"/>
        </dgm:presLayoutVars>
      </dgm:prSet>
      <dgm:spPr/>
    </dgm:pt>
    <dgm:pt modelId="{BEDF1135-A5CA-4E11-BE3F-0CDC70351D9A}" type="pres">
      <dgm:prSet presAssocID="{7F8F5D84-D60D-4C89-A8D2-2611D9B61107}" presName="rootComposite3" presStyleCnt="0"/>
      <dgm:spPr/>
    </dgm:pt>
    <dgm:pt modelId="{66BB89D6-4B21-40EE-B13C-2FF767070AE4}" type="pres">
      <dgm:prSet presAssocID="{7F8F5D84-D60D-4C89-A8D2-2611D9B61107}" presName="rootText3" presStyleLbl="asst2" presStyleIdx="3" presStyleCnt="8" custLinFactNeighborX="-499" custLinFactNeighborY="1848">
        <dgm:presLayoutVars>
          <dgm:chPref val="3"/>
        </dgm:presLayoutVars>
      </dgm:prSet>
      <dgm:spPr/>
    </dgm:pt>
    <dgm:pt modelId="{7CB4570E-233F-4621-8AD4-0243257BE65C}" type="pres">
      <dgm:prSet presAssocID="{7F8F5D84-D60D-4C89-A8D2-2611D9B61107}" presName="rootConnector3" presStyleLbl="asst2" presStyleIdx="3" presStyleCnt="8"/>
      <dgm:spPr/>
    </dgm:pt>
    <dgm:pt modelId="{5C0B3577-0930-4FF2-9AA1-D66080F31CA1}" type="pres">
      <dgm:prSet presAssocID="{7F8F5D84-D60D-4C89-A8D2-2611D9B61107}" presName="hierChild6" presStyleCnt="0"/>
      <dgm:spPr/>
    </dgm:pt>
    <dgm:pt modelId="{0608B338-F921-4710-93F2-80D5C1DE891B}" type="pres">
      <dgm:prSet presAssocID="{7F8F5D84-D60D-4C89-A8D2-2611D9B61107}" presName="hierChild7" presStyleCnt="0"/>
      <dgm:spPr/>
    </dgm:pt>
    <dgm:pt modelId="{2496B4EA-5822-491A-BD95-4D09BDEB05E7}" type="pres">
      <dgm:prSet presAssocID="{81F9BAE0-33FD-44D1-9480-E0B6A2B5BB30}" presName="Name37" presStyleLbl="parChTrans1D2" presStyleIdx="1" presStyleCnt="2"/>
      <dgm:spPr/>
    </dgm:pt>
    <dgm:pt modelId="{C77EBA31-B17C-4408-984F-A7D082DF0DEA}" type="pres">
      <dgm:prSet presAssocID="{E8552642-214A-44C1-8E8A-8F3248435566}" presName="hierRoot2" presStyleCnt="0">
        <dgm:presLayoutVars>
          <dgm:hierBranch val="init"/>
        </dgm:presLayoutVars>
      </dgm:prSet>
      <dgm:spPr/>
    </dgm:pt>
    <dgm:pt modelId="{0C1190B8-10F0-4911-BDA2-EEADA7C4AD12}" type="pres">
      <dgm:prSet presAssocID="{E8552642-214A-44C1-8E8A-8F3248435566}" presName="rootComposite" presStyleCnt="0"/>
      <dgm:spPr/>
    </dgm:pt>
    <dgm:pt modelId="{AA4404EE-11F6-48CE-BDBB-4DAB101029E4}" type="pres">
      <dgm:prSet presAssocID="{E8552642-214A-44C1-8E8A-8F3248435566}" presName="rootText" presStyleLbl="node2" presStyleIdx="1" presStyleCnt="2">
        <dgm:presLayoutVars>
          <dgm:chPref val="3"/>
        </dgm:presLayoutVars>
      </dgm:prSet>
      <dgm:spPr/>
    </dgm:pt>
    <dgm:pt modelId="{BB7C8A18-DF88-43EF-8F15-557572AC9272}" type="pres">
      <dgm:prSet presAssocID="{E8552642-214A-44C1-8E8A-8F3248435566}" presName="rootConnector" presStyleLbl="node2" presStyleIdx="1" presStyleCnt="2"/>
      <dgm:spPr/>
    </dgm:pt>
    <dgm:pt modelId="{940CDCA5-1D6C-45A3-8D58-F679F16DC67C}" type="pres">
      <dgm:prSet presAssocID="{E8552642-214A-44C1-8E8A-8F3248435566}" presName="hierChild4" presStyleCnt="0"/>
      <dgm:spPr/>
    </dgm:pt>
    <dgm:pt modelId="{659D78BF-0D78-4E5C-A878-25BF267A30E0}" type="pres">
      <dgm:prSet presAssocID="{E8552642-214A-44C1-8E8A-8F3248435566}" presName="hierChild5" presStyleCnt="0"/>
      <dgm:spPr/>
    </dgm:pt>
    <dgm:pt modelId="{72E1E9BC-E71E-4D6D-B41D-68296ED5E49D}" type="pres">
      <dgm:prSet presAssocID="{33E77513-E8A3-487C-9E5A-6427965841C4}" presName="Name111" presStyleLbl="parChTrans1D3" presStyleIdx="4" presStyleCnt="8"/>
      <dgm:spPr/>
    </dgm:pt>
    <dgm:pt modelId="{B103D82C-0047-47A9-8BB0-7D5E261218E4}" type="pres">
      <dgm:prSet presAssocID="{EA467B69-71AC-46A9-93CB-F02A449EE46E}" presName="hierRoot3" presStyleCnt="0">
        <dgm:presLayoutVars>
          <dgm:hierBranch val="init"/>
        </dgm:presLayoutVars>
      </dgm:prSet>
      <dgm:spPr/>
    </dgm:pt>
    <dgm:pt modelId="{64B202BF-6587-4172-99A6-EF4041FE88F3}" type="pres">
      <dgm:prSet presAssocID="{EA467B69-71AC-46A9-93CB-F02A449EE46E}" presName="rootComposite3" presStyleCnt="0"/>
      <dgm:spPr/>
    </dgm:pt>
    <dgm:pt modelId="{2F94418B-2777-47B9-9DB6-9D621F8E7881}" type="pres">
      <dgm:prSet presAssocID="{EA467B69-71AC-46A9-93CB-F02A449EE46E}" presName="rootText3" presStyleLbl="asst2" presStyleIdx="4" presStyleCnt="8">
        <dgm:presLayoutVars>
          <dgm:chPref val="3"/>
        </dgm:presLayoutVars>
      </dgm:prSet>
      <dgm:spPr/>
    </dgm:pt>
    <dgm:pt modelId="{C946AAF8-6776-4C2E-B46A-F92AE8C7F674}" type="pres">
      <dgm:prSet presAssocID="{EA467B69-71AC-46A9-93CB-F02A449EE46E}" presName="rootConnector3" presStyleLbl="asst2" presStyleIdx="4" presStyleCnt="8"/>
      <dgm:spPr/>
    </dgm:pt>
    <dgm:pt modelId="{85EE4A9B-2991-4430-B278-AEF126F8C123}" type="pres">
      <dgm:prSet presAssocID="{EA467B69-71AC-46A9-93CB-F02A449EE46E}" presName="hierChild6" presStyleCnt="0"/>
      <dgm:spPr/>
    </dgm:pt>
    <dgm:pt modelId="{D030B11C-8CD3-4EAE-B5C9-3C4EA82CC133}" type="pres">
      <dgm:prSet presAssocID="{EA467B69-71AC-46A9-93CB-F02A449EE46E}" presName="hierChild7" presStyleCnt="0"/>
      <dgm:spPr/>
    </dgm:pt>
    <dgm:pt modelId="{E69BC95E-C32D-48ED-9EB4-4B0185149FDC}" type="pres">
      <dgm:prSet presAssocID="{E3058CFC-8F91-4ABB-8CA3-097B6164635D}" presName="Name111" presStyleLbl="parChTrans1D3" presStyleIdx="5" presStyleCnt="8"/>
      <dgm:spPr/>
    </dgm:pt>
    <dgm:pt modelId="{10C54CC6-88A9-427A-96A4-6666763173D4}" type="pres">
      <dgm:prSet presAssocID="{36DF7074-7F52-4D41-8104-0B028043701E}" presName="hierRoot3" presStyleCnt="0">
        <dgm:presLayoutVars>
          <dgm:hierBranch val="init"/>
        </dgm:presLayoutVars>
      </dgm:prSet>
      <dgm:spPr/>
    </dgm:pt>
    <dgm:pt modelId="{D26135FE-3873-40F9-B814-9A27CB499E89}" type="pres">
      <dgm:prSet presAssocID="{36DF7074-7F52-4D41-8104-0B028043701E}" presName="rootComposite3" presStyleCnt="0"/>
      <dgm:spPr/>
    </dgm:pt>
    <dgm:pt modelId="{BB57DCFF-C1BF-47AF-8E15-734BF901609E}" type="pres">
      <dgm:prSet presAssocID="{36DF7074-7F52-4D41-8104-0B028043701E}" presName="rootText3" presStyleLbl="asst2" presStyleIdx="5" presStyleCnt="8" custLinFactNeighborX="-4289" custLinFactNeighborY="58">
        <dgm:presLayoutVars>
          <dgm:chPref val="3"/>
        </dgm:presLayoutVars>
      </dgm:prSet>
      <dgm:spPr/>
    </dgm:pt>
    <dgm:pt modelId="{996FFA7C-4EEA-4AC9-BDB5-8719CD2DA87D}" type="pres">
      <dgm:prSet presAssocID="{36DF7074-7F52-4D41-8104-0B028043701E}" presName="rootConnector3" presStyleLbl="asst2" presStyleIdx="5" presStyleCnt="8"/>
      <dgm:spPr/>
    </dgm:pt>
    <dgm:pt modelId="{442A1117-6F47-49BC-BAC8-F8295B15E26B}" type="pres">
      <dgm:prSet presAssocID="{36DF7074-7F52-4D41-8104-0B028043701E}" presName="hierChild6" presStyleCnt="0"/>
      <dgm:spPr/>
    </dgm:pt>
    <dgm:pt modelId="{FB335B46-22E0-4407-BB01-276D06E29C7B}" type="pres">
      <dgm:prSet presAssocID="{36DF7074-7F52-4D41-8104-0B028043701E}" presName="hierChild7" presStyleCnt="0"/>
      <dgm:spPr/>
    </dgm:pt>
    <dgm:pt modelId="{46981305-73F6-4158-A55D-8E77E51C060E}" type="pres">
      <dgm:prSet presAssocID="{78ABD7AA-0398-4737-B39F-6B95F3369619}" presName="Name111" presStyleLbl="parChTrans1D3" presStyleIdx="6" presStyleCnt="8"/>
      <dgm:spPr/>
    </dgm:pt>
    <dgm:pt modelId="{B3679E22-1B95-426B-8A44-07CEBFC212BE}" type="pres">
      <dgm:prSet presAssocID="{506F65EA-AF6E-45AC-B15F-44FC0DA0C66A}" presName="hierRoot3" presStyleCnt="0">
        <dgm:presLayoutVars>
          <dgm:hierBranch val="init"/>
        </dgm:presLayoutVars>
      </dgm:prSet>
      <dgm:spPr/>
    </dgm:pt>
    <dgm:pt modelId="{DA386D4F-FBCF-4E81-ABAE-67D1E8EE4C17}" type="pres">
      <dgm:prSet presAssocID="{506F65EA-AF6E-45AC-B15F-44FC0DA0C66A}" presName="rootComposite3" presStyleCnt="0"/>
      <dgm:spPr/>
    </dgm:pt>
    <dgm:pt modelId="{B3A96158-F47D-4EB1-B43E-7464FB608EE5}" type="pres">
      <dgm:prSet presAssocID="{506F65EA-AF6E-45AC-B15F-44FC0DA0C66A}" presName="rootText3" presStyleLbl="asst2" presStyleIdx="6" presStyleCnt="8">
        <dgm:presLayoutVars>
          <dgm:chPref val="3"/>
        </dgm:presLayoutVars>
      </dgm:prSet>
      <dgm:spPr/>
    </dgm:pt>
    <dgm:pt modelId="{D881FDBD-7C34-4DB0-9342-2770E51723AF}" type="pres">
      <dgm:prSet presAssocID="{506F65EA-AF6E-45AC-B15F-44FC0DA0C66A}" presName="rootConnector3" presStyleLbl="asst2" presStyleIdx="6" presStyleCnt="8"/>
      <dgm:spPr/>
    </dgm:pt>
    <dgm:pt modelId="{50256CEC-C215-469A-BBB6-D642EC1C5307}" type="pres">
      <dgm:prSet presAssocID="{506F65EA-AF6E-45AC-B15F-44FC0DA0C66A}" presName="hierChild6" presStyleCnt="0"/>
      <dgm:spPr/>
    </dgm:pt>
    <dgm:pt modelId="{92D16CFE-E62F-4F1A-81B1-CA39C89FC30E}" type="pres">
      <dgm:prSet presAssocID="{506F65EA-AF6E-45AC-B15F-44FC0DA0C66A}" presName="hierChild7" presStyleCnt="0"/>
      <dgm:spPr/>
    </dgm:pt>
    <dgm:pt modelId="{964FAA32-DCD6-4AE4-B4DD-BB90B8279EB6}" type="pres">
      <dgm:prSet presAssocID="{F71738FA-70A1-4F77-9F6C-F5F7302BFA15}" presName="Name111" presStyleLbl="parChTrans1D3" presStyleIdx="7" presStyleCnt="8"/>
      <dgm:spPr/>
    </dgm:pt>
    <dgm:pt modelId="{0E7369FA-AE5D-4FBC-868C-8AA49F1AEEA4}" type="pres">
      <dgm:prSet presAssocID="{E44359FE-7BFB-43A3-88E5-4154E3D0CC0C}" presName="hierRoot3" presStyleCnt="0">
        <dgm:presLayoutVars>
          <dgm:hierBranch val="init"/>
        </dgm:presLayoutVars>
      </dgm:prSet>
      <dgm:spPr/>
    </dgm:pt>
    <dgm:pt modelId="{78C0DD4D-52EF-46A9-8A96-53B1EDA127CB}" type="pres">
      <dgm:prSet presAssocID="{E44359FE-7BFB-43A3-88E5-4154E3D0CC0C}" presName="rootComposite3" presStyleCnt="0"/>
      <dgm:spPr/>
    </dgm:pt>
    <dgm:pt modelId="{02707E4F-D68E-4757-AEE9-04A9E7121B5F}" type="pres">
      <dgm:prSet presAssocID="{E44359FE-7BFB-43A3-88E5-4154E3D0CC0C}" presName="rootText3" presStyleLbl="asst2" presStyleIdx="7" presStyleCnt="8">
        <dgm:presLayoutVars>
          <dgm:chPref val="3"/>
        </dgm:presLayoutVars>
      </dgm:prSet>
      <dgm:spPr/>
    </dgm:pt>
    <dgm:pt modelId="{4D8E3952-BDC8-4422-AF91-17EA2434A038}" type="pres">
      <dgm:prSet presAssocID="{E44359FE-7BFB-43A3-88E5-4154E3D0CC0C}" presName="rootConnector3" presStyleLbl="asst2" presStyleIdx="7" presStyleCnt="8"/>
      <dgm:spPr/>
    </dgm:pt>
    <dgm:pt modelId="{282BE1A1-65BD-41B0-8E79-7035FFB6B230}" type="pres">
      <dgm:prSet presAssocID="{E44359FE-7BFB-43A3-88E5-4154E3D0CC0C}" presName="hierChild6" presStyleCnt="0"/>
      <dgm:spPr/>
    </dgm:pt>
    <dgm:pt modelId="{35E8B2D6-35FE-4FAE-A065-AB3DE66FF75A}" type="pres">
      <dgm:prSet presAssocID="{E44359FE-7BFB-43A3-88E5-4154E3D0CC0C}" presName="hierChild7" presStyleCnt="0"/>
      <dgm:spPr/>
    </dgm:pt>
    <dgm:pt modelId="{03D2014E-7F68-4DE7-8BF8-2A440B9518E7}" type="pres">
      <dgm:prSet presAssocID="{0987C568-DAFF-4028-A0FD-8049BE1828A2}" presName="hierChild3" presStyleCnt="0"/>
      <dgm:spPr/>
    </dgm:pt>
  </dgm:ptLst>
  <dgm:cxnLst>
    <dgm:cxn modelId="{25854305-181D-4844-9FA8-C3A5A4AC67D0}" srcId="{E8552642-214A-44C1-8E8A-8F3248435566}" destId="{EA467B69-71AC-46A9-93CB-F02A449EE46E}" srcOrd="0" destOrd="0" parTransId="{33E77513-E8A3-487C-9E5A-6427965841C4}" sibTransId="{A1AF427B-FDC1-4530-9626-F1EF5CB79010}"/>
    <dgm:cxn modelId="{E6DCC505-9361-498A-A38C-AF6256D3B4EA}" type="presOf" srcId="{E44359FE-7BFB-43A3-88E5-4154E3D0CC0C}" destId="{4D8E3952-BDC8-4422-AF91-17EA2434A038}" srcOrd="1" destOrd="0" presId="urn:microsoft.com/office/officeart/2005/8/layout/orgChart1"/>
    <dgm:cxn modelId="{CF55D41A-74F2-4C45-9BDF-23832CA5F79D}" type="presOf" srcId="{36DF7074-7F52-4D41-8104-0B028043701E}" destId="{BB57DCFF-C1BF-47AF-8E15-734BF901609E}" srcOrd="0" destOrd="0" presId="urn:microsoft.com/office/officeart/2005/8/layout/orgChart1"/>
    <dgm:cxn modelId="{39C0CB21-CE2D-4AB1-855A-4A63F912EEBD}" type="presOf" srcId="{33E77513-E8A3-487C-9E5A-6427965841C4}" destId="{72E1E9BC-E71E-4D6D-B41D-68296ED5E49D}" srcOrd="0" destOrd="0" presId="urn:microsoft.com/office/officeart/2005/8/layout/orgChart1"/>
    <dgm:cxn modelId="{450B0928-74E4-42A3-8ACF-2B0D6B0DCBBB}" type="presOf" srcId="{E3058CFC-8F91-4ABB-8CA3-097B6164635D}" destId="{E69BC95E-C32D-48ED-9EB4-4B0185149FDC}" srcOrd="0" destOrd="0" presId="urn:microsoft.com/office/officeart/2005/8/layout/orgChart1"/>
    <dgm:cxn modelId="{7D375C33-DA2B-4CC1-8E8C-7238AD099341}" type="presOf" srcId="{20512BC6-B93D-466C-8BBB-FCB0582E4088}" destId="{7CF3EBCA-8B9F-4E8B-8052-0CC60604DDD6}" srcOrd="1" destOrd="0" presId="urn:microsoft.com/office/officeart/2005/8/layout/orgChart1"/>
    <dgm:cxn modelId="{900D963C-E192-41AB-885E-9A0E90EA50CA}" type="presOf" srcId="{8AE3DAA6-32D2-48B6-87C6-77189873AF11}" destId="{F2A434BB-763D-4BEB-9E8D-846E045E2112}" srcOrd="1" destOrd="0" presId="urn:microsoft.com/office/officeart/2005/8/layout/orgChart1"/>
    <dgm:cxn modelId="{ACA76B5B-2676-4D1D-8490-5F06E5F237AE}" type="presOf" srcId="{E44359FE-7BFB-43A3-88E5-4154E3D0CC0C}" destId="{02707E4F-D68E-4757-AEE9-04A9E7121B5F}" srcOrd="0" destOrd="0" presId="urn:microsoft.com/office/officeart/2005/8/layout/orgChart1"/>
    <dgm:cxn modelId="{8346B047-8B3F-4E12-B7C2-FB1BF081F58B}" srcId="{E8552642-214A-44C1-8E8A-8F3248435566}" destId="{506F65EA-AF6E-45AC-B15F-44FC0DA0C66A}" srcOrd="2" destOrd="0" parTransId="{78ABD7AA-0398-4737-B39F-6B95F3369619}" sibTransId="{BD167A39-72B4-4C07-B319-29510627ED18}"/>
    <dgm:cxn modelId="{3F1F5A4A-500C-44C9-8B51-9619432570A9}" type="presOf" srcId="{F71738FA-70A1-4F77-9F6C-F5F7302BFA15}" destId="{964FAA32-DCD6-4AE4-B4DD-BB90B8279EB6}" srcOrd="0" destOrd="0" presId="urn:microsoft.com/office/officeart/2005/8/layout/orgChart1"/>
    <dgm:cxn modelId="{58AEC06A-DAAD-48C2-AFA7-1441024DC01C}" type="presOf" srcId="{506F65EA-AF6E-45AC-B15F-44FC0DA0C66A}" destId="{B3A96158-F47D-4EB1-B43E-7464FB608EE5}" srcOrd="0" destOrd="0" presId="urn:microsoft.com/office/officeart/2005/8/layout/orgChart1"/>
    <dgm:cxn modelId="{D05F1B7A-8B2B-47D4-81A6-EA494D24456A}" srcId="{A8166BFD-B248-4EA1-8815-D8CC64130C81}" destId="{7F8F5D84-D60D-4C89-A8D2-2611D9B61107}" srcOrd="3" destOrd="0" parTransId="{6C87237E-5B2E-4B6D-8F94-CE24DC87813E}" sibTransId="{EF5E3B32-5F6D-4405-AA2F-1389D325126D}"/>
    <dgm:cxn modelId="{7547B47F-1823-46AC-863E-B28DDF54908D}" srcId="{0987C568-DAFF-4028-A0FD-8049BE1828A2}" destId="{E8552642-214A-44C1-8E8A-8F3248435566}" srcOrd="1" destOrd="0" parTransId="{81F9BAE0-33FD-44D1-9480-E0B6A2B5BB30}" sibTransId="{C8061435-EDE9-4817-9987-9B5C055CE65C}"/>
    <dgm:cxn modelId="{3D26D881-6C3D-4994-9DEE-5A6CBA595897}" type="presOf" srcId="{EA467B69-71AC-46A9-93CB-F02A449EE46E}" destId="{2F94418B-2777-47B9-9DB6-9D621F8E7881}" srcOrd="0" destOrd="0" presId="urn:microsoft.com/office/officeart/2005/8/layout/orgChart1"/>
    <dgm:cxn modelId="{5796908E-DCB3-46E1-B1C6-E084BECF6FFE}" srcId="{E8552642-214A-44C1-8E8A-8F3248435566}" destId="{E44359FE-7BFB-43A3-88E5-4154E3D0CC0C}" srcOrd="3" destOrd="0" parTransId="{F71738FA-70A1-4F77-9F6C-F5F7302BFA15}" sibTransId="{8FD51274-AC19-4F54-9E01-20B2C09AB304}"/>
    <dgm:cxn modelId="{AE371396-FC90-4786-9180-6E4D54409A05}" type="presOf" srcId="{87595EC8-B11C-4906-B260-14E020FBE59A}" destId="{6C7AEAF0-BCFF-4ED7-A872-78D93BBF79C2}" srcOrd="0" destOrd="0" presId="urn:microsoft.com/office/officeart/2005/8/layout/orgChart1"/>
    <dgm:cxn modelId="{16E2659F-CD62-4678-BFCF-8E3133295ADD}" type="presOf" srcId="{81F9BAE0-33FD-44D1-9480-E0B6A2B5BB30}" destId="{2496B4EA-5822-491A-BD95-4D09BDEB05E7}" srcOrd="0" destOrd="0" presId="urn:microsoft.com/office/officeart/2005/8/layout/orgChart1"/>
    <dgm:cxn modelId="{D80B04A3-456F-4C5E-92C6-01DB41EBBF0B}" type="presOf" srcId="{0987C568-DAFF-4028-A0FD-8049BE1828A2}" destId="{AC984B9D-8980-467D-B4FB-0D5A40C4070C}" srcOrd="1" destOrd="0" presId="urn:microsoft.com/office/officeart/2005/8/layout/orgChart1"/>
    <dgm:cxn modelId="{444D30AC-81A8-41F2-A106-4420AB8EE035}" type="presOf" srcId="{5A0B82AE-161F-4D9F-B83E-7A32FC07F074}" destId="{6F6AEA38-24B6-475F-A688-97B47AF5F2A0}" srcOrd="0" destOrd="0" presId="urn:microsoft.com/office/officeart/2005/8/layout/orgChart1"/>
    <dgm:cxn modelId="{E085C3AC-D692-4204-982E-DE97C003226E}" type="presOf" srcId="{7F8F5D84-D60D-4C89-A8D2-2611D9B61107}" destId="{7CB4570E-233F-4621-8AD4-0243257BE65C}" srcOrd="1" destOrd="0" presId="urn:microsoft.com/office/officeart/2005/8/layout/orgChart1"/>
    <dgm:cxn modelId="{3F706CB2-5538-41AE-B754-D7FE53B78CA9}" type="presOf" srcId="{E8552642-214A-44C1-8E8A-8F3248435566}" destId="{BB7C8A18-DF88-43EF-8F15-557572AC9272}" srcOrd="1" destOrd="0" presId="urn:microsoft.com/office/officeart/2005/8/layout/orgChart1"/>
    <dgm:cxn modelId="{9E01B6B3-7881-45BB-AA70-5F6D06EAF1CC}" type="presOf" srcId="{0987C568-DAFF-4028-A0FD-8049BE1828A2}" destId="{E37D7E09-FF9F-4F03-87D5-05C7FD7E4626}" srcOrd="0" destOrd="0" presId="urn:microsoft.com/office/officeart/2005/8/layout/orgChart1"/>
    <dgm:cxn modelId="{B659EDB3-D695-488E-A454-63C05BD39944}" type="presOf" srcId="{51018F29-E7A9-46B4-8B75-C987D7F03814}" destId="{58CF3D39-ABD5-438E-8D21-2470CD17635F}" srcOrd="0" destOrd="0" presId="urn:microsoft.com/office/officeart/2005/8/layout/orgChart1"/>
    <dgm:cxn modelId="{11420EB8-AE01-486F-9695-FAD1968977B9}" type="presOf" srcId="{97A01BEB-1A72-4620-A06C-2243BA2E283B}" destId="{BC83877D-5203-441F-AD9F-4D63721B10DB}" srcOrd="0" destOrd="0" presId="urn:microsoft.com/office/officeart/2005/8/layout/orgChart1"/>
    <dgm:cxn modelId="{F29EBBB8-3D3D-4E29-BEF5-E9A0EBD9BC29}" srcId="{51018F29-E7A9-46B4-8B75-C987D7F03814}" destId="{0987C568-DAFF-4028-A0FD-8049BE1828A2}" srcOrd="0" destOrd="0" parTransId="{C6EF4B9C-CB4A-46D1-8C8B-C5F4A1FB5FEC}" sibTransId="{A4DA16CB-8168-48F7-97C6-D7414E372126}"/>
    <dgm:cxn modelId="{951CF1B9-CFBA-4F24-B714-F6251C710E30}" srcId="{A8166BFD-B248-4EA1-8815-D8CC64130C81}" destId="{8AE3DAA6-32D2-48B6-87C6-77189873AF11}" srcOrd="0" destOrd="0" parTransId="{25388A34-7F95-4E0C-9B3D-15A1C7A40C60}" sibTransId="{5C49DB71-798A-4A12-A20D-9B0A9F720E07}"/>
    <dgm:cxn modelId="{BFBC4BBA-76D7-400A-A2D7-CB3F8C49D474}" type="presOf" srcId="{78ABD7AA-0398-4737-B39F-6B95F3369619}" destId="{46981305-73F6-4158-A55D-8E77E51C060E}" srcOrd="0" destOrd="0" presId="urn:microsoft.com/office/officeart/2005/8/layout/orgChart1"/>
    <dgm:cxn modelId="{3FED8CBB-0195-4A78-94B0-E3890C3E22DA}" srcId="{E8552642-214A-44C1-8E8A-8F3248435566}" destId="{36DF7074-7F52-4D41-8104-0B028043701E}" srcOrd="1" destOrd="0" parTransId="{E3058CFC-8F91-4ABB-8CA3-097B6164635D}" sibTransId="{0F00434E-7F7D-4714-80ED-74048841D960}"/>
    <dgm:cxn modelId="{435AF2C9-A412-4E27-9A34-B02D2188EC48}" type="presOf" srcId="{E8552642-214A-44C1-8E8A-8F3248435566}" destId="{AA4404EE-11F6-48CE-BDBB-4DAB101029E4}" srcOrd="0" destOrd="0" presId="urn:microsoft.com/office/officeart/2005/8/layout/orgChart1"/>
    <dgm:cxn modelId="{9D2FABCB-35E4-4E8E-B448-9FCA44D1158F}" type="presOf" srcId="{A8166BFD-B248-4EA1-8815-D8CC64130C81}" destId="{2A89D3A7-9609-4337-9C39-838AD761E961}" srcOrd="0" destOrd="0" presId="urn:microsoft.com/office/officeart/2005/8/layout/orgChart1"/>
    <dgm:cxn modelId="{235440D0-7BDE-4832-961A-275274CF5BE5}" type="presOf" srcId="{506F65EA-AF6E-45AC-B15F-44FC0DA0C66A}" destId="{D881FDBD-7C34-4DB0-9342-2770E51723AF}" srcOrd="1" destOrd="0" presId="urn:microsoft.com/office/officeart/2005/8/layout/orgChart1"/>
    <dgm:cxn modelId="{374B7CD0-682C-4967-87D3-D3D619FFC802}" type="presOf" srcId="{7F8F5D84-D60D-4C89-A8D2-2611D9B61107}" destId="{66BB89D6-4B21-40EE-B13C-2FF767070AE4}" srcOrd="0" destOrd="0" presId="urn:microsoft.com/office/officeart/2005/8/layout/orgChart1"/>
    <dgm:cxn modelId="{4E539AD6-6AE2-4535-91F6-0CB66873903B}" type="presOf" srcId="{97A01BEB-1A72-4620-A06C-2243BA2E283B}" destId="{C3E3F625-C497-4224-AD6D-F1144DA74156}" srcOrd="1" destOrd="0" presId="urn:microsoft.com/office/officeart/2005/8/layout/orgChart1"/>
    <dgm:cxn modelId="{604DEED9-B46B-45F0-885E-69671CEA585E}" type="presOf" srcId="{EA467B69-71AC-46A9-93CB-F02A449EE46E}" destId="{C946AAF8-6776-4C2E-B46A-F92AE8C7F674}" srcOrd="1" destOrd="0" presId="urn:microsoft.com/office/officeart/2005/8/layout/orgChart1"/>
    <dgm:cxn modelId="{1AF311DD-CEB0-430F-B48D-B05A96E2D389}" srcId="{0987C568-DAFF-4028-A0FD-8049BE1828A2}" destId="{A8166BFD-B248-4EA1-8815-D8CC64130C81}" srcOrd="0" destOrd="0" parTransId="{D19C9985-37EE-4119-AD5C-69CF46C91A7C}" sibTransId="{B8F388B9-93E2-416C-A82D-61595DB7429E}"/>
    <dgm:cxn modelId="{87448FE2-851F-4166-9037-C00FC94D3F48}" type="presOf" srcId="{A8166BFD-B248-4EA1-8815-D8CC64130C81}" destId="{FD1966AB-7C6A-47F0-80B4-3E5ADF9E4A24}" srcOrd="1" destOrd="0" presId="urn:microsoft.com/office/officeart/2005/8/layout/orgChart1"/>
    <dgm:cxn modelId="{A31A1AE3-908A-4018-A43C-8DD309A74F45}" srcId="{A8166BFD-B248-4EA1-8815-D8CC64130C81}" destId="{97A01BEB-1A72-4620-A06C-2243BA2E283B}" srcOrd="1" destOrd="0" parTransId="{87595EC8-B11C-4906-B260-14E020FBE59A}" sibTransId="{A957B877-013C-4559-AFCE-F39F83BF9612}"/>
    <dgm:cxn modelId="{3C1EB2E4-A96F-4721-946F-84ED9948FCBB}" type="presOf" srcId="{25388A34-7F95-4E0C-9B3D-15A1C7A40C60}" destId="{43B1ACE3-8770-4E44-90BE-C2DA38B60ACB}" srcOrd="0" destOrd="0" presId="urn:microsoft.com/office/officeart/2005/8/layout/orgChart1"/>
    <dgm:cxn modelId="{CA9B43E5-6C67-43C6-9DF7-9E7A6E9318C6}" type="presOf" srcId="{8AE3DAA6-32D2-48B6-87C6-77189873AF11}" destId="{D24014D3-313B-4C40-83D8-C2F7A1267C41}" srcOrd="0" destOrd="0" presId="urn:microsoft.com/office/officeart/2005/8/layout/orgChart1"/>
    <dgm:cxn modelId="{E629E5F3-D97A-4101-8873-776A4ECDED94}" type="presOf" srcId="{D19C9985-37EE-4119-AD5C-69CF46C91A7C}" destId="{F4B757DB-D4E4-4095-9C6A-8549F2CB2C88}" srcOrd="0" destOrd="0" presId="urn:microsoft.com/office/officeart/2005/8/layout/orgChart1"/>
    <dgm:cxn modelId="{59EE05F5-8DE2-4B9F-A809-D899589571E1}" type="presOf" srcId="{6C87237E-5B2E-4B6D-8F94-CE24DC87813E}" destId="{9DFF1002-C561-4389-AF25-BCA2FAEECF1F}" srcOrd="0" destOrd="0" presId="urn:microsoft.com/office/officeart/2005/8/layout/orgChart1"/>
    <dgm:cxn modelId="{8D4703F7-8528-4142-AE8A-71B0F4C8809C}" type="presOf" srcId="{36DF7074-7F52-4D41-8104-0B028043701E}" destId="{996FFA7C-4EEA-4AC9-BDB5-8719CD2DA87D}" srcOrd="1" destOrd="0" presId="urn:microsoft.com/office/officeart/2005/8/layout/orgChart1"/>
    <dgm:cxn modelId="{6D28DDF9-0867-43BC-BB0F-EE75D5BA08F6}" srcId="{A8166BFD-B248-4EA1-8815-D8CC64130C81}" destId="{20512BC6-B93D-466C-8BBB-FCB0582E4088}" srcOrd="2" destOrd="0" parTransId="{5A0B82AE-161F-4D9F-B83E-7A32FC07F074}" sibTransId="{A20B3167-B940-48EA-A835-16F04CB10309}"/>
    <dgm:cxn modelId="{556691FB-CD3F-44C0-857A-6D8DBE2C72BF}" type="presOf" srcId="{20512BC6-B93D-466C-8BBB-FCB0582E4088}" destId="{00094455-FA9A-46AB-8C62-53F46AAA0986}" srcOrd="0" destOrd="0" presId="urn:microsoft.com/office/officeart/2005/8/layout/orgChart1"/>
    <dgm:cxn modelId="{06155E5C-6620-491D-9D76-DA5BAE28B017}" type="presParOf" srcId="{58CF3D39-ABD5-438E-8D21-2470CD17635F}" destId="{CF67ADD1-7149-437D-B940-8CBF13B5A858}" srcOrd="0" destOrd="0" presId="urn:microsoft.com/office/officeart/2005/8/layout/orgChart1"/>
    <dgm:cxn modelId="{1CE3BC40-C873-4657-B9A5-EE9037946EB1}" type="presParOf" srcId="{CF67ADD1-7149-437D-B940-8CBF13B5A858}" destId="{18007429-3256-4416-B7A0-4143FA661993}" srcOrd="0" destOrd="0" presId="urn:microsoft.com/office/officeart/2005/8/layout/orgChart1"/>
    <dgm:cxn modelId="{F9E337DB-EE76-4FC4-BB65-731B223CE716}" type="presParOf" srcId="{18007429-3256-4416-B7A0-4143FA661993}" destId="{E37D7E09-FF9F-4F03-87D5-05C7FD7E4626}" srcOrd="0" destOrd="0" presId="urn:microsoft.com/office/officeart/2005/8/layout/orgChart1"/>
    <dgm:cxn modelId="{08B0F6A6-E644-4687-AEC5-2F6506F99251}" type="presParOf" srcId="{18007429-3256-4416-B7A0-4143FA661993}" destId="{AC984B9D-8980-467D-B4FB-0D5A40C4070C}" srcOrd="1" destOrd="0" presId="urn:microsoft.com/office/officeart/2005/8/layout/orgChart1"/>
    <dgm:cxn modelId="{81FB3E14-DE01-4D07-A730-DFAEF9A2C104}" type="presParOf" srcId="{CF67ADD1-7149-437D-B940-8CBF13B5A858}" destId="{15860870-D903-4994-BA64-E1691310D3D3}" srcOrd="1" destOrd="0" presId="urn:microsoft.com/office/officeart/2005/8/layout/orgChart1"/>
    <dgm:cxn modelId="{E6EBFDC0-530B-46DD-B942-DC8B4E224EB1}" type="presParOf" srcId="{15860870-D903-4994-BA64-E1691310D3D3}" destId="{F4B757DB-D4E4-4095-9C6A-8549F2CB2C88}" srcOrd="0" destOrd="0" presId="urn:microsoft.com/office/officeart/2005/8/layout/orgChart1"/>
    <dgm:cxn modelId="{90C149B7-33C3-48E3-9E9C-85833E6FF119}" type="presParOf" srcId="{15860870-D903-4994-BA64-E1691310D3D3}" destId="{12B01795-875D-4B3A-AC81-D0B3E52729BE}" srcOrd="1" destOrd="0" presId="urn:microsoft.com/office/officeart/2005/8/layout/orgChart1"/>
    <dgm:cxn modelId="{16D8AE8F-BDE5-4D16-B43C-42E26C223A54}" type="presParOf" srcId="{12B01795-875D-4B3A-AC81-D0B3E52729BE}" destId="{F98CF45B-66F5-4688-A85D-8A6738F94AB6}" srcOrd="0" destOrd="0" presId="urn:microsoft.com/office/officeart/2005/8/layout/orgChart1"/>
    <dgm:cxn modelId="{0EB6D096-7CE7-4D83-AA96-E1C15CD86CEF}" type="presParOf" srcId="{F98CF45B-66F5-4688-A85D-8A6738F94AB6}" destId="{2A89D3A7-9609-4337-9C39-838AD761E961}" srcOrd="0" destOrd="0" presId="urn:microsoft.com/office/officeart/2005/8/layout/orgChart1"/>
    <dgm:cxn modelId="{09CEB3D4-5E89-4971-BD83-B71D91BE5CA2}" type="presParOf" srcId="{F98CF45B-66F5-4688-A85D-8A6738F94AB6}" destId="{FD1966AB-7C6A-47F0-80B4-3E5ADF9E4A24}" srcOrd="1" destOrd="0" presId="urn:microsoft.com/office/officeart/2005/8/layout/orgChart1"/>
    <dgm:cxn modelId="{BF0E2A37-6865-4751-A46B-94EE9EB7DE95}" type="presParOf" srcId="{12B01795-875D-4B3A-AC81-D0B3E52729BE}" destId="{011F3E68-7560-402F-BB80-E5753AB41AD9}" srcOrd="1" destOrd="0" presId="urn:microsoft.com/office/officeart/2005/8/layout/orgChart1"/>
    <dgm:cxn modelId="{351133CA-EA37-4A41-959B-6BC6226200E4}" type="presParOf" srcId="{12B01795-875D-4B3A-AC81-D0B3E52729BE}" destId="{FC94BE3E-8E5B-4C66-91D5-1B310147E04E}" srcOrd="2" destOrd="0" presId="urn:microsoft.com/office/officeart/2005/8/layout/orgChart1"/>
    <dgm:cxn modelId="{50F8E426-D29D-42E3-B9E6-8E79AD55CEEE}" type="presParOf" srcId="{FC94BE3E-8E5B-4C66-91D5-1B310147E04E}" destId="{43B1ACE3-8770-4E44-90BE-C2DA38B60ACB}" srcOrd="0" destOrd="0" presId="urn:microsoft.com/office/officeart/2005/8/layout/orgChart1"/>
    <dgm:cxn modelId="{8B10C2AA-BF2F-4B85-B723-2F13A4161BCD}" type="presParOf" srcId="{FC94BE3E-8E5B-4C66-91D5-1B310147E04E}" destId="{4F3B878A-4E2C-4D9A-9AA1-30710D687AFC}" srcOrd="1" destOrd="0" presId="urn:microsoft.com/office/officeart/2005/8/layout/orgChart1"/>
    <dgm:cxn modelId="{2D7E02E2-1595-42A7-8AF6-86FD9862984F}" type="presParOf" srcId="{4F3B878A-4E2C-4D9A-9AA1-30710D687AFC}" destId="{C870F697-FEB9-4054-AC4C-AACF24BB575B}" srcOrd="0" destOrd="0" presId="urn:microsoft.com/office/officeart/2005/8/layout/orgChart1"/>
    <dgm:cxn modelId="{BC94E73F-DD67-4D96-8ECB-E98D1AAC2737}" type="presParOf" srcId="{C870F697-FEB9-4054-AC4C-AACF24BB575B}" destId="{D24014D3-313B-4C40-83D8-C2F7A1267C41}" srcOrd="0" destOrd="0" presId="urn:microsoft.com/office/officeart/2005/8/layout/orgChart1"/>
    <dgm:cxn modelId="{84FE9E3D-68B4-4DAE-BA0C-E0750CF5C110}" type="presParOf" srcId="{C870F697-FEB9-4054-AC4C-AACF24BB575B}" destId="{F2A434BB-763D-4BEB-9E8D-846E045E2112}" srcOrd="1" destOrd="0" presId="urn:microsoft.com/office/officeart/2005/8/layout/orgChart1"/>
    <dgm:cxn modelId="{EB0B3CCF-2183-4C86-9577-FAA07750BA95}" type="presParOf" srcId="{4F3B878A-4E2C-4D9A-9AA1-30710D687AFC}" destId="{0AA310A3-F390-40E7-9B7F-EE686E8487CD}" srcOrd="1" destOrd="0" presId="urn:microsoft.com/office/officeart/2005/8/layout/orgChart1"/>
    <dgm:cxn modelId="{D0251518-3C89-4D30-B6E6-3C314E6D1F67}" type="presParOf" srcId="{4F3B878A-4E2C-4D9A-9AA1-30710D687AFC}" destId="{4C116511-2612-402E-9CDF-BB9332CB615E}" srcOrd="2" destOrd="0" presId="urn:microsoft.com/office/officeart/2005/8/layout/orgChart1"/>
    <dgm:cxn modelId="{202E45DF-BB17-4C7B-BDD9-7014EE92F60E}" type="presParOf" srcId="{FC94BE3E-8E5B-4C66-91D5-1B310147E04E}" destId="{6C7AEAF0-BCFF-4ED7-A872-78D93BBF79C2}" srcOrd="2" destOrd="0" presId="urn:microsoft.com/office/officeart/2005/8/layout/orgChart1"/>
    <dgm:cxn modelId="{D1342B10-C873-41D3-B635-FF440FB59453}" type="presParOf" srcId="{FC94BE3E-8E5B-4C66-91D5-1B310147E04E}" destId="{B3621E84-32C5-4D54-A92A-B602A9E8DFA5}" srcOrd="3" destOrd="0" presId="urn:microsoft.com/office/officeart/2005/8/layout/orgChart1"/>
    <dgm:cxn modelId="{E7AF0F1F-E9EB-4029-BEB5-9B4B77FBCBD1}" type="presParOf" srcId="{B3621E84-32C5-4D54-A92A-B602A9E8DFA5}" destId="{8A40F470-C887-4C13-8408-AE89A22DC6B0}" srcOrd="0" destOrd="0" presId="urn:microsoft.com/office/officeart/2005/8/layout/orgChart1"/>
    <dgm:cxn modelId="{0F494918-0DB3-4B77-A389-4B838D880905}" type="presParOf" srcId="{8A40F470-C887-4C13-8408-AE89A22DC6B0}" destId="{BC83877D-5203-441F-AD9F-4D63721B10DB}" srcOrd="0" destOrd="0" presId="urn:microsoft.com/office/officeart/2005/8/layout/orgChart1"/>
    <dgm:cxn modelId="{D1EB2D06-9C24-4565-9B4E-4A5839B52A44}" type="presParOf" srcId="{8A40F470-C887-4C13-8408-AE89A22DC6B0}" destId="{C3E3F625-C497-4224-AD6D-F1144DA74156}" srcOrd="1" destOrd="0" presId="urn:microsoft.com/office/officeart/2005/8/layout/orgChart1"/>
    <dgm:cxn modelId="{5CE0ED07-BA2D-444A-A538-61532BFD6B56}" type="presParOf" srcId="{B3621E84-32C5-4D54-A92A-B602A9E8DFA5}" destId="{59F29438-75C1-4111-A7EE-61CAB9F9A6C3}" srcOrd="1" destOrd="0" presId="urn:microsoft.com/office/officeart/2005/8/layout/orgChart1"/>
    <dgm:cxn modelId="{29114875-F922-49D5-9483-2E620A0BA26E}" type="presParOf" srcId="{B3621E84-32C5-4D54-A92A-B602A9E8DFA5}" destId="{2D59E05C-9C07-4DF2-A47A-664022E468A0}" srcOrd="2" destOrd="0" presId="urn:microsoft.com/office/officeart/2005/8/layout/orgChart1"/>
    <dgm:cxn modelId="{D2255848-C994-4B05-B801-2669C50E247F}" type="presParOf" srcId="{FC94BE3E-8E5B-4C66-91D5-1B310147E04E}" destId="{6F6AEA38-24B6-475F-A688-97B47AF5F2A0}" srcOrd="4" destOrd="0" presId="urn:microsoft.com/office/officeart/2005/8/layout/orgChart1"/>
    <dgm:cxn modelId="{2B31209C-3CC5-4F71-8936-068EE8284261}" type="presParOf" srcId="{FC94BE3E-8E5B-4C66-91D5-1B310147E04E}" destId="{C03C8723-779B-4AA7-A9D5-9A83E268FFB8}" srcOrd="5" destOrd="0" presId="urn:microsoft.com/office/officeart/2005/8/layout/orgChart1"/>
    <dgm:cxn modelId="{AB504DA4-B1DF-424C-994B-E3355BBBD6E1}" type="presParOf" srcId="{C03C8723-779B-4AA7-A9D5-9A83E268FFB8}" destId="{F652035F-948C-45E7-A39A-4B9CEA9894AA}" srcOrd="0" destOrd="0" presId="urn:microsoft.com/office/officeart/2005/8/layout/orgChart1"/>
    <dgm:cxn modelId="{A36DD050-0A1F-42FB-8F3F-2384F210DDBC}" type="presParOf" srcId="{F652035F-948C-45E7-A39A-4B9CEA9894AA}" destId="{00094455-FA9A-46AB-8C62-53F46AAA0986}" srcOrd="0" destOrd="0" presId="urn:microsoft.com/office/officeart/2005/8/layout/orgChart1"/>
    <dgm:cxn modelId="{7A191153-B4A4-4D25-98A9-175EEBC8A891}" type="presParOf" srcId="{F652035F-948C-45E7-A39A-4B9CEA9894AA}" destId="{7CF3EBCA-8B9F-4E8B-8052-0CC60604DDD6}" srcOrd="1" destOrd="0" presId="urn:microsoft.com/office/officeart/2005/8/layout/orgChart1"/>
    <dgm:cxn modelId="{50AAE2B3-7BB0-4565-93A1-A2085FCB9493}" type="presParOf" srcId="{C03C8723-779B-4AA7-A9D5-9A83E268FFB8}" destId="{B7C6A25F-B353-454B-B18A-0AA0F23D8460}" srcOrd="1" destOrd="0" presId="urn:microsoft.com/office/officeart/2005/8/layout/orgChart1"/>
    <dgm:cxn modelId="{6B7A57BD-5070-4855-976E-BAB99993AE43}" type="presParOf" srcId="{C03C8723-779B-4AA7-A9D5-9A83E268FFB8}" destId="{81DE9036-DEC9-46AA-B602-21BD7832EAF8}" srcOrd="2" destOrd="0" presId="urn:microsoft.com/office/officeart/2005/8/layout/orgChart1"/>
    <dgm:cxn modelId="{F1C3D458-77DD-4733-84D3-E0DBCA90C1D3}" type="presParOf" srcId="{FC94BE3E-8E5B-4C66-91D5-1B310147E04E}" destId="{9DFF1002-C561-4389-AF25-BCA2FAEECF1F}" srcOrd="6" destOrd="0" presId="urn:microsoft.com/office/officeart/2005/8/layout/orgChart1"/>
    <dgm:cxn modelId="{C317F3FE-CA54-4F80-9507-BCFE03D4FF6F}" type="presParOf" srcId="{FC94BE3E-8E5B-4C66-91D5-1B310147E04E}" destId="{DD797BEE-3C1D-4776-8208-F26F2E600057}" srcOrd="7" destOrd="0" presId="urn:microsoft.com/office/officeart/2005/8/layout/orgChart1"/>
    <dgm:cxn modelId="{E1283E16-8CE6-413A-BFA9-CC15016B3177}" type="presParOf" srcId="{DD797BEE-3C1D-4776-8208-F26F2E600057}" destId="{BEDF1135-A5CA-4E11-BE3F-0CDC70351D9A}" srcOrd="0" destOrd="0" presId="urn:microsoft.com/office/officeart/2005/8/layout/orgChart1"/>
    <dgm:cxn modelId="{5636AB78-B049-403A-A068-5B3A91FAD7CD}" type="presParOf" srcId="{BEDF1135-A5CA-4E11-BE3F-0CDC70351D9A}" destId="{66BB89D6-4B21-40EE-B13C-2FF767070AE4}" srcOrd="0" destOrd="0" presId="urn:microsoft.com/office/officeart/2005/8/layout/orgChart1"/>
    <dgm:cxn modelId="{DFDD6A04-D521-40C2-ACA8-C8AD941F01CD}" type="presParOf" srcId="{BEDF1135-A5CA-4E11-BE3F-0CDC70351D9A}" destId="{7CB4570E-233F-4621-8AD4-0243257BE65C}" srcOrd="1" destOrd="0" presId="urn:microsoft.com/office/officeart/2005/8/layout/orgChart1"/>
    <dgm:cxn modelId="{3AF1BCE1-A0B8-44E8-A813-51C98EC6FA61}" type="presParOf" srcId="{DD797BEE-3C1D-4776-8208-F26F2E600057}" destId="{5C0B3577-0930-4FF2-9AA1-D66080F31CA1}" srcOrd="1" destOrd="0" presId="urn:microsoft.com/office/officeart/2005/8/layout/orgChart1"/>
    <dgm:cxn modelId="{2277AC83-003E-45E9-AB18-3F1F03768D7B}" type="presParOf" srcId="{DD797BEE-3C1D-4776-8208-F26F2E600057}" destId="{0608B338-F921-4710-93F2-80D5C1DE891B}" srcOrd="2" destOrd="0" presId="urn:microsoft.com/office/officeart/2005/8/layout/orgChart1"/>
    <dgm:cxn modelId="{63B0C46B-9B55-4FCD-8BAB-3D9DBEC267C2}" type="presParOf" srcId="{15860870-D903-4994-BA64-E1691310D3D3}" destId="{2496B4EA-5822-491A-BD95-4D09BDEB05E7}" srcOrd="2" destOrd="0" presId="urn:microsoft.com/office/officeart/2005/8/layout/orgChart1"/>
    <dgm:cxn modelId="{4A4DA334-A709-4745-822B-C3F15C705AB8}" type="presParOf" srcId="{15860870-D903-4994-BA64-E1691310D3D3}" destId="{C77EBA31-B17C-4408-984F-A7D082DF0DEA}" srcOrd="3" destOrd="0" presId="urn:microsoft.com/office/officeart/2005/8/layout/orgChart1"/>
    <dgm:cxn modelId="{70DEB91E-7201-4AC5-B6DB-5830E2F64F2E}" type="presParOf" srcId="{C77EBA31-B17C-4408-984F-A7D082DF0DEA}" destId="{0C1190B8-10F0-4911-BDA2-EEADA7C4AD12}" srcOrd="0" destOrd="0" presId="urn:microsoft.com/office/officeart/2005/8/layout/orgChart1"/>
    <dgm:cxn modelId="{BCDAC45F-A4B1-4655-8E3B-1F353143CD41}" type="presParOf" srcId="{0C1190B8-10F0-4911-BDA2-EEADA7C4AD12}" destId="{AA4404EE-11F6-48CE-BDBB-4DAB101029E4}" srcOrd="0" destOrd="0" presId="urn:microsoft.com/office/officeart/2005/8/layout/orgChart1"/>
    <dgm:cxn modelId="{D8EEE0EB-9F66-4D08-AA42-5F254B3F70B2}" type="presParOf" srcId="{0C1190B8-10F0-4911-BDA2-EEADA7C4AD12}" destId="{BB7C8A18-DF88-43EF-8F15-557572AC9272}" srcOrd="1" destOrd="0" presId="urn:microsoft.com/office/officeart/2005/8/layout/orgChart1"/>
    <dgm:cxn modelId="{E9DF0A38-F119-40F1-A7B8-F6652B23BC18}" type="presParOf" srcId="{C77EBA31-B17C-4408-984F-A7D082DF0DEA}" destId="{940CDCA5-1D6C-45A3-8D58-F679F16DC67C}" srcOrd="1" destOrd="0" presId="urn:microsoft.com/office/officeart/2005/8/layout/orgChart1"/>
    <dgm:cxn modelId="{278830A6-2778-463F-B13A-8953B0EB4868}" type="presParOf" srcId="{C77EBA31-B17C-4408-984F-A7D082DF0DEA}" destId="{659D78BF-0D78-4E5C-A878-25BF267A30E0}" srcOrd="2" destOrd="0" presId="urn:microsoft.com/office/officeart/2005/8/layout/orgChart1"/>
    <dgm:cxn modelId="{2281B0A7-C570-48D3-B49F-EA29C1981D71}" type="presParOf" srcId="{659D78BF-0D78-4E5C-A878-25BF267A30E0}" destId="{72E1E9BC-E71E-4D6D-B41D-68296ED5E49D}" srcOrd="0" destOrd="0" presId="urn:microsoft.com/office/officeart/2005/8/layout/orgChart1"/>
    <dgm:cxn modelId="{76A98459-6E49-4862-801F-23B3AEE8B23C}" type="presParOf" srcId="{659D78BF-0D78-4E5C-A878-25BF267A30E0}" destId="{B103D82C-0047-47A9-8BB0-7D5E261218E4}" srcOrd="1" destOrd="0" presId="urn:microsoft.com/office/officeart/2005/8/layout/orgChart1"/>
    <dgm:cxn modelId="{AC1331B3-C725-4A1E-80B2-BB8CAB0E5C6C}" type="presParOf" srcId="{B103D82C-0047-47A9-8BB0-7D5E261218E4}" destId="{64B202BF-6587-4172-99A6-EF4041FE88F3}" srcOrd="0" destOrd="0" presId="urn:microsoft.com/office/officeart/2005/8/layout/orgChart1"/>
    <dgm:cxn modelId="{99578B69-8208-4F68-9069-614EBA77A2E0}" type="presParOf" srcId="{64B202BF-6587-4172-99A6-EF4041FE88F3}" destId="{2F94418B-2777-47B9-9DB6-9D621F8E7881}" srcOrd="0" destOrd="0" presId="urn:microsoft.com/office/officeart/2005/8/layout/orgChart1"/>
    <dgm:cxn modelId="{F752FF39-E3E7-453F-A3F3-3FB7C648D346}" type="presParOf" srcId="{64B202BF-6587-4172-99A6-EF4041FE88F3}" destId="{C946AAF8-6776-4C2E-B46A-F92AE8C7F674}" srcOrd="1" destOrd="0" presId="urn:microsoft.com/office/officeart/2005/8/layout/orgChart1"/>
    <dgm:cxn modelId="{2E38B2B9-9E8E-45D9-9ADE-1DD0A53F65A8}" type="presParOf" srcId="{B103D82C-0047-47A9-8BB0-7D5E261218E4}" destId="{85EE4A9B-2991-4430-B278-AEF126F8C123}" srcOrd="1" destOrd="0" presId="urn:microsoft.com/office/officeart/2005/8/layout/orgChart1"/>
    <dgm:cxn modelId="{A89ECF3C-F439-4A77-99B1-3481662118EC}" type="presParOf" srcId="{B103D82C-0047-47A9-8BB0-7D5E261218E4}" destId="{D030B11C-8CD3-4EAE-B5C9-3C4EA82CC133}" srcOrd="2" destOrd="0" presId="urn:microsoft.com/office/officeart/2005/8/layout/orgChart1"/>
    <dgm:cxn modelId="{490FD158-7D91-4B9A-8DC4-53E35772495B}" type="presParOf" srcId="{659D78BF-0D78-4E5C-A878-25BF267A30E0}" destId="{E69BC95E-C32D-48ED-9EB4-4B0185149FDC}" srcOrd="2" destOrd="0" presId="urn:microsoft.com/office/officeart/2005/8/layout/orgChart1"/>
    <dgm:cxn modelId="{1EB74F91-45AF-4638-BF6A-2653F9FEE0B8}" type="presParOf" srcId="{659D78BF-0D78-4E5C-A878-25BF267A30E0}" destId="{10C54CC6-88A9-427A-96A4-6666763173D4}" srcOrd="3" destOrd="0" presId="urn:microsoft.com/office/officeart/2005/8/layout/orgChart1"/>
    <dgm:cxn modelId="{EC0BC04D-59D5-4AA2-8E5F-BAAE049E7D8C}" type="presParOf" srcId="{10C54CC6-88A9-427A-96A4-6666763173D4}" destId="{D26135FE-3873-40F9-B814-9A27CB499E89}" srcOrd="0" destOrd="0" presId="urn:microsoft.com/office/officeart/2005/8/layout/orgChart1"/>
    <dgm:cxn modelId="{CCBAC0C9-1027-4175-8B2C-4ECF2D061536}" type="presParOf" srcId="{D26135FE-3873-40F9-B814-9A27CB499E89}" destId="{BB57DCFF-C1BF-47AF-8E15-734BF901609E}" srcOrd="0" destOrd="0" presId="urn:microsoft.com/office/officeart/2005/8/layout/orgChart1"/>
    <dgm:cxn modelId="{A8684635-CB9E-4754-8CBC-238D510B0531}" type="presParOf" srcId="{D26135FE-3873-40F9-B814-9A27CB499E89}" destId="{996FFA7C-4EEA-4AC9-BDB5-8719CD2DA87D}" srcOrd="1" destOrd="0" presId="urn:microsoft.com/office/officeart/2005/8/layout/orgChart1"/>
    <dgm:cxn modelId="{24A86987-7425-409F-80EC-1B27B700ACA3}" type="presParOf" srcId="{10C54CC6-88A9-427A-96A4-6666763173D4}" destId="{442A1117-6F47-49BC-BAC8-F8295B15E26B}" srcOrd="1" destOrd="0" presId="urn:microsoft.com/office/officeart/2005/8/layout/orgChart1"/>
    <dgm:cxn modelId="{0C94797E-66C7-4790-9F09-6F1183C277BC}" type="presParOf" srcId="{10C54CC6-88A9-427A-96A4-6666763173D4}" destId="{FB335B46-22E0-4407-BB01-276D06E29C7B}" srcOrd="2" destOrd="0" presId="urn:microsoft.com/office/officeart/2005/8/layout/orgChart1"/>
    <dgm:cxn modelId="{CE785B17-B93B-4614-AF19-C111702CF1E3}" type="presParOf" srcId="{659D78BF-0D78-4E5C-A878-25BF267A30E0}" destId="{46981305-73F6-4158-A55D-8E77E51C060E}" srcOrd="4" destOrd="0" presId="urn:microsoft.com/office/officeart/2005/8/layout/orgChart1"/>
    <dgm:cxn modelId="{A52A9DCE-AEA8-484B-B660-6BCAC8A95B7D}" type="presParOf" srcId="{659D78BF-0D78-4E5C-A878-25BF267A30E0}" destId="{B3679E22-1B95-426B-8A44-07CEBFC212BE}" srcOrd="5" destOrd="0" presId="urn:microsoft.com/office/officeart/2005/8/layout/orgChart1"/>
    <dgm:cxn modelId="{428B5F93-15AC-4914-B796-6807628730CA}" type="presParOf" srcId="{B3679E22-1B95-426B-8A44-07CEBFC212BE}" destId="{DA386D4F-FBCF-4E81-ABAE-67D1E8EE4C17}" srcOrd="0" destOrd="0" presId="urn:microsoft.com/office/officeart/2005/8/layout/orgChart1"/>
    <dgm:cxn modelId="{41ED8F9E-BBE3-42A6-AF33-48AF0FE28908}" type="presParOf" srcId="{DA386D4F-FBCF-4E81-ABAE-67D1E8EE4C17}" destId="{B3A96158-F47D-4EB1-B43E-7464FB608EE5}" srcOrd="0" destOrd="0" presId="urn:microsoft.com/office/officeart/2005/8/layout/orgChart1"/>
    <dgm:cxn modelId="{0D43B42C-72D9-4F8D-981C-5780BFE53918}" type="presParOf" srcId="{DA386D4F-FBCF-4E81-ABAE-67D1E8EE4C17}" destId="{D881FDBD-7C34-4DB0-9342-2770E51723AF}" srcOrd="1" destOrd="0" presId="urn:microsoft.com/office/officeart/2005/8/layout/orgChart1"/>
    <dgm:cxn modelId="{1088229F-4953-4A6B-BF12-1BE5472317C3}" type="presParOf" srcId="{B3679E22-1B95-426B-8A44-07CEBFC212BE}" destId="{50256CEC-C215-469A-BBB6-D642EC1C5307}" srcOrd="1" destOrd="0" presId="urn:microsoft.com/office/officeart/2005/8/layout/orgChart1"/>
    <dgm:cxn modelId="{3035DA79-7516-4AF6-87C7-40F8A50E74FF}" type="presParOf" srcId="{B3679E22-1B95-426B-8A44-07CEBFC212BE}" destId="{92D16CFE-E62F-4F1A-81B1-CA39C89FC30E}" srcOrd="2" destOrd="0" presId="urn:microsoft.com/office/officeart/2005/8/layout/orgChart1"/>
    <dgm:cxn modelId="{BCC0305E-053A-479E-8C9D-8D8C34235418}" type="presParOf" srcId="{659D78BF-0D78-4E5C-A878-25BF267A30E0}" destId="{964FAA32-DCD6-4AE4-B4DD-BB90B8279EB6}" srcOrd="6" destOrd="0" presId="urn:microsoft.com/office/officeart/2005/8/layout/orgChart1"/>
    <dgm:cxn modelId="{2501BEA0-6054-4E23-BBBD-29F8739BE4CE}" type="presParOf" srcId="{659D78BF-0D78-4E5C-A878-25BF267A30E0}" destId="{0E7369FA-AE5D-4FBC-868C-8AA49F1AEEA4}" srcOrd="7" destOrd="0" presId="urn:microsoft.com/office/officeart/2005/8/layout/orgChart1"/>
    <dgm:cxn modelId="{F5F3D1D0-F915-4BF7-B730-15F89BBB89FF}" type="presParOf" srcId="{0E7369FA-AE5D-4FBC-868C-8AA49F1AEEA4}" destId="{78C0DD4D-52EF-46A9-8A96-53B1EDA127CB}" srcOrd="0" destOrd="0" presId="urn:microsoft.com/office/officeart/2005/8/layout/orgChart1"/>
    <dgm:cxn modelId="{E9BB1581-A756-43B7-8782-179309789C58}" type="presParOf" srcId="{78C0DD4D-52EF-46A9-8A96-53B1EDA127CB}" destId="{02707E4F-D68E-4757-AEE9-04A9E7121B5F}" srcOrd="0" destOrd="0" presId="urn:microsoft.com/office/officeart/2005/8/layout/orgChart1"/>
    <dgm:cxn modelId="{72A7F185-0CF5-406B-9A0E-F78A9663ED52}" type="presParOf" srcId="{78C0DD4D-52EF-46A9-8A96-53B1EDA127CB}" destId="{4D8E3952-BDC8-4422-AF91-17EA2434A038}" srcOrd="1" destOrd="0" presId="urn:microsoft.com/office/officeart/2005/8/layout/orgChart1"/>
    <dgm:cxn modelId="{AABA7A5D-51F0-47B0-BD8F-D67FB0B9DD07}" type="presParOf" srcId="{0E7369FA-AE5D-4FBC-868C-8AA49F1AEEA4}" destId="{282BE1A1-65BD-41B0-8E79-7035FFB6B230}" srcOrd="1" destOrd="0" presId="urn:microsoft.com/office/officeart/2005/8/layout/orgChart1"/>
    <dgm:cxn modelId="{3BAFF0D0-89D5-4348-ADF0-D73F50C5A03F}" type="presParOf" srcId="{0E7369FA-AE5D-4FBC-868C-8AA49F1AEEA4}" destId="{35E8B2D6-35FE-4FAE-A065-AB3DE66FF75A}" srcOrd="2" destOrd="0" presId="urn:microsoft.com/office/officeart/2005/8/layout/orgChart1"/>
    <dgm:cxn modelId="{C16C0A3C-699D-467E-AD9D-C1F8A1F9D0A4}" type="presParOf" srcId="{CF67ADD1-7149-437D-B940-8CBF13B5A858}" destId="{03D2014E-7F68-4DE7-8BF8-2A440B9518E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432896F-0270-4291-9FD2-F9C6E15EA528}" type="doc">
      <dgm:prSet loTypeId="urn:microsoft.com/office/officeart/2005/8/layout/arrow6" loCatId="relationship" qsTypeId="urn:microsoft.com/office/officeart/2005/8/quickstyle/simple1" qsCatId="simple" csTypeId="urn:microsoft.com/office/officeart/2005/8/colors/accent1_2" csCatId="accent1" phldr="1"/>
      <dgm:spPr/>
      <dgm:t>
        <a:bodyPr/>
        <a:lstStyle/>
        <a:p>
          <a:endParaRPr lang="en-IN"/>
        </a:p>
      </dgm:t>
    </dgm:pt>
    <dgm:pt modelId="{209B0927-9E88-43C6-ADC7-E0FEC180CCC0}">
      <dgm:prSet phldrT="[Text]" custT="1"/>
      <dgm:spPr/>
      <dgm:t>
        <a:bodyPr/>
        <a:lstStyle/>
        <a:p>
          <a:r>
            <a:rPr lang="en-GB" sz="1000" b="1" dirty="0">
              <a:solidFill>
                <a:schemeClr val="tx1"/>
              </a:solidFill>
            </a:rPr>
            <a:t>SWOT Analysis of MedAssist</a:t>
          </a:r>
          <a:endParaRPr lang="en-IN" sz="1000" b="1" dirty="0">
            <a:solidFill>
              <a:schemeClr val="tx1"/>
            </a:solidFill>
          </a:endParaRPr>
        </a:p>
      </dgm:t>
    </dgm:pt>
    <dgm:pt modelId="{2C8B2C79-3C3A-42AE-9DB1-CF57FACDC742}" type="parTrans" cxnId="{05D3A5A4-809F-4EAB-AB8D-993897E3F784}">
      <dgm:prSet/>
      <dgm:spPr/>
      <dgm:t>
        <a:bodyPr/>
        <a:lstStyle/>
        <a:p>
          <a:endParaRPr lang="en-IN"/>
        </a:p>
      </dgm:t>
    </dgm:pt>
    <dgm:pt modelId="{A5896EE9-2FE9-4605-8F6B-EE0021CBEB7B}" type="sibTrans" cxnId="{05D3A5A4-809F-4EAB-AB8D-993897E3F784}">
      <dgm:prSet/>
      <dgm:spPr/>
      <dgm:t>
        <a:bodyPr/>
        <a:lstStyle/>
        <a:p>
          <a:endParaRPr lang="en-IN"/>
        </a:p>
      </dgm:t>
    </dgm:pt>
    <dgm:pt modelId="{66E3EE88-73A2-4E3A-89FB-030D885CBDB8}">
      <dgm:prSet phldrT="[Text]" custT="1"/>
      <dgm:spPr/>
      <dgm:t>
        <a:bodyPr/>
        <a:lstStyle/>
        <a:p>
          <a:r>
            <a:rPr lang="en-GB" sz="1000" b="1" dirty="0">
              <a:solidFill>
                <a:schemeClr val="tx1"/>
              </a:solidFill>
            </a:rPr>
            <a:t>Competitor Analysis</a:t>
          </a:r>
          <a:endParaRPr lang="en-IN" sz="1000" b="1" dirty="0">
            <a:solidFill>
              <a:schemeClr val="tx1"/>
            </a:solidFill>
          </a:endParaRPr>
        </a:p>
      </dgm:t>
    </dgm:pt>
    <dgm:pt modelId="{D38B4CA4-E2A5-468C-A511-9B90EDBA6D3F}" type="parTrans" cxnId="{61CCAD9E-E11D-4136-87F2-F118F018A075}">
      <dgm:prSet/>
      <dgm:spPr/>
      <dgm:t>
        <a:bodyPr/>
        <a:lstStyle/>
        <a:p>
          <a:endParaRPr lang="en-IN"/>
        </a:p>
      </dgm:t>
    </dgm:pt>
    <dgm:pt modelId="{97E74656-6215-4F05-89F0-4D5CE5B79306}" type="sibTrans" cxnId="{61CCAD9E-E11D-4136-87F2-F118F018A075}">
      <dgm:prSet/>
      <dgm:spPr/>
      <dgm:t>
        <a:bodyPr/>
        <a:lstStyle/>
        <a:p>
          <a:endParaRPr lang="en-IN"/>
        </a:p>
      </dgm:t>
    </dgm:pt>
    <dgm:pt modelId="{E214E9B4-5B79-4B88-AF9C-1D69C4DD541C}" type="pres">
      <dgm:prSet presAssocID="{C432896F-0270-4291-9FD2-F9C6E15EA528}" presName="compositeShape" presStyleCnt="0">
        <dgm:presLayoutVars>
          <dgm:chMax val="2"/>
          <dgm:dir/>
          <dgm:resizeHandles val="exact"/>
        </dgm:presLayoutVars>
      </dgm:prSet>
      <dgm:spPr/>
    </dgm:pt>
    <dgm:pt modelId="{8BF12106-9154-418B-8A90-19F9174EEC19}" type="pres">
      <dgm:prSet presAssocID="{C432896F-0270-4291-9FD2-F9C6E15EA528}" presName="ribbon" presStyleLbl="node1" presStyleIdx="0" presStyleCnt="1"/>
      <dgm:spPr>
        <a:solidFill>
          <a:schemeClr val="accent6">
            <a:lumMod val="60000"/>
            <a:lumOff val="40000"/>
          </a:schemeClr>
        </a:solidFill>
        <a:ln>
          <a:solidFill>
            <a:schemeClr val="tx1">
              <a:lumMod val="85000"/>
              <a:lumOff val="15000"/>
            </a:schemeClr>
          </a:solidFill>
        </a:ln>
      </dgm:spPr>
    </dgm:pt>
    <dgm:pt modelId="{D83E0DF6-ED16-4FE3-9C59-4169E8F931B8}" type="pres">
      <dgm:prSet presAssocID="{C432896F-0270-4291-9FD2-F9C6E15EA528}" presName="leftArrowText" presStyleLbl="node1" presStyleIdx="0" presStyleCnt="1">
        <dgm:presLayoutVars>
          <dgm:chMax val="0"/>
          <dgm:bulletEnabled val="1"/>
        </dgm:presLayoutVars>
      </dgm:prSet>
      <dgm:spPr/>
    </dgm:pt>
    <dgm:pt modelId="{EBC93DB8-37E8-4AB6-88E8-8A32C21FC27F}" type="pres">
      <dgm:prSet presAssocID="{C432896F-0270-4291-9FD2-F9C6E15EA528}" presName="rightArrowText" presStyleLbl="node1" presStyleIdx="0" presStyleCnt="1">
        <dgm:presLayoutVars>
          <dgm:chMax val="0"/>
          <dgm:bulletEnabled val="1"/>
        </dgm:presLayoutVars>
      </dgm:prSet>
      <dgm:spPr/>
    </dgm:pt>
  </dgm:ptLst>
  <dgm:cxnLst>
    <dgm:cxn modelId="{CB09E541-52E6-41B4-AA5A-F1BAB7F01F66}" type="presOf" srcId="{209B0927-9E88-43C6-ADC7-E0FEC180CCC0}" destId="{D83E0DF6-ED16-4FE3-9C59-4169E8F931B8}" srcOrd="0" destOrd="0" presId="urn:microsoft.com/office/officeart/2005/8/layout/arrow6"/>
    <dgm:cxn modelId="{61CCAD9E-E11D-4136-87F2-F118F018A075}" srcId="{C432896F-0270-4291-9FD2-F9C6E15EA528}" destId="{66E3EE88-73A2-4E3A-89FB-030D885CBDB8}" srcOrd="1" destOrd="0" parTransId="{D38B4CA4-E2A5-468C-A511-9B90EDBA6D3F}" sibTransId="{97E74656-6215-4F05-89F0-4D5CE5B79306}"/>
    <dgm:cxn modelId="{05D3A5A4-809F-4EAB-AB8D-993897E3F784}" srcId="{C432896F-0270-4291-9FD2-F9C6E15EA528}" destId="{209B0927-9E88-43C6-ADC7-E0FEC180CCC0}" srcOrd="0" destOrd="0" parTransId="{2C8B2C79-3C3A-42AE-9DB1-CF57FACDC742}" sibTransId="{A5896EE9-2FE9-4605-8F6B-EE0021CBEB7B}"/>
    <dgm:cxn modelId="{DC7846E8-5A57-470B-8E1E-C3BC4F7447DB}" type="presOf" srcId="{C432896F-0270-4291-9FD2-F9C6E15EA528}" destId="{E214E9B4-5B79-4B88-AF9C-1D69C4DD541C}" srcOrd="0" destOrd="0" presId="urn:microsoft.com/office/officeart/2005/8/layout/arrow6"/>
    <dgm:cxn modelId="{E6237CE9-4934-4A65-BFDC-86C22C6C49DB}" type="presOf" srcId="{66E3EE88-73A2-4E3A-89FB-030D885CBDB8}" destId="{EBC93DB8-37E8-4AB6-88E8-8A32C21FC27F}" srcOrd="0" destOrd="0" presId="urn:microsoft.com/office/officeart/2005/8/layout/arrow6"/>
    <dgm:cxn modelId="{22876A53-0EC0-464F-A793-8932FA90561F}" type="presParOf" srcId="{E214E9B4-5B79-4B88-AF9C-1D69C4DD541C}" destId="{8BF12106-9154-418B-8A90-19F9174EEC19}" srcOrd="0" destOrd="0" presId="urn:microsoft.com/office/officeart/2005/8/layout/arrow6"/>
    <dgm:cxn modelId="{46D78F4A-C943-40C5-BCBF-E61BE440F4A6}" type="presParOf" srcId="{E214E9B4-5B79-4B88-AF9C-1D69C4DD541C}" destId="{D83E0DF6-ED16-4FE3-9C59-4169E8F931B8}" srcOrd="1" destOrd="0" presId="urn:microsoft.com/office/officeart/2005/8/layout/arrow6"/>
    <dgm:cxn modelId="{9E7D9E59-7A64-4AFA-95EE-4CC605294F65}" type="presParOf" srcId="{E214E9B4-5B79-4B88-AF9C-1D69C4DD541C}" destId="{EBC93DB8-37E8-4AB6-88E8-8A32C21FC27F}" srcOrd="2" destOrd="0" presId="urn:microsoft.com/office/officeart/2005/8/layout/arrow6"/>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4FAA32-DCD6-4AE4-B4DD-BB90B8279EB6}">
      <dsp:nvSpPr>
        <dsp:cNvPr id="0" name=""/>
        <dsp:cNvSpPr/>
      </dsp:nvSpPr>
      <dsp:spPr>
        <a:xfrm>
          <a:off x="4062023" y="1313150"/>
          <a:ext cx="113851" cy="1268629"/>
        </a:xfrm>
        <a:custGeom>
          <a:avLst/>
          <a:gdLst/>
          <a:ahLst/>
          <a:cxnLst/>
          <a:rect l="0" t="0" r="0" b="0"/>
          <a:pathLst>
            <a:path>
              <a:moveTo>
                <a:pt x="0" y="0"/>
              </a:moveTo>
              <a:lnTo>
                <a:pt x="0" y="1268629"/>
              </a:lnTo>
              <a:lnTo>
                <a:pt x="113851" y="126862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6981305-73F6-4158-A55D-8E77E51C060E}">
      <dsp:nvSpPr>
        <dsp:cNvPr id="0" name=""/>
        <dsp:cNvSpPr/>
      </dsp:nvSpPr>
      <dsp:spPr>
        <a:xfrm>
          <a:off x="3948172" y="1313150"/>
          <a:ext cx="113851" cy="1268629"/>
        </a:xfrm>
        <a:custGeom>
          <a:avLst/>
          <a:gdLst/>
          <a:ahLst/>
          <a:cxnLst/>
          <a:rect l="0" t="0" r="0" b="0"/>
          <a:pathLst>
            <a:path>
              <a:moveTo>
                <a:pt x="113851" y="0"/>
              </a:moveTo>
              <a:lnTo>
                <a:pt x="113851" y="1268629"/>
              </a:lnTo>
              <a:lnTo>
                <a:pt x="0" y="1268629"/>
              </a:lnTo>
            </a:path>
          </a:pathLst>
        </a:custGeom>
        <a:noFill/>
        <a:ln w="12700" cap="flat" cmpd="sng" algn="ctr">
          <a:solidFill>
            <a:schemeClr val="tx1">
              <a:lumMod val="85000"/>
              <a:lumOff val="15000"/>
            </a:schemeClr>
          </a:solidFill>
          <a:prstDash val="solid"/>
          <a:miter lim="800000"/>
        </a:ln>
        <a:effectLst/>
      </dsp:spPr>
      <dsp:style>
        <a:lnRef idx="2">
          <a:scrgbClr r="0" g="0" b="0"/>
        </a:lnRef>
        <a:fillRef idx="0">
          <a:scrgbClr r="0" g="0" b="0"/>
        </a:fillRef>
        <a:effectRef idx="0">
          <a:scrgbClr r="0" g="0" b="0"/>
        </a:effectRef>
        <a:fontRef idx="minor"/>
      </dsp:style>
    </dsp:sp>
    <dsp:sp modelId="{E69BC95E-C32D-48ED-9EB4-4B0185149FDC}">
      <dsp:nvSpPr>
        <dsp:cNvPr id="0" name=""/>
        <dsp:cNvSpPr/>
      </dsp:nvSpPr>
      <dsp:spPr>
        <a:xfrm>
          <a:off x="4016303" y="1313150"/>
          <a:ext cx="91440" cy="499091"/>
        </a:xfrm>
        <a:custGeom>
          <a:avLst/>
          <a:gdLst/>
          <a:ahLst/>
          <a:cxnLst/>
          <a:rect l="0" t="0" r="0" b="0"/>
          <a:pathLst>
            <a:path>
              <a:moveTo>
                <a:pt x="45720" y="0"/>
              </a:moveTo>
              <a:lnTo>
                <a:pt x="45720" y="499091"/>
              </a:lnTo>
              <a:lnTo>
                <a:pt x="113065" y="4990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2E1E9BC-E71E-4D6D-B41D-68296ED5E49D}">
      <dsp:nvSpPr>
        <dsp:cNvPr id="0" name=""/>
        <dsp:cNvSpPr/>
      </dsp:nvSpPr>
      <dsp:spPr>
        <a:xfrm>
          <a:off x="3948172" y="1313150"/>
          <a:ext cx="113851" cy="498777"/>
        </a:xfrm>
        <a:custGeom>
          <a:avLst/>
          <a:gdLst/>
          <a:ahLst/>
          <a:cxnLst/>
          <a:rect l="0" t="0" r="0" b="0"/>
          <a:pathLst>
            <a:path>
              <a:moveTo>
                <a:pt x="113851" y="0"/>
              </a:moveTo>
              <a:lnTo>
                <a:pt x="113851" y="498777"/>
              </a:lnTo>
              <a:lnTo>
                <a:pt x="0" y="498777"/>
              </a:lnTo>
            </a:path>
          </a:pathLst>
        </a:custGeom>
        <a:noFill/>
        <a:ln w="12700" cap="flat" cmpd="sng" algn="ctr">
          <a:solidFill>
            <a:schemeClr val="tx1">
              <a:lumMod val="85000"/>
              <a:lumOff val="15000"/>
            </a:schemeClr>
          </a:solidFill>
          <a:prstDash val="solid"/>
          <a:miter lim="800000"/>
        </a:ln>
        <a:effectLst/>
      </dsp:spPr>
      <dsp:style>
        <a:lnRef idx="2">
          <a:scrgbClr r="0" g="0" b="0"/>
        </a:lnRef>
        <a:fillRef idx="0">
          <a:scrgbClr r="0" g="0" b="0"/>
        </a:fillRef>
        <a:effectRef idx="0">
          <a:scrgbClr r="0" g="0" b="0"/>
        </a:effectRef>
        <a:fontRef idx="minor"/>
      </dsp:style>
    </dsp:sp>
    <dsp:sp modelId="{2496B4EA-5822-491A-BD95-4D09BDEB05E7}">
      <dsp:nvSpPr>
        <dsp:cNvPr id="0" name=""/>
        <dsp:cNvSpPr/>
      </dsp:nvSpPr>
      <dsp:spPr>
        <a:xfrm>
          <a:off x="2750022" y="543298"/>
          <a:ext cx="1312001" cy="227702"/>
        </a:xfrm>
        <a:custGeom>
          <a:avLst/>
          <a:gdLst/>
          <a:ahLst/>
          <a:cxnLst/>
          <a:rect l="0" t="0" r="0" b="0"/>
          <a:pathLst>
            <a:path>
              <a:moveTo>
                <a:pt x="0" y="0"/>
              </a:moveTo>
              <a:lnTo>
                <a:pt x="0" y="113851"/>
              </a:lnTo>
              <a:lnTo>
                <a:pt x="1312001" y="113851"/>
              </a:lnTo>
              <a:lnTo>
                <a:pt x="1312001" y="227702"/>
              </a:lnTo>
            </a:path>
          </a:pathLst>
        </a:custGeom>
        <a:noFill/>
        <a:ln w="12700" cap="flat" cmpd="sng" algn="ctr">
          <a:solidFill>
            <a:schemeClr val="tx1">
              <a:lumMod val="85000"/>
              <a:lumOff val="15000"/>
            </a:schemeClr>
          </a:solidFill>
          <a:prstDash val="solid"/>
          <a:miter lim="800000"/>
        </a:ln>
        <a:effectLst/>
      </dsp:spPr>
      <dsp:style>
        <a:lnRef idx="2">
          <a:scrgbClr r="0" g="0" b="0"/>
        </a:lnRef>
        <a:fillRef idx="0">
          <a:scrgbClr r="0" g="0" b="0"/>
        </a:fillRef>
        <a:effectRef idx="0">
          <a:scrgbClr r="0" g="0" b="0"/>
        </a:effectRef>
        <a:fontRef idx="minor"/>
      </dsp:style>
    </dsp:sp>
    <dsp:sp modelId="{9DFF1002-C561-4389-AF25-BCA2FAEECF1F}">
      <dsp:nvSpPr>
        <dsp:cNvPr id="0" name=""/>
        <dsp:cNvSpPr/>
      </dsp:nvSpPr>
      <dsp:spPr>
        <a:xfrm>
          <a:off x="1438021" y="1313150"/>
          <a:ext cx="108440" cy="1269778"/>
        </a:xfrm>
        <a:custGeom>
          <a:avLst/>
          <a:gdLst/>
          <a:ahLst/>
          <a:cxnLst/>
          <a:rect l="0" t="0" r="0" b="0"/>
          <a:pathLst>
            <a:path>
              <a:moveTo>
                <a:pt x="0" y="0"/>
              </a:moveTo>
              <a:lnTo>
                <a:pt x="0" y="1269778"/>
              </a:lnTo>
              <a:lnTo>
                <a:pt x="108440" y="126977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F6AEA38-24B6-475F-A688-97B47AF5F2A0}">
      <dsp:nvSpPr>
        <dsp:cNvPr id="0" name=""/>
        <dsp:cNvSpPr/>
      </dsp:nvSpPr>
      <dsp:spPr>
        <a:xfrm>
          <a:off x="1322760" y="1313150"/>
          <a:ext cx="115260" cy="1265490"/>
        </a:xfrm>
        <a:custGeom>
          <a:avLst/>
          <a:gdLst/>
          <a:ahLst/>
          <a:cxnLst/>
          <a:rect l="0" t="0" r="0" b="0"/>
          <a:pathLst>
            <a:path>
              <a:moveTo>
                <a:pt x="115260" y="0"/>
              </a:moveTo>
              <a:lnTo>
                <a:pt x="115260" y="1265490"/>
              </a:lnTo>
              <a:lnTo>
                <a:pt x="0" y="1265490"/>
              </a:lnTo>
            </a:path>
          </a:pathLst>
        </a:custGeom>
        <a:noFill/>
        <a:ln w="12700" cap="flat" cmpd="sng" algn="ctr">
          <a:solidFill>
            <a:schemeClr val="tx1">
              <a:lumMod val="85000"/>
              <a:lumOff val="15000"/>
            </a:schemeClr>
          </a:solidFill>
          <a:prstDash val="solid"/>
          <a:miter lim="800000"/>
        </a:ln>
        <a:effectLst/>
      </dsp:spPr>
      <dsp:style>
        <a:lnRef idx="2">
          <a:scrgbClr r="0" g="0" b="0"/>
        </a:lnRef>
        <a:fillRef idx="0">
          <a:scrgbClr r="0" g="0" b="0"/>
        </a:fillRef>
        <a:effectRef idx="0">
          <a:scrgbClr r="0" g="0" b="0"/>
        </a:effectRef>
        <a:fontRef idx="minor"/>
      </dsp:style>
    </dsp:sp>
    <dsp:sp modelId="{6C7AEAF0-BCFF-4ED7-A872-78D93BBF79C2}">
      <dsp:nvSpPr>
        <dsp:cNvPr id="0" name=""/>
        <dsp:cNvSpPr/>
      </dsp:nvSpPr>
      <dsp:spPr>
        <a:xfrm>
          <a:off x="1438021" y="1313150"/>
          <a:ext cx="113851" cy="498777"/>
        </a:xfrm>
        <a:custGeom>
          <a:avLst/>
          <a:gdLst/>
          <a:ahLst/>
          <a:cxnLst/>
          <a:rect l="0" t="0" r="0" b="0"/>
          <a:pathLst>
            <a:path>
              <a:moveTo>
                <a:pt x="0" y="0"/>
              </a:moveTo>
              <a:lnTo>
                <a:pt x="0" y="498777"/>
              </a:lnTo>
              <a:lnTo>
                <a:pt x="113851" y="49877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3B1ACE3-8770-4E44-90BE-C2DA38B60ACB}">
      <dsp:nvSpPr>
        <dsp:cNvPr id="0" name=""/>
        <dsp:cNvSpPr/>
      </dsp:nvSpPr>
      <dsp:spPr>
        <a:xfrm>
          <a:off x="1324170" y="1313150"/>
          <a:ext cx="113851" cy="498777"/>
        </a:xfrm>
        <a:custGeom>
          <a:avLst/>
          <a:gdLst/>
          <a:ahLst/>
          <a:cxnLst/>
          <a:rect l="0" t="0" r="0" b="0"/>
          <a:pathLst>
            <a:path>
              <a:moveTo>
                <a:pt x="113851" y="0"/>
              </a:moveTo>
              <a:lnTo>
                <a:pt x="113851" y="498777"/>
              </a:lnTo>
              <a:lnTo>
                <a:pt x="0" y="498777"/>
              </a:lnTo>
            </a:path>
          </a:pathLst>
        </a:custGeom>
        <a:noFill/>
        <a:ln w="12700" cap="flat" cmpd="sng" algn="ctr">
          <a:solidFill>
            <a:schemeClr val="tx1">
              <a:lumMod val="85000"/>
              <a:lumOff val="15000"/>
            </a:schemeClr>
          </a:solidFill>
          <a:prstDash val="solid"/>
          <a:miter lim="800000"/>
        </a:ln>
        <a:effectLst/>
      </dsp:spPr>
      <dsp:style>
        <a:lnRef idx="2">
          <a:scrgbClr r="0" g="0" b="0"/>
        </a:lnRef>
        <a:fillRef idx="0">
          <a:scrgbClr r="0" g="0" b="0"/>
        </a:fillRef>
        <a:effectRef idx="0">
          <a:scrgbClr r="0" g="0" b="0"/>
        </a:effectRef>
        <a:fontRef idx="minor"/>
      </dsp:style>
    </dsp:sp>
    <dsp:sp modelId="{F4B757DB-D4E4-4095-9C6A-8549F2CB2C88}">
      <dsp:nvSpPr>
        <dsp:cNvPr id="0" name=""/>
        <dsp:cNvSpPr/>
      </dsp:nvSpPr>
      <dsp:spPr>
        <a:xfrm>
          <a:off x="1438021" y="543298"/>
          <a:ext cx="1312001" cy="227702"/>
        </a:xfrm>
        <a:custGeom>
          <a:avLst/>
          <a:gdLst/>
          <a:ahLst/>
          <a:cxnLst/>
          <a:rect l="0" t="0" r="0" b="0"/>
          <a:pathLst>
            <a:path>
              <a:moveTo>
                <a:pt x="1312001" y="0"/>
              </a:moveTo>
              <a:lnTo>
                <a:pt x="1312001" y="113851"/>
              </a:lnTo>
              <a:lnTo>
                <a:pt x="0" y="113851"/>
              </a:lnTo>
              <a:lnTo>
                <a:pt x="0" y="227702"/>
              </a:lnTo>
            </a:path>
          </a:pathLst>
        </a:custGeom>
        <a:noFill/>
        <a:ln w="12700" cap="flat" cmpd="sng" algn="ctr">
          <a:solidFill>
            <a:schemeClr val="tx1">
              <a:lumMod val="85000"/>
              <a:lumOff val="15000"/>
            </a:schemeClr>
          </a:solidFill>
          <a:prstDash val="solid"/>
          <a:miter lim="800000"/>
        </a:ln>
        <a:effectLst/>
      </dsp:spPr>
      <dsp:style>
        <a:lnRef idx="2">
          <a:scrgbClr r="0" g="0" b="0"/>
        </a:lnRef>
        <a:fillRef idx="0">
          <a:scrgbClr r="0" g="0" b="0"/>
        </a:fillRef>
        <a:effectRef idx="0">
          <a:scrgbClr r="0" g="0" b="0"/>
        </a:effectRef>
        <a:fontRef idx="minor"/>
      </dsp:style>
    </dsp:sp>
    <dsp:sp modelId="{E37D7E09-FF9F-4F03-87D5-05C7FD7E4626}">
      <dsp:nvSpPr>
        <dsp:cNvPr id="0" name=""/>
        <dsp:cNvSpPr/>
      </dsp:nvSpPr>
      <dsp:spPr>
        <a:xfrm>
          <a:off x="2207873" y="1149"/>
          <a:ext cx="1084298" cy="542149"/>
        </a:xfrm>
        <a:prstGeom prst="rect">
          <a:avLst/>
        </a:prstGeom>
        <a:solidFill>
          <a:schemeClr val="accent1">
            <a:hueOff val="0"/>
            <a:satOff val="0"/>
            <a:lumOff val="0"/>
            <a:alphaOff val="0"/>
          </a:schemeClr>
        </a:solidFill>
        <a:ln w="12700" cap="flat" cmpd="sng" algn="ctr">
          <a:solidFill>
            <a:schemeClr val="tx1">
              <a:lumMod val="85000"/>
              <a:lumOff val="1500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Pain Points</a:t>
          </a:r>
          <a:endParaRPr lang="en-IN" sz="1400" kern="1200" dirty="0"/>
        </a:p>
      </dsp:txBody>
      <dsp:txXfrm>
        <a:off x="2207873" y="1149"/>
        <a:ext cx="1084298" cy="542149"/>
      </dsp:txXfrm>
    </dsp:sp>
    <dsp:sp modelId="{2A89D3A7-9609-4337-9C39-838AD761E961}">
      <dsp:nvSpPr>
        <dsp:cNvPr id="0" name=""/>
        <dsp:cNvSpPr/>
      </dsp:nvSpPr>
      <dsp:spPr>
        <a:xfrm>
          <a:off x="895872" y="771000"/>
          <a:ext cx="1084298" cy="542149"/>
        </a:xfrm>
        <a:prstGeom prst="rect">
          <a:avLst/>
        </a:prstGeom>
        <a:solidFill>
          <a:schemeClr val="accent1">
            <a:hueOff val="0"/>
            <a:satOff val="0"/>
            <a:lumOff val="0"/>
            <a:alphaOff val="0"/>
          </a:schemeClr>
        </a:solidFill>
        <a:ln w="12700" cap="flat" cmpd="sng" algn="ctr">
          <a:solidFill>
            <a:schemeClr val="tx1">
              <a:lumMod val="85000"/>
              <a:lumOff val="1500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User Issues</a:t>
          </a:r>
          <a:endParaRPr lang="en-IN" sz="1400" kern="1200" dirty="0"/>
        </a:p>
      </dsp:txBody>
      <dsp:txXfrm>
        <a:off x="895872" y="771000"/>
        <a:ext cx="1084298" cy="542149"/>
      </dsp:txXfrm>
    </dsp:sp>
    <dsp:sp modelId="{D24014D3-313B-4C40-83D8-C2F7A1267C41}">
      <dsp:nvSpPr>
        <dsp:cNvPr id="0" name=""/>
        <dsp:cNvSpPr/>
      </dsp:nvSpPr>
      <dsp:spPr>
        <a:xfrm>
          <a:off x="239871" y="1540852"/>
          <a:ext cx="1084298" cy="542149"/>
        </a:xfrm>
        <a:prstGeom prst="rect">
          <a:avLst/>
        </a:prstGeom>
        <a:solidFill>
          <a:schemeClr val="accent1">
            <a:hueOff val="0"/>
            <a:satOff val="0"/>
            <a:lumOff val="0"/>
            <a:alphaOff val="0"/>
          </a:schemeClr>
        </a:solidFill>
        <a:ln w="12700" cap="flat" cmpd="sng" algn="ctr">
          <a:solidFill>
            <a:schemeClr val="tx1">
              <a:lumMod val="85000"/>
              <a:lumOff val="1500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IN" sz="1200" kern="1200" dirty="0"/>
            <a:t>Old School Approach</a:t>
          </a:r>
        </a:p>
      </dsp:txBody>
      <dsp:txXfrm>
        <a:off x="239871" y="1540852"/>
        <a:ext cx="1084298" cy="542149"/>
      </dsp:txXfrm>
    </dsp:sp>
    <dsp:sp modelId="{BC83877D-5203-441F-AD9F-4D63721B10DB}">
      <dsp:nvSpPr>
        <dsp:cNvPr id="0" name=""/>
        <dsp:cNvSpPr/>
      </dsp:nvSpPr>
      <dsp:spPr>
        <a:xfrm>
          <a:off x="1551872" y="1540852"/>
          <a:ext cx="1084298" cy="542149"/>
        </a:xfrm>
        <a:prstGeom prst="rect">
          <a:avLst/>
        </a:prstGeom>
        <a:solidFill>
          <a:schemeClr val="accent1">
            <a:hueOff val="0"/>
            <a:satOff val="0"/>
            <a:lumOff val="0"/>
            <a:alphaOff val="0"/>
          </a:schemeClr>
        </a:solidFill>
        <a:ln w="12700" cap="flat" cmpd="sng" algn="ctr">
          <a:solidFill>
            <a:schemeClr val="tx1">
              <a:lumMod val="85000"/>
              <a:lumOff val="1500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kern="1200" dirty="0"/>
            <a:t>D</a:t>
          </a:r>
          <a:r>
            <a:rPr lang="en-IN" sz="1200" kern="1200" dirty="0"/>
            <a:t>ocuments getting lost</a:t>
          </a:r>
        </a:p>
      </dsp:txBody>
      <dsp:txXfrm>
        <a:off x="1551872" y="1540852"/>
        <a:ext cx="1084298" cy="542149"/>
      </dsp:txXfrm>
    </dsp:sp>
    <dsp:sp modelId="{00094455-FA9A-46AB-8C62-53F46AAA0986}">
      <dsp:nvSpPr>
        <dsp:cNvPr id="0" name=""/>
        <dsp:cNvSpPr/>
      </dsp:nvSpPr>
      <dsp:spPr>
        <a:xfrm>
          <a:off x="238462" y="2307565"/>
          <a:ext cx="1084298" cy="542149"/>
        </a:xfrm>
        <a:prstGeom prst="rect">
          <a:avLst/>
        </a:prstGeom>
        <a:solidFill>
          <a:schemeClr val="accent1">
            <a:hueOff val="0"/>
            <a:satOff val="0"/>
            <a:lumOff val="0"/>
            <a:alphaOff val="0"/>
          </a:schemeClr>
        </a:solidFill>
        <a:ln w="12700" cap="flat" cmpd="sng" algn="ctr">
          <a:solidFill>
            <a:schemeClr val="tx1">
              <a:lumMod val="85000"/>
              <a:lumOff val="1500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IN" sz="1200" kern="1200" dirty="0"/>
            <a:t>People forget about medicines</a:t>
          </a:r>
        </a:p>
      </dsp:txBody>
      <dsp:txXfrm>
        <a:off x="238462" y="2307565"/>
        <a:ext cx="1084298" cy="542149"/>
      </dsp:txXfrm>
    </dsp:sp>
    <dsp:sp modelId="{66BB89D6-4B21-40EE-B13C-2FF767070AE4}">
      <dsp:nvSpPr>
        <dsp:cNvPr id="0" name=""/>
        <dsp:cNvSpPr/>
      </dsp:nvSpPr>
      <dsp:spPr>
        <a:xfrm>
          <a:off x="1546462" y="2311853"/>
          <a:ext cx="1084298" cy="542149"/>
        </a:xfrm>
        <a:prstGeom prst="rect">
          <a:avLst/>
        </a:prstGeom>
        <a:solidFill>
          <a:schemeClr val="accent1">
            <a:hueOff val="0"/>
            <a:satOff val="0"/>
            <a:lumOff val="0"/>
            <a:alphaOff val="0"/>
          </a:schemeClr>
        </a:solidFill>
        <a:ln w="12700" cap="flat" cmpd="sng" algn="ctr">
          <a:solidFill>
            <a:schemeClr val="tx1">
              <a:lumMod val="85000"/>
              <a:lumOff val="1500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GB" sz="900" kern="1200" dirty="0"/>
            <a:t>P</a:t>
          </a:r>
          <a:r>
            <a:rPr lang="en-IN" sz="900" kern="1200" dirty="0"/>
            <a:t>eople want to maintain health budget but they don’t</a:t>
          </a:r>
        </a:p>
      </dsp:txBody>
      <dsp:txXfrm>
        <a:off x="1546462" y="2311853"/>
        <a:ext cx="1084298" cy="542149"/>
      </dsp:txXfrm>
    </dsp:sp>
    <dsp:sp modelId="{AA4404EE-11F6-48CE-BDBB-4DAB101029E4}">
      <dsp:nvSpPr>
        <dsp:cNvPr id="0" name=""/>
        <dsp:cNvSpPr/>
      </dsp:nvSpPr>
      <dsp:spPr>
        <a:xfrm>
          <a:off x="3519874" y="771000"/>
          <a:ext cx="1084298" cy="542149"/>
        </a:xfrm>
        <a:prstGeom prst="rect">
          <a:avLst/>
        </a:prstGeom>
        <a:solidFill>
          <a:schemeClr val="accent1">
            <a:hueOff val="0"/>
            <a:satOff val="0"/>
            <a:lumOff val="0"/>
            <a:alphaOff val="0"/>
          </a:schemeClr>
        </a:solidFill>
        <a:ln w="12700" cap="flat" cmpd="sng" algn="ctr">
          <a:solidFill>
            <a:schemeClr val="tx1">
              <a:lumMod val="85000"/>
              <a:lumOff val="1500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App Issues</a:t>
          </a:r>
          <a:endParaRPr lang="en-IN" sz="1400" kern="1200" dirty="0"/>
        </a:p>
      </dsp:txBody>
      <dsp:txXfrm>
        <a:off x="3519874" y="771000"/>
        <a:ext cx="1084298" cy="542149"/>
      </dsp:txXfrm>
    </dsp:sp>
    <dsp:sp modelId="{2F94418B-2777-47B9-9DB6-9D621F8E7881}">
      <dsp:nvSpPr>
        <dsp:cNvPr id="0" name=""/>
        <dsp:cNvSpPr/>
      </dsp:nvSpPr>
      <dsp:spPr>
        <a:xfrm>
          <a:off x="2863873" y="1540852"/>
          <a:ext cx="1084298" cy="542149"/>
        </a:xfrm>
        <a:prstGeom prst="rect">
          <a:avLst/>
        </a:prstGeom>
        <a:solidFill>
          <a:schemeClr val="accent1">
            <a:hueOff val="0"/>
            <a:satOff val="0"/>
            <a:lumOff val="0"/>
            <a:alphaOff val="0"/>
          </a:schemeClr>
        </a:solidFill>
        <a:ln w="12700" cap="flat" cmpd="sng" algn="ctr">
          <a:solidFill>
            <a:schemeClr val="tx1">
              <a:lumMod val="85000"/>
              <a:lumOff val="1500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IN" sz="1200" kern="1200" dirty="0"/>
            <a:t>Trust Issues</a:t>
          </a:r>
        </a:p>
      </dsp:txBody>
      <dsp:txXfrm>
        <a:off x="2863873" y="1540852"/>
        <a:ext cx="1084298" cy="542149"/>
      </dsp:txXfrm>
    </dsp:sp>
    <dsp:sp modelId="{BB57DCFF-C1BF-47AF-8E15-734BF901609E}">
      <dsp:nvSpPr>
        <dsp:cNvPr id="0" name=""/>
        <dsp:cNvSpPr/>
      </dsp:nvSpPr>
      <dsp:spPr>
        <a:xfrm>
          <a:off x="4129369" y="1541167"/>
          <a:ext cx="1084298" cy="542149"/>
        </a:xfrm>
        <a:prstGeom prst="rect">
          <a:avLst/>
        </a:prstGeom>
        <a:solidFill>
          <a:schemeClr val="accent1">
            <a:hueOff val="0"/>
            <a:satOff val="0"/>
            <a:lumOff val="0"/>
            <a:alphaOff val="0"/>
          </a:schemeClr>
        </a:solidFill>
        <a:ln w="12700" cap="flat" cmpd="sng" algn="ctr">
          <a:solidFill>
            <a:schemeClr val="tx1">
              <a:lumMod val="85000"/>
              <a:lumOff val="1500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App Complexity</a:t>
          </a:r>
          <a:endParaRPr lang="en-IN" sz="1200" kern="1200" dirty="0"/>
        </a:p>
      </dsp:txBody>
      <dsp:txXfrm>
        <a:off x="4129369" y="1541167"/>
        <a:ext cx="1084298" cy="542149"/>
      </dsp:txXfrm>
    </dsp:sp>
    <dsp:sp modelId="{B3A96158-F47D-4EB1-B43E-7464FB608EE5}">
      <dsp:nvSpPr>
        <dsp:cNvPr id="0" name=""/>
        <dsp:cNvSpPr/>
      </dsp:nvSpPr>
      <dsp:spPr>
        <a:xfrm>
          <a:off x="2863873" y="2310704"/>
          <a:ext cx="1084298" cy="542149"/>
        </a:xfrm>
        <a:prstGeom prst="rect">
          <a:avLst/>
        </a:prstGeom>
        <a:solidFill>
          <a:schemeClr val="accent1">
            <a:hueOff val="0"/>
            <a:satOff val="0"/>
            <a:lumOff val="0"/>
            <a:alphaOff val="0"/>
          </a:schemeClr>
        </a:solidFill>
        <a:ln w="12700" cap="flat" cmpd="sng" algn="ctr">
          <a:solidFill>
            <a:schemeClr val="tx1">
              <a:lumMod val="85000"/>
              <a:lumOff val="1500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Advertisements</a:t>
          </a:r>
          <a:endParaRPr lang="en-IN" sz="1200" kern="1200" dirty="0"/>
        </a:p>
      </dsp:txBody>
      <dsp:txXfrm>
        <a:off x="2863873" y="2310704"/>
        <a:ext cx="1084298" cy="542149"/>
      </dsp:txXfrm>
    </dsp:sp>
    <dsp:sp modelId="{02707E4F-D68E-4757-AEE9-04A9E7121B5F}">
      <dsp:nvSpPr>
        <dsp:cNvPr id="0" name=""/>
        <dsp:cNvSpPr/>
      </dsp:nvSpPr>
      <dsp:spPr>
        <a:xfrm>
          <a:off x="4175874" y="2310704"/>
          <a:ext cx="1084298" cy="542149"/>
        </a:xfrm>
        <a:prstGeom prst="rect">
          <a:avLst/>
        </a:prstGeom>
        <a:solidFill>
          <a:schemeClr val="accent1">
            <a:hueOff val="0"/>
            <a:satOff val="0"/>
            <a:lumOff val="0"/>
            <a:alphaOff val="0"/>
          </a:schemeClr>
        </a:solidFill>
        <a:ln w="12700" cap="flat" cmpd="sng" algn="ctr">
          <a:solidFill>
            <a:schemeClr val="tx1">
              <a:lumMod val="85000"/>
              <a:lumOff val="1500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Manual Intervention</a:t>
          </a:r>
          <a:endParaRPr lang="en-IN" sz="1200" kern="1200" dirty="0"/>
        </a:p>
      </dsp:txBody>
      <dsp:txXfrm>
        <a:off x="4175874" y="2310704"/>
        <a:ext cx="1084298" cy="54214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F12106-9154-418B-8A90-19F9174EEC19}">
      <dsp:nvSpPr>
        <dsp:cNvPr id="0" name=""/>
        <dsp:cNvSpPr/>
      </dsp:nvSpPr>
      <dsp:spPr>
        <a:xfrm>
          <a:off x="1217311" y="0"/>
          <a:ext cx="2845270" cy="1138108"/>
        </a:xfrm>
        <a:prstGeom prst="leftRightRibbon">
          <a:avLst/>
        </a:prstGeom>
        <a:solidFill>
          <a:schemeClr val="accent6">
            <a:lumMod val="60000"/>
            <a:lumOff val="40000"/>
          </a:schemeClr>
        </a:solidFill>
        <a:ln w="12700" cap="flat" cmpd="sng" algn="ctr">
          <a:solidFill>
            <a:schemeClr val="tx1">
              <a:lumMod val="85000"/>
              <a:lumOff val="15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3E0DF6-ED16-4FE3-9C59-4169E8F931B8}">
      <dsp:nvSpPr>
        <dsp:cNvPr id="0" name=""/>
        <dsp:cNvSpPr/>
      </dsp:nvSpPr>
      <dsp:spPr>
        <a:xfrm>
          <a:off x="1558743" y="199168"/>
          <a:ext cx="938939" cy="55767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35560" rIns="0" bIns="38100" numCol="1" spcCol="1270" anchor="ctr" anchorCtr="0">
          <a:noAutofit/>
        </a:bodyPr>
        <a:lstStyle/>
        <a:p>
          <a:pPr marL="0" lvl="0" indent="0" algn="ctr" defTabSz="444500">
            <a:lnSpc>
              <a:spcPct val="90000"/>
            </a:lnSpc>
            <a:spcBef>
              <a:spcPct val="0"/>
            </a:spcBef>
            <a:spcAft>
              <a:spcPct val="35000"/>
            </a:spcAft>
            <a:buNone/>
          </a:pPr>
          <a:r>
            <a:rPr lang="en-GB" sz="1000" b="1" kern="1200" dirty="0">
              <a:solidFill>
                <a:schemeClr val="tx1"/>
              </a:solidFill>
            </a:rPr>
            <a:t>SWOT Analysis of MedAssist</a:t>
          </a:r>
          <a:endParaRPr lang="en-IN" sz="1000" b="1" kern="1200" dirty="0">
            <a:solidFill>
              <a:schemeClr val="tx1"/>
            </a:solidFill>
          </a:endParaRPr>
        </a:p>
      </dsp:txBody>
      <dsp:txXfrm>
        <a:off x="1558743" y="199168"/>
        <a:ext cx="938939" cy="557672"/>
      </dsp:txXfrm>
    </dsp:sp>
    <dsp:sp modelId="{EBC93DB8-37E8-4AB6-88E8-8A32C21FC27F}">
      <dsp:nvSpPr>
        <dsp:cNvPr id="0" name=""/>
        <dsp:cNvSpPr/>
      </dsp:nvSpPr>
      <dsp:spPr>
        <a:xfrm>
          <a:off x="2639946" y="381266"/>
          <a:ext cx="1109655" cy="55767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35560" rIns="0" bIns="38100" numCol="1" spcCol="1270" anchor="ctr" anchorCtr="0">
          <a:noAutofit/>
        </a:bodyPr>
        <a:lstStyle/>
        <a:p>
          <a:pPr marL="0" lvl="0" indent="0" algn="ctr" defTabSz="444500">
            <a:lnSpc>
              <a:spcPct val="90000"/>
            </a:lnSpc>
            <a:spcBef>
              <a:spcPct val="0"/>
            </a:spcBef>
            <a:spcAft>
              <a:spcPct val="35000"/>
            </a:spcAft>
            <a:buNone/>
          </a:pPr>
          <a:r>
            <a:rPr lang="en-GB" sz="1000" b="1" kern="1200" dirty="0">
              <a:solidFill>
                <a:schemeClr val="tx1"/>
              </a:solidFill>
            </a:rPr>
            <a:t>Competitor Analysis</a:t>
          </a:r>
          <a:endParaRPr lang="en-IN" sz="1000" b="1" kern="1200" dirty="0">
            <a:solidFill>
              <a:schemeClr val="tx1"/>
            </a:solidFill>
          </a:endParaRPr>
        </a:p>
      </dsp:txBody>
      <dsp:txXfrm>
        <a:off x="2639946" y="381266"/>
        <a:ext cx="1109655" cy="557672"/>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6DA886-8439-43B6-B00A-F5F0DBA83303}" type="datetimeFigureOut">
              <a:rPr lang="en-IN" smtClean="0"/>
              <a:t>26-08-2021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356C88-3E35-497C-9245-8EC5DC2CBCCA}" type="slidenum">
              <a:rPr lang="en-IN" smtClean="0"/>
              <a:t>‹#›</a:t>
            </a:fld>
            <a:endParaRPr lang="en-IN"/>
          </a:p>
        </p:txBody>
      </p:sp>
    </p:spTree>
    <p:extLst>
      <p:ext uri="{BB962C8B-B14F-4D97-AF65-F5344CB8AC3E}">
        <p14:creationId xmlns:p14="http://schemas.microsoft.com/office/powerpoint/2010/main" val="3401004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e97b4d1f1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e97b4d1f1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DAFBA-8687-450C-890F-95463DAFB7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42F39E5-E9F8-4F89-9D1A-6AD002936F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8834028-F469-407E-86B6-9DC571204181}"/>
              </a:ext>
            </a:extLst>
          </p:cNvPr>
          <p:cNvSpPr>
            <a:spLocks noGrp="1"/>
          </p:cNvSpPr>
          <p:nvPr>
            <p:ph type="dt" sz="half" idx="10"/>
          </p:nvPr>
        </p:nvSpPr>
        <p:spPr/>
        <p:txBody>
          <a:bodyPr/>
          <a:lstStyle/>
          <a:p>
            <a:fld id="{2110A049-33CE-470E-904D-567CFDC28947}" type="datetimeFigureOut">
              <a:rPr lang="en-IN" smtClean="0"/>
              <a:t>26-08-2021</a:t>
            </a:fld>
            <a:endParaRPr lang="en-IN"/>
          </a:p>
        </p:txBody>
      </p:sp>
      <p:sp>
        <p:nvSpPr>
          <p:cNvPr id="5" name="Footer Placeholder 4">
            <a:extLst>
              <a:ext uri="{FF2B5EF4-FFF2-40B4-BE49-F238E27FC236}">
                <a16:creationId xmlns:a16="http://schemas.microsoft.com/office/drawing/2014/main" id="{842A0AF2-887B-459F-9514-32F4CEA71A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785AF5-BEDD-4218-8504-A90585F7054F}"/>
              </a:ext>
            </a:extLst>
          </p:cNvPr>
          <p:cNvSpPr>
            <a:spLocks noGrp="1"/>
          </p:cNvSpPr>
          <p:nvPr>
            <p:ph type="sldNum" sz="quarter" idx="12"/>
          </p:nvPr>
        </p:nvSpPr>
        <p:spPr/>
        <p:txBody>
          <a:bodyPr/>
          <a:lstStyle/>
          <a:p>
            <a:fld id="{6769135A-D2F8-46CB-AA4F-C6ABC5835790}" type="slidenum">
              <a:rPr lang="en-IN" smtClean="0"/>
              <a:t>‹#›</a:t>
            </a:fld>
            <a:endParaRPr lang="en-IN"/>
          </a:p>
        </p:txBody>
      </p:sp>
    </p:spTree>
    <p:extLst>
      <p:ext uri="{BB962C8B-B14F-4D97-AF65-F5344CB8AC3E}">
        <p14:creationId xmlns:p14="http://schemas.microsoft.com/office/powerpoint/2010/main" val="176004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05DE6-7338-4F12-8C90-C198DDCB949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1186861-0EE8-4F92-A3A6-0DE46D37C3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79240B-FC59-4015-9069-3F9E52458ABE}"/>
              </a:ext>
            </a:extLst>
          </p:cNvPr>
          <p:cNvSpPr>
            <a:spLocks noGrp="1"/>
          </p:cNvSpPr>
          <p:nvPr>
            <p:ph type="dt" sz="half" idx="10"/>
          </p:nvPr>
        </p:nvSpPr>
        <p:spPr/>
        <p:txBody>
          <a:bodyPr/>
          <a:lstStyle/>
          <a:p>
            <a:fld id="{2110A049-33CE-470E-904D-567CFDC28947}" type="datetimeFigureOut">
              <a:rPr lang="en-IN" smtClean="0"/>
              <a:t>26-08-2021</a:t>
            </a:fld>
            <a:endParaRPr lang="en-IN"/>
          </a:p>
        </p:txBody>
      </p:sp>
      <p:sp>
        <p:nvSpPr>
          <p:cNvPr id="5" name="Footer Placeholder 4">
            <a:extLst>
              <a:ext uri="{FF2B5EF4-FFF2-40B4-BE49-F238E27FC236}">
                <a16:creationId xmlns:a16="http://schemas.microsoft.com/office/drawing/2014/main" id="{07F234D2-9979-4D8E-8A0B-6038F302EB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1632DD-2600-4FFB-A9F7-694E492154CF}"/>
              </a:ext>
            </a:extLst>
          </p:cNvPr>
          <p:cNvSpPr>
            <a:spLocks noGrp="1"/>
          </p:cNvSpPr>
          <p:nvPr>
            <p:ph type="sldNum" sz="quarter" idx="12"/>
          </p:nvPr>
        </p:nvSpPr>
        <p:spPr/>
        <p:txBody>
          <a:bodyPr/>
          <a:lstStyle/>
          <a:p>
            <a:fld id="{6769135A-D2F8-46CB-AA4F-C6ABC5835790}" type="slidenum">
              <a:rPr lang="en-IN" smtClean="0"/>
              <a:t>‹#›</a:t>
            </a:fld>
            <a:endParaRPr lang="en-IN"/>
          </a:p>
        </p:txBody>
      </p:sp>
    </p:spTree>
    <p:extLst>
      <p:ext uri="{BB962C8B-B14F-4D97-AF65-F5344CB8AC3E}">
        <p14:creationId xmlns:p14="http://schemas.microsoft.com/office/powerpoint/2010/main" val="2821238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C85EA-A129-4926-A63E-37D95B4740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7A1E400-B589-4843-AEF7-7BA3E47C46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1D6857-F60C-4D73-BB9D-A883FE557064}"/>
              </a:ext>
            </a:extLst>
          </p:cNvPr>
          <p:cNvSpPr>
            <a:spLocks noGrp="1"/>
          </p:cNvSpPr>
          <p:nvPr>
            <p:ph type="dt" sz="half" idx="10"/>
          </p:nvPr>
        </p:nvSpPr>
        <p:spPr/>
        <p:txBody>
          <a:bodyPr/>
          <a:lstStyle/>
          <a:p>
            <a:fld id="{2110A049-33CE-470E-904D-567CFDC28947}" type="datetimeFigureOut">
              <a:rPr lang="en-IN" smtClean="0"/>
              <a:t>26-08-2021</a:t>
            </a:fld>
            <a:endParaRPr lang="en-IN"/>
          </a:p>
        </p:txBody>
      </p:sp>
      <p:sp>
        <p:nvSpPr>
          <p:cNvPr id="5" name="Footer Placeholder 4">
            <a:extLst>
              <a:ext uri="{FF2B5EF4-FFF2-40B4-BE49-F238E27FC236}">
                <a16:creationId xmlns:a16="http://schemas.microsoft.com/office/drawing/2014/main" id="{23D9AFC7-6841-441D-BFB3-10668273CC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2BF762-70D7-4399-BB7B-BB51E45F580C}"/>
              </a:ext>
            </a:extLst>
          </p:cNvPr>
          <p:cNvSpPr>
            <a:spLocks noGrp="1"/>
          </p:cNvSpPr>
          <p:nvPr>
            <p:ph type="sldNum" sz="quarter" idx="12"/>
          </p:nvPr>
        </p:nvSpPr>
        <p:spPr/>
        <p:txBody>
          <a:bodyPr/>
          <a:lstStyle/>
          <a:p>
            <a:fld id="{6769135A-D2F8-46CB-AA4F-C6ABC5835790}" type="slidenum">
              <a:rPr lang="en-IN" smtClean="0"/>
              <a:t>‹#›</a:t>
            </a:fld>
            <a:endParaRPr lang="en-IN"/>
          </a:p>
        </p:txBody>
      </p:sp>
    </p:spTree>
    <p:extLst>
      <p:ext uri="{BB962C8B-B14F-4D97-AF65-F5344CB8AC3E}">
        <p14:creationId xmlns:p14="http://schemas.microsoft.com/office/powerpoint/2010/main" val="3887895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F0392-38C4-4B57-B23E-27B8A058141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1C290C9-34D0-48C7-BBEA-E4300BCA86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F4AF0E4-075F-44F0-AD71-135688919B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CC3EF67-AE47-46A4-828B-1E462F2838C1}"/>
              </a:ext>
            </a:extLst>
          </p:cNvPr>
          <p:cNvSpPr>
            <a:spLocks noGrp="1"/>
          </p:cNvSpPr>
          <p:nvPr>
            <p:ph type="dt" sz="half" idx="10"/>
          </p:nvPr>
        </p:nvSpPr>
        <p:spPr/>
        <p:txBody>
          <a:bodyPr/>
          <a:lstStyle/>
          <a:p>
            <a:fld id="{2110A049-33CE-470E-904D-567CFDC28947}" type="datetimeFigureOut">
              <a:rPr lang="en-IN" smtClean="0"/>
              <a:t>26-08-2021</a:t>
            </a:fld>
            <a:endParaRPr lang="en-IN"/>
          </a:p>
        </p:txBody>
      </p:sp>
      <p:sp>
        <p:nvSpPr>
          <p:cNvPr id="6" name="Footer Placeholder 5">
            <a:extLst>
              <a:ext uri="{FF2B5EF4-FFF2-40B4-BE49-F238E27FC236}">
                <a16:creationId xmlns:a16="http://schemas.microsoft.com/office/drawing/2014/main" id="{F69E3F7F-AAD2-48CE-9744-052C25BF3BD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5264741-DA02-4473-B80E-F50759909492}"/>
              </a:ext>
            </a:extLst>
          </p:cNvPr>
          <p:cNvSpPr>
            <a:spLocks noGrp="1"/>
          </p:cNvSpPr>
          <p:nvPr>
            <p:ph type="sldNum" sz="quarter" idx="12"/>
          </p:nvPr>
        </p:nvSpPr>
        <p:spPr/>
        <p:txBody>
          <a:bodyPr/>
          <a:lstStyle/>
          <a:p>
            <a:fld id="{6769135A-D2F8-46CB-AA4F-C6ABC5835790}" type="slidenum">
              <a:rPr lang="en-IN" smtClean="0"/>
              <a:t>‹#›</a:t>
            </a:fld>
            <a:endParaRPr lang="en-IN"/>
          </a:p>
        </p:txBody>
      </p:sp>
    </p:spTree>
    <p:extLst>
      <p:ext uri="{BB962C8B-B14F-4D97-AF65-F5344CB8AC3E}">
        <p14:creationId xmlns:p14="http://schemas.microsoft.com/office/powerpoint/2010/main" val="100782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1246F-B5C6-47E8-A3AB-499FA715EB5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D652FD6-723B-4CF7-8F9E-70E74B6C0B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C0C5E0-9016-4D18-9BC5-6FCEC1C79E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876E4B9-BBE2-412A-B7B3-3877C088DB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149891-79EB-4690-938E-BE74A21861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3D53E8A-0D0B-46E6-8D14-C985842310F5}"/>
              </a:ext>
            </a:extLst>
          </p:cNvPr>
          <p:cNvSpPr>
            <a:spLocks noGrp="1"/>
          </p:cNvSpPr>
          <p:nvPr>
            <p:ph type="dt" sz="half" idx="10"/>
          </p:nvPr>
        </p:nvSpPr>
        <p:spPr/>
        <p:txBody>
          <a:bodyPr/>
          <a:lstStyle/>
          <a:p>
            <a:fld id="{2110A049-33CE-470E-904D-567CFDC28947}" type="datetimeFigureOut">
              <a:rPr lang="en-IN" smtClean="0"/>
              <a:t>26-08-2021</a:t>
            </a:fld>
            <a:endParaRPr lang="en-IN"/>
          </a:p>
        </p:txBody>
      </p:sp>
      <p:sp>
        <p:nvSpPr>
          <p:cNvPr id="8" name="Footer Placeholder 7">
            <a:extLst>
              <a:ext uri="{FF2B5EF4-FFF2-40B4-BE49-F238E27FC236}">
                <a16:creationId xmlns:a16="http://schemas.microsoft.com/office/drawing/2014/main" id="{AF205FB5-981B-45B0-9B84-40A2D526BEC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6691C80-A97F-4D8C-804D-41D7E0AEE4DE}"/>
              </a:ext>
            </a:extLst>
          </p:cNvPr>
          <p:cNvSpPr>
            <a:spLocks noGrp="1"/>
          </p:cNvSpPr>
          <p:nvPr>
            <p:ph type="sldNum" sz="quarter" idx="12"/>
          </p:nvPr>
        </p:nvSpPr>
        <p:spPr/>
        <p:txBody>
          <a:bodyPr/>
          <a:lstStyle/>
          <a:p>
            <a:fld id="{6769135A-D2F8-46CB-AA4F-C6ABC5835790}" type="slidenum">
              <a:rPr lang="en-IN" smtClean="0"/>
              <a:t>‹#›</a:t>
            </a:fld>
            <a:endParaRPr lang="en-IN"/>
          </a:p>
        </p:txBody>
      </p:sp>
    </p:spTree>
    <p:extLst>
      <p:ext uri="{BB962C8B-B14F-4D97-AF65-F5344CB8AC3E}">
        <p14:creationId xmlns:p14="http://schemas.microsoft.com/office/powerpoint/2010/main" val="3481439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11E8D-7DA1-4DCC-A69C-17CD6E09ED1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D24A04F-7FD8-4044-B158-4CA839EF49D6}"/>
              </a:ext>
            </a:extLst>
          </p:cNvPr>
          <p:cNvSpPr>
            <a:spLocks noGrp="1"/>
          </p:cNvSpPr>
          <p:nvPr>
            <p:ph type="dt" sz="half" idx="10"/>
          </p:nvPr>
        </p:nvSpPr>
        <p:spPr/>
        <p:txBody>
          <a:bodyPr/>
          <a:lstStyle/>
          <a:p>
            <a:fld id="{2110A049-33CE-470E-904D-567CFDC28947}" type="datetimeFigureOut">
              <a:rPr lang="en-IN" smtClean="0"/>
              <a:t>26-08-2021</a:t>
            </a:fld>
            <a:endParaRPr lang="en-IN"/>
          </a:p>
        </p:txBody>
      </p:sp>
      <p:sp>
        <p:nvSpPr>
          <p:cNvPr id="4" name="Footer Placeholder 3">
            <a:extLst>
              <a:ext uri="{FF2B5EF4-FFF2-40B4-BE49-F238E27FC236}">
                <a16:creationId xmlns:a16="http://schemas.microsoft.com/office/drawing/2014/main" id="{7446505C-5EE7-438B-BB0E-977E22B13AD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9AC9754-8796-4EBE-89E2-0D6DE9CE6927}"/>
              </a:ext>
            </a:extLst>
          </p:cNvPr>
          <p:cNvSpPr>
            <a:spLocks noGrp="1"/>
          </p:cNvSpPr>
          <p:nvPr>
            <p:ph type="sldNum" sz="quarter" idx="12"/>
          </p:nvPr>
        </p:nvSpPr>
        <p:spPr/>
        <p:txBody>
          <a:bodyPr/>
          <a:lstStyle/>
          <a:p>
            <a:fld id="{6769135A-D2F8-46CB-AA4F-C6ABC5835790}" type="slidenum">
              <a:rPr lang="en-IN" smtClean="0"/>
              <a:t>‹#›</a:t>
            </a:fld>
            <a:endParaRPr lang="en-IN"/>
          </a:p>
        </p:txBody>
      </p:sp>
    </p:spTree>
    <p:extLst>
      <p:ext uri="{BB962C8B-B14F-4D97-AF65-F5344CB8AC3E}">
        <p14:creationId xmlns:p14="http://schemas.microsoft.com/office/powerpoint/2010/main" val="4019586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6E97B1-B756-4BB6-9529-115DFDF42B8E}"/>
              </a:ext>
            </a:extLst>
          </p:cNvPr>
          <p:cNvSpPr>
            <a:spLocks noGrp="1"/>
          </p:cNvSpPr>
          <p:nvPr>
            <p:ph type="dt" sz="half" idx="10"/>
          </p:nvPr>
        </p:nvSpPr>
        <p:spPr/>
        <p:txBody>
          <a:bodyPr/>
          <a:lstStyle/>
          <a:p>
            <a:fld id="{2110A049-33CE-470E-904D-567CFDC28947}" type="datetimeFigureOut">
              <a:rPr lang="en-IN" smtClean="0"/>
              <a:t>26-08-2021</a:t>
            </a:fld>
            <a:endParaRPr lang="en-IN"/>
          </a:p>
        </p:txBody>
      </p:sp>
      <p:sp>
        <p:nvSpPr>
          <p:cNvPr id="3" name="Footer Placeholder 2">
            <a:extLst>
              <a:ext uri="{FF2B5EF4-FFF2-40B4-BE49-F238E27FC236}">
                <a16:creationId xmlns:a16="http://schemas.microsoft.com/office/drawing/2014/main" id="{60D0761F-D61B-4AC7-A117-D50800227AF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C03D415-815E-46D9-84D5-3985C05077EB}"/>
              </a:ext>
            </a:extLst>
          </p:cNvPr>
          <p:cNvSpPr>
            <a:spLocks noGrp="1"/>
          </p:cNvSpPr>
          <p:nvPr>
            <p:ph type="sldNum" sz="quarter" idx="12"/>
          </p:nvPr>
        </p:nvSpPr>
        <p:spPr/>
        <p:txBody>
          <a:bodyPr/>
          <a:lstStyle/>
          <a:p>
            <a:fld id="{6769135A-D2F8-46CB-AA4F-C6ABC5835790}" type="slidenum">
              <a:rPr lang="en-IN" smtClean="0"/>
              <a:t>‹#›</a:t>
            </a:fld>
            <a:endParaRPr lang="en-IN"/>
          </a:p>
        </p:txBody>
      </p:sp>
    </p:spTree>
    <p:extLst>
      <p:ext uri="{BB962C8B-B14F-4D97-AF65-F5344CB8AC3E}">
        <p14:creationId xmlns:p14="http://schemas.microsoft.com/office/powerpoint/2010/main" val="613043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ADDB7-9F0E-46BF-A126-C0FC4FBA09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B24928A-A877-442E-9A61-B8876DF3BF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AF1D4F5-AB2A-4377-99EC-B01E5BF579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0DA647-2ADF-48A0-BD08-63C1AF1F95EF}"/>
              </a:ext>
            </a:extLst>
          </p:cNvPr>
          <p:cNvSpPr>
            <a:spLocks noGrp="1"/>
          </p:cNvSpPr>
          <p:nvPr>
            <p:ph type="dt" sz="half" idx="10"/>
          </p:nvPr>
        </p:nvSpPr>
        <p:spPr/>
        <p:txBody>
          <a:bodyPr/>
          <a:lstStyle/>
          <a:p>
            <a:fld id="{2110A049-33CE-470E-904D-567CFDC28947}" type="datetimeFigureOut">
              <a:rPr lang="en-IN" smtClean="0"/>
              <a:t>26-08-2021</a:t>
            </a:fld>
            <a:endParaRPr lang="en-IN"/>
          </a:p>
        </p:txBody>
      </p:sp>
      <p:sp>
        <p:nvSpPr>
          <p:cNvPr id="6" name="Footer Placeholder 5">
            <a:extLst>
              <a:ext uri="{FF2B5EF4-FFF2-40B4-BE49-F238E27FC236}">
                <a16:creationId xmlns:a16="http://schemas.microsoft.com/office/drawing/2014/main" id="{640DBBCC-3655-474C-9288-3205289F24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D2426C-E368-4FBA-918C-135B697DBA20}"/>
              </a:ext>
            </a:extLst>
          </p:cNvPr>
          <p:cNvSpPr>
            <a:spLocks noGrp="1"/>
          </p:cNvSpPr>
          <p:nvPr>
            <p:ph type="sldNum" sz="quarter" idx="12"/>
          </p:nvPr>
        </p:nvSpPr>
        <p:spPr/>
        <p:txBody>
          <a:bodyPr/>
          <a:lstStyle/>
          <a:p>
            <a:fld id="{6769135A-D2F8-46CB-AA4F-C6ABC5835790}" type="slidenum">
              <a:rPr lang="en-IN" smtClean="0"/>
              <a:t>‹#›</a:t>
            </a:fld>
            <a:endParaRPr lang="en-IN"/>
          </a:p>
        </p:txBody>
      </p:sp>
    </p:spTree>
    <p:extLst>
      <p:ext uri="{BB962C8B-B14F-4D97-AF65-F5344CB8AC3E}">
        <p14:creationId xmlns:p14="http://schemas.microsoft.com/office/powerpoint/2010/main" val="837848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DC301-F24D-458A-B67E-31BE3AE63E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395F738-33D9-4A69-ADD9-1FA073CFD7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A835DE5-B3E1-4B89-AF20-972EE3DA76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A232FC-EB4C-4062-B17E-9EC3C9C7D8A8}"/>
              </a:ext>
            </a:extLst>
          </p:cNvPr>
          <p:cNvSpPr>
            <a:spLocks noGrp="1"/>
          </p:cNvSpPr>
          <p:nvPr>
            <p:ph type="dt" sz="half" idx="10"/>
          </p:nvPr>
        </p:nvSpPr>
        <p:spPr/>
        <p:txBody>
          <a:bodyPr/>
          <a:lstStyle/>
          <a:p>
            <a:fld id="{2110A049-33CE-470E-904D-567CFDC28947}" type="datetimeFigureOut">
              <a:rPr lang="en-IN" smtClean="0"/>
              <a:t>26-08-2021</a:t>
            </a:fld>
            <a:endParaRPr lang="en-IN"/>
          </a:p>
        </p:txBody>
      </p:sp>
      <p:sp>
        <p:nvSpPr>
          <p:cNvPr id="6" name="Footer Placeholder 5">
            <a:extLst>
              <a:ext uri="{FF2B5EF4-FFF2-40B4-BE49-F238E27FC236}">
                <a16:creationId xmlns:a16="http://schemas.microsoft.com/office/drawing/2014/main" id="{0901FD57-DC71-44D6-BD48-5FCFB7B90D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DC1EA23-3456-4995-B336-64F7FC5C1023}"/>
              </a:ext>
            </a:extLst>
          </p:cNvPr>
          <p:cNvSpPr>
            <a:spLocks noGrp="1"/>
          </p:cNvSpPr>
          <p:nvPr>
            <p:ph type="sldNum" sz="quarter" idx="12"/>
          </p:nvPr>
        </p:nvSpPr>
        <p:spPr/>
        <p:txBody>
          <a:bodyPr/>
          <a:lstStyle/>
          <a:p>
            <a:fld id="{6769135A-D2F8-46CB-AA4F-C6ABC5835790}" type="slidenum">
              <a:rPr lang="en-IN" smtClean="0"/>
              <a:t>‹#›</a:t>
            </a:fld>
            <a:endParaRPr lang="en-IN"/>
          </a:p>
        </p:txBody>
      </p:sp>
    </p:spTree>
    <p:extLst>
      <p:ext uri="{BB962C8B-B14F-4D97-AF65-F5344CB8AC3E}">
        <p14:creationId xmlns:p14="http://schemas.microsoft.com/office/powerpoint/2010/main" val="34910748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4986C-4F52-4E0B-AFAB-19A64DAC6B4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0A7AA17-DF1D-43B0-9F48-B0E5FBBAE6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7ABB90-A94B-4488-93BC-5A890C8DFC3B}"/>
              </a:ext>
            </a:extLst>
          </p:cNvPr>
          <p:cNvSpPr>
            <a:spLocks noGrp="1"/>
          </p:cNvSpPr>
          <p:nvPr>
            <p:ph type="dt" sz="half" idx="10"/>
          </p:nvPr>
        </p:nvSpPr>
        <p:spPr/>
        <p:txBody>
          <a:bodyPr/>
          <a:lstStyle/>
          <a:p>
            <a:fld id="{2110A049-33CE-470E-904D-567CFDC28947}" type="datetimeFigureOut">
              <a:rPr lang="en-IN" smtClean="0"/>
              <a:t>26-08-2021</a:t>
            </a:fld>
            <a:endParaRPr lang="en-IN"/>
          </a:p>
        </p:txBody>
      </p:sp>
      <p:sp>
        <p:nvSpPr>
          <p:cNvPr id="5" name="Footer Placeholder 4">
            <a:extLst>
              <a:ext uri="{FF2B5EF4-FFF2-40B4-BE49-F238E27FC236}">
                <a16:creationId xmlns:a16="http://schemas.microsoft.com/office/drawing/2014/main" id="{199E61AF-CBAB-49D3-BB9E-8D1B499B2D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225C97-D285-433D-9463-B1C8ECA2F21D}"/>
              </a:ext>
            </a:extLst>
          </p:cNvPr>
          <p:cNvSpPr>
            <a:spLocks noGrp="1"/>
          </p:cNvSpPr>
          <p:nvPr>
            <p:ph type="sldNum" sz="quarter" idx="12"/>
          </p:nvPr>
        </p:nvSpPr>
        <p:spPr/>
        <p:txBody>
          <a:bodyPr/>
          <a:lstStyle/>
          <a:p>
            <a:fld id="{6769135A-D2F8-46CB-AA4F-C6ABC5835790}" type="slidenum">
              <a:rPr lang="en-IN" smtClean="0"/>
              <a:t>‹#›</a:t>
            </a:fld>
            <a:endParaRPr lang="en-IN"/>
          </a:p>
        </p:txBody>
      </p:sp>
    </p:spTree>
    <p:extLst>
      <p:ext uri="{BB962C8B-B14F-4D97-AF65-F5344CB8AC3E}">
        <p14:creationId xmlns:p14="http://schemas.microsoft.com/office/powerpoint/2010/main" val="736217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DD4CD3-18CF-4F55-B59C-3152DD84560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A697FB-C34B-4D7B-B805-186EB95AE77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4AB96C-95B8-40D8-9BB2-976F13FA87DF}"/>
              </a:ext>
            </a:extLst>
          </p:cNvPr>
          <p:cNvSpPr>
            <a:spLocks noGrp="1"/>
          </p:cNvSpPr>
          <p:nvPr>
            <p:ph type="dt" sz="half" idx="10"/>
          </p:nvPr>
        </p:nvSpPr>
        <p:spPr/>
        <p:txBody>
          <a:bodyPr/>
          <a:lstStyle/>
          <a:p>
            <a:fld id="{2110A049-33CE-470E-904D-567CFDC28947}" type="datetimeFigureOut">
              <a:rPr lang="en-IN" smtClean="0"/>
              <a:t>26-08-2021</a:t>
            </a:fld>
            <a:endParaRPr lang="en-IN"/>
          </a:p>
        </p:txBody>
      </p:sp>
      <p:sp>
        <p:nvSpPr>
          <p:cNvPr id="5" name="Footer Placeholder 4">
            <a:extLst>
              <a:ext uri="{FF2B5EF4-FFF2-40B4-BE49-F238E27FC236}">
                <a16:creationId xmlns:a16="http://schemas.microsoft.com/office/drawing/2014/main" id="{6B09F331-6675-4D1E-8330-D0B67EA930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6E2D0A-792B-4EBC-A72E-B8EE96A4DBB5}"/>
              </a:ext>
            </a:extLst>
          </p:cNvPr>
          <p:cNvSpPr>
            <a:spLocks noGrp="1"/>
          </p:cNvSpPr>
          <p:nvPr>
            <p:ph type="sldNum" sz="quarter" idx="12"/>
          </p:nvPr>
        </p:nvSpPr>
        <p:spPr/>
        <p:txBody>
          <a:bodyPr/>
          <a:lstStyle/>
          <a:p>
            <a:fld id="{6769135A-D2F8-46CB-AA4F-C6ABC5835790}" type="slidenum">
              <a:rPr lang="en-IN" smtClean="0"/>
              <a:t>‹#›</a:t>
            </a:fld>
            <a:endParaRPr lang="en-IN"/>
          </a:p>
        </p:txBody>
      </p:sp>
    </p:spTree>
    <p:extLst>
      <p:ext uri="{BB962C8B-B14F-4D97-AF65-F5344CB8AC3E}">
        <p14:creationId xmlns:p14="http://schemas.microsoft.com/office/powerpoint/2010/main" val="735619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BE7E10-0BD0-49EA-8D45-A99CB49CF9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286D0F6-46B2-4C04-A969-137BD056CB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9C8F7B-8CE9-4679-9795-19843EC269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10A049-33CE-470E-904D-567CFDC28947}" type="datetimeFigureOut">
              <a:rPr lang="en-IN" smtClean="0"/>
              <a:t>26-08-2021</a:t>
            </a:fld>
            <a:endParaRPr lang="en-IN"/>
          </a:p>
        </p:txBody>
      </p:sp>
      <p:sp>
        <p:nvSpPr>
          <p:cNvPr id="5" name="Footer Placeholder 4">
            <a:extLst>
              <a:ext uri="{FF2B5EF4-FFF2-40B4-BE49-F238E27FC236}">
                <a16:creationId xmlns:a16="http://schemas.microsoft.com/office/drawing/2014/main" id="{FF68ED07-3A40-4C4A-B078-5C9DEF76B7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790E444-D1D3-4E13-A0DC-0B38754A8C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69135A-D2F8-46CB-AA4F-C6ABC5835790}" type="slidenum">
              <a:rPr lang="en-IN" smtClean="0"/>
              <a:t>‹#›</a:t>
            </a:fld>
            <a:endParaRPr lang="en-IN"/>
          </a:p>
        </p:txBody>
      </p:sp>
    </p:spTree>
    <p:extLst>
      <p:ext uri="{BB962C8B-B14F-4D97-AF65-F5344CB8AC3E}">
        <p14:creationId xmlns:p14="http://schemas.microsoft.com/office/powerpoint/2010/main" val="14799224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ekhdecoded.com/3-reasons-healthcare-important/" TargetMode="External"/><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diagramColors" Target="../diagrams/colors1.xml"/><Relationship Id="rId11" Type="http://schemas.openxmlformats.org/officeDocument/2006/relationships/image" Target="../media/image8.png"/><Relationship Id="rId5" Type="http://schemas.openxmlformats.org/officeDocument/2006/relationships/diagramQuickStyle" Target="../diagrams/quickStyle1.xml"/><Relationship Id="rId10" Type="http://schemas.openxmlformats.org/officeDocument/2006/relationships/image" Target="../media/image7.png"/><Relationship Id="rId4" Type="http://schemas.openxmlformats.org/officeDocument/2006/relationships/diagramLayout" Target="../diagrams/layout1.xml"/><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s>
</file>

<file path=ppt/slides/_rels/slide4.xml.rels><?xml version="1.0" encoding="UTF-8" standalone="yes"?>
<Relationships xmlns="http://schemas.openxmlformats.org/package/2006/relationships"><Relationship Id="rId8" Type="http://schemas.openxmlformats.org/officeDocument/2006/relationships/diagramQuickStyle" Target="../diagrams/quickStyle2.xml"/><Relationship Id="rId13"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diagramLayout" Target="../diagrams/layout2.xml"/><Relationship Id="rId12" Type="http://schemas.openxmlformats.org/officeDocument/2006/relationships/image" Target="../media/image27.jpeg"/><Relationship Id="rId2" Type="http://schemas.openxmlformats.org/officeDocument/2006/relationships/image" Target="../media/image22.png"/><Relationship Id="rId16" Type="http://schemas.openxmlformats.org/officeDocument/2006/relationships/image" Target="../media/image31.jpg"/><Relationship Id="rId1" Type="http://schemas.openxmlformats.org/officeDocument/2006/relationships/slideLayout" Target="../slideLayouts/slideLayout1.xml"/><Relationship Id="rId6" Type="http://schemas.openxmlformats.org/officeDocument/2006/relationships/diagramData" Target="../diagrams/data2.xml"/><Relationship Id="rId11" Type="http://schemas.openxmlformats.org/officeDocument/2006/relationships/image" Target="../media/image26.png"/><Relationship Id="rId5" Type="http://schemas.openxmlformats.org/officeDocument/2006/relationships/image" Target="../media/image25.png"/><Relationship Id="rId15" Type="http://schemas.openxmlformats.org/officeDocument/2006/relationships/image" Target="../media/image30.png"/><Relationship Id="rId10" Type="http://schemas.microsoft.com/office/2007/relationships/diagramDrawing" Target="../diagrams/drawing2.xml"/><Relationship Id="rId4" Type="http://schemas.openxmlformats.org/officeDocument/2006/relationships/image" Target="../media/image24.png"/><Relationship Id="rId9" Type="http://schemas.openxmlformats.org/officeDocument/2006/relationships/diagramColors" Target="../diagrams/colors2.xml"/><Relationship Id="rId14" Type="http://schemas.openxmlformats.org/officeDocument/2006/relationships/image" Target="../media/image29.jpeg"/></Relationships>
</file>

<file path=ppt/slides/_rels/slide5.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6.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7.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extLst>
              <a:ext uri="{837473B0-CC2E-450A-ABE3-18F120FF3D39}">
                <a1611:picAttrSrcUrl xmlns:a1611="http://schemas.microsoft.com/office/drawing/2016/11/main" r:id="rId3"/>
              </a:ext>
            </a:extLst>
          </a:blip>
          <a:srcRect/>
          <a:stretch>
            <a:fillRect l="-4000" r="-4000"/>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621B80-9F0E-43AA-9C1B-6F36EF8B5DC3}"/>
              </a:ext>
            </a:extLst>
          </p:cNvPr>
          <p:cNvPicPr>
            <a:picLocks noChangeAspect="1"/>
          </p:cNvPicPr>
          <p:nvPr/>
        </p:nvPicPr>
        <p:blipFill>
          <a:blip r:embed="rId4"/>
          <a:stretch>
            <a:fillRect/>
          </a:stretch>
        </p:blipFill>
        <p:spPr>
          <a:xfrm>
            <a:off x="2266950" y="859941"/>
            <a:ext cx="7658100" cy="3971925"/>
          </a:xfrm>
          <a:prstGeom prst="rect">
            <a:avLst/>
          </a:prstGeom>
        </p:spPr>
      </p:pic>
      <p:sp>
        <p:nvSpPr>
          <p:cNvPr id="5" name="TextBox 4">
            <a:extLst>
              <a:ext uri="{FF2B5EF4-FFF2-40B4-BE49-F238E27FC236}">
                <a16:creationId xmlns:a16="http://schemas.microsoft.com/office/drawing/2014/main" id="{2669D3AD-2586-4E6D-A271-8D22C1593BA7}"/>
              </a:ext>
            </a:extLst>
          </p:cNvPr>
          <p:cNvSpPr txBox="1"/>
          <p:nvPr/>
        </p:nvSpPr>
        <p:spPr>
          <a:xfrm>
            <a:off x="2093429" y="5123414"/>
            <a:ext cx="8005141" cy="1292662"/>
          </a:xfrm>
          <a:prstGeom prst="rect">
            <a:avLst/>
          </a:prstGeom>
          <a:noFill/>
        </p:spPr>
        <p:txBody>
          <a:bodyPr wrap="square" rtlCol="0">
            <a:spAutoFit/>
          </a:bodyPr>
          <a:lstStyle/>
          <a:p>
            <a:pPr algn="ctr"/>
            <a:r>
              <a:rPr lang="en-IN" sz="2400" b="1" i="0" dirty="0">
                <a:solidFill>
                  <a:srgbClr val="333333"/>
                </a:solidFill>
                <a:effectLst/>
                <a:latin typeface="Inter"/>
              </a:rPr>
              <a:t>Team - De Marketing Keedas </a:t>
            </a:r>
            <a:r>
              <a:rPr lang="en-IN" b="1" i="0" dirty="0">
                <a:solidFill>
                  <a:srgbClr val="333333"/>
                </a:solidFill>
                <a:effectLst/>
                <a:latin typeface="Inter"/>
              </a:rPr>
              <a:t>(T. A. Pai Management Institute, Manipal)</a:t>
            </a:r>
          </a:p>
          <a:p>
            <a:pPr algn="ctr"/>
            <a:r>
              <a:rPr lang="en-GB" b="1" dirty="0"/>
              <a:t>Devesh Sinha (21F521)</a:t>
            </a:r>
          </a:p>
          <a:p>
            <a:pPr algn="ctr"/>
            <a:r>
              <a:rPr lang="en-GB" b="1" dirty="0"/>
              <a:t>Kajal Gupta (21F126)</a:t>
            </a:r>
          </a:p>
          <a:p>
            <a:pPr algn="ctr"/>
            <a:r>
              <a:rPr lang="en-GB" b="1" dirty="0"/>
              <a:t>Mohit Kiradoo (21F331)</a:t>
            </a:r>
            <a:endParaRPr lang="en-IN" b="1" dirty="0"/>
          </a:p>
        </p:txBody>
      </p:sp>
      <p:pic>
        <p:nvPicPr>
          <p:cNvPr id="3" name="Picture 2" descr="Logo&#10;&#10;Description automatically generated with medium confidence">
            <a:extLst>
              <a:ext uri="{FF2B5EF4-FFF2-40B4-BE49-F238E27FC236}">
                <a16:creationId xmlns:a16="http://schemas.microsoft.com/office/drawing/2014/main" id="{FAC11DCE-64B7-4429-90D2-77E6FF76DC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15637" y="231291"/>
            <a:ext cx="1128713" cy="1014413"/>
          </a:xfrm>
          <a:prstGeom prst="rect">
            <a:avLst/>
          </a:prstGeom>
        </p:spPr>
      </p:pic>
    </p:spTree>
    <p:extLst>
      <p:ext uri="{BB962C8B-B14F-4D97-AF65-F5344CB8AC3E}">
        <p14:creationId xmlns:p14="http://schemas.microsoft.com/office/powerpoint/2010/main" val="3999605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Rectangle: Rounded Corners 59">
            <a:extLst>
              <a:ext uri="{FF2B5EF4-FFF2-40B4-BE49-F238E27FC236}">
                <a16:creationId xmlns:a16="http://schemas.microsoft.com/office/drawing/2014/main" id="{54E0A798-DA41-4410-8132-79CEBFAE2ABD}"/>
              </a:ext>
            </a:extLst>
          </p:cNvPr>
          <p:cNvSpPr/>
          <p:nvPr/>
        </p:nvSpPr>
        <p:spPr>
          <a:xfrm>
            <a:off x="6748260" y="2850396"/>
            <a:ext cx="5268715" cy="826261"/>
          </a:xfrm>
          <a:prstGeom prst="roundRect">
            <a:avLst/>
          </a:prstGeom>
          <a:solidFill>
            <a:schemeClr val="accent6">
              <a:lumMod val="60000"/>
              <a:lumOff val="4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TextBox 55">
            <a:extLst>
              <a:ext uri="{FF2B5EF4-FFF2-40B4-BE49-F238E27FC236}">
                <a16:creationId xmlns:a16="http://schemas.microsoft.com/office/drawing/2014/main" id="{FD7E3983-D885-48D1-B29A-4EBF130969FF}"/>
              </a:ext>
            </a:extLst>
          </p:cNvPr>
          <p:cNvSpPr txBox="1"/>
          <p:nvPr/>
        </p:nvSpPr>
        <p:spPr>
          <a:xfrm>
            <a:off x="9931501" y="3005622"/>
            <a:ext cx="1139702" cy="798292"/>
          </a:xfrm>
          <a:prstGeom prst="rect">
            <a:avLst/>
          </a:prstGeom>
          <a:noFill/>
        </p:spPr>
        <p:txBody>
          <a:bodyPr wrap="square" rtlCol="0">
            <a:spAutoFit/>
          </a:bodyPr>
          <a:lstStyle/>
          <a:p>
            <a:r>
              <a:rPr lang="en-GB" sz="1200" dirty="0"/>
              <a:t>CAGR </a:t>
            </a:r>
          </a:p>
          <a:p>
            <a:r>
              <a:rPr lang="en-GB" sz="1200" b="1" dirty="0"/>
              <a:t>31.61%</a:t>
            </a:r>
            <a:endParaRPr lang="en-IN" sz="1200" b="1" dirty="0"/>
          </a:p>
        </p:txBody>
      </p:sp>
      <p:sp>
        <p:nvSpPr>
          <p:cNvPr id="58" name="TextBox 57">
            <a:extLst>
              <a:ext uri="{FF2B5EF4-FFF2-40B4-BE49-F238E27FC236}">
                <a16:creationId xmlns:a16="http://schemas.microsoft.com/office/drawing/2014/main" id="{29091A40-A9FA-4C9B-9D15-1D683E6676B5}"/>
              </a:ext>
            </a:extLst>
          </p:cNvPr>
          <p:cNvSpPr txBox="1"/>
          <p:nvPr/>
        </p:nvSpPr>
        <p:spPr>
          <a:xfrm>
            <a:off x="11071203" y="3028918"/>
            <a:ext cx="2250232" cy="461665"/>
          </a:xfrm>
          <a:prstGeom prst="rect">
            <a:avLst/>
          </a:prstGeom>
          <a:noFill/>
        </p:spPr>
        <p:txBody>
          <a:bodyPr wrap="square" rtlCol="0">
            <a:spAutoFit/>
          </a:bodyPr>
          <a:lstStyle/>
          <a:p>
            <a:r>
              <a:rPr lang="en-GB" sz="1200" dirty="0"/>
              <a:t>Fragmented </a:t>
            </a:r>
          </a:p>
          <a:p>
            <a:r>
              <a:rPr lang="en-GB" sz="1200" dirty="0"/>
              <a:t>market</a:t>
            </a:r>
            <a:endParaRPr lang="en-IN" sz="1200" dirty="0"/>
          </a:p>
        </p:txBody>
      </p:sp>
      <p:sp>
        <p:nvSpPr>
          <p:cNvPr id="66" name="TextBox 65">
            <a:extLst>
              <a:ext uri="{FF2B5EF4-FFF2-40B4-BE49-F238E27FC236}">
                <a16:creationId xmlns:a16="http://schemas.microsoft.com/office/drawing/2014/main" id="{BB2AF0C0-24A2-4F81-B669-D9D8E8AF61F6}"/>
              </a:ext>
            </a:extLst>
          </p:cNvPr>
          <p:cNvSpPr txBox="1"/>
          <p:nvPr/>
        </p:nvSpPr>
        <p:spPr>
          <a:xfrm>
            <a:off x="131107" y="4602818"/>
            <a:ext cx="2327398" cy="276999"/>
          </a:xfrm>
          <a:prstGeom prst="rect">
            <a:avLst/>
          </a:prstGeom>
          <a:noFill/>
        </p:spPr>
        <p:txBody>
          <a:bodyPr wrap="square">
            <a:spAutoFit/>
          </a:bodyPr>
          <a:lstStyle/>
          <a:p>
            <a:r>
              <a:rPr lang="en-GB" sz="1200" dirty="0"/>
              <a:t>.</a:t>
            </a:r>
            <a:endParaRPr lang="en-IN" sz="1200" dirty="0"/>
          </a:p>
        </p:txBody>
      </p:sp>
      <p:grpSp>
        <p:nvGrpSpPr>
          <p:cNvPr id="2" name="Group 1">
            <a:extLst>
              <a:ext uri="{FF2B5EF4-FFF2-40B4-BE49-F238E27FC236}">
                <a16:creationId xmlns:a16="http://schemas.microsoft.com/office/drawing/2014/main" id="{C6DF8941-0BE7-4548-AE41-56B0C24FD0C5}"/>
              </a:ext>
            </a:extLst>
          </p:cNvPr>
          <p:cNvGrpSpPr/>
          <p:nvPr/>
        </p:nvGrpSpPr>
        <p:grpSpPr>
          <a:xfrm>
            <a:off x="74444" y="558649"/>
            <a:ext cx="5914710" cy="2142854"/>
            <a:chOff x="6096000" y="572020"/>
            <a:chExt cx="5914710" cy="2142854"/>
          </a:xfrm>
          <a:effectLst>
            <a:outerShdw blurRad="50800" dist="38100" dir="2700000" algn="tl" rotWithShape="0">
              <a:prstClr val="black">
                <a:alpha val="40000"/>
              </a:prstClr>
            </a:outerShdw>
          </a:effectLst>
        </p:grpSpPr>
        <p:grpSp>
          <p:nvGrpSpPr>
            <p:cNvPr id="20" name="Group 19">
              <a:extLst>
                <a:ext uri="{FF2B5EF4-FFF2-40B4-BE49-F238E27FC236}">
                  <a16:creationId xmlns:a16="http://schemas.microsoft.com/office/drawing/2014/main" id="{48856CA3-8148-40DD-B697-4A2B0C0561D5}"/>
                </a:ext>
              </a:extLst>
            </p:cNvPr>
            <p:cNvGrpSpPr/>
            <p:nvPr/>
          </p:nvGrpSpPr>
          <p:grpSpPr>
            <a:xfrm>
              <a:off x="6096000" y="593629"/>
              <a:ext cx="5750257" cy="2121245"/>
              <a:chOff x="7038876" y="657435"/>
              <a:chExt cx="5750257" cy="2121245"/>
            </a:xfrm>
          </p:grpSpPr>
          <p:sp>
            <p:nvSpPr>
              <p:cNvPr id="17" name="Rectangle: Rounded Corners 16">
                <a:extLst>
                  <a:ext uri="{FF2B5EF4-FFF2-40B4-BE49-F238E27FC236}">
                    <a16:creationId xmlns:a16="http://schemas.microsoft.com/office/drawing/2014/main" id="{1849DF13-9F75-470D-B185-FBC42F25BC77}"/>
                  </a:ext>
                </a:extLst>
              </p:cNvPr>
              <p:cNvSpPr/>
              <p:nvPr/>
            </p:nvSpPr>
            <p:spPr>
              <a:xfrm>
                <a:off x="7038876" y="758308"/>
                <a:ext cx="5750257" cy="2015359"/>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TextBox 66">
                <a:extLst>
                  <a:ext uri="{FF2B5EF4-FFF2-40B4-BE49-F238E27FC236}">
                    <a16:creationId xmlns:a16="http://schemas.microsoft.com/office/drawing/2014/main" id="{D60C49E3-A4AE-48A4-AA01-7E23CE6DDFC8}"/>
                  </a:ext>
                </a:extLst>
              </p:cNvPr>
              <p:cNvSpPr txBox="1"/>
              <p:nvPr/>
            </p:nvSpPr>
            <p:spPr>
              <a:xfrm>
                <a:off x="7151479" y="1024354"/>
                <a:ext cx="5425041" cy="1754326"/>
              </a:xfrm>
              <a:prstGeom prst="rect">
                <a:avLst/>
              </a:prstGeom>
              <a:noFill/>
            </p:spPr>
            <p:txBody>
              <a:bodyPr wrap="square">
                <a:spAutoFit/>
              </a:bodyPr>
              <a:lstStyle/>
              <a:p>
                <a:pPr marL="285750" indent="-285750">
                  <a:buFont typeface="Arial" panose="020B0604020202020204" pitchFamily="34" charset="0"/>
                  <a:buChar char="•"/>
                </a:pPr>
                <a:r>
                  <a:rPr lang="en-IN" sz="1200" dirty="0"/>
                  <a:t>On an average 72% people don’t track their monthly health expense separately but given a user-friendly and secured application they were interested to use it. (Exhibit 1 &amp; 2)</a:t>
                </a:r>
              </a:p>
              <a:p>
                <a:pPr marL="285750" indent="-285750">
                  <a:buFont typeface="Arial" panose="020B0604020202020204" pitchFamily="34" charset="0"/>
                  <a:buChar char="•"/>
                </a:pPr>
                <a:r>
                  <a:rPr lang="en-IN" sz="1200" dirty="0"/>
                  <a:t>73.3% people want regular reminders to track things like blood sugar blood pressure of themselves or their family members.(Exhibit 3)</a:t>
                </a:r>
              </a:p>
              <a:p>
                <a:pPr marL="285750" indent="-285750">
                  <a:buFont typeface="Arial" panose="020B0604020202020204" pitchFamily="34" charset="0"/>
                  <a:buChar char="•"/>
                </a:pPr>
                <a:r>
                  <a:rPr lang="en-IN" sz="1200" dirty="0"/>
                  <a:t>Family members of 52% people are suffering from long term diseases and they want to track their regular consultation and updates.(Exhibit 4)</a:t>
                </a:r>
              </a:p>
              <a:p>
                <a:pPr marL="285750" indent="-285750">
                  <a:buFont typeface="Arial" panose="020B0604020202020204" pitchFamily="34" charset="0"/>
                  <a:buChar char="•"/>
                </a:pPr>
                <a:r>
                  <a:rPr lang="en-IN" sz="1200" dirty="0"/>
                  <a:t>30% people do misplace their doctor’s prescription, reports and other important documents.(Exhibit 5)</a:t>
                </a:r>
              </a:p>
            </p:txBody>
          </p:sp>
          <p:sp>
            <p:nvSpPr>
              <p:cNvPr id="68" name="Rectangle 67">
                <a:extLst>
                  <a:ext uri="{FF2B5EF4-FFF2-40B4-BE49-F238E27FC236}">
                    <a16:creationId xmlns:a16="http://schemas.microsoft.com/office/drawing/2014/main" id="{3FBDC8F1-2166-4FFF-8D1C-142F0A6A1F5A}"/>
                  </a:ext>
                </a:extLst>
              </p:cNvPr>
              <p:cNvSpPr/>
              <p:nvPr/>
            </p:nvSpPr>
            <p:spPr>
              <a:xfrm>
                <a:off x="7410228" y="657435"/>
                <a:ext cx="3102354" cy="341807"/>
              </a:xfrm>
              <a:prstGeom prst="rect">
                <a:avLst/>
              </a:prstGeom>
              <a:solidFill>
                <a:schemeClr val="accent4">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Insights from Primary Research</a:t>
                </a:r>
                <a:endParaRPr lang="en-IN" sz="1400" dirty="0"/>
              </a:p>
            </p:txBody>
          </p:sp>
        </p:grpSp>
        <p:pic>
          <p:nvPicPr>
            <p:cNvPr id="70" name="Picture 69">
              <a:extLst>
                <a:ext uri="{FF2B5EF4-FFF2-40B4-BE49-F238E27FC236}">
                  <a16:creationId xmlns:a16="http://schemas.microsoft.com/office/drawing/2014/main" id="{2C376B90-3DE4-4D7E-9FEC-7BF3D385083E}"/>
                </a:ext>
              </a:extLst>
            </p:cNvPr>
            <p:cNvPicPr>
              <a:picLocks noChangeAspect="1"/>
            </p:cNvPicPr>
            <p:nvPr/>
          </p:nvPicPr>
          <p:blipFill>
            <a:blip r:embed="rId2"/>
            <a:stretch>
              <a:fillRect/>
            </a:stretch>
          </p:blipFill>
          <p:spPr>
            <a:xfrm rot="15970381">
              <a:off x="11477452" y="572020"/>
              <a:ext cx="533258" cy="533258"/>
            </a:xfrm>
            <a:prstGeom prst="rect">
              <a:avLst/>
            </a:prstGeom>
          </p:spPr>
        </p:pic>
      </p:grpSp>
      <p:sp>
        <p:nvSpPr>
          <p:cNvPr id="92" name="TextBox 91">
            <a:extLst>
              <a:ext uri="{FF2B5EF4-FFF2-40B4-BE49-F238E27FC236}">
                <a16:creationId xmlns:a16="http://schemas.microsoft.com/office/drawing/2014/main" id="{24CF9706-A037-4FFC-A8EB-5283842A995F}"/>
              </a:ext>
            </a:extLst>
          </p:cNvPr>
          <p:cNvSpPr txBox="1"/>
          <p:nvPr/>
        </p:nvSpPr>
        <p:spPr>
          <a:xfrm>
            <a:off x="299037" y="3194414"/>
            <a:ext cx="2459283" cy="1384995"/>
          </a:xfrm>
          <a:prstGeom prst="rect">
            <a:avLst/>
          </a:prstGeom>
          <a:noFill/>
        </p:spPr>
        <p:txBody>
          <a:bodyPr wrap="square">
            <a:spAutoFit/>
          </a:bodyPr>
          <a:lstStyle/>
          <a:p>
            <a:r>
              <a:rPr lang="en-GB" sz="1200" b="1" dirty="0">
                <a:solidFill>
                  <a:srgbClr val="FFC000"/>
                </a:solidFill>
              </a:rPr>
              <a:t>Strengths:</a:t>
            </a:r>
          </a:p>
          <a:p>
            <a:pPr marL="171450" indent="-171450">
              <a:buFont typeface="Arial" panose="020B0604020202020204" pitchFamily="34" charset="0"/>
              <a:buChar char="•"/>
            </a:pPr>
            <a:r>
              <a:rPr lang="en-GB" sz="1200" dirty="0">
                <a:solidFill>
                  <a:srgbClr val="FFC000"/>
                </a:solidFill>
              </a:rPr>
              <a:t>Cost Effective</a:t>
            </a:r>
          </a:p>
          <a:p>
            <a:pPr marL="171450" indent="-171450">
              <a:buFont typeface="Arial" panose="020B0604020202020204" pitchFamily="34" charset="0"/>
              <a:buChar char="•"/>
            </a:pPr>
            <a:r>
              <a:rPr lang="en-GB" sz="1200" dirty="0">
                <a:solidFill>
                  <a:srgbClr val="FFC000"/>
                </a:solidFill>
              </a:rPr>
              <a:t>Speedy access to medical data</a:t>
            </a:r>
          </a:p>
          <a:p>
            <a:pPr marL="171450" indent="-171450">
              <a:buFont typeface="Arial" panose="020B0604020202020204" pitchFamily="34" charset="0"/>
              <a:buChar char="•"/>
            </a:pPr>
            <a:r>
              <a:rPr lang="en-GB" sz="1200" dirty="0">
                <a:solidFill>
                  <a:srgbClr val="FFC000"/>
                </a:solidFill>
              </a:rPr>
              <a:t>Different revenue streams and monetization options</a:t>
            </a:r>
          </a:p>
          <a:p>
            <a:pPr marL="171450" indent="-171450">
              <a:buFont typeface="Arial" panose="020B0604020202020204" pitchFamily="34" charset="0"/>
              <a:buChar char="•"/>
            </a:pPr>
            <a:r>
              <a:rPr lang="en-GB" sz="1200" dirty="0">
                <a:solidFill>
                  <a:srgbClr val="FFC000"/>
                </a:solidFill>
              </a:rPr>
              <a:t>Rated as high for ease of use</a:t>
            </a:r>
          </a:p>
          <a:p>
            <a:pPr marL="171450" indent="-171450">
              <a:buFont typeface="Arial" panose="020B0604020202020204" pitchFamily="34" charset="0"/>
              <a:buChar char="•"/>
            </a:pPr>
            <a:r>
              <a:rPr lang="en-GB" sz="1200" dirty="0">
                <a:solidFill>
                  <a:srgbClr val="FFC000"/>
                </a:solidFill>
              </a:rPr>
              <a:t>Economic business model</a:t>
            </a:r>
            <a:endParaRPr lang="en-IN" sz="1200" dirty="0">
              <a:solidFill>
                <a:srgbClr val="FFC000"/>
              </a:solidFill>
            </a:endParaRPr>
          </a:p>
        </p:txBody>
      </p:sp>
      <p:sp>
        <p:nvSpPr>
          <p:cNvPr id="93" name="TextBox 92">
            <a:extLst>
              <a:ext uri="{FF2B5EF4-FFF2-40B4-BE49-F238E27FC236}">
                <a16:creationId xmlns:a16="http://schemas.microsoft.com/office/drawing/2014/main" id="{59061DDE-417A-41AC-A19E-FB527D5C179F}"/>
              </a:ext>
            </a:extLst>
          </p:cNvPr>
          <p:cNvSpPr txBox="1"/>
          <p:nvPr/>
        </p:nvSpPr>
        <p:spPr>
          <a:xfrm>
            <a:off x="4309670" y="3194414"/>
            <a:ext cx="2121031" cy="1200329"/>
          </a:xfrm>
          <a:prstGeom prst="rect">
            <a:avLst/>
          </a:prstGeom>
          <a:noFill/>
        </p:spPr>
        <p:txBody>
          <a:bodyPr wrap="square">
            <a:spAutoFit/>
          </a:bodyPr>
          <a:lstStyle/>
          <a:p>
            <a:r>
              <a:rPr lang="en-GB" sz="1200" b="1" dirty="0">
                <a:solidFill>
                  <a:schemeClr val="bg1">
                    <a:lumMod val="50000"/>
                  </a:schemeClr>
                </a:solidFill>
              </a:rPr>
              <a:t>Weakness:</a:t>
            </a:r>
          </a:p>
          <a:p>
            <a:pPr marL="171450" indent="-171450">
              <a:buFont typeface="Arial" panose="020B0604020202020204" pitchFamily="34" charset="0"/>
              <a:buChar char="•"/>
            </a:pPr>
            <a:r>
              <a:rPr lang="en-GB" sz="1200" dirty="0">
                <a:solidFill>
                  <a:schemeClr val="bg1">
                    <a:lumMod val="50000"/>
                  </a:schemeClr>
                </a:solidFill>
              </a:rPr>
              <a:t>Privacy concerns	</a:t>
            </a:r>
          </a:p>
          <a:p>
            <a:pPr marL="171450" indent="-171450">
              <a:buFont typeface="Arial" panose="020B0604020202020204" pitchFamily="34" charset="0"/>
              <a:buChar char="•"/>
            </a:pPr>
            <a:r>
              <a:rPr lang="en-GB" sz="1200" dirty="0">
                <a:solidFill>
                  <a:schemeClr val="bg1">
                    <a:lumMod val="50000"/>
                  </a:schemeClr>
                </a:solidFill>
              </a:rPr>
              <a:t>Lack of awareness	</a:t>
            </a:r>
          </a:p>
          <a:p>
            <a:pPr marL="171450" indent="-171450">
              <a:buFont typeface="Arial" panose="020B0604020202020204" pitchFamily="34" charset="0"/>
              <a:buChar char="•"/>
            </a:pPr>
            <a:r>
              <a:rPr lang="en-GB" sz="1200" dirty="0">
                <a:solidFill>
                  <a:schemeClr val="bg1">
                    <a:lumMod val="50000"/>
                  </a:schemeClr>
                </a:solidFill>
              </a:rPr>
              <a:t>consumers citing a lack of  digital awareness among    older patients.</a:t>
            </a:r>
            <a:r>
              <a:rPr lang="en-GB" sz="1200" dirty="0"/>
              <a:t>	</a:t>
            </a:r>
            <a:endParaRPr lang="en-IN" sz="1200" dirty="0"/>
          </a:p>
        </p:txBody>
      </p:sp>
      <p:sp>
        <p:nvSpPr>
          <p:cNvPr id="94" name="TextBox 93">
            <a:extLst>
              <a:ext uri="{FF2B5EF4-FFF2-40B4-BE49-F238E27FC236}">
                <a16:creationId xmlns:a16="http://schemas.microsoft.com/office/drawing/2014/main" id="{2FE13138-2AAF-4768-A793-CD412DACB1A9}"/>
              </a:ext>
            </a:extLst>
          </p:cNvPr>
          <p:cNvSpPr txBox="1"/>
          <p:nvPr/>
        </p:nvSpPr>
        <p:spPr>
          <a:xfrm>
            <a:off x="299037" y="4681688"/>
            <a:ext cx="4065307" cy="1938992"/>
          </a:xfrm>
          <a:prstGeom prst="rect">
            <a:avLst/>
          </a:prstGeom>
          <a:noFill/>
        </p:spPr>
        <p:txBody>
          <a:bodyPr wrap="square">
            <a:spAutoFit/>
          </a:bodyPr>
          <a:lstStyle/>
          <a:p>
            <a:r>
              <a:rPr lang="en-GB" sz="1200" b="1" dirty="0">
                <a:solidFill>
                  <a:schemeClr val="accent1">
                    <a:lumMod val="75000"/>
                  </a:schemeClr>
                </a:solidFill>
              </a:rPr>
              <a:t>Opportunities:</a:t>
            </a:r>
          </a:p>
          <a:p>
            <a:pPr marL="171450" indent="-171450">
              <a:buFont typeface="Arial" panose="020B0604020202020204" pitchFamily="34" charset="0"/>
              <a:buChar char="•"/>
            </a:pPr>
            <a:r>
              <a:rPr lang="en-GB" sz="1200" dirty="0">
                <a:solidFill>
                  <a:schemeClr val="accent1">
                    <a:lumMod val="75000"/>
                  </a:schemeClr>
                </a:solidFill>
              </a:rPr>
              <a:t>Fragmented market</a:t>
            </a:r>
          </a:p>
          <a:p>
            <a:pPr marL="171450" indent="-171450">
              <a:buFont typeface="Arial" panose="020B0604020202020204" pitchFamily="34" charset="0"/>
              <a:buChar char="•"/>
            </a:pPr>
            <a:r>
              <a:rPr lang="en-GB" sz="1200" dirty="0">
                <a:solidFill>
                  <a:schemeClr val="accent1">
                    <a:lumMod val="75000"/>
                  </a:schemeClr>
                </a:solidFill>
              </a:rPr>
              <a:t>Digital healthcare platforms could be provided additional tax sops to promote entrepreneurship in this space</a:t>
            </a:r>
          </a:p>
          <a:p>
            <a:pPr marL="171450" indent="-171450">
              <a:buFont typeface="Arial" panose="020B0604020202020204" pitchFamily="34" charset="0"/>
              <a:buChar char="•"/>
            </a:pPr>
            <a:r>
              <a:rPr lang="en-GB" sz="1200" dirty="0">
                <a:solidFill>
                  <a:schemeClr val="accent1">
                    <a:lumMod val="75000"/>
                  </a:schemeClr>
                </a:solidFill>
              </a:rPr>
              <a:t>$6.8 billion of credit incentives to boost the country's healthcare infrastructure.</a:t>
            </a:r>
          </a:p>
          <a:p>
            <a:pPr marL="171450" indent="-171450">
              <a:buFont typeface="Arial" panose="020B0604020202020204" pitchFamily="34" charset="0"/>
              <a:buChar char="•"/>
            </a:pPr>
            <a:r>
              <a:rPr lang="en-GB" sz="1200" dirty="0">
                <a:solidFill>
                  <a:schemeClr val="accent1">
                    <a:lumMod val="75000"/>
                  </a:schemeClr>
                </a:solidFill>
              </a:rPr>
              <a:t>Technology integration like IoT, big data, AI, etc have the potential to cut out the healthcare costs.</a:t>
            </a:r>
          </a:p>
          <a:p>
            <a:pPr marL="171450" indent="-171450">
              <a:buFont typeface="Arial" panose="020B0604020202020204" pitchFamily="34" charset="0"/>
              <a:buChar char="•"/>
            </a:pPr>
            <a:r>
              <a:rPr lang="en-GB" sz="1200" dirty="0">
                <a:solidFill>
                  <a:schemeClr val="accent1">
                    <a:lumMod val="75000"/>
                  </a:schemeClr>
                </a:solidFill>
              </a:rPr>
              <a:t>Transforming healthcare with IoT to improve security, privacy, interoperability, and analytics for medical devices</a:t>
            </a:r>
            <a:endParaRPr lang="en-IN" sz="1200" dirty="0">
              <a:solidFill>
                <a:schemeClr val="accent1">
                  <a:lumMod val="75000"/>
                </a:schemeClr>
              </a:solidFill>
            </a:endParaRPr>
          </a:p>
        </p:txBody>
      </p:sp>
      <p:sp>
        <p:nvSpPr>
          <p:cNvPr id="95" name="TextBox 94">
            <a:extLst>
              <a:ext uri="{FF2B5EF4-FFF2-40B4-BE49-F238E27FC236}">
                <a16:creationId xmlns:a16="http://schemas.microsoft.com/office/drawing/2014/main" id="{30F08407-36B8-4267-A0D8-F5FA86166646}"/>
              </a:ext>
            </a:extLst>
          </p:cNvPr>
          <p:cNvSpPr txBox="1"/>
          <p:nvPr/>
        </p:nvSpPr>
        <p:spPr>
          <a:xfrm>
            <a:off x="4311084" y="4681688"/>
            <a:ext cx="2202074" cy="1938992"/>
          </a:xfrm>
          <a:prstGeom prst="rect">
            <a:avLst/>
          </a:prstGeom>
          <a:noFill/>
        </p:spPr>
        <p:txBody>
          <a:bodyPr wrap="square">
            <a:spAutoFit/>
          </a:bodyPr>
          <a:lstStyle/>
          <a:p>
            <a:r>
              <a:rPr lang="en-GB" sz="1200" b="1" dirty="0">
                <a:solidFill>
                  <a:schemeClr val="accent2">
                    <a:lumMod val="75000"/>
                  </a:schemeClr>
                </a:solidFill>
              </a:rPr>
              <a:t>Threats:</a:t>
            </a:r>
          </a:p>
          <a:p>
            <a:pPr marL="171450" indent="-171450">
              <a:buFont typeface="Arial" panose="020B0604020202020204" pitchFamily="34" charset="0"/>
              <a:buChar char="•"/>
            </a:pPr>
            <a:r>
              <a:rPr lang="en-GB" sz="1200" dirty="0">
                <a:solidFill>
                  <a:schemeClr val="accent2">
                    <a:lumMod val="75000"/>
                  </a:schemeClr>
                </a:solidFill>
              </a:rPr>
              <a:t>2/3 industry dominant players in the market</a:t>
            </a:r>
          </a:p>
          <a:p>
            <a:pPr marL="171450" indent="-171450">
              <a:buFont typeface="Arial" panose="020B0604020202020204" pitchFamily="34" charset="0"/>
              <a:buChar char="•"/>
            </a:pPr>
            <a:r>
              <a:rPr lang="en-GB" sz="1200" dirty="0">
                <a:solidFill>
                  <a:schemeClr val="accent2">
                    <a:lumMod val="75000"/>
                  </a:schemeClr>
                </a:solidFill>
              </a:rPr>
              <a:t>Possible change of legal regulations</a:t>
            </a:r>
          </a:p>
          <a:p>
            <a:pPr marL="171450" indent="-171450">
              <a:buFont typeface="Arial" panose="020B0604020202020204" pitchFamily="34" charset="0"/>
              <a:buChar char="•"/>
            </a:pPr>
            <a:r>
              <a:rPr lang="en-GB" sz="1200" dirty="0">
                <a:solidFill>
                  <a:schemeClr val="accent2">
                    <a:lumMod val="75000"/>
                  </a:schemeClr>
                </a:solidFill>
              </a:rPr>
              <a:t>Unreliable network, internet and electricity access</a:t>
            </a:r>
          </a:p>
          <a:p>
            <a:pPr marL="171450" indent="-171450">
              <a:buFont typeface="Arial" panose="020B0604020202020204" pitchFamily="34" charset="0"/>
              <a:buChar char="•"/>
            </a:pPr>
            <a:r>
              <a:rPr lang="en-GB" sz="1200" dirty="0">
                <a:solidFill>
                  <a:schemeClr val="accent2">
                    <a:lumMod val="75000"/>
                  </a:schemeClr>
                </a:solidFill>
              </a:rPr>
              <a:t>Cultural and trust concerns to adopt new technologies for sensitive data</a:t>
            </a:r>
            <a:endParaRPr lang="en-IN" sz="1200" dirty="0">
              <a:solidFill>
                <a:schemeClr val="accent2">
                  <a:lumMod val="75000"/>
                </a:schemeClr>
              </a:solidFill>
            </a:endParaRPr>
          </a:p>
        </p:txBody>
      </p:sp>
      <p:cxnSp>
        <p:nvCxnSpPr>
          <p:cNvPr id="29" name="Straight Connector 28">
            <a:extLst>
              <a:ext uri="{FF2B5EF4-FFF2-40B4-BE49-F238E27FC236}">
                <a16:creationId xmlns:a16="http://schemas.microsoft.com/office/drawing/2014/main" id="{CD66865D-C339-452B-850A-7EE483DBADFF}"/>
              </a:ext>
            </a:extLst>
          </p:cNvPr>
          <p:cNvCxnSpPr/>
          <p:nvPr/>
        </p:nvCxnSpPr>
        <p:spPr>
          <a:xfrm>
            <a:off x="6621828" y="2829218"/>
            <a:ext cx="0" cy="3856668"/>
          </a:xfrm>
          <a:prstGeom prst="line">
            <a:avLst/>
          </a:prstGeom>
        </p:spPr>
        <p:style>
          <a:lnRef idx="1">
            <a:schemeClr val="dk1"/>
          </a:lnRef>
          <a:fillRef idx="0">
            <a:schemeClr val="dk1"/>
          </a:fillRef>
          <a:effectRef idx="0">
            <a:schemeClr val="dk1"/>
          </a:effectRef>
          <a:fontRef idx="minor">
            <a:schemeClr val="tx1"/>
          </a:fontRef>
        </p:style>
      </p:cxnSp>
      <p:graphicFrame>
        <p:nvGraphicFramePr>
          <p:cNvPr id="39" name="Diagram 38">
            <a:extLst>
              <a:ext uri="{FF2B5EF4-FFF2-40B4-BE49-F238E27FC236}">
                <a16:creationId xmlns:a16="http://schemas.microsoft.com/office/drawing/2014/main" id="{E0D32867-B497-4FB6-8AFB-649A47FE5AB6}"/>
              </a:ext>
            </a:extLst>
          </p:cNvPr>
          <p:cNvGraphicFramePr/>
          <p:nvPr>
            <p:extLst>
              <p:ext uri="{D42A27DB-BD31-4B8C-83A1-F6EECF244321}">
                <p14:modId xmlns:p14="http://schemas.microsoft.com/office/powerpoint/2010/main" val="4226342335"/>
              </p:ext>
            </p:extLst>
          </p:nvPr>
        </p:nvGraphicFramePr>
        <p:xfrm>
          <a:off x="6632594" y="3811603"/>
          <a:ext cx="5500045" cy="28540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40" name="Group 39">
            <a:extLst>
              <a:ext uri="{FF2B5EF4-FFF2-40B4-BE49-F238E27FC236}">
                <a16:creationId xmlns:a16="http://schemas.microsoft.com/office/drawing/2014/main" id="{3E42A508-D030-41A0-B907-4FA5E7732C67}"/>
              </a:ext>
            </a:extLst>
          </p:cNvPr>
          <p:cNvGrpSpPr/>
          <p:nvPr/>
        </p:nvGrpSpPr>
        <p:grpSpPr>
          <a:xfrm>
            <a:off x="6871053" y="2871280"/>
            <a:ext cx="4200150" cy="830997"/>
            <a:chOff x="6886198" y="5970335"/>
            <a:chExt cx="4200150" cy="830997"/>
          </a:xfrm>
        </p:grpSpPr>
        <p:sp>
          <p:nvSpPr>
            <p:cNvPr id="55" name="TextBox 54">
              <a:extLst>
                <a:ext uri="{FF2B5EF4-FFF2-40B4-BE49-F238E27FC236}">
                  <a16:creationId xmlns:a16="http://schemas.microsoft.com/office/drawing/2014/main" id="{48F36A73-B318-4A01-81BD-B1194AA31EDE}"/>
                </a:ext>
              </a:extLst>
            </p:cNvPr>
            <p:cNvSpPr txBox="1"/>
            <p:nvPr/>
          </p:nvSpPr>
          <p:spPr>
            <a:xfrm>
              <a:off x="7190437" y="6084732"/>
              <a:ext cx="989467" cy="646331"/>
            </a:xfrm>
            <a:prstGeom prst="rect">
              <a:avLst/>
            </a:prstGeom>
            <a:noFill/>
          </p:spPr>
          <p:txBody>
            <a:bodyPr wrap="square" rtlCol="0">
              <a:spAutoFit/>
            </a:bodyPr>
            <a:lstStyle/>
            <a:p>
              <a:r>
                <a:rPr lang="en-GB" sz="1200" dirty="0"/>
                <a:t>Healthcare</a:t>
              </a:r>
            </a:p>
            <a:p>
              <a:r>
                <a:rPr lang="en-GB" sz="1200" dirty="0"/>
                <a:t>Apps Market </a:t>
              </a:r>
            </a:p>
            <a:p>
              <a:r>
                <a:rPr lang="en-GB" sz="1200" dirty="0"/>
                <a:t>₹ 27.01 bn</a:t>
              </a:r>
              <a:endParaRPr lang="en-IN" sz="1200" dirty="0"/>
            </a:p>
          </p:txBody>
        </p:sp>
        <p:sp>
          <p:nvSpPr>
            <p:cNvPr id="57" name="TextBox 56">
              <a:extLst>
                <a:ext uri="{FF2B5EF4-FFF2-40B4-BE49-F238E27FC236}">
                  <a16:creationId xmlns:a16="http://schemas.microsoft.com/office/drawing/2014/main" id="{526768C5-CF45-4FA2-9232-3D5E0693C161}"/>
                </a:ext>
              </a:extLst>
            </p:cNvPr>
            <p:cNvSpPr txBox="1"/>
            <p:nvPr/>
          </p:nvSpPr>
          <p:spPr>
            <a:xfrm>
              <a:off x="8659251" y="5970335"/>
              <a:ext cx="1089389" cy="830997"/>
            </a:xfrm>
            <a:prstGeom prst="rect">
              <a:avLst/>
            </a:prstGeom>
            <a:noFill/>
          </p:spPr>
          <p:txBody>
            <a:bodyPr wrap="square" rtlCol="0">
              <a:spAutoFit/>
            </a:bodyPr>
            <a:lstStyle/>
            <a:p>
              <a:r>
                <a:rPr lang="en-GB" sz="1200" dirty="0"/>
                <a:t>Forecasted </a:t>
              </a:r>
            </a:p>
            <a:p>
              <a:r>
                <a:rPr lang="en-GB" sz="1200" dirty="0"/>
                <a:t>to reach</a:t>
              </a:r>
            </a:p>
            <a:p>
              <a:r>
                <a:rPr lang="en-GB" sz="1200" dirty="0"/>
                <a:t>₹ 138 bn </a:t>
              </a:r>
            </a:p>
            <a:p>
              <a:r>
                <a:rPr lang="en-GB" sz="1200" dirty="0"/>
                <a:t>by 2024</a:t>
              </a:r>
              <a:endParaRPr lang="en-IN" sz="1200" dirty="0"/>
            </a:p>
          </p:txBody>
        </p:sp>
        <p:pic>
          <p:nvPicPr>
            <p:cNvPr id="61" name="Picture 60">
              <a:extLst>
                <a:ext uri="{FF2B5EF4-FFF2-40B4-BE49-F238E27FC236}">
                  <a16:creationId xmlns:a16="http://schemas.microsoft.com/office/drawing/2014/main" id="{5BB00A82-E5D5-426B-A0A1-F8EE5C110709}"/>
                </a:ext>
              </a:extLst>
            </p:cNvPr>
            <p:cNvPicPr>
              <a:picLocks noChangeAspect="1"/>
            </p:cNvPicPr>
            <p:nvPr/>
          </p:nvPicPr>
          <p:blipFill>
            <a:blip r:embed="rId8"/>
            <a:stretch>
              <a:fillRect/>
            </a:stretch>
          </p:blipFill>
          <p:spPr>
            <a:xfrm>
              <a:off x="9539955" y="6161351"/>
              <a:ext cx="401422" cy="336038"/>
            </a:xfrm>
            <a:prstGeom prst="rect">
              <a:avLst/>
            </a:prstGeom>
          </p:spPr>
        </p:pic>
        <p:pic>
          <p:nvPicPr>
            <p:cNvPr id="1032" name="Picture 8" descr="Forecasting free icon">
              <a:extLst>
                <a:ext uri="{FF2B5EF4-FFF2-40B4-BE49-F238E27FC236}">
                  <a16:creationId xmlns:a16="http://schemas.microsoft.com/office/drawing/2014/main" id="{57D89391-0238-492B-A6A7-F1E270EA54B7}"/>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253286" y="6161351"/>
              <a:ext cx="392327" cy="426592"/>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A1F22B39-DE1A-4C66-A8E3-DF8AA318402C}"/>
                </a:ext>
              </a:extLst>
            </p:cNvPr>
            <p:cNvPicPr>
              <a:picLocks noChangeAspect="1"/>
            </p:cNvPicPr>
            <p:nvPr/>
          </p:nvPicPr>
          <p:blipFill>
            <a:blip r:embed="rId10"/>
            <a:stretch>
              <a:fillRect/>
            </a:stretch>
          </p:blipFill>
          <p:spPr>
            <a:xfrm>
              <a:off x="10685336" y="6147657"/>
              <a:ext cx="401012" cy="402029"/>
            </a:xfrm>
            <a:prstGeom prst="rect">
              <a:avLst/>
            </a:prstGeom>
          </p:spPr>
        </p:pic>
        <p:pic>
          <p:nvPicPr>
            <p:cNvPr id="175" name="Picture 6" descr="Market trends free icon">
              <a:extLst>
                <a:ext uri="{FF2B5EF4-FFF2-40B4-BE49-F238E27FC236}">
                  <a16:creationId xmlns:a16="http://schemas.microsoft.com/office/drawing/2014/main" id="{7F7EFF71-79DD-403F-A0B8-74B7C8374F9A}"/>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886198" y="6207937"/>
              <a:ext cx="332577" cy="33342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4" name="Group 63">
            <a:extLst>
              <a:ext uri="{FF2B5EF4-FFF2-40B4-BE49-F238E27FC236}">
                <a16:creationId xmlns:a16="http://schemas.microsoft.com/office/drawing/2014/main" id="{0E4BC050-734A-4ED1-88B5-FC18973F8029}"/>
              </a:ext>
            </a:extLst>
          </p:cNvPr>
          <p:cNvGrpSpPr/>
          <p:nvPr/>
        </p:nvGrpSpPr>
        <p:grpSpPr>
          <a:xfrm>
            <a:off x="0" y="-21869"/>
            <a:ext cx="12192000" cy="536077"/>
            <a:chOff x="0" y="-21869"/>
            <a:chExt cx="12192000" cy="536077"/>
          </a:xfrm>
        </p:grpSpPr>
        <p:sp>
          <p:nvSpPr>
            <p:cNvPr id="71" name="Pentagon 18">
              <a:extLst>
                <a:ext uri="{FF2B5EF4-FFF2-40B4-BE49-F238E27FC236}">
                  <a16:creationId xmlns:a16="http://schemas.microsoft.com/office/drawing/2014/main" id="{47D020D3-76CD-47B7-9AAB-236D53A4321B}"/>
                </a:ext>
              </a:extLst>
            </p:cNvPr>
            <p:cNvSpPr/>
            <p:nvPr/>
          </p:nvSpPr>
          <p:spPr>
            <a:xfrm>
              <a:off x="10069737" y="-21869"/>
              <a:ext cx="2122263"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         Appendix II</a:t>
              </a:r>
              <a:endParaRPr lang="en-IN" sz="1200" b="1" dirty="0"/>
            </a:p>
          </p:txBody>
        </p:sp>
        <p:sp>
          <p:nvSpPr>
            <p:cNvPr id="72" name="Pentagon 18">
              <a:extLst>
                <a:ext uri="{FF2B5EF4-FFF2-40B4-BE49-F238E27FC236}">
                  <a16:creationId xmlns:a16="http://schemas.microsoft.com/office/drawing/2014/main" id="{C855AA71-00E9-40AB-8791-1882DBF03D2E}"/>
                </a:ext>
              </a:extLst>
            </p:cNvPr>
            <p:cNvSpPr/>
            <p:nvPr/>
          </p:nvSpPr>
          <p:spPr>
            <a:xfrm>
              <a:off x="8457282" y="-21869"/>
              <a:ext cx="2122264"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         Appendix I</a:t>
              </a:r>
              <a:endParaRPr lang="en-IN" sz="1200" b="1" dirty="0"/>
            </a:p>
          </p:txBody>
        </p:sp>
        <p:sp>
          <p:nvSpPr>
            <p:cNvPr id="73" name="Pentagon 18">
              <a:extLst>
                <a:ext uri="{FF2B5EF4-FFF2-40B4-BE49-F238E27FC236}">
                  <a16:creationId xmlns:a16="http://schemas.microsoft.com/office/drawing/2014/main" id="{CF386D72-3E95-4558-B034-1BC33FAACA42}"/>
                </a:ext>
              </a:extLst>
            </p:cNvPr>
            <p:cNvSpPr/>
            <p:nvPr/>
          </p:nvSpPr>
          <p:spPr>
            <a:xfrm>
              <a:off x="6447179" y="-21869"/>
              <a:ext cx="2541105"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             Go-to Market Strategy &amp; Financials</a:t>
              </a:r>
              <a:endParaRPr lang="en-IN" sz="1200" b="1" dirty="0"/>
            </a:p>
          </p:txBody>
        </p:sp>
        <p:grpSp>
          <p:nvGrpSpPr>
            <p:cNvPr id="74" name="Group 73">
              <a:extLst>
                <a:ext uri="{FF2B5EF4-FFF2-40B4-BE49-F238E27FC236}">
                  <a16:creationId xmlns:a16="http://schemas.microsoft.com/office/drawing/2014/main" id="{6E8D0E24-8063-462A-AF39-4475529D36DD}"/>
                </a:ext>
              </a:extLst>
            </p:cNvPr>
            <p:cNvGrpSpPr/>
            <p:nvPr/>
          </p:nvGrpSpPr>
          <p:grpSpPr>
            <a:xfrm>
              <a:off x="0" y="-21869"/>
              <a:ext cx="7064096" cy="536077"/>
              <a:chOff x="0" y="9861"/>
              <a:chExt cx="7372069" cy="536077"/>
            </a:xfrm>
          </p:grpSpPr>
          <p:sp>
            <p:nvSpPr>
              <p:cNvPr id="75" name="Pentagon 18">
                <a:extLst>
                  <a:ext uri="{FF2B5EF4-FFF2-40B4-BE49-F238E27FC236}">
                    <a16:creationId xmlns:a16="http://schemas.microsoft.com/office/drawing/2014/main" id="{F7AAD239-9A7E-4A7F-863C-C6B559491036}"/>
                  </a:ext>
                </a:extLst>
              </p:cNvPr>
              <p:cNvSpPr/>
              <p:nvPr/>
            </p:nvSpPr>
            <p:spPr>
              <a:xfrm>
                <a:off x="4433001" y="9861"/>
                <a:ext cx="2939068"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       Company SWOT, Competitors &amp; </a:t>
                </a:r>
              </a:p>
              <a:p>
                <a:pPr algn="ctr"/>
                <a:r>
                  <a:rPr lang="en-GB" sz="1200" b="1" dirty="0"/>
                  <a:t>       Competitor Analysis</a:t>
                </a:r>
                <a:endParaRPr lang="en-IN" sz="1200" b="1" dirty="0"/>
              </a:p>
            </p:txBody>
          </p:sp>
          <p:sp>
            <p:nvSpPr>
              <p:cNvPr id="76" name="Pentagon 18">
                <a:extLst>
                  <a:ext uri="{FF2B5EF4-FFF2-40B4-BE49-F238E27FC236}">
                    <a16:creationId xmlns:a16="http://schemas.microsoft.com/office/drawing/2014/main" id="{6C742F8A-B18C-40EA-B484-A4A33FA3AB22}"/>
                  </a:ext>
                </a:extLst>
              </p:cNvPr>
              <p:cNvSpPr/>
              <p:nvPr/>
            </p:nvSpPr>
            <p:spPr>
              <a:xfrm>
                <a:off x="1983049" y="12043"/>
                <a:ext cx="2912745"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            About the company, Features </a:t>
                </a:r>
              </a:p>
              <a:p>
                <a:pPr algn="ctr"/>
                <a:r>
                  <a:rPr lang="en-GB" sz="1200" b="1" dirty="0"/>
                  <a:t>&amp; Revenue Model</a:t>
                </a:r>
                <a:endParaRPr lang="en-IN" sz="1200" b="1" dirty="0"/>
              </a:p>
            </p:txBody>
          </p:sp>
          <p:sp>
            <p:nvSpPr>
              <p:cNvPr id="77" name="Pentagon 18">
                <a:extLst>
                  <a:ext uri="{FF2B5EF4-FFF2-40B4-BE49-F238E27FC236}">
                    <a16:creationId xmlns:a16="http://schemas.microsoft.com/office/drawing/2014/main" id="{8226F381-B809-4B9E-BCD9-31A33B6D25F1}"/>
                  </a:ext>
                </a:extLst>
              </p:cNvPr>
              <p:cNvSpPr/>
              <p:nvPr/>
            </p:nvSpPr>
            <p:spPr>
              <a:xfrm>
                <a:off x="0" y="12680"/>
                <a:ext cx="2600538" cy="533258"/>
              </a:xfrm>
              <a:prstGeom prst="homePlat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Market Research, Market SWOT &amp; Pain Points</a:t>
                </a:r>
                <a:endParaRPr lang="en-IN" sz="1200" b="1" dirty="0"/>
              </a:p>
            </p:txBody>
          </p:sp>
        </p:grpSp>
      </p:grpSp>
      <p:grpSp>
        <p:nvGrpSpPr>
          <p:cNvPr id="3" name="Group 2">
            <a:extLst>
              <a:ext uri="{FF2B5EF4-FFF2-40B4-BE49-F238E27FC236}">
                <a16:creationId xmlns:a16="http://schemas.microsoft.com/office/drawing/2014/main" id="{CA3B1D67-4089-4130-9C3E-9E5EA96DC61E}"/>
              </a:ext>
            </a:extLst>
          </p:cNvPr>
          <p:cNvGrpSpPr/>
          <p:nvPr/>
        </p:nvGrpSpPr>
        <p:grpSpPr>
          <a:xfrm>
            <a:off x="6304166" y="577564"/>
            <a:ext cx="5769268" cy="2132005"/>
            <a:chOff x="6306309" y="577564"/>
            <a:chExt cx="5769268" cy="2132005"/>
          </a:xfrm>
        </p:grpSpPr>
        <p:grpSp>
          <p:nvGrpSpPr>
            <p:cNvPr id="18" name="Group 17">
              <a:extLst>
                <a:ext uri="{FF2B5EF4-FFF2-40B4-BE49-F238E27FC236}">
                  <a16:creationId xmlns:a16="http://schemas.microsoft.com/office/drawing/2014/main" id="{640250A8-84C1-4E5D-A243-9E57A9AC123D}"/>
                </a:ext>
              </a:extLst>
            </p:cNvPr>
            <p:cNvGrpSpPr/>
            <p:nvPr/>
          </p:nvGrpSpPr>
          <p:grpSpPr>
            <a:xfrm>
              <a:off x="6306309" y="579131"/>
              <a:ext cx="5653675" cy="2130438"/>
              <a:chOff x="113761" y="2565394"/>
              <a:chExt cx="5653675" cy="2130438"/>
            </a:xfrm>
            <a:solidFill>
              <a:schemeClr val="accent4">
                <a:lumMod val="60000"/>
                <a:lumOff val="40000"/>
              </a:schemeClr>
            </a:solidFill>
            <a:effectLst>
              <a:outerShdw blurRad="50800" dist="38100" dir="2700000" algn="tl" rotWithShape="0">
                <a:prstClr val="black">
                  <a:alpha val="40000"/>
                </a:prstClr>
              </a:outerShdw>
            </a:effectLst>
          </p:grpSpPr>
          <p:sp>
            <p:nvSpPr>
              <p:cNvPr id="12" name="Rectangle: Rounded Corners 11">
                <a:extLst>
                  <a:ext uri="{FF2B5EF4-FFF2-40B4-BE49-F238E27FC236}">
                    <a16:creationId xmlns:a16="http://schemas.microsoft.com/office/drawing/2014/main" id="{6ECB8C95-9D5C-439D-8472-6B8686714C0A}"/>
                  </a:ext>
                </a:extLst>
              </p:cNvPr>
              <p:cNvSpPr/>
              <p:nvPr/>
            </p:nvSpPr>
            <p:spPr>
              <a:xfrm>
                <a:off x="113761" y="2744546"/>
                <a:ext cx="5653675" cy="1951286"/>
              </a:xfrm>
              <a:prstGeom prst="round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TextBox 62">
                <a:extLst>
                  <a:ext uri="{FF2B5EF4-FFF2-40B4-BE49-F238E27FC236}">
                    <a16:creationId xmlns:a16="http://schemas.microsoft.com/office/drawing/2014/main" id="{85A0B745-105C-401F-99EA-91FEB317CBB4}"/>
                  </a:ext>
                </a:extLst>
              </p:cNvPr>
              <p:cNvSpPr txBox="1"/>
              <p:nvPr/>
            </p:nvSpPr>
            <p:spPr>
              <a:xfrm>
                <a:off x="162562" y="2899641"/>
                <a:ext cx="5556071" cy="1754326"/>
              </a:xfrm>
              <a:prstGeom prst="rect">
                <a:avLst/>
              </a:prstGeom>
              <a:noFill/>
            </p:spPr>
            <p:txBody>
              <a:bodyPr wrap="square">
                <a:spAutoFit/>
              </a:bodyPr>
              <a:lstStyle/>
              <a:p>
                <a:pPr marL="171450" indent="-171450">
                  <a:buFont typeface="Arial" panose="020B0604020202020204" pitchFamily="34" charset="0"/>
                  <a:buChar char="•"/>
                </a:pPr>
                <a:r>
                  <a:rPr lang="en-GB" sz="1200" dirty="0"/>
                  <a:t>Rising and distributed patient base.</a:t>
                </a:r>
              </a:p>
              <a:p>
                <a:pPr marL="171450" indent="-171450">
                  <a:buFont typeface="Arial" panose="020B0604020202020204" pitchFamily="34" charset="0"/>
                  <a:buChar char="•"/>
                </a:pPr>
                <a:r>
                  <a:rPr lang="en-GB" sz="1200" dirty="0"/>
                  <a:t>Inadequate infrastructure and resources hindering access to even basic healthcare.(Exhibit 7) </a:t>
                </a:r>
              </a:p>
              <a:p>
                <a:pPr marL="171450" indent="-171450">
                  <a:buFont typeface="Arial" panose="020B0604020202020204" pitchFamily="34" charset="0"/>
                  <a:buChar char="•"/>
                </a:pPr>
                <a:r>
                  <a:rPr lang="en-GB" sz="1200" dirty="0"/>
                  <a:t>Indians have the highest Out of Pocket Expenditure on healthcare.	</a:t>
                </a:r>
              </a:p>
              <a:p>
                <a:pPr marL="171450" indent="-171450">
                  <a:buFont typeface="Arial" panose="020B0604020202020204" pitchFamily="34" charset="0"/>
                  <a:buChar char="•"/>
                </a:pPr>
                <a:r>
                  <a:rPr lang="en-GB" sz="1200" dirty="0"/>
                  <a:t>Rising healthcare costs and limited budget allocation for healthcare further constrain the healthcare ecosystem in India.(Exhibit 6)	</a:t>
                </a:r>
              </a:p>
              <a:p>
                <a:pPr marL="171450" indent="-171450">
                  <a:buFont typeface="Arial" panose="020B0604020202020204" pitchFamily="34" charset="0"/>
                  <a:buChar char="•"/>
                </a:pPr>
                <a:r>
                  <a:rPr lang="en-GB" sz="1200" dirty="0"/>
                  <a:t>Behavioural factors such as change in lifestyle have resulted in newer types of diseases which require access to specialists who are few in number and cannot be reached through traditional means of healthcare delivery.	</a:t>
                </a:r>
                <a:endParaRPr lang="en-IN" sz="1200" dirty="0"/>
              </a:p>
            </p:txBody>
          </p:sp>
          <p:sp>
            <p:nvSpPr>
              <p:cNvPr id="69" name="Rectangle 68">
                <a:extLst>
                  <a:ext uri="{FF2B5EF4-FFF2-40B4-BE49-F238E27FC236}">
                    <a16:creationId xmlns:a16="http://schemas.microsoft.com/office/drawing/2014/main" id="{B89E169A-66FA-4762-9B66-FE7FA18D9DBF}"/>
                  </a:ext>
                </a:extLst>
              </p:cNvPr>
              <p:cNvSpPr/>
              <p:nvPr/>
            </p:nvSpPr>
            <p:spPr>
              <a:xfrm>
                <a:off x="488605" y="2565394"/>
                <a:ext cx="3102354" cy="341807"/>
              </a:xfrm>
              <a:prstGeom prst="rect">
                <a:avLst/>
              </a:prstGeom>
              <a:solidFill>
                <a:schemeClr val="accent4">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dirty="0"/>
                  <a:t>Insights from Secondary Research (PWC Report 2020)</a:t>
                </a:r>
                <a:endParaRPr lang="en-IN" sz="1050" dirty="0"/>
              </a:p>
            </p:txBody>
          </p:sp>
        </p:grpSp>
        <p:pic>
          <p:nvPicPr>
            <p:cNvPr id="78" name="Picture 77">
              <a:extLst>
                <a:ext uri="{FF2B5EF4-FFF2-40B4-BE49-F238E27FC236}">
                  <a16:creationId xmlns:a16="http://schemas.microsoft.com/office/drawing/2014/main" id="{163A5B5D-96F0-4313-ACD8-5500520C9632}"/>
                </a:ext>
              </a:extLst>
            </p:cNvPr>
            <p:cNvPicPr>
              <a:picLocks noChangeAspect="1"/>
            </p:cNvPicPr>
            <p:nvPr/>
          </p:nvPicPr>
          <p:blipFill>
            <a:blip r:embed="rId2"/>
            <a:stretch>
              <a:fillRect/>
            </a:stretch>
          </p:blipFill>
          <p:spPr>
            <a:xfrm rot="15970381">
              <a:off x="11542319" y="577564"/>
              <a:ext cx="533258" cy="533258"/>
            </a:xfrm>
            <a:prstGeom prst="rect">
              <a:avLst/>
            </a:prstGeom>
          </p:spPr>
        </p:pic>
      </p:grpSp>
      <p:sp>
        <p:nvSpPr>
          <p:cNvPr id="4" name="TextBox 3">
            <a:extLst>
              <a:ext uri="{FF2B5EF4-FFF2-40B4-BE49-F238E27FC236}">
                <a16:creationId xmlns:a16="http://schemas.microsoft.com/office/drawing/2014/main" id="{C70F9D8D-8C0A-4CF5-B426-E896BA7C7FE0}"/>
              </a:ext>
            </a:extLst>
          </p:cNvPr>
          <p:cNvSpPr txBox="1"/>
          <p:nvPr/>
        </p:nvSpPr>
        <p:spPr>
          <a:xfrm>
            <a:off x="1357139" y="2787728"/>
            <a:ext cx="3511550" cy="369332"/>
          </a:xfrm>
          <a:prstGeom prst="rect">
            <a:avLst/>
          </a:prstGeom>
          <a:noFill/>
        </p:spPr>
        <p:txBody>
          <a:bodyPr wrap="square" rtlCol="0">
            <a:spAutoFit/>
          </a:bodyPr>
          <a:lstStyle/>
          <a:p>
            <a:pPr algn="ctr"/>
            <a:r>
              <a:rPr lang="en-US" b="1" dirty="0"/>
              <a:t>SWOT Analysis of the Market</a:t>
            </a:r>
            <a:endParaRPr lang="en-IN" b="1" dirty="0"/>
          </a:p>
        </p:txBody>
      </p:sp>
    </p:spTree>
    <p:extLst>
      <p:ext uri="{BB962C8B-B14F-4D97-AF65-F5344CB8AC3E}">
        <p14:creationId xmlns:p14="http://schemas.microsoft.com/office/powerpoint/2010/main" val="1300461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Arrow: Pentagon 11">
            <a:extLst>
              <a:ext uri="{FF2B5EF4-FFF2-40B4-BE49-F238E27FC236}">
                <a16:creationId xmlns:a16="http://schemas.microsoft.com/office/drawing/2014/main" id="{BBE4D09F-DF38-4741-A03F-D9B55FC50506}"/>
              </a:ext>
            </a:extLst>
          </p:cNvPr>
          <p:cNvSpPr/>
          <p:nvPr/>
        </p:nvSpPr>
        <p:spPr>
          <a:xfrm>
            <a:off x="58802" y="587145"/>
            <a:ext cx="2132743" cy="433732"/>
          </a:xfrm>
          <a:prstGeom prst="homePlat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3" name="Picture 122" descr="Logo, company name&#10;&#10;Description automatically generated">
            <a:extLst>
              <a:ext uri="{FF2B5EF4-FFF2-40B4-BE49-F238E27FC236}">
                <a16:creationId xmlns:a16="http://schemas.microsoft.com/office/drawing/2014/main" id="{75D8180A-DC03-4EC9-846C-8A938DCF82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9830" y="606128"/>
            <a:ext cx="2041085" cy="2041085"/>
          </a:xfrm>
          <a:prstGeom prst="rect">
            <a:avLst/>
          </a:prstGeom>
        </p:spPr>
      </p:pic>
      <p:sp>
        <p:nvSpPr>
          <p:cNvPr id="10" name="TextBox 9">
            <a:extLst>
              <a:ext uri="{FF2B5EF4-FFF2-40B4-BE49-F238E27FC236}">
                <a16:creationId xmlns:a16="http://schemas.microsoft.com/office/drawing/2014/main" id="{D8E32196-FFF1-45C7-9ED2-7D4A3508E874}"/>
              </a:ext>
            </a:extLst>
          </p:cNvPr>
          <p:cNvSpPr txBox="1"/>
          <p:nvPr/>
        </p:nvSpPr>
        <p:spPr>
          <a:xfrm>
            <a:off x="1543677" y="1220932"/>
            <a:ext cx="1968756" cy="1015663"/>
          </a:xfrm>
          <a:prstGeom prst="rect">
            <a:avLst/>
          </a:prstGeom>
          <a:noFill/>
        </p:spPr>
        <p:txBody>
          <a:bodyPr wrap="square">
            <a:spAutoFit/>
          </a:bodyPr>
          <a:lstStyle/>
          <a:p>
            <a:r>
              <a:rPr lang="en-GB" sz="1200" b="1" i="1" dirty="0"/>
              <a:t>“We make healthcare, understandable, accessible and trackable”</a:t>
            </a:r>
            <a:r>
              <a:rPr lang="en-GB" sz="1200" i="1" dirty="0"/>
              <a:t>	</a:t>
            </a:r>
            <a:r>
              <a:rPr lang="en-GB" sz="1200" dirty="0"/>
              <a:t>	</a:t>
            </a:r>
            <a:endParaRPr lang="en-IN" sz="1200" dirty="0"/>
          </a:p>
        </p:txBody>
      </p:sp>
      <p:sp>
        <p:nvSpPr>
          <p:cNvPr id="2" name="TextBox 1">
            <a:extLst>
              <a:ext uri="{FF2B5EF4-FFF2-40B4-BE49-F238E27FC236}">
                <a16:creationId xmlns:a16="http://schemas.microsoft.com/office/drawing/2014/main" id="{58F27A83-6C5F-43DE-B3CF-26FAD252538B}"/>
              </a:ext>
            </a:extLst>
          </p:cNvPr>
          <p:cNvSpPr txBox="1"/>
          <p:nvPr/>
        </p:nvSpPr>
        <p:spPr>
          <a:xfrm>
            <a:off x="169753" y="641286"/>
            <a:ext cx="1730453" cy="319198"/>
          </a:xfrm>
          <a:prstGeom prst="rect">
            <a:avLst/>
          </a:prstGeom>
          <a:noFill/>
        </p:spPr>
        <p:txBody>
          <a:bodyPr wrap="square" rtlCol="0">
            <a:spAutoFit/>
          </a:bodyPr>
          <a:lstStyle/>
          <a:p>
            <a:r>
              <a:rPr lang="en-US" sz="1400" b="1" dirty="0"/>
              <a:t>About The Company</a:t>
            </a:r>
            <a:endParaRPr lang="en-IN" sz="1400" b="1" dirty="0"/>
          </a:p>
        </p:txBody>
      </p:sp>
      <p:sp>
        <p:nvSpPr>
          <p:cNvPr id="3" name="TextBox 2">
            <a:extLst>
              <a:ext uri="{FF2B5EF4-FFF2-40B4-BE49-F238E27FC236}">
                <a16:creationId xmlns:a16="http://schemas.microsoft.com/office/drawing/2014/main" id="{FB7EBCC1-CB63-40C5-A646-D00C2F09A1E5}"/>
              </a:ext>
            </a:extLst>
          </p:cNvPr>
          <p:cNvSpPr txBox="1"/>
          <p:nvPr/>
        </p:nvSpPr>
        <p:spPr>
          <a:xfrm>
            <a:off x="208130" y="2045128"/>
            <a:ext cx="3089491" cy="1323439"/>
          </a:xfrm>
          <a:prstGeom prst="rect">
            <a:avLst/>
          </a:prstGeom>
          <a:noFill/>
        </p:spPr>
        <p:txBody>
          <a:bodyPr wrap="square" rtlCol="0">
            <a:spAutoFit/>
          </a:bodyPr>
          <a:lstStyle/>
          <a:p>
            <a:r>
              <a:rPr lang="en-GB" sz="1000" b="1" dirty="0"/>
              <a:t>MedAssist is an initiative taken in the spirit of public service with a vision to empower Indian consumers and caregivers to be available with their present as well as past medical records whenever and wherever required and also to select the most appropriate healthcare service at the best possible price	</a:t>
            </a:r>
          </a:p>
          <a:p>
            <a:endParaRPr lang="en-GB" sz="1000" dirty="0"/>
          </a:p>
          <a:p>
            <a:endParaRPr lang="en-IN" sz="1000" dirty="0"/>
          </a:p>
        </p:txBody>
      </p:sp>
      <p:sp>
        <p:nvSpPr>
          <p:cNvPr id="124" name="TextBox 123">
            <a:extLst>
              <a:ext uri="{FF2B5EF4-FFF2-40B4-BE49-F238E27FC236}">
                <a16:creationId xmlns:a16="http://schemas.microsoft.com/office/drawing/2014/main" id="{E0F44637-13F7-418D-A0CA-E19BACC4337C}"/>
              </a:ext>
            </a:extLst>
          </p:cNvPr>
          <p:cNvSpPr txBox="1"/>
          <p:nvPr/>
        </p:nvSpPr>
        <p:spPr>
          <a:xfrm>
            <a:off x="208426" y="3051523"/>
            <a:ext cx="3009978" cy="3816429"/>
          </a:xfrm>
          <a:prstGeom prst="rect">
            <a:avLst/>
          </a:prstGeom>
          <a:noFill/>
        </p:spPr>
        <p:txBody>
          <a:bodyPr wrap="square" rtlCol="0">
            <a:spAutoFit/>
          </a:bodyPr>
          <a:lstStyle/>
          <a:p>
            <a:pPr marL="171450" indent="-171450">
              <a:buFont typeface="Arial" panose="020B0604020202020204" pitchFamily="34" charset="0"/>
              <a:buChar char="•"/>
            </a:pPr>
            <a:r>
              <a:rPr lang="en-GB" sz="1100" dirty="0"/>
              <a:t>It enables consumers to learn more about their medical records and also find more cost-effective substitutes. </a:t>
            </a:r>
          </a:p>
          <a:p>
            <a:r>
              <a:rPr lang="en-GB" sz="1100" dirty="0"/>
              <a:t>	</a:t>
            </a:r>
          </a:p>
          <a:p>
            <a:pPr marL="171450" indent="-171450">
              <a:buFont typeface="Arial" panose="020B0604020202020204" pitchFamily="34" charset="0"/>
              <a:buChar char="•"/>
            </a:pPr>
            <a:r>
              <a:rPr lang="en-GB" sz="1100" dirty="0"/>
              <a:t>It aspires to be the trusted health partner for all Indians and its mission is to make healthcare accessible, understandable, affordable and for a billion Indians.					</a:t>
            </a:r>
          </a:p>
          <a:p>
            <a:pPr marL="171450" indent="-171450">
              <a:buFont typeface="Arial" panose="020B0604020202020204" pitchFamily="34" charset="0"/>
              <a:buChar char="•"/>
            </a:pPr>
            <a:r>
              <a:rPr lang="en-GB" sz="1100" dirty="0"/>
              <a:t>With the launch of MedAssist our vision of removing mobility barriers from healthcare has become a reality.</a:t>
            </a:r>
          </a:p>
          <a:p>
            <a:r>
              <a:rPr lang="en-GB" sz="1100" dirty="0"/>
              <a:t>		</a:t>
            </a:r>
          </a:p>
          <a:p>
            <a:pPr marL="171450" indent="-171450">
              <a:buFont typeface="Arial" panose="020B0604020202020204" pitchFamily="34" charset="0"/>
              <a:buChar char="•"/>
            </a:pPr>
            <a:r>
              <a:rPr lang="en-GB" sz="1100" dirty="0"/>
              <a:t>The application is available as a mobile app across Android/ iOS. (Exhibit 8)		</a:t>
            </a:r>
          </a:p>
          <a:p>
            <a:pPr marL="171450" indent="-171450">
              <a:buFont typeface="Arial" panose="020B0604020202020204" pitchFamily="34" charset="0"/>
              <a:buChar char="•"/>
            </a:pPr>
            <a:r>
              <a:rPr lang="en-GB" sz="1100" dirty="0"/>
              <a:t>With diverse offerings for all stakeholders of the healthcare industry, MedAssist makes discovering, accessing, utilizing and monitoring healthcare seamless, real-time and virtually paperless.		</a:t>
            </a:r>
            <a:endParaRPr lang="en-IN" sz="1100" dirty="0"/>
          </a:p>
        </p:txBody>
      </p:sp>
      <p:cxnSp>
        <p:nvCxnSpPr>
          <p:cNvPr id="126" name="Straight Connector 125">
            <a:extLst>
              <a:ext uri="{FF2B5EF4-FFF2-40B4-BE49-F238E27FC236}">
                <a16:creationId xmlns:a16="http://schemas.microsoft.com/office/drawing/2014/main" id="{2AA6B43C-9BDF-4264-9BF3-8D7A6031CBA6}"/>
              </a:ext>
            </a:extLst>
          </p:cNvPr>
          <p:cNvCxnSpPr>
            <a:cxnSpLocks/>
          </p:cNvCxnSpPr>
          <p:nvPr/>
        </p:nvCxnSpPr>
        <p:spPr>
          <a:xfrm>
            <a:off x="3512362" y="728744"/>
            <a:ext cx="0" cy="5876009"/>
          </a:xfrm>
          <a:prstGeom prst="line">
            <a:avLst/>
          </a:prstGeom>
        </p:spPr>
        <p:style>
          <a:lnRef idx="1">
            <a:schemeClr val="dk1"/>
          </a:lnRef>
          <a:fillRef idx="0">
            <a:schemeClr val="dk1"/>
          </a:fillRef>
          <a:effectRef idx="0">
            <a:schemeClr val="dk1"/>
          </a:effectRef>
          <a:fontRef idx="minor">
            <a:schemeClr val="tx1"/>
          </a:fontRef>
        </p:style>
      </p:cxnSp>
      <p:cxnSp>
        <p:nvCxnSpPr>
          <p:cNvPr id="130" name="Straight Connector 129">
            <a:extLst>
              <a:ext uri="{FF2B5EF4-FFF2-40B4-BE49-F238E27FC236}">
                <a16:creationId xmlns:a16="http://schemas.microsoft.com/office/drawing/2014/main" id="{6FE81FE7-BD30-4B8D-B42B-8C3BD4E0E9BE}"/>
              </a:ext>
            </a:extLst>
          </p:cNvPr>
          <p:cNvCxnSpPr>
            <a:cxnSpLocks/>
          </p:cNvCxnSpPr>
          <p:nvPr/>
        </p:nvCxnSpPr>
        <p:spPr>
          <a:xfrm>
            <a:off x="6921264" y="728743"/>
            <a:ext cx="0" cy="5876009"/>
          </a:xfrm>
          <a:prstGeom prst="line">
            <a:avLst/>
          </a:prstGeom>
        </p:spPr>
        <p:style>
          <a:lnRef idx="1">
            <a:schemeClr val="dk1"/>
          </a:lnRef>
          <a:fillRef idx="0">
            <a:schemeClr val="dk1"/>
          </a:fillRef>
          <a:effectRef idx="0">
            <a:schemeClr val="dk1"/>
          </a:effectRef>
          <a:fontRef idx="minor">
            <a:schemeClr val="tx1"/>
          </a:fontRef>
        </p:style>
      </p:cxnSp>
      <p:sp>
        <p:nvSpPr>
          <p:cNvPr id="152" name="TextBox 151">
            <a:extLst>
              <a:ext uri="{FF2B5EF4-FFF2-40B4-BE49-F238E27FC236}">
                <a16:creationId xmlns:a16="http://schemas.microsoft.com/office/drawing/2014/main" id="{D068F273-C004-42D3-918D-8B2E867B67DB}"/>
              </a:ext>
            </a:extLst>
          </p:cNvPr>
          <p:cNvSpPr txBox="1"/>
          <p:nvPr/>
        </p:nvSpPr>
        <p:spPr>
          <a:xfrm>
            <a:off x="4418986" y="1590264"/>
            <a:ext cx="2142695" cy="646331"/>
          </a:xfrm>
          <a:prstGeom prst="rect">
            <a:avLst/>
          </a:prstGeom>
          <a:noFill/>
        </p:spPr>
        <p:txBody>
          <a:bodyPr wrap="square" rtlCol="0">
            <a:spAutoFit/>
          </a:bodyPr>
          <a:lstStyle/>
          <a:p>
            <a:r>
              <a:rPr lang="en-US" sz="1200" dirty="0"/>
              <a:t>Medical history at one place with barcode accessibility</a:t>
            </a:r>
            <a:endParaRPr lang="en-IN" sz="1200" dirty="0"/>
          </a:p>
          <a:p>
            <a:endParaRPr lang="en-IN" sz="1200" dirty="0"/>
          </a:p>
        </p:txBody>
      </p:sp>
      <p:sp>
        <p:nvSpPr>
          <p:cNvPr id="153" name="TextBox 152">
            <a:extLst>
              <a:ext uri="{FF2B5EF4-FFF2-40B4-BE49-F238E27FC236}">
                <a16:creationId xmlns:a16="http://schemas.microsoft.com/office/drawing/2014/main" id="{6ADCAA99-75B1-4350-9191-E65A60C1092F}"/>
              </a:ext>
            </a:extLst>
          </p:cNvPr>
          <p:cNvSpPr txBox="1"/>
          <p:nvPr/>
        </p:nvSpPr>
        <p:spPr>
          <a:xfrm>
            <a:off x="4418985" y="2251983"/>
            <a:ext cx="2539195" cy="461665"/>
          </a:xfrm>
          <a:prstGeom prst="rect">
            <a:avLst/>
          </a:prstGeom>
          <a:noFill/>
        </p:spPr>
        <p:txBody>
          <a:bodyPr wrap="square" rtlCol="0">
            <a:spAutoFit/>
          </a:bodyPr>
          <a:lstStyle/>
          <a:p>
            <a:pPr lvl="0"/>
            <a:r>
              <a:rPr lang="en-US" sz="1200" dirty="0"/>
              <a:t>Medical Expense tracking at one place and its monthly summary</a:t>
            </a:r>
            <a:endParaRPr lang="en-IN" sz="1200" dirty="0"/>
          </a:p>
        </p:txBody>
      </p:sp>
      <p:sp>
        <p:nvSpPr>
          <p:cNvPr id="154" name="TextBox 153">
            <a:extLst>
              <a:ext uri="{FF2B5EF4-FFF2-40B4-BE49-F238E27FC236}">
                <a16:creationId xmlns:a16="http://schemas.microsoft.com/office/drawing/2014/main" id="{C622EFB7-7D1E-4BCD-B944-BF6C3B22BD8A}"/>
              </a:ext>
            </a:extLst>
          </p:cNvPr>
          <p:cNvSpPr txBox="1"/>
          <p:nvPr/>
        </p:nvSpPr>
        <p:spPr>
          <a:xfrm>
            <a:off x="4418985" y="2939636"/>
            <a:ext cx="2539195" cy="276999"/>
          </a:xfrm>
          <a:prstGeom prst="rect">
            <a:avLst/>
          </a:prstGeom>
          <a:noFill/>
        </p:spPr>
        <p:txBody>
          <a:bodyPr wrap="square" rtlCol="0">
            <a:spAutoFit/>
          </a:bodyPr>
          <a:lstStyle/>
          <a:p>
            <a:pPr lvl="0"/>
            <a:r>
              <a:rPr lang="en-US" sz="1200" dirty="0"/>
              <a:t>Emergency Services resources</a:t>
            </a:r>
            <a:endParaRPr lang="en-IN" sz="1200" dirty="0"/>
          </a:p>
        </p:txBody>
      </p:sp>
      <p:sp>
        <p:nvSpPr>
          <p:cNvPr id="155" name="TextBox 154">
            <a:extLst>
              <a:ext uri="{FF2B5EF4-FFF2-40B4-BE49-F238E27FC236}">
                <a16:creationId xmlns:a16="http://schemas.microsoft.com/office/drawing/2014/main" id="{5602555C-DA71-478C-9FEF-D3852CE5907E}"/>
              </a:ext>
            </a:extLst>
          </p:cNvPr>
          <p:cNvSpPr txBox="1"/>
          <p:nvPr/>
        </p:nvSpPr>
        <p:spPr>
          <a:xfrm>
            <a:off x="4418985" y="3655550"/>
            <a:ext cx="2539195" cy="276999"/>
          </a:xfrm>
          <a:prstGeom prst="rect">
            <a:avLst/>
          </a:prstGeom>
          <a:noFill/>
        </p:spPr>
        <p:txBody>
          <a:bodyPr wrap="square" rtlCol="0">
            <a:spAutoFit/>
          </a:bodyPr>
          <a:lstStyle/>
          <a:p>
            <a:pPr lvl="0"/>
            <a:r>
              <a:rPr lang="en-US" sz="1200" dirty="0"/>
              <a:t>E-Consultation with Certified Doctors</a:t>
            </a:r>
            <a:endParaRPr lang="en-IN" sz="1200" dirty="0"/>
          </a:p>
        </p:txBody>
      </p:sp>
      <p:sp>
        <p:nvSpPr>
          <p:cNvPr id="156" name="TextBox 155">
            <a:extLst>
              <a:ext uri="{FF2B5EF4-FFF2-40B4-BE49-F238E27FC236}">
                <a16:creationId xmlns:a16="http://schemas.microsoft.com/office/drawing/2014/main" id="{96D14149-2CBC-4742-8131-1DD2DA211E1A}"/>
              </a:ext>
            </a:extLst>
          </p:cNvPr>
          <p:cNvSpPr txBox="1"/>
          <p:nvPr/>
        </p:nvSpPr>
        <p:spPr>
          <a:xfrm>
            <a:off x="4392569" y="4289849"/>
            <a:ext cx="2539195" cy="276999"/>
          </a:xfrm>
          <a:prstGeom prst="rect">
            <a:avLst/>
          </a:prstGeom>
          <a:noFill/>
        </p:spPr>
        <p:txBody>
          <a:bodyPr wrap="square" rtlCol="0">
            <a:spAutoFit/>
          </a:bodyPr>
          <a:lstStyle/>
          <a:p>
            <a:pPr lvl="0"/>
            <a:r>
              <a:rPr lang="en-US" sz="1200" dirty="0"/>
              <a:t>SOS Button for emergency situations</a:t>
            </a:r>
            <a:endParaRPr lang="en-IN" sz="1200" dirty="0"/>
          </a:p>
        </p:txBody>
      </p:sp>
      <p:sp>
        <p:nvSpPr>
          <p:cNvPr id="157" name="TextBox 156">
            <a:extLst>
              <a:ext uri="{FF2B5EF4-FFF2-40B4-BE49-F238E27FC236}">
                <a16:creationId xmlns:a16="http://schemas.microsoft.com/office/drawing/2014/main" id="{7827B8C4-CD39-4874-986D-7B5CCB337876}"/>
              </a:ext>
            </a:extLst>
          </p:cNvPr>
          <p:cNvSpPr txBox="1"/>
          <p:nvPr/>
        </p:nvSpPr>
        <p:spPr>
          <a:xfrm>
            <a:off x="4389422" y="4847798"/>
            <a:ext cx="2539195" cy="461665"/>
          </a:xfrm>
          <a:prstGeom prst="rect">
            <a:avLst/>
          </a:prstGeom>
          <a:noFill/>
        </p:spPr>
        <p:txBody>
          <a:bodyPr wrap="square" rtlCol="0">
            <a:spAutoFit/>
          </a:bodyPr>
          <a:lstStyle/>
          <a:p>
            <a:pPr lvl="0"/>
            <a:r>
              <a:rPr lang="en-US" sz="1200" dirty="0"/>
              <a:t>Payment Gateway to keep track of medical expenses separately</a:t>
            </a:r>
            <a:endParaRPr lang="en-IN" sz="1200" dirty="0"/>
          </a:p>
        </p:txBody>
      </p:sp>
      <p:sp>
        <p:nvSpPr>
          <p:cNvPr id="158" name="TextBox 157">
            <a:extLst>
              <a:ext uri="{FF2B5EF4-FFF2-40B4-BE49-F238E27FC236}">
                <a16:creationId xmlns:a16="http://schemas.microsoft.com/office/drawing/2014/main" id="{8F04A915-4BB3-47AA-8B9C-6B365DF4530D}"/>
              </a:ext>
            </a:extLst>
          </p:cNvPr>
          <p:cNvSpPr txBox="1"/>
          <p:nvPr/>
        </p:nvSpPr>
        <p:spPr>
          <a:xfrm>
            <a:off x="4396245" y="5669167"/>
            <a:ext cx="2539195" cy="276999"/>
          </a:xfrm>
          <a:prstGeom prst="rect">
            <a:avLst/>
          </a:prstGeom>
          <a:noFill/>
        </p:spPr>
        <p:txBody>
          <a:bodyPr wrap="square" rtlCol="0">
            <a:spAutoFit/>
          </a:bodyPr>
          <a:lstStyle/>
          <a:p>
            <a:pPr lvl="0"/>
            <a:r>
              <a:rPr lang="en-US" sz="1200" dirty="0"/>
              <a:t>Educational Videos</a:t>
            </a:r>
            <a:endParaRPr lang="en-IN" sz="1200" dirty="0"/>
          </a:p>
        </p:txBody>
      </p:sp>
      <p:sp>
        <p:nvSpPr>
          <p:cNvPr id="159" name="TextBox 158">
            <a:extLst>
              <a:ext uri="{FF2B5EF4-FFF2-40B4-BE49-F238E27FC236}">
                <a16:creationId xmlns:a16="http://schemas.microsoft.com/office/drawing/2014/main" id="{D04E0EC4-4388-4C76-AC1E-0BCA190F872F}"/>
              </a:ext>
            </a:extLst>
          </p:cNvPr>
          <p:cNvSpPr txBox="1"/>
          <p:nvPr/>
        </p:nvSpPr>
        <p:spPr>
          <a:xfrm>
            <a:off x="4418985" y="6376234"/>
            <a:ext cx="2539195" cy="276999"/>
          </a:xfrm>
          <a:prstGeom prst="rect">
            <a:avLst/>
          </a:prstGeom>
          <a:noFill/>
        </p:spPr>
        <p:txBody>
          <a:bodyPr wrap="square" rtlCol="0">
            <a:spAutoFit/>
          </a:bodyPr>
          <a:lstStyle/>
          <a:p>
            <a:pPr lvl="0"/>
            <a:r>
              <a:rPr lang="en-US" sz="1200" dirty="0"/>
              <a:t>Health Calculators</a:t>
            </a:r>
            <a:endParaRPr lang="en-IN" sz="1200" dirty="0"/>
          </a:p>
        </p:txBody>
      </p:sp>
      <p:sp>
        <p:nvSpPr>
          <p:cNvPr id="185" name="TextBox 184">
            <a:extLst>
              <a:ext uri="{FF2B5EF4-FFF2-40B4-BE49-F238E27FC236}">
                <a16:creationId xmlns:a16="http://schemas.microsoft.com/office/drawing/2014/main" id="{C17F7A26-0C08-40CD-A493-B9640FCD409E}"/>
              </a:ext>
            </a:extLst>
          </p:cNvPr>
          <p:cNvSpPr txBox="1"/>
          <p:nvPr/>
        </p:nvSpPr>
        <p:spPr>
          <a:xfrm>
            <a:off x="7489133" y="1297875"/>
            <a:ext cx="1676191" cy="584775"/>
          </a:xfrm>
          <a:prstGeom prst="rect">
            <a:avLst/>
          </a:prstGeom>
          <a:noFill/>
        </p:spPr>
        <p:txBody>
          <a:bodyPr wrap="square" rtlCol="0">
            <a:spAutoFit/>
          </a:bodyPr>
          <a:lstStyle/>
          <a:p>
            <a:r>
              <a:rPr lang="en-US" sz="3200" dirty="0">
                <a:solidFill>
                  <a:schemeClr val="bg1"/>
                </a:solidFill>
              </a:rPr>
              <a:t>PLUS</a:t>
            </a:r>
            <a:endParaRPr lang="en-IN" sz="3200" dirty="0">
              <a:solidFill>
                <a:schemeClr val="bg1"/>
              </a:solidFill>
            </a:endParaRPr>
          </a:p>
        </p:txBody>
      </p:sp>
      <p:graphicFrame>
        <p:nvGraphicFramePr>
          <p:cNvPr id="191" name="Table 191">
            <a:extLst>
              <a:ext uri="{FF2B5EF4-FFF2-40B4-BE49-F238E27FC236}">
                <a16:creationId xmlns:a16="http://schemas.microsoft.com/office/drawing/2014/main" id="{5CE114CC-3CA3-4990-AFFF-1F8EBCCCA534}"/>
              </a:ext>
            </a:extLst>
          </p:cNvPr>
          <p:cNvGraphicFramePr>
            <a:graphicFrameLocks noGrp="1"/>
          </p:cNvGraphicFramePr>
          <p:nvPr>
            <p:extLst>
              <p:ext uri="{D42A27DB-BD31-4B8C-83A1-F6EECF244321}">
                <p14:modId xmlns:p14="http://schemas.microsoft.com/office/powerpoint/2010/main" val="1125150254"/>
              </p:ext>
            </p:extLst>
          </p:nvPr>
        </p:nvGraphicFramePr>
        <p:xfrm>
          <a:off x="7046483" y="1247764"/>
          <a:ext cx="5039116" cy="5299905"/>
        </p:xfrm>
        <a:graphic>
          <a:graphicData uri="http://schemas.openxmlformats.org/drawingml/2006/table">
            <a:tbl>
              <a:tblPr firstRow="1" bandRow="1">
                <a:tableStyleId>{616DA210-FB5B-4158-B5E0-FEB733F419BA}</a:tableStyleId>
              </a:tblPr>
              <a:tblGrid>
                <a:gridCol w="1616765">
                  <a:extLst>
                    <a:ext uri="{9D8B030D-6E8A-4147-A177-3AD203B41FA5}">
                      <a16:colId xmlns:a16="http://schemas.microsoft.com/office/drawing/2014/main" val="2837594157"/>
                    </a:ext>
                  </a:extLst>
                </a:gridCol>
                <a:gridCol w="3422351">
                  <a:extLst>
                    <a:ext uri="{9D8B030D-6E8A-4147-A177-3AD203B41FA5}">
                      <a16:colId xmlns:a16="http://schemas.microsoft.com/office/drawing/2014/main" val="1521129414"/>
                    </a:ext>
                  </a:extLst>
                </a:gridCol>
              </a:tblGrid>
              <a:tr h="385926">
                <a:tc>
                  <a:txBody>
                    <a:bodyPr/>
                    <a:lstStyle/>
                    <a:p>
                      <a:r>
                        <a:rPr lang="en-US" sz="1400" dirty="0"/>
                        <a:t>Revenue Model</a:t>
                      </a:r>
                      <a:endParaRPr lang="en-IN" sz="1400" dirty="0"/>
                    </a:p>
                  </a:txBody>
                  <a:tcPr/>
                </a:tc>
                <a:tc>
                  <a:txBody>
                    <a:bodyPr/>
                    <a:lstStyle/>
                    <a:p>
                      <a:r>
                        <a:rPr lang="en-US" sz="1400" dirty="0"/>
                        <a:t>Planning</a:t>
                      </a:r>
                      <a:endParaRPr lang="en-IN" sz="1400" dirty="0"/>
                    </a:p>
                  </a:txBody>
                  <a:tcPr/>
                </a:tc>
                <a:extLst>
                  <a:ext uri="{0D108BD9-81ED-4DB2-BD59-A6C34878D82A}">
                    <a16:rowId xmlns:a16="http://schemas.microsoft.com/office/drawing/2014/main" val="1714980768"/>
                  </a:ext>
                </a:extLst>
              </a:tr>
              <a:tr h="1222099">
                <a:tc>
                  <a:txBody>
                    <a:bodyPr/>
                    <a:lstStyle/>
                    <a:p>
                      <a:endParaRPr lang="en-IN"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Premium features of the app includes – Detailed monthly summary of budget and analysis, Personalized attention, alerts and reminders and extra discounts.</a:t>
                      </a:r>
                      <a:endParaRPr lang="en-IN" sz="1200" dirty="0"/>
                    </a:p>
                  </a:txBody>
                  <a:tcPr/>
                </a:tc>
                <a:extLst>
                  <a:ext uri="{0D108BD9-81ED-4DB2-BD59-A6C34878D82A}">
                    <a16:rowId xmlns:a16="http://schemas.microsoft.com/office/drawing/2014/main" val="1698718780"/>
                  </a:ext>
                </a:extLst>
              </a:tr>
              <a:tr h="1302205">
                <a:tc>
                  <a:txBody>
                    <a:bodyPr/>
                    <a:lstStyle/>
                    <a:p>
                      <a:endParaRPr lang="en-IN"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We’re planning to dive into online medicine market and before we set our own inventory, we’re sticking with the commission-based business model. This includes re-direction to their website or app from our app charges and from retail stores includes</a:t>
                      </a:r>
                      <a:endParaRPr lang="en-IN" sz="1200" dirty="0"/>
                    </a:p>
                  </a:txBody>
                  <a:tcPr/>
                </a:tc>
                <a:extLst>
                  <a:ext uri="{0D108BD9-81ED-4DB2-BD59-A6C34878D82A}">
                    <a16:rowId xmlns:a16="http://schemas.microsoft.com/office/drawing/2014/main" val="2138370502"/>
                  </a:ext>
                </a:extLst>
              </a:tr>
              <a:tr h="1100622">
                <a:tc>
                  <a:txBody>
                    <a:bodyPr/>
                    <a:lstStyle/>
                    <a:p>
                      <a:endParaRPr lang="en-IN" sz="1200" dirty="0"/>
                    </a:p>
                  </a:txBody>
                  <a:tcPr/>
                </a:tc>
                <a:tc>
                  <a:txBody>
                    <a:bodyPr/>
                    <a:lstStyle/>
                    <a:p>
                      <a:r>
                        <a:rPr lang="en-US" sz="1200" dirty="0"/>
                        <a:t>Monthly subscription includes all the premium features as well as multiple access to E-Consultation</a:t>
                      </a:r>
                      <a:endParaRPr lang="en-IN" sz="1200" dirty="0"/>
                    </a:p>
                  </a:txBody>
                  <a:tcPr/>
                </a:tc>
                <a:extLst>
                  <a:ext uri="{0D108BD9-81ED-4DB2-BD59-A6C34878D82A}">
                    <a16:rowId xmlns:a16="http://schemas.microsoft.com/office/drawing/2014/main" val="1396985152"/>
                  </a:ext>
                </a:extLst>
              </a:tr>
              <a:tr h="1289053">
                <a:tc>
                  <a:txBody>
                    <a:bodyPr/>
                    <a:lstStyle/>
                    <a:p>
                      <a:endParaRPr lang="en-IN" sz="1200" dirty="0"/>
                    </a:p>
                  </a:txBody>
                  <a:tcPr/>
                </a:tc>
                <a:tc>
                  <a:txBody>
                    <a:bodyPr/>
                    <a:lstStyle/>
                    <a:p>
                      <a:r>
                        <a:rPr lang="en-US" sz="1200" dirty="0"/>
                        <a:t>We will list all the top rated verified and trusted doctors in every niche and a fraction of the consultation charges goes into our revenue model </a:t>
                      </a:r>
                      <a:endParaRPr lang="en-IN" sz="1200" dirty="0"/>
                    </a:p>
                  </a:txBody>
                  <a:tcPr/>
                </a:tc>
                <a:extLst>
                  <a:ext uri="{0D108BD9-81ED-4DB2-BD59-A6C34878D82A}">
                    <a16:rowId xmlns:a16="http://schemas.microsoft.com/office/drawing/2014/main" val="2216487732"/>
                  </a:ext>
                </a:extLst>
              </a:tr>
            </a:tbl>
          </a:graphicData>
        </a:graphic>
      </p:graphicFrame>
      <p:grpSp>
        <p:nvGrpSpPr>
          <p:cNvPr id="4" name="Group 3">
            <a:extLst>
              <a:ext uri="{FF2B5EF4-FFF2-40B4-BE49-F238E27FC236}">
                <a16:creationId xmlns:a16="http://schemas.microsoft.com/office/drawing/2014/main" id="{2F334230-A9FB-4485-814F-DDB5985D4378}"/>
              </a:ext>
            </a:extLst>
          </p:cNvPr>
          <p:cNvGrpSpPr/>
          <p:nvPr/>
        </p:nvGrpSpPr>
        <p:grpSpPr>
          <a:xfrm>
            <a:off x="0" y="-21869"/>
            <a:ext cx="12192000" cy="536077"/>
            <a:chOff x="0" y="-21869"/>
            <a:chExt cx="12192000" cy="536077"/>
          </a:xfrm>
        </p:grpSpPr>
        <p:sp>
          <p:nvSpPr>
            <p:cNvPr id="34" name="Pentagon 18">
              <a:extLst>
                <a:ext uri="{FF2B5EF4-FFF2-40B4-BE49-F238E27FC236}">
                  <a16:creationId xmlns:a16="http://schemas.microsoft.com/office/drawing/2014/main" id="{CC8C5140-2CE4-464D-938C-7E853B4D8518}"/>
                </a:ext>
              </a:extLst>
            </p:cNvPr>
            <p:cNvSpPr/>
            <p:nvPr/>
          </p:nvSpPr>
          <p:spPr>
            <a:xfrm>
              <a:off x="10069737" y="-21869"/>
              <a:ext cx="2122263"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         Appendix II</a:t>
              </a:r>
              <a:endParaRPr lang="en-IN" sz="1200" b="1" dirty="0"/>
            </a:p>
          </p:txBody>
        </p:sp>
        <p:sp>
          <p:nvSpPr>
            <p:cNvPr id="33" name="Pentagon 18">
              <a:extLst>
                <a:ext uri="{FF2B5EF4-FFF2-40B4-BE49-F238E27FC236}">
                  <a16:creationId xmlns:a16="http://schemas.microsoft.com/office/drawing/2014/main" id="{4A58EA65-03C5-407F-8C80-21F98F1113D2}"/>
                </a:ext>
              </a:extLst>
            </p:cNvPr>
            <p:cNvSpPr/>
            <p:nvPr/>
          </p:nvSpPr>
          <p:spPr>
            <a:xfrm>
              <a:off x="8457282" y="-21869"/>
              <a:ext cx="2122264"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         Appendix I</a:t>
              </a:r>
              <a:endParaRPr lang="en-IN" sz="1200" b="1" dirty="0"/>
            </a:p>
          </p:txBody>
        </p:sp>
        <p:sp>
          <p:nvSpPr>
            <p:cNvPr id="35" name="Pentagon 18">
              <a:extLst>
                <a:ext uri="{FF2B5EF4-FFF2-40B4-BE49-F238E27FC236}">
                  <a16:creationId xmlns:a16="http://schemas.microsoft.com/office/drawing/2014/main" id="{E0255B61-0C78-408B-A245-36D690D0EBE5}"/>
                </a:ext>
              </a:extLst>
            </p:cNvPr>
            <p:cNvSpPr/>
            <p:nvPr/>
          </p:nvSpPr>
          <p:spPr>
            <a:xfrm>
              <a:off x="6447179" y="-21869"/>
              <a:ext cx="2541105"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             Go-to Market Strategy &amp; Financials</a:t>
              </a:r>
              <a:endParaRPr lang="en-IN" sz="1200" b="1" dirty="0"/>
            </a:p>
          </p:txBody>
        </p:sp>
        <p:grpSp>
          <p:nvGrpSpPr>
            <p:cNvPr id="36" name="Group 35">
              <a:extLst>
                <a:ext uri="{FF2B5EF4-FFF2-40B4-BE49-F238E27FC236}">
                  <a16:creationId xmlns:a16="http://schemas.microsoft.com/office/drawing/2014/main" id="{F4CAAE12-882E-476A-A6B5-F44DBFFDC948}"/>
                </a:ext>
              </a:extLst>
            </p:cNvPr>
            <p:cNvGrpSpPr/>
            <p:nvPr/>
          </p:nvGrpSpPr>
          <p:grpSpPr>
            <a:xfrm>
              <a:off x="0" y="-21869"/>
              <a:ext cx="7064096" cy="536077"/>
              <a:chOff x="0" y="9861"/>
              <a:chExt cx="7372069" cy="536077"/>
            </a:xfrm>
          </p:grpSpPr>
          <p:sp>
            <p:nvSpPr>
              <p:cNvPr id="37" name="Pentagon 18">
                <a:extLst>
                  <a:ext uri="{FF2B5EF4-FFF2-40B4-BE49-F238E27FC236}">
                    <a16:creationId xmlns:a16="http://schemas.microsoft.com/office/drawing/2014/main" id="{35557BE5-30CD-48BD-81F9-4069216D3BE4}"/>
                  </a:ext>
                </a:extLst>
              </p:cNvPr>
              <p:cNvSpPr/>
              <p:nvPr/>
            </p:nvSpPr>
            <p:spPr>
              <a:xfrm>
                <a:off x="4433001" y="9861"/>
                <a:ext cx="2939068"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       Company SWOT, Competitors &amp; </a:t>
                </a:r>
              </a:p>
              <a:p>
                <a:pPr algn="ctr"/>
                <a:r>
                  <a:rPr lang="en-GB" sz="1200" b="1" dirty="0"/>
                  <a:t>       Competitor Analysis</a:t>
                </a:r>
                <a:endParaRPr lang="en-IN" sz="1200" b="1" dirty="0"/>
              </a:p>
            </p:txBody>
          </p:sp>
          <p:sp>
            <p:nvSpPr>
              <p:cNvPr id="38" name="Pentagon 18">
                <a:extLst>
                  <a:ext uri="{FF2B5EF4-FFF2-40B4-BE49-F238E27FC236}">
                    <a16:creationId xmlns:a16="http://schemas.microsoft.com/office/drawing/2014/main" id="{C0658985-6C86-48E8-A335-FB8EA1E5E387}"/>
                  </a:ext>
                </a:extLst>
              </p:cNvPr>
              <p:cNvSpPr/>
              <p:nvPr/>
            </p:nvSpPr>
            <p:spPr>
              <a:xfrm>
                <a:off x="1983049" y="12043"/>
                <a:ext cx="2912745" cy="533258"/>
              </a:xfrm>
              <a:prstGeom prst="homePlat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            About the company, Features </a:t>
                </a:r>
              </a:p>
              <a:p>
                <a:pPr algn="ctr"/>
                <a:r>
                  <a:rPr lang="en-GB" sz="1200" b="1" dirty="0"/>
                  <a:t>&amp; Revenue Model</a:t>
                </a:r>
                <a:endParaRPr lang="en-IN" sz="1200" b="1" dirty="0"/>
              </a:p>
            </p:txBody>
          </p:sp>
          <p:sp>
            <p:nvSpPr>
              <p:cNvPr id="39" name="Pentagon 18">
                <a:extLst>
                  <a:ext uri="{FF2B5EF4-FFF2-40B4-BE49-F238E27FC236}">
                    <a16:creationId xmlns:a16="http://schemas.microsoft.com/office/drawing/2014/main" id="{77F83B90-0BA3-43D3-8411-ABE79C33B529}"/>
                  </a:ext>
                </a:extLst>
              </p:cNvPr>
              <p:cNvSpPr/>
              <p:nvPr/>
            </p:nvSpPr>
            <p:spPr>
              <a:xfrm>
                <a:off x="0" y="12680"/>
                <a:ext cx="2600538" cy="533258"/>
              </a:xfrm>
              <a:prstGeom prst="homePlate">
                <a:avLst/>
              </a:prstGeom>
              <a:solidFill>
                <a:schemeClr val="accent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Market Research, Market SWOT &amp; Pain Points</a:t>
                </a:r>
                <a:endParaRPr lang="en-IN" sz="1200" b="1" dirty="0"/>
              </a:p>
            </p:txBody>
          </p:sp>
        </p:grpSp>
      </p:grpSp>
      <p:grpSp>
        <p:nvGrpSpPr>
          <p:cNvPr id="9" name="Group 8">
            <a:extLst>
              <a:ext uri="{FF2B5EF4-FFF2-40B4-BE49-F238E27FC236}">
                <a16:creationId xmlns:a16="http://schemas.microsoft.com/office/drawing/2014/main" id="{3DC73501-BCFD-4E10-8004-E7FB2CA28907}"/>
              </a:ext>
            </a:extLst>
          </p:cNvPr>
          <p:cNvGrpSpPr/>
          <p:nvPr/>
        </p:nvGrpSpPr>
        <p:grpSpPr>
          <a:xfrm>
            <a:off x="7123841" y="2414689"/>
            <a:ext cx="2037346" cy="4064517"/>
            <a:chOff x="7110289" y="2019621"/>
            <a:chExt cx="2037346" cy="4064517"/>
          </a:xfrm>
        </p:grpSpPr>
        <p:sp>
          <p:nvSpPr>
            <p:cNvPr id="40" name="TextBox 39">
              <a:extLst>
                <a:ext uri="{FF2B5EF4-FFF2-40B4-BE49-F238E27FC236}">
                  <a16:creationId xmlns:a16="http://schemas.microsoft.com/office/drawing/2014/main" id="{850CEE42-2A07-4518-B599-2CDEFD0A731A}"/>
                </a:ext>
              </a:extLst>
            </p:cNvPr>
            <p:cNvSpPr txBox="1"/>
            <p:nvPr/>
          </p:nvSpPr>
          <p:spPr>
            <a:xfrm>
              <a:off x="7178879" y="2019621"/>
              <a:ext cx="1968756"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Premium Features</a:t>
              </a:r>
              <a:endParaRPr lang="en-IN" sz="1200" b="1" dirty="0"/>
            </a:p>
          </p:txBody>
        </p:sp>
        <p:sp>
          <p:nvSpPr>
            <p:cNvPr id="41" name="TextBox 40">
              <a:extLst>
                <a:ext uri="{FF2B5EF4-FFF2-40B4-BE49-F238E27FC236}">
                  <a16:creationId xmlns:a16="http://schemas.microsoft.com/office/drawing/2014/main" id="{FB72CAA7-58D8-4185-9940-124136D3A1F4}"/>
                </a:ext>
              </a:extLst>
            </p:cNvPr>
            <p:cNvSpPr txBox="1"/>
            <p:nvPr/>
          </p:nvSpPr>
          <p:spPr>
            <a:xfrm>
              <a:off x="7128738" y="3414625"/>
              <a:ext cx="161491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dirty="0"/>
                <a:t>Commission Business </a:t>
              </a:r>
            </a:p>
          </p:txBody>
        </p:sp>
        <p:sp>
          <p:nvSpPr>
            <p:cNvPr id="44" name="TextBox 43">
              <a:extLst>
                <a:ext uri="{FF2B5EF4-FFF2-40B4-BE49-F238E27FC236}">
                  <a16:creationId xmlns:a16="http://schemas.microsoft.com/office/drawing/2014/main" id="{811B6EF0-2BA3-4DD4-925F-3EFB7068916D}"/>
                </a:ext>
              </a:extLst>
            </p:cNvPr>
            <p:cNvSpPr txBox="1"/>
            <p:nvPr/>
          </p:nvSpPr>
          <p:spPr>
            <a:xfrm>
              <a:off x="7128738" y="4569892"/>
              <a:ext cx="1614910" cy="276999"/>
            </a:xfrm>
            <a:prstGeom prst="rect">
              <a:avLst/>
            </a:prstGeom>
            <a:noFill/>
          </p:spPr>
          <p:txBody>
            <a:bodyPr wrap="square">
              <a:spAutoFit/>
            </a:bodyPr>
            <a:lstStyle/>
            <a:p>
              <a:pPr lvl="0"/>
              <a:r>
                <a:rPr lang="en-IN" sz="1200" b="1" dirty="0"/>
                <a:t>Monthly subscription </a:t>
              </a:r>
            </a:p>
          </p:txBody>
        </p:sp>
        <p:sp>
          <p:nvSpPr>
            <p:cNvPr id="47" name="TextBox 46">
              <a:extLst>
                <a:ext uri="{FF2B5EF4-FFF2-40B4-BE49-F238E27FC236}">
                  <a16:creationId xmlns:a16="http://schemas.microsoft.com/office/drawing/2014/main" id="{7FB58CED-7323-4C08-9946-2DC316AEAE2D}"/>
                </a:ext>
              </a:extLst>
            </p:cNvPr>
            <p:cNvSpPr txBox="1"/>
            <p:nvPr/>
          </p:nvSpPr>
          <p:spPr>
            <a:xfrm>
              <a:off x="7110289" y="5807139"/>
              <a:ext cx="1968754" cy="276999"/>
            </a:xfrm>
            <a:prstGeom prst="rect">
              <a:avLst/>
            </a:prstGeom>
            <a:noFill/>
          </p:spPr>
          <p:txBody>
            <a:bodyPr wrap="square">
              <a:spAutoFit/>
            </a:bodyPr>
            <a:lstStyle/>
            <a:p>
              <a:r>
                <a:rPr lang="en-US" sz="1200" b="1" dirty="0"/>
                <a:t>Consultation Fraction</a:t>
              </a:r>
              <a:endParaRPr lang="en-IN" sz="1200" b="1" dirty="0"/>
            </a:p>
          </p:txBody>
        </p:sp>
      </p:grpSp>
      <p:sp>
        <p:nvSpPr>
          <p:cNvPr id="11" name="Arrow: Pentagon 10">
            <a:extLst>
              <a:ext uri="{FF2B5EF4-FFF2-40B4-BE49-F238E27FC236}">
                <a16:creationId xmlns:a16="http://schemas.microsoft.com/office/drawing/2014/main" id="{810AF050-0EE6-4E55-A799-20CF9B0054CF}"/>
              </a:ext>
            </a:extLst>
          </p:cNvPr>
          <p:cNvSpPr/>
          <p:nvPr/>
        </p:nvSpPr>
        <p:spPr>
          <a:xfrm>
            <a:off x="7051214" y="584469"/>
            <a:ext cx="2324035" cy="436408"/>
          </a:xfrm>
          <a:prstGeom prst="homePlat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Our Revenue Model</a:t>
            </a:r>
            <a:endParaRPr lang="en-IN" sz="1400" b="1" dirty="0">
              <a:solidFill>
                <a:schemeClr val="tx1"/>
              </a:solidFill>
            </a:endParaRPr>
          </a:p>
        </p:txBody>
      </p:sp>
      <p:sp>
        <p:nvSpPr>
          <p:cNvPr id="13" name="Arrow: Pentagon 12">
            <a:extLst>
              <a:ext uri="{FF2B5EF4-FFF2-40B4-BE49-F238E27FC236}">
                <a16:creationId xmlns:a16="http://schemas.microsoft.com/office/drawing/2014/main" id="{606ED96C-AD67-4841-A1F9-7B005472B762}"/>
              </a:ext>
            </a:extLst>
          </p:cNvPr>
          <p:cNvSpPr/>
          <p:nvPr/>
        </p:nvSpPr>
        <p:spPr>
          <a:xfrm>
            <a:off x="3642312" y="590178"/>
            <a:ext cx="2429616" cy="436408"/>
          </a:xfrm>
          <a:prstGeom prst="homePlat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Features</a:t>
            </a:r>
            <a:r>
              <a:rPr lang="en-GB" sz="1200" b="1" dirty="0">
                <a:solidFill>
                  <a:schemeClr val="tx1"/>
                </a:solidFill>
              </a:rPr>
              <a:t>*</a:t>
            </a:r>
            <a:endParaRPr lang="en-IN" sz="1200" b="1" dirty="0">
              <a:solidFill>
                <a:schemeClr val="tx1"/>
              </a:solidFill>
            </a:endParaRPr>
          </a:p>
        </p:txBody>
      </p:sp>
      <p:sp>
        <p:nvSpPr>
          <p:cNvPr id="15" name="TextBox 14">
            <a:extLst>
              <a:ext uri="{FF2B5EF4-FFF2-40B4-BE49-F238E27FC236}">
                <a16:creationId xmlns:a16="http://schemas.microsoft.com/office/drawing/2014/main" id="{CCA1F2FC-0D94-4E58-84E9-83B750B9FC35}"/>
              </a:ext>
            </a:extLst>
          </p:cNvPr>
          <p:cNvSpPr txBox="1"/>
          <p:nvPr/>
        </p:nvSpPr>
        <p:spPr>
          <a:xfrm>
            <a:off x="5140336" y="1075067"/>
            <a:ext cx="1838377" cy="230832"/>
          </a:xfrm>
          <a:prstGeom prst="rect">
            <a:avLst/>
          </a:prstGeom>
          <a:noFill/>
        </p:spPr>
        <p:txBody>
          <a:bodyPr wrap="square" rtlCol="0">
            <a:spAutoFit/>
          </a:bodyPr>
          <a:lstStyle/>
          <a:p>
            <a:r>
              <a:rPr lang="en-GB" sz="900" dirty="0"/>
              <a:t>* Added as per consumer demand</a:t>
            </a:r>
            <a:endParaRPr lang="en-IN" sz="900" dirty="0"/>
          </a:p>
        </p:txBody>
      </p:sp>
      <p:pic>
        <p:nvPicPr>
          <p:cNvPr id="3082" name="Picture 10" descr="Medical file free icon">
            <a:extLst>
              <a:ext uri="{FF2B5EF4-FFF2-40B4-BE49-F238E27FC236}">
                <a16:creationId xmlns:a16="http://schemas.microsoft.com/office/drawing/2014/main" id="{225A1A86-2E08-4524-ACE2-30D71B0027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9847" y="1493099"/>
            <a:ext cx="557079" cy="557079"/>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Expenses free icon">
            <a:extLst>
              <a:ext uri="{FF2B5EF4-FFF2-40B4-BE49-F238E27FC236}">
                <a16:creationId xmlns:a16="http://schemas.microsoft.com/office/drawing/2014/main" id="{71C815C9-70E5-48EA-BB9B-10578D51B2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99921" y="2147494"/>
            <a:ext cx="718509" cy="632910"/>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descr="Emergency services free icon">
            <a:extLst>
              <a:ext uri="{FF2B5EF4-FFF2-40B4-BE49-F238E27FC236}">
                <a16:creationId xmlns:a16="http://schemas.microsoft.com/office/drawing/2014/main" id="{81AD988A-F0E8-49B8-BE8B-4427A2C562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09848" y="2810995"/>
            <a:ext cx="537962" cy="537962"/>
          </a:xfrm>
          <a:prstGeom prst="rect">
            <a:avLst/>
          </a:prstGeom>
          <a:noFill/>
          <a:extLst>
            <a:ext uri="{909E8E84-426E-40DD-AFC4-6F175D3DCCD1}">
              <a14:hiddenFill xmlns:a14="http://schemas.microsoft.com/office/drawing/2010/main">
                <a:solidFill>
                  <a:srgbClr val="FFFFFF"/>
                </a:solidFill>
              </a14:hiddenFill>
            </a:ext>
          </a:extLst>
        </p:spPr>
      </p:pic>
      <p:pic>
        <p:nvPicPr>
          <p:cNvPr id="3088" name="Picture 16" descr="Doctor free icon">
            <a:extLst>
              <a:ext uri="{FF2B5EF4-FFF2-40B4-BE49-F238E27FC236}">
                <a16:creationId xmlns:a16="http://schemas.microsoft.com/office/drawing/2014/main" id="{1B54E6CD-008E-46F1-B535-5E383447B8C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54251" y="3487015"/>
            <a:ext cx="537962" cy="537962"/>
          </a:xfrm>
          <a:prstGeom prst="rect">
            <a:avLst/>
          </a:prstGeom>
          <a:noFill/>
          <a:extLst>
            <a:ext uri="{909E8E84-426E-40DD-AFC4-6F175D3DCCD1}">
              <a14:hiddenFill xmlns:a14="http://schemas.microsoft.com/office/drawing/2010/main">
                <a:solidFill>
                  <a:srgbClr val="FFFFFF"/>
                </a:solidFill>
              </a14:hiddenFill>
            </a:ext>
          </a:extLst>
        </p:spPr>
      </p:pic>
      <p:pic>
        <p:nvPicPr>
          <p:cNvPr id="3090" name="Picture 18" descr="Sos free icon">
            <a:extLst>
              <a:ext uri="{FF2B5EF4-FFF2-40B4-BE49-F238E27FC236}">
                <a16:creationId xmlns:a16="http://schemas.microsoft.com/office/drawing/2014/main" id="{47A3AED6-EB5E-4A76-A4AE-397E2D7EA0E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09847" y="4204760"/>
            <a:ext cx="537963" cy="537963"/>
          </a:xfrm>
          <a:prstGeom prst="rect">
            <a:avLst/>
          </a:prstGeom>
          <a:noFill/>
          <a:extLst>
            <a:ext uri="{909E8E84-426E-40DD-AFC4-6F175D3DCCD1}">
              <a14:hiddenFill xmlns:a14="http://schemas.microsoft.com/office/drawing/2010/main">
                <a:solidFill>
                  <a:srgbClr val="FFFFFF"/>
                </a:solidFill>
              </a14:hiddenFill>
            </a:ext>
          </a:extLst>
        </p:spPr>
      </p:pic>
      <p:pic>
        <p:nvPicPr>
          <p:cNvPr id="3092" name="Picture 20" descr="Payment gateway free icon">
            <a:extLst>
              <a:ext uri="{FF2B5EF4-FFF2-40B4-BE49-F238E27FC236}">
                <a16:creationId xmlns:a16="http://schemas.microsoft.com/office/drawing/2014/main" id="{D1F92DC0-48CF-406D-AB89-CF970896C5C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09849" y="4880012"/>
            <a:ext cx="537960" cy="537960"/>
          </a:xfrm>
          <a:prstGeom prst="rect">
            <a:avLst/>
          </a:prstGeom>
          <a:noFill/>
          <a:extLst>
            <a:ext uri="{909E8E84-426E-40DD-AFC4-6F175D3DCCD1}">
              <a14:hiddenFill xmlns:a14="http://schemas.microsoft.com/office/drawing/2010/main">
                <a:solidFill>
                  <a:srgbClr val="FFFFFF"/>
                </a:solidFill>
              </a14:hiddenFill>
            </a:ext>
          </a:extLst>
        </p:spPr>
      </p:pic>
      <p:pic>
        <p:nvPicPr>
          <p:cNvPr id="3094" name="Picture 22" descr="Video tutorials free icon">
            <a:extLst>
              <a:ext uri="{FF2B5EF4-FFF2-40B4-BE49-F238E27FC236}">
                <a16:creationId xmlns:a16="http://schemas.microsoft.com/office/drawing/2014/main" id="{BE4BDB21-8639-4CEB-9185-C949A832B2D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09850" y="5555261"/>
            <a:ext cx="537959" cy="537959"/>
          </a:xfrm>
          <a:prstGeom prst="rect">
            <a:avLst/>
          </a:prstGeom>
          <a:noFill/>
          <a:extLst>
            <a:ext uri="{909E8E84-426E-40DD-AFC4-6F175D3DCCD1}">
              <a14:hiddenFill xmlns:a14="http://schemas.microsoft.com/office/drawing/2010/main">
                <a:solidFill>
                  <a:srgbClr val="FFFFFF"/>
                </a:solidFill>
              </a14:hiddenFill>
            </a:ext>
          </a:extLst>
        </p:spPr>
      </p:pic>
      <p:pic>
        <p:nvPicPr>
          <p:cNvPr id="3096" name="Picture 24" descr="Calculator free icon">
            <a:extLst>
              <a:ext uri="{FF2B5EF4-FFF2-40B4-BE49-F238E27FC236}">
                <a16:creationId xmlns:a16="http://schemas.microsoft.com/office/drawing/2014/main" id="{61EFEB96-46F1-4EC8-A242-66A7C5B828C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96828" y="6214987"/>
            <a:ext cx="699417" cy="699417"/>
          </a:xfrm>
          <a:prstGeom prst="rect">
            <a:avLst/>
          </a:prstGeom>
          <a:noFill/>
          <a:extLst>
            <a:ext uri="{909E8E84-426E-40DD-AFC4-6F175D3DCCD1}">
              <a14:hiddenFill xmlns:a14="http://schemas.microsoft.com/office/drawing/2010/main">
                <a:solidFill>
                  <a:srgbClr val="FFFFFF"/>
                </a:solidFill>
              </a14:hiddenFill>
            </a:ext>
          </a:extLst>
        </p:spPr>
      </p:pic>
      <p:pic>
        <p:nvPicPr>
          <p:cNvPr id="3098" name="Picture 26" descr="Gear free icon">
            <a:extLst>
              <a:ext uri="{FF2B5EF4-FFF2-40B4-BE49-F238E27FC236}">
                <a16:creationId xmlns:a16="http://schemas.microsoft.com/office/drawing/2014/main" id="{5FE21D80-6358-46C3-97E0-69A5340C091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230581" y="1728130"/>
            <a:ext cx="719431" cy="719431"/>
          </a:xfrm>
          <a:prstGeom prst="rect">
            <a:avLst/>
          </a:prstGeom>
          <a:noFill/>
          <a:extLst>
            <a:ext uri="{909E8E84-426E-40DD-AFC4-6F175D3DCCD1}">
              <a14:hiddenFill xmlns:a14="http://schemas.microsoft.com/office/drawing/2010/main">
                <a:solidFill>
                  <a:srgbClr val="FFFFFF"/>
                </a:solidFill>
              </a14:hiddenFill>
            </a:ext>
          </a:extLst>
        </p:spPr>
      </p:pic>
      <p:pic>
        <p:nvPicPr>
          <p:cNvPr id="3100" name="Picture 28" descr="Commission free icon">
            <a:extLst>
              <a:ext uri="{FF2B5EF4-FFF2-40B4-BE49-F238E27FC236}">
                <a16:creationId xmlns:a16="http://schemas.microsoft.com/office/drawing/2014/main" id="{64F7FEF2-A1DC-4FC7-9D4D-0D0B2552569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317763" y="3111938"/>
            <a:ext cx="632249" cy="632249"/>
          </a:xfrm>
          <a:prstGeom prst="rect">
            <a:avLst/>
          </a:prstGeom>
          <a:noFill/>
          <a:extLst>
            <a:ext uri="{909E8E84-426E-40DD-AFC4-6F175D3DCCD1}">
              <a14:hiddenFill xmlns:a14="http://schemas.microsoft.com/office/drawing/2010/main">
                <a:solidFill>
                  <a:srgbClr val="FFFFFF"/>
                </a:solidFill>
              </a14:hiddenFill>
            </a:ext>
          </a:extLst>
        </p:spPr>
      </p:pic>
      <p:pic>
        <p:nvPicPr>
          <p:cNvPr id="3102" name="Picture 30" descr="Subscribe free icon">
            <a:extLst>
              <a:ext uri="{FF2B5EF4-FFF2-40B4-BE49-F238E27FC236}">
                <a16:creationId xmlns:a16="http://schemas.microsoft.com/office/drawing/2014/main" id="{45926EF9-3150-401C-B993-A044E9FD12E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317763" y="4229064"/>
            <a:ext cx="728791" cy="728791"/>
          </a:xfrm>
          <a:prstGeom prst="rect">
            <a:avLst/>
          </a:prstGeom>
          <a:noFill/>
          <a:extLst>
            <a:ext uri="{909E8E84-426E-40DD-AFC4-6F175D3DCCD1}">
              <a14:hiddenFill xmlns:a14="http://schemas.microsoft.com/office/drawing/2010/main">
                <a:solidFill>
                  <a:srgbClr val="FFFFFF"/>
                </a:solidFill>
              </a14:hiddenFill>
            </a:ext>
          </a:extLst>
        </p:spPr>
      </p:pic>
      <p:pic>
        <p:nvPicPr>
          <p:cNvPr id="3104" name="Picture 32" descr="Pie chart free icon">
            <a:extLst>
              <a:ext uri="{FF2B5EF4-FFF2-40B4-BE49-F238E27FC236}">
                <a16:creationId xmlns:a16="http://schemas.microsoft.com/office/drawing/2014/main" id="{E9890BDB-9D78-47CA-9B0B-D2732EDAA54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321716" y="5463897"/>
            <a:ext cx="669847" cy="6698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6650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6172200" y="152400"/>
            <a:ext cx="2057400" cy="369332"/>
          </a:xfrm>
          <a:prstGeom prst="rect">
            <a:avLst/>
          </a:prstGeom>
          <a:noFill/>
        </p:spPr>
        <p:txBody>
          <a:bodyPr wrap="square" rtlCol="0">
            <a:spAutoFit/>
          </a:bodyPr>
          <a:lstStyle/>
          <a:p>
            <a:r>
              <a:rPr lang="en-US" dirty="0"/>
              <a:t>Partial Competitors</a:t>
            </a:r>
          </a:p>
        </p:txBody>
      </p:sp>
      <p:sp>
        <p:nvSpPr>
          <p:cNvPr id="15" name="TextBox 14"/>
          <p:cNvSpPr txBox="1"/>
          <p:nvPr/>
        </p:nvSpPr>
        <p:spPr>
          <a:xfrm>
            <a:off x="8420100" y="152400"/>
            <a:ext cx="2095500" cy="369332"/>
          </a:xfrm>
          <a:prstGeom prst="rect">
            <a:avLst/>
          </a:prstGeom>
          <a:noFill/>
        </p:spPr>
        <p:txBody>
          <a:bodyPr wrap="square" rtlCol="0">
            <a:spAutoFit/>
          </a:bodyPr>
          <a:lstStyle/>
          <a:p>
            <a:r>
              <a:rPr lang="en-US" dirty="0"/>
              <a:t>Direct Competitors</a:t>
            </a:r>
          </a:p>
        </p:txBody>
      </p:sp>
      <p:sp>
        <p:nvSpPr>
          <p:cNvPr id="20" name="AutoShape 2" descr="Job Application for Senior iOS Engineer at Flo Health"/>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32" name="Group 31">
            <a:extLst>
              <a:ext uri="{FF2B5EF4-FFF2-40B4-BE49-F238E27FC236}">
                <a16:creationId xmlns:a16="http://schemas.microsoft.com/office/drawing/2014/main" id="{7A42F2D0-52CC-4248-AEED-7CDD296C3BEF}"/>
              </a:ext>
            </a:extLst>
          </p:cNvPr>
          <p:cNvGrpSpPr/>
          <p:nvPr/>
        </p:nvGrpSpPr>
        <p:grpSpPr>
          <a:xfrm>
            <a:off x="49797" y="745354"/>
            <a:ext cx="4141297" cy="1763983"/>
            <a:chOff x="-18790" y="729920"/>
            <a:chExt cx="4141297" cy="1763983"/>
          </a:xfrm>
        </p:grpSpPr>
        <p:sp>
          <p:nvSpPr>
            <p:cNvPr id="13" name="Rectangle: Rounded Corners 12">
              <a:extLst>
                <a:ext uri="{FF2B5EF4-FFF2-40B4-BE49-F238E27FC236}">
                  <a16:creationId xmlns:a16="http://schemas.microsoft.com/office/drawing/2014/main" id="{B486F2C7-5F76-4E4C-8912-BB68FE6838BA}"/>
                </a:ext>
              </a:extLst>
            </p:cNvPr>
            <p:cNvSpPr/>
            <p:nvPr/>
          </p:nvSpPr>
          <p:spPr>
            <a:xfrm>
              <a:off x="-18790" y="729920"/>
              <a:ext cx="4141297" cy="1569660"/>
            </a:xfrm>
            <a:prstGeom prst="roundRect">
              <a:avLst/>
            </a:prstGeom>
            <a:solidFill>
              <a:schemeClr val="accent6">
                <a:lumMod val="60000"/>
                <a:lumOff val="40000"/>
              </a:schemeClr>
            </a:solidFill>
            <a:ln>
              <a:solidFill>
                <a:schemeClr val="tx1">
                  <a:lumMod val="85000"/>
                  <a:lumOff val="1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Box 30">
              <a:extLst>
                <a:ext uri="{FF2B5EF4-FFF2-40B4-BE49-F238E27FC236}">
                  <a16:creationId xmlns:a16="http://schemas.microsoft.com/office/drawing/2014/main" id="{CF5AB8AE-8652-4BAF-9AB9-9E5858F463ED}"/>
                </a:ext>
              </a:extLst>
            </p:cNvPr>
            <p:cNvSpPr txBox="1"/>
            <p:nvPr/>
          </p:nvSpPr>
          <p:spPr>
            <a:xfrm>
              <a:off x="62597" y="739577"/>
              <a:ext cx="4027913" cy="1754326"/>
            </a:xfrm>
            <a:prstGeom prst="rect">
              <a:avLst/>
            </a:prstGeom>
            <a:noFill/>
          </p:spPr>
          <p:txBody>
            <a:bodyPr wrap="square">
              <a:spAutoFit/>
            </a:bodyPr>
            <a:lstStyle/>
            <a:p>
              <a:r>
                <a:rPr lang="en-GB" sz="1200" b="1" dirty="0"/>
                <a:t>Strength</a:t>
              </a:r>
              <a:r>
                <a:rPr lang="en-GB" sz="1200" dirty="0"/>
                <a:t>	</a:t>
              </a:r>
            </a:p>
            <a:p>
              <a:pPr marL="171450" indent="-171450">
                <a:buFont typeface="Arial" panose="020B0604020202020204" pitchFamily="34" charset="0"/>
                <a:buChar char="•"/>
              </a:pPr>
              <a:r>
                <a:rPr lang="en-GB" sz="1200" dirty="0"/>
                <a:t>Profile for patients and medical health professionals </a:t>
              </a:r>
            </a:p>
            <a:p>
              <a:pPr marL="171450" indent="-171450">
                <a:buFont typeface="Arial" panose="020B0604020202020204" pitchFamily="34" charset="0"/>
                <a:buChar char="•"/>
              </a:pPr>
              <a:r>
                <a:rPr lang="en-GB" sz="1200" dirty="0"/>
                <a:t>Innovative products and services for keeping track and easy access of medical history and make payments	</a:t>
              </a:r>
            </a:p>
            <a:p>
              <a:pPr marL="171450" indent="-171450">
                <a:buFont typeface="Arial" panose="020B0604020202020204" pitchFamily="34" charset="0"/>
                <a:buChar char="•"/>
              </a:pPr>
              <a:r>
                <a:rPr lang="en-GB" sz="1200" dirty="0"/>
                <a:t>Data is highly secured with ISO/IEC 27001:2013 certification	</a:t>
              </a:r>
            </a:p>
            <a:p>
              <a:pPr marL="171450" indent="-171450">
                <a:buFont typeface="Arial" panose="020B0604020202020204" pitchFamily="34" charset="0"/>
                <a:buChar char="•"/>
              </a:pPr>
              <a:r>
                <a:rPr lang="en-GB" sz="1200" dirty="0"/>
                <a:t>Overcome communication delays, ensure real-time data acquisition and reporting	</a:t>
              </a:r>
            </a:p>
            <a:p>
              <a:endParaRPr lang="en-IN" sz="1200" dirty="0"/>
            </a:p>
          </p:txBody>
        </p:sp>
      </p:grpSp>
      <p:grpSp>
        <p:nvGrpSpPr>
          <p:cNvPr id="30" name="Group 29">
            <a:extLst>
              <a:ext uri="{FF2B5EF4-FFF2-40B4-BE49-F238E27FC236}">
                <a16:creationId xmlns:a16="http://schemas.microsoft.com/office/drawing/2014/main" id="{32FB7217-1017-4A92-A15F-4C8638FD776B}"/>
              </a:ext>
            </a:extLst>
          </p:cNvPr>
          <p:cNvGrpSpPr/>
          <p:nvPr/>
        </p:nvGrpSpPr>
        <p:grpSpPr>
          <a:xfrm>
            <a:off x="1663380" y="2392533"/>
            <a:ext cx="4248692" cy="1521844"/>
            <a:chOff x="1758373" y="2379039"/>
            <a:chExt cx="4248692" cy="1521844"/>
          </a:xfrm>
        </p:grpSpPr>
        <p:sp>
          <p:nvSpPr>
            <p:cNvPr id="16" name="Rectangle: Rounded Corners 15">
              <a:extLst>
                <a:ext uri="{FF2B5EF4-FFF2-40B4-BE49-F238E27FC236}">
                  <a16:creationId xmlns:a16="http://schemas.microsoft.com/office/drawing/2014/main" id="{D747A23A-52FE-4A56-B725-52BB1CB3E0C0}"/>
                </a:ext>
              </a:extLst>
            </p:cNvPr>
            <p:cNvSpPr/>
            <p:nvPr/>
          </p:nvSpPr>
          <p:spPr>
            <a:xfrm>
              <a:off x="1758373" y="2379779"/>
              <a:ext cx="4248692" cy="1521104"/>
            </a:xfrm>
            <a:prstGeom prst="roundRect">
              <a:avLst/>
            </a:prstGeom>
            <a:solidFill>
              <a:schemeClr val="accent4">
                <a:lumMod val="40000"/>
                <a:lumOff val="60000"/>
              </a:schemeClr>
            </a:solidFill>
            <a:ln>
              <a:solidFill>
                <a:schemeClr val="tx1">
                  <a:lumMod val="85000"/>
                  <a:lumOff val="1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C2547692-C4A6-4A84-922E-F038FAABE4A6}"/>
                </a:ext>
              </a:extLst>
            </p:cNvPr>
            <p:cNvSpPr txBox="1"/>
            <p:nvPr/>
          </p:nvSpPr>
          <p:spPr>
            <a:xfrm>
              <a:off x="1827933" y="2379039"/>
              <a:ext cx="3980029" cy="1384995"/>
            </a:xfrm>
            <a:prstGeom prst="rect">
              <a:avLst/>
            </a:prstGeom>
            <a:noFill/>
          </p:spPr>
          <p:txBody>
            <a:bodyPr wrap="square">
              <a:spAutoFit/>
            </a:bodyPr>
            <a:lstStyle/>
            <a:p>
              <a:r>
                <a:rPr lang="en-GB" sz="1200" b="1" dirty="0"/>
                <a:t>Weakness</a:t>
              </a:r>
            </a:p>
            <a:p>
              <a:pPr marL="171450" indent="-171450">
                <a:buFont typeface="Arial" panose="020B0604020202020204" pitchFamily="34" charset="0"/>
                <a:buChar char="•"/>
              </a:pPr>
              <a:r>
                <a:rPr lang="en-GB" sz="1200" dirty="0"/>
                <a:t>Low patient motivation to participate when project is not tailored to their needs</a:t>
              </a:r>
            </a:p>
            <a:p>
              <a:pPr marL="171450" indent="-171450">
                <a:buFont typeface="Arial" panose="020B0604020202020204" pitchFamily="34" charset="0"/>
                <a:buChar char="•"/>
              </a:pPr>
              <a:r>
                <a:rPr lang="en-GB" sz="1200" dirty="0"/>
                <a:t>Technical challenges reduce data quality and transfer, lost network, phone maintenance costs and risk of theft</a:t>
              </a:r>
            </a:p>
            <a:p>
              <a:pPr marL="171450" indent="-171450">
                <a:buFont typeface="Arial" panose="020B0604020202020204" pitchFamily="34" charset="0"/>
                <a:buChar char="•"/>
              </a:pPr>
              <a:r>
                <a:rPr lang="en-GB" sz="1200" dirty="0"/>
                <a:t>No assessment has been performed to know its effective implementation</a:t>
              </a:r>
              <a:endParaRPr lang="en-IN" sz="1200" dirty="0"/>
            </a:p>
          </p:txBody>
        </p:sp>
      </p:grpSp>
      <p:grpSp>
        <p:nvGrpSpPr>
          <p:cNvPr id="29" name="Group 28">
            <a:extLst>
              <a:ext uri="{FF2B5EF4-FFF2-40B4-BE49-F238E27FC236}">
                <a16:creationId xmlns:a16="http://schemas.microsoft.com/office/drawing/2014/main" id="{27938F96-72E5-4220-B32E-1485C4E4EB1A}"/>
              </a:ext>
            </a:extLst>
          </p:cNvPr>
          <p:cNvGrpSpPr/>
          <p:nvPr/>
        </p:nvGrpSpPr>
        <p:grpSpPr>
          <a:xfrm>
            <a:off x="74517" y="4001767"/>
            <a:ext cx="4296744" cy="1388763"/>
            <a:chOff x="74517" y="4001767"/>
            <a:chExt cx="4296744" cy="1388763"/>
          </a:xfrm>
        </p:grpSpPr>
        <p:sp>
          <p:nvSpPr>
            <p:cNvPr id="17" name="Rectangle: Rounded Corners 16">
              <a:extLst>
                <a:ext uri="{FF2B5EF4-FFF2-40B4-BE49-F238E27FC236}">
                  <a16:creationId xmlns:a16="http://schemas.microsoft.com/office/drawing/2014/main" id="{3D60BE25-89F5-48B3-AFCE-D29F900E8A8F}"/>
                </a:ext>
              </a:extLst>
            </p:cNvPr>
            <p:cNvSpPr/>
            <p:nvPr/>
          </p:nvSpPr>
          <p:spPr>
            <a:xfrm>
              <a:off x="74517" y="4001767"/>
              <a:ext cx="4296744" cy="1368188"/>
            </a:xfrm>
            <a:prstGeom prst="roundRect">
              <a:avLst/>
            </a:prstGeom>
            <a:solidFill>
              <a:schemeClr val="accent2">
                <a:lumMod val="60000"/>
                <a:lumOff val="40000"/>
              </a:schemeClr>
            </a:solidFill>
            <a:ln>
              <a:solidFill>
                <a:schemeClr val="tx1">
                  <a:lumMod val="85000"/>
                  <a:lumOff val="1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TextBox 34">
              <a:extLst>
                <a:ext uri="{FF2B5EF4-FFF2-40B4-BE49-F238E27FC236}">
                  <a16:creationId xmlns:a16="http://schemas.microsoft.com/office/drawing/2014/main" id="{C3C02244-8A11-43A8-B3E1-1E137E06FC6C}"/>
                </a:ext>
              </a:extLst>
            </p:cNvPr>
            <p:cNvSpPr txBox="1"/>
            <p:nvPr/>
          </p:nvSpPr>
          <p:spPr>
            <a:xfrm>
              <a:off x="136307" y="4005535"/>
              <a:ext cx="4234954" cy="1384995"/>
            </a:xfrm>
            <a:prstGeom prst="rect">
              <a:avLst/>
            </a:prstGeom>
            <a:noFill/>
          </p:spPr>
          <p:txBody>
            <a:bodyPr wrap="square">
              <a:spAutoFit/>
            </a:bodyPr>
            <a:lstStyle/>
            <a:p>
              <a:r>
                <a:rPr lang="en-GB" sz="1200" b="1" dirty="0"/>
                <a:t>Opportunities</a:t>
              </a:r>
            </a:p>
            <a:p>
              <a:pPr marL="171450" indent="-171450">
                <a:buFont typeface="Arial" panose="020B0604020202020204" pitchFamily="34" charset="0"/>
                <a:buChar char="•"/>
              </a:pPr>
              <a:r>
                <a:rPr lang="en-GB" sz="1200" dirty="0"/>
                <a:t>High access and rapid expansion of mobile network coverage, availability of inexpensive handsets, and decreasing costs of mobile phone services and rapidly-growing technological field</a:t>
              </a:r>
            </a:p>
            <a:p>
              <a:pPr marL="171450" indent="-171450">
                <a:buFont typeface="Arial" panose="020B0604020202020204" pitchFamily="34" charset="0"/>
                <a:buChar char="•"/>
              </a:pPr>
              <a:r>
                <a:rPr lang="en-GB" sz="1200" dirty="0"/>
                <a:t>Cost-effective implementation of mHealth programmes to collaborate with more hospitals and service providers</a:t>
              </a:r>
            </a:p>
            <a:p>
              <a:pPr marL="171450" indent="-171450">
                <a:buFont typeface="Arial" panose="020B0604020202020204" pitchFamily="34" charset="0"/>
                <a:buChar char="•"/>
              </a:pPr>
              <a:r>
                <a:rPr lang="en-GB" sz="1200" dirty="0"/>
                <a:t>People are becoming more internet savvy</a:t>
              </a:r>
              <a:endParaRPr lang="en-IN" sz="1200" dirty="0"/>
            </a:p>
          </p:txBody>
        </p:sp>
      </p:grpSp>
      <p:grpSp>
        <p:nvGrpSpPr>
          <p:cNvPr id="22" name="Group 21">
            <a:extLst>
              <a:ext uri="{FF2B5EF4-FFF2-40B4-BE49-F238E27FC236}">
                <a16:creationId xmlns:a16="http://schemas.microsoft.com/office/drawing/2014/main" id="{C71680EC-67B7-4C61-8E11-602E64EE1B28}"/>
              </a:ext>
            </a:extLst>
          </p:cNvPr>
          <p:cNvGrpSpPr/>
          <p:nvPr/>
        </p:nvGrpSpPr>
        <p:grpSpPr>
          <a:xfrm>
            <a:off x="2215515" y="5444753"/>
            <a:ext cx="3599334" cy="1401586"/>
            <a:chOff x="2366513" y="5469678"/>
            <a:chExt cx="3599334" cy="1401586"/>
          </a:xfrm>
        </p:grpSpPr>
        <p:sp>
          <p:nvSpPr>
            <p:cNvPr id="19" name="Rectangle: Rounded Corners 18">
              <a:extLst>
                <a:ext uri="{FF2B5EF4-FFF2-40B4-BE49-F238E27FC236}">
                  <a16:creationId xmlns:a16="http://schemas.microsoft.com/office/drawing/2014/main" id="{5565CCC9-1D11-4CC3-A068-AE26FB630D6D}"/>
                </a:ext>
              </a:extLst>
            </p:cNvPr>
            <p:cNvSpPr/>
            <p:nvPr/>
          </p:nvSpPr>
          <p:spPr>
            <a:xfrm>
              <a:off x="2366513" y="5469678"/>
              <a:ext cx="3599334" cy="1376661"/>
            </a:xfrm>
            <a:prstGeom prst="roundRect">
              <a:avLst/>
            </a:prstGeom>
            <a:solidFill>
              <a:schemeClr val="bg2">
                <a:lumMod val="90000"/>
              </a:schemeClr>
            </a:solidFill>
            <a:ln>
              <a:solidFill>
                <a:schemeClr val="tx1">
                  <a:lumMod val="85000"/>
                  <a:lumOff val="1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TextBox 36">
              <a:extLst>
                <a:ext uri="{FF2B5EF4-FFF2-40B4-BE49-F238E27FC236}">
                  <a16:creationId xmlns:a16="http://schemas.microsoft.com/office/drawing/2014/main" id="{53B26BDA-7DD1-4421-A331-84718CDB2B2C}"/>
                </a:ext>
              </a:extLst>
            </p:cNvPr>
            <p:cNvSpPr txBox="1"/>
            <p:nvPr/>
          </p:nvSpPr>
          <p:spPr>
            <a:xfrm>
              <a:off x="2447441" y="5486269"/>
              <a:ext cx="3360522" cy="1384995"/>
            </a:xfrm>
            <a:prstGeom prst="rect">
              <a:avLst/>
            </a:prstGeom>
            <a:noFill/>
          </p:spPr>
          <p:txBody>
            <a:bodyPr wrap="square">
              <a:spAutoFit/>
            </a:bodyPr>
            <a:lstStyle/>
            <a:p>
              <a:r>
                <a:rPr lang="en-GB" sz="1200" b="1" dirty="0"/>
                <a:t>Threats</a:t>
              </a:r>
            </a:p>
            <a:p>
              <a:pPr marL="171450" indent="-171450">
                <a:buFont typeface="Arial" panose="020B0604020202020204" pitchFamily="34" charset="0"/>
                <a:buChar char="•"/>
              </a:pPr>
              <a:r>
                <a:rPr lang="en-GB" sz="1200" dirty="0"/>
                <a:t>Dependency on network coverage</a:t>
              </a:r>
            </a:p>
            <a:p>
              <a:pPr marL="171450" indent="-171450">
                <a:buFont typeface="Arial" panose="020B0604020202020204" pitchFamily="34" charset="0"/>
                <a:buChar char="•"/>
              </a:pPr>
              <a:r>
                <a:rPr lang="en-GB" sz="1200" dirty="0"/>
                <a:t>Unknown cost-effectiveness of deployment and maintenance</a:t>
              </a:r>
            </a:p>
            <a:p>
              <a:pPr marL="171450" indent="-171450">
                <a:buFont typeface="Arial" panose="020B0604020202020204" pitchFamily="34" charset="0"/>
                <a:buChar char="•"/>
              </a:pPr>
              <a:r>
                <a:rPr lang="en-GB" sz="1200" dirty="0"/>
                <a:t>2/3 industry dominant players in the market</a:t>
              </a:r>
            </a:p>
            <a:p>
              <a:pPr marL="171450" indent="-171450">
                <a:buFont typeface="Arial" panose="020B0604020202020204" pitchFamily="34" charset="0"/>
                <a:buChar char="•"/>
              </a:pPr>
              <a:r>
                <a:rPr lang="en-GB" sz="1200" dirty="0"/>
                <a:t>New RBI regulations with resect to the online payment methods</a:t>
              </a:r>
              <a:endParaRPr lang="en-IN" sz="1200" dirty="0"/>
            </a:p>
          </p:txBody>
        </p:sp>
      </p:grpSp>
      <p:pic>
        <p:nvPicPr>
          <p:cNvPr id="1026" name="Picture 2" descr="Stethoscope free icon">
            <a:extLst>
              <a:ext uri="{FF2B5EF4-FFF2-40B4-BE49-F238E27FC236}">
                <a16:creationId xmlns:a16="http://schemas.microsoft.com/office/drawing/2014/main" id="{04F5F4D1-9272-4282-8C60-112012B6B1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5089" y="1225151"/>
            <a:ext cx="823746" cy="82374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Band aid free icon">
            <a:extLst>
              <a:ext uri="{FF2B5EF4-FFF2-40B4-BE49-F238E27FC236}">
                <a16:creationId xmlns:a16="http://schemas.microsoft.com/office/drawing/2014/main" id="{F352C8E8-6CB2-41C0-A2EA-DEC6797D6D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641" y="2499539"/>
            <a:ext cx="1134139" cy="113413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Lifeline turning into directional arrow free icon">
            <a:extLst>
              <a:ext uri="{FF2B5EF4-FFF2-40B4-BE49-F238E27FC236}">
                <a16:creationId xmlns:a16="http://schemas.microsoft.com/office/drawing/2014/main" id="{3651544E-CB47-4FD6-923F-C2DC0A62D9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4610" y="4114510"/>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8" descr="Syringe free icon">
            <a:extLst>
              <a:ext uri="{FF2B5EF4-FFF2-40B4-BE49-F238E27FC236}">
                <a16:creationId xmlns:a16="http://schemas.microsoft.com/office/drawing/2014/main" id="{9413CA00-31A9-4B51-8DB3-A3143C3538D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2612" y="5650953"/>
            <a:ext cx="1055625" cy="10556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1" name="Content Placeholder 3">
            <a:extLst>
              <a:ext uri="{FF2B5EF4-FFF2-40B4-BE49-F238E27FC236}">
                <a16:creationId xmlns:a16="http://schemas.microsoft.com/office/drawing/2014/main" id="{6994B3A9-63FA-4AF9-BA0C-715C5D1DE207}"/>
              </a:ext>
            </a:extLst>
          </p:cNvPr>
          <p:cNvGraphicFramePr>
            <a:graphicFrameLocks/>
          </p:cNvGraphicFramePr>
          <p:nvPr>
            <p:extLst>
              <p:ext uri="{D42A27DB-BD31-4B8C-83A1-F6EECF244321}">
                <p14:modId xmlns:p14="http://schemas.microsoft.com/office/powerpoint/2010/main" val="804393005"/>
              </p:ext>
            </p:extLst>
          </p:nvPr>
        </p:nvGraphicFramePr>
        <p:xfrm>
          <a:off x="8064577" y="762000"/>
          <a:ext cx="3967388" cy="5943600"/>
        </p:xfrm>
        <a:graphic>
          <a:graphicData uri="http://schemas.openxmlformats.org/drawingml/2006/table">
            <a:tbl>
              <a:tblPr firstRow="1" bandRow="1">
                <a:tableStyleId>{616DA210-FB5B-4158-B5E0-FEB733F419BA}</a:tableStyleId>
              </a:tblPr>
              <a:tblGrid>
                <a:gridCol w="991847">
                  <a:extLst>
                    <a:ext uri="{9D8B030D-6E8A-4147-A177-3AD203B41FA5}">
                      <a16:colId xmlns:a16="http://schemas.microsoft.com/office/drawing/2014/main" val="20000"/>
                    </a:ext>
                  </a:extLst>
                </a:gridCol>
                <a:gridCol w="991847">
                  <a:extLst>
                    <a:ext uri="{9D8B030D-6E8A-4147-A177-3AD203B41FA5}">
                      <a16:colId xmlns:a16="http://schemas.microsoft.com/office/drawing/2014/main" val="20001"/>
                    </a:ext>
                  </a:extLst>
                </a:gridCol>
                <a:gridCol w="991847">
                  <a:extLst>
                    <a:ext uri="{9D8B030D-6E8A-4147-A177-3AD203B41FA5}">
                      <a16:colId xmlns:a16="http://schemas.microsoft.com/office/drawing/2014/main" val="20002"/>
                    </a:ext>
                  </a:extLst>
                </a:gridCol>
                <a:gridCol w="991847">
                  <a:extLst>
                    <a:ext uri="{9D8B030D-6E8A-4147-A177-3AD203B41FA5}">
                      <a16:colId xmlns:a16="http://schemas.microsoft.com/office/drawing/2014/main" val="20003"/>
                    </a:ext>
                  </a:extLst>
                </a:gridCol>
              </a:tblGrid>
              <a:tr h="0">
                <a:tc>
                  <a:txBody>
                    <a:bodyPr/>
                    <a:lstStyle/>
                    <a:p>
                      <a:r>
                        <a:rPr lang="en-US" sz="1200" dirty="0"/>
                        <a:t>Competitor</a:t>
                      </a:r>
                    </a:p>
                  </a:txBody>
                  <a:tcPr/>
                </a:tc>
                <a:tc>
                  <a:txBody>
                    <a:bodyPr/>
                    <a:lstStyle/>
                    <a:p>
                      <a:r>
                        <a:rPr lang="en-US" sz="1200" dirty="0"/>
                        <a:t>User base</a:t>
                      </a:r>
                    </a:p>
                  </a:txBody>
                  <a:tcPr/>
                </a:tc>
                <a:tc>
                  <a:txBody>
                    <a:bodyPr/>
                    <a:lstStyle/>
                    <a:p>
                      <a:r>
                        <a:rPr lang="en-US" sz="1200" dirty="0"/>
                        <a:t>Reviews</a:t>
                      </a:r>
                    </a:p>
                  </a:txBody>
                  <a:tcPr/>
                </a:tc>
                <a:tc>
                  <a:txBody>
                    <a:bodyPr/>
                    <a:lstStyle/>
                    <a:p>
                      <a:r>
                        <a:rPr lang="en-US" sz="1200" dirty="0"/>
                        <a:t>Ratings</a:t>
                      </a:r>
                    </a:p>
                  </a:txBody>
                  <a:tcPr/>
                </a:tc>
                <a:extLst>
                  <a:ext uri="{0D108BD9-81ED-4DB2-BD59-A6C34878D82A}">
                    <a16:rowId xmlns:a16="http://schemas.microsoft.com/office/drawing/2014/main" val="10000"/>
                  </a:ext>
                </a:extLst>
              </a:tr>
              <a:tr h="441331">
                <a:tc>
                  <a:txBody>
                    <a:bodyPr/>
                    <a:lstStyle/>
                    <a:p>
                      <a:r>
                        <a:rPr lang="en-US" sz="1200" dirty="0"/>
                        <a:t>Appollo247</a:t>
                      </a:r>
                    </a:p>
                  </a:txBody>
                  <a:tcPr>
                    <a:solidFill>
                      <a:schemeClr val="accent6">
                        <a:lumMod val="40000"/>
                        <a:lumOff val="60000"/>
                      </a:schemeClr>
                    </a:solidFill>
                  </a:tcPr>
                </a:tc>
                <a:tc>
                  <a:txBody>
                    <a:bodyPr/>
                    <a:lstStyle/>
                    <a:p>
                      <a:r>
                        <a:rPr lang="en-US" sz="1200" dirty="0"/>
                        <a:t>1cr+ download</a:t>
                      </a:r>
                    </a:p>
                  </a:txBody>
                  <a:tcPr>
                    <a:solidFill>
                      <a:schemeClr val="accent6">
                        <a:lumMod val="40000"/>
                        <a:lumOff val="60000"/>
                      </a:schemeClr>
                    </a:solidFill>
                  </a:tcPr>
                </a:tc>
                <a:tc>
                  <a:txBody>
                    <a:bodyPr/>
                    <a:lstStyle/>
                    <a:p>
                      <a:r>
                        <a:rPr lang="en-US" sz="1200" dirty="0"/>
                        <a:t>3lakh reviews</a:t>
                      </a:r>
                    </a:p>
                  </a:txBody>
                  <a:tcPr>
                    <a:solidFill>
                      <a:schemeClr val="accent6">
                        <a:lumMod val="40000"/>
                        <a:lumOff val="60000"/>
                      </a:schemeClr>
                    </a:solidFill>
                  </a:tcPr>
                </a:tc>
                <a:tc>
                  <a:txBody>
                    <a:bodyPr/>
                    <a:lstStyle/>
                    <a:p>
                      <a:r>
                        <a:rPr lang="en-US" sz="1200" dirty="0"/>
                        <a:t>4.5 stars</a:t>
                      </a:r>
                    </a:p>
                  </a:txBody>
                  <a:tcPr>
                    <a:solidFill>
                      <a:schemeClr val="accent6">
                        <a:lumMod val="40000"/>
                        <a:lumOff val="60000"/>
                      </a:schemeClr>
                    </a:solidFill>
                  </a:tcPr>
                </a:tc>
                <a:extLst>
                  <a:ext uri="{0D108BD9-81ED-4DB2-BD59-A6C34878D82A}">
                    <a16:rowId xmlns:a16="http://schemas.microsoft.com/office/drawing/2014/main" val="10001"/>
                  </a:ext>
                </a:extLst>
              </a:tr>
              <a:tr h="617863">
                <a:tc>
                  <a:txBody>
                    <a:bodyPr/>
                    <a:lstStyle/>
                    <a:p>
                      <a:r>
                        <a:rPr lang="en-US" sz="1200" dirty="0" err="1"/>
                        <a:t>Hconnect</a:t>
                      </a:r>
                      <a:endParaRPr lang="en-US" sz="1200" dirty="0"/>
                    </a:p>
                  </a:txBody>
                  <a:tcPr>
                    <a:solidFill>
                      <a:schemeClr val="accent6">
                        <a:lumMod val="40000"/>
                        <a:lumOff val="60000"/>
                      </a:schemeClr>
                    </a:solidFill>
                  </a:tcPr>
                </a:tc>
                <a:tc>
                  <a:txBody>
                    <a:bodyPr/>
                    <a:lstStyle/>
                    <a:p>
                      <a:r>
                        <a:rPr lang="en-US" sz="1200" dirty="0"/>
                        <a:t>5000+ downloads</a:t>
                      </a:r>
                    </a:p>
                  </a:txBody>
                  <a:tcPr>
                    <a:solidFill>
                      <a:schemeClr val="accent6">
                        <a:lumMod val="40000"/>
                        <a:lumOff val="60000"/>
                      </a:schemeClr>
                    </a:solidFill>
                  </a:tcPr>
                </a:tc>
                <a:tc>
                  <a:txBody>
                    <a:bodyPr/>
                    <a:lstStyle/>
                    <a:p>
                      <a:r>
                        <a:rPr lang="en-US" sz="1200" dirty="0"/>
                        <a:t>54</a:t>
                      </a:r>
                      <a:r>
                        <a:rPr lang="en-US" sz="1200" baseline="0" dirty="0"/>
                        <a:t> reviews</a:t>
                      </a:r>
                      <a:endParaRPr lang="en-US" sz="1200" dirty="0"/>
                    </a:p>
                  </a:txBody>
                  <a:tcPr>
                    <a:solidFill>
                      <a:schemeClr val="accent6">
                        <a:lumMod val="40000"/>
                        <a:lumOff val="60000"/>
                      </a:schemeClr>
                    </a:solidFill>
                  </a:tcPr>
                </a:tc>
                <a:tc>
                  <a:txBody>
                    <a:bodyPr/>
                    <a:lstStyle/>
                    <a:p>
                      <a:r>
                        <a:rPr lang="en-US" sz="1200" dirty="0"/>
                        <a:t>4.1 stars</a:t>
                      </a:r>
                    </a:p>
                    <a:p>
                      <a:endParaRPr lang="en-US" sz="1200" dirty="0"/>
                    </a:p>
                    <a:p>
                      <a:endParaRPr lang="en-US" sz="1200" dirty="0"/>
                    </a:p>
                  </a:txBody>
                  <a:tcPr>
                    <a:solidFill>
                      <a:schemeClr val="accent6">
                        <a:lumMod val="40000"/>
                        <a:lumOff val="60000"/>
                      </a:schemeClr>
                    </a:solidFill>
                  </a:tcPr>
                </a:tc>
                <a:extLst>
                  <a:ext uri="{0D108BD9-81ED-4DB2-BD59-A6C34878D82A}">
                    <a16:rowId xmlns:a16="http://schemas.microsoft.com/office/drawing/2014/main" val="10002"/>
                  </a:ext>
                </a:extLst>
              </a:tr>
              <a:tr h="441331">
                <a:tc>
                  <a:txBody>
                    <a:bodyPr/>
                    <a:lstStyle/>
                    <a:p>
                      <a:r>
                        <a:rPr lang="en-US" sz="1200" dirty="0" err="1"/>
                        <a:t>Medibuddy</a:t>
                      </a:r>
                      <a:endParaRPr lang="en-US" sz="1200" dirty="0"/>
                    </a:p>
                  </a:txBody>
                  <a:tcPr>
                    <a:solidFill>
                      <a:schemeClr val="accent6">
                        <a:lumMod val="40000"/>
                        <a:lumOff val="60000"/>
                      </a:schemeClr>
                    </a:solidFill>
                  </a:tcPr>
                </a:tc>
                <a:tc>
                  <a:txBody>
                    <a:bodyPr/>
                    <a:lstStyle/>
                    <a:p>
                      <a:r>
                        <a:rPr lang="en-US" sz="1200" dirty="0"/>
                        <a:t>10lakh+</a:t>
                      </a:r>
                      <a:r>
                        <a:rPr lang="en-US" sz="1200" baseline="0" dirty="0"/>
                        <a:t> downloads</a:t>
                      </a:r>
                      <a:endParaRPr lang="en-US" sz="1200" dirty="0"/>
                    </a:p>
                  </a:txBody>
                  <a:tcPr>
                    <a:solidFill>
                      <a:schemeClr val="accent6">
                        <a:lumMod val="40000"/>
                        <a:lumOff val="60000"/>
                      </a:schemeClr>
                    </a:solidFill>
                  </a:tcPr>
                </a:tc>
                <a:tc>
                  <a:txBody>
                    <a:bodyPr/>
                    <a:lstStyle/>
                    <a:p>
                      <a:r>
                        <a:rPr lang="en-US" sz="1200" dirty="0"/>
                        <a:t>1lakhs+</a:t>
                      </a:r>
                      <a:r>
                        <a:rPr lang="en-US" sz="1200" baseline="0" dirty="0"/>
                        <a:t> reviews</a:t>
                      </a:r>
                      <a:endParaRPr lang="en-US" sz="1200" dirty="0"/>
                    </a:p>
                  </a:txBody>
                  <a:tcPr>
                    <a:solidFill>
                      <a:schemeClr val="accent6">
                        <a:lumMod val="40000"/>
                        <a:lumOff val="60000"/>
                      </a:schemeClr>
                    </a:solidFill>
                  </a:tcPr>
                </a:tc>
                <a:tc>
                  <a:txBody>
                    <a:bodyPr/>
                    <a:lstStyle/>
                    <a:p>
                      <a:r>
                        <a:rPr lang="en-US" sz="1200" dirty="0"/>
                        <a:t>4.4 stars</a:t>
                      </a:r>
                    </a:p>
                  </a:txBody>
                  <a:tcPr>
                    <a:solidFill>
                      <a:schemeClr val="accent6">
                        <a:lumMod val="40000"/>
                        <a:lumOff val="60000"/>
                      </a:schemeClr>
                    </a:solidFill>
                  </a:tcPr>
                </a:tc>
                <a:extLst>
                  <a:ext uri="{0D108BD9-81ED-4DB2-BD59-A6C34878D82A}">
                    <a16:rowId xmlns:a16="http://schemas.microsoft.com/office/drawing/2014/main" val="10003"/>
                  </a:ext>
                </a:extLst>
              </a:tr>
              <a:tr h="441331">
                <a:tc>
                  <a:txBody>
                    <a:bodyPr/>
                    <a:lstStyle/>
                    <a:p>
                      <a:r>
                        <a:rPr lang="en-US" sz="1200" dirty="0"/>
                        <a:t>Cult</a:t>
                      </a:r>
                      <a:r>
                        <a:rPr lang="en-US" sz="1200" baseline="0" dirty="0"/>
                        <a:t> fit</a:t>
                      </a:r>
                      <a:endParaRPr lang="en-US" sz="1200" dirty="0"/>
                    </a:p>
                  </a:txBody>
                  <a:tcPr>
                    <a:solidFill>
                      <a:schemeClr val="accent5">
                        <a:lumMod val="60000"/>
                        <a:lumOff val="40000"/>
                      </a:schemeClr>
                    </a:solidFill>
                  </a:tcPr>
                </a:tc>
                <a:tc>
                  <a:txBody>
                    <a:bodyPr/>
                    <a:lstStyle/>
                    <a:p>
                      <a:r>
                        <a:rPr lang="en-US" sz="1200" dirty="0"/>
                        <a:t>50 lakh+</a:t>
                      </a:r>
                      <a:r>
                        <a:rPr lang="en-US" sz="1200" baseline="0" dirty="0"/>
                        <a:t> downloads</a:t>
                      </a:r>
                      <a:endParaRPr lang="en-US" sz="1200" dirty="0"/>
                    </a:p>
                  </a:txBody>
                  <a:tcPr>
                    <a:solidFill>
                      <a:schemeClr val="accent5">
                        <a:lumMod val="60000"/>
                        <a:lumOff val="40000"/>
                      </a:schemeClr>
                    </a:solidFill>
                  </a:tcPr>
                </a:tc>
                <a:tc>
                  <a:txBody>
                    <a:bodyPr/>
                    <a:lstStyle/>
                    <a:p>
                      <a:r>
                        <a:rPr lang="en-US" sz="1200" dirty="0"/>
                        <a:t>95 thousand reviews</a:t>
                      </a:r>
                    </a:p>
                  </a:txBody>
                  <a:tcPr>
                    <a:solidFill>
                      <a:schemeClr val="accent5">
                        <a:lumMod val="60000"/>
                        <a:lumOff val="40000"/>
                      </a:schemeClr>
                    </a:solidFill>
                  </a:tcPr>
                </a:tc>
                <a:tc>
                  <a:txBody>
                    <a:bodyPr/>
                    <a:lstStyle/>
                    <a:p>
                      <a:r>
                        <a:rPr lang="en-US" sz="1200" dirty="0"/>
                        <a:t>4.6</a:t>
                      </a:r>
                      <a:r>
                        <a:rPr lang="en-US" sz="1200" baseline="0" dirty="0"/>
                        <a:t> stars</a:t>
                      </a:r>
                      <a:endParaRPr lang="en-US" sz="1200" dirty="0"/>
                    </a:p>
                  </a:txBody>
                  <a:tcPr>
                    <a:solidFill>
                      <a:schemeClr val="accent5">
                        <a:lumMod val="60000"/>
                        <a:lumOff val="40000"/>
                      </a:schemeClr>
                    </a:solidFill>
                  </a:tcPr>
                </a:tc>
                <a:extLst>
                  <a:ext uri="{0D108BD9-81ED-4DB2-BD59-A6C34878D82A}">
                    <a16:rowId xmlns:a16="http://schemas.microsoft.com/office/drawing/2014/main" val="10004"/>
                  </a:ext>
                </a:extLst>
              </a:tr>
              <a:tr h="441331">
                <a:tc>
                  <a:txBody>
                    <a:bodyPr/>
                    <a:lstStyle/>
                    <a:p>
                      <a:r>
                        <a:rPr lang="en-US" sz="1200" dirty="0"/>
                        <a:t>1mg</a:t>
                      </a:r>
                    </a:p>
                  </a:txBody>
                  <a:tcPr>
                    <a:solidFill>
                      <a:schemeClr val="accent5">
                        <a:lumMod val="60000"/>
                        <a:lumOff val="40000"/>
                      </a:schemeClr>
                    </a:solidFill>
                  </a:tcPr>
                </a:tc>
                <a:tc>
                  <a:txBody>
                    <a:bodyPr/>
                    <a:lstStyle/>
                    <a:p>
                      <a:r>
                        <a:rPr lang="en-US" sz="1200" dirty="0"/>
                        <a:t>1 </a:t>
                      </a:r>
                      <a:r>
                        <a:rPr lang="en-US" sz="1200" dirty="0" err="1"/>
                        <a:t>crore</a:t>
                      </a:r>
                      <a:r>
                        <a:rPr lang="en-US" sz="1200" dirty="0"/>
                        <a:t>+ downloads</a:t>
                      </a:r>
                    </a:p>
                  </a:txBody>
                  <a:tcPr>
                    <a:solidFill>
                      <a:schemeClr val="accent5">
                        <a:lumMod val="60000"/>
                        <a:lumOff val="40000"/>
                      </a:schemeClr>
                    </a:solidFill>
                  </a:tcPr>
                </a:tc>
                <a:tc>
                  <a:txBody>
                    <a:bodyPr/>
                    <a:lstStyle/>
                    <a:p>
                      <a:r>
                        <a:rPr lang="en-US" sz="1200" dirty="0"/>
                        <a:t>4 lakh reviews</a:t>
                      </a:r>
                    </a:p>
                  </a:txBody>
                  <a:tcPr>
                    <a:solidFill>
                      <a:schemeClr val="accent5">
                        <a:lumMod val="60000"/>
                        <a:lumOff val="40000"/>
                      </a:schemeClr>
                    </a:solidFill>
                  </a:tcPr>
                </a:tc>
                <a:tc>
                  <a:txBody>
                    <a:bodyPr/>
                    <a:lstStyle/>
                    <a:p>
                      <a:r>
                        <a:rPr lang="en-US" sz="1200" dirty="0"/>
                        <a:t>4.4 stars</a:t>
                      </a:r>
                    </a:p>
                  </a:txBody>
                  <a:tcPr>
                    <a:solidFill>
                      <a:schemeClr val="accent5">
                        <a:lumMod val="60000"/>
                        <a:lumOff val="40000"/>
                      </a:schemeClr>
                    </a:solidFill>
                  </a:tcPr>
                </a:tc>
                <a:extLst>
                  <a:ext uri="{0D108BD9-81ED-4DB2-BD59-A6C34878D82A}">
                    <a16:rowId xmlns:a16="http://schemas.microsoft.com/office/drawing/2014/main" val="10005"/>
                  </a:ext>
                </a:extLst>
              </a:tr>
              <a:tr h="441331">
                <a:tc>
                  <a:txBody>
                    <a:bodyPr/>
                    <a:lstStyle/>
                    <a:p>
                      <a:r>
                        <a:rPr lang="en-US" sz="1200" dirty="0" err="1"/>
                        <a:t>Practo</a:t>
                      </a:r>
                      <a:endParaRPr lang="en-US" sz="1200" dirty="0"/>
                    </a:p>
                  </a:txBody>
                  <a:tcPr>
                    <a:solidFill>
                      <a:schemeClr val="accent5">
                        <a:lumMod val="60000"/>
                        <a:lumOff val="40000"/>
                      </a:schemeClr>
                    </a:solidFill>
                  </a:tcPr>
                </a:tc>
                <a:tc>
                  <a:txBody>
                    <a:bodyPr/>
                    <a:lstStyle/>
                    <a:p>
                      <a:r>
                        <a:rPr lang="en-US" sz="1200" dirty="0"/>
                        <a:t>50 lakh+ downloads</a:t>
                      </a:r>
                    </a:p>
                  </a:txBody>
                  <a:tcPr>
                    <a:solidFill>
                      <a:schemeClr val="accent5">
                        <a:lumMod val="60000"/>
                        <a:lumOff val="40000"/>
                      </a:schemeClr>
                    </a:solidFill>
                  </a:tcPr>
                </a:tc>
                <a:tc>
                  <a:txBody>
                    <a:bodyPr/>
                    <a:lstStyle/>
                    <a:p>
                      <a:r>
                        <a:rPr lang="en-US" sz="1200" dirty="0"/>
                        <a:t>1 lakh review</a:t>
                      </a:r>
                    </a:p>
                  </a:txBody>
                  <a:tcPr>
                    <a:solidFill>
                      <a:schemeClr val="accent5">
                        <a:lumMod val="60000"/>
                        <a:lumOff val="40000"/>
                      </a:schemeClr>
                    </a:solidFill>
                  </a:tcPr>
                </a:tc>
                <a:tc>
                  <a:txBody>
                    <a:bodyPr/>
                    <a:lstStyle/>
                    <a:p>
                      <a:r>
                        <a:rPr lang="en-US" sz="1200" dirty="0"/>
                        <a:t>4.5 stars</a:t>
                      </a:r>
                    </a:p>
                  </a:txBody>
                  <a:tcPr>
                    <a:solidFill>
                      <a:schemeClr val="accent5">
                        <a:lumMod val="60000"/>
                        <a:lumOff val="40000"/>
                      </a:schemeClr>
                    </a:solidFill>
                  </a:tcPr>
                </a:tc>
                <a:extLst>
                  <a:ext uri="{0D108BD9-81ED-4DB2-BD59-A6C34878D82A}">
                    <a16:rowId xmlns:a16="http://schemas.microsoft.com/office/drawing/2014/main" val="10006"/>
                  </a:ext>
                </a:extLst>
              </a:tr>
              <a:tr h="441331">
                <a:tc>
                  <a:txBody>
                    <a:bodyPr/>
                    <a:lstStyle/>
                    <a:p>
                      <a:r>
                        <a:rPr lang="en-US" sz="1200" dirty="0" err="1"/>
                        <a:t>Pharmeasy</a:t>
                      </a:r>
                      <a:endParaRPr lang="en-US" sz="1200" dirty="0"/>
                    </a:p>
                  </a:txBody>
                  <a:tcPr>
                    <a:solidFill>
                      <a:schemeClr val="accent5">
                        <a:lumMod val="60000"/>
                        <a:lumOff val="40000"/>
                      </a:schemeClr>
                    </a:solidFill>
                  </a:tcPr>
                </a:tc>
                <a:tc>
                  <a:txBody>
                    <a:bodyPr/>
                    <a:lstStyle/>
                    <a:p>
                      <a:r>
                        <a:rPr lang="en-US" sz="1200" dirty="0"/>
                        <a:t>1 </a:t>
                      </a:r>
                      <a:r>
                        <a:rPr lang="en-US" sz="1200" dirty="0" err="1"/>
                        <a:t>crore</a:t>
                      </a:r>
                      <a:r>
                        <a:rPr lang="en-US" sz="1200" dirty="0"/>
                        <a:t>+ downloads</a:t>
                      </a:r>
                    </a:p>
                  </a:txBody>
                  <a:tcPr>
                    <a:solidFill>
                      <a:schemeClr val="accent5">
                        <a:lumMod val="60000"/>
                        <a:lumOff val="40000"/>
                      </a:schemeClr>
                    </a:solidFill>
                  </a:tcPr>
                </a:tc>
                <a:tc>
                  <a:txBody>
                    <a:bodyPr/>
                    <a:lstStyle/>
                    <a:p>
                      <a:r>
                        <a:rPr lang="en-US" sz="1200" dirty="0"/>
                        <a:t>3lakh reviews</a:t>
                      </a:r>
                    </a:p>
                  </a:txBody>
                  <a:tcPr>
                    <a:solidFill>
                      <a:schemeClr val="accent5">
                        <a:lumMod val="60000"/>
                        <a:lumOff val="40000"/>
                      </a:schemeClr>
                    </a:solidFill>
                  </a:tcPr>
                </a:tc>
                <a:tc>
                  <a:txBody>
                    <a:bodyPr/>
                    <a:lstStyle/>
                    <a:p>
                      <a:r>
                        <a:rPr lang="en-US" sz="1200" dirty="0"/>
                        <a:t>4.5 stars</a:t>
                      </a:r>
                    </a:p>
                  </a:txBody>
                  <a:tcPr>
                    <a:solidFill>
                      <a:schemeClr val="accent5">
                        <a:lumMod val="60000"/>
                        <a:lumOff val="40000"/>
                      </a:schemeClr>
                    </a:solidFill>
                  </a:tcPr>
                </a:tc>
                <a:extLst>
                  <a:ext uri="{0D108BD9-81ED-4DB2-BD59-A6C34878D82A}">
                    <a16:rowId xmlns:a16="http://schemas.microsoft.com/office/drawing/2014/main" val="10007"/>
                  </a:ext>
                </a:extLst>
              </a:tr>
              <a:tr h="441331">
                <a:tc>
                  <a:txBody>
                    <a:bodyPr/>
                    <a:lstStyle/>
                    <a:p>
                      <a:r>
                        <a:rPr lang="en-US" sz="1200" dirty="0" err="1"/>
                        <a:t>Netmeds</a:t>
                      </a:r>
                      <a:endParaRPr lang="en-US" sz="1200" dirty="0"/>
                    </a:p>
                  </a:txBody>
                  <a:tcPr>
                    <a:solidFill>
                      <a:schemeClr val="accent5">
                        <a:lumMod val="60000"/>
                        <a:lumOff val="40000"/>
                      </a:schemeClr>
                    </a:solidFill>
                  </a:tcPr>
                </a:tc>
                <a:tc>
                  <a:txBody>
                    <a:bodyPr/>
                    <a:lstStyle/>
                    <a:p>
                      <a:r>
                        <a:rPr lang="en-US" sz="1200" dirty="0"/>
                        <a:t>50 lakh+</a:t>
                      </a:r>
                      <a:r>
                        <a:rPr lang="en-US" sz="1200" baseline="0" dirty="0"/>
                        <a:t> downloads</a:t>
                      </a:r>
                      <a:endParaRPr lang="en-US" sz="1200" dirty="0"/>
                    </a:p>
                  </a:txBody>
                  <a:tcPr>
                    <a:solidFill>
                      <a:schemeClr val="accent5">
                        <a:lumMod val="60000"/>
                        <a:lumOff val="40000"/>
                      </a:schemeClr>
                    </a:solidFill>
                  </a:tcPr>
                </a:tc>
                <a:tc>
                  <a:txBody>
                    <a:bodyPr/>
                    <a:lstStyle/>
                    <a:p>
                      <a:r>
                        <a:rPr lang="en-US" sz="1200" dirty="0"/>
                        <a:t>2 lakh reviews</a:t>
                      </a:r>
                    </a:p>
                  </a:txBody>
                  <a:tcPr>
                    <a:solidFill>
                      <a:schemeClr val="accent5">
                        <a:lumMod val="60000"/>
                        <a:lumOff val="40000"/>
                      </a:schemeClr>
                    </a:solidFill>
                  </a:tcPr>
                </a:tc>
                <a:tc>
                  <a:txBody>
                    <a:bodyPr/>
                    <a:lstStyle/>
                    <a:p>
                      <a:r>
                        <a:rPr lang="en-US" sz="1200" dirty="0"/>
                        <a:t>4.3</a:t>
                      </a:r>
                      <a:r>
                        <a:rPr lang="en-US" sz="1200" baseline="0" dirty="0"/>
                        <a:t> stars</a:t>
                      </a:r>
                      <a:endParaRPr lang="en-US" sz="1200" dirty="0"/>
                    </a:p>
                  </a:txBody>
                  <a:tcPr>
                    <a:solidFill>
                      <a:schemeClr val="accent5">
                        <a:lumMod val="60000"/>
                        <a:lumOff val="40000"/>
                      </a:schemeClr>
                    </a:solidFill>
                  </a:tcPr>
                </a:tc>
                <a:extLst>
                  <a:ext uri="{0D108BD9-81ED-4DB2-BD59-A6C34878D82A}">
                    <a16:rowId xmlns:a16="http://schemas.microsoft.com/office/drawing/2014/main" val="10008"/>
                  </a:ext>
                </a:extLst>
              </a:tr>
              <a:tr h="441331">
                <a:tc>
                  <a:txBody>
                    <a:bodyPr/>
                    <a:lstStyle/>
                    <a:p>
                      <a:r>
                        <a:rPr lang="en-US" sz="1200" dirty="0" err="1"/>
                        <a:t>Truemeds</a:t>
                      </a:r>
                      <a:endParaRPr lang="en-US" sz="1200" dirty="0"/>
                    </a:p>
                  </a:txBody>
                  <a:tcPr>
                    <a:solidFill>
                      <a:schemeClr val="accent5">
                        <a:lumMod val="60000"/>
                        <a:lumOff val="40000"/>
                      </a:schemeClr>
                    </a:solidFill>
                  </a:tcPr>
                </a:tc>
                <a:tc>
                  <a:txBody>
                    <a:bodyPr/>
                    <a:lstStyle/>
                    <a:p>
                      <a:r>
                        <a:rPr lang="en-US" sz="1200" dirty="0"/>
                        <a:t>5lakh+ downloads</a:t>
                      </a:r>
                    </a:p>
                  </a:txBody>
                  <a:tcPr>
                    <a:solidFill>
                      <a:schemeClr val="accent5">
                        <a:lumMod val="60000"/>
                        <a:lumOff val="40000"/>
                      </a:schemeClr>
                    </a:solidFill>
                  </a:tcPr>
                </a:tc>
                <a:tc>
                  <a:txBody>
                    <a:bodyPr/>
                    <a:lstStyle/>
                    <a:p>
                      <a:r>
                        <a:rPr lang="en-US" sz="1200" dirty="0"/>
                        <a:t>17,000 reviews</a:t>
                      </a:r>
                    </a:p>
                  </a:txBody>
                  <a:tcPr>
                    <a:solidFill>
                      <a:schemeClr val="accent5">
                        <a:lumMod val="60000"/>
                        <a:lumOff val="40000"/>
                      </a:schemeClr>
                    </a:solidFill>
                  </a:tcPr>
                </a:tc>
                <a:tc>
                  <a:txBody>
                    <a:bodyPr/>
                    <a:lstStyle/>
                    <a:p>
                      <a:r>
                        <a:rPr lang="en-US" sz="1200" dirty="0"/>
                        <a:t>3.9 stars</a:t>
                      </a:r>
                    </a:p>
                  </a:txBody>
                  <a:tcPr>
                    <a:solidFill>
                      <a:schemeClr val="accent5">
                        <a:lumMod val="60000"/>
                        <a:lumOff val="40000"/>
                      </a:schemeClr>
                    </a:solidFill>
                  </a:tcPr>
                </a:tc>
                <a:extLst>
                  <a:ext uri="{0D108BD9-81ED-4DB2-BD59-A6C34878D82A}">
                    <a16:rowId xmlns:a16="http://schemas.microsoft.com/office/drawing/2014/main" val="10009"/>
                  </a:ext>
                </a:extLst>
              </a:tr>
              <a:tr h="441331">
                <a:tc>
                  <a:txBody>
                    <a:bodyPr/>
                    <a:lstStyle/>
                    <a:p>
                      <a:r>
                        <a:rPr lang="en-US" sz="1200" dirty="0"/>
                        <a:t>Flo</a:t>
                      </a:r>
                    </a:p>
                  </a:txBody>
                  <a:tcPr>
                    <a:solidFill>
                      <a:schemeClr val="accent3">
                        <a:lumMod val="60000"/>
                        <a:lumOff val="40000"/>
                      </a:schemeClr>
                    </a:solidFill>
                  </a:tcPr>
                </a:tc>
                <a:tc>
                  <a:txBody>
                    <a:bodyPr/>
                    <a:lstStyle/>
                    <a:p>
                      <a:r>
                        <a:rPr lang="en-US" sz="1200" dirty="0"/>
                        <a:t>5 </a:t>
                      </a:r>
                      <a:r>
                        <a:rPr lang="en-US" sz="1200" dirty="0" err="1"/>
                        <a:t>crore</a:t>
                      </a:r>
                      <a:r>
                        <a:rPr lang="en-US" sz="1200" dirty="0"/>
                        <a:t>+ downloads</a:t>
                      </a:r>
                    </a:p>
                  </a:txBody>
                  <a:tcPr>
                    <a:solidFill>
                      <a:schemeClr val="accent3">
                        <a:lumMod val="60000"/>
                        <a:lumOff val="40000"/>
                      </a:schemeClr>
                    </a:solidFill>
                  </a:tcPr>
                </a:tc>
                <a:tc>
                  <a:txBody>
                    <a:bodyPr/>
                    <a:lstStyle/>
                    <a:p>
                      <a:r>
                        <a:rPr lang="en-US" sz="1200" dirty="0"/>
                        <a:t>21lakh reviews</a:t>
                      </a:r>
                    </a:p>
                  </a:txBody>
                  <a:tcPr>
                    <a:solidFill>
                      <a:schemeClr val="accent3">
                        <a:lumMod val="60000"/>
                        <a:lumOff val="40000"/>
                      </a:schemeClr>
                    </a:solidFill>
                  </a:tcPr>
                </a:tc>
                <a:tc>
                  <a:txBody>
                    <a:bodyPr/>
                    <a:lstStyle/>
                    <a:p>
                      <a:r>
                        <a:rPr lang="en-US" sz="1200" dirty="0"/>
                        <a:t>4.7 stars</a:t>
                      </a:r>
                    </a:p>
                  </a:txBody>
                  <a:tcPr>
                    <a:solidFill>
                      <a:schemeClr val="accent3">
                        <a:lumMod val="60000"/>
                        <a:lumOff val="40000"/>
                      </a:schemeClr>
                    </a:solidFill>
                  </a:tcPr>
                </a:tc>
                <a:extLst>
                  <a:ext uri="{0D108BD9-81ED-4DB2-BD59-A6C34878D82A}">
                    <a16:rowId xmlns:a16="http://schemas.microsoft.com/office/drawing/2014/main" val="10010"/>
                  </a:ext>
                </a:extLst>
              </a:tr>
              <a:tr h="441331">
                <a:tc>
                  <a:txBody>
                    <a:bodyPr/>
                    <a:lstStyle/>
                    <a:p>
                      <a:r>
                        <a:rPr lang="en-US" sz="1200" dirty="0" err="1"/>
                        <a:t>Mfine</a:t>
                      </a:r>
                      <a:endParaRPr lang="en-US" sz="1200" dirty="0"/>
                    </a:p>
                  </a:txBody>
                  <a:tcPr>
                    <a:solidFill>
                      <a:schemeClr val="accent3">
                        <a:lumMod val="60000"/>
                        <a:lumOff val="40000"/>
                      </a:schemeClr>
                    </a:solidFill>
                  </a:tcPr>
                </a:tc>
                <a:tc>
                  <a:txBody>
                    <a:bodyPr/>
                    <a:lstStyle/>
                    <a:p>
                      <a:r>
                        <a:rPr lang="en-US" sz="1200" dirty="0"/>
                        <a:t>10lakh</a:t>
                      </a:r>
                      <a:r>
                        <a:rPr lang="en-US" sz="1200" baseline="0" dirty="0"/>
                        <a:t>+ downloads</a:t>
                      </a:r>
                      <a:endParaRPr lang="en-US" sz="1200" dirty="0"/>
                    </a:p>
                  </a:txBody>
                  <a:tcPr>
                    <a:solidFill>
                      <a:schemeClr val="accent3">
                        <a:lumMod val="60000"/>
                        <a:lumOff val="40000"/>
                      </a:schemeClr>
                    </a:solidFill>
                  </a:tcPr>
                </a:tc>
                <a:tc>
                  <a:txBody>
                    <a:bodyPr/>
                    <a:lstStyle/>
                    <a:p>
                      <a:r>
                        <a:rPr lang="en-US" sz="1200" dirty="0"/>
                        <a:t>51,000 reviews</a:t>
                      </a:r>
                    </a:p>
                  </a:txBody>
                  <a:tcPr>
                    <a:solidFill>
                      <a:schemeClr val="accent3">
                        <a:lumMod val="60000"/>
                        <a:lumOff val="40000"/>
                      </a:schemeClr>
                    </a:solidFill>
                  </a:tcPr>
                </a:tc>
                <a:tc>
                  <a:txBody>
                    <a:bodyPr/>
                    <a:lstStyle/>
                    <a:p>
                      <a:r>
                        <a:rPr lang="en-US" sz="1200" dirty="0"/>
                        <a:t>4.5 stars</a:t>
                      </a:r>
                    </a:p>
                  </a:txBody>
                  <a:tcPr>
                    <a:solidFill>
                      <a:schemeClr val="accent3">
                        <a:lumMod val="60000"/>
                        <a:lumOff val="40000"/>
                      </a:schemeClr>
                    </a:solidFill>
                  </a:tcPr>
                </a:tc>
                <a:extLst>
                  <a:ext uri="{0D108BD9-81ED-4DB2-BD59-A6C34878D82A}">
                    <a16:rowId xmlns:a16="http://schemas.microsoft.com/office/drawing/2014/main" val="10011"/>
                  </a:ext>
                </a:extLst>
              </a:tr>
              <a:tr h="441331">
                <a:tc>
                  <a:txBody>
                    <a:bodyPr/>
                    <a:lstStyle/>
                    <a:p>
                      <a:r>
                        <a:rPr lang="en-US" sz="1200" dirty="0" err="1"/>
                        <a:t>Healthifyme</a:t>
                      </a:r>
                      <a:endParaRPr lang="en-US" sz="1200" dirty="0"/>
                    </a:p>
                  </a:txBody>
                  <a:tcPr>
                    <a:solidFill>
                      <a:schemeClr val="accent3">
                        <a:lumMod val="60000"/>
                        <a:lumOff val="40000"/>
                      </a:schemeClr>
                    </a:solidFill>
                  </a:tcPr>
                </a:tc>
                <a:tc>
                  <a:txBody>
                    <a:bodyPr/>
                    <a:lstStyle/>
                    <a:p>
                      <a:r>
                        <a:rPr lang="en-US" sz="1200" dirty="0"/>
                        <a:t>1 </a:t>
                      </a:r>
                      <a:r>
                        <a:rPr lang="en-US" sz="1200" dirty="0" err="1"/>
                        <a:t>crore</a:t>
                      </a:r>
                      <a:r>
                        <a:rPr lang="en-US" sz="1200" dirty="0"/>
                        <a:t>+ downloads</a:t>
                      </a:r>
                    </a:p>
                  </a:txBody>
                  <a:tcPr>
                    <a:solidFill>
                      <a:schemeClr val="accent3">
                        <a:lumMod val="60000"/>
                        <a:lumOff val="40000"/>
                      </a:schemeClr>
                    </a:solidFill>
                  </a:tcPr>
                </a:tc>
                <a:tc>
                  <a:txBody>
                    <a:bodyPr/>
                    <a:lstStyle/>
                    <a:p>
                      <a:r>
                        <a:rPr lang="en-US" sz="1200" dirty="0"/>
                        <a:t>2lakh reviews</a:t>
                      </a:r>
                    </a:p>
                  </a:txBody>
                  <a:tcPr>
                    <a:solidFill>
                      <a:schemeClr val="accent3">
                        <a:lumMod val="60000"/>
                        <a:lumOff val="40000"/>
                      </a:schemeClr>
                    </a:solidFill>
                  </a:tcPr>
                </a:tc>
                <a:tc>
                  <a:txBody>
                    <a:bodyPr/>
                    <a:lstStyle/>
                    <a:p>
                      <a:r>
                        <a:rPr lang="en-US" sz="1200" dirty="0"/>
                        <a:t>4.5 stars</a:t>
                      </a:r>
                    </a:p>
                  </a:txBody>
                  <a:tcPr>
                    <a:solidFill>
                      <a:schemeClr val="accent3">
                        <a:lumMod val="60000"/>
                        <a:lumOff val="40000"/>
                      </a:schemeClr>
                    </a:solidFill>
                  </a:tcPr>
                </a:tc>
                <a:extLst>
                  <a:ext uri="{0D108BD9-81ED-4DB2-BD59-A6C34878D82A}">
                    <a16:rowId xmlns:a16="http://schemas.microsoft.com/office/drawing/2014/main" val="10013"/>
                  </a:ext>
                </a:extLst>
              </a:tr>
            </a:tbl>
          </a:graphicData>
        </a:graphic>
      </p:graphicFrame>
      <p:graphicFrame>
        <p:nvGraphicFramePr>
          <p:cNvPr id="36" name="Diagram 35">
            <a:extLst>
              <a:ext uri="{FF2B5EF4-FFF2-40B4-BE49-F238E27FC236}">
                <a16:creationId xmlns:a16="http://schemas.microsoft.com/office/drawing/2014/main" id="{E7D0B177-B3F9-4B6A-B12D-E7631B82554C}"/>
              </a:ext>
            </a:extLst>
          </p:cNvPr>
          <p:cNvGraphicFramePr/>
          <p:nvPr>
            <p:extLst>
              <p:ext uri="{D42A27DB-BD31-4B8C-83A1-F6EECF244321}">
                <p14:modId xmlns:p14="http://schemas.microsoft.com/office/powerpoint/2010/main" val="3150241446"/>
              </p:ext>
            </p:extLst>
          </p:nvPr>
        </p:nvGraphicFramePr>
        <p:xfrm>
          <a:off x="3755290" y="561306"/>
          <a:ext cx="5279893" cy="1138108"/>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cxnSp>
        <p:nvCxnSpPr>
          <p:cNvPr id="3" name="Straight Connector 2">
            <a:extLst>
              <a:ext uri="{FF2B5EF4-FFF2-40B4-BE49-F238E27FC236}">
                <a16:creationId xmlns:a16="http://schemas.microsoft.com/office/drawing/2014/main" id="{A2F30B13-0177-409C-A2D0-1ECEC0C032E7}"/>
              </a:ext>
            </a:extLst>
          </p:cNvPr>
          <p:cNvCxnSpPr/>
          <p:nvPr/>
        </p:nvCxnSpPr>
        <p:spPr>
          <a:xfrm flipH="1">
            <a:off x="6049329" y="1633474"/>
            <a:ext cx="19941" cy="5072126"/>
          </a:xfrm>
          <a:prstGeom prst="line">
            <a:avLst/>
          </a:prstGeom>
        </p:spPr>
        <p:style>
          <a:lnRef idx="1">
            <a:schemeClr val="dk1"/>
          </a:lnRef>
          <a:fillRef idx="0">
            <a:schemeClr val="dk1"/>
          </a:fillRef>
          <a:effectRef idx="0">
            <a:schemeClr val="dk1"/>
          </a:effectRef>
          <a:fontRef idx="minor">
            <a:schemeClr val="tx1"/>
          </a:fontRef>
        </p:style>
      </p:cxnSp>
      <p:grpSp>
        <p:nvGrpSpPr>
          <p:cNvPr id="52" name="Group 51">
            <a:extLst>
              <a:ext uri="{FF2B5EF4-FFF2-40B4-BE49-F238E27FC236}">
                <a16:creationId xmlns:a16="http://schemas.microsoft.com/office/drawing/2014/main" id="{C18DE36F-0284-4E53-8DAD-895F30D4C042}"/>
              </a:ext>
            </a:extLst>
          </p:cNvPr>
          <p:cNvGrpSpPr/>
          <p:nvPr/>
        </p:nvGrpSpPr>
        <p:grpSpPr>
          <a:xfrm>
            <a:off x="0" y="-21869"/>
            <a:ext cx="12192000" cy="536077"/>
            <a:chOff x="0" y="-21869"/>
            <a:chExt cx="12192000" cy="536077"/>
          </a:xfrm>
        </p:grpSpPr>
        <p:sp>
          <p:nvSpPr>
            <p:cNvPr id="53" name="Pentagon 18">
              <a:extLst>
                <a:ext uri="{FF2B5EF4-FFF2-40B4-BE49-F238E27FC236}">
                  <a16:creationId xmlns:a16="http://schemas.microsoft.com/office/drawing/2014/main" id="{1D4E8452-DB5E-4A2D-8FB5-D9B95CA982A0}"/>
                </a:ext>
              </a:extLst>
            </p:cNvPr>
            <p:cNvSpPr/>
            <p:nvPr/>
          </p:nvSpPr>
          <p:spPr>
            <a:xfrm>
              <a:off x="10069737" y="-21869"/>
              <a:ext cx="2122263"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         Appendix II</a:t>
              </a:r>
              <a:endParaRPr lang="en-IN" sz="1200" b="1" dirty="0"/>
            </a:p>
          </p:txBody>
        </p:sp>
        <p:sp>
          <p:nvSpPr>
            <p:cNvPr id="54" name="Pentagon 18">
              <a:extLst>
                <a:ext uri="{FF2B5EF4-FFF2-40B4-BE49-F238E27FC236}">
                  <a16:creationId xmlns:a16="http://schemas.microsoft.com/office/drawing/2014/main" id="{70B7DF77-9E03-458E-9196-7BFFDCFCC3D2}"/>
                </a:ext>
              </a:extLst>
            </p:cNvPr>
            <p:cNvSpPr/>
            <p:nvPr/>
          </p:nvSpPr>
          <p:spPr>
            <a:xfrm>
              <a:off x="8457282" y="-21869"/>
              <a:ext cx="2122264"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         Appendix I</a:t>
              </a:r>
              <a:endParaRPr lang="en-IN" sz="1200" b="1" dirty="0"/>
            </a:p>
          </p:txBody>
        </p:sp>
        <p:sp>
          <p:nvSpPr>
            <p:cNvPr id="55" name="Pentagon 18">
              <a:extLst>
                <a:ext uri="{FF2B5EF4-FFF2-40B4-BE49-F238E27FC236}">
                  <a16:creationId xmlns:a16="http://schemas.microsoft.com/office/drawing/2014/main" id="{4D5CC675-5D15-4596-A494-3BDDAD3DB975}"/>
                </a:ext>
              </a:extLst>
            </p:cNvPr>
            <p:cNvSpPr/>
            <p:nvPr/>
          </p:nvSpPr>
          <p:spPr>
            <a:xfrm>
              <a:off x="6447179" y="-21869"/>
              <a:ext cx="2541105"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             Go-to Market Strategy &amp; Financials</a:t>
              </a:r>
              <a:endParaRPr lang="en-IN" sz="1200" b="1" dirty="0"/>
            </a:p>
          </p:txBody>
        </p:sp>
        <p:grpSp>
          <p:nvGrpSpPr>
            <p:cNvPr id="56" name="Group 55">
              <a:extLst>
                <a:ext uri="{FF2B5EF4-FFF2-40B4-BE49-F238E27FC236}">
                  <a16:creationId xmlns:a16="http://schemas.microsoft.com/office/drawing/2014/main" id="{9E719753-F4EF-4EFE-941C-603EF87F4B4A}"/>
                </a:ext>
              </a:extLst>
            </p:cNvPr>
            <p:cNvGrpSpPr/>
            <p:nvPr/>
          </p:nvGrpSpPr>
          <p:grpSpPr>
            <a:xfrm>
              <a:off x="0" y="-21869"/>
              <a:ext cx="7064096" cy="536077"/>
              <a:chOff x="0" y="9861"/>
              <a:chExt cx="7372069" cy="536077"/>
            </a:xfrm>
          </p:grpSpPr>
          <p:sp>
            <p:nvSpPr>
              <p:cNvPr id="57" name="Pentagon 18">
                <a:extLst>
                  <a:ext uri="{FF2B5EF4-FFF2-40B4-BE49-F238E27FC236}">
                    <a16:creationId xmlns:a16="http://schemas.microsoft.com/office/drawing/2014/main" id="{F6957CA3-8D98-440F-913C-7F0B2E42F2B2}"/>
                  </a:ext>
                </a:extLst>
              </p:cNvPr>
              <p:cNvSpPr/>
              <p:nvPr/>
            </p:nvSpPr>
            <p:spPr>
              <a:xfrm>
                <a:off x="4433001" y="9861"/>
                <a:ext cx="2939068" cy="533258"/>
              </a:xfrm>
              <a:prstGeom prst="homePlat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       Company SWOT, Competitors &amp; </a:t>
                </a:r>
              </a:p>
              <a:p>
                <a:pPr algn="ctr"/>
                <a:r>
                  <a:rPr lang="en-GB" sz="1200" b="1" dirty="0"/>
                  <a:t>       Competitor Analysis</a:t>
                </a:r>
                <a:endParaRPr lang="en-IN" sz="1200" b="1" dirty="0"/>
              </a:p>
            </p:txBody>
          </p:sp>
          <p:sp>
            <p:nvSpPr>
              <p:cNvPr id="58" name="Pentagon 18">
                <a:extLst>
                  <a:ext uri="{FF2B5EF4-FFF2-40B4-BE49-F238E27FC236}">
                    <a16:creationId xmlns:a16="http://schemas.microsoft.com/office/drawing/2014/main" id="{68B65E2A-6386-4AB8-BAC2-EE49909E3A64}"/>
                  </a:ext>
                </a:extLst>
              </p:cNvPr>
              <p:cNvSpPr/>
              <p:nvPr/>
            </p:nvSpPr>
            <p:spPr>
              <a:xfrm>
                <a:off x="1983049" y="12043"/>
                <a:ext cx="2912745"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            About the company, Features </a:t>
                </a:r>
              </a:p>
              <a:p>
                <a:pPr algn="ctr"/>
                <a:r>
                  <a:rPr lang="en-GB" sz="1200" b="1" dirty="0"/>
                  <a:t>&amp; Revenue Model</a:t>
                </a:r>
                <a:endParaRPr lang="en-IN" sz="1200" b="1" dirty="0"/>
              </a:p>
            </p:txBody>
          </p:sp>
          <p:sp>
            <p:nvSpPr>
              <p:cNvPr id="59" name="Pentagon 18">
                <a:extLst>
                  <a:ext uri="{FF2B5EF4-FFF2-40B4-BE49-F238E27FC236}">
                    <a16:creationId xmlns:a16="http://schemas.microsoft.com/office/drawing/2014/main" id="{31670701-906A-47E4-BA92-055020AED6CC}"/>
                  </a:ext>
                </a:extLst>
              </p:cNvPr>
              <p:cNvSpPr/>
              <p:nvPr/>
            </p:nvSpPr>
            <p:spPr>
              <a:xfrm>
                <a:off x="0" y="12680"/>
                <a:ext cx="2600538" cy="533258"/>
              </a:xfrm>
              <a:prstGeom prst="homePlate">
                <a:avLst/>
              </a:prstGeom>
              <a:solidFill>
                <a:schemeClr val="accent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Market Research, Market SWOT &amp; Pain Points</a:t>
                </a:r>
                <a:endParaRPr lang="en-IN" sz="1200" b="1" dirty="0"/>
              </a:p>
            </p:txBody>
          </p:sp>
        </p:grpSp>
      </p:grpSp>
      <p:sp>
        <p:nvSpPr>
          <p:cNvPr id="2" name="Oval 1">
            <a:extLst>
              <a:ext uri="{FF2B5EF4-FFF2-40B4-BE49-F238E27FC236}">
                <a16:creationId xmlns:a16="http://schemas.microsoft.com/office/drawing/2014/main" id="{029ECAD7-49BF-425B-AA64-F5251F177768}"/>
              </a:ext>
            </a:extLst>
          </p:cNvPr>
          <p:cNvSpPr/>
          <p:nvPr/>
        </p:nvSpPr>
        <p:spPr>
          <a:xfrm>
            <a:off x="6138191" y="1678452"/>
            <a:ext cx="1046925" cy="1001560"/>
          </a:xfrm>
          <a:prstGeom prst="ellipse">
            <a:avLst/>
          </a:prstGeom>
          <a:blipFill dpi="0" rotWithShape="1">
            <a:blip r:embed="rId11" cstate="print">
              <a:extLst>
                <a:ext uri="{28A0092B-C50C-407E-A947-70E740481C1C}">
                  <a14:useLocalDpi xmlns:a14="http://schemas.microsoft.com/office/drawing/2010/main" val="0"/>
                </a:ext>
              </a:extLst>
            </a:blip>
            <a:srcRect/>
            <a:stretch>
              <a:fillRect/>
            </a:stretch>
          </a:blip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E4EF3DD2-EBF7-4CFB-88C5-0FFDB08DBDED}"/>
              </a:ext>
            </a:extLst>
          </p:cNvPr>
          <p:cNvSpPr/>
          <p:nvPr/>
        </p:nvSpPr>
        <p:spPr>
          <a:xfrm>
            <a:off x="6888717" y="2524339"/>
            <a:ext cx="1046926" cy="1001561"/>
          </a:xfrm>
          <a:prstGeom prst="ellipse">
            <a:avLst/>
          </a:prstGeom>
          <a:blipFill dpi="0" rotWithShape="1">
            <a:blip r:embed="rId12" cstate="print">
              <a:extLst>
                <a:ext uri="{28A0092B-C50C-407E-A947-70E740481C1C}">
                  <a14:useLocalDpi xmlns:a14="http://schemas.microsoft.com/office/drawing/2010/main" val="0"/>
                </a:ext>
              </a:extLst>
            </a:blip>
            <a:srcRect/>
            <a:stretch>
              <a:fillRect/>
            </a:stretch>
          </a:blip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0" name="Oval 59">
            <a:extLst>
              <a:ext uri="{FF2B5EF4-FFF2-40B4-BE49-F238E27FC236}">
                <a16:creationId xmlns:a16="http://schemas.microsoft.com/office/drawing/2014/main" id="{6F194BDB-6E9A-478C-9A91-B1DFA13EECFC}"/>
              </a:ext>
            </a:extLst>
          </p:cNvPr>
          <p:cNvSpPr/>
          <p:nvPr/>
        </p:nvSpPr>
        <p:spPr>
          <a:xfrm>
            <a:off x="6142672" y="3365732"/>
            <a:ext cx="1046926" cy="1001561"/>
          </a:xfrm>
          <a:prstGeom prst="ellipse">
            <a:avLst/>
          </a:prstGeom>
          <a:blipFill dpi="0" rotWithShape="1">
            <a:blip r:embed="rId13">
              <a:extLst>
                <a:ext uri="{28A0092B-C50C-407E-A947-70E740481C1C}">
                  <a14:useLocalDpi xmlns:a14="http://schemas.microsoft.com/office/drawing/2010/main" val="0"/>
                </a:ext>
              </a:extLst>
            </a:blip>
            <a:srcRect/>
            <a:stretch>
              <a:fillRect/>
            </a:stretch>
          </a:blip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Oval 60">
            <a:extLst>
              <a:ext uri="{FF2B5EF4-FFF2-40B4-BE49-F238E27FC236}">
                <a16:creationId xmlns:a16="http://schemas.microsoft.com/office/drawing/2014/main" id="{1882F86C-5EF5-4551-AC66-52182BA81E9F}"/>
              </a:ext>
            </a:extLst>
          </p:cNvPr>
          <p:cNvSpPr/>
          <p:nvPr/>
        </p:nvSpPr>
        <p:spPr>
          <a:xfrm>
            <a:off x="6888717" y="4177987"/>
            <a:ext cx="1046926" cy="1001561"/>
          </a:xfrm>
          <a:prstGeom prst="ellipse">
            <a:avLst/>
          </a:prstGeom>
          <a:blipFill dpi="0" rotWithShape="1">
            <a:blip r:embed="rId14" cstate="print">
              <a:extLst>
                <a:ext uri="{28A0092B-C50C-407E-A947-70E740481C1C}">
                  <a14:useLocalDpi xmlns:a14="http://schemas.microsoft.com/office/drawing/2010/main" val="0"/>
                </a:ext>
              </a:extLst>
            </a:blip>
            <a:srcRect/>
            <a:stretch>
              <a:fillRect/>
            </a:stretch>
          </a:blip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2" name="Oval 61">
            <a:extLst>
              <a:ext uri="{FF2B5EF4-FFF2-40B4-BE49-F238E27FC236}">
                <a16:creationId xmlns:a16="http://schemas.microsoft.com/office/drawing/2014/main" id="{7294D171-CCBE-4BD7-A14C-3AE40402B8AE}"/>
              </a:ext>
            </a:extLst>
          </p:cNvPr>
          <p:cNvSpPr/>
          <p:nvPr/>
        </p:nvSpPr>
        <p:spPr>
          <a:xfrm>
            <a:off x="6146656" y="4975061"/>
            <a:ext cx="1046926" cy="1001561"/>
          </a:xfrm>
          <a:prstGeom prst="ellipse">
            <a:avLst/>
          </a:prstGeom>
          <a:blipFill dpi="0" rotWithShape="1">
            <a:blip r:embed="rId15">
              <a:extLst>
                <a:ext uri="{28A0092B-C50C-407E-A947-70E740481C1C}">
                  <a14:useLocalDpi xmlns:a14="http://schemas.microsoft.com/office/drawing/2010/main" val="0"/>
                </a:ext>
              </a:extLst>
            </a:blip>
            <a:srcRect/>
            <a:stretch>
              <a:fillRect/>
            </a:stretch>
          </a:blip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3" name="Oval 62">
            <a:extLst>
              <a:ext uri="{FF2B5EF4-FFF2-40B4-BE49-F238E27FC236}">
                <a16:creationId xmlns:a16="http://schemas.microsoft.com/office/drawing/2014/main" id="{B9C719BF-B41E-4895-90EE-F22B00571665}"/>
              </a:ext>
            </a:extLst>
          </p:cNvPr>
          <p:cNvSpPr/>
          <p:nvPr/>
        </p:nvSpPr>
        <p:spPr>
          <a:xfrm>
            <a:off x="6888717" y="5787316"/>
            <a:ext cx="1046926" cy="1001561"/>
          </a:xfrm>
          <a:prstGeom prst="ellipse">
            <a:avLst/>
          </a:prstGeom>
          <a:blipFill dpi="0" rotWithShape="1">
            <a:blip r:embed="rId16">
              <a:extLst>
                <a:ext uri="{28A0092B-C50C-407E-A947-70E740481C1C}">
                  <a14:useLocalDpi xmlns:a14="http://schemas.microsoft.com/office/drawing/2010/main" val="0"/>
                </a:ext>
              </a:extLst>
            </a:blip>
            <a:srcRect/>
            <a:stretch>
              <a:fillRect/>
            </a:stretch>
          </a:blip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08272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FBBFC08-AE4A-46A3-A60C-7CA248809C9F}"/>
              </a:ext>
            </a:extLst>
          </p:cNvPr>
          <p:cNvGrpSpPr/>
          <p:nvPr/>
        </p:nvGrpSpPr>
        <p:grpSpPr>
          <a:xfrm>
            <a:off x="78002" y="525427"/>
            <a:ext cx="6127803" cy="1553052"/>
            <a:chOff x="291547" y="766550"/>
            <a:chExt cx="6127803" cy="1553052"/>
          </a:xfrm>
        </p:grpSpPr>
        <p:sp>
          <p:nvSpPr>
            <p:cNvPr id="8" name="Rectangle: Rounded Corners 7">
              <a:extLst>
                <a:ext uri="{FF2B5EF4-FFF2-40B4-BE49-F238E27FC236}">
                  <a16:creationId xmlns:a16="http://schemas.microsoft.com/office/drawing/2014/main" id="{76C63A7C-9B87-46AA-8445-E90894AFD0AB}"/>
                </a:ext>
              </a:extLst>
            </p:cNvPr>
            <p:cNvSpPr/>
            <p:nvPr/>
          </p:nvSpPr>
          <p:spPr>
            <a:xfrm>
              <a:off x="291547" y="861392"/>
              <a:ext cx="5960089" cy="1366167"/>
            </a:xfrm>
            <a:prstGeom prst="round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TextBox 8">
              <a:extLst>
                <a:ext uri="{FF2B5EF4-FFF2-40B4-BE49-F238E27FC236}">
                  <a16:creationId xmlns:a16="http://schemas.microsoft.com/office/drawing/2014/main" id="{7DD18134-A3C2-43A7-AB7D-D2149E80DAD5}"/>
                </a:ext>
              </a:extLst>
            </p:cNvPr>
            <p:cNvSpPr txBox="1"/>
            <p:nvPr/>
          </p:nvSpPr>
          <p:spPr>
            <a:xfrm>
              <a:off x="384313" y="873052"/>
              <a:ext cx="5653633" cy="1446550"/>
            </a:xfrm>
            <a:prstGeom prst="rect">
              <a:avLst/>
            </a:prstGeom>
            <a:noFill/>
          </p:spPr>
          <p:txBody>
            <a:bodyPr wrap="square" rtlCol="0">
              <a:spAutoFit/>
            </a:bodyPr>
            <a:lstStyle/>
            <a:p>
              <a:r>
                <a:rPr lang="en-GB" sz="1400" b="1" dirty="0"/>
                <a:t>Target Customer</a:t>
              </a:r>
              <a:r>
                <a:rPr lang="en-GB" sz="1200" b="1" dirty="0"/>
                <a:t>:</a:t>
              </a:r>
            </a:p>
            <a:p>
              <a:pPr marL="285750" indent="-285750">
                <a:buFont typeface="Arial" panose="020B0604020202020204" pitchFamily="34" charset="0"/>
                <a:buChar char="•"/>
              </a:pPr>
              <a:r>
                <a:rPr lang="en-GB" sz="1200" dirty="0"/>
                <a:t>People in urban areas with smartphones having a decent internet connection.</a:t>
              </a:r>
            </a:p>
            <a:p>
              <a:pPr marL="285750" indent="-285750">
                <a:buFont typeface="Arial" panose="020B0604020202020204" pitchFamily="34" charset="0"/>
                <a:buChar char="•"/>
              </a:pPr>
              <a:r>
                <a:rPr lang="en-IN" sz="1200" dirty="0">
                  <a:effectLst/>
                  <a:latin typeface="Calibri" panose="020F0502020204030204" pitchFamily="34" charset="0"/>
                  <a:ea typeface="Calibri" panose="020F0502020204030204" pitchFamily="34" charset="0"/>
                  <a:cs typeface="Times New Roman" panose="02020603050405020304" pitchFamily="18" charset="0"/>
                </a:rPr>
                <a:t>Balance Seekers and Priority Jugglers </a:t>
              </a:r>
            </a:p>
            <a:p>
              <a:endParaRPr lang="en-IN" sz="1200" dirty="0">
                <a:latin typeface="Calibri" panose="020F0502020204030204" pitchFamily="34" charset="0"/>
                <a:cs typeface="Times New Roman" panose="02020603050405020304" pitchFamily="18" charset="0"/>
              </a:endParaRPr>
            </a:p>
            <a:p>
              <a:r>
                <a:rPr lang="en-GB" sz="1400" b="1" dirty="0"/>
                <a:t>         Market Sentiment</a:t>
              </a:r>
              <a:r>
                <a:rPr lang="en-GB" sz="1200" dirty="0"/>
                <a:t>: The market is driven by</a:t>
              </a:r>
              <a:r>
                <a:rPr lang="en-GB" sz="1400" b="1" dirty="0"/>
                <a:t> trust</a:t>
              </a:r>
              <a:r>
                <a:rPr lang="en-GB" sz="1200" dirty="0"/>
                <a:t>. Hence, </a:t>
              </a:r>
              <a:r>
                <a:rPr lang="en-GB" sz="1400" b="1" dirty="0"/>
                <a:t>MedAssist</a:t>
              </a:r>
              <a:r>
                <a:rPr lang="en-GB" sz="1200" dirty="0"/>
                <a:t> thrives         	to gain customer’s by winning their trust.</a:t>
              </a:r>
              <a:endParaRPr lang="en-IN" sz="1200" dirty="0"/>
            </a:p>
            <a:p>
              <a:endParaRPr lang="en-IN" sz="1200" dirty="0"/>
            </a:p>
          </p:txBody>
        </p:sp>
        <p:pic>
          <p:nvPicPr>
            <p:cNvPr id="1026" name="Picture 2" descr="Idea free icon">
              <a:extLst>
                <a:ext uri="{FF2B5EF4-FFF2-40B4-BE49-F238E27FC236}">
                  <a16:creationId xmlns:a16="http://schemas.microsoft.com/office/drawing/2014/main" id="{28D8E817-1678-48D2-B55E-682BCB40984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43141" y="766550"/>
              <a:ext cx="476209" cy="476209"/>
            </a:xfrm>
            <a:prstGeom prst="rect">
              <a:avLst/>
            </a:prstGeom>
            <a:noFill/>
            <a:extLst>
              <a:ext uri="{909E8E84-426E-40DD-AFC4-6F175D3DCCD1}">
                <a14:hiddenFill xmlns:a14="http://schemas.microsoft.com/office/drawing/2010/main">
                  <a:solidFill>
                    <a:srgbClr val="FFFFFF"/>
                  </a:solidFill>
                </a14:hiddenFill>
              </a:ext>
            </a:extLst>
          </p:spPr>
        </p:pic>
      </p:grpSp>
      <p:pic>
        <p:nvPicPr>
          <p:cNvPr id="1028" name="Picture 4" descr="Expression free icon">
            <a:extLst>
              <a:ext uri="{FF2B5EF4-FFF2-40B4-BE49-F238E27FC236}">
                <a16:creationId xmlns:a16="http://schemas.microsoft.com/office/drawing/2014/main" id="{CA8489CC-8C04-4248-9D33-000BBBEE4DE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576" y="1432823"/>
            <a:ext cx="436129" cy="436129"/>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Straight Connector 16">
            <a:extLst>
              <a:ext uri="{FF2B5EF4-FFF2-40B4-BE49-F238E27FC236}">
                <a16:creationId xmlns:a16="http://schemas.microsoft.com/office/drawing/2014/main" id="{2B44B93F-1DA7-455D-8D0F-DCE56690980C}"/>
              </a:ext>
            </a:extLst>
          </p:cNvPr>
          <p:cNvCxnSpPr/>
          <p:nvPr/>
        </p:nvCxnSpPr>
        <p:spPr>
          <a:xfrm>
            <a:off x="6294783" y="556580"/>
            <a:ext cx="0" cy="6289759"/>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52" name="Group 51">
            <a:extLst>
              <a:ext uri="{FF2B5EF4-FFF2-40B4-BE49-F238E27FC236}">
                <a16:creationId xmlns:a16="http://schemas.microsoft.com/office/drawing/2014/main" id="{A24FAD43-B544-45CE-B19B-B7B5E599BCC1}"/>
              </a:ext>
            </a:extLst>
          </p:cNvPr>
          <p:cNvGrpSpPr/>
          <p:nvPr/>
        </p:nvGrpSpPr>
        <p:grpSpPr>
          <a:xfrm>
            <a:off x="78006" y="2073447"/>
            <a:ext cx="5960085" cy="1938554"/>
            <a:chOff x="49430" y="2410469"/>
            <a:chExt cx="5960085" cy="1938554"/>
          </a:xfrm>
        </p:grpSpPr>
        <p:sp>
          <p:nvSpPr>
            <p:cNvPr id="45" name="Rectangle: Rounded Corners 44">
              <a:extLst>
                <a:ext uri="{FF2B5EF4-FFF2-40B4-BE49-F238E27FC236}">
                  <a16:creationId xmlns:a16="http://schemas.microsoft.com/office/drawing/2014/main" id="{9C5E76F2-B4B8-4A54-986A-137B03BE0150}"/>
                </a:ext>
              </a:extLst>
            </p:cNvPr>
            <p:cNvSpPr/>
            <p:nvPr/>
          </p:nvSpPr>
          <p:spPr>
            <a:xfrm>
              <a:off x="49430" y="2410469"/>
              <a:ext cx="5960085" cy="1938554"/>
            </a:xfrm>
            <a:prstGeom prst="round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3" name="Picture 42">
              <a:extLst>
                <a:ext uri="{FF2B5EF4-FFF2-40B4-BE49-F238E27FC236}">
                  <a16:creationId xmlns:a16="http://schemas.microsoft.com/office/drawing/2014/main" id="{0532E98D-3615-4BDF-9A5E-61AC89C6D906}"/>
                </a:ext>
              </a:extLst>
            </p:cNvPr>
            <p:cNvPicPr>
              <a:picLocks noChangeAspect="1"/>
            </p:cNvPicPr>
            <p:nvPr/>
          </p:nvPicPr>
          <p:blipFill>
            <a:blip r:embed="rId4"/>
            <a:stretch>
              <a:fillRect/>
            </a:stretch>
          </p:blipFill>
          <p:spPr>
            <a:xfrm>
              <a:off x="2016289" y="2422130"/>
              <a:ext cx="1757611" cy="1757611"/>
            </a:xfrm>
            <a:prstGeom prst="rect">
              <a:avLst/>
            </a:prstGeom>
          </p:spPr>
        </p:pic>
        <p:sp>
          <p:nvSpPr>
            <p:cNvPr id="42" name="TextBox 41">
              <a:extLst>
                <a:ext uri="{FF2B5EF4-FFF2-40B4-BE49-F238E27FC236}">
                  <a16:creationId xmlns:a16="http://schemas.microsoft.com/office/drawing/2014/main" id="{BBAA781D-0BC0-41A1-903E-5BDACF095448}"/>
                </a:ext>
              </a:extLst>
            </p:cNvPr>
            <p:cNvSpPr txBox="1"/>
            <p:nvPr/>
          </p:nvSpPr>
          <p:spPr>
            <a:xfrm>
              <a:off x="534459" y="2594697"/>
              <a:ext cx="2129229" cy="1754326"/>
            </a:xfrm>
            <a:prstGeom prst="rect">
              <a:avLst/>
            </a:prstGeom>
            <a:noFill/>
          </p:spPr>
          <p:txBody>
            <a:bodyPr wrap="square" rtlCol="0">
              <a:spAutoFit/>
            </a:bodyPr>
            <a:lstStyle/>
            <a:p>
              <a:r>
                <a:rPr lang="en-GB" sz="1200" b="1" dirty="0">
                  <a:solidFill>
                    <a:schemeClr val="bg1"/>
                  </a:solidFill>
                </a:rPr>
                <a:t>Launch:</a:t>
              </a:r>
            </a:p>
            <a:p>
              <a:r>
                <a:rPr lang="en-GB" sz="1200" dirty="0">
                  <a:solidFill>
                    <a:schemeClr val="bg1"/>
                  </a:solidFill>
                </a:rPr>
                <a:t>Pan India launch of the app on playstore/ios</a:t>
              </a:r>
            </a:p>
            <a:p>
              <a:endParaRPr lang="en-GB" sz="1200" dirty="0">
                <a:solidFill>
                  <a:schemeClr val="bg1"/>
                </a:solidFill>
              </a:endParaRPr>
            </a:p>
            <a:p>
              <a:r>
                <a:rPr lang="en-GB" sz="1200" b="1" dirty="0">
                  <a:solidFill>
                    <a:schemeClr val="bg1"/>
                  </a:solidFill>
                </a:rPr>
                <a:t>Mass and Targeted media</a:t>
              </a:r>
              <a:r>
                <a:rPr lang="en-GB" sz="1200" dirty="0">
                  <a:solidFill>
                    <a:schemeClr val="bg1"/>
                  </a:solidFill>
                </a:rPr>
                <a:t>: </a:t>
              </a:r>
            </a:p>
            <a:p>
              <a:pPr marL="171450" indent="-171450">
                <a:buFont typeface="Arial" panose="020B0604020202020204" pitchFamily="34" charset="0"/>
                <a:buChar char="•"/>
              </a:pPr>
              <a:r>
                <a:rPr lang="en-GB" sz="1200" dirty="0">
                  <a:solidFill>
                    <a:schemeClr val="bg1"/>
                  </a:solidFill>
                </a:rPr>
                <a:t>Inbound advertising: TV</a:t>
              </a:r>
            </a:p>
            <a:p>
              <a:pPr marL="171450" indent="-171450">
                <a:buFont typeface="Arial" panose="020B0604020202020204" pitchFamily="34" charset="0"/>
                <a:buChar char="•"/>
              </a:pPr>
              <a:r>
                <a:rPr lang="en-GB" sz="1200" dirty="0">
                  <a:solidFill>
                    <a:schemeClr val="bg1"/>
                  </a:solidFill>
                </a:rPr>
                <a:t>Outbound Advertising: Digital, search</a:t>
              </a:r>
            </a:p>
            <a:p>
              <a:pPr marL="171450" indent="-171450">
                <a:buFont typeface="Arial" panose="020B0604020202020204" pitchFamily="34" charset="0"/>
                <a:buChar char="•"/>
              </a:pPr>
              <a:r>
                <a:rPr lang="en-GB" sz="1200" dirty="0">
                  <a:solidFill>
                    <a:schemeClr val="bg1"/>
                  </a:solidFill>
                </a:rPr>
                <a:t>Public Relations</a:t>
              </a:r>
              <a:endParaRPr lang="en-IN" sz="1200" dirty="0">
                <a:solidFill>
                  <a:schemeClr val="bg1"/>
                </a:solidFill>
              </a:endParaRPr>
            </a:p>
          </p:txBody>
        </p:sp>
        <p:pic>
          <p:nvPicPr>
            <p:cNvPr id="47" name="Picture 46">
              <a:extLst>
                <a:ext uri="{FF2B5EF4-FFF2-40B4-BE49-F238E27FC236}">
                  <a16:creationId xmlns:a16="http://schemas.microsoft.com/office/drawing/2014/main" id="{F8201B9B-3B89-482A-BF71-B5F2AF397EBB}"/>
                </a:ext>
              </a:extLst>
            </p:cNvPr>
            <p:cNvPicPr>
              <a:picLocks noChangeAspect="1"/>
            </p:cNvPicPr>
            <p:nvPr/>
          </p:nvPicPr>
          <p:blipFill>
            <a:blip r:embed="rId5"/>
            <a:stretch>
              <a:fillRect/>
            </a:stretch>
          </p:blipFill>
          <p:spPr>
            <a:xfrm>
              <a:off x="102438" y="2603029"/>
              <a:ext cx="473045" cy="473045"/>
            </a:xfrm>
            <a:prstGeom prst="rect">
              <a:avLst/>
            </a:prstGeom>
          </p:spPr>
        </p:pic>
        <p:pic>
          <p:nvPicPr>
            <p:cNvPr id="48" name="Picture 47">
              <a:extLst>
                <a:ext uri="{FF2B5EF4-FFF2-40B4-BE49-F238E27FC236}">
                  <a16:creationId xmlns:a16="http://schemas.microsoft.com/office/drawing/2014/main" id="{2C4BB13D-99E8-4806-BD37-56FB55969C66}"/>
                </a:ext>
              </a:extLst>
            </p:cNvPr>
            <p:cNvPicPr>
              <a:picLocks noChangeAspect="1"/>
            </p:cNvPicPr>
            <p:nvPr/>
          </p:nvPicPr>
          <p:blipFill>
            <a:blip r:embed="rId6"/>
            <a:stretch>
              <a:fillRect/>
            </a:stretch>
          </p:blipFill>
          <p:spPr>
            <a:xfrm>
              <a:off x="129307" y="3370522"/>
              <a:ext cx="473046" cy="473046"/>
            </a:xfrm>
            <a:prstGeom prst="rect">
              <a:avLst/>
            </a:prstGeom>
          </p:spPr>
        </p:pic>
        <p:sp>
          <p:nvSpPr>
            <p:cNvPr id="44" name="TextBox 43">
              <a:extLst>
                <a:ext uri="{FF2B5EF4-FFF2-40B4-BE49-F238E27FC236}">
                  <a16:creationId xmlns:a16="http://schemas.microsoft.com/office/drawing/2014/main" id="{CABC9061-7383-4EED-88AA-B6D1098D49BF}"/>
                </a:ext>
              </a:extLst>
            </p:cNvPr>
            <p:cNvSpPr txBox="1"/>
            <p:nvPr/>
          </p:nvSpPr>
          <p:spPr>
            <a:xfrm>
              <a:off x="3355355" y="2629082"/>
              <a:ext cx="2440476" cy="1384995"/>
            </a:xfrm>
            <a:prstGeom prst="rect">
              <a:avLst/>
            </a:prstGeom>
            <a:noFill/>
          </p:spPr>
          <p:txBody>
            <a:bodyPr wrap="square" rtlCol="0">
              <a:spAutoFit/>
            </a:bodyPr>
            <a:lstStyle/>
            <a:p>
              <a:r>
                <a:rPr lang="en-GB" sz="1200" b="1" dirty="0">
                  <a:solidFill>
                    <a:schemeClr val="bg1"/>
                  </a:solidFill>
                </a:rPr>
                <a:t>Personal and Interpersonal means:</a:t>
              </a:r>
            </a:p>
            <a:p>
              <a:r>
                <a:rPr lang="en-IN" sz="1200" dirty="0">
                  <a:solidFill>
                    <a:schemeClr val="bg1"/>
                  </a:solidFill>
                  <a:latin typeface="Calibri" panose="020F0502020204030204" pitchFamily="34" charset="0"/>
                  <a:cs typeface="Calibri" panose="020F0502020204030204" pitchFamily="34" charset="0"/>
                </a:rPr>
                <a:t>Salesforce, Word Of Mouth, Referrals</a:t>
              </a:r>
            </a:p>
            <a:p>
              <a:r>
                <a:rPr lang="en-IN" sz="1200" dirty="0">
                  <a:solidFill>
                    <a:schemeClr val="bg1"/>
                  </a:solidFill>
                  <a:latin typeface="Calibri" panose="020F0502020204030204" pitchFamily="34" charset="0"/>
                  <a:cs typeface="Calibri" panose="020F0502020204030204" pitchFamily="34" charset="0"/>
                </a:rPr>
                <a:t>Social Media Influencers, Brand Campaigns, Collaboration with brands, giveaway/contest  </a:t>
              </a:r>
            </a:p>
            <a:p>
              <a:endParaRPr lang="en-IN" sz="1200" dirty="0">
                <a:solidFill>
                  <a:schemeClr val="bg1"/>
                </a:solidFill>
              </a:endParaRPr>
            </a:p>
          </p:txBody>
        </p:sp>
        <p:pic>
          <p:nvPicPr>
            <p:cNvPr id="51" name="Picture 50">
              <a:extLst>
                <a:ext uri="{FF2B5EF4-FFF2-40B4-BE49-F238E27FC236}">
                  <a16:creationId xmlns:a16="http://schemas.microsoft.com/office/drawing/2014/main" id="{446500AB-749E-4DBB-95D7-8560F3FB4343}"/>
                </a:ext>
              </a:extLst>
            </p:cNvPr>
            <p:cNvPicPr>
              <a:picLocks noChangeAspect="1"/>
            </p:cNvPicPr>
            <p:nvPr/>
          </p:nvPicPr>
          <p:blipFill>
            <a:blip r:embed="rId7"/>
            <a:stretch>
              <a:fillRect/>
            </a:stretch>
          </p:blipFill>
          <p:spPr>
            <a:xfrm>
              <a:off x="5426482" y="2868016"/>
              <a:ext cx="565367" cy="565367"/>
            </a:xfrm>
            <a:prstGeom prst="rect">
              <a:avLst/>
            </a:prstGeom>
          </p:spPr>
        </p:pic>
      </p:grpSp>
      <p:grpSp>
        <p:nvGrpSpPr>
          <p:cNvPr id="61" name="Group 60">
            <a:extLst>
              <a:ext uri="{FF2B5EF4-FFF2-40B4-BE49-F238E27FC236}">
                <a16:creationId xmlns:a16="http://schemas.microsoft.com/office/drawing/2014/main" id="{5ABAA6F0-F20E-4613-A7A6-C3999E230C65}"/>
              </a:ext>
            </a:extLst>
          </p:cNvPr>
          <p:cNvGrpSpPr/>
          <p:nvPr/>
        </p:nvGrpSpPr>
        <p:grpSpPr>
          <a:xfrm>
            <a:off x="56271" y="4099012"/>
            <a:ext cx="6238512" cy="2695583"/>
            <a:chOff x="56271" y="4099012"/>
            <a:chExt cx="6238512" cy="2695583"/>
          </a:xfrm>
        </p:grpSpPr>
        <p:sp>
          <p:nvSpPr>
            <p:cNvPr id="60" name="Rectangle: Rounded Corners 59">
              <a:extLst>
                <a:ext uri="{FF2B5EF4-FFF2-40B4-BE49-F238E27FC236}">
                  <a16:creationId xmlns:a16="http://schemas.microsoft.com/office/drawing/2014/main" id="{407CB61F-9B48-47E3-9F8B-BF4BCC2BB7DD}"/>
                </a:ext>
              </a:extLst>
            </p:cNvPr>
            <p:cNvSpPr/>
            <p:nvPr/>
          </p:nvSpPr>
          <p:spPr>
            <a:xfrm>
              <a:off x="56271" y="4099012"/>
              <a:ext cx="6070679" cy="2672207"/>
            </a:xfrm>
            <a:prstGeom prst="round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TextBox 54">
              <a:extLst>
                <a:ext uri="{FF2B5EF4-FFF2-40B4-BE49-F238E27FC236}">
                  <a16:creationId xmlns:a16="http://schemas.microsoft.com/office/drawing/2014/main" id="{4FDD76DA-819E-4F59-BDC6-EE471660E8F0}"/>
                </a:ext>
              </a:extLst>
            </p:cNvPr>
            <p:cNvSpPr txBox="1"/>
            <p:nvPr/>
          </p:nvSpPr>
          <p:spPr>
            <a:xfrm>
              <a:off x="298729" y="4122389"/>
              <a:ext cx="5996054" cy="2672206"/>
            </a:xfrm>
            <a:prstGeom prst="rect">
              <a:avLst/>
            </a:prstGeom>
            <a:noFill/>
          </p:spPr>
          <p:txBody>
            <a:bodyPr wrap="square" rtlCol="0">
              <a:spAutoFit/>
            </a:bodyPr>
            <a:lstStyle/>
            <a:p>
              <a:r>
                <a:rPr lang="en-GB" sz="1200" b="1" dirty="0"/>
                <a:t>Promotion Strategy:</a:t>
              </a:r>
            </a:p>
            <a:p>
              <a:pPr marL="171450" indent="-171450">
                <a:buFont typeface="Wingdings" panose="05000000000000000000" pitchFamily="2" charset="2"/>
                <a:buChar char="ü"/>
              </a:pPr>
              <a:r>
                <a:rPr lang="en-GB" sz="1100" b="1" dirty="0">
                  <a:effectLst/>
                  <a:latin typeface="Calibri" panose="020F0502020204030204" pitchFamily="34" charset="0"/>
                  <a:ea typeface="Calibri" panose="020F0502020204030204" pitchFamily="34" charset="0"/>
                  <a:cs typeface="Times New Roman" panose="02020603050405020304" pitchFamily="18" charset="0"/>
                </a:rPr>
                <a:t>TV Promotions </a:t>
              </a:r>
              <a:r>
                <a:rPr lang="en-GB" sz="1100" dirty="0">
                  <a:effectLst/>
                  <a:latin typeface="Calibri" panose="020F0502020204030204" pitchFamily="34" charset="0"/>
                  <a:ea typeface="Calibri" panose="020F0502020204030204" pitchFamily="34" charset="0"/>
                  <a:cs typeface="Times New Roman" panose="02020603050405020304" pitchFamily="18" charset="0"/>
                </a:rPr>
                <a:t>at peak viewing hours at multiple channels having larger viewership. Our advertising partners: Star Network, Colors</a:t>
              </a:r>
              <a:r>
                <a:rPr lang="en-GB" sz="1100" dirty="0">
                  <a:latin typeface="Calibri" panose="020F0502020204030204" pitchFamily="34" charset="0"/>
                  <a:ea typeface="Calibri" panose="020F0502020204030204" pitchFamily="34" charset="0"/>
                  <a:cs typeface="Times New Roman" panose="02020603050405020304" pitchFamily="18" charset="0"/>
                </a:rPr>
                <a:t>, etc.</a:t>
              </a:r>
            </a:p>
            <a:p>
              <a:pPr marL="171450" lvl="0" indent="-171450">
                <a:spcAft>
                  <a:spcPts val="800"/>
                </a:spcAft>
                <a:buFont typeface="Wingdings" panose="05000000000000000000" pitchFamily="2" charset="2"/>
                <a:buChar char="ü"/>
                <a:tabLst>
                  <a:tab pos="457200" algn="l"/>
                </a:tabLst>
              </a:pPr>
              <a:r>
                <a:rPr lang="en-GB" sz="1100" b="1" dirty="0">
                  <a:effectLst/>
                  <a:latin typeface="Calibri" panose="020F0502020204030204" pitchFamily="34" charset="0"/>
                  <a:ea typeface="Calibri" panose="020F0502020204030204" pitchFamily="34" charset="0"/>
                  <a:cs typeface="Times New Roman" panose="02020603050405020304" pitchFamily="18" charset="0"/>
                </a:rPr>
                <a:t>Digital, Search</a:t>
              </a:r>
              <a:r>
                <a:rPr lang="en-GB" sz="1100" dirty="0">
                  <a:effectLst/>
                  <a:latin typeface="Calibri" panose="020F0502020204030204" pitchFamily="34" charset="0"/>
                  <a:ea typeface="Calibri" panose="020F0502020204030204" pitchFamily="34" charset="0"/>
                  <a:cs typeface="Times New Roman" panose="02020603050405020304" pitchFamily="18" charset="0"/>
                </a:rPr>
                <a:t>: SEO/SEM, Blogs, Pay per Click Advertisements,</a:t>
              </a:r>
              <a:r>
                <a:rPr lang="en-US" sz="1100" dirty="0">
                  <a:effectLst/>
                  <a:latin typeface="Calibri" panose="020F0502020204030204" pitchFamily="34" charset="0"/>
                  <a:ea typeface="Calibri" panose="020F0502020204030204" pitchFamily="34" charset="0"/>
                  <a:cs typeface="Times New Roman" panose="02020603050405020304" pitchFamily="18" charset="0"/>
                </a:rPr>
                <a:t> Content Marketing for maximum appearances, Conversion Rate Optimization(CRO)</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marL="171450" lvl="0" indent="-171450">
                <a:spcAft>
                  <a:spcPts val="800"/>
                </a:spcAft>
                <a:buFont typeface="Wingdings" panose="05000000000000000000" pitchFamily="2" charset="2"/>
                <a:buChar char="ü"/>
                <a:tabLst>
                  <a:tab pos="457200" algn="l"/>
                </a:tabLs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Public Relations</a:t>
              </a:r>
              <a:r>
                <a:rPr lang="en-US" sz="1100" dirty="0">
                  <a:effectLst/>
                  <a:latin typeface="Calibri" panose="020F0502020204030204" pitchFamily="34" charset="0"/>
                  <a:ea typeface="Calibri" panose="020F0502020204030204" pitchFamily="34" charset="0"/>
                  <a:cs typeface="Times New Roman" panose="02020603050405020304" pitchFamily="18" charset="0"/>
                </a:rPr>
                <a:t>: Celebrity endorsement</a:t>
              </a:r>
              <a:endParaRPr lang="en-IN" sz="1100" dirty="0">
                <a:latin typeface="Calibri" panose="020F0502020204030204" pitchFamily="34" charset="0"/>
                <a:ea typeface="Calibri" panose="020F0502020204030204" pitchFamily="34" charset="0"/>
                <a:cs typeface="Times New Roman" panose="02020603050405020304" pitchFamily="18" charset="0"/>
              </a:endParaRPr>
            </a:p>
            <a:p>
              <a:pPr marL="171450" lvl="0" indent="-171450">
                <a:spcAft>
                  <a:spcPts val="800"/>
                </a:spcAft>
                <a:buFont typeface="Arial" panose="020B0604020202020204" pitchFamily="34" charset="0"/>
                <a:buChar char="•"/>
                <a:tabLst>
                  <a:tab pos="457200" algn="l"/>
                </a:tabLst>
              </a:pPr>
              <a:r>
                <a:rPr lang="en-GB" sz="1100" dirty="0">
                  <a:effectLst/>
                  <a:latin typeface="Calibri" panose="020F0502020204030204" pitchFamily="34" charset="0"/>
                  <a:ea typeface="Calibri" panose="020F0502020204030204" pitchFamily="34" charset="0"/>
                  <a:cs typeface="Times New Roman" panose="02020603050405020304" pitchFamily="18" charset="0"/>
                </a:rPr>
                <a:t>Building brand awareness instantly.</a:t>
              </a:r>
              <a:endParaRPr lang="en-IN" sz="1100" dirty="0">
                <a:latin typeface="Calibri" panose="020F0502020204030204" pitchFamily="34" charset="0"/>
                <a:ea typeface="Calibri" panose="020F0502020204030204" pitchFamily="34" charset="0"/>
                <a:cs typeface="Times New Roman" panose="02020603050405020304" pitchFamily="18" charset="0"/>
              </a:endParaRPr>
            </a:p>
            <a:p>
              <a:pPr marL="171450" lvl="0" indent="-171450">
                <a:spcAft>
                  <a:spcPts val="800"/>
                </a:spcAft>
                <a:buFont typeface="Arial" panose="020B0604020202020204" pitchFamily="34" charset="0"/>
                <a:buChar char="•"/>
                <a:tabLst>
                  <a:tab pos="457200" algn="l"/>
                </a:tabLst>
              </a:pPr>
              <a:r>
                <a:rPr lang="en-GB" sz="1100" dirty="0">
                  <a:effectLst/>
                  <a:latin typeface="Calibri" panose="020F0502020204030204" pitchFamily="34" charset="0"/>
                  <a:ea typeface="Calibri" panose="020F0502020204030204" pitchFamily="34" charset="0"/>
                  <a:cs typeface="Times New Roman" panose="02020603050405020304" pitchFamily="18" charset="0"/>
                </a:rPr>
                <a:t>Product or brand easily recallable.</a:t>
              </a:r>
              <a:endParaRPr lang="en-IN" sz="1100" dirty="0">
                <a:latin typeface="Calibri" panose="020F0502020204030204" pitchFamily="34" charset="0"/>
                <a:ea typeface="Calibri" panose="020F0502020204030204" pitchFamily="34" charset="0"/>
                <a:cs typeface="Times New Roman" panose="02020603050405020304" pitchFamily="18" charset="0"/>
              </a:endParaRPr>
            </a:p>
            <a:p>
              <a:pPr marL="171450" lvl="0" indent="-171450">
                <a:spcAft>
                  <a:spcPts val="800"/>
                </a:spcAft>
                <a:buFont typeface="Arial" panose="020B0604020202020204" pitchFamily="34" charset="0"/>
                <a:buChar char="•"/>
                <a:tabLst>
                  <a:tab pos="457200" algn="l"/>
                </a:tabLst>
              </a:pPr>
              <a:r>
                <a:rPr lang="en-IN" sz="1100" dirty="0">
                  <a:effectLst/>
                  <a:latin typeface="Calibri" panose="020F0502020204030204" pitchFamily="34" charset="0"/>
                  <a:ea typeface="Calibri" panose="020F0502020204030204" pitchFamily="34" charset="0"/>
                  <a:cs typeface="Times New Roman" panose="02020603050405020304" pitchFamily="18" charset="0"/>
                </a:rPr>
                <a:t>To enhance market value and capitalisation. </a:t>
              </a:r>
            </a:p>
            <a:p>
              <a:pPr marL="171450" lvl="0" indent="-171450">
                <a:spcAft>
                  <a:spcPts val="800"/>
                </a:spcAft>
                <a:buFont typeface="Wingdings" panose="05000000000000000000" pitchFamily="2" charset="2"/>
                <a:buChar char="ü"/>
                <a:tabLst>
                  <a:tab pos="457200" algn="l"/>
                </a:tabLst>
              </a:pPr>
              <a:r>
                <a:rPr lang="en-US" sz="1100" dirty="0">
                  <a:latin typeface="Calibri" panose="020F0502020204030204" pitchFamily="34" charset="0"/>
                  <a:ea typeface="Calibri" panose="020F0502020204030204" pitchFamily="34" charset="0"/>
                  <a:cs typeface="Times New Roman" panose="02020603050405020304" pitchFamily="18" charset="0"/>
                </a:rPr>
                <a:t>W</a:t>
              </a:r>
              <a:r>
                <a:rPr lang="en-US" sz="1100" dirty="0">
                  <a:effectLst/>
                  <a:latin typeface="Calibri" panose="020F0502020204030204" pitchFamily="34" charset="0"/>
                  <a:ea typeface="Calibri" panose="020F0502020204030204" pitchFamily="34" charset="0"/>
                  <a:cs typeface="Times New Roman" panose="02020603050405020304" pitchFamily="18" charset="0"/>
                </a:rPr>
                <a:t>ord of Mouth</a:t>
              </a:r>
              <a:endParaRPr lang="en-IN" sz="1100" dirty="0">
                <a:latin typeface="Calibri" panose="020F0502020204030204" pitchFamily="34" charset="0"/>
                <a:ea typeface="Calibri" panose="020F0502020204030204" pitchFamily="34" charset="0"/>
                <a:cs typeface="Times New Roman" panose="02020603050405020304" pitchFamily="18" charset="0"/>
              </a:endParaRPr>
            </a:p>
            <a:p>
              <a:pPr marL="171450" lvl="0" indent="-171450">
                <a:spcAft>
                  <a:spcPts val="800"/>
                </a:spcAft>
                <a:buFont typeface="Wingdings" panose="05000000000000000000" pitchFamily="2" charset="2"/>
                <a:buChar char="ü"/>
                <a:tabLst>
                  <a:tab pos="457200" algn="l"/>
                </a:tabLst>
              </a:pPr>
              <a:r>
                <a:rPr lang="en-IN" sz="1100" b="1" dirty="0">
                  <a:effectLst/>
                  <a:latin typeface="Calibri" panose="020F0502020204030204" pitchFamily="34" charset="0"/>
                  <a:ea typeface="Calibri" panose="020F0502020204030204" pitchFamily="34" charset="0"/>
                  <a:cs typeface="Times New Roman" panose="02020603050405020304" pitchFamily="18" charset="0"/>
                </a:rPr>
                <a:t>Non-Communication</a:t>
              </a:r>
              <a:r>
                <a:rPr lang="en-IN" sz="1100" dirty="0">
                  <a:effectLst/>
                  <a:latin typeface="Calibri" panose="020F0502020204030204" pitchFamily="34" charset="0"/>
                  <a:ea typeface="Calibri" panose="020F0502020204030204" pitchFamily="34" charset="0"/>
                  <a:cs typeface="Times New Roman" panose="02020603050405020304" pitchFamily="18" charset="0"/>
                </a:rPr>
                <a:t>: Incentives like</a:t>
              </a:r>
              <a:r>
                <a:rPr lang="en-IN" sz="1100" b="1" dirty="0">
                  <a:effectLst/>
                  <a:latin typeface="Calibri" panose="020F0502020204030204" pitchFamily="34" charset="0"/>
                  <a:ea typeface="Calibri" panose="020F0502020204030204" pitchFamily="34" charset="0"/>
                  <a:cs typeface="Times New Roman" panose="02020603050405020304" pitchFamily="18" charset="0"/>
                </a:rPr>
                <a:t> Medcoins</a:t>
              </a:r>
              <a:r>
                <a:rPr lang="en-IN" sz="1100" dirty="0">
                  <a:effectLst/>
                  <a:latin typeface="Calibri" panose="020F0502020204030204" pitchFamily="34" charset="0"/>
                  <a:ea typeface="Calibri" panose="020F0502020204030204" pitchFamily="34" charset="0"/>
                  <a:cs typeface="Times New Roman" panose="02020603050405020304" pitchFamily="18" charset="0"/>
                </a:rPr>
                <a:t>,</a:t>
              </a:r>
              <a:r>
                <a:rPr lang="en-IN" sz="1100" dirty="0">
                  <a:latin typeface="Calibri" panose="020F0502020204030204" pitchFamily="34" charset="0"/>
                  <a:ea typeface="Calibri" panose="020F0502020204030204" pitchFamily="34" charset="0"/>
                  <a:cs typeface="Times New Roman" panose="02020603050405020304" pitchFamily="18" charset="0"/>
                </a:rPr>
                <a:t> which could be used for other purposes.</a:t>
              </a:r>
              <a:endParaRPr lang="en-IN" dirty="0"/>
            </a:p>
          </p:txBody>
        </p:sp>
        <p:sp>
          <p:nvSpPr>
            <p:cNvPr id="64" name="TextBox 63">
              <a:extLst>
                <a:ext uri="{FF2B5EF4-FFF2-40B4-BE49-F238E27FC236}">
                  <a16:creationId xmlns:a16="http://schemas.microsoft.com/office/drawing/2014/main" id="{085C860B-C94C-4F00-961C-66E1EA12B8EC}"/>
                </a:ext>
              </a:extLst>
            </p:cNvPr>
            <p:cNvSpPr txBox="1"/>
            <p:nvPr/>
          </p:nvSpPr>
          <p:spPr>
            <a:xfrm>
              <a:off x="1691114" y="5227907"/>
              <a:ext cx="4519752" cy="1079270"/>
            </a:xfrm>
            <a:prstGeom prst="rect">
              <a:avLst/>
            </a:prstGeom>
            <a:noFill/>
          </p:spPr>
          <p:txBody>
            <a:bodyPr wrap="square">
              <a:spAutoFit/>
            </a:bodyPr>
            <a:lstStyle/>
            <a:p>
              <a:pPr marL="1543050" lvl="3" indent="-171450">
                <a:lnSpc>
                  <a:spcPct val="107000"/>
                </a:lnSpc>
                <a:spcAft>
                  <a:spcPts val="800"/>
                </a:spcAft>
                <a:buFont typeface="Arial" panose="020B0604020202020204" pitchFamily="34" charset="0"/>
                <a:buChar char="•"/>
                <a:tabLst>
                  <a:tab pos="1828800" algn="l"/>
                </a:tabLst>
              </a:pPr>
              <a:r>
                <a:rPr lang="en-IN" sz="1200" dirty="0">
                  <a:effectLst/>
                  <a:latin typeface="Calibri" panose="020F0502020204030204" pitchFamily="34" charset="0"/>
                  <a:ea typeface="Calibri" panose="020F0502020204030204" pitchFamily="34" charset="0"/>
                  <a:cs typeface="Times New Roman" panose="02020603050405020304" pitchFamily="18" charset="0"/>
                </a:rPr>
                <a:t>Increase credibility.</a:t>
              </a:r>
            </a:p>
            <a:p>
              <a:pPr marL="1543050" lvl="3" indent="-171450">
                <a:lnSpc>
                  <a:spcPct val="107000"/>
                </a:lnSpc>
                <a:spcAft>
                  <a:spcPts val="800"/>
                </a:spcAft>
                <a:buFont typeface="Arial" panose="020B0604020202020204" pitchFamily="34" charset="0"/>
                <a:buChar char="•"/>
                <a:tabLst>
                  <a:tab pos="1828800" algn="l"/>
                </a:tabLst>
              </a:pPr>
              <a:r>
                <a:rPr lang="en-IN" sz="1200" dirty="0">
                  <a:effectLst/>
                  <a:latin typeface="Calibri" panose="020F0502020204030204" pitchFamily="34" charset="0"/>
                  <a:ea typeface="Calibri" panose="020F0502020204030204" pitchFamily="34" charset="0"/>
                  <a:cs typeface="Times New Roman" panose="02020603050405020304" pitchFamily="18" charset="0"/>
                </a:rPr>
                <a:t>Spread brand message to attract new users.</a:t>
              </a:r>
            </a:p>
            <a:p>
              <a:pPr marL="1543050" lvl="3" indent="-171450">
                <a:lnSpc>
                  <a:spcPct val="107000"/>
                </a:lnSpc>
                <a:spcAft>
                  <a:spcPts val="800"/>
                </a:spcAft>
                <a:buFont typeface="Arial" panose="020B0604020202020204" pitchFamily="34" charset="0"/>
                <a:buChar char="•"/>
                <a:tabLst>
                  <a:tab pos="1828800" algn="l"/>
                </a:tabLst>
              </a:pPr>
              <a:r>
                <a:rPr lang="en-IN" sz="1200" dirty="0">
                  <a:effectLst/>
                  <a:latin typeface="Calibri" panose="020F0502020204030204" pitchFamily="34" charset="0"/>
                  <a:ea typeface="Calibri" panose="020F0502020204030204" pitchFamily="34" charset="0"/>
                  <a:cs typeface="Times New Roman" panose="02020603050405020304" pitchFamily="18" charset="0"/>
                </a:rPr>
                <a:t>Positioning the brand by influencing consumer decision</a:t>
              </a:r>
              <a:endParaRPr lang="en-IN" sz="1200" dirty="0"/>
            </a:p>
          </p:txBody>
        </p:sp>
      </p:grpSp>
      <p:grpSp>
        <p:nvGrpSpPr>
          <p:cNvPr id="67" name="Group 66">
            <a:extLst>
              <a:ext uri="{FF2B5EF4-FFF2-40B4-BE49-F238E27FC236}">
                <a16:creationId xmlns:a16="http://schemas.microsoft.com/office/drawing/2014/main" id="{4E275816-F770-45E1-B0B7-B977F1F02BB1}"/>
              </a:ext>
            </a:extLst>
          </p:cNvPr>
          <p:cNvGrpSpPr/>
          <p:nvPr/>
        </p:nvGrpSpPr>
        <p:grpSpPr>
          <a:xfrm>
            <a:off x="0" y="-21869"/>
            <a:ext cx="12192000" cy="536077"/>
            <a:chOff x="0" y="-21869"/>
            <a:chExt cx="12192000" cy="536077"/>
          </a:xfrm>
        </p:grpSpPr>
        <p:sp>
          <p:nvSpPr>
            <p:cNvPr id="68" name="Pentagon 18">
              <a:extLst>
                <a:ext uri="{FF2B5EF4-FFF2-40B4-BE49-F238E27FC236}">
                  <a16:creationId xmlns:a16="http://schemas.microsoft.com/office/drawing/2014/main" id="{3072092C-C4A8-40B7-A8D5-B849A36FF53F}"/>
                </a:ext>
              </a:extLst>
            </p:cNvPr>
            <p:cNvSpPr/>
            <p:nvPr/>
          </p:nvSpPr>
          <p:spPr>
            <a:xfrm>
              <a:off x="10069737" y="-21869"/>
              <a:ext cx="2122263"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         Appendix II</a:t>
              </a:r>
              <a:endParaRPr lang="en-IN" sz="1200" b="1" dirty="0"/>
            </a:p>
          </p:txBody>
        </p:sp>
        <p:sp>
          <p:nvSpPr>
            <p:cNvPr id="69" name="Pentagon 18">
              <a:extLst>
                <a:ext uri="{FF2B5EF4-FFF2-40B4-BE49-F238E27FC236}">
                  <a16:creationId xmlns:a16="http://schemas.microsoft.com/office/drawing/2014/main" id="{24321FD9-63CB-409F-86AD-4D2E73C883C8}"/>
                </a:ext>
              </a:extLst>
            </p:cNvPr>
            <p:cNvSpPr/>
            <p:nvPr/>
          </p:nvSpPr>
          <p:spPr>
            <a:xfrm>
              <a:off x="8457282" y="-21869"/>
              <a:ext cx="2122264"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         Appendix I</a:t>
              </a:r>
              <a:endParaRPr lang="en-IN" sz="1200" b="1" dirty="0"/>
            </a:p>
          </p:txBody>
        </p:sp>
        <p:sp>
          <p:nvSpPr>
            <p:cNvPr id="70" name="Pentagon 18">
              <a:extLst>
                <a:ext uri="{FF2B5EF4-FFF2-40B4-BE49-F238E27FC236}">
                  <a16:creationId xmlns:a16="http://schemas.microsoft.com/office/drawing/2014/main" id="{8BFDACD7-AB64-4F77-984F-9BF884EE1834}"/>
                </a:ext>
              </a:extLst>
            </p:cNvPr>
            <p:cNvSpPr/>
            <p:nvPr/>
          </p:nvSpPr>
          <p:spPr>
            <a:xfrm>
              <a:off x="6447179" y="-21869"/>
              <a:ext cx="2541105" cy="533258"/>
            </a:xfrm>
            <a:prstGeom prst="homePlat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             Go-to Market Strategy &amp; Financials</a:t>
              </a:r>
              <a:endParaRPr lang="en-IN" sz="1200" b="1" dirty="0"/>
            </a:p>
          </p:txBody>
        </p:sp>
        <p:grpSp>
          <p:nvGrpSpPr>
            <p:cNvPr id="71" name="Group 70">
              <a:extLst>
                <a:ext uri="{FF2B5EF4-FFF2-40B4-BE49-F238E27FC236}">
                  <a16:creationId xmlns:a16="http://schemas.microsoft.com/office/drawing/2014/main" id="{2053A945-27F6-4835-A545-13B534A52E20}"/>
                </a:ext>
              </a:extLst>
            </p:cNvPr>
            <p:cNvGrpSpPr/>
            <p:nvPr/>
          </p:nvGrpSpPr>
          <p:grpSpPr>
            <a:xfrm>
              <a:off x="0" y="-21869"/>
              <a:ext cx="7064096" cy="536077"/>
              <a:chOff x="0" y="9861"/>
              <a:chExt cx="7372069" cy="536077"/>
            </a:xfrm>
          </p:grpSpPr>
          <p:sp>
            <p:nvSpPr>
              <p:cNvPr id="72" name="Pentagon 18">
                <a:extLst>
                  <a:ext uri="{FF2B5EF4-FFF2-40B4-BE49-F238E27FC236}">
                    <a16:creationId xmlns:a16="http://schemas.microsoft.com/office/drawing/2014/main" id="{DD960CCC-792B-4A5C-9842-2160AF8290D0}"/>
                  </a:ext>
                </a:extLst>
              </p:cNvPr>
              <p:cNvSpPr/>
              <p:nvPr/>
            </p:nvSpPr>
            <p:spPr>
              <a:xfrm>
                <a:off x="4433001" y="9861"/>
                <a:ext cx="2939068"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       Company SWOT, Competitors &amp; </a:t>
                </a:r>
              </a:p>
              <a:p>
                <a:pPr algn="ctr"/>
                <a:r>
                  <a:rPr lang="en-GB" sz="1200" b="1" dirty="0"/>
                  <a:t>       Competitor Analysis</a:t>
                </a:r>
                <a:endParaRPr lang="en-IN" sz="1200" b="1" dirty="0"/>
              </a:p>
            </p:txBody>
          </p:sp>
          <p:sp>
            <p:nvSpPr>
              <p:cNvPr id="73" name="Pentagon 18">
                <a:extLst>
                  <a:ext uri="{FF2B5EF4-FFF2-40B4-BE49-F238E27FC236}">
                    <a16:creationId xmlns:a16="http://schemas.microsoft.com/office/drawing/2014/main" id="{378A7A00-5094-4E2D-B19C-649C37028C55}"/>
                  </a:ext>
                </a:extLst>
              </p:cNvPr>
              <p:cNvSpPr/>
              <p:nvPr/>
            </p:nvSpPr>
            <p:spPr>
              <a:xfrm>
                <a:off x="1983049" y="12043"/>
                <a:ext cx="2912745"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            About the company, Features </a:t>
                </a:r>
              </a:p>
              <a:p>
                <a:pPr algn="ctr"/>
                <a:r>
                  <a:rPr lang="en-GB" sz="1200" b="1" dirty="0"/>
                  <a:t>&amp; Revenue Model</a:t>
                </a:r>
                <a:endParaRPr lang="en-IN" sz="1200" b="1" dirty="0"/>
              </a:p>
            </p:txBody>
          </p:sp>
          <p:sp>
            <p:nvSpPr>
              <p:cNvPr id="74" name="Pentagon 18">
                <a:extLst>
                  <a:ext uri="{FF2B5EF4-FFF2-40B4-BE49-F238E27FC236}">
                    <a16:creationId xmlns:a16="http://schemas.microsoft.com/office/drawing/2014/main" id="{18F17BC2-34C6-4FBC-BDA9-8E354BBFC596}"/>
                  </a:ext>
                </a:extLst>
              </p:cNvPr>
              <p:cNvSpPr/>
              <p:nvPr/>
            </p:nvSpPr>
            <p:spPr>
              <a:xfrm>
                <a:off x="0" y="12680"/>
                <a:ext cx="2600538" cy="533258"/>
              </a:xfrm>
              <a:prstGeom prst="homePlate">
                <a:avLst/>
              </a:prstGeom>
              <a:solidFill>
                <a:schemeClr val="accent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Market Research, Market SWOT &amp; Pain Points</a:t>
                </a:r>
                <a:endParaRPr lang="en-IN" sz="1200" b="1" dirty="0"/>
              </a:p>
            </p:txBody>
          </p:sp>
        </p:grpSp>
      </p:grpSp>
      <p:graphicFrame>
        <p:nvGraphicFramePr>
          <p:cNvPr id="80" name="Table 79">
            <a:extLst>
              <a:ext uri="{FF2B5EF4-FFF2-40B4-BE49-F238E27FC236}">
                <a16:creationId xmlns:a16="http://schemas.microsoft.com/office/drawing/2014/main" id="{779FD86A-47C8-4A06-8CA2-34457ABF0E8A}"/>
              </a:ext>
            </a:extLst>
          </p:cNvPr>
          <p:cNvGraphicFramePr>
            <a:graphicFrameLocks noGrp="1"/>
          </p:cNvGraphicFramePr>
          <p:nvPr>
            <p:extLst>
              <p:ext uri="{D42A27DB-BD31-4B8C-83A1-F6EECF244321}">
                <p14:modId xmlns:p14="http://schemas.microsoft.com/office/powerpoint/2010/main" val="3322457078"/>
              </p:ext>
            </p:extLst>
          </p:nvPr>
        </p:nvGraphicFramePr>
        <p:xfrm>
          <a:off x="6439466" y="1214830"/>
          <a:ext cx="3915729" cy="2295198"/>
        </p:xfrm>
        <a:graphic>
          <a:graphicData uri="http://schemas.openxmlformats.org/drawingml/2006/table">
            <a:tbl>
              <a:tblPr>
                <a:tableStyleId>{616DA210-FB5B-4158-B5E0-FEB733F419BA}</a:tableStyleId>
              </a:tblPr>
              <a:tblGrid>
                <a:gridCol w="2178469">
                  <a:extLst>
                    <a:ext uri="{9D8B030D-6E8A-4147-A177-3AD203B41FA5}">
                      <a16:colId xmlns:a16="http://schemas.microsoft.com/office/drawing/2014/main" val="4068846123"/>
                    </a:ext>
                  </a:extLst>
                </a:gridCol>
                <a:gridCol w="1737260">
                  <a:extLst>
                    <a:ext uri="{9D8B030D-6E8A-4147-A177-3AD203B41FA5}">
                      <a16:colId xmlns:a16="http://schemas.microsoft.com/office/drawing/2014/main" val="257825616"/>
                    </a:ext>
                  </a:extLst>
                </a:gridCol>
              </a:tblGrid>
              <a:tr h="255022">
                <a:tc>
                  <a:txBody>
                    <a:bodyPr/>
                    <a:lstStyle/>
                    <a:p>
                      <a:pPr algn="ctr" fontAlgn="b"/>
                      <a:r>
                        <a:rPr lang="en-IN" sz="1200" b="1" u="none" strike="noStrike">
                          <a:solidFill>
                            <a:srgbClr val="000000"/>
                          </a:solidFill>
                          <a:effectLst/>
                        </a:rPr>
                        <a:t>Cost Head </a:t>
                      </a:r>
                      <a:endParaRPr lang="en-IN" sz="12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200" b="1" u="none" strike="noStrike" dirty="0">
                          <a:solidFill>
                            <a:srgbClr val="000000"/>
                          </a:solidFill>
                          <a:effectLst/>
                        </a:rPr>
                        <a:t>Expected cost(₹)</a:t>
                      </a:r>
                      <a:endParaRPr lang="en-IN" sz="12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81358911"/>
                  </a:ext>
                </a:extLst>
              </a:tr>
              <a:tr h="255022">
                <a:tc>
                  <a:txBody>
                    <a:bodyPr/>
                    <a:lstStyle/>
                    <a:p>
                      <a:pPr algn="ctr" fontAlgn="b"/>
                      <a:r>
                        <a:rPr lang="en-IN" sz="1200" b="0" u="none" strike="noStrike">
                          <a:solidFill>
                            <a:srgbClr val="000000"/>
                          </a:solidFill>
                          <a:effectLst/>
                        </a:rPr>
                        <a:t>App Development</a:t>
                      </a:r>
                      <a:endParaRPr lang="en-IN"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200" b="0" u="none" strike="noStrike">
                          <a:solidFill>
                            <a:srgbClr val="000000"/>
                          </a:solidFill>
                          <a:effectLst/>
                        </a:rPr>
                        <a:t>5,00,000</a:t>
                      </a:r>
                      <a:endParaRPr lang="en-IN"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9769213"/>
                  </a:ext>
                </a:extLst>
              </a:tr>
              <a:tr h="255022">
                <a:tc>
                  <a:txBody>
                    <a:bodyPr/>
                    <a:lstStyle/>
                    <a:p>
                      <a:pPr algn="ctr" fontAlgn="b"/>
                      <a:r>
                        <a:rPr lang="en-IN" sz="1200" b="0" u="none" strike="noStrike">
                          <a:solidFill>
                            <a:srgbClr val="000000"/>
                          </a:solidFill>
                          <a:effectLst/>
                        </a:rPr>
                        <a:t>Maintenance (Per Year)</a:t>
                      </a:r>
                      <a:endParaRPr lang="en-IN"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200" b="0" u="none" strike="noStrike">
                          <a:solidFill>
                            <a:srgbClr val="000000"/>
                          </a:solidFill>
                          <a:effectLst/>
                        </a:rPr>
                        <a:t>1,00,000</a:t>
                      </a:r>
                      <a:endParaRPr lang="en-IN"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323492881"/>
                  </a:ext>
                </a:extLst>
              </a:tr>
              <a:tr h="255022">
                <a:tc>
                  <a:txBody>
                    <a:bodyPr/>
                    <a:lstStyle/>
                    <a:p>
                      <a:pPr algn="ctr" fontAlgn="b"/>
                      <a:r>
                        <a:rPr lang="en-IN" sz="1200" b="1" u="none" strike="noStrike">
                          <a:solidFill>
                            <a:srgbClr val="000000"/>
                          </a:solidFill>
                          <a:effectLst/>
                        </a:rPr>
                        <a:t>Marketing </a:t>
                      </a:r>
                      <a:endParaRPr lang="en-IN" sz="12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endParaRPr lang="en-IN"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30166434"/>
                  </a:ext>
                </a:extLst>
              </a:tr>
              <a:tr h="255022">
                <a:tc>
                  <a:txBody>
                    <a:bodyPr/>
                    <a:lstStyle/>
                    <a:p>
                      <a:pPr algn="ctr" fontAlgn="b"/>
                      <a:r>
                        <a:rPr lang="en-IN" sz="1200" b="0" u="none" strike="noStrike" dirty="0">
                          <a:solidFill>
                            <a:srgbClr val="000000"/>
                          </a:solidFill>
                          <a:effectLst/>
                        </a:rPr>
                        <a:t>Digital Marketing</a:t>
                      </a:r>
                      <a:endParaRPr lang="en-IN"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200" b="0" u="none" strike="noStrike" dirty="0">
                          <a:solidFill>
                            <a:srgbClr val="000000"/>
                          </a:solidFill>
                          <a:effectLst/>
                        </a:rPr>
                        <a:t>1,50,000</a:t>
                      </a:r>
                      <a:endParaRPr lang="en-IN"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634292527"/>
                  </a:ext>
                </a:extLst>
              </a:tr>
              <a:tr h="255022">
                <a:tc>
                  <a:txBody>
                    <a:bodyPr/>
                    <a:lstStyle/>
                    <a:p>
                      <a:pPr algn="ctr" fontAlgn="b"/>
                      <a:r>
                        <a:rPr lang="en-IN" sz="1200" b="0" u="none" strike="noStrike" dirty="0">
                          <a:solidFill>
                            <a:srgbClr val="000000"/>
                          </a:solidFill>
                          <a:effectLst/>
                        </a:rPr>
                        <a:t>Influencer marketing </a:t>
                      </a:r>
                      <a:endParaRPr lang="en-IN"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200" b="0" u="none" strike="noStrike" dirty="0">
                          <a:solidFill>
                            <a:srgbClr val="000000"/>
                          </a:solidFill>
                          <a:effectLst/>
                        </a:rPr>
                        <a:t>1,30,000</a:t>
                      </a:r>
                      <a:endParaRPr lang="en-IN"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75459443"/>
                  </a:ext>
                </a:extLst>
              </a:tr>
              <a:tr h="255022">
                <a:tc>
                  <a:txBody>
                    <a:bodyPr/>
                    <a:lstStyle/>
                    <a:p>
                      <a:pPr algn="ctr" fontAlgn="b"/>
                      <a:r>
                        <a:rPr lang="en-IN" sz="1200" b="0" u="none" strike="noStrike">
                          <a:solidFill>
                            <a:srgbClr val="000000"/>
                          </a:solidFill>
                          <a:effectLst/>
                        </a:rPr>
                        <a:t>Press release </a:t>
                      </a:r>
                      <a:endParaRPr lang="en-IN"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200" b="0" u="none" strike="noStrike">
                          <a:solidFill>
                            <a:srgbClr val="000000"/>
                          </a:solidFill>
                          <a:effectLst/>
                        </a:rPr>
                        <a:t>1,00,000</a:t>
                      </a:r>
                      <a:endParaRPr lang="en-IN"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56577753"/>
                  </a:ext>
                </a:extLst>
              </a:tr>
              <a:tr h="255022">
                <a:tc>
                  <a:txBody>
                    <a:bodyPr/>
                    <a:lstStyle/>
                    <a:p>
                      <a:pPr algn="ctr" fontAlgn="b"/>
                      <a:r>
                        <a:rPr lang="en-IN" sz="1200" b="0" u="none" strike="noStrike">
                          <a:solidFill>
                            <a:srgbClr val="000000"/>
                          </a:solidFill>
                          <a:effectLst/>
                        </a:rPr>
                        <a:t>App Store release</a:t>
                      </a:r>
                      <a:endParaRPr lang="en-IN"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200" b="0" u="none" strike="noStrike">
                          <a:solidFill>
                            <a:srgbClr val="000000"/>
                          </a:solidFill>
                          <a:effectLst/>
                        </a:rPr>
                        <a:t>2,00,000</a:t>
                      </a:r>
                      <a:endParaRPr lang="en-IN"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67043635"/>
                  </a:ext>
                </a:extLst>
              </a:tr>
              <a:tr h="255022">
                <a:tc>
                  <a:txBody>
                    <a:bodyPr/>
                    <a:lstStyle/>
                    <a:p>
                      <a:pPr algn="ctr" fontAlgn="b"/>
                      <a:r>
                        <a:rPr lang="en-GB" sz="1200" b="1" i="0" u="none" strike="noStrike" dirty="0">
                          <a:solidFill>
                            <a:schemeClr val="tx1"/>
                          </a:solidFill>
                          <a:effectLst/>
                          <a:latin typeface="Calibri" panose="020F0502020204030204" pitchFamily="34" charset="0"/>
                        </a:rPr>
                        <a:t>E</a:t>
                      </a:r>
                      <a:r>
                        <a:rPr lang="en-IN" sz="1200" b="1" i="0" u="none" strike="noStrike" dirty="0">
                          <a:solidFill>
                            <a:schemeClr val="tx1"/>
                          </a:solidFill>
                          <a:effectLst/>
                          <a:latin typeface="Calibri" panose="020F0502020204030204" pitchFamily="34" charset="0"/>
                        </a:rPr>
                        <a:t>stimated total cost</a:t>
                      </a:r>
                    </a:p>
                  </a:txBody>
                  <a:tcPr marL="9525" marR="9525" marT="9525" marB="0" anchor="b">
                    <a:solidFill>
                      <a:schemeClr val="bg2">
                        <a:lumMod val="75000"/>
                      </a:schemeClr>
                    </a:solidFill>
                  </a:tcPr>
                </a:tc>
                <a:tc>
                  <a:txBody>
                    <a:bodyPr/>
                    <a:lstStyle/>
                    <a:p>
                      <a:pPr algn="ctr" fontAlgn="b"/>
                      <a:r>
                        <a:rPr lang="en-IN" sz="1200" b="1" u="none" strike="noStrike" dirty="0">
                          <a:solidFill>
                            <a:schemeClr val="tx1"/>
                          </a:solidFill>
                          <a:effectLst/>
                        </a:rPr>
                        <a:t>11,80,000</a:t>
                      </a:r>
                      <a:endParaRPr lang="en-IN" sz="1200" b="1" i="0" u="none" strike="noStrike" dirty="0">
                        <a:solidFill>
                          <a:schemeClr val="tx1"/>
                        </a:solidFill>
                        <a:effectLst/>
                        <a:latin typeface="Calibri" panose="020F0502020204030204" pitchFamily="34" charset="0"/>
                      </a:endParaRPr>
                    </a:p>
                  </a:txBody>
                  <a:tcPr marL="9525" marR="9525" marT="9525" marB="0" anchor="b">
                    <a:solidFill>
                      <a:schemeClr val="bg2">
                        <a:lumMod val="75000"/>
                      </a:schemeClr>
                    </a:solidFill>
                  </a:tcPr>
                </a:tc>
                <a:extLst>
                  <a:ext uri="{0D108BD9-81ED-4DB2-BD59-A6C34878D82A}">
                    <a16:rowId xmlns:a16="http://schemas.microsoft.com/office/drawing/2014/main" val="446032729"/>
                  </a:ext>
                </a:extLst>
              </a:tr>
            </a:tbl>
          </a:graphicData>
        </a:graphic>
      </p:graphicFrame>
      <p:graphicFrame>
        <p:nvGraphicFramePr>
          <p:cNvPr id="82" name="Table 81">
            <a:extLst>
              <a:ext uri="{FF2B5EF4-FFF2-40B4-BE49-F238E27FC236}">
                <a16:creationId xmlns:a16="http://schemas.microsoft.com/office/drawing/2014/main" id="{A8FD5681-D0E3-4A2D-BC42-CA1C90111EC4}"/>
              </a:ext>
            </a:extLst>
          </p:cNvPr>
          <p:cNvGraphicFramePr>
            <a:graphicFrameLocks noGrp="1"/>
          </p:cNvGraphicFramePr>
          <p:nvPr>
            <p:extLst>
              <p:ext uri="{D42A27DB-BD31-4B8C-83A1-F6EECF244321}">
                <p14:modId xmlns:p14="http://schemas.microsoft.com/office/powerpoint/2010/main" val="1404166085"/>
              </p:ext>
            </p:extLst>
          </p:nvPr>
        </p:nvGraphicFramePr>
        <p:xfrm>
          <a:off x="6447181" y="3701459"/>
          <a:ext cx="5675823" cy="1974573"/>
        </p:xfrm>
        <a:graphic>
          <a:graphicData uri="http://schemas.openxmlformats.org/drawingml/2006/table">
            <a:tbl>
              <a:tblPr>
                <a:tableStyleId>{616DA210-FB5B-4158-B5E0-FEB733F419BA}</a:tableStyleId>
              </a:tblPr>
              <a:tblGrid>
                <a:gridCol w="2922106">
                  <a:extLst>
                    <a:ext uri="{9D8B030D-6E8A-4147-A177-3AD203B41FA5}">
                      <a16:colId xmlns:a16="http://schemas.microsoft.com/office/drawing/2014/main" val="2568578250"/>
                    </a:ext>
                  </a:extLst>
                </a:gridCol>
                <a:gridCol w="702365">
                  <a:extLst>
                    <a:ext uri="{9D8B030D-6E8A-4147-A177-3AD203B41FA5}">
                      <a16:colId xmlns:a16="http://schemas.microsoft.com/office/drawing/2014/main" val="2262412225"/>
                    </a:ext>
                  </a:extLst>
                </a:gridCol>
                <a:gridCol w="1086678">
                  <a:extLst>
                    <a:ext uri="{9D8B030D-6E8A-4147-A177-3AD203B41FA5}">
                      <a16:colId xmlns:a16="http://schemas.microsoft.com/office/drawing/2014/main" val="3052119987"/>
                    </a:ext>
                  </a:extLst>
                </a:gridCol>
                <a:gridCol w="964674">
                  <a:extLst>
                    <a:ext uri="{9D8B030D-6E8A-4147-A177-3AD203B41FA5}">
                      <a16:colId xmlns:a16="http://schemas.microsoft.com/office/drawing/2014/main" val="1044904921"/>
                    </a:ext>
                  </a:extLst>
                </a:gridCol>
              </a:tblGrid>
              <a:tr h="358525">
                <a:tc>
                  <a:txBody>
                    <a:bodyPr/>
                    <a:lstStyle/>
                    <a:p>
                      <a:pPr marL="0" algn="ctr" defTabSz="914400" rtl="0" eaLnBrk="1" fontAlgn="b" latinLnBrk="0" hangingPunct="1"/>
                      <a:r>
                        <a:rPr lang="en-IN" sz="1200" b="1" u="none" strike="noStrike" kern="1200">
                          <a:solidFill>
                            <a:srgbClr val="000000"/>
                          </a:solidFill>
                          <a:effectLst/>
                          <a:latin typeface="+mn-lt"/>
                          <a:ea typeface="+mn-ea"/>
                          <a:cs typeface="+mn-cs"/>
                        </a:rPr>
                        <a:t>Revenue model</a:t>
                      </a:r>
                    </a:p>
                  </a:txBody>
                  <a:tcPr marL="9525" marR="9525" marT="9525" marB="0" anchor="b"/>
                </a:tc>
                <a:tc>
                  <a:txBody>
                    <a:bodyPr/>
                    <a:lstStyle/>
                    <a:p>
                      <a:pPr marL="0" algn="ctr" defTabSz="914400" rtl="0" eaLnBrk="1" fontAlgn="b" latinLnBrk="0" hangingPunct="1"/>
                      <a:r>
                        <a:rPr lang="en-IN" sz="1200" b="1" u="none" strike="noStrike" kern="1200" dirty="0">
                          <a:solidFill>
                            <a:srgbClr val="000000"/>
                          </a:solidFill>
                          <a:effectLst/>
                          <a:latin typeface="+mn-lt"/>
                          <a:ea typeface="+mn-ea"/>
                          <a:cs typeface="+mn-cs"/>
                        </a:rPr>
                        <a:t>Pricing</a:t>
                      </a:r>
                      <a:r>
                        <a:rPr lang="en-IN" sz="1200" b="1" u="none" strike="noStrike" dirty="0">
                          <a:solidFill>
                            <a:srgbClr val="000000"/>
                          </a:solidFill>
                          <a:effectLst/>
                        </a:rPr>
                        <a:t>(₹)</a:t>
                      </a:r>
                      <a:endParaRPr lang="en-IN" sz="1200" b="1" u="none" strike="noStrike" kern="1200" dirty="0">
                        <a:solidFill>
                          <a:srgbClr val="000000"/>
                        </a:solidFill>
                        <a:effectLst/>
                        <a:latin typeface="+mn-lt"/>
                        <a:ea typeface="+mn-ea"/>
                        <a:cs typeface="+mn-cs"/>
                      </a:endParaRPr>
                    </a:p>
                  </a:txBody>
                  <a:tcPr marL="9525" marR="9525" marT="9525" marB="0" anchor="b"/>
                </a:tc>
                <a:tc>
                  <a:txBody>
                    <a:bodyPr/>
                    <a:lstStyle/>
                    <a:p>
                      <a:pPr marL="0" algn="ctr" defTabSz="914400" rtl="0" eaLnBrk="1" fontAlgn="b" latinLnBrk="0" hangingPunct="1"/>
                      <a:r>
                        <a:rPr lang="en-IN" sz="1200" b="1" u="none" strike="noStrike" kern="1200">
                          <a:solidFill>
                            <a:srgbClr val="000000"/>
                          </a:solidFill>
                          <a:effectLst/>
                          <a:latin typeface="+mn-lt"/>
                          <a:ea typeface="+mn-ea"/>
                          <a:cs typeface="+mn-cs"/>
                        </a:rPr>
                        <a:t>Conversion rate</a:t>
                      </a:r>
                    </a:p>
                  </a:txBody>
                  <a:tcPr marL="9525" marR="9525" marT="9525" marB="0" anchor="b"/>
                </a:tc>
                <a:tc>
                  <a:txBody>
                    <a:bodyPr/>
                    <a:lstStyle/>
                    <a:p>
                      <a:pPr marL="0" algn="ctr" defTabSz="914400" rtl="0" eaLnBrk="1" fontAlgn="b" latinLnBrk="0" hangingPunct="1"/>
                      <a:r>
                        <a:rPr lang="en-IN" sz="1200" b="1" u="none" strike="noStrike" kern="1200" dirty="0">
                          <a:solidFill>
                            <a:srgbClr val="000000"/>
                          </a:solidFill>
                          <a:effectLst/>
                          <a:latin typeface="+mn-lt"/>
                          <a:ea typeface="+mn-ea"/>
                          <a:cs typeface="+mn-cs"/>
                        </a:rPr>
                        <a:t>Amount</a:t>
                      </a:r>
                      <a:r>
                        <a:rPr lang="en-IN" sz="1200" b="1" u="none" strike="noStrike" dirty="0">
                          <a:solidFill>
                            <a:srgbClr val="000000"/>
                          </a:solidFill>
                          <a:effectLst/>
                        </a:rPr>
                        <a:t>(₹)</a:t>
                      </a:r>
                      <a:endParaRPr lang="en-IN" sz="1200" b="1" u="none" strike="noStrike" kern="1200" dirty="0">
                        <a:solidFill>
                          <a:srgbClr val="000000"/>
                        </a:solidFill>
                        <a:effectLst/>
                        <a:latin typeface="+mn-lt"/>
                        <a:ea typeface="+mn-ea"/>
                        <a:cs typeface="+mn-cs"/>
                      </a:endParaRPr>
                    </a:p>
                  </a:txBody>
                  <a:tcPr marL="9525" marR="9525" marT="9525" marB="0" anchor="b"/>
                </a:tc>
                <a:extLst>
                  <a:ext uri="{0D108BD9-81ED-4DB2-BD59-A6C34878D82A}">
                    <a16:rowId xmlns:a16="http://schemas.microsoft.com/office/drawing/2014/main" val="3891452838"/>
                  </a:ext>
                </a:extLst>
              </a:tr>
              <a:tr h="299666">
                <a:tc>
                  <a:txBody>
                    <a:bodyPr/>
                    <a:lstStyle/>
                    <a:p>
                      <a:pPr marL="0" algn="ctr" defTabSz="914400" rtl="0" eaLnBrk="1" fontAlgn="b" latinLnBrk="0" hangingPunct="1"/>
                      <a:r>
                        <a:rPr lang="en-IN" sz="1200" b="0" u="none" strike="noStrike" kern="1200">
                          <a:solidFill>
                            <a:srgbClr val="000000"/>
                          </a:solidFill>
                          <a:effectLst/>
                          <a:latin typeface="+mn-lt"/>
                          <a:ea typeface="+mn-ea"/>
                          <a:cs typeface="+mn-cs"/>
                        </a:rPr>
                        <a:t>Plus</a:t>
                      </a:r>
                    </a:p>
                  </a:txBody>
                  <a:tcPr marL="9525" marR="9525" marT="9525" marB="0" anchor="b"/>
                </a:tc>
                <a:tc>
                  <a:txBody>
                    <a:bodyPr/>
                    <a:lstStyle/>
                    <a:p>
                      <a:pPr marL="0" algn="ctr" defTabSz="914400" rtl="0" eaLnBrk="1" fontAlgn="b" latinLnBrk="0" hangingPunct="1"/>
                      <a:r>
                        <a:rPr lang="en-IN" sz="1200" b="0" u="none" strike="noStrike" kern="1200">
                          <a:solidFill>
                            <a:srgbClr val="000000"/>
                          </a:solidFill>
                          <a:effectLst/>
                          <a:latin typeface="+mn-lt"/>
                          <a:ea typeface="+mn-ea"/>
                          <a:cs typeface="+mn-cs"/>
                        </a:rPr>
                        <a:t>200</a:t>
                      </a:r>
                    </a:p>
                  </a:txBody>
                  <a:tcPr marL="9525" marR="9525" marT="9525" marB="0" anchor="b"/>
                </a:tc>
                <a:tc>
                  <a:txBody>
                    <a:bodyPr/>
                    <a:lstStyle/>
                    <a:p>
                      <a:pPr marL="0" algn="ctr" defTabSz="914400" rtl="0" eaLnBrk="1" fontAlgn="b" latinLnBrk="0" hangingPunct="1"/>
                      <a:r>
                        <a:rPr lang="en-IN" sz="1200" b="0" u="none" strike="noStrike" kern="1200">
                          <a:solidFill>
                            <a:srgbClr val="000000"/>
                          </a:solidFill>
                          <a:effectLst/>
                          <a:latin typeface="+mn-lt"/>
                          <a:ea typeface="+mn-ea"/>
                          <a:cs typeface="+mn-cs"/>
                        </a:rPr>
                        <a:t>5%</a:t>
                      </a:r>
                    </a:p>
                  </a:txBody>
                  <a:tcPr marL="9525" marR="9525" marT="9525" marB="0" anchor="b"/>
                </a:tc>
                <a:tc>
                  <a:txBody>
                    <a:bodyPr/>
                    <a:lstStyle/>
                    <a:p>
                      <a:pPr marL="0" algn="ctr" defTabSz="914400" rtl="0" eaLnBrk="1" fontAlgn="b" latinLnBrk="0" hangingPunct="1"/>
                      <a:r>
                        <a:rPr lang="en-IN" sz="1200" b="0" u="none" strike="noStrike" kern="1200">
                          <a:solidFill>
                            <a:srgbClr val="000000"/>
                          </a:solidFill>
                          <a:effectLst/>
                          <a:latin typeface="+mn-lt"/>
                          <a:ea typeface="+mn-ea"/>
                          <a:cs typeface="+mn-cs"/>
                        </a:rPr>
                        <a:t>5,00,000</a:t>
                      </a:r>
                    </a:p>
                  </a:txBody>
                  <a:tcPr marL="9525" marR="9525" marT="9525" marB="0" anchor="b"/>
                </a:tc>
                <a:extLst>
                  <a:ext uri="{0D108BD9-81ED-4DB2-BD59-A6C34878D82A}">
                    <a16:rowId xmlns:a16="http://schemas.microsoft.com/office/drawing/2014/main" val="170012100"/>
                  </a:ext>
                </a:extLst>
              </a:tr>
              <a:tr h="358525">
                <a:tc>
                  <a:txBody>
                    <a:bodyPr/>
                    <a:lstStyle/>
                    <a:p>
                      <a:pPr marL="0" algn="ctr" defTabSz="914400" rtl="0" eaLnBrk="1" fontAlgn="b" latinLnBrk="0" hangingPunct="1"/>
                      <a:r>
                        <a:rPr lang="en-IN" sz="1200" b="0" u="none" strike="noStrike" kern="1200">
                          <a:solidFill>
                            <a:srgbClr val="000000"/>
                          </a:solidFill>
                          <a:effectLst/>
                          <a:latin typeface="+mn-lt"/>
                          <a:ea typeface="+mn-ea"/>
                          <a:cs typeface="+mn-cs"/>
                        </a:rPr>
                        <a:t>Subscription (Yearly)</a:t>
                      </a:r>
                    </a:p>
                  </a:txBody>
                  <a:tcPr marL="9525" marR="9525" marT="9525" marB="0" anchor="b"/>
                </a:tc>
                <a:tc>
                  <a:txBody>
                    <a:bodyPr/>
                    <a:lstStyle/>
                    <a:p>
                      <a:pPr marL="0" algn="ctr" defTabSz="914400" rtl="0" eaLnBrk="1" fontAlgn="b" latinLnBrk="0" hangingPunct="1"/>
                      <a:r>
                        <a:rPr lang="en-IN" sz="1200" b="0" u="none" strike="noStrike" kern="1200">
                          <a:solidFill>
                            <a:srgbClr val="000000"/>
                          </a:solidFill>
                          <a:effectLst/>
                          <a:latin typeface="+mn-lt"/>
                          <a:ea typeface="+mn-ea"/>
                          <a:cs typeface="+mn-cs"/>
                        </a:rPr>
                        <a:t>500</a:t>
                      </a:r>
                    </a:p>
                  </a:txBody>
                  <a:tcPr marL="9525" marR="9525" marT="9525" marB="0" anchor="b"/>
                </a:tc>
                <a:tc>
                  <a:txBody>
                    <a:bodyPr/>
                    <a:lstStyle/>
                    <a:p>
                      <a:pPr marL="0" algn="ctr" defTabSz="914400" rtl="0" eaLnBrk="1" fontAlgn="b" latinLnBrk="0" hangingPunct="1"/>
                      <a:r>
                        <a:rPr lang="en-IN" sz="1200" b="0" u="none" strike="noStrike" kern="1200">
                          <a:solidFill>
                            <a:srgbClr val="000000"/>
                          </a:solidFill>
                          <a:effectLst/>
                          <a:latin typeface="+mn-lt"/>
                          <a:ea typeface="+mn-ea"/>
                          <a:cs typeface="+mn-cs"/>
                        </a:rPr>
                        <a:t>2%</a:t>
                      </a:r>
                    </a:p>
                  </a:txBody>
                  <a:tcPr marL="9525" marR="9525" marT="9525" marB="0" anchor="b"/>
                </a:tc>
                <a:tc>
                  <a:txBody>
                    <a:bodyPr/>
                    <a:lstStyle/>
                    <a:p>
                      <a:pPr marL="0" algn="ctr" defTabSz="914400" rtl="0" eaLnBrk="1" fontAlgn="b" latinLnBrk="0" hangingPunct="1"/>
                      <a:r>
                        <a:rPr lang="en-IN" sz="1200" b="0" u="none" strike="noStrike" kern="1200">
                          <a:solidFill>
                            <a:srgbClr val="000000"/>
                          </a:solidFill>
                          <a:effectLst/>
                          <a:latin typeface="+mn-lt"/>
                          <a:ea typeface="+mn-ea"/>
                          <a:cs typeface="+mn-cs"/>
                        </a:rPr>
                        <a:t>10,00,000</a:t>
                      </a:r>
                    </a:p>
                  </a:txBody>
                  <a:tcPr marL="9525" marR="9525" marT="9525" marB="0" anchor="b"/>
                </a:tc>
                <a:extLst>
                  <a:ext uri="{0D108BD9-81ED-4DB2-BD59-A6C34878D82A}">
                    <a16:rowId xmlns:a16="http://schemas.microsoft.com/office/drawing/2014/main" val="2036818503"/>
                  </a:ext>
                </a:extLst>
              </a:tr>
              <a:tr h="299666">
                <a:tc>
                  <a:txBody>
                    <a:bodyPr/>
                    <a:lstStyle/>
                    <a:p>
                      <a:pPr marL="0" algn="ctr" defTabSz="914400" rtl="0" eaLnBrk="1" fontAlgn="b" latinLnBrk="0" hangingPunct="1"/>
                      <a:r>
                        <a:rPr lang="en-GB" sz="1200" b="0" u="none" strike="noStrike" kern="1200">
                          <a:solidFill>
                            <a:srgbClr val="000000"/>
                          </a:solidFill>
                          <a:effectLst/>
                          <a:latin typeface="+mn-lt"/>
                          <a:ea typeface="+mn-ea"/>
                          <a:cs typeface="+mn-cs"/>
                        </a:rPr>
                        <a:t>Comission (per order of Rs 100)</a:t>
                      </a:r>
                    </a:p>
                  </a:txBody>
                  <a:tcPr marL="9525" marR="9525" marT="9525" marB="0" anchor="b"/>
                </a:tc>
                <a:tc>
                  <a:txBody>
                    <a:bodyPr/>
                    <a:lstStyle/>
                    <a:p>
                      <a:pPr marL="0" algn="ctr" defTabSz="914400" rtl="0" eaLnBrk="1" fontAlgn="b" latinLnBrk="0" hangingPunct="1"/>
                      <a:r>
                        <a:rPr lang="en-IN" sz="1200" b="0" u="none" strike="noStrike" kern="1200">
                          <a:solidFill>
                            <a:srgbClr val="000000"/>
                          </a:solidFill>
                          <a:effectLst/>
                          <a:latin typeface="+mn-lt"/>
                          <a:ea typeface="+mn-ea"/>
                          <a:cs typeface="+mn-cs"/>
                        </a:rPr>
                        <a:t>5</a:t>
                      </a:r>
                    </a:p>
                  </a:txBody>
                  <a:tcPr marL="9525" marR="9525" marT="9525" marB="0" anchor="b"/>
                </a:tc>
                <a:tc>
                  <a:txBody>
                    <a:bodyPr/>
                    <a:lstStyle/>
                    <a:p>
                      <a:pPr marL="0" algn="ctr" defTabSz="914400" rtl="0" eaLnBrk="1" fontAlgn="b" latinLnBrk="0" hangingPunct="1"/>
                      <a:r>
                        <a:rPr lang="en-IN" sz="1200" b="0" u="none" strike="noStrike" kern="1200">
                          <a:solidFill>
                            <a:srgbClr val="000000"/>
                          </a:solidFill>
                          <a:effectLst/>
                          <a:latin typeface="+mn-lt"/>
                          <a:ea typeface="+mn-ea"/>
                          <a:cs typeface="+mn-cs"/>
                        </a:rPr>
                        <a:t>2%</a:t>
                      </a:r>
                    </a:p>
                  </a:txBody>
                  <a:tcPr marL="9525" marR="9525" marT="9525" marB="0" anchor="b"/>
                </a:tc>
                <a:tc>
                  <a:txBody>
                    <a:bodyPr/>
                    <a:lstStyle/>
                    <a:p>
                      <a:pPr marL="0" algn="ctr" defTabSz="914400" rtl="0" eaLnBrk="1" fontAlgn="b" latinLnBrk="0" hangingPunct="1"/>
                      <a:r>
                        <a:rPr lang="en-IN" sz="1200" b="0" u="none" strike="noStrike" kern="1200" dirty="0">
                          <a:solidFill>
                            <a:srgbClr val="000000"/>
                          </a:solidFill>
                          <a:effectLst/>
                          <a:latin typeface="+mn-lt"/>
                          <a:ea typeface="+mn-ea"/>
                          <a:cs typeface="+mn-cs"/>
                        </a:rPr>
                        <a:t>50,000*</a:t>
                      </a:r>
                    </a:p>
                  </a:txBody>
                  <a:tcPr marL="9525" marR="9525" marT="9525" marB="0" anchor="b"/>
                </a:tc>
                <a:extLst>
                  <a:ext uri="{0D108BD9-81ED-4DB2-BD59-A6C34878D82A}">
                    <a16:rowId xmlns:a16="http://schemas.microsoft.com/office/drawing/2014/main" val="3241768063"/>
                  </a:ext>
                </a:extLst>
              </a:tr>
              <a:tr h="299666">
                <a:tc>
                  <a:txBody>
                    <a:bodyPr/>
                    <a:lstStyle/>
                    <a:p>
                      <a:pPr marL="0" algn="ctr" defTabSz="914400" rtl="0" eaLnBrk="1" fontAlgn="b" latinLnBrk="0" hangingPunct="1"/>
                      <a:r>
                        <a:rPr lang="en-GB" sz="1200" b="0" u="none" strike="noStrike" kern="1200">
                          <a:solidFill>
                            <a:srgbClr val="000000"/>
                          </a:solidFill>
                          <a:effectLst/>
                          <a:latin typeface="+mn-lt"/>
                          <a:ea typeface="+mn-ea"/>
                          <a:cs typeface="+mn-cs"/>
                        </a:rPr>
                        <a:t>Consultation fraction (per meeting of Rs 300)</a:t>
                      </a:r>
                    </a:p>
                  </a:txBody>
                  <a:tcPr marL="9525" marR="9525" marT="9525" marB="0" anchor="b"/>
                </a:tc>
                <a:tc>
                  <a:txBody>
                    <a:bodyPr/>
                    <a:lstStyle/>
                    <a:p>
                      <a:pPr marL="0" algn="ctr" defTabSz="914400" rtl="0" eaLnBrk="1" fontAlgn="b" latinLnBrk="0" hangingPunct="1"/>
                      <a:r>
                        <a:rPr lang="en-IN" sz="1200" b="0" u="none" strike="noStrike" kern="1200">
                          <a:solidFill>
                            <a:srgbClr val="000000"/>
                          </a:solidFill>
                          <a:effectLst/>
                          <a:latin typeface="+mn-lt"/>
                          <a:ea typeface="+mn-ea"/>
                          <a:cs typeface="+mn-cs"/>
                        </a:rPr>
                        <a:t>30</a:t>
                      </a:r>
                    </a:p>
                  </a:txBody>
                  <a:tcPr marL="9525" marR="9525" marT="9525" marB="0" anchor="b"/>
                </a:tc>
                <a:tc>
                  <a:txBody>
                    <a:bodyPr/>
                    <a:lstStyle/>
                    <a:p>
                      <a:pPr marL="0" algn="ctr" defTabSz="914400" rtl="0" eaLnBrk="1" fontAlgn="b" latinLnBrk="0" hangingPunct="1"/>
                      <a:r>
                        <a:rPr lang="en-IN" sz="1200" b="0" u="none" strike="noStrike" kern="1200">
                          <a:solidFill>
                            <a:srgbClr val="000000"/>
                          </a:solidFill>
                          <a:effectLst/>
                          <a:latin typeface="+mn-lt"/>
                          <a:ea typeface="+mn-ea"/>
                          <a:cs typeface="+mn-cs"/>
                        </a:rPr>
                        <a:t>5%</a:t>
                      </a:r>
                    </a:p>
                  </a:txBody>
                  <a:tcPr marL="9525" marR="9525" marT="9525" marB="0" anchor="b"/>
                </a:tc>
                <a:tc>
                  <a:txBody>
                    <a:bodyPr/>
                    <a:lstStyle/>
                    <a:p>
                      <a:pPr marL="0" algn="ctr" defTabSz="914400" rtl="0" eaLnBrk="1" fontAlgn="b" latinLnBrk="0" hangingPunct="1"/>
                      <a:r>
                        <a:rPr lang="en-IN" sz="1200" b="0" u="none" strike="noStrike" kern="1200" dirty="0">
                          <a:solidFill>
                            <a:srgbClr val="000000"/>
                          </a:solidFill>
                          <a:effectLst/>
                          <a:latin typeface="+mn-lt"/>
                          <a:ea typeface="+mn-ea"/>
                          <a:cs typeface="+mn-cs"/>
                        </a:rPr>
                        <a:t>3,75,000**</a:t>
                      </a:r>
                    </a:p>
                  </a:txBody>
                  <a:tcPr marL="9525" marR="9525" marT="9525" marB="0" anchor="b"/>
                </a:tc>
                <a:extLst>
                  <a:ext uri="{0D108BD9-81ED-4DB2-BD59-A6C34878D82A}">
                    <a16:rowId xmlns:a16="http://schemas.microsoft.com/office/drawing/2014/main" val="2960548897"/>
                  </a:ext>
                </a:extLst>
              </a:tr>
              <a:tr h="358525">
                <a:tc>
                  <a:txBody>
                    <a:bodyPr/>
                    <a:lstStyle/>
                    <a:p>
                      <a:pPr marL="0" algn="ctr" defTabSz="914400" rtl="0" eaLnBrk="1" fontAlgn="b" latinLnBrk="0" hangingPunct="1"/>
                      <a:r>
                        <a:rPr lang="en-GB" sz="1200" b="1" u="none" strike="noStrike" kern="1200" dirty="0">
                          <a:solidFill>
                            <a:srgbClr val="000000"/>
                          </a:solidFill>
                          <a:effectLst/>
                          <a:latin typeface="+mn-lt"/>
                          <a:ea typeface="+mn-ea"/>
                          <a:cs typeface="+mn-cs"/>
                        </a:rPr>
                        <a:t>Expected Revenue(after 2 years)</a:t>
                      </a:r>
                      <a:endParaRPr lang="en-IN" sz="1200" b="1" u="none" strike="noStrike" kern="1200" dirty="0">
                        <a:solidFill>
                          <a:srgbClr val="000000"/>
                        </a:solidFill>
                        <a:effectLst/>
                        <a:latin typeface="+mn-lt"/>
                        <a:ea typeface="+mn-ea"/>
                        <a:cs typeface="+mn-cs"/>
                      </a:endParaRPr>
                    </a:p>
                  </a:txBody>
                  <a:tcPr marL="9525" marR="9525" marT="9525" marB="0" anchor="b">
                    <a:solidFill>
                      <a:schemeClr val="bg2">
                        <a:lumMod val="75000"/>
                      </a:schemeClr>
                    </a:solidFill>
                  </a:tcPr>
                </a:tc>
                <a:tc>
                  <a:txBody>
                    <a:bodyPr/>
                    <a:lstStyle/>
                    <a:p>
                      <a:pPr marL="0" algn="ctr" defTabSz="914400" rtl="0" eaLnBrk="1" fontAlgn="b" latinLnBrk="0" hangingPunct="1"/>
                      <a:endParaRPr lang="en-IN" sz="1200" b="1" u="none" strike="noStrike" kern="1200">
                        <a:solidFill>
                          <a:srgbClr val="000000"/>
                        </a:solidFill>
                        <a:effectLst/>
                        <a:latin typeface="+mn-lt"/>
                        <a:ea typeface="+mn-ea"/>
                        <a:cs typeface="+mn-cs"/>
                      </a:endParaRPr>
                    </a:p>
                  </a:txBody>
                  <a:tcPr marL="9525" marR="9525" marT="9525" marB="0" anchor="b">
                    <a:solidFill>
                      <a:schemeClr val="bg2">
                        <a:lumMod val="75000"/>
                      </a:schemeClr>
                    </a:solidFill>
                  </a:tcPr>
                </a:tc>
                <a:tc>
                  <a:txBody>
                    <a:bodyPr/>
                    <a:lstStyle/>
                    <a:p>
                      <a:pPr marL="0" algn="ctr" defTabSz="914400" rtl="0" eaLnBrk="1" fontAlgn="b" latinLnBrk="0" hangingPunct="1"/>
                      <a:endParaRPr lang="en-IN" sz="1200" b="1" u="none" strike="noStrike" kern="1200">
                        <a:solidFill>
                          <a:srgbClr val="000000"/>
                        </a:solidFill>
                        <a:effectLst/>
                        <a:latin typeface="+mn-lt"/>
                        <a:ea typeface="+mn-ea"/>
                        <a:cs typeface="+mn-cs"/>
                      </a:endParaRPr>
                    </a:p>
                  </a:txBody>
                  <a:tcPr marL="9525" marR="9525" marT="9525" marB="0" anchor="b">
                    <a:solidFill>
                      <a:schemeClr val="bg2">
                        <a:lumMod val="75000"/>
                      </a:schemeClr>
                    </a:solidFill>
                  </a:tcPr>
                </a:tc>
                <a:tc>
                  <a:txBody>
                    <a:bodyPr/>
                    <a:lstStyle/>
                    <a:p>
                      <a:pPr marL="0" algn="ctr" defTabSz="914400" rtl="0" eaLnBrk="1" fontAlgn="b" latinLnBrk="0" hangingPunct="1"/>
                      <a:r>
                        <a:rPr lang="en-IN" sz="1200" b="1" u="none" strike="noStrike" kern="1200" dirty="0">
                          <a:solidFill>
                            <a:srgbClr val="000000"/>
                          </a:solidFill>
                          <a:effectLst/>
                          <a:latin typeface="+mn-lt"/>
                          <a:ea typeface="+mn-ea"/>
                          <a:cs typeface="+mn-cs"/>
                        </a:rPr>
                        <a:t>19,25,000</a:t>
                      </a:r>
                    </a:p>
                  </a:txBody>
                  <a:tcPr marL="9525" marR="9525" marT="9525" marB="0" anchor="b">
                    <a:solidFill>
                      <a:schemeClr val="bg2">
                        <a:lumMod val="75000"/>
                      </a:schemeClr>
                    </a:solidFill>
                  </a:tcPr>
                </a:tc>
                <a:extLst>
                  <a:ext uri="{0D108BD9-81ED-4DB2-BD59-A6C34878D82A}">
                    <a16:rowId xmlns:a16="http://schemas.microsoft.com/office/drawing/2014/main" val="2492849129"/>
                  </a:ext>
                </a:extLst>
              </a:tr>
            </a:tbl>
          </a:graphicData>
        </a:graphic>
      </p:graphicFrame>
      <p:sp>
        <p:nvSpPr>
          <p:cNvPr id="86" name="Arrow: Pentagon 85">
            <a:extLst>
              <a:ext uri="{FF2B5EF4-FFF2-40B4-BE49-F238E27FC236}">
                <a16:creationId xmlns:a16="http://schemas.microsoft.com/office/drawing/2014/main" id="{5422D642-A30F-46CD-990B-60AD23B964E3}"/>
              </a:ext>
            </a:extLst>
          </p:cNvPr>
          <p:cNvSpPr/>
          <p:nvPr/>
        </p:nvSpPr>
        <p:spPr>
          <a:xfrm>
            <a:off x="6447179" y="631929"/>
            <a:ext cx="2324035" cy="436408"/>
          </a:xfrm>
          <a:prstGeom prst="homePlat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Financials</a:t>
            </a:r>
            <a:endParaRPr lang="en-IN" sz="1400" b="1" dirty="0">
              <a:solidFill>
                <a:schemeClr val="tx1"/>
              </a:solidFill>
            </a:endParaRPr>
          </a:p>
        </p:txBody>
      </p:sp>
      <p:sp>
        <p:nvSpPr>
          <p:cNvPr id="89" name="TextBox 88">
            <a:extLst>
              <a:ext uri="{FF2B5EF4-FFF2-40B4-BE49-F238E27FC236}">
                <a16:creationId xmlns:a16="http://schemas.microsoft.com/office/drawing/2014/main" id="{2D36986E-417B-4E02-A8D7-B2509854BD3A}"/>
              </a:ext>
            </a:extLst>
          </p:cNvPr>
          <p:cNvSpPr txBox="1"/>
          <p:nvPr/>
        </p:nvSpPr>
        <p:spPr>
          <a:xfrm>
            <a:off x="6378699" y="5711283"/>
            <a:ext cx="6115878" cy="461665"/>
          </a:xfrm>
          <a:prstGeom prst="rect">
            <a:avLst/>
          </a:prstGeom>
          <a:noFill/>
        </p:spPr>
        <p:txBody>
          <a:bodyPr wrap="square">
            <a:spAutoFit/>
          </a:bodyPr>
          <a:lstStyle/>
          <a:p>
            <a:r>
              <a:rPr lang="en-GB" sz="1200" dirty="0"/>
              <a:t>*Considering 2% people purchased medicines of Rs 1000 in 2 years</a:t>
            </a:r>
          </a:p>
          <a:p>
            <a:r>
              <a:rPr lang="en-GB" sz="1200" dirty="0"/>
              <a:t>**Considering 5% people had at least 5 consultations in 2 years</a:t>
            </a:r>
          </a:p>
        </p:txBody>
      </p:sp>
      <p:sp>
        <p:nvSpPr>
          <p:cNvPr id="85" name="TextBox 84">
            <a:extLst>
              <a:ext uri="{FF2B5EF4-FFF2-40B4-BE49-F238E27FC236}">
                <a16:creationId xmlns:a16="http://schemas.microsoft.com/office/drawing/2014/main" id="{8A4E7D1F-1749-4A1C-9652-7D4AF91A464F}"/>
              </a:ext>
            </a:extLst>
          </p:cNvPr>
          <p:cNvSpPr txBox="1"/>
          <p:nvPr/>
        </p:nvSpPr>
        <p:spPr>
          <a:xfrm>
            <a:off x="6378698" y="6087571"/>
            <a:ext cx="5675822" cy="276999"/>
          </a:xfrm>
          <a:prstGeom prst="rect">
            <a:avLst/>
          </a:prstGeom>
          <a:noFill/>
        </p:spPr>
        <p:txBody>
          <a:bodyPr wrap="square" rtlCol="0">
            <a:spAutoFit/>
          </a:bodyPr>
          <a:lstStyle/>
          <a:p>
            <a:r>
              <a:rPr lang="en-GB" sz="1200" dirty="0"/>
              <a:t>***Financials are based on the assumption that our user base is 50000 after 2 years.</a:t>
            </a:r>
            <a:endParaRPr lang="en-IN" sz="1200" dirty="0"/>
          </a:p>
        </p:txBody>
      </p:sp>
      <p:pic>
        <p:nvPicPr>
          <p:cNvPr id="1032" name="Picture 8" descr="Rupee free icon">
            <a:extLst>
              <a:ext uri="{FF2B5EF4-FFF2-40B4-BE49-F238E27FC236}">
                <a16:creationId xmlns:a16="http://schemas.microsoft.com/office/drawing/2014/main" id="{0FF10242-E06A-43F4-9468-6A46BBE1A49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797279" y="1656407"/>
            <a:ext cx="1219200" cy="121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4717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4" name="Rectangle 3">
            <a:extLst>
              <a:ext uri="{FF2B5EF4-FFF2-40B4-BE49-F238E27FC236}">
                <a16:creationId xmlns:a16="http://schemas.microsoft.com/office/drawing/2014/main" id="{CA81F5BF-A233-4F1E-A4AB-871635188509}"/>
              </a:ext>
            </a:extLst>
          </p:cNvPr>
          <p:cNvSpPr/>
          <p:nvPr/>
        </p:nvSpPr>
        <p:spPr>
          <a:xfrm>
            <a:off x="8188184" y="4051973"/>
            <a:ext cx="3848036" cy="22726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7" name="Google Shape;137;p4"/>
          <p:cNvPicPr preferRelativeResize="0"/>
          <p:nvPr/>
        </p:nvPicPr>
        <p:blipFill>
          <a:blip r:embed="rId3">
            <a:alphaModFix/>
          </a:blip>
          <a:stretch>
            <a:fillRect/>
          </a:stretch>
        </p:blipFill>
        <p:spPr>
          <a:xfrm>
            <a:off x="155780" y="1052954"/>
            <a:ext cx="3796749" cy="2359621"/>
          </a:xfrm>
          <a:prstGeom prst="rect">
            <a:avLst/>
          </a:prstGeom>
          <a:noFill/>
          <a:ln>
            <a:noFill/>
          </a:ln>
        </p:spPr>
      </p:pic>
      <p:pic>
        <p:nvPicPr>
          <p:cNvPr id="139" name="Google Shape;139;p4"/>
          <p:cNvPicPr preferRelativeResize="0"/>
          <p:nvPr/>
        </p:nvPicPr>
        <p:blipFill>
          <a:blip r:embed="rId4">
            <a:alphaModFix/>
          </a:blip>
          <a:stretch>
            <a:fillRect/>
          </a:stretch>
        </p:blipFill>
        <p:spPr>
          <a:xfrm>
            <a:off x="152401" y="4041388"/>
            <a:ext cx="3796748" cy="2362794"/>
          </a:xfrm>
          <a:prstGeom prst="rect">
            <a:avLst/>
          </a:prstGeom>
          <a:noFill/>
          <a:ln>
            <a:noFill/>
          </a:ln>
        </p:spPr>
      </p:pic>
      <p:pic>
        <p:nvPicPr>
          <p:cNvPr id="140" name="Google Shape;140;p4"/>
          <p:cNvPicPr preferRelativeResize="0"/>
          <p:nvPr/>
        </p:nvPicPr>
        <p:blipFill>
          <a:blip r:embed="rId5">
            <a:alphaModFix/>
          </a:blip>
          <a:stretch>
            <a:fillRect/>
          </a:stretch>
        </p:blipFill>
        <p:spPr>
          <a:xfrm>
            <a:off x="4032041" y="1059862"/>
            <a:ext cx="3935917" cy="2362793"/>
          </a:xfrm>
          <a:prstGeom prst="rect">
            <a:avLst/>
          </a:prstGeom>
          <a:noFill/>
          <a:ln>
            <a:noFill/>
          </a:ln>
        </p:spPr>
      </p:pic>
      <p:pic>
        <p:nvPicPr>
          <p:cNvPr id="141" name="Google Shape;141;p4"/>
          <p:cNvPicPr preferRelativeResize="0"/>
          <p:nvPr/>
        </p:nvPicPr>
        <p:blipFill>
          <a:blip r:embed="rId6">
            <a:alphaModFix/>
          </a:blip>
          <a:stretch>
            <a:fillRect/>
          </a:stretch>
        </p:blipFill>
        <p:spPr>
          <a:xfrm>
            <a:off x="4032040" y="4051973"/>
            <a:ext cx="3935918" cy="2369700"/>
          </a:xfrm>
          <a:prstGeom prst="rect">
            <a:avLst/>
          </a:prstGeom>
          <a:noFill/>
          <a:ln>
            <a:noFill/>
          </a:ln>
        </p:spPr>
      </p:pic>
      <p:pic>
        <p:nvPicPr>
          <p:cNvPr id="2050" name="Picture 2">
            <a:extLst>
              <a:ext uri="{FF2B5EF4-FFF2-40B4-BE49-F238E27FC236}">
                <a16:creationId xmlns:a16="http://schemas.microsoft.com/office/drawing/2014/main" id="{0C455BCC-B8E0-4798-85AA-EE70EB40AB9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03682" y="1059862"/>
            <a:ext cx="3932538" cy="2362793"/>
          </a:xfrm>
          <a:prstGeom prst="rect">
            <a:avLst/>
          </a:prstGeom>
          <a:noFill/>
          <a:extLst>
            <a:ext uri="{909E8E84-426E-40DD-AFC4-6F175D3DCCD1}">
              <a14:hiddenFill xmlns:a14="http://schemas.microsoft.com/office/drawing/2010/main">
                <a:solidFill>
                  <a:srgbClr val="FFFFFF"/>
                </a:solidFill>
              </a14:hiddenFill>
            </a:ext>
          </a:extLst>
        </p:spPr>
      </p:pic>
      <p:grpSp>
        <p:nvGrpSpPr>
          <p:cNvPr id="17" name="Group 16">
            <a:extLst>
              <a:ext uri="{FF2B5EF4-FFF2-40B4-BE49-F238E27FC236}">
                <a16:creationId xmlns:a16="http://schemas.microsoft.com/office/drawing/2014/main" id="{55A41EC6-B17C-4D24-BE83-1A77D78095FE}"/>
              </a:ext>
            </a:extLst>
          </p:cNvPr>
          <p:cNvGrpSpPr/>
          <p:nvPr/>
        </p:nvGrpSpPr>
        <p:grpSpPr>
          <a:xfrm>
            <a:off x="0" y="-21869"/>
            <a:ext cx="12192000" cy="536077"/>
            <a:chOff x="0" y="-21869"/>
            <a:chExt cx="12192000" cy="536077"/>
          </a:xfrm>
        </p:grpSpPr>
        <p:sp>
          <p:nvSpPr>
            <p:cNvPr id="18" name="Pentagon 18">
              <a:extLst>
                <a:ext uri="{FF2B5EF4-FFF2-40B4-BE49-F238E27FC236}">
                  <a16:creationId xmlns:a16="http://schemas.microsoft.com/office/drawing/2014/main" id="{FEA64A76-E5B3-4760-83E5-15F5A6095D81}"/>
                </a:ext>
              </a:extLst>
            </p:cNvPr>
            <p:cNvSpPr/>
            <p:nvPr/>
          </p:nvSpPr>
          <p:spPr>
            <a:xfrm>
              <a:off x="10069737" y="-21869"/>
              <a:ext cx="2122263"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         Appendix II</a:t>
              </a:r>
              <a:endParaRPr lang="en-IN" sz="1200" b="1" dirty="0"/>
            </a:p>
          </p:txBody>
        </p:sp>
        <p:sp>
          <p:nvSpPr>
            <p:cNvPr id="19" name="Pentagon 18">
              <a:extLst>
                <a:ext uri="{FF2B5EF4-FFF2-40B4-BE49-F238E27FC236}">
                  <a16:creationId xmlns:a16="http://schemas.microsoft.com/office/drawing/2014/main" id="{41524803-0755-4D45-8256-6B0E7AB73E65}"/>
                </a:ext>
              </a:extLst>
            </p:cNvPr>
            <p:cNvSpPr/>
            <p:nvPr/>
          </p:nvSpPr>
          <p:spPr>
            <a:xfrm>
              <a:off x="8457282" y="-21869"/>
              <a:ext cx="2122264" cy="533258"/>
            </a:xfrm>
            <a:prstGeom prst="homePlat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         Appendix I</a:t>
              </a:r>
              <a:endParaRPr lang="en-IN" sz="1200" b="1" dirty="0"/>
            </a:p>
          </p:txBody>
        </p:sp>
        <p:sp>
          <p:nvSpPr>
            <p:cNvPr id="20" name="Pentagon 18">
              <a:extLst>
                <a:ext uri="{FF2B5EF4-FFF2-40B4-BE49-F238E27FC236}">
                  <a16:creationId xmlns:a16="http://schemas.microsoft.com/office/drawing/2014/main" id="{C9016315-D1CA-4957-9E24-B4DEB2D50EC0}"/>
                </a:ext>
              </a:extLst>
            </p:cNvPr>
            <p:cNvSpPr/>
            <p:nvPr/>
          </p:nvSpPr>
          <p:spPr>
            <a:xfrm>
              <a:off x="6447179" y="-21869"/>
              <a:ext cx="2541105"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             Go-to Market Strategy &amp; Financials</a:t>
              </a:r>
              <a:endParaRPr lang="en-IN" sz="1200" b="1" dirty="0"/>
            </a:p>
          </p:txBody>
        </p:sp>
        <p:grpSp>
          <p:nvGrpSpPr>
            <p:cNvPr id="21" name="Group 20">
              <a:extLst>
                <a:ext uri="{FF2B5EF4-FFF2-40B4-BE49-F238E27FC236}">
                  <a16:creationId xmlns:a16="http://schemas.microsoft.com/office/drawing/2014/main" id="{F71EED34-2091-4A22-82E8-C94C15A9ACA0}"/>
                </a:ext>
              </a:extLst>
            </p:cNvPr>
            <p:cNvGrpSpPr/>
            <p:nvPr/>
          </p:nvGrpSpPr>
          <p:grpSpPr>
            <a:xfrm>
              <a:off x="0" y="-21869"/>
              <a:ext cx="7064096" cy="536077"/>
              <a:chOff x="0" y="9861"/>
              <a:chExt cx="7372069" cy="536077"/>
            </a:xfrm>
          </p:grpSpPr>
          <p:sp>
            <p:nvSpPr>
              <p:cNvPr id="22" name="Pentagon 18">
                <a:extLst>
                  <a:ext uri="{FF2B5EF4-FFF2-40B4-BE49-F238E27FC236}">
                    <a16:creationId xmlns:a16="http://schemas.microsoft.com/office/drawing/2014/main" id="{8F56A31E-D518-4FE6-867F-9E4E99133B34}"/>
                  </a:ext>
                </a:extLst>
              </p:cNvPr>
              <p:cNvSpPr/>
              <p:nvPr/>
            </p:nvSpPr>
            <p:spPr>
              <a:xfrm>
                <a:off x="4433001" y="9861"/>
                <a:ext cx="2939068"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       Company SWOT, Competitors &amp; </a:t>
                </a:r>
              </a:p>
              <a:p>
                <a:pPr algn="ctr"/>
                <a:r>
                  <a:rPr lang="en-GB" sz="1200" b="1" dirty="0"/>
                  <a:t>       Competitor Analysis</a:t>
                </a:r>
                <a:endParaRPr lang="en-IN" sz="1200" b="1" dirty="0"/>
              </a:p>
            </p:txBody>
          </p:sp>
          <p:sp>
            <p:nvSpPr>
              <p:cNvPr id="23" name="Pentagon 18">
                <a:extLst>
                  <a:ext uri="{FF2B5EF4-FFF2-40B4-BE49-F238E27FC236}">
                    <a16:creationId xmlns:a16="http://schemas.microsoft.com/office/drawing/2014/main" id="{BCC90B02-4953-46BE-810D-39AB510A9347}"/>
                  </a:ext>
                </a:extLst>
              </p:cNvPr>
              <p:cNvSpPr/>
              <p:nvPr/>
            </p:nvSpPr>
            <p:spPr>
              <a:xfrm>
                <a:off x="1983049" y="12043"/>
                <a:ext cx="2912745"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            About the company, Features </a:t>
                </a:r>
              </a:p>
              <a:p>
                <a:pPr algn="ctr"/>
                <a:r>
                  <a:rPr lang="en-GB" sz="1200" b="1" dirty="0"/>
                  <a:t>&amp; Revenue Model</a:t>
                </a:r>
                <a:endParaRPr lang="en-IN" sz="1200" b="1" dirty="0"/>
              </a:p>
            </p:txBody>
          </p:sp>
          <p:sp>
            <p:nvSpPr>
              <p:cNvPr id="24" name="Pentagon 18">
                <a:extLst>
                  <a:ext uri="{FF2B5EF4-FFF2-40B4-BE49-F238E27FC236}">
                    <a16:creationId xmlns:a16="http://schemas.microsoft.com/office/drawing/2014/main" id="{ACDA22C8-44D5-4E92-827F-F352A1CAA89C}"/>
                  </a:ext>
                </a:extLst>
              </p:cNvPr>
              <p:cNvSpPr/>
              <p:nvPr/>
            </p:nvSpPr>
            <p:spPr>
              <a:xfrm>
                <a:off x="0" y="12680"/>
                <a:ext cx="2600538" cy="533258"/>
              </a:xfrm>
              <a:prstGeom prst="homePlate">
                <a:avLst/>
              </a:prstGeom>
              <a:solidFill>
                <a:schemeClr val="accent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Market Research, Market SWOT &amp; Pain Points</a:t>
                </a:r>
                <a:endParaRPr lang="en-IN" sz="1200" b="1" dirty="0"/>
              </a:p>
            </p:txBody>
          </p:sp>
        </p:grpSp>
      </p:grpSp>
      <p:sp>
        <p:nvSpPr>
          <p:cNvPr id="3" name="TextBox 2">
            <a:extLst>
              <a:ext uri="{FF2B5EF4-FFF2-40B4-BE49-F238E27FC236}">
                <a16:creationId xmlns:a16="http://schemas.microsoft.com/office/drawing/2014/main" id="{D96E55E4-BF8F-4405-9BB3-140465E9E7C3}"/>
              </a:ext>
            </a:extLst>
          </p:cNvPr>
          <p:cNvSpPr txBox="1"/>
          <p:nvPr/>
        </p:nvSpPr>
        <p:spPr>
          <a:xfrm>
            <a:off x="152401" y="675861"/>
            <a:ext cx="1747805" cy="369332"/>
          </a:xfrm>
          <a:prstGeom prst="rect">
            <a:avLst/>
          </a:prstGeom>
          <a:noFill/>
        </p:spPr>
        <p:txBody>
          <a:bodyPr wrap="square" rtlCol="0">
            <a:spAutoFit/>
          </a:bodyPr>
          <a:lstStyle/>
          <a:p>
            <a:r>
              <a:rPr lang="en-GB" dirty="0"/>
              <a:t>Exhibit 1</a:t>
            </a:r>
            <a:endParaRPr lang="en-IN" dirty="0"/>
          </a:p>
        </p:txBody>
      </p:sp>
      <p:sp>
        <p:nvSpPr>
          <p:cNvPr id="27" name="TextBox 26">
            <a:extLst>
              <a:ext uri="{FF2B5EF4-FFF2-40B4-BE49-F238E27FC236}">
                <a16:creationId xmlns:a16="http://schemas.microsoft.com/office/drawing/2014/main" id="{909B0B8E-F4BC-4174-B0B0-8999987A094B}"/>
              </a:ext>
            </a:extLst>
          </p:cNvPr>
          <p:cNvSpPr txBox="1"/>
          <p:nvPr/>
        </p:nvSpPr>
        <p:spPr>
          <a:xfrm>
            <a:off x="109374" y="3552648"/>
            <a:ext cx="1295356" cy="369332"/>
          </a:xfrm>
          <a:prstGeom prst="rect">
            <a:avLst/>
          </a:prstGeom>
          <a:noFill/>
        </p:spPr>
        <p:txBody>
          <a:bodyPr wrap="square">
            <a:spAutoFit/>
          </a:bodyPr>
          <a:lstStyle/>
          <a:p>
            <a:r>
              <a:rPr lang="en-GB" dirty="0"/>
              <a:t>Exhibit 2</a:t>
            </a:r>
            <a:endParaRPr lang="en-IN" dirty="0"/>
          </a:p>
        </p:txBody>
      </p:sp>
      <p:sp>
        <p:nvSpPr>
          <p:cNvPr id="28" name="TextBox 27">
            <a:extLst>
              <a:ext uri="{FF2B5EF4-FFF2-40B4-BE49-F238E27FC236}">
                <a16:creationId xmlns:a16="http://schemas.microsoft.com/office/drawing/2014/main" id="{03D5C89C-4A58-4455-9A49-9C3B218DCA4E}"/>
              </a:ext>
            </a:extLst>
          </p:cNvPr>
          <p:cNvSpPr txBox="1"/>
          <p:nvPr/>
        </p:nvSpPr>
        <p:spPr>
          <a:xfrm>
            <a:off x="3936141" y="667834"/>
            <a:ext cx="1295356" cy="369332"/>
          </a:xfrm>
          <a:prstGeom prst="rect">
            <a:avLst/>
          </a:prstGeom>
          <a:noFill/>
        </p:spPr>
        <p:txBody>
          <a:bodyPr wrap="square">
            <a:spAutoFit/>
          </a:bodyPr>
          <a:lstStyle/>
          <a:p>
            <a:r>
              <a:rPr lang="en-GB" dirty="0"/>
              <a:t>Exhibit 3</a:t>
            </a:r>
            <a:endParaRPr lang="en-IN" dirty="0"/>
          </a:p>
        </p:txBody>
      </p:sp>
      <p:sp>
        <p:nvSpPr>
          <p:cNvPr id="29" name="TextBox 28">
            <a:extLst>
              <a:ext uri="{FF2B5EF4-FFF2-40B4-BE49-F238E27FC236}">
                <a16:creationId xmlns:a16="http://schemas.microsoft.com/office/drawing/2014/main" id="{18D473EB-CED3-42C7-A825-D7D1075DB03C}"/>
              </a:ext>
            </a:extLst>
          </p:cNvPr>
          <p:cNvSpPr txBox="1"/>
          <p:nvPr/>
        </p:nvSpPr>
        <p:spPr>
          <a:xfrm>
            <a:off x="4032041" y="3552648"/>
            <a:ext cx="1295356" cy="369332"/>
          </a:xfrm>
          <a:prstGeom prst="rect">
            <a:avLst/>
          </a:prstGeom>
          <a:noFill/>
        </p:spPr>
        <p:txBody>
          <a:bodyPr wrap="square">
            <a:spAutoFit/>
          </a:bodyPr>
          <a:lstStyle/>
          <a:p>
            <a:r>
              <a:rPr lang="en-GB" dirty="0"/>
              <a:t>Exhibit 4</a:t>
            </a:r>
            <a:endParaRPr lang="en-IN" dirty="0"/>
          </a:p>
        </p:txBody>
      </p:sp>
      <p:sp>
        <p:nvSpPr>
          <p:cNvPr id="30" name="TextBox 29">
            <a:extLst>
              <a:ext uri="{FF2B5EF4-FFF2-40B4-BE49-F238E27FC236}">
                <a16:creationId xmlns:a16="http://schemas.microsoft.com/office/drawing/2014/main" id="{D2E3806A-064A-4465-94C5-822B73B152A6}"/>
              </a:ext>
            </a:extLst>
          </p:cNvPr>
          <p:cNvSpPr txBox="1"/>
          <p:nvPr/>
        </p:nvSpPr>
        <p:spPr>
          <a:xfrm>
            <a:off x="8103682" y="600959"/>
            <a:ext cx="1295356" cy="369332"/>
          </a:xfrm>
          <a:prstGeom prst="rect">
            <a:avLst/>
          </a:prstGeom>
          <a:noFill/>
        </p:spPr>
        <p:txBody>
          <a:bodyPr wrap="square">
            <a:spAutoFit/>
          </a:bodyPr>
          <a:lstStyle/>
          <a:p>
            <a:r>
              <a:rPr lang="en-GB" dirty="0"/>
              <a:t>Exhibit 5</a:t>
            </a:r>
            <a:endParaRPr lang="en-IN" dirty="0"/>
          </a:p>
        </p:txBody>
      </p:sp>
      <p:sp>
        <p:nvSpPr>
          <p:cNvPr id="2" name="TextBox 1">
            <a:extLst>
              <a:ext uri="{FF2B5EF4-FFF2-40B4-BE49-F238E27FC236}">
                <a16:creationId xmlns:a16="http://schemas.microsoft.com/office/drawing/2014/main" id="{F223480B-8300-4897-BEC8-29D0F797FA68}"/>
              </a:ext>
            </a:extLst>
          </p:cNvPr>
          <p:cNvSpPr txBox="1"/>
          <p:nvPr/>
        </p:nvSpPr>
        <p:spPr>
          <a:xfrm>
            <a:off x="8217846" y="4051973"/>
            <a:ext cx="4038600" cy="3416320"/>
          </a:xfrm>
          <a:prstGeom prst="rect">
            <a:avLst/>
          </a:prstGeom>
          <a:noFill/>
        </p:spPr>
        <p:txBody>
          <a:bodyPr wrap="square" rtlCol="0">
            <a:spAutoFit/>
          </a:bodyPr>
          <a:lstStyle/>
          <a:p>
            <a:r>
              <a:rPr lang="en-US" b="1" dirty="0"/>
              <a:t>Audience Profile –</a:t>
            </a:r>
          </a:p>
          <a:p>
            <a:r>
              <a:rPr lang="en-US" dirty="0"/>
              <a:t>200+ survey responses</a:t>
            </a:r>
          </a:p>
          <a:p>
            <a:r>
              <a:rPr lang="en-US" dirty="0"/>
              <a:t>15+ telephonic interviews</a:t>
            </a:r>
          </a:p>
          <a:p>
            <a:r>
              <a:rPr lang="en-US" dirty="0"/>
              <a:t>Age – 21-45</a:t>
            </a:r>
          </a:p>
          <a:p>
            <a:r>
              <a:rPr lang="en-US" dirty="0"/>
              <a:t>65% Male 35% Female</a:t>
            </a:r>
          </a:p>
          <a:p>
            <a:r>
              <a:rPr lang="en-US" dirty="0"/>
              <a:t>62% Urban, 38% semiurban</a:t>
            </a:r>
          </a:p>
          <a:p>
            <a:r>
              <a:rPr lang="en-US" dirty="0"/>
              <a:t>39% Housewives, 31% working professionals, 25% students, 5% others</a:t>
            </a:r>
          </a:p>
          <a:p>
            <a:endParaRPr lang="en-US" b="1" dirty="0"/>
          </a:p>
          <a:p>
            <a:endParaRPr lang="en-US" b="1" dirty="0"/>
          </a:p>
          <a:p>
            <a:endParaRPr lang="en-US" b="1" dirty="0"/>
          </a:p>
          <a:p>
            <a:endParaRPr lang="en-IN"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151" name="Google Shape;151;ge97b4d1f15_0_0"/>
          <p:cNvPicPr preferRelativeResize="0"/>
          <p:nvPr/>
        </p:nvPicPr>
        <p:blipFill>
          <a:blip r:embed="rId3">
            <a:alphaModFix/>
          </a:blip>
          <a:stretch>
            <a:fillRect/>
          </a:stretch>
        </p:blipFill>
        <p:spPr>
          <a:xfrm>
            <a:off x="3409043" y="695596"/>
            <a:ext cx="3359747" cy="3924144"/>
          </a:xfrm>
          <a:prstGeom prst="rect">
            <a:avLst/>
          </a:prstGeom>
          <a:noFill/>
          <a:ln>
            <a:noFill/>
          </a:ln>
        </p:spPr>
      </p:pic>
      <p:pic>
        <p:nvPicPr>
          <p:cNvPr id="147" name="Google Shape;147;ge97b4d1f15_0_0"/>
          <p:cNvPicPr preferRelativeResize="0"/>
          <p:nvPr/>
        </p:nvPicPr>
        <p:blipFill>
          <a:blip r:embed="rId4">
            <a:alphaModFix/>
          </a:blip>
          <a:stretch>
            <a:fillRect/>
          </a:stretch>
        </p:blipFill>
        <p:spPr>
          <a:xfrm>
            <a:off x="152399" y="4625009"/>
            <a:ext cx="3047315" cy="2179859"/>
          </a:xfrm>
          <a:prstGeom prst="rect">
            <a:avLst/>
          </a:prstGeom>
          <a:noFill/>
          <a:ln>
            <a:noFill/>
          </a:ln>
        </p:spPr>
      </p:pic>
      <p:pic>
        <p:nvPicPr>
          <p:cNvPr id="148" name="Google Shape;148;ge97b4d1f15_0_0"/>
          <p:cNvPicPr preferRelativeResize="0"/>
          <p:nvPr/>
        </p:nvPicPr>
        <p:blipFill>
          <a:blip r:embed="rId5">
            <a:alphaModFix/>
          </a:blip>
          <a:stretch>
            <a:fillRect/>
          </a:stretch>
        </p:blipFill>
        <p:spPr>
          <a:xfrm>
            <a:off x="145772" y="695596"/>
            <a:ext cx="3359747" cy="3924145"/>
          </a:xfrm>
          <a:prstGeom prst="rect">
            <a:avLst/>
          </a:prstGeom>
          <a:noFill/>
          <a:ln>
            <a:noFill/>
          </a:ln>
        </p:spPr>
      </p:pic>
      <p:pic>
        <p:nvPicPr>
          <p:cNvPr id="150" name="Google Shape;150;ge97b4d1f15_0_0"/>
          <p:cNvPicPr preferRelativeResize="0"/>
          <p:nvPr/>
        </p:nvPicPr>
        <p:blipFill>
          <a:blip r:embed="rId6">
            <a:alphaModFix/>
          </a:blip>
          <a:stretch>
            <a:fillRect/>
          </a:stretch>
        </p:blipFill>
        <p:spPr>
          <a:xfrm>
            <a:off x="6087740" y="2788081"/>
            <a:ext cx="3359746" cy="3924145"/>
          </a:xfrm>
          <a:prstGeom prst="rect">
            <a:avLst/>
          </a:prstGeom>
          <a:noFill/>
          <a:ln>
            <a:noFill/>
          </a:ln>
        </p:spPr>
      </p:pic>
      <p:pic>
        <p:nvPicPr>
          <p:cNvPr id="149" name="Google Shape;149;ge97b4d1f15_0_0"/>
          <p:cNvPicPr preferRelativeResize="0"/>
          <p:nvPr/>
        </p:nvPicPr>
        <p:blipFill>
          <a:blip r:embed="rId7">
            <a:alphaModFix/>
          </a:blip>
          <a:stretch>
            <a:fillRect/>
          </a:stretch>
        </p:blipFill>
        <p:spPr>
          <a:xfrm>
            <a:off x="8712214" y="511722"/>
            <a:ext cx="3359748" cy="4200331"/>
          </a:xfrm>
          <a:prstGeom prst="rect">
            <a:avLst/>
          </a:prstGeom>
          <a:noFill/>
          <a:ln>
            <a:noFill/>
          </a:ln>
        </p:spPr>
      </p:pic>
      <p:grpSp>
        <p:nvGrpSpPr>
          <p:cNvPr id="8" name="Group 7">
            <a:extLst>
              <a:ext uri="{FF2B5EF4-FFF2-40B4-BE49-F238E27FC236}">
                <a16:creationId xmlns:a16="http://schemas.microsoft.com/office/drawing/2014/main" id="{E7C47E3E-2B44-4A06-850E-EFC6757A01DA}"/>
              </a:ext>
            </a:extLst>
          </p:cNvPr>
          <p:cNvGrpSpPr/>
          <p:nvPr/>
        </p:nvGrpSpPr>
        <p:grpSpPr>
          <a:xfrm>
            <a:off x="0" y="-21869"/>
            <a:ext cx="12192000" cy="536077"/>
            <a:chOff x="0" y="-21869"/>
            <a:chExt cx="12192000" cy="536077"/>
          </a:xfrm>
        </p:grpSpPr>
        <p:sp>
          <p:nvSpPr>
            <p:cNvPr id="9" name="Pentagon 18">
              <a:extLst>
                <a:ext uri="{FF2B5EF4-FFF2-40B4-BE49-F238E27FC236}">
                  <a16:creationId xmlns:a16="http://schemas.microsoft.com/office/drawing/2014/main" id="{AFC9D3BB-9DF8-4400-A44C-46F77C5E5351}"/>
                </a:ext>
              </a:extLst>
            </p:cNvPr>
            <p:cNvSpPr/>
            <p:nvPr/>
          </p:nvSpPr>
          <p:spPr>
            <a:xfrm>
              <a:off x="10069737" y="-21869"/>
              <a:ext cx="2122263" cy="533258"/>
            </a:xfrm>
            <a:prstGeom prst="homePlat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         Appendix II</a:t>
              </a:r>
              <a:endParaRPr lang="en-IN" sz="1200" b="1" dirty="0"/>
            </a:p>
          </p:txBody>
        </p:sp>
        <p:sp>
          <p:nvSpPr>
            <p:cNvPr id="10" name="Pentagon 18">
              <a:extLst>
                <a:ext uri="{FF2B5EF4-FFF2-40B4-BE49-F238E27FC236}">
                  <a16:creationId xmlns:a16="http://schemas.microsoft.com/office/drawing/2014/main" id="{2E1A452B-0274-4943-AFF5-8267BF90C89C}"/>
                </a:ext>
              </a:extLst>
            </p:cNvPr>
            <p:cNvSpPr/>
            <p:nvPr/>
          </p:nvSpPr>
          <p:spPr>
            <a:xfrm>
              <a:off x="8457282" y="-21869"/>
              <a:ext cx="2122264"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         Appendix I</a:t>
              </a:r>
              <a:endParaRPr lang="en-IN" sz="1200" b="1" dirty="0"/>
            </a:p>
          </p:txBody>
        </p:sp>
        <p:sp>
          <p:nvSpPr>
            <p:cNvPr id="11" name="Pentagon 18">
              <a:extLst>
                <a:ext uri="{FF2B5EF4-FFF2-40B4-BE49-F238E27FC236}">
                  <a16:creationId xmlns:a16="http://schemas.microsoft.com/office/drawing/2014/main" id="{375A2D28-C50F-46D1-839F-6863189CAD5A}"/>
                </a:ext>
              </a:extLst>
            </p:cNvPr>
            <p:cNvSpPr/>
            <p:nvPr/>
          </p:nvSpPr>
          <p:spPr>
            <a:xfrm>
              <a:off x="6447179" y="-21869"/>
              <a:ext cx="2541105"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             Go-to Market Strategy &amp; Financials</a:t>
              </a:r>
              <a:endParaRPr lang="en-IN" sz="1200" b="1" dirty="0"/>
            </a:p>
          </p:txBody>
        </p:sp>
        <p:grpSp>
          <p:nvGrpSpPr>
            <p:cNvPr id="12" name="Group 11">
              <a:extLst>
                <a:ext uri="{FF2B5EF4-FFF2-40B4-BE49-F238E27FC236}">
                  <a16:creationId xmlns:a16="http://schemas.microsoft.com/office/drawing/2014/main" id="{6CA29013-EAC1-44F1-B475-2FD1479494A9}"/>
                </a:ext>
              </a:extLst>
            </p:cNvPr>
            <p:cNvGrpSpPr/>
            <p:nvPr/>
          </p:nvGrpSpPr>
          <p:grpSpPr>
            <a:xfrm>
              <a:off x="0" y="-21869"/>
              <a:ext cx="7064096" cy="536077"/>
              <a:chOff x="0" y="9861"/>
              <a:chExt cx="7372069" cy="536077"/>
            </a:xfrm>
          </p:grpSpPr>
          <p:sp>
            <p:nvSpPr>
              <p:cNvPr id="13" name="Pentagon 18">
                <a:extLst>
                  <a:ext uri="{FF2B5EF4-FFF2-40B4-BE49-F238E27FC236}">
                    <a16:creationId xmlns:a16="http://schemas.microsoft.com/office/drawing/2014/main" id="{37637C28-C1EF-451D-A859-CE6F207E7FFA}"/>
                  </a:ext>
                </a:extLst>
              </p:cNvPr>
              <p:cNvSpPr/>
              <p:nvPr/>
            </p:nvSpPr>
            <p:spPr>
              <a:xfrm>
                <a:off x="4433001" y="9861"/>
                <a:ext cx="2939068"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       Company SWOT, Competitors &amp; </a:t>
                </a:r>
              </a:p>
              <a:p>
                <a:pPr algn="ctr"/>
                <a:r>
                  <a:rPr lang="en-GB" sz="1200" b="1" dirty="0"/>
                  <a:t>       Competitor Analysis</a:t>
                </a:r>
                <a:endParaRPr lang="en-IN" sz="1200" b="1" dirty="0"/>
              </a:p>
            </p:txBody>
          </p:sp>
          <p:sp>
            <p:nvSpPr>
              <p:cNvPr id="14" name="Pentagon 18">
                <a:extLst>
                  <a:ext uri="{FF2B5EF4-FFF2-40B4-BE49-F238E27FC236}">
                    <a16:creationId xmlns:a16="http://schemas.microsoft.com/office/drawing/2014/main" id="{43109A51-B1E0-4F85-8023-BB4AD1FC31E9}"/>
                  </a:ext>
                </a:extLst>
              </p:cNvPr>
              <p:cNvSpPr/>
              <p:nvPr/>
            </p:nvSpPr>
            <p:spPr>
              <a:xfrm>
                <a:off x="1983049" y="12043"/>
                <a:ext cx="2912745"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            About the company, Features </a:t>
                </a:r>
              </a:p>
              <a:p>
                <a:pPr algn="ctr"/>
                <a:r>
                  <a:rPr lang="en-GB" sz="1200" b="1" dirty="0"/>
                  <a:t>&amp; Revenue Model</a:t>
                </a:r>
                <a:endParaRPr lang="en-IN" sz="1200" b="1" dirty="0"/>
              </a:p>
            </p:txBody>
          </p:sp>
          <p:sp>
            <p:nvSpPr>
              <p:cNvPr id="15" name="Pentagon 18">
                <a:extLst>
                  <a:ext uri="{FF2B5EF4-FFF2-40B4-BE49-F238E27FC236}">
                    <a16:creationId xmlns:a16="http://schemas.microsoft.com/office/drawing/2014/main" id="{33790C4E-6838-4AB0-8BB5-D8CE4D4E847B}"/>
                  </a:ext>
                </a:extLst>
              </p:cNvPr>
              <p:cNvSpPr/>
              <p:nvPr/>
            </p:nvSpPr>
            <p:spPr>
              <a:xfrm>
                <a:off x="0" y="12680"/>
                <a:ext cx="2600538" cy="533258"/>
              </a:xfrm>
              <a:prstGeom prst="homePlate">
                <a:avLst/>
              </a:prstGeom>
              <a:solidFill>
                <a:schemeClr val="accent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Market Research, Market SWOT &amp; Pain Points</a:t>
                </a:r>
                <a:endParaRPr lang="en-IN" sz="1200" b="1" dirty="0"/>
              </a:p>
            </p:txBody>
          </p:sp>
        </p:grpSp>
      </p:grpSp>
      <p:sp>
        <p:nvSpPr>
          <p:cNvPr id="3" name="TextBox 2">
            <a:extLst>
              <a:ext uri="{FF2B5EF4-FFF2-40B4-BE49-F238E27FC236}">
                <a16:creationId xmlns:a16="http://schemas.microsoft.com/office/drawing/2014/main" id="{DAAFA133-37EE-4A8C-8BCE-C799413F32F3}"/>
              </a:ext>
            </a:extLst>
          </p:cNvPr>
          <p:cNvSpPr txBox="1"/>
          <p:nvPr/>
        </p:nvSpPr>
        <p:spPr>
          <a:xfrm>
            <a:off x="145772" y="519476"/>
            <a:ext cx="1136453" cy="276999"/>
          </a:xfrm>
          <a:prstGeom prst="rect">
            <a:avLst/>
          </a:prstGeom>
          <a:noFill/>
        </p:spPr>
        <p:txBody>
          <a:bodyPr wrap="square" rtlCol="0">
            <a:spAutoFit/>
          </a:bodyPr>
          <a:lstStyle/>
          <a:p>
            <a:r>
              <a:rPr lang="en-GB" sz="1200" dirty="0"/>
              <a:t>Exhibit 6</a:t>
            </a:r>
            <a:endParaRPr lang="en-IN" sz="1200" dirty="0"/>
          </a:p>
        </p:txBody>
      </p:sp>
      <p:sp>
        <p:nvSpPr>
          <p:cNvPr id="18" name="TextBox 17">
            <a:extLst>
              <a:ext uri="{FF2B5EF4-FFF2-40B4-BE49-F238E27FC236}">
                <a16:creationId xmlns:a16="http://schemas.microsoft.com/office/drawing/2014/main" id="{8854068B-C1D3-416C-8AD7-F0CF70E7686E}"/>
              </a:ext>
            </a:extLst>
          </p:cNvPr>
          <p:cNvSpPr txBox="1"/>
          <p:nvPr/>
        </p:nvSpPr>
        <p:spPr>
          <a:xfrm>
            <a:off x="3111356" y="4803947"/>
            <a:ext cx="1136453" cy="276999"/>
          </a:xfrm>
          <a:prstGeom prst="rect">
            <a:avLst/>
          </a:prstGeom>
          <a:noFill/>
        </p:spPr>
        <p:txBody>
          <a:bodyPr wrap="square" rtlCol="0">
            <a:spAutoFit/>
          </a:bodyPr>
          <a:lstStyle/>
          <a:p>
            <a:r>
              <a:rPr lang="en-GB" sz="1200" dirty="0"/>
              <a:t>Exhibit 7</a:t>
            </a:r>
            <a:endParaRPr lang="en-IN" sz="1200" dirty="0"/>
          </a:p>
        </p:txBody>
      </p:sp>
      <p:sp>
        <p:nvSpPr>
          <p:cNvPr id="19" name="TextBox 18">
            <a:extLst>
              <a:ext uri="{FF2B5EF4-FFF2-40B4-BE49-F238E27FC236}">
                <a16:creationId xmlns:a16="http://schemas.microsoft.com/office/drawing/2014/main" id="{7619EC2C-F1AC-4A56-AACA-7559DA887333}"/>
              </a:ext>
            </a:extLst>
          </p:cNvPr>
          <p:cNvSpPr txBox="1"/>
          <p:nvPr/>
        </p:nvSpPr>
        <p:spPr>
          <a:xfrm>
            <a:off x="4226700" y="560399"/>
            <a:ext cx="1136453" cy="276999"/>
          </a:xfrm>
          <a:prstGeom prst="rect">
            <a:avLst/>
          </a:prstGeom>
          <a:noFill/>
        </p:spPr>
        <p:txBody>
          <a:bodyPr wrap="square" rtlCol="0">
            <a:spAutoFit/>
          </a:bodyPr>
          <a:lstStyle/>
          <a:p>
            <a:r>
              <a:rPr lang="en-GB" sz="1200" dirty="0"/>
              <a:t>Exhibit 8</a:t>
            </a:r>
            <a:endParaRPr lang="en-IN"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2630</TotalTime>
  <Words>1726</Words>
  <Application>Microsoft Office PowerPoint</Application>
  <PresentationFormat>Widescreen</PresentationFormat>
  <Paragraphs>301</Paragraphs>
  <Slides>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Inter</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Devesh Sinha</dc:creator>
  <cp:lastModifiedBy>Mohit Kiradoo</cp:lastModifiedBy>
  <cp:revision>21</cp:revision>
  <dcterms:created xsi:type="dcterms:W3CDTF">2021-08-12T19:36:18Z</dcterms:created>
  <dcterms:modified xsi:type="dcterms:W3CDTF">2021-08-26T19:08:35Z</dcterms:modified>
</cp:coreProperties>
</file>