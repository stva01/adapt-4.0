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9" r:id="rId2"/>
    <p:sldId id="256"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BE5C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48" d="100"/>
          <a:sy n="148" d="100"/>
        </p:scale>
        <p:origin x="-980" y="-39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Media Channels (using</a:t>
            </a:r>
            <a:r>
              <a:rPr lang="en-US" b="1" baseline="0" dirty="0"/>
              <a:t> PESO model)</a:t>
            </a:r>
            <a:endParaRPr lang="en-US" b="1" dirty="0"/>
          </a:p>
        </c:rich>
      </c:tx>
      <c:layout>
        <c:manualLayout>
          <c:xMode val="edge"/>
          <c:yMode val="edge"/>
          <c:x val="0.11087218782042911"/>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Media Channels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D51-452D-9259-E2E0873F23D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D51-452D-9259-E2E0873F23D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D51-452D-9259-E2E0873F23D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D51-452D-9259-E2E0873F23D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D51-452D-9259-E2E0873F23DB}"/>
              </c:ext>
            </c:extLst>
          </c:dPt>
          <c:dLbls>
            <c:dLbl>
              <c:idx val="0"/>
              <c:tx>
                <c:rich>
                  <a:bodyPr/>
                  <a:lstStyle/>
                  <a:p>
                    <a:r>
                      <a:rPr lang="en-US" baseline="0" dirty="0"/>
                      <a:t>Press (Organic +Paid)
</a:t>
                    </a:r>
                    <a:fld id="{61809196-B334-4D5F-81C2-7BF60CD3EC0E}" type="PERCENTAGE">
                      <a:rPr lang="en-US" baseline="0"/>
                      <a:pPr/>
                      <a:t>[PERCENTAGE]</a:t>
                    </a:fld>
                    <a:endParaRPr lang="en-US" baseline="0" dirty="0"/>
                  </a:p>
                </c:rich>
              </c:tx>
              <c:dLblPos val="outEnd"/>
              <c:showLegendKey val="0"/>
              <c:showVal val="0"/>
              <c:showCatName val="1"/>
              <c:showSerName val="0"/>
              <c:showPercent val="1"/>
              <c:showBubbleSize val="0"/>
              <c:extLst>
                <c:ext xmlns:c15="http://schemas.microsoft.com/office/drawing/2012/chart" uri="{CE6537A1-D6FC-4f65-9D91-7224C49458BB}">
                  <c15:layout>
                    <c:manualLayout>
                      <c:w val="0.20706373907335407"/>
                      <c:h val="0.21108881500513049"/>
                    </c:manualLayout>
                  </c15:layout>
                  <c15:dlblFieldTable/>
                  <c15:showDataLabelsRange val="0"/>
                </c:ext>
                <c:ext xmlns:c16="http://schemas.microsoft.com/office/drawing/2014/chart" uri="{C3380CC4-5D6E-409C-BE32-E72D297353CC}">
                  <c16:uniqueId val="{00000001-4D51-452D-9259-E2E0873F23DB}"/>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Sheet1!$A$2:$A$6</c:f>
              <c:strCache>
                <c:ptCount val="5"/>
                <c:pt idx="0">
                  <c:v>Paid Press </c:v>
                </c:pt>
                <c:pt idx="1">
                  <c:v>Instagram Pages</c:v>
                </c:pt>
                <c:pt idx="2">
                  <c:v>Facebook Pages</c:v>
                </c:pt>
                <c:pt idx="3">
                  <c:v>YouTube Videos</c:v>
                </c:pt>
                <c:pt idx="4">
                  <c:v>Twitter</c:v>
                </c:pt>
              </c:strCache>
            </c:strRef>
          </c:cat>
          <c:val>
            <c:numRef>
              <c:f>Sheet1!$B$2:$B$6</c:f>
              <c:numCache>
                <c:formatCode>General</c:formatCode>
                <c:ptCount val="5"/>
                <c:pt idx="0">
                  <c:v>30</c:v>
                </c:pt>
                <c:pt idx="1">
                  <c:v>20</c:v>
                </c:pt>
                <c:pt idx="2">
                  <c:v>15</c:v>
                </c:pt>
                <c:pt idx="3">
                  <c:v>15</c:v>
                </c:pt>
                <c:pt idx="4">
                  <c:v>20</c:v>
                </c:pt>
              </c:numCache>
            </c:numRef>
          </c:val>
          <c:extLst>
            <c:ext xmlns:c16="http://schemas.microsoft.com/office/drawing/2014/chart" uri="{C3380CC4-5D6E-409C-BE32-E72D297353CC}">
              <c16:uniqueId val="{00000000-EC30-44E4-BDAF-95AFEBC6481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6EF968-1E00-4F99-B36C-54E7A8A408F0}" type="doc">
      <dgm:prSet loTypeId="urn:microsoft.com/office/officeart/2005/8/layout/hChevron3" loCatId="process" qsTypeId="urn:microsoft.com/office/officeart/2005/8/quickstyle/simple1" qsCatId="simple" csTypeId="urn:microsoft.com/office/officeart/2005/8/colors/accent1_2" csCatId="accent1" phldr="1"/>
      <dgm:spPr/>
    </dgm:pt>
    <dgm:pt modelId="{DE185960-5D66-4C66-B944-70221958E34A}">
      <dgm:prSet phldrT="[Text]" custT="1"/>
      <dgm:spPr>
        <a:solidFill>
          <a:schemeClr val="tx1"/>
        </a:solidFill>
      </dgm:spPr>
      <dgm:t>
        <a:bodyPr/>
        <a:lstStyle/>
        <a:p>
          <a:pPr algn="l"/>
          <a:r>
            <a:rPr lang="en-IN" sz="1600" dirty="0"/>
            <a:t>Ye kya hua? Kaise hua? Kab hua? Kyun hua?</a:t>
          </a:r>
          <a:endParaRPr lang="en-US" sz="1600" dirty="0"/>
        </a:p>
      </dgm:t>
    </dgm:pt>
    <dgm:pt modelId="{5DEA7CAB-766B-4543-B4F4-4BE9FCE152BE}" type="parTrans" cxnId="{A17C9494-7045-4DF2-B314-5D5509909E13}">
      <dgm:prSet/>
      <dgm:spPr/>
      <dgm:t>
        <a:bodyPr/>
        <a:lstStyle/>
        <a:p>
          <a:endParaRPr lang="en-US"/>
        </a:p>
      </dgm:t>
    </dgm:pt>
    <dgm:pt modelId="{0BA775BE-10A6-4799-8EF4-F8F1EBD0B0AA}" type="sibTrans" cxnId="{A17C9494-7045-4DF2-B314-5D5509909E13}">
      <dgm:prSet/>
      <dgm:spPr/>
      <dgm:t>
        <a:bodyPr/>
        <a:lstStyle/>
        <a:p>
          <a:endParaRPr lang="en-US"/>
        </a:p>
      </dgm:t>
    </dgm:pt>
    <dgm:pt modelId="{49A95A5E-0249-4000-B8FB-367D1FB63810}">
      <dgm:prSet phldrT="[Text]"/>
      <dgm:spPr>
        <a:solidFill>
          <a:srgbClr val="C00000"/>
        </a:solidFill>
      </dgm:spPr>
      <dgm:t>
        <a:bodyPr/>
        <a:lstStyle/>
        <a:p>
          <a:pPr algn="l"/>
          <a:r>
            <a:rPr lang="en-IN" dirty="0"/>
            <a:t>         Fire Fighting PR Strategy</a:t>
          </a:r>
          <a:endParaRPr lang="en-US" dirty="0"/>
        </a:p>
      </dgm:t>
    </dgm:pt>
    <dgm:pt modelId="{4A828D30-AC33-4176-B574-775C3486AB11}" type="parTrans" cxnId="{04DD8265-AD19-42B6-92EC-0688E41BDF69}">
      <dgm:prSet/>
      <dgm:spPr/>
      <dgm:t>
        <a:bodyPr/>
        <a:lstStyle/>
        <a:p>
          <a:endParaRPr lang="en-US"/>
        </a:p>
      </dgm:t>
    </dgm:pt>
    <dgm:pt modelId="{B8D1B629-D7F8-4F5F-B1B9-AF586175418F}" type="sibTrans" cxnId="{04DD8265-AD19-42B6-92EC-0688E41BDF69}">
      <dgm:prSet/>
      <dgm:spPr/>
      <dgm:t>
        <a:bodyPr/>
        <a:lstStyle/>
        <a:p>
          <a:endParaRPr lang="en-US"/>
        </a:p>
      </dgm:t>
    </dgm:pt>
    <dgm:pt modelId="{C6E3ED6A-142D-497E-8F29-41E567CB6BDF}">
      <dgm:prSet phldrT="[Text]"/>
      <dgm:spPr>
        <a:solidFill>
          <a:srgbClr val="C00000"/>
        </a:solidFill>
      </dgm:spPr>
      <dgm:t>
        <a:bodyPr/>
        <a:lstStyle/>
        <a:p>
          <a:r>
            <a:rPr lang="en-IN" dirty="0"/>
            <a:t>Workaround and Timeline</a:t>
          </a:r>
          <a:endParaRPr lang="en-US" dirty="0"/>
        </a:p>
      </dgm:t>
    </dgm:pt>
    <dgm:pt modelId="{3D47202C-311F-4CCB-A809-FC56082F29CE}" type="parTrans" cxnId="{126E7DF9-D20E-4BB6-A1EC-DE7D326946AE}">
      <dgm:prSet/>
      <dgm:spPr/>
      <dgm:t>
        <a:bodyPr/>
        <a:lstStyle/>
        <a:p>
          <a:endParaRPr lang="en-US"/>
        </a:p>
      </dgm:t>
    </dgm:pt>
    <dgm:pt modelId="{002FD678-3941-4BC8-BCC3-4EDE4354B426}" type="sibTrans" cxnId="{126E7DF9-D20E-4BB6-A1EC-DE7D326946AE}">
      <dgm:prSet/>
      <dgm:spPr/>
      <dgm:t>
        <a:bodyPr/>
        <a:lstStyle/>
        <a:p>
          <a:endParaRPr lang="en-US"/>
        </a:p>
      </dgm:t>
    </dgm:pt>
    <dgm:pt modelId="{BABCBE8B-2378-425B-9F42-962D0CB3367A}" type="pres">
      <dgm:prSet presAssocID="{EF6EF968-1E00-4F99-B36C-54E7A8A408F0}" presName="Name0" presStyleCnt="0">
        <dgm:presLayoutVars>
          <dgm:dir/>
          <dgm:resizeHandles val="exact"/>
        </dgm:presLayoutVars>
      </dgm:prSet>
      <dgm:spPr/>
    </dgm:pt>
    <dgm:pt modelId="{81D0799A-F6AF-47FD-A522-3848CDB88968}" type="pres">
      <dgm:prSet presAssocID="{DE185960-5D66-4C66-B944-70221958E34A}" presName="parTxOnly" presStyleLbl="node1" presStyleIdx="0" presStyleCnt="3">
        <dgm:presLayoutVars>
          <dgm:bulletEnabled val="1"/>
        </dgm:presLayoutVars>
      </dgm:prSet>
      <dgm:spPr/>
    </dgm:pt>
    <dgm:pt modelId="{B1CC60A6-2F12-4241-93FA-90A2864F2C59}" type="pres">
      <dgm:prSet presAssocID="{0BA775BE-10A6-4799-8EF4-F8F1EBD0B0AA}" presName="parSpace" presStyleCnt="0"/>
      <dgm:spPr/>
    </dgm:pt>
    <dgm:pt modelId="{CEBD1413-A5B2-4AE8-9B29-30D2701C9293}" type="pres">
      <dgm:prSet presAssocID="{49A95A5E-0249-4000-B8FB-367D1FB63810}" presName="parTxOnly" presStyleLbl="node1" presStyleIdx="1" presStyleCnt="3">
        <dgm:presLayoutVars>
          <dgm:bulletEnabled val="1"/>
        </dgm:presLayoutVars>
      </dgm:prSet>
      <dgm:spPr/>
    </dgm:pt>
    <dgm:pt modelId="{F41B5281-230C-4C25-81C1-B53B56B402E4}" type="pres">
      <dgm:prSet presAssocID="{B8D1B629-D7F8-4F5F-B1B9-AF586175418F}" presName="parSpace" presStyleCnt="0"/>
      <dgm:spPr/>
    </dgm:pt>
    <dgm:pt modelId="{3F6833D0-2C43-43D0-8821-F7857A9889B5}" type="pres">
      <dgm:prSet presAssocID="{C6E3ED6A-142D-497E-8F29-41E567CB6BDF}" presName="parTxOnly" presStyleLbl="node1" presStyleIdx="2" presStyleCnt="3">
        <dgm:presLayoutVars>
          <dgm:bulletEnabled val="1"/>
        </dgm:presLayoutVars>
      </dgm:prSet>
      <dgm:spPr/>
    </dgm:pt>
  </dgm:ptLst>
  <dgm:cxnLst>
    <dgm:cxn modelId="{A329BB30-7CDF-4455-B17A-96F4221B6AF3}" type="presOf" srcId="{C6E3ED6A-142D-497E-8F29-41E567CB6BDF}" destId="{3F6833D0-2C43-43D0-8821-F7857A9889B5}" srcOrd="0" destOrd="0" presId="urn:microsoft.com/office/officeart/2005/8/layout/hChevron3"/>
    <dgm:cxn modelId="{04DD8265-AD19-42B6-92EC-0688E41BDF69}" srcId="{EF6EF968-1E00-4F99-B36C-54E7A8A408F0}" destId="{49A95A5E-0249-4000-B8FB-367D1FB63810}" srcOrd="1" destOrd="0" parTransId="{4A828D30-AC33-4176-B574-775C3486AB11}" sibTransId="{B8D1B629-D7F8-4F5F-B1B9-AF586175418F}"/>
    <dgm:cxn modelId="{ED12AC7D-C00F-4035-875A-BCF8F35409D9}" type="presOf" srcId="{49A95A5E-0249-4000-B8FB-367D1FB63810}" destId="{CEBD1413-A5B2-4AE8-9B29-30D2701C9293}" srcOrd="0" destOrd="0" presId="urn:microsoft.com/office/officeart/2005/8/layout/hChevron3"/>
    <dgm:cxn modelId="{A17C9494-7045-4DF2-B314-5D5509909E13}" srcId="{EF6EF968-1E00-4F99-B36C-54E7A8A408F0}" destId="{DE185960-5D66-4C66-B944-70221958E34A}" srcOrd="0" destOrd="0" parTransId="{5DEA7CAB-766B-4543-B4F4-4BE9FCE152BE}" sibTransId="{0BA775BE-10A6-4799-8EF4-F8F1EBD0B0AA}"/>
    <dgm:cxn modelId="{58FC889A-2836-476C-8B60-FB817A8B0A33}" type="presOf" srcId="{EF6EF968-1E00-4F99-B36C-54E7A8A408F0}" destId="{BABCBE8B-2378-425B-9F42-962D0CB3367A}" srcOrd="0" destOrd="0" presId="urn:microsoft.com/office/officeart/2005/8/layout/hChevron3"/>
    <dgm:cxn modelId="{1D9389BC-D520-465C-8792-D924D27CED6A}" type="presOf" srcId="{DE185960-5D66-4C66-B944-70221958E34A}" destId="{81D0799A-F6AF-47FD-A522-3848CDB88968}" srcOrd="0" destOrd="0" presId="urn:microsoft.com/office/officeart/2005/8/layout/hChevron3"/>
    <dgm:cxn modelId="{126E7DF9-D20E-4BB6-A1EC-DE7D326946AE}" srcId="{EF6EF968-1E00-4F99-B36C-54E7A8A408F0}" destId="{C6E3ED6A-142D-497E-8F29-41E567CB6BDF}" srcOrd="2" destOrd="0" parTransId="{3D47202C-311F-4CCB-A809-FC56082F29CE}" sibTransId="{002FD678-3941-4BC8-BCC3-4EDE4354B426}"/>
    <dgm:cxn modelId="{FCC9BA42-1A76-4C96-915C-3FBA82CBA11D}" type="presParOf" srcId="{BABCBE8B-2378-425B-9F42-962D0CB3367A}" destId="{81D0799A-F6AF-47FD-A522-3848CDB88968}" srcOrd="0" destOrd="0" presId="urn:microsoft.com/office/officeart/2005/8/layout/hChevron3"/>
    <dgm:cxn modelId="{E4DBB01C-FE12-42C1-BC1E-21B90E7E4A03}" type="presParOf" srcId="{BABCBE8B-2378-425B-9F42-962D0CB3367A}" destId="{B1CC60A6-2F12-4241-93FA-90A2864F2C59}" srcOrd="1" destOrd="0" presId="urn:microsoft.com/office/officeart/2005/8/layout/hChevron3"/>
    <dgm:cxn modelId="{245CB972-FF05-4123-94A4-9BE002DEE241}" type="presParOf" srcId="{BABCBE8B-2378-425B-9F42-962D0CB3367A}" destId="{CEBD1413-A5B2-4AE8-9B29-30D2701C9293}" srcOrd="2" destOrd="0" presId="urn:microsoft.com/office/officeart/2005/8/layout/hChevron3"/>
    <dgm:cxn modelId="{F5E272CC-1689-4051-BC48-4A881A4A97D8}" type="presParOf" srcId="{BABCBE8B-2378-425B-9F42-962D0CB3367A}" destId="{F41B5281-230C-4C25-81C1-B53B56B402E4}" srcOrd="3" destOrd="0" presId="urn:microsoft.com/office/officeart/2005/8/layout/hChevron3"/>
    <dgm:cxn modelId="{7F889081-D9DE-4893-B75E-32AACC773617}" type="presParOf" srcId="{BABCBE8B-2378-425B-9F42-962D0CB3367A}" destId="{3F6833D0-2C43-43D0-8821-F7857A9889B5}" srcOrd="4" destOrd="0" presId="urn:microsoft.com/office/officeart/2005/8/layout/hChevron3"/>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6EF968-1E00-4F99-B36C-54E7A8A408F0}" type="doc">
      <dgm:prSet loTypeId="urn:microsoft.com/office/officeart/2005/8/layout/hChevron3" loCatId="process" qsTypeId="urn:microsoft.com/office/officeart/2005/8/quickstyle/simple1" qsCatId="simple" csTypeId="urn:microsoft.com/office/officeart/2005/8/colors/accent1_2" csCatId="accent1" phldr="1"/>
      <dgm:spPr/>
    </dgm:pt>
    <dgm:pt modelId="{DE185960-5D66-4C66-B944-70221958E34A}">
      <dgm:prSet phldrT="[Text]" custT="1"/>
      <dgm:spPr>
        <a:solidFill>
          <a:srgbClr val="C00000"/>
        </a:solidFill>
      </dgm:spPr>
      <dgm:t>
        <a:bodyPr/>
        <a:lstStyle/>
        <a:p>
          <a:pPr algn="l"/>
          <a:r>
            <a:rPr lang="en-IN" sz="1600" dirty="0"/>
            <a:t>Ye kya hua? Kaise hua? Kab hua? Kyun hua?</a:t>
          </a:r>
          <a:endParaRPr lang="en-US" sz="1600" dirty="0"/>
        </a:p>
      </dgm:t>
    </dgm:pt>
    <dgm:pt modelId="{5DEA7CAB-766B-4543-B4F4-4BE9FCE152BE}" type="parTrans" cxnId="{A17C9494-7045-4DF2-B314-5D5509909E13}">
      <dgm:prSet/>
      <dgm:spPr/>
      <dgm:t>
        <a:bodyPr/>
        <a:lstStyle/>
        <a:p>
          <a:endParaRPr lang="en-US"/>
        </a:p>
      </dgm:t>
    </dgm:pt>
    <dgm:pt modelId="{0BA775BE-10A6-4799-8EF4-F8F1EBD0B0AA}" type="sibTrans" cxnId="{A17C9494-7045-4DF2-B314-5D5509909E13}">
      <dgm:prSet/>
      <dgm:spPr/>
      <dgm:t>
        <a:bodyPr/>
        <a:lstStyle/>
        <a:p>
          <a:endParaRPr lang="en-US"/>
        </a:p>
      </dgm:t>
    </dgm:pt>
    <dgm:pt modelId="{49A95A5E-0249-4000-B8FB-367D1FB63810}">
      <dgm:prSet phldrT="[Text]"/>
      <dgm:spPr>
        <a:solidFill>
          <a:schemeClr val="tx1"/>
        </a:solidFill>
      </dgm:spPr>
      <dgm:t>
        <a:bodyPr/>
        <a:lstStyle/>
        <a:p>
          <a:pPr algn="l"/>
          <a:r>
            <a:rPr lang="en-IN" dirty="0"/>
            <a:t>         Fire Fighting PR Strategy</a:t>
          </a:r>
          <a:endParaRPr lang="en-US" dirty="0"/>
        </a:p>
      </dgm:t>
    </dgm:pt>
    <dgm:pt modelId="{4A828D30-AC33-4176-B574-775C3486AB11}" type="parTrans" cxnId="{04DD8265-AD19-42B6-92EC-0688E41BDF69}">
      <dgm:prSet/>
      <dgm:spPr/>
      <dgm:t>
        <a:bodyPr/>
        <a:lstStyle/>
        <a:p>
          <a:endParaRPr lang="en-US"/>
        </a:p>
      </dgm:t>
    </dgm:pt>
    <dgm:pt modelId="{B8D1B629-D7F8-4F5F-B1B9-AF586175418F}" type="sibTrans" cxnId="{04DD8265-AD19-42B6-92EC-0688E41BDF69}">
      <dgm:prSet/>
      <dgm:spPr/>
      <dgm:t>
        <a:bodyPr/>
        <a:lstStyle/>
        <a:p>
          <a:endParaRPr lang="en-US"/>
        </a:p>
      </dgm:t>
    </dgm:pt>
    <dgm:pt modelId="{C6E3ED6A-142D-497E-8F29-41E567CB6BDF}">
      <dgm:prSet phldrT="[Text]"/>
      <dgm:spPr>
        <a:solidFill>
          <a:srgbClr val="C00000"/>
        </a:solidFill>
      </dgm:spPr>
      <dgm:t>
        <a:bodyPr/>
        <a:lstStyle/>
        <a:p>
          <a:r>
            <a:rPr lang="en-IN" dirty="0"/>
            <a:t>Workaround and Timeline</a:t>
          </a:r>
          <a:endParaRPr lang="en-US" dirty="0"/>
        </a:p>
      </dgm:t>
    </dgm:pt>
    <dgm:pt modelId="{3D47202C-311F-4CCB-A809-FC56082F29CE}" type="parTrans" cxnId="{126E7DF9-D20E-4BB6-A1EC-DE7D326946AE}">
      <dgm:prSet/>
      <dgm:spPr/>
      <dgm:t>
        <a:bodyPr/>
        <a:lstStyle/>
        <a:p>
          <a:endParaRPr lang="en-US"/>
        </a:p>
      </dgm:t>
    </dgm:pt>
    <dgm:pt modelId="{002FD678-3941-4BC8-BCC3-4EDE4354B426}" type="sibTrans" cxnId="{126E7DF9-D20E-4BB6-A1EC-DE7D326946AE}">
      <dgm:prSet/>
      <dgm:spPr/>
      <dgm:t>
        <a:bodyPr/>
        <a:lstStyle/>
        <a:p>
          <a:endParaRPr lang="en-US"/>
        </a:p>
      </dgm:t>
    </dgm:pt>
    <dgm:pt modelId="{BABCBE8B-2378-425B-9F42-962D0CB3367A}" type="pres">
      <dgm:prSet presAssocID="{EF6EF968-1E00-4F99-B36C-54E7A8A408F0}" presName="Name0" presStyleCnt="0">
        <dgm:presLayoutVars>
          <dgm:dir/>
          <dgm:resizeHandles val="exact"/>
        </dgm:presLayoutVars>
      </dgm:prSet>
      <dgm:spPr/>
    </dgm:pt>
    <dgm:pt modelId="{81D0799A-F6AF-47FD-A522-3848CDB88968}" type="pres">
      <dgm:prSet presAssocID="{DE185960-5D66-4C66-B944-70221958E34A}" presName="parTxOnly" presStyleLbl="node1" presStyleIdx="0" presStyleCnt="3">
        <dgm:presLayoutVars>
          <dgm:bulletEnabled val="1"/>
        </dgm:presLayoutVars>
      </dgm:prSet>
      <dgm:spPr/>
    </dgm:pt>
    <dgm:pt modelId="{B1CC60A6-2F12-4241-93FA-90A2864F2C59}" type="pres">
      <dgm:prSet presAssocID="{0BA775BE-10A6-4799-8EF4-F8F1EBD0B0AA}" presName="parSpace" presStyleCnt="0"/>
      <dgm:spPr/>
    </dgm:pt>
    <dgm:pt modelId="{CEBD1413-A5B2-4AE8-9B29-30D2701C9293}" type="pres">
      <dgm:prSet presAssocID="{49A95A5E-0249-4000-B8FB-367D1FB63810}" presName="parTxOnly" presStyleLbl="node1" presStyleIdx="1" presStyleCnt="3">
        <dgm:presLayoutVars>
          <dgm:bulletEnabled val="1"/>
        </dgm:presLayoutVars>
      </dgm:prSet>
      <dgm:spPr/>
    </dgm:pt>
    <dgm:pt modelId="{F41B5281-230C-4C25-81C1-B53B56B402E4}" type="pres">
      <dgm:prSet presAssocID="{B8D1B629-D7F8-4F5F-B1B9-AF586175418F}" presName="parSpace" presStyleCnt="0"/>
      <dgm:spPr/>
    </dgm:pt>
    <dgm:pt modelId="{3F6833D0-2C43-43D0-8821-F7857A9889B5}" type="pres">
      <dgm:prSet presAssocID="{C6E3ED6A-142D-497E-8F29-41E567CB6BDF}" presName="parTxOnly" presStyleLbl="node1" presStyleIdx="2" presStyleCnt="3">
        <dgm:presLayoutVars>
          <dgm:bulletEnabled val="1"/>
        </dgm:presLayoutVars>
      </dgm:prSet>
      <dgm:spPr/>
    </dgm:pt>
  </dgm:ptLst>
  <dgm:cxnLst>
    <dgm:cxn modelId="{A329BB30-7CDF-4455-B17A-96F4221B6AF3}" type="presOf" srcId="{C6E3ED6A-142D-497E-8F29-41E567CB6BDF}" destId="{3F6833D0-2C43-43D0-8821-F7857A9889B5}" srcOrd="0" destOrd="0" presId="urn:microsoft.com/office/officeart/2005/8/layout/hChevron3"/>
    <dgm:cxn modelId="{04DD8265-AD19-42B6-92EC-0688E41BDF69}" srcId="{EF6EF968-1E00-4F99-B36C-54E7A8A408F0}" destId="{49A95A5E-0249-4000-B8FB-367D1FB63810}" srcOrd="1" destOrd="0" parTransId="{4A828D30-AC33-4176-B574-775C3486AB11}" sibTransId="{B8D1B629-D7F8-4F5F-B1B9-AF586175418F}"/>
    <dgm:cxn modelId="{ED12AC7D-C00F-4035-875A-BCF8F35409D9}" type="presOf" srcId="{49A95A5E-0249-4000-B8FB-367D1FB63810}" destId="{CEBD1413-A5B2-4AE8-9B29-30D2701C9293}" srcOrd="0" destOrd="0" presId="urn:microsoft.com/office/officeart/2005/8/layout/hChevron3"/>
    <dgm:cxn modelId="{A17C9494-7045-4DF2-B314-5D5509909E13}" srcId="{EF6EF968-1E00-4F99-B36C-54E7A8A408F0}" destId="{DE185960-5D66-4C66-B944-70221958E34A}" srcOrd="0" destOrd="0" parTransId="{5DEA7CAB-766B-4543-B4F4-4BE9FCE152BE}" sibTransId="{0BA775BE-10A6-4799-8EF4-F8F1EBD0B0AA}"/>
    <dgm:cxn modelId="{58FC889A-2836-476C-8B60-FB817A8B0A33}" type="presOf" srcId="{EF6EF968-1E00-4F99-B36C-54E7A8A408F0}" destId="{BABCBE8B-2378-425B-9F42-962D0CB3367A}" srcOrd="0" destOrd="0" presId="urn:microsoft.com/office/officeart/2005/8/layout/hChevron3"/>
    <dgm:cxn modelId="{1D9389BC-D520-465C-8792-D924D27CED6A}" type="presOf" srcId="{DE185960-5D66-4C66-B944-70221958E34A}" destId="{81D0799A-F6AF-47FD-A522-3848CDB88968}" srcOrd="0" destOrd="0" presId="urn:microsoft.com/office/officeart/2005/8/layout/hChevron3"/>
    <dgm:cxn modelId="{126E7DF9-D20E-4BB6-A1EC-DE7D326946AE}" srcId="{EF6EF968-1E00-4F99-B36C-54E7A8A408F0}" destId="{C6E3ED6A-142D-497E-8F29-41E567CB6BDF}" srcOrd="2" destOrd="0" parTransId="{3D47202C-311F-4CCB-A809-FC56082F29CE}" sibTransId="{002FD678-3941-4BC8-BCC3-4EDE4354B426}"/>
    <dgm:cxn modelId="{FCC9BA42-1A76-4C96-915C-3FBA82CBA11D}" type="presParOf" srcId="{BABCBE8B-2378-425B-9F42-962D0CB3367A}" destId="{81D0799A-F6AF-47FD-A522-3848CDB88968}" srcOrd="0" destOrd="0" presId="urn:microsoft.com/office/officeart/2005/8/layout/hChevron3"/>
    <dgm:cxn modelId="{E4DBB01C-FE12-42C1-BC1E-21B90E7E4A03}" type="presParOf" srcId="{BABCBE8B-2378-425B-9F42-962D0CB3367A}" destId="{B1CC60A6-2F12-4241-93FA-90A2864F2C59}" srcOrd="1" destOrd="0" presId="urn:microsoft.com/office/officeart/2005/8/layout/hChevron3"/>
    <dgm:cxn modelId="{245CB972-FF05-4123-94A4-9BE002DEE241}" type="presParOf" srcId="{BABCBE8B-2378-425B-9F42-962D0CB3367A}" destId="{CEBD1413-A5B2-4AE8-9B29-30D2701C9293}" srcOrd="2" destOrd="0" presId="urn:microsoft.com/office/officeart/2005/8/layout/hChevron3"/>
    <dgm:cxn modelId="{F5E272CC-1689-4051-BC48-4A881A4A97D8}" type="presParOf" srcId="{BABCBE8B-2378-425B-9F42-962D0CB3367A}" destId="{F41B5281-230C-4C25-81C1-B53B56B402E4}" srcOrd="3" destOrd="0" presId="urn:microsoft.com/office/officeart/2005/8/layout/hChevron3"/>
    <dgm:cxn modelId="{7F889081-D9DE-4893-B75E-32AACC773617}" type="presParOf" srcId="{BABCBE8B-2378-425B-9F42-962D0CB3367A}" destId="{3F6833D0-2C43-43D0-8821-F7857A9889B5}" srcOrd="4" destOrd="0" presId="urn:microsoft.com/office/officeart/2005/8/layout/hChevron3"/>
  </dgm:cxnLst>
  <dgm:bg>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F6EF968-1E00-4F99-B36C-54E7A8A408F0}" type="doc">
      <dgm:prSet loTypeId="urn:microsoft.com/office/officeart/2005/8/layout/hChevron3" loCatId="process" qsTypeId="urn:microsoft.com/office/officeart/2005/8/quickstyle/simple1" qsCatId="simple" csTypeId="urn:microsoft.com/office/officeart/2005/8/colors/accent1_2" csCatId="accent1" phldr="1"/>
      <dgm:spPr/>
    </dgm:pt>
    <dgm:pt modelId="{DE185960-5D66-4C66-B944-70221958E34A}">
      <dgm:prSet phldrT="[Text]" custT="1"/>
      <dgm:spPr>
        <a:solidFill>
          <a:srgbClr val="C00000"/>
        </a:solidFill>
      </dgm:spPr>
      <dgm:t>
        <a:bodyPr/>
        <a:lstStyle/>
        <a:p>
          <a:pPr algn="l"/>
          <a:r>
            <a:rPr lang="en-IN" sz="1600" dirty="0"/>
            <a:t>Ye kya hua? Kaise hua? Kab hua? Kyun hua?</a:t>
          </a:r>
          <a:endParaRPr lang="en-US" sz="1600" dirty="0"/>
        </a:p>
      </dgm:t>
    </dgm:pt>
    <dgm:pt modelId="{5DEA7CAB-766B-4543-B4F4-4BE9FCE152BE}" type="parTrans" cxnId="{A17C9494-7045-4DF2-B314-5D5509909E13}">
      <dgm:prSet/>
      <dgm:spPr/>
      <dgm:t>
        <a:bodyPr/>
        <a:lstStyle/>
        <a:p>
          <a:endParaRPr lang="en-US"/>
        </a:p>
      </dgm:t>
    </dgm:pt>
    <dgm:pt modelId="{0BA775BE-10A6-4799-8EF4-F8F1EBD0B0AA}" type="sibTrans" cxnId="{A17C9494-7045-4DF2-B314-5D5509909E13}">
      <dgm:prSet/>
      <dgm:spPr/>
      <dgm:t>
        <a:bodyPr/>
        <a:lstStyle/>
        <a:p>
          <a:endParaRPr lang="en-US"/>
        </a:p>
      </dgm:t>
    </dgm:pt>
    <dgm:pt modelId="{49A95A5E-0249-4000-B8FB-367D1FB63810}">
      <dgm:prSet phldrT="[Text]"/>
      <dgm:spPr>
        <a:solidFill>
          <a:srgbClr val="C00000"/>
        </a:solidFill>
      </dgm:spPr>
      <dgm:t>
        <a:bodyPr/>
        <a:lstStyle/>
        <a:p>
          <a:pPr algn="l"/>
          <a:r>
            <a:rPr lang="en-IN" dirty="0"/>
            <a:t>         Fire Fighting PR Strategy</a:t>
          </a:r>
          <a:endParaRPr lang="en-US" dirty="0"/>
        </a:p>
      </dgm:t>
    </dgm:pt>
    <dgm:pt modelId="{4A828D30-AC33-4176-B574-775C3486AB11}" type="parTrans" cxnId="{04DD8265-AD19-42B6-92EC-0688E41BDF69}">
      <dgm:prSet/>
      <dgm:spPr/>
      <dgm:t>
        <a:bodyPr/>
        <a:lstStyle/>
        <a:p>
          <a:endParaRPr lang="en-US"/>
        </a:p>
      </dgm:t>
    </dgm:pt>
    <dgm:pt modelId="{B8D1B629-D7F8-4F5F-B1B9-AF586175418F}" type="sibTrans" cxnId="{04DD8265-AD19-42B6-92EC-0688E41BDF69}">
      <dgm:prSet/>
      <dgm:spPr/>
      <dgm:t>
        <a:bodyPr/>
        <a:lstStyle/>
        <a:p>
          <a:endParaRPr lang="en-US"/>
        </a:p>
      </dgm:t>
    </dgm:pt>
    <dgm:pt modelId="{C6E3ED6A-142D-497E-8F29-41E567CB6BDF}">
      <dgm:prSet phldrT="[Text]"/>
      <dgm:spPr>
        <a:solidFill>
          <a:schemeClr val="tx1"/>
        </a:solidFill>
      </dgm:spPr>
      <dgm:t>
        <a:bodyPr/>
        <a:lstStyle/>
        <a:p>
          <a:r>
            <a:rPr lang="en-IN" dirty="0"/>
            <a:t>Workaround and Timeline</a:t>
          </a:r>
          <a:endParaRPr lang="en-US" dirty="0"/>
        </a:p>
      </dgm:t>
    </dgm:pt>
    <dgm:pt modelId="{3D47202C-311F-4CCB-A809-FC56082F29CE}" type="parTrans" cxnId="{126E7DF9-D20E-4BB6-A1EC-DE7D326946AE}">
      <dgm:prSet/>
      <dgm:spPr/>
      <dgm:t>
        <a:bodyPr/>
        <a:lstStyle/>
        <a:p>
          <a:endParaRPr lang="en-US"/>
        </a:p>
      </dgm:t>
    </dgm:pt>
    <dgm:pt modelId="{002FD678-3941-4BC8-BCC3-4EDE4354B426}" type="sibTrans" cxnId="{126E7DF9-D20E-4BB6-A1EC-DE7D326946AE}">
      <dgm:prSet/>
      <dgm:spPr/>
      <dgm:t>
        <a:bodyPr/>
        <a:lstStyle/>
        <a:p>
          <a:endParaRPr lang="en-US"/>
        </a:p>
      </dgm:t>
    </dgm:pt>
    <dgm:pt modelId="{BABCBE8B-2378-425B-9F42-962D0CB3367A}" type="pres">
      <dgm:prSet presAssocID="{EF6EF968-1E00-4F99-B36C-54E7A8A408F0}" presName="Name0" presStyleCnt="0">
        <dgm:presLayoutVars>
          <dgm:dir/>
          <dgm:resizeHandles val="exact"/>
        </dgm:presLayoutVars>
      </dgm:prSet>
      <dgm:spPr/>
    </dgm:pt>
    <dgm:pt modelId="{81D0799A-F6AF-47FD-A522-3848CDB88968}" type="pres">
      <dgm:prSet presAssocID="{DE185960-5D66-4C66-B944-70221958E34A}" presName="parTxOnly" presStyleLbl="node1" presStyleIdx="0" presStyleCnt="3">
        <dgm:presLayoutVars>
          <dgm:bulletEnabled val="1"/>
        </dgm:presLayoutVars>
      </dgm:prSet>
      <dgm:spPr/>
    </dgm:pt>
    <dgm:pt modelId="{B1CC60A6-2F12-4241-93FA-90A2864F2C59}" type="pres">
      <dgm:prSet presAssocID="{0BA775BE-10A6-4799-8EF4-F8F1EBD0B0AA}" presName="parSpace" presStyleCnt="0"/>
      <dgm:spPr/>
    </dgm:pt>
    <dgm:pt modelId="{CEBD1413-A5B2-4AE8-9B29-30D2701C9293}" type="pres">
      <dgm:prSet presAssocID="{49A95A5E-0249-4000-B8FB-367D1FB63810}" presName="parTxOnly" presStyleLbl="node1" presStyleIdx="1" presStyleCnt="3">
        <dgm:presLayoutVars>
          <dgm:bulletEnabled val="1"/>
        </dgm:presLayoutVars>
      </dgm:prSet>
      <dgm:spPr/>
    </dgm:pt>
    <dgm:pt modelId="{F41B5281-230C-4C25-81C1-B53B56B402E4}" type="pres">
      <dgm:prSet presAssocID="{B8D1B629-D7F8-4F5F-B1B9-AF586175418F}" presName="parSpace" presStyleCnt="0"/>
      <dgm:spPr/>
    </dgm:pt>
    <dgm:pt modelId="{3F6833D0-2C43-43D0-8821-F7857A9889B5}" type="pres">
      <dgm:prSet presAssocID="{C6E3ED6A-142D-497E-8F29-41E567CB6BDF}" presName="parTxOnly" presStyleLbl="node1" presStyleIdx="2" presStyleCnt="3">
        <dgm:presLayoutVars>
          <dgm:bulletEnabled val="1"/>
        </dgm:presLayoutVars>
      </dgm:prSet>
      <dgm:spPr/>
    </dgm:pt>
  </dgm:ptLst>
  <dgm:cxnLst>
    <dgm:cxn modelId="{A329BB30-7CDF-4455-B17A-96F4221B6AF3}" type="presOf" srcId="{C6E3ED6A-142D-497E-8F29-41E567CB6BDF}" destId="{3F6833D0-2C43-43D0-8821-F7857A9889B5}" srcOrd="0" destOrd="0" presId="urn:microsoft.com/office/officeart/2005/8/layout/hChevron3"/>
    <dgm:cxn modelId="{04DD8265-AD19-42B6-92EC-0688E41BDF69}" srcId="{EF6EF968-1E00-4F99-B36C-54E7A8A408F0}" destId="{49A95A5E-0249-4000-B8FB-367D1FB63810}" srcOrd="1" destOrd="0" parTransId="{4A828D30-AC33-4176-B574-775C3486AB11}" sibTransId="{B8D1B629-D7F8-4F5F-B1B9-AF586175418F}"/>
    <dgm:cxn modelId="{ED12AC7D-C00F-4035-875A-BCF8F35409D9}" type="presOf" srcId="{49A95A5E-0249-4000-B8FB-367D1FB63810}" destId="{CEBD1413-A5B2-4AE8-9B29-30D2701C9293}" srcOrd="0" destOrd="0" presId="urn:microsoft.com/office/officeart/2005/8/layout/hChevron3"/>
    <dgm:cxn modelId="{A17C9494-7045-4DF2-B314-5D5509909E13}" srcId="{EF6EF968-1E00-4F99-B36C-54E7A8A408F0}" destId="{DE185960-5D66-4C66-B944-70221958E34A}" srcOrd="0" destOrd="0" parTransId="{5DEA7CAB-766B-4543-B4F4-4BE9FCE152BE}" sibTransId="{0BA775BE-10A6-4799-8EF4-F8F1EBD0B0AA}"/>
    <dgm:cxn modelId="{58FC889A-2836-476C-8B60-FB817A8B0A33}" type="presOf" srcId="{EF6EF968-1E00-4F99-B36C-54E7A8A408F0}" destId="{BABCBE8B-2378-425B-9F42-962D0CB3367A}" srcOrd="0" destOrd="0" presId="urn:microsoft.com/office/officeart/2005/8/layout/hChevron3"/>
    <dgm:cxn modelId="{1D9389BC-D520-465C-8792-D924D27CED6A}" type="presOf" srcId="{DE185960-5D66-4C66-B944-70221958E34A}" destId="{81D0799A-F6AF-47FD-A522-3848CDB88968}" srcOrd="0" destOrd="0" presId="urn:microsoft.com/office/officeart/2005/8/layout/hChevron3"/>
    <dgm:cxn modelId="{126E7DF9-D20E-4BB6-A1EC-DE7D326946AE}" srcId="{EF6EF968-1E00-4F99-B36C-54E7A8A408F0}" destId="{C6E3ED6A-142D-497E-8F29-41E567CB6BDF}" srcOrd="2" destOrd="0" parTransId="{3D47202C-311F-4CCB-A809-FC56082F29CE}" sibTransId="{002FD678-3941-4BC8-BCC3-4EDE4354B426}"/>
    <dgm:cxn modelId="{FCC9BA42-1A76-4C96-915C-3FBA82CBA11D}" type="presParOf" srcId="{BABCBE8B-2378-425B-9F42-962D0CB3367A}" destId="{81D0799A-F6AF-47FD-A522-3848CDB88968}" srcOrd="0" destOrd="0" presId="urn:microsoft.com/office/officeart/2005/8/layout/hChevron3"/>
    <dgm:cxn modelId="{E4DBB01C-FE12-42C1-BC1E-21B90E7E4A03}" type="presParOf" srcId="{BABCBE8B-2378-425B-9F42-962D0CB3367A}" destId="{B1CC60A6-2F12-4241-93FA-90A2864F2C59}" srcOrd="1" destOrd="0" presId="urn:microsoft.com/office/officeart/2005/8/layout/hChevron3"/>
    <dgm:cxn modelId="{245CB972-FF05-4123-94A4-9BE002DEE241}" type="presParOf" srcId="{BABCBE8B-2378-425B-9F42-962D0CB3367A}" destId="{CEBD1413-A5B2-4AE8-9B29-30D2701C9293}" srcOrd="2" destOrd="0" presId="urn:microsoft.com/office/officeart/2005/8/layout/hChevron3"/>
    <dgm:cxn modelId="{F5E272CC-1689-4051-BC48-4A881A4A97D8}" type="presParOf" srcId="{BABCBE8B-2378-425B-9F42-962D0CB3367A}" destId="{F41B5281-230C-4C25-81C1-B53B56B402E4}" srcOrd="3" destOrd="0" presId="urn:microsoft.com/office/officeart/2005/8/layout/hChevron3"/>
    <dgm:cxn modelId="{7F889081-D9DE-4893-B75E-32AACC773617}" type="presParOf" srcId="{BABCBE8B-2378-425B-9F42-962D0CB3367A}" destId="{3F6833D0-2C43-43D0-8821-F7857A9889B5}" srcOrd="4" destOrd="0" presId="urn:microsoft.com/office/officeart/2005/8/layout/hChevron3"/>
  </dgm:cxnLst>
  <dgm:bg>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0799A-F6AF-47FD-A522-3848CDB88968}">
      <dsp:nvSpPr>
        <dsp:cNvPr id="0" name=""/>
        <dsp:cNvSpPr/>
      </dsp:nvSpPr>
      <dsp:spPr>
        <a:xfrm>
          <a:off x="5342" y="0"/>
          <a:ext cx="4671427" cy="369783"/>
        </a:xfrm>
        <a:prstGeom prst="homePlate">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IN" sz="1600" kern="1200" dirty="0"/>
            <a:t>Ye kya hua? Kaise hua? Kab hua? Kyun hua?</a:t>
          </a:r>
          <a:endParaRPr lang="en-US" sz="1600" kern="1200" dirty="0"/>
        </a:p>
      </dsp:txBody>
      <dsp:txXfrm>
        <a:off x="5342" y="0"/>
        <a:ext cx="4578981" cy="369783"/>
      </dsp:txXfrm>
    </dsp:sp>
    <dsp:sp modelId="{CEBD1413-A5B2-4AE8-9B29-30D2701C9293}">
      <dsp:nvSpPr>
        <dsp:cNvPr id="0" name=""/>
        <dsp:cNvSpPr/>
      </dsp:nvSpPr>
      <dsp:spPr>
        <a:xfrm>
          <a:off x="3742483" y="0"/>
          <a:ext cx="4671427" cy="369783"/>
        </a:xfrm>
        <a:prstGeom prst="chevron">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l" defTabSz="844550">
            <a:lnSpc>
              <a:spcPct val="90000"/>
            </a:lnSpc>
            <a:spcBef>
              <a:spcPct val="0"/>
            </a:spcBef>
            <a:spcAft>
              <a:spcPct val="35000"/>
            </a:spcAft>
            <a:buNone/>
          </a:pPr>
          <a:r>
            <a:rPr lang="en-IN" sz="1900" kern="1200" dirty="0"/>
            <a:t>         Fire Fighting PR Strategy</a:t>
          </a:r>
          <a:endParaRPr lang="en-US" sz="1900" kern="1200" dirty="0"/>
        </a:p>
      </dsp:txBody>
      <dsp:txXfrm>
        <a:off x="3927375" y="0"/>
        <a:ext cx="4301644" cy="369783"/>
      </dsp:txXfrm>
    </dsp:sp>
    <dsp:sp modelId="{3F6833D0-2C43-43D0-8821-F7857A9889B5}">
      <dsp:nvSpPr>
        <dsp:cNvPr id="0" name=""/>
        <dsp:cNvSpPr/>
      </dsp:nvSpPr>
      <dsp:spPr>
        <a:xfrm>
          <a:off x="7479625" y="0"/>
          <a:ext cx="4671427" cy="369783"/>
        </a:xfrm>
        <a:prstGeom prst="chevron">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ctr" defTabSz="844550">
            <a:lnSpc>
              <a:spcPct val="90000"/>
            </a:lnSpc>
            <a:spcBef>
              <a:spcPct val="0"/>
            </a:spcBef>
            <a:spcAft>
              <a:spcPct val="35000"/>
            </a:spcAft>
            <a:buNone/>
          </a:pPr>
          <a:r>
            <a:rPr lang="en-IN" sz="1900" kern="1200" dirty="0"/>
            <a:t>Workaround and Timeline</a:t>
          </a:r>
          <a:endParaRPr lang="en-US" sz="1900" kern="1200" dirty="0"/>
        </a:p>
      </dsp:txBody>
      <dsp:txXfrm>
        <a:off x="7664517" y="0"/>
        <a:ext cx="4301644" cy="3697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0799A-F6AF-47FD-A522-3848CDB88968}">
      <dsp:nvSpPr>
        <dsp:cNvPr id="0" name=""/>
        <dsp:cNvSpPr/>
      </dsp:nvSpPr>
      <dsp:spPr>
        <a:xfrm>
          <a:off x="5342" y="0"/>
          <a:ext cx="4671427" cy="369783"/>
        </a:xfrm>
        <a:prstGeom prst="homePlate">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IN" sz="1600" kern="1200" dirty="0"/>
            <a:t>Ye kya hua? Kaise hua? Kab hua? Kyun hua?</a:t>
          </a:r>
          <a:endParaRPr lang="en-US" sz="1600" kern="1200" dirty="0"/>
        </a:p>
      </dsp:txBody>
      <dsp:txXfrm>
        <a:off x="5342" y="0"/>
        <a:ext cx="4578981" cy="369783"/>
      </dsp:txXfrm>
    </dsp:sp>
    <dsp:sp modelId="{CEBD1413-A5B2-4AE8-9B29-30D2701C9293}">
      <dsp:nvSpPr>
        <dsp:cNvPr id="0" name=""/>
        <dsp:cNvSpPr/>
      </dsp:nvSpPr>
      <dsp:spPr>
        <a:xfrm>
          <a:off x="3742483" y="0"/>
          <a:ext cx="4671427" cy="369783"/>
        </a:xfrm>
        <a:prstGeom prst="chevron">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l" defTabSz="844550">
            <a:lnSpc>
              <a:spcPct val="90000"/>
            </a:lnSpc>
            <a:spcBef>
              <a:spcPct val="0"/>
            </a:spcBef>
            <a:spcAft>
              <a:spcPct val="35000"/>
            </a:spcAft>
            <a:buNone/>
          </a:pPr>
          <a:r>
            <a:rPr lang="en-IN" sz="1900" kern="1200" dirty="0"/>
            <a:t>         Fire Fighting PR Strategy</a:t>
          </a:r>
          <a:endParaRPr lang="en-US" sz="1900" kern="1200" dirty="0"/>
        </a:p>
      </dsp:txBody>
      <dsp:txXfrm>
        <a:off x="3927375" y="0"/>
        <a:ext cx="4301644" cy="369783"/>
      </dsp:txXfrm>
    </dsp:sp>
    <dsp:sp modelId="{3F6833D0-2C43-43D0-8821-F7857A9889B5}">
      <dsp:nvSpPr>
        <dsp:cNvPr id="0" name=""/>
        <dsp:cNvSpPr/>
      </dsp:nvSpPr>
      <dsp:spPr>
        <a:xfrm>
          <a:off x="7479625" y="0"/>
          <a:ext cx="4671427" cy="369783"/>
        </a:xfrm>
        <a:prstGeom prst="chevron">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ctr" defTabSz="844550">
            <a:lnSpc>
              <a:spcPct val="90000"/>
            </a:lnSpc>
            <a:spcBef>
              <a:spcPct val="0"/>
            </a:spcBef>
            <a:spcAft>
              <a:spcPct val="35000"/>
            </a:spcAft>
            <a:buNone/>
          </a:pPr>
          <a:r>
            <a:rPr lang="en-IN" sz="1900" kern="1200" dirty="0"/>
            <a:t>Workaround and Timeline</a:t>
          </a:r>
          <a:endParaRPr lang="en-US" sz="1900" kern="1200" dirty="0"/>
        </a:p>
      </dsp:txBody>
      <dsp:txXfrm>
        <a:off x="7664517" y="0"/>
        <a:ext cx="4301644" cy="36978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0799A-F6AF-47FD-A522-3848CDB88968}">
      <dsp:nvSpPr>
        <dsp:cNvPr id="0" name=""/>
        <dsp:cNvSpPr/>
      </dsp:nvSpPr>
      <dsp:spPr>
        <a:xfrm>
          <a:off x="5342" y="0"/>
          <a:ext cx="4671427" cy="369783"/>
        </a:xfrm>
        <a:prstGeom prst="homePlate">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IN" sz="1600" kern="1200" dirty="0"/>
            <a:t>Ye kya hua? Kaise hua? Kab hua? Kyun hua?</a:t>
          </a:r>
          <a:endParaRPr lang="en-US" sz="1600" kern="1200" dirty="0"/>
        </a:p>
      </dsp:txBody>
      <dsp:txXfrm>
        <a:off x="5342" y="0"/>
        <a:ext cx="4578981" cy="369783"/>
      </dsp:txXfrm>
    </dsp:sp>
    <dsp:sp modelId="{CEBD1413-A5B2-4AE8-9B29-30D2701C9293}">
      <dsp:nvSpPr>
        <dsp:cNvPr id="0" name=""/>
        <dsp:cNvSpPr/>
      </dsp:nvSpPr>
      <dsp:spPr>
        <a:xfrm>
          <a:off x="3742483" y="0"/>
          <a:ext cx="4671427" cy="369783"/>
        </a:xfrm>
        <a:prstGeom prst="chevron">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l" defTabSz="844550">
            <a:lnSpc>
              <a:spcPct val="90000"/>
            </a:lnSpc>
            <a:spcBef>
              <a:spcPct val="0"/>
            </a:spcBef>
            <a:spcAft>
              <a:spcPct val="35000"/>
            </a:spcAft>
            <a:buNone/>
          </a:pPr>
          <a:r>
            <a:rPr lang="en-IN" sz="1900" kern="1200" dirty="0"/>
            <a:t>         Fire Fighting PR Strategy</a:t>
          </a:r>
          <a:endParaRPr lang="en-US" sz="1900" kern="1200" dirty="0"/>
        </a:p>
      </dsp:txBody>
      <dsp:txXfrm>
        <a:off x="3927375" y="0"/>
        <a:ext cx="4301644" cy="369783"/>
      </dsp:txXfrm>
    </dsp:sp>
    <dsp:sp modelId="{3F6833D0-2C43-43D0-8821-F7857A9889B5}">
      <dsp:nvSpPr>
        <dsp:cNvPr id="0" name=""/>
        <dsp:cNvSpPr/>
      </dsp:nvSpPr>
      <dsp:spPr>
        <a:xfrm>
          <a:off x="7479625" y="0"/>
          <a:ext cx="4671427" cy="369783"/>
        </a:xfrm>
        <a:prstGeom prst="chevron">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010" tIns="50673" rIns="25337" bIns="50673" numCol="1" spcCol="1270" anchor="ctr" anchorCtr="0">
          <a:noAutofit/>
        </a:bodyPr>
        <a:lstStyle/>
        <a:p>
          <a:pPr marL="0" lvl="0" indent="0" algn="ctr" defTabSz="844550">
            <a:lnSpc>
              <a:spcPct val="90000"/>
            </a:lnSpc>
            <a:spcBef>
              <a:spcPct val="0"/>
            </a:spcBef>
            <a:spcAft>
              <a:spcPct val="35000"/>
            </a:spcAft>
            <a:buNone/>
          </a:pPr>
          <a:r>
            <a:rPr lang="en-IN" sz="1900" kern="1200" dirty="0"/>
            <a:t>Workaround and Timeline</a:t>
          </a:r>
          <a:endParaRPr lang="en-US" sz="1900" kern="1200" dirty="0"/>
        </a:p>
      </dsp:txBody>
      <dsp:txXfrm>
        <a:off x="7664517" y="0"/>
        <a:ext cx="4301644" cy="36978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F4690B-F4EF-4809-A781-F76925D96B5F}" type="datetimeFigureOut">
              <a:rPr lang="en-US" smtClean="0"/>
              <a:t>11/11/2022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1FB0CE-9BB5-4D69-AEDF-24D0EC4CC166}" type="slidenum">
              <a:rPr lang="en-US" smtClean="0"/>
              <a:t>‹#›</a:t>
            </a:fld>
            <a:endParaRPr lang="en-US"/>
          </a:p>
        </p:txBody>
      </p:sp>
    </p:spTree>
    <p:extLst>
      <p:ext uri="{BB962C8B-B14F-4D97-AF65-F5344CB8AC3E}">
        <p14:creationId xmlns:p14="http://schemas.microsoft.com/office/powerpoint/2010/main" val="3758297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1FB0CE-9BB5-4D69-AEDF-24D0EC4CC166}" type="slidenum">
              <a:rPr lang="en-US" smtClean="0"/>
              <a:t>2</a:t>
            </a:fld>
            <a:endParaRPr lang="en-US"/>
          </a:p>
        </p:txBody>
      </p:sp>
    </p:spTree>
    <p:extLst>
      <p:ext uri="{BB962C8B-B14F-4D97-AF65-F5344CB8AC3E}">
        <p14:creationId xmlns:p14="http://schemas.microsoft.com/office/powerpoint/2010/main" val="4048871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6C50B-142D-B7C3-197F-6E465CDEE5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F0DFEF-63F1-BC96-A2AA-3C9544FD9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151B7B-752C-B5D4-2266-0FB035040F48}"/>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832C3B18-AE02-2883-A68F-0CC5E93D3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224FA-5D72-6817-0A3E-FB3090251D9A}"/>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320774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0BD76-52D3-ECE8-8E95-1898DD7605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C9EFCA-C58F-C525-4183-2AFB55159F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01B2ED-E792-972B-E87E-A384DB717842}"/>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54F14E95-71BE-F5F9-8AD8-455D23440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3A83D-AD82-B1EE-B4F9-D4C849044ADD}"/>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208524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8EE0-BA68-7BEB-A9AA-A116B5D612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90270B-B296-D127-7CBF-12306D7DF2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EBAFE2-A3B1-08AB-80B7-DD027BAF06E7}"/>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AD451FB4-6CDA-B394-3909-06FC05422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413691-9217-0CC4-9858-5C4933E17F58}"/>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3571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2FD6-2E3C-F389-8344-C0E09152E6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3A1384-E104-3264-B632-6BD365EB59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175137-0486-1D22-E970-F758195899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3B0A5A-D720-E184-FFA5-A7875930A077}"/>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6" name="Footer Placeholder 5">
            <a:extLst>
              <a:ext uri="{FF2B5EF4-FFF2-40B4-BE49-F238E27FC236}">
                <a16:creationId xmlns:a16="http://schemas.microsoft.com/office/drawing/2014/main" id="{006B189F-4A5A-7C90-5778-E7B4E0E8ED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A1B061-761C-8051-3E3F-E91EAC32416C}"/>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89476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403B-7A04-A3B5-A8BE-D854E4694C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5BD158-7977-6EDA-79EB-DF378D2A47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47AFF-4CAD-B95C-7584-4E9F9BB242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F5E466-DFF3-E342-BFAF-90C597E81E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780FD9-8A63-6CEF-1B0C-2D6CED253F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5D45F9-446D-4864-6209-8A538979959C}"/>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8" name="Footer Placeholder 7">
            <a:extLst>
              <a:ext uri="{FF2B5EF4-FFF2-40B4-BE49-F238E27FC236}">
                <a16:creationId xmlns:a16="http://schemas.microsoft.com/office/drawing/2014/main" id="{722AD03C-2FB1-A1D7-12C0-D8936FD509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BF426B-8876-47E4-CE04-F86C3BB6D43A}"/>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203061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606E9-1F0A-B51E-6C93-6C0A8C0D0F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18A239-3947-29CD-13EE-B5444B0E4C98}"/>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4" name="Footer Placeholder 3">
            <a:extLst>
              <a:ext uri="{FF2B5EF4-FFF2-40B4-BE49-F238E27FC236}">
                <a16:creationId xmlns:a16="http://schemas.microsoft.com/office/drawing/2014/main" id="{94E9B00B-C4B5-F2DF-C587-205DF3B841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2142F3-CFD4-1287-1911-2E1171E5367A}"/>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3560972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1DD4D5-22A4-0FF3-4C2F-4F8FBE5DE7A7}"/>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3" name="Footer Placeholder 2">
            <a:extLst>
              <a:ext uri="{FF2B5EF4-FFF2-40B4-BE49-F238E27FC236}">
                <a16:creationId xmlns:a16="http://schemas.microsoft.com/office/drawing/2014/main" id="{B421EE5C-7B45-E6A3-F2CD-10C10E065E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0056FF-E38B-44E1-9C77-D63EFB00B978}"/>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325879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109A-C61B-F365-963A-0BAEDC1E6F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BAAFE9-7868-5E65-8F8F-F97758F493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AB1EE1-5044-EAC6-CE6D-33C5E6D39C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E6D753-58FC-0F61-CC70-E5CAE67BDE42}"/>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6" name="Footer Placeholder 5">
            <a:extLst>
              <a:ext uri="{FF2B5EF4-FFF2-40B4-BE49-F238E27FC236}">
                <a16:creationId xmlns:a16="http://schemas.microsoft.com/office/drawing/2014/main" id="{6402A7B5-64D8-69C6-773B-C925DDD4F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ACFF14-BD95-F3B9-0860-D1E86A59FB9A}"/>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3858187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FBF87-CBC1-38F1-8895-84614B7F69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169EB1-6F2F-3434-7FCA-3AFFBF2DFF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3029B5-E0E2-5996-0668-837FA72D8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0AB153-0ECB-344D-89ED-D94D2C9A2AA8}"/>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6" name="Footer Placeholder 5">
            <a:extLst>
              <a:ext uri="{FF2B5EF4-FFF2-40B4-BE49-F238E27FC236}">
                <a16:creationId xmlns:a16="http://schemas.microsoft.com/office/drawing/2014/main" id="{7921A5C2-8168-73F3-C32B-4AD6E47752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C9329E-E4B5-A8DB-1819-52E0BF70B732}"/>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1596011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C232-784F-ECDF-9E39-33E26946BF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0894A9-0550-7180-9F84-89C77D6CDE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8839B-D98B-4031-49B7-C563E48582DC}"/>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15C7CEBB-CB45-BAFF-D7D3-45EF18E69C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58480-1C8B-061A-9DBE-2AC731C788FF}"/>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2062043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C4B871-71D6-E36E-29D6-E79E4C7D42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3F6053-BBC9-E61D-9F7C-29B3197848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FAEF7-1988-19F6-1860-D734DBB7D75C}"/>
              </a:ext>
            </a:extLst>
          </p:cNvPr>
          <p:cNvSpPr>
            <a:spLocks noGrp="1"/>
          </p:cNvSpPr>
          <p:nvPr>
            <p:ph type="dt" sz="half" idx="10"/>
          </p:nvPr>
        </p:nvSpPr>
        <p:spPr/>
        <p:txBody>
          <a:body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29645600-373B-30B2-2A7C-9951CF11F8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F19F36-8D5B-C6DB-64CA-80F959D35B83}"/>
              </a:ext>
            </a:extLst>
          </p:cNvPr>
          <p:cNvSpPr>
            <a:spLocks noGrp="1"/>
          </p:cNvSpPr>
          <p:nvPr>
            <p:ph type="sldNum" sz="quarter" idx="12"/>
          </p:nvPr>
        </p:nvSpPr>
        <p:spPr/>
        <p:txBody>
          <a:bodyPr/>
          <a:lstStyle/>
          <a:p>
            <a:fld id="{5EFC6549-C48B-4A6D-A5A9-B9405FA01934}" type="slidenum">
              <a:rPr lang="en-US" smtClean="0"/>
              <a:t>‹#›</a:t>
            </a:fld>
            <a:endParaRPr lang="en-US"/>
          </a:p>
        </p:txBody>
      </p:sp>
    </p:spTree>
    <p:extLst>
      <p:ext uri="{BB962C8B-B14F-4D97-AF65-F5344CB8AC3E}">
        <p14:creationId xmlns:p14="http://schemas.microsoft.com/office/powerpoint/2010/main" val="643089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AFABD6-FF5D-B3B1-BDC4-B1F7548BCE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D3C00E-53C3-DC87-EB7C-3674BF551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E2072-67D0-A53E-3CBA-35705E5D94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25E34F-A2E6-4964-93C3-67D2DE2A3697}" type="datetimeFigureOut">
              <a:rPr lang="en-US" smtClean="0"/>
              <a:t>11/11/2022</a:t>
            </a:fld>
            <a:endParaRPr lang="en-US"/>
          </a:p>
        </p:txBody>
      </p:sp>
      <p:sp>
        <p:nvSpPr>
          <p:cNvPr id="5" name="Footer Placeholder 4">
            <a:extLst>
              <a:ext uri="{FF2B5EF4-FFF2-40B4-BE49-F238E27FC236}">
                <a16:creationId xmlns:a16="http://schemas.microsoft.com/office/drawing/2014/main" id="{31C51003-D96A-FDC6-0B9A-04D70834D2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60864C-9C82-70F5-9C44-5AB19C7598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C6549-C48B-4A6D-A5A9-B9405FA01934}" type="slidenum">
              <a:rPr lang="en-US" smtClean="0"/>
              <a:t>‹#›</a:t>
            </a:fld>
            <a:endParaRPr lang="en-US"/>
          </a:p>
        </p:txBody>
      </p:sp>
    </p:spTree>
    <p:extLst>
      <p:ext uri="{BB962C8B-B14F-4D97-AF65-F5344CB8AC3E}">
        <p14:creationId xmlns:p14="http://schemas.microsoft.com/office/powerpoint/2010/main" val="900680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3.xml"/><Relationship Id="rId7" Type="http://schemas.openxmlformats.org/officeDocument/2006/relationships/chart" Target="../charts/chart1.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11.png"/><Relationship Id="rId4" Type="http://schemas.openxmlformats.org/officeDocument/2006/relationships/diagramQuickStyle" Target="../diagrams/quickStyle3.xml"/><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72B85FB-CF4F-E3B3-927A-2AA7A63293C7}"/>
              </a:ext>
            </a:extLst>
          </p:cNvPr>
          <p:cNvSpPr/>
          <p:nvPr/>
        </p:nvSpPr>
        <p:spPr>
          <a:xfrm>
            <a:off x="2942893" y="1864641"/>
            <a:ext cx="6306207" cy="3508953"/>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 name="Group 4">
            <a:extLst>
              <a:ext uri="{FF2B5EF4-FFF2-40B4-BE49-F238E27FC236}">
                <a16:creationId xmlns:a16="http://schemas.microsoft.com/office/drawing/2014/main" id="{9B72775A-7430-7820-A7A8-594F35FAED7E}"/>
              </a:ext>
            </a:extLst>
          </p:cNvPr>
          <p:cNvGrpSpPr/>
          <p:nvPr/>
        </p:nvGrpSpPr>
        <p:grpSpPr>
          <a:xfrm>
            <a:off x="3983418" y="3290850"/>
            <a:ext cx="4225159" cy="1114106"/>
            <a:chOff x="3983420" y="3303309"/>
            <a:chExt cx="4225159" cy="1114106"/>
          </a:xfrm>
        </p:grpSpPr>
        <p:pic>
          <p:nvPicPr>
            <p:cNvPr id="6" name="Picture 5" descr="A person with long hair wearing glasses&#10;&#10;Description automatically generated with low confidence">
              <a:extLst>
                <a:ext uri="{FF2B5EF4-FFF2-40B4-BE49-F238E27FC236}">
                  <a16:creationId xmlns:a16="http://schemas.microsoft.com/office/drawing/2014/main" id="{1D6D7048-FE51-B39D-5E70-1A730AC0D9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721" y="3303310"/>
              <a:ext cx="940858" cy="1114104"/>
            </a:xfrm>
            <a:prstGeom prst="rect">
              <a:avLst/>
            </a:prstGeom>
            <a:effectLst>
              <a:outerShdw blurRad="50800" dist="38100" dir="2700000" algn="tl" rotWithShape="0">
                <a:prstClr val="black">
                  <a:alpha val="40000"/>
                </a:prstClr>
              </a:outerShdw>
            </a:effectLst>
          </p:spPr>
        </p:pic>
        <p:pic>
          <p:nvPicPr>
            <p:cNvPr id="7" name="Picture 6" descr="A person in a suit and tie&#10;&#10;Description automatically generated">
              <a:extLst>
                <a:ext uri="{FF2B5EF4-FFF2-40B4-BE49-F238E27FC236}">
                  <a16:creationId xmlns:a16="http://schemas.microsoft.com/office/drawing/2014/main" id="{D9ED7C34-7A02-2956-BC3A-DA96F3D9E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420" y="3303311"/>
              <a:ext cx="940859" cy="1114104"/>
            </a:xfrm>
            <a:prstGeom prst="rect">
              <a:avLst/>
            </a:prstGeom>
            <a:effectLst>
              <a:outerShdw blurRad="50800" dist="38100" dir="2700000" algn="tl" rotWithShape="0">
                <a:prstClr val="black">
                  <a:alpha val="40000"/>
                </a:prstClr>
              </a:outerShdw>
            </a:effectLst>
          </p:spPr>
        </p:pic>
        <p:pic>
          <p:nvPicPr>
            <p:cNvPr id="8" name="Picture 7" descr="A person wearing glasses and a suit&#10;&#10;Description automatically generated with medium confidence">
              <a:extLst>
                <a:ext uri="{FF2B5EF4-FFF2-40B4-BE49-F238E27FC236}">
                  <a16:creationId xmlns:a16="http://schemas.microsoft.com/office/drawing/2014/main" id="{CAA6F389-52CA-38E3-BE54-4BDCC03958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25571" y="3303309"/>
              <a:ext cx="940858" cy="1114105"/>
            </a:xfrm>
            <a:prstGeom prst="rect">
              <a:avLst/>
            </a:prstGeom>
            <a:effectLst>
              <a:outerShdw blurRad="50800" dist="38100" dir="2700000" algn="tl" rotWithShape="0">
                <a:prstClr val="black">
                  <a:alpha val="40000"/>
                </a:prstClr>
              </a:outerShdw>
            </a:effectLst>
          </p:spPr>
        </p:pic>
      </p:grpSp>
      <p:sp>
        <p:nvSpPr>
          <p:cNvPr id="9" name="Subtitle 2">
            <a:extLst>
              <a:ext uri="{FF2B5EF4-FFF2-40B4-BE49-F238E27FC236}">
                <a16:creationId xmlns:a16="http://schemas.microsoft.com/office/drawing/2014/main" id="{A4E27661-1702-CEEB-97BE-FC8B3BB8C304}"/>
              </a:ext>
            </a:extLst>
          </p:cNvPr>
          <p:cNvSpPr txBox="1">
            <a:spLocks/>
          </p:cNvSpPr>
          <p:nvPr/>
        </p:nvSpPr>
        <p:spPr>
          <a:xfrm>
            <a:off x="3802024" y="4500321"/>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600" b="1" dirty="0"/>
              <a:t>Devesh Sinha           Mohit Kiradoo           Kajal Gupta</a:t>
            </a:r>
          </a:p>
        </p:txBody>
      </p:sp>
      <p:sp>
        <p:nvSpPr>
          <p:cNvPr id="10" name="Subtitle 2">
            <a:extLst>
              <a:ext uri="{FF2B5EF4-FFF2-40B4-BE49-F238E27FC236}">
                <a16:creationId xmlns:a16="http://schemas.microsoft.com/office/drawing/2014/main" id="{58119933-1D3A-F171-0A44-E18DE23DD9E1}"/>
              </a:ext>
            </a:extLst>
          </p:cNvPr>
          <p:cNvSpPr txBox="1">
            <a:spLocks/>
          </p:cNvSpPr>
          <p:nvPr/>
        </p:nvSpPr>
        <p:spPr>
          <a:xfrm>
            <a:off x="3714044" y="4871966"/>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t>T. A. Pai Management Institute</a:t>
            </a:r>
          </a:p>
        </p:txBody>
      </p:sp>
      <p:sp>
        <p:nvSpPr>
          <p:cNvPr id="11" name="Subtitle 2">
            <a:extLst>
              <a:ext uri="{FF2B5EF4-FFF2-40B4-BE49-F238E27FC236}">
                <a16:creationId xmlns:a16="http://schemas.microsoft.com/office/drawing/2014/main" id="{2D1C0A90-98B1-7B70-4C34-19E04AF869FA}"/>
              </a:ext>
            </a:extLst>
          </p:cNvPr>
          <p:cNvSpPr txBox="1">
            <a:spLocks/>
          </p:cNvSpPr>
          <p:nvPr/>
        </p:nvSpPr>
        <p:spPr>
          <a:xfrm>
            <a:off x="4337951" y="1637999"/>
            <a:ext cx="3516090" cy="35791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Team SORTED</a:t>
            </a:r>
          </a:p>
        </p:txBody>
      </p:sp>
      <p:pic>
        <p:nvPicPr>
          <p:cNvPr id="13" name="Picture 12">
            <a:extLst>
              <a:ext uri="{FF2B5EF4-FFF2-40B4-BE49-F238E27FC236}">
                <a16:creationId xmlns:a16="http://schemas.microsoft.com/office/drawing/2014/main" id="{12889508-AA5D-CC72-A2E3-5CA0A5B8B6AD}"/>
              </a:ext>
            </a:extLst>
          </p:cNvPr>
          <p:cNvPicPr>
            <a:picLocks noChangeAspect="1"/>
          </p:cNvPicPr>
          <p:nvPr/>
        </p:nvPicPr>
        <p:blipFill>
          <a:blip r:embed="rId6"/>
          <a:stretch>
            <a:fillRect/>
          </a:stretch>
        </p:blipFill>
        <p:spPr>
          <a:xfrm>
            <a:off x="4751682" y="2186580"/>
            <a:ext cx="2864589" cy="782329"/>
          </a:xfrm>
          <a:prstGeom prst="rect">
            <a:avLst/>
          </a:prstGeom>
        </p:spPr>
      </p:pic>
    </p:spTree>
    <p:extLst>
      <p:ext uri="{BB962C8B-B14F-4D97-AF65-F5344CB8AC3E}">
        <p14:creationId xmlns:p14="http://schemas.microsoft.com/office/powerpoint/2010/main" val="1527266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Diagram 28">
            <a:extLst>
              <a:ext uri="{FF2B5EF4-FFF2-40B4-BE49-F238E27FC236}">
                <a16:creationId xmlns:a16="http://schemas.microsoft.com/office/drawing/2014/main" id="{894CD4AE-7E56-8D0C-EAE1-25A6849565B0}"/>
              </a:ext>
            </a:extLst>
          </p:cNvPr>
          <p:cNvGraphicFramePr/>
          <p:nvPr>
            <p:extLst>
              <p:ext uri="{D42A27DB-BD31-4B8C-83A1-F6EECF244321}">
                <p14:modId xmlns:p14="http://schemas.microsoft.com/office/powerpoint/2010/main" val="895092607"/>
              </p:ext>
            </p:extLst>
          </p:nvPr>
        </p:nvGraphicFramePr>
        <p:xfrm>
          <a:off x="17802" y="11772"/>
          <a:ext cx="12156395" cy="3697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3" name="Google Shape;440;p21">
            <a:extLst>
              <a:ext uri="{FF2B5EF4-FFF2-40B4-BE49-F238E27FC236}">
                <a16:creationId xmlns:a16="http://schemas.microsoft.com/office/drawing/2014/main" id="{9F87498A-A935-A494-A1FF-F54E5FA3DA6A}"/>
              </a:ext>
            </a:extLst>
          </p:cNvPr>
          <p:cNvSpPr txBox="1"/>
          <p:nvPr/>
        </p:nvSpPr>
        <p:spPr>
          <a:xfrm>
            <a:off x="82096" y="406268"/>
            <a:ext cx="2476047" cy="42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600" b="1" dirty="0">
                <a:solidFill>
                  <a:srgbClr val="434343"/>
                </a:solidFill>
                <a:ea typeface="Fira Sans Extra Condensed Medium"/>
                <a:cs typeface="Fira Sans Extra Condensed Medium"/>
                <a:sym typeface="Fira Sans Extra Condensed Medium"/>
              </a:rPr>
              <a:t>O</a:t>
            </a:r>
            <a:r>
              <a:rPr lang="en" sz="1600" b="1" dirty="0">
                <a:solidFill>
                  <a:srgbClr val="434343"/>
                </a:solidFill>
                <a:ea typeface="Fira Sans Extra Condensed Medium"/>
                <a:cs typeface="Fira Sans Extra Condensed Medium"/>
                <a:sym typeface="Fira Sans Extra Condensed Medium"/>
              </a:rPr>
              <a:t>h! the timing, June 2021</a:t>
            </a:r>
            <a:endParaRPr sz="1600" b="1" dirty="0">
              <a:solidFill>
                <a:srgbClr val="434343"/>
              </a:solidFill>
              <a:ea typeface="Fira Sans Extra Condensed Medium"/>
              <a:cs typeface="Fira Sans Extra Condensed Medium"/>
              <a:sym typeface="Fira Sans Extra Condensed Medium"/>
            </a:endParaRPr>
          </a:p>
        </p:txBody>
      </p:sp>
      <p:pic>
        <p:nvPicPr>
          <p:cNvPr id="106" name="Picture 105">
            <a:extLst>
              <a:ext uri="{FF2B5EF4-FFF2-40B4-BE49-F238E27FC236}">
                <a16:creationId xmlns:a16="http://schemas.microsoft.com/office/drawing/2014/main" id="{DC251020-69DC-5549-A804-1626FCD5D7A7}"/>
              </a:ext>
            </a:extLst>
          </p:cNvPr>
          <p:cNvPicPr>
            <a:picLocks noChangeAspect="1"/>
          </p:cNvPicPr>
          <p:nvPr/>
        </p:nvPicPr>
        <p:blipFill>
          <a:blip r:embed="rId8"/>
          <a:stretch>
            <a:fillRect/>
          </a:stretch>
        </p:blipFill>
        <p:spPr>
          <a:xfrm>
            <a:off x="199304" y="857641"/>
            <a:ext cx="2476047" cy="1678730"/>
          </a:xfrm>
          <a:prstGeom prst="rect">
            <a:avLst/>
          </a:prstGeom>
          <a:effectLst>
            <a:outerShdw blurRad="63500" sx="102000" sy="102000" algn="ctr" rotWithShape="0">
              <a:prstClr val="black">
                <a:alpha val="40000"/>
              </a:prstClr>
            </a:outerShdw>
          </a:effectLst>
        </p:spPr>
      </p:pic>
      <p:sp>
        <p:nvSpPr>
          <p:cNvPr id="109" name="TextBox 108">
            <a:extLst>
              <a:ext uri="{FF2B5EF4-FFF2-40B4-BE49-F238E27FC236}">
                <a16:creationId xmlns:a16="http://schemas.microsoft.com/office/drawing/2014/main" id="{979BBADC-DDCA-DB21-4FB9-5DE9E31C4A4A}"/>
              </a:ext>
            </a:extLst>
          </p:cNvPr>
          <p:cNvSpPr txBox="1"/>
          <p:nvPr/>
        </p:nvSpPr>
        <p:spPr>
          <a:xfrm>
            <a:off x="199304" y="3012528"/>
            <a:ext cx="2476047" cy="1384995"/>
          </a:xfrm>
          <a:prstGeom prst="rect">
            <a:avLst/>
          </a:prstGeom>
          <a:noFill/>
          <a:ln>
            <a:solidFill>
              <a:schemeClr val="tx1"/>
            </a:solidFill>
            <a:prstDash val="dash"/>
          </a:ln>
        </p:spPr>
        <p:txBody>
          <a:bodyPr wrap="square" rtlCol="0">
            <a:spAutoFit/>
          </a:bodyPr>
          <a:lstStyle/>
          <a:p>
            <a:pPr algn="just"/>
            <a:r>
              <a:rPr lang="en-US" sz="1400" b="0" i="0" u="none" strike="noStrike" baseline="0" dirty="0">
                <a:solidFill>
                  <a:srgbClr val="2D2D2D"/>
                </a:solidFill>
                <a:latin typeface="+mj-lt"/>
              </a:rPr>
              <a:t>Miranda Studios terminated the</a:t>
            </a:r>
          </a:p>
          <a:p>
            <a:pPr algn="just"/>
            <a:r>
              <a:rPr lang="en-US" sz="1400" b="0" i="0" u="none" strike="noStrike" baseline="0" dirty="0">
                <a:solidFill>
                  <a:srgbClr val="2D2D2D"/>
                </a:solidFill>
                <a:latin typeface="+mj-lt"/>
              </a:rPr>
              <a:t>contracts of 12 web series offered to independent artists and directors, immediately creating an uproar in the film workers' community.</a:t>
            </a:r>
            <a:endParaRPr lang="en-US" sz="1400" dirty="0">
              <a:latin typeface="+mj-lt"/>
            </a:endParaRPr>
          </a:p>
        </p:txBody>
      </p:sp>
      <p:sp>
        <p:nvSpPr>
          <p:cNvPr id="110" name="Google Shape;440;p21">
            <a:extLst>
              <a:ext uri="{FF2B5EF4-FFF2-40B4-BE49-F238E27FC236}">
                <a16:creationId xmlns:a16="http://schemas.microsoft.com/office/drawing/2014/main" id="{7FECB558-3299-F842-438A-5780A61F2A02}"/>
              </a:ext>
            </a:extLst>
          </p:cNvPr>
          <p:cNvSpPr txBox="1"/>
          <p:nvPr/>
        </p:nvSpPr>
        <p:spPr>
          <a:xfrm>
            <a:off x="82095" y="2582928"/>
            <a:ext cx="2476047" cy="42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solidFill>
                  <a:srgbClr val="434343"/>
                </a:solidFill>
                <a:ea typeface="Fira Sans Extra Condensed Medium"/>
                <a:cs typeface="Fira Sans Extra Condensed Medium"/>
                <a:sym typeface="Fira Sans Extra Condensed Medium"/>
              </a:rPr>
              <a:t>Cost cutting, August 2022</a:t>
            </a:r>
            <a:endParaRPr sz="1600" b="1" dirty="0">
              <a:solidFill>
                <a:srgbClr val="434343"/>
              </a:solidFill>
              <a:ea typeface="Fira Sans Extra Condensed Medium"/>
              <a:cs typeface="Fira Sans Extra Condensed Medium"/>
              <a:sym typeface="Fira Sans Extra Condensed Medium"/>
            </a:endParaRPr>
          </a:p>
        </p:txBody>
      </p:sp>
      <p:sp>
        <p:nvSpPr>
          <p:cNvPr id="122" name="Google Shape;440;p21">
            <a:extLst>
              <a:ext uri="{FF2B5EF4-FFF2-40B4-BE49-F238E27FC236}">
                <a16:creationId xmlns:a16="http://schemas.microsoft.com/office/drawing/2014/main" id="{76A8B92F-C8EA-7931-334C-316BF8B1A470}"/>
              </a:ext>
            </a:extLst>
          </p:cNvPr>
          <p:cNvSpPr txBox="1"/>
          <p:nvPr/>
        </p:nvSpPr>
        <p:spPr>
          <a:xfrm>
            <a:off x="74118" y="4416962"/>
            <a:ext cx="2726417" cy="45749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solidFill>
                  <a:srgbClr val="434343"/>
                </a:solidFill>
                <a:ea typeface="Fira Sans Extra Condensed Medium"/>
                <a:cs typeface="Fira Sans Extra Condensed Medium"/>
                <a:sym typeface="Fira Sans Extra Condensed Medium"/>
              </a:rPr>
              <a:t>Book Release, October 2022</a:t>
            </a:r>
            <a:endParaRPr sz="1600" b="1" dirty="0">
              <a:solidFill>
                <a:srgbClr val="434343"/>
              </a:solidFill>
              <a:ea typeface="Fira Sans Extra Condensed Medium"/>
              <a:cs typeface="Fira Sans Extra Condensed Medium"/>
              <a:sym typeface="Fira Sans Extra Condensed Medium"/>
            </a:endParaRPr>
          </a:p>
        </p:txBody>
      </p:sp>
      <p:sp>
        <p:nvSpPr>
          <p:cNvPr id="123" name="TextBox 122">
            <a:extLst>
              <a:ext uri="{FF2B5EF4-FFF2-40B4-BE49-F238E27FC236}">
                <a16:creationId xmlns:a16="http://schemas.microsoft.com/office/drawing/2014/main" id="{26E103EE-2772-043F-D081-F5E1ADA79305}"/>
              </a:ext>
            </a:extLst>
          </p:cNvPr>
          <p:cNvSpPr txBox="1"/>
          <p:nvPr/>
        </p:nvSpPr>
        <p:spPr>
          <a:xfrm>
            <a:off x="199304" y="4893900"/>
            <a:ext cx="2476047" cy="1815882"/>
          </a:xfrm>
          <a:prstGeom prst="rect">
            <a:avLst/>
          </a:prstGeom>
          <a:noFill/>
          <a:ln>
            <a:solidFill>
              <a:schemeClr val="tx1"/>
            </a:solidFill>
            <a:prstDash val="dash"/>
          </a:ln>
        </p:spPr>
        <p:txBody>
          <a:bodyPr wrap="square" rtlCol="0">
            <a:spAutoFit/>
          </a:bodyPr>
          <a:lstStyle/>
          <a:p>
            <a:pPr marL="285750" indent="-285750" algn="just">
              <a:buFont typeface="Arial" panose="020B0604020202020204" pitchFamily="34" charset="0"/>
              <a:buChar char="•"/>
            </a:pPr>
            <a:r>
              <a:rPr lang="en-US" sz="1400" b="0" i="0" u="none" strike="noStrike" baseline="0" dirty="0">
                <a:solidFill>
                  <a:srgbClr val="2D2D2D"/>
                </a:solidFill>
                <a:latin typeface="+mj-lt"/>
              </a:rPr>
              <a:t>Aftab Ahmed released his book which took Miranda Studios and Shylock in bad light</a:t>
            </a:r>
          </a:p>
          <a:p>
            <a:pPr marL="285750" indent="-285750" algn="just">
              <a:buFont typeface="Arial" panose="020B0604020202020204" pitchFamily="34" charset="0"/>
              <a:buChar char="•"/>
            </a:pPr>
            <a:r>
              <a:rPr lang="en-US" sz="1400" dirty="0">
                <a:solidFill>
                  <a:srgbClr val="2D2D2D"/>
                </a:solidFill>
                <a:latin typeface="+mj-lt"/>
              </a:rPr>
              <a:t>Book’s snippets were trending on twitter</a:t>
            </a:r>
          </a:p>
          <a:p>
            <a:pPr marL="285750" indent="-285750" algn="just">
              <a:buFont typeface="Arial" panose="020B0604020202020204" pitchFamily="34" charset="0"/>
              <a:buChar char="•"/>
            </a:pPr>
            <a:r>
              <a:rPr lang="en-US" sz="1400" dirty="0">
                <a:solidFill>
                  <a:srgbClr val="2D2D2D"/>
                </a:solidFill>
                <a:latin typeface="+mj-lt"/>
              </a:rPr>
              <a:t>Celebs joined the #meetoo</a:t>
            </a:r>
          </a:p>
          <a:p>
            <a:pPr marL="285750" indent="-285750" algn="just">
              <a:buFont typeface="Arial" panose="020B0604020202020204" pitchFamily="34" charset="0"/>
              <a:buChar char="•"/>
            </a:pPr>
            <a:r>
              <a:rPr lang="en-US" sz="1400" dirty="0">
                <a:solidFill>
                  <a:srgbClr val="2D2D2D"/>
                </a:solidFill>
                <a:latin typeface="+mj-lt"/>
              </a:rPr>
              <a:t>Defense by Shylock</a:t>
            </a:r>
          </a:p>
        </p:txBody>
      </p:sp>
      <p:sp>
        <p:nvSpPr>
          <p:cNvPr id="124" name="Google Shape;440;p21">
            <a:extLst>
              <a:ext uri="{FF2B5EF4-FFF2-40B4-BE49-F238E27FC236}">
                <a16:creationId xmlns:a16="http://schemas.microsoft.com/office/drawing/2014/main" id="{A67EA5D6-AEA6-2339-174F-D0515DFE4E18}"/>
              </a:ext>
            </a:extLst>
          </p:cNvPr>
          <p:cNvSpPr txBox="1"/>
          <p:nvPr/>
        </p:nvSpPr>
        <p:spPr>
          <a:xfrm>
            <a:off x="2923265" y="373609"/>
            <a:ext cx="2780848" cy="45137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solidFill>
                  <a:srgbClr val="434343"/>
                </a:solidFill>
                <a:ea typeface="Fira Sans Extra Condensed Medium"/>
                <a:cs typeface="Fira Sans Extra Condensed Medium"/>
                <a:sym typeface="Fira Sans Extra Condensed Medium"/>
              </a:rPr>
              <a:t>Court Kachery, October 2022</a:t>
            </a:r>
            <a:endParaRPr sz="1600" b="1" dirty="0">
              <a:solidFill>
                <a:srgbClr val="434343"/>
              </a:solidFill>
              <a:ea typeface="Fira Sans Extra Condensed Medium"/>
              <a:cs typeface="Fira Sans Extra Condensed Medium"/>
              <a:sym typeface="Fira Sans Extra Condensed Medium"/>
            </a:endParaRPr>
          </a:p>
        </p:txBody>
      </p:sp>
      <p:sp>
        <p:nvSpPr>
          <p:cNvPr id="125" name="TextBox 124">
            <a:extLst>
              <a:ext uri="{FF2B5EF4-FFF2-40B4-BE49-F238E27FC236}">
                <a16:creationId xmlns:a16="http://schemas.microsoft.com/office/drawing/2014/main" id="{247E52F2-950C-1376-546D-018020659E15}"/>
              </a:ext>
            </a:extLst>
          </p:cNvPr>
          <p:cNvSpPr txBox="1"/>
          <p:nvPr/>
        </p:nvSpPr>
        <p:spPr>
          <a:xfrm>
            <a:off x="3105790" y="835868"/>
            <a:ext cx="2476047" cy="1169551"/>
          </a:xfrm>
          <a:prstGeom prst="rect">
            <a:avLst/>
          </a:prstGeom>
          <a:noFill/>
          <a:ln>
            <a:solidFill>
              <a:schemeClr val="tx1"/>
            </a:solidFill>
            <a:prstDash val="dash"/>
          </a:ln>
        </p:spPr>
        <p:txBody>
          <a:bodyPr wrap="square" rtlCol="0">
            <a:spAutoFit/>
          </a:bodyPr>
          <a:lstStyle/>
          <a:p>
            <a:pPr marL="285750" indent="-285750" algn="just">
              <a:buFont typeface="Arial" panose="020B0604020202020204" pitchFamily="34" charset="0"/>
              <a:buChar char="•"/>
            </a:pPr>
            <a:r>
              <a:rPr lang="en-US" sz="1400" b="0" i="0" u="none" strike="noStrike" baseline="0" dirty="0">
                <a:solidFill>
                  <a:srgbClr val="2D2D2D"/>
                </a:solidFill>
                <a:latin typeface="+mj-lt"/>
              </a:rPr>
              <a:t>Lawsuit against the book</a:t>
            </a:r>
          </a:p>
          <a:p>
            <a:pPr marL="285750" indent="-285750" algn="just">
              <a:buFont typeface="Arial" panose="020B0604020202020204" pitchFamily="34" charset="0"/>
              <a:buChar char="•"/>
            </a:pPr>
            <a:r>
              <a:rPr lang="en-US" sz="1400" dirty="0">
                <a:solidFill>
                  <a:srgbClr val="2D2D2D"/>
                </a:solidFill>
                <a:latin typeface="+mj-lt"/>
              </a:rPr>
              <a:t>Public sympathy for Aftab Ahmed increased</a:t>
            </a:r>
          </a:p>
          <a:p>
            <a:pPr marL="285750" indent="-285750" algn="just">
              <a:buFont typeface="Arial" panose="020B0604020202020204" pitchFamily="34" charset="0"/>
              <a:buChar char="•"/>
            </a:pPr>
            <a:r>
              <a:rPr lang="en-US" sz="1400" dirty="0">
                <a:solidFill>
                  <a:srgbClr val="2D2D2D"/>
                </a:solidFill>
                <a:latin typeface="+mj-lt"/>
              </a:rPr>
              <a:t>Tweet war between the both got initiated</a:t>
            </a:r>
          </a:p>
        </p:txBody>
      </p:sp>
      <p:sp>
        <p:nvSpPr>
          <p:cNvPr id="126" name="Google Shape;440;p21">
            <a:extLst>
              <a:ext uri="{FF2B5EF4-FFF2-40B4-BE49-F238E27FC236}">
                <a16:creationId xmlns:a16="http://schemas.microsoft.com/office/drawing/2014/main" id="{F360D9AB-7D18-5041-5962-D734AAF76C04}"/>
              </a:ext>
            </a:extLst>
          </p:cNvPr>
          <p:cNvSpPr txBox="1"/>
          <p:nvPr/>
        </p:nvSpPr>
        <p:spPr>
          <a:xfrm>
            <a:off x="2866300" y="2059849"/>
            <a:ext cx="2476047" cy="42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solidFill>
                  <a:srgbClr val="434343"/>
                </a:solidFill>
                <a:ea typeface="Fira Sans Extra Condensed Medium"/>
                <a:cs typeface="Fira Sans Extra Condensed Medium"/>
                <a:sym typeface="Fira Sans Extra Condensed Medium"/>
              </a:rPr>
              <a:t>FSSAMU, October 2022</a:t>
            </a:r>
            <a:endParaRPr sz="1600" b="1" dirty="0">
              <a:solidFill>
                <a:srgbClr val="434343"/>
              </a:solidFill>
              <a:ea typeface="Fira Sans Extra Condensed Medium"/>
              <a:cs typeface="Fira Sans Extra Condensed Medium"/>
              <a:sym typeface="Fira Sans Extra Condensed Medium"/>
            </a:endParaRPr>
          </a:p>
        </p:txBody>
      </p:sp>
      <p:sp>
        <p:nvSpPr>
          <p:cNvPr id="127" name="TextBox 126">
            <a:extLst>
              <a:ext uri="{FF2B5EF4-FFF2-40B4-BE49-F238E27FC236}">
                <a16:creationId xmlns:a16="http://schemas.microsoft.com/office/drawing/2014/main" id="{A060C03C-522B-786C-3381-809324A5704C}"/>
              </a:ext>
            </a:extLst>
          </p:cNvPr>
          <p:cNvSpPr txBox="1"/>
          <p:nvPr/>
        </p:nvSpPr>
        <p:spPr>
          <a:xfrm>
            <a:off x="3105789" y="2535474"/>
            <a:ext cx="2476047" cy="4185761"/>
          </a:xfrm>
          <a:prstGeom prst="rect">
            <a:avLst/>
          </a:prstGeom>
          <a:noFill/>
          <a:ln>
            <a:solidFill>
              <a:schemeClr val="tx1"/>
            </a:solidFill>
            <a:prstDash val="dash"/>
          </a:ln>
        </p:spPr>
        <p:txBody>
          <a:bodyPr wrap="square" rtlCol="0">
            <a:spAutoFit/>
          </a:bodyPr>
          <a:lstStyle/>
          <a:p>
            <a:pPr marL="285750" indent="-285750" algn="just">
              <a:buFont typeface="Arial" panose="020B0604020202020204" pitchFamily="34" charset="0"/>
              <a:buChar char="•"/>
            </a:pPr>
            <a:r>
              <a:rPr lang="en-US" sz="1400" b="0" i="0" u="none" strike="noStrike" baseline="0" dirty="0">
                <a:solidFill>
                  <a:srgbClr val="2D2D2D"/>
                </a:solidFill>
                <a:latin typeface="+mj-lt"/>
              </a:rPr>
              <a:t>The Film Studios Setting &amp; Allied Mazdoor Union (FSSAMU) claimed that Miranda Studios continued to employ workers but have not paid them wages since May 2019. </a:t>
            </a:r>
          </a:p>
          <a:p>
            <a:pPr marL="285750" indent="-285750" algn="l">
              <a:buFont typeface="Arial" panose="020B0604020202020204" pitchFamily="34" charset="0"/>
              <a:buChar char="•"/>
            </a:pPr>
            <a:r>
              <a:rPr lang="en-US" sz="1400" b="0" i="0" u="none" strike="noStrike" baseline="0" dirty="0">
                <a:solidFill>
                  <a:srgbClr val="2D2D2D"/>
                </a:solidFill>
                <a:latin typeface="+mj-lt"/>
              </a:rPr>
              <a:t>Incidentally, on the same day, Shylock posted a tweet, </a:t>
            </a:r>
            <a:r>
              <a:rPr lang="en-US" sz="1400" b="1" i="0" u="none" strike="noStrike" baseline="0" dirty="0">
                <a:solidFill>
                  <a:srgbClr val="2D2D2D"/>
                </a:solidFill>
                <a:latin typeface="+mj-lt"/>
              </a:rPr>
              <a:t>'An artist with a hungry stomach creates better art!’</a:t>
            </a:r>
          </a:p>
          <a:p>
            <a:pPr marL="285750" indent="-285750" algn="l">
              <a:buFont typeface="Arial" panose="020B0604020202020204" pitchFamily="34" charset="0"/>
              <a:buChar char="•"/>
            </a:pPr>
            <a:r>
              <a:rPr lang="en-US" sz="1400" b="0" i="0" u="none" strike="noStrike" baseline="0" dirty="0">
                <a:solidFill>
                  <a:srgbClr val="2D2D2D"/>
                </a:solidFill>
                <a:latin typeface="+mj-lt"/>
              </a:rPr>
              <a:t>Some of the stars who featured in the TV series filed legal suits against Miranda Studios over non-payment of dues and refused to renew their contract with them.</a:t>
            </a:r>
          </a:p>
          <a:p>
            <a:pPr marL="285750" indent="-285750" algn="l">
              <a:buFont typeface="Arial" panose="020B0604020202020204" pitchFamily="34" charset="0"/>
              <a:buChar char="•"/>
            </a:pPr>
            <a:r>
              <a:rPr lang="en-US" sz="1400" b="1" dirty="0">
                <a:solidFill>
                  <a:srgbClr val="2D2D2D"/>
                </a:solidFill>
                <a:latin typeface="+mj-lt"/>
              </a:rPr>
              <a:t>BOYCOTT </a:t>
            </a:r>
            <a:r>
              <a:rPr lang="en-US" sz="1400" dirty="0">
                <a:solidFill>
                  <a:srgbClr val="2D2D2D"/>
                </a:solidFill>
                <a:latin typeface="+mj-lt"/>
              </a:rPr>
              <a:t>Trend started</a:t>
            </a:r>
            <a:endParaRPr lang="en-US" sz="1000" b="1" i="0" u="none" strike="noStrike" baseline="0" dirty="0">
              <a:solidFill>
                <a:srgbClr val="2D2D2D"/>
              </a:solidFill>
              <a:latin typeface="+mj-lt"/>
            </a:endParaRPr>
          </a:p>
        </p:txBody>
      </p:sp>
      <p:cxnSp>
        <p:nvCxnSpPr>
          <p:cNvPr id="1025" name="Straight Connector 1024">
            <a:extLst>
              <a:ext uri="{FF2B5EF4-FFF2-40B4-BE49-F238E27FC236}">
                <a16:creationId xmlns:a16="http://schemas.microsoft.com/office/drawing/2014/main" id="{21DCE9C9-25B9-E553-D3F8-39B55AF66359}"/>
              </a:ext>
            </a:extLst>
          </p:cNvPr>
          <p:cNvCxnSpPr/>
          <p:nvPr/>
        </p:nvCxnSpPr>
        <p:spPr>
          <a:xfrm>
            <a:off x="5965371" y="599295"/>
            <a:ext cx="0" cy="6110487"/>
          </a:xfrm>
          <a:prstGeom prst="line">
            <a:avLst/>
          </a:prstGeom>
        </p:spPr>
        <p:style>
          <a:lnRef idx="1">
            <a:schemeClr val="dk1"/>
          </a:lnRef>
          <a:fillRef idx="0">
            <a:schemeClr val="dk1"/>
          </a:fillRef>
          <a:effectRef idx="0">
            <a:schemeClr val="dk1"/>
          </a:effectRef>
          <a:fontRef idx="minor">
            <a:schemeClr val="tx1"/>
          </a:fontRef>
        </p:style>
      </p:cxnSp>
      <p:grpSp>
        <p:nvGrpSpPr>
          <p:cNvPr id="1050" name="Group 1049">
            <a:extLst>
              <a:ext uri="{FF2B5EF4-FFF2-40B4-BE49-F238E27FC236}">
                <a16:creationId xmlns:a16="http://schemas.microsoft.com/office/drawing/2014/main" id="{7E7FC06A-2E3C-CBAF-1F08-C6EF102D4C51}"/>
              </a:ext>
            </a:extLst>
          </p:cNvPr>
          <p:cNvGrpSpPr/>
          <p:nvPr/>
        </p:nvGrpSpPr>
        <p:grpSpPr>
          <a:xfrm>
            <a:off x="6226630" y="1010045"/>
            <a:ext cx="5584362" cy="5559886"/>
            <a:chOff x="6226630" y="857641"/>
            <a:chExt cx="5584362" cy="5559886"/>
          </a:xfrm>
        </p:grpSpPr>
        <p:pic>
          <p:nvPicPr>
            <p:cNvPr id="1030" name="Picture 1029">
              <a:extLst>
                <a:ext uri="{FF2B5EF4-FFF2-40B4-BE49-F238E27FC236}">
                  <a16:creationId xmlns:a16="http://schemas.microsoft.com/office/drawing/2014/main" id="{2C973D2B-7A93-DA10-DE08-B346E5F4B5C6}"/>
                </a:ext>
              </a:extLst>
            </p:cNvPr>
            <p:cNvPicPr>
              <a:picLocks noChangeAspect="1"/>
            </p:cNvPicPr>
            <p:nvPr/>
          </p:nvPicPr>
          <p:blipFill>
            <a:blip r:embed="rId9"/>
            <a:stretch>
              <a:fillRect/>
            </a:stretch>
          </p:blipFill>
          <p:spPr>
            <a:xfrm>
              <a:off x="6226630" y="3069489"/>
              <a:ext cx="1173366" cy="1170098"/>
            </a:xfrm>
            <a:prstGeom prst="rect">
              <a:avLst/>
            </a:prstGeom>
          </p:spPr>
        </p:pic>
        <p:cxnSp>
          <p:nvCxnSpPr>
            <p:cNvPr id="1032" name="Straight Arrow Connector 1031">
              <a:extLst>
                <a:ext uri="{FF2B5EF4-FFF2-40B4-BE49-F238E27FC236}">
                  <a16:creationId xmlns:a16="http://schemas.microsoft.com/office/drawing/2014/main" id="{00238391-4454-9680-08E3-1E044A4A68A0}"/>
                </a:ext>
              </a:extLst>
            </p:cNvPr>
            <p:cNvCxnSpPr/>
            <p:nvPr/>
          </p:nvCxnSpPr>
          <p:spPr>
            <a:xfrm flipV="1">
              <a:off x="7399996" y="1697006"/>
              <a:ext cx="230890" cy="13724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3" name="Straight Arrow Connector 1032">
              <a:extLst>
                <a:ext uri="{FF2B5EF4-FFF2-40B4-BE49-F238E27FC236}">
                  <a16:creationId xmlns:a16="http://schemas.microsoft.com/office/drawing/2014/main" id="{0EB1894E-B993-DD4B-BB74-2B1799DCDF6C}"/>
                </a:ext>
              </a:extLst>
            </p:cNvPr>
            <p:cNvCxnSpPr>
              <a:cxnSpLocks/>
            </p:cNvCxnSpPr>
            <p:nvPr/>
          </p:nvCxnSpPr>
          <p:spPr>
            <a:xfrm>
              <a:off x="7399996" y="4194445"/>
              <a:ext cx="261258" cy="1417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6" name="Straight Arrow Connector 1035">
              <a:extLst>
                <a:ext uri="{FF2B5EF4-FFF2-40B4-BE49-F238E27FC236}">
                  <a16:creationId xmlns:a16="http://schemas.microsoft.com/office/drawing/2014/main" id="{A41D4AE4-DEE4-2461-4852-A9AB05C5AE7D}"/>
                </a:ext>
              </a:extLst>
            </p:cNvPr>
            <p:cNvCxnSpPr>
              <a:cxnSpLocks/>
            </p:cNvCxnSpPr>
            <p:nvPr/>
          </p:nvCxnSpPr>
          <p:spPr>
            <a:xfrm flipV="1">
              <a:off x="7399996" y="2274649"/>
              <a:ext cx="568347" cy="12093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8" name="Straight Arrow Connector 1037">
              <a:extLst>
                <a:ext uri="{FF2B5EF4-FFF2-40B4-BE49-F238E27FC236}">
                  <a16:creationId xmlns:a16="http://schemas.microsoft.com/office/drawing/2014/main" id="{18EA01FD-6898-4B9D-3C6A-10415228F5C8}"/>
                </a:ext>
              </a:extLst>
            </p:cNvPr>
            <p:cNvCxnSpPr>
              <a:cxnSpLocks/>
            </p:cNvCxnSpPr>
            <p:nvPr/>
          </p:nvCxnSpPr>
          <p:spPr>
            <a:xfrm>
              <a:off x="7399996" y="3839207"/>
              <a:ext cx="568347" cy="11367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0" name="Straight Arrow Connector 1039">
              <a:extLst>
                <a:ext uri="{FF2B5EF4-FFF2-40B4-BE49-F238E27FC236}">
                  <a16:creationId xmlns:a16="http://schemas.microsoft.com/office/drawing/2014/main" id="{314D42D2-314A-2214-C895-810979331804}"/>
                </a:ext>
              </a:extLst>
            </p:cNvPr>
            <p:cNvCxnSpPr>
              <a:cxnSpLocks/>
            </p:cNvCxnSpPr>
            <p:nvPr/>
          </p:nvCxnSpPr>
          <p:spPr>
            <a:xfrm>
              <a:off x="7389111" y="3628258"/>
              <a:ext cx="56834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4" name="Rectangle: Rounded Corners 1043">
              <a:extLst>
                <a:ext uri="{FF2B5EF4-FFF2-40B4-BE49-F238E27FC236}">
                  <a16:creationId xmlns:a16="http://schemas.microsoft.com/office/drawing/2014/main" id="{605068F3-B681-AC87-5870-FEE15AB7178F}"/>
                </a:ext>
              </a:extLst>
            </p:cNvPr>
            <p:cNvSpPr/>
            <p:nvPr/>
          </p:nvSpPr>
          <p:spPr>
            <a:xfrm>
              <a:off x="7630886" y="857641"/>
              <a:ext cx="4180106" cy="80568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spcBef>
                  <a:spcPts val="1100"/>
                </a:spcBef>
                <a:spcAft>
                  <a:spcPts val="2000"/>
                </a:spcAft>
              </a:pPr>
              <a:r>
                <a:rPr lang="en-US" sz="1600" b="1" i="0" u="none" strike="noStrike" dirty="0">
                  <a:solidFill>
                    <a:schemeClr val="bg1"/>
                  </a:solidFill>
                  <a:effectLst/>
                  <a:latin typeface="+mj-lt"/>
                </a:rPr>
                <a:t>Trailer release of The Last Men and announcement of the premiere date on NetFilms</a:t>
              </a:r>
              <a:endParaRPr lang="en-US" sz="1600" b="1" dirty="0">
                <a:solidFill>
                  <a:schemeClr val="bg1"/>
                </a:solidFill>
                <a:latin typeface="+mj-lt"/>
              </a:endParaRPr>
            </a:p>
          </p:txBody>
        </p:sp>
        <p:sp>
          <p:nvSpPr>
            <p:cNvPr id="1045" name="Rectangle: Rounded Corners 1044">
              <a:extLst>
                <a:ext uri="{FF2B5EF4-FFF2-40B4-BE49-F238E27FC236}">
                  <a16:creationId xmlns:a16="http://schemas.microsoft.com/office/drawing/2014/main" id="{B6288727-5C89-73DB-AF68-AF1BDD29A2ED}"/>
                </a:ext>
              </a:extLst>
            </p:cNvPr>
            <p:cNvSpPr/>
            <p:nvPr/>
          </p:nvSpPr>
          <p:spPr>
            <a:xfrm>
              <a:off x="8011894" y="1888967"/>
              <a:ext cx="3799098" cy="80568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spcBef>
                  <a:spcPts val="1100"/>
                </a:spcBef>
                <a:spcAft>
                  <a:spcPts val="2000"/>
                </a:spcAft>
              </a:pPr>
              <a:r>
                <a:rPr lang="en-US" sz="1800" b="1" i="0" u="none" strike="noStrike" dirty="0">
                  <a:solidFill>
                    <a:schemeClr val="bg1"/>
                  </a:solidFill>
                  <a:effectLst/>
                  <a:latin typeface="+mj-lt"/>
                </a:rPr>
                <a:t>Loss of Ad Revenue if premiere is delayed</a:t>
              </a:r>
              <a:endParaRPr lang="en-US" sz="1600" b="1" dirty="0">
                <a:solidFill>
                  <a:schemeClr val="bg1"/>
                </a:solidFill>
                <a:effectLst/>
                <a:latin typeface="+mj-lt"/>
              </a:endParaRPr>
            </a:p>
          </p:txBody>
        </p:sp>
        <p:sp>
          <p:nvSpPr>
            <p:cNvPr id="1046" name="Rectangle: Rounded Corners 1045">
              <a:extLst>
                <a:ext uri="{FF2B5EF4-FFF2-40B4-BE49-F238E27FC236}">
                  <a16:creationId xmlns:a16="http://schemas.microsoft.com/office/drawing/2014/main" id="{A20B24AB-8C1B-E62F-80AB-3997235D56FB}"/>
                </a:ext>
              </a:extLst>
            </p:cNvPr>
            <p:cNvSpPr/>
            <p:nvPr/>
          </p:nvSpPr>
          <p:spPr>
            <a:xfrm>
              <a:off x="8011894" y="3143745"/>
              <a:ext cx="3799098" cy="969025"/>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spcBef>
                  <a:spcPts val="1100"/>
                </a:spcBef>
                <a:spcAft>
                  <a:spcPts val="2000"/>
                </a:spcAft>
              </a:pPr>
              <a:r>
                <a:rPr lang="en-US" sz="1600" b="1" i="0" u="none" strike="noStrike" dirty="0">
                  <a:solidFill>
                    <a:schemeClr val="bg1"/>
                  </a:solidFill>
                  <a:effectLst/>
                  <a:latin typeface="+mj-lt"/>
                </a:rPr>
                <a:t>NetFilms downloads are the lowest, Media partners are pulling out, Talents are poached, and they are ready to leave</a:t>
              </a:r>
              <a:endParaRPr lang="en-US" sz="1600" b="1" dirty="0">
                <a:solidFill>
                  <a:schemeClr val="bg1"/>
                </a:solidFill>
                <a:effectLst/>
                <a:latin typeface="+mj-lt"/>
              </a:endParaRPr>
            </a:p>
          </p:txBody>
        </p:sp>
        <p:sp>
          <p:nvSpPr>
            <p:cNvPr id="1047" name="Rectangle: Rounded Corners 1046">
              <a:extLst>
                <a:ext uri="{FF2B5EF4-FFF2-40B4-BE49-F238E27FC236}">
                  <a16:creationId xmlns:a16="http://schemas.microsoft.com/office/drawing/2014/main" id="{F642B920-E856-8386-D743-4E7234D77C85}"/>
                </a:ext>
              </a:extLst>
            </p:cNvPr>
            <p:cNvSpPr/>
            <p:nvPr/>
          </p:nvSpPr>
          <p:spPr>
            <a:xfrm>
              <a:off x="8011894" y="4558437"/>
              <a:ext cx="3799098" cy="80568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spcBef>
                  <a:spcPts val="1100"/>
                </a:spcBef>
                <a:spcAft>
                  <a:spcPts val="2000"/>
                </a:spcAft>
              </a:pPr>
              <a:r>
                <a:rPr lang="en-US" sz="1800" b="1" i="0" u="none" strike="noStrike" dirty="0">
                  <a:solidFill>
                    <a:schemeClr val="bg1"/>
                  </a:solidFill>
                  <a:effectLst/>
                  <a:latin typeface="+mj-lt"/>
                </a:rPr>
                <a:t>Labor unions at the throat and media ready to suck blood</a:t>
              </a:r>
              <a:endParaRPr lang="en-US" b="1" dirty="0">
                <a:solidFill>
                  <a:schemeClr val="bg1"/>
                </a:solidFill>
                <a:effectLst/>
                <a:latin typeface="+mj-lt"/>
              </a:endParaRPr>
            </a:p>
          </p:txBody>
        </p:sp>
        <p:sp>
          <p:nvSpPr>
            <p:cNvPr id="1048" name="Rectangle: Rounded Corners 1047">
              <a:extLst>
                <a:ext uri="{FF2B5EF4-FFF2-40B4-BE49-F238E27FC236}">
                  <a16:creationId xmlns:a16="http://schemas.microsoft.com/office/drawing/2014/main" id="{F6C3DC43-1AC7-F667-A8A3-40953E43476F}"/>
                </a:ext>
              </a:extLst>
            </p:cNvPr>
            <p:cNvSpPr/>
            <p:nvPr/>
          </p:nvSpPr>
          <p:spPr>
            <a:xfrm>
              <a:off x="7630886" y="5611847"/>
              <a:ext cx="4180106" cy="80568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spcBef>
                  <a:spcPts val="1100"/>
                </a:spcBef>
                <a:spcAft>
                  <a:spcPts val="2000"/>
                </a:spcAft>
              </a:pPr>
              <a:r>
                <a:rPr lang="en-US" sz="1800" b="1" i="0" u="none" strike="noStrike" dirty="0">
                  <a:solidFill>
                    <a:schemeClr val="bg1"/>
                  </a:solidFill>
                  <a:effectLst/>
                  <a:latin typeface="+mj-lt"/>
                </a:rPr>
                <a:t>Lawsuits are on the verge of loss, public perception is already negative</a:t>
              </a:r>
              <a:endParaRPr lang="en-US" sz="1600" b="1" dirty="0">
                <a:solidFill>
                  <a:schemeClr val="bg1"/>
                </a:solidFill>
                <a:effectLst/>
                <a:latin typeface="+mj-lt"/>
              </a:endParaRPr>
            </a:p>
          </p:txBody>
        </p:sp>
      </p:grpSp>
      <p:sp>
        <p:nvSpPr>
          <p:cNvPr id="1051" name="Google Shape;440;p21">
            <a:extLst>
              <a:ext uri="{FF2B5EF4-FFF2-40B4-BE49-F238E27FC236}">
                <a16:creationId xmlns:a16="http://schemas.microsoft.com/office/drawing/2014/main" id="{75255E62-5479-30A0-32DE-46AF12427FB3}"/>
              </a:ext>
            </a:extLst>
          </p:cNvPr>
          <p:cNvSpPr txBox="1"/>
          <p:nvPr/>
        </p:nvSpPr>
        <p:spPr>
          <a:xfrm>
            <a:off x="7630886" y="372993"/>
            <a:ext cx="2780848" cy="45137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IN" sz="1600" b="1" dirty="0">
                <a:solidFill>
                  <a:srgbClr val="434343"/>
                </a:solidFill>
                <a:ea typeface="Fira Sans Extra Condensed Medium"/>
                <a:cs typeface="Fira Sans Extra Condensed Medium"/>
                <a:sym typeface="Fira Sans Extra Condensed Medium"/>
              </a:rPr>
              <a:t>Problems knocking the door</a:t>
            </a:r>
            <a:endParaRPr sz="1600" b="1" dirty="0">
              <a:solidFill>
                <a:srgbClr val="434343"/>
              </a:solidFill>
              <a:ea typeface="Fira Sans Extra Condensed Medium"/>
              <a:cs typeface="Fira Sans Extra Condensed Medium"/>
              <a:sym typeface="Fira Sans Extra Condensed Medium"/>
            </a:endParaRPr>
          </a:p>
        </p:txBody>
      </p:sp>
    </p:spTree>
    <p:extLst>
      <p:ext uri="{BB962C8B-B14F-4D97-AF65-F5344CB8AC3E}">
        <p14:creationId xmlns:p14="http://schemas.microsoft.com/office/powerpoint/2010/main" val="74473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03FDD0F2-D3CB-32A6-EE3A-E9D3502815AB}"/>
              </a:ext>
            </a:extLst>
          </p:cNvPr>
          <p:cNvGraphicFramePr/>
          <p:nvPr>
            <p:extLst>
              <p:ext uri="{D42A27DB-BD31-4B8C-83A1-F6EECF244321}">
                <p14:modId xmlns:p14="http://schemas.microsoft.com/office/powerpoint/2010/main" val="3771495970"/>
              </p:ext>
            </p:extLst>
          </p:nvPr>
        </p:nvGraphicFramePr>
        <p:xfrm>
          <a:off x="17802" y="11772"/>
          <a:ext cx="12156395" cy="369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Rounded Corners 7">
            <a:extLst>
              <a:ext uri="{FF2B5EF4-FFF2-40B4-BE49-F238E27FC236}">
                <a16:creationId xmlns:a16="http://schemas.microsoft.com/office/drawing/2014/main" id="{43586424-3AC8-6E6D-085C-C392257EBB6D}"/>
              </a:ext>
            </a:extLst>
          </p:cNvPr>
          <p:cNvSpPr/>
          <p:nvPr/>
        </p:nvSpPr>
        <p:spPr>
          <a:xfrm>
            <a:off x="1843143" y="446311"/>
            <a:ext cx="8505712" cy="369783"/>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Strategy Objective: Stop the spread of negative news on social media by changing the narrative </a:t>
            </a:r>
            <a:endParaRPr lang="en-US" sz="1600" dirty="0"/>
          </a:p>
        </p:txBody>
      </p:sp>
      <p:graphicFrame>
        <p:nvGraphicFramePr>
          <p:cNvPr id="9" name="Table 9">
            <a:extLst>
              <a:ext uri="{FF2B5EF4-FFF2-40B4-BE49-F238E27FC236}">
                <a16:creationId xmlns:a16="http://schemas.microsoft.com/office/drawing/2014/main" id="{F7296D28-F7CD-FB17-68FE-DE4AC2ED7C9B}"/>
              </a:ext>
            </a:extLst>
          </p:cNvPr>
          <p:cNvGraphicFramePr>
            <a:graphicFrameLocks noGrp="1"/>
          </p:cNvGraphicFramePr>
          <p:nvPr>
            <p:extLst>
              <p:ext uri="{D42A27DB-BD31-4B8C-83A1-F6EECF244321}">
                <p14:modId xmlns:p14="http://schemas.microsoft.com/office/powerpoint/2010/main" val="1543002387"/>
              </p:ext>
            </p:extLst>
          </p:nvPr>
        </p:nvGraphicFramePr>
        <p:xfrm>
          <a:off x="105219" y="1589625"/>
          <a:ext cx="5936346" cy="2748280"/>
        </p:xfrm>
        <a:graphic>
          <a:graphicData uri="http://schemas.openxmlformats.org/drawingml/2006/table">
            <a:tbl>
              <a:tblPr firstRow="1" bandRow="1">
                <a:tableStyleId>{5C22544A-7EE6-4342-B048-85BDC9FD1C3A}</a:tableStyleId>
              </a:tblPr>
              <a:tblGrid>
                <a:gridCol w="2968173">
                  <a:extLst>
                    <a:ext uri="{9D8B030D-6E8A-4147-A177-3AD203B41FA5}">
                      <a16:colId xmlns:a16="http://schemas.microsoft.com/office/drawing/2014/main" val="2227161988"/>
                    </a:ext>
                  </a:extLst>
                </a:gridCol>
                <a:gridCol w="2968173">
                  <a:extLst>
                    <a:ext uri="{9D8B030D-6E8A-4147-A177-3AD203B41FA5}">
                      <a16:colId xmlns:a16="http://schemas.microsoft.com/office/drawing/2014/main" val="2701161306"/>
                    </a:ext>
                  </a:extLst>
                </a:gridCol>
              </a:tblGrid>
              <a:tr h="370840">
                <a:tc>
                  <a:txBody>
                    <a:bodyPr/>
                    <a:lstStyle/>
                    <a:p>
                      <a:r>
                        <a:rPr lang="en-IN" sz="1400" dirty="0"/>
                        <a:t>Dos</a:t>
                      </a:r>
                      <a:endParaRPr lang="en-US" sz="1400" dirty="0"/>
                    </a:p>
                  </a:txBody>
                  <a:tcPr>
                    <a:solidFill>
                      <a:srgbClr val="C00000"/>
                    </a:solidFill>
                  </a:tcPr>
                </a:tc>
                <a:tc>
                  <a:txBody>
                    <a:bodyPr/>
                    <a:lstStyle/>
                    <a:p>
                      <a:r>
                        <a:rPr lang="en-IN" sz="1400" dirty="0"/>
                        <a:t>Don’ts</a:t>
                      </a:r>
                      <a:endParaRPr lang="en-US" sz="1400" dirty="0"/>
                    </a:p>
                  </a:txBody>
                  <a:tcPr>
                    <a:solidFill>
                      <a:srgbClr val="C00000"/>
                    </a:solidFill>
                  </a:tcPr>
                </a:tc>
                <a:extLst>
                  <a:ext uri="{0D108BD9-81ED-4DB2-BD59-A6C34878D82A}">
                    <a16:rowId xmlns:a16="http://schemas.microsoft.com/office/drawing/2014/main" val="704794144"/>
                  </a:ext>
                </a:extLst>
              </a:tr>
              <a:tr h="370840">
                <a:tc>
                  <a:txBody>
                    <a:bodyPr/>
                    <a:lstStyle/>
                    <a:p>
                      <a:r>
                        <a:rPr lang="en-IN" sz="1200" dirty="0"/>
                        <a:t>Testimonial videos of superstars who got their first break through Miranda Studios</a:t>
                      </a:r>
                      <a:endParaRPr lang="en-US" sz="1200" dirty="0"/>
                    </a:p>
                  </a:txBody>
                  <a:tcPr>
                    <a:solidFill>
                      <a:schemeClr val="bg2"/>
                    </a:solidFill>
                  </a:tcPr>
                </a:tc>
                <a:tc>
                  <a:txBody>
                    <a:bodyPr/>
                    <a:lstStyle/>
                    <a:p>
                      <a:r>
                        <a:rPr lang="en-IN" sz="1200" dirty="0"/>
                        <a:t>Celebrating any success </a:t>
                      </a:r>
                      <a:endParaRPr lang="en-US" sz="1200" dirty="0"/>
                    </a:p>
                  </a:txBody>
                  <a:tcPr>
                    <a:solidFill>
                      <a:schemeClr val="bg2"/>
                    </a:solidFill>
                  </a:tcPr>
                </a:tc>
                <a:extLst>
                  <a:ext uri="{0D108BD9-81ED-4DB2-BD59-A6C34878D82A}">
                    <a16:rowId xmlns:a16="http://schemas.microsoft.com/office/drawing/2014/main" val="1350476387"/>
                  </a:ext>
                </a:extLst>
              </a:tr>
              <a:tr h="370840">
                <a:tc>
                  <a:txBody>
                    <a:bodyPr/>
                    <a:lstStyle/>
                    <a:p>
                      <a:r>
                        <a:rPr lang="en-IN" sz="1200" dirty="0"/>
                        <a:t>Rigorous advertisements of the successful and loved movies of Miranda Studios and Shylock Sarkar</a:t>
                      </a:r>
                      <a:endParaRPr lang="en-US" sz="1200" dirty="0"/>
                    </a:p>
                  </a:txBody>
                  <a:tcPr>
                    <a:solidFill>
                      <a:schemeClr val="bg2"/>
                    </a:solidFill>
                  </a:tcPr>
                </a:tc>
                <a:tc>
                  <a:txBody>
                    <a:bodyPr/>
                    <a:lstStyle/>
                    <a:p>
                      <a:r>
                        <a:rPr lang="en-IN" sz="1200" dirty="0"/>
                        <a:t>Overdo social media posts and other PR stunts. It will look obvious</a:t>
                      </a:r>
                      <a:endParaRPr lang="en-US" sz="1200" dirty="0"/>
                    </a:p>
                  </a:txBody>
                  <a:tcPr>
                    <a:solidFill>
                      <a:schemeClr val="bg2"/>
                    </a:solidFill>
                  </a:tcPr>
                </a:tc>
                <a:extLst>
                  <a:ext uri="{0D108BD9-81ED-4DB2-BD59-A6C34878D82A}">
                    <a16:rowId xmlns:a16="http://schemas.microsoft.com/office/drawing/2014/main" val="3400114314"/>
                  </a:ext>
                </a:extLst>
              </a:tr>
              <a:tr h="370840">
                <a:tc>
                  <a:txBody>
                    <a:bodyPr/>
                    <a:lstStyle/>
                    <a:p>
                      <a:r>
                        <a:rPr lang="en-IN" sz="1200" dirty="0"/>
                        <a:t>Financial settlement to the unpaid artists during COVID and 3</a:t>
                      </a:r>
                      <a:r>
                        <a:rPr lang="en-IN" sz="1200" baseline="30000" dirty="0"/>
                        <a:t>rd</a:t>
                      </a:r>
                      <a:r>
                        <a:rPr lang="en-IN" sz="1200" dirty="0"/>
                        <a:t> party press release for same</a:t>
                      </a:r>
                      <a:endParaRPr lang="en-US" sz="1200" dirty="0"/>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Stating anything in the press of social media about the legal issues</a:t>
                      </a:r>
                    </a:p>
                    <a:p>
                      <a:endParaRPr lang="en-US" sz="1200" dirty="0"/>
                    </a:p>
                  </a:txBody>
                  <a:tcPr>
                    <a:solidFill>
                      <a:schemeClr val="bg2"/>
                    </a:solidFill>
                  </a:tcPr>
                </a:tc>
                <a:extLst>
                  <a:ext uri="{0D108BD9-81ED-4DB2-BD59-A6C34878D82A}">
                    <a16:rowId xmlns:a16="http://schemas.microsoft.com/office/drawing/2014/main" val="37117029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Trailer release of THE LAST MEN</a:t>
                      </a:r>
                      <a:endParaRPr lang="en-US" sz="1200" dirty="0"/>
                    </a:p>
                    <a:p>
                      <a:endParaRPr lang="en-US" sz="1200" dirty="0"/>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Controversial stand on any topic related Aftab Ahmed </a:t>
                      </a:r>
                      <a:endParaRPr lang="en-US" sz="1200" dirty="0"/>
                    </a:p>
                    <a:p>
                      <a:endParaRPr lang="en-US" sz="1200" dirty="0"/>
                    </a:p>
                  </a:txBody>
                  <a:tcPr>
                    <a:solidFill>
                      <a:schemeClr val="bg2"/>
                    </a:solidFill>
                  </a:tcPr>
                </a:tc>
                <a:extLst>
                  <a:ext uri="{0D108BD9-81ED-4DB2-BD59-A6C34878D82A}">
                    <a16:rowId xmlns:a16="http://schemas.microsoft.com/office/drawing/2014/main" val="3327236343"/>
                  </a:ext>
                </a:extLst>
              </a:tr>
            </a:tbl>
          </a:graphicData>
        </a:graphic>
      </p:graphicFrame>
      <p:sp>
        <p:nvSpPr>
          <p:cNvPr id="10" name="TextBox 9">
            <a:extLst>
              <a:ext uri="{FF2B5EF4-FFF2-40B4-BE49-F238E27FC236}">
                <a16:creationId xmlns:a16="http://schemas.microsoft.com/office/drawing/2014/main" id="{1FE2E9BF-4305-7CAE-0C0D-D37A05319439}"/>
              </a:ext>
            </a:extLst>
          </p:cNvPr>
          <p:cNvSpPr txBox="1"/>
          <p:nvPr/>
        </p:nvSpPr>
        <p:spPr>
          <a:xfrm>
            <a:off x="3859150" y="898570"/>
            <a:ext cx="4521200" cy="338554"/>
          </a:xfrm>
          <a:prstGeom prst="rect">
            <a:avLst/>
          </a:prstGeom>
          <a:noFill/>
          <a:ln>
            <a:solidFill>
              <a:schemeClr val="tx1"/>
            </a:solidFill>
          </a:ln>
        </p:spPr>
        <p:txBody>
          <a:bodyPr wrap="square" rtlCol="0">
            <a:spAutoFit/>
          </a:bodyPr>
          <a:lstStyle/>
          <a:p>
            <a:pPr algn="ctr"/>
            <a:r>
              <a:rPr lang="en-IN" sz="1600" b="1" dirty="0"/>
              <a:t>Strategic Steps</a:t>
            </a:r>
            <a:endParaRPr lang="en-US" sz="1600" b="1" dirty="0"/>
          </a:p>
        </p:txBody>
      </p:sp>
      <p:graphicFrame>
        <p:nvGraphicFramePr>
          <p:cNvPr id="4" name="Table 9">
            <a:extLst>
              <a:ext uri="{FF2B5EF4-FFF2-40B4-BE49-F238E27FC236}">
                <a16:creationId xmlns:a16="http://schemas.microsoft.com/office/drawing/2014/main" id="{DAC093BC-56BC-AD3B-2BA6-FE977127C085}"/>
              </a:ext>
            </a:extLst>
          </p:cNvPr>
          <p:cNvGraphicFramePr>
            <a:graphicFrameLocks noGrp="1"/>
          </p:cNvGraphicFramePr>
          <p:nvPr>
            <p:extLst>
              <p:ext uri="{D42A27DB-BD31-4B8C-83A1-F6EECF244321}">
                <p14:modId xmlns:p14="http://schemas.microsoft.com/office/powerpoint/2010/main" val="1867893962"/>
              </p:ext>
            </p:extLst>
          </p:nvPr>
        </p:nvGraphicFramePr>
        <p:xfrm>
          <a:off x="6313713" y="1589625"/>
          <a:ext cx="5727870" cy="2719638"/>
        </p:xfrm>
        <a:graphic>
          <a:graphicData uri="http://schemas.openxmlformats.org/drawingml/2006/table">
            <a:tbl>
              <a:tblPr firstRow="1" bandRow="1">
                <a:tableStyleId>{5C22544A-7EE6-4342-B048-85BDC9FD1C3A}</a:tableStyleId>
              </a:tblPr>
              <a:tblGrid>
                <a:gridCol w="2863935">
                  <a:extLst>
                    <a:ext uri="{9D8B030D-6E8A-4147-A177-3AD203B41FA5}">
                      <a16:colId xmlns:a16="http://schemas.microsoft.com/office/drawing/2014/main" val="2227161988"/>
                    </a:ext>
                  </a:extLst>
                </a:gridCol>
                <a:gridCol w="2863935">
                  <a:extLst>
                    <a:ext uri="{9D8B030D-6E8A-4147-A177-3AD203B41FA5}">
                      <a16:colId xmlns:a16="http://schemas.microsoft.com/office/drawing/2014/main" val="2701161306"/>
                    </a:ext>
                  </a:extLst>
                </a:gridCol>
              </a:tblGrid>
              <a:tr h="403158">
                <a:tc>
                  <a:txBody>
                    <a:bodyPr/>
                    <a:lstStyle/>
                    <a:p>
                      <a:r>
                        <a:rPr lang="en-IN" sz="1400" dirty="0"/>
                        <a:t>Dos</a:t>
                      </a:r>
                      <a:endParaRPr lang="en-US" sz="1400" dirty="0"/>
                    </a:p>
                  </a:txBody>
                  <a:tcPr>
                    <a:solidFill>
                      <a:srgbClr val="C00000"/>
                    </a:solidFill>
                  </a:tcPr>
                </a:tc>
                <a:tc>
                  <a:txBody>
                    <a:bodyPr/>
                    <a:lstStyle/>
                    <a:p>
                      <a:r>
                        <a:rPr lang="en-IN" sz="1400" dirty="0"/>
                        <a:t>Don’ts</a:t>
                      </a:r>
                      <a:endParaRPr lang="en-US" sz="1400" dirty="0"/>
                    </a:p>
                  </a:txBody>
                  <a:tcPr>
                    <a:solidFill>
                      <a:srgbClr val="C00000"/>
                    </a:solidFill>
                  </a:tcPr>
                </a:tc>
                <a:extLst>
                  <a:ext uri="{0D108BD9-81ED-4DB2-BD59-A6C34878D82A}">
                    <a16:rowId xmlns:a16="http://schemas.microsoft.com/office/drawing/2014/main" val="704794144"/>
                  </a:ext>
                </a:extLst>
              </a:tr>
              <a:tr h="6534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Shylock Sarkar to be refrained from using Twitter for a while and remain underground on social media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solidFill>
                      <a:schemeClr val="bg2"/>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Let the existing artists, employees and other related members leave (Otherwise they’ll join hands with the detractors</a:t>
                      </a:r>
                      <a:endParaRPr lang="en-US" sz="1400" dirty="0"/>
                    </a:p>
                  </a:txBody>
                  <a:tcPr anchor="ctr">
                    <a:solidFill>
                      <a:schemeClr val="bg2"/>
                    </a:solidFill>
                  </a:tcPr>
                </a:tc>
                <a:extLst>
                  <a:ext uri="{0D108BD9-81ED-4DB2-BD59-A6C34878D82A}">
                    <a16:rowId xmlns:a16="http://schemas.microsoft.com/office/drawing/2014/main" val="3045210087"/>
                  </a:ext>
                </a:extLst>
              </a:tr>
              <a:tr h="497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10 Days Diwali holidays to the employees of Miranda Studios and NetFilms for mental health and family time. Diwali incentives to all the full-time employees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solidFill>
                      <a:schemeClr val="bg2"/>
                    </a:solidFill>
                  </a:tcPr>
                </a:tc>
                <a:tc vMerge="1">
                  <a:txBody>
                    <a:bodyPr/>
                    <a:lstStyle/>
                    <a:p>
                      <a:endParaRPr lang="en-US" sz="1400" dirty="0"/>
                    </a:p>
                  </a:txBody>
                  <a:tcPr>
                    <a:solidFill>
                      <a:schemeClr val="bg2"/>
                    </a:solidFill>
                  </a:tcPr>
                </a:tc>
                <a:extLst>
                  <a:ext uri="{0D108BD9-81ED-4DB2-BD59-A6C34878D82A}">
                    <a16:rowId xmlns:a16="http://schemas.microsoft.com/office/drawing/2014/main" val="1350476387"/>
                  </a:ext>
                </a:extLst>
              </a:tr>
            </a:tbl>
          </a:graphicData>
        </a:graphic>
      </p:graphicFrame>
      <p:sp>
        <p:nvSpPr>
          <p:cNvPr id="14" name="TextBox 13">
            <a:extLst>
              <a:ext uri="{FF2B5EF4-FFF2-40B4-BE49-F238E27FC236}">
                <a16:creationId xmlns:a16="http://schemas.microsoft.com/office/drawing/2014/main" id="{C7CE835B-E8A2-9159-AC97-C6357BF7DEE3}"/>
              </a:ext>
            </a:extLst>
          </p:cNvPr>
          <p:cNvSpPr txBox="1"/>
          <p:nvPr/>
        </p:nvSpPr>
        <p:spPr>
          <a:xfrm>
            <a:off x="117024" y="4859555"/>
            <a:ext cx="2158090" cy="1600438"/>
          </a:xfrm>
          <a:prstGeom prst="rect">
            <a:avLst/>
          </a:prstGeom>
          <a:noFill/>
          <a:ln>
            <a:solidFill>
              <a:schemeClr val="tx1"/>
            </a:solidFill>
            <a:prstDash val="lgDash"/>
          </a:ln>
        </p:spPr>
        <p:txBody>
          <a:bodyPr wrap="square" rtlCol="0">
            <a:spAutoFit/>
          </a:bodyPr>
          <a:lstStyle/>
          <a:p>
            <a:pPr algn="just"/>
            <a:r>
              <a:rPr lang="en-IN" sz="1400" dirty="0"/>
              <a:t>An exclusive conversation (casual interview of Shylock Sarkar by famous YouTube Podcasters (Ex – Raj Shamani or Samdhish Bhatia about his life, career and other stuffs</a:t>
            </a:r>
            <a:endParaRPr lang="en-US" sz="1400" dirty="0"/>
          </a:p>
        </p:txBody>
      </p:sp>
      <p:sp>
        <p:nvSpPr>
          <p:cNvPr id="15" name="TextBox 14">
            <a:extLst>
              <a:ext uri="{FF2B5EF4-FFF2-40B4-BE49-F238E27FC236}">
                <a16:creationId xmlns:a16="http://schemas.microsoft.com/office/drawing/2014/main" id="{6C2A3D76-3FC8-F8D1-D931-FBD4CCD108BF}"/>
              </a:ext>
            </a:extLst>
          </p:cNvPr>
          <p:cNvSpPr txBox="1"/>
          <p:nvPr/>
        </p:nvSpPr>
        <p:spPr>
          <a:xfrm rot="16200000">
            <a:off x="2112658" y="5586334"/>
            <a:ext cx="1121226" cy="276999"/>
          </a:xfrm>
          <a:prstGeom prst="rect">
            <a:avLst/>
          </a:prstGeom>
          <a:noFill/>
          <a:ln>
            <a:solidFill>
              <a:schemeClr val="tx1"/>
            </a:solidFill>
            <a:prstDash val="lgDash"/>
          </a:ln>
        </p:spPr>
        <p:txBody>
          <a:bodyPr wrap="square" rtlCol="0">
            <a:spAutoFit/>
          </a:bodyPr>
          <a:lstStyle/>
          <a:p>
            <a:pPr algn="ctr"/>
            <a:r>
              <a:rPr lang="en-IN" sz="1200" dirty="0"/>
              <a:t>Reference:</a:t>
            </a:r>
            <a:endParaRPr lang="en-US" sz="1200" dirty="0"/>
          </a:p>
        </p:txBody>
      </p:sp>
      <p:pic>
        <p:nvPicPr>
          <p:cNvPr id="17" name="Picture 16">
            <a:extLst>
              <a:ext uri="{FF2B5EF4-FFF2-40B4-BE49-F238E27FC236}">
                <a16:creationId xmlns:a16="http://schemas.microsoft.com/office/drawing/2014/main" id="{06E630C8-83ED-7146-319F-D754A974BB83}"/>
              </a:ext>
            </a:extLst>
          </p:cNvPr>
          <p:cNvPicPr>
            <a:picLocks noChangeAspect="1"/>
          </p:cNvPicPr>
          <p:nvPr/>
        </p:nvPicPr>
        <p:blipFill>
          <a:blip r:embed="rId7"/>
          <a:stretch>
            <a:fillRect/>
          </a:stretch>
        </p:blipFill>
        <p:spPr>
          <a:xfrm>
            <a:off x="2950029" y="4719996"/>
            <a:ext cx="3169721" cy="2008733"/>
          </a:xfrm>
          <a:prstGeom prst="rect">
            <a:avLst/>
          </a:prstGeom>
          <a:effectLst>
            <a:outerShdw blurRad="63500" sx="102000" sy="102000" algn="ctr" rotWithShape="0">
              <a:prstClr val="black">
                <a:alpha val="40000"/>
              </a:prstClr>
            </a:outerShdw>
          </a:effectLst>
        </p:spPr>
      </p:pic>
      <p:sp>
        <p:nvSpPr>
          <p:cNvPr id="20" name="TextBox 19">
            <a:extLst>
              <a:ext uri="{FF2B5EF4-FFF2-40B4-BE49-F238E27FC236}">
                <a16:creationId xmlns:a16="http://schemas.microsoft.com/office/drawing/2014/main" id="{94E0CD93-DE3C-E796-15CC-20F6A9112BB3}"/>
              </a:ext>
            </a:extLst>
          </p:cNvPr>
          <p:cNvSpPr txBox="1"/>
          <p:nvPr/>
        </p:nvSpPr>
        <p:spPr>
          <a:xfrm>
            <a:off x="6255826" y="4481960"/>
            <a:ext cx="5727870" cy="2246769"/>
          </a:xfrm>
          <a:prstGeom prst="rect">
            <a:avLst/>
          </a:prstGeom>
          <a:noFill/>
          <a:ln>
            <a:solidFill>
              <a:schemeClr val="tx1"/>
            </a:solidFill>
            <a:prstDash val="lgDash"/>
          </a:ln>
        </p:spPr>
        <p:txBody>
          <a:bodyPr wrap="square" rtlCol="0">
            <a:spAutoFit/>
          </a:bodyPr>
          <a:lstStyle/>
          <a:p>
            <a:r>
              <a:rPr lang="en-IN" sz="1400" b="1" dirty="0"/>
              <a:t>Podcast Content</a:t>
            </a:r>
          </a:p>
          <a:p>
            <a:endParaRPr lang="en-IN" sz="1400" b="1" dirty="0"/>
          </a:p>
          <a:p>
            <a:pPr marL="342900" indent="-342900">
              <a:buFont typeface="+mj-lt"/>
              <a:buAutoNum type="arabicPeriod"/>
            </a:pPr>
            <a:r>
              <a:rPr lang="en-IN" sz="1400" dirty="0"/>
              <a:t>How did Miranda Studious start</a:t>
            </a:r>
          </a:p>
          <a:p>
            <a:pPr marL="342900" indent="-342900">
              <a:buFont typeface="+mj-lt"/>
              <a:buAutoNum type="arabicPeriod"/>
            </a:pPr>
            <a:r>
              <a:rPr lang="en-IN" sz="1400" dirty="0"/>
              <a:t>Theatre days of Shylock</a:t>
            </a:r>
          </a:p>
          <a:p>
            <a:pPr marL="342900" indent="-342900">
              <a:buFont typeface="+mj-lt"/>
              <a:buAutoNum type="arabicPeriod"/>
            </a:pPr>
            <a:r>
              <a:rPr lang="en-IN" sz="1400" dirty="0"/>
              <a:t>What he learnt from successes and failures</a:t>
            </a:r>
          </a:p>
          <a:p>
            <a:pPr marL="342900" indent="-342900">
              <a:buFont typeface="+mj-lt"/>
              <a:buAutoNum type="arabicPeriod"/>
            </a:pPr>
            <a:r>
              <a:rPr lang="en-IN" sz="1400" dirty="0"/>
              <a:t>How Miranda House became low key to mainstream</a:t>
            </a:r>
          </a:p>
          <a:p>
            <a:pPr marL="342900" indent="-342900">
              <a:buFont typeface="+mj-lt"/>
              <a:buAutoNum type="arabicPeriod"/>
            </a:pPr>
            <a:r>
              <a:rPr lang="en-IN" sz="1400" dirty="0"/>
              <a:t>Recent controversy with Aftab Ahmed </a:t>
            </a:r>
            <a:r>
              <a:rPr lang="en-IN" sz="1400" b="1" dirty="0"/>
              <a:t>(Where he will say that it all happened due to miscommunication and he Miranda needs Aftab)</a:t>
            </a:r>
          </a:p>
          <a:p>
            <a:pPr marL="342900" indent="-342900">
              <a:buFont typeface="+mj-lt"/>
              <a:buAutoNum type="arabicPeriod"/>
            </a:pPr>
            <a:r>
              <a:rPr lang="en-IN" sz="1400" dirty="0"/>
              <a:t>How he deal with hatred on social media </a:t>
            </a:r>
            <a:r>
              <a:rPr lang="en-IN" sz="1400" b="1" dirty="0"/>
              <a:t>(Modest answer “Fans are god” types</a:t>
            </a:r>
            <a:endParaRPr lang="en-IN" sz="1400" dirty="0"/>
          </a:p>
        </p:txBody>
      </p:sp>
      <p:sp>
        <p:nvSpPr>
          <p:cNvPr id="11" name="TextBox 10">
            <a:extLst>
              <a:ext uri="{FF2B5EF4-FFF2-40B4-BE49-F238E27FC236}">
                <a16:creationId xmlns:a16="http://schemas.microsoft.com/office/drawing/2014/main" id="{76EC061F-20A2-2CA5-6570-D2CA5EB06385}"/>
              </a:ext>
            </a:extLst>
          </p:cNvPr>
          <p:cNvSpPr txBox="1"/>
          <p:nvPr/>
        </p:nvSpPr>
        <p:spPr>
          <a:xfrm>
            <a:off x="-103413" y="4387930"/>
            <a:ext cx="6106884" cy="307777"/>
          </a:xfrm>
          <a:prstGeom prst="rect">
            <a:avLst/>
          </a:prstGeom>
          <a:noFill/>
        </p:spPr>
        <p:txBody>
          <a:bodyPr wrap="square">
            <a:spAutoFit/>
          </a:bodyPr>
          <a:lstStyle/>
          <a:p>
            <a:pPr algn="ctr"/>
            <a:r>
              <a:rPr lang="en-IN" sz="1400" b="1" dirty="0"/>
              <a:t>Some Whitewashing on Famous Podcasts</a:t>
            </a:r>
            <a:endParaRPr lang="en-US" sz="1400" b="1" dirty="0"/>
          </a:p>
        </p:txBody>
      </p:sp>
      <p:sp>
        <p:nvSpPr>
          <p:cNvPr id="18" name="TextBox 17">
            <a:extLst>
              <a:ext uri="{FF2B5EF4-FFF2-40B4-BE49-F238E27FC236}">
                <a16:creationId xmlns:a16="http://schemas.microsoft.com/office/drawing/2014/main" id="{1E50C92A-3FC6-81DB-F6E3-8B82ECC59C75}"/>
              </a:ext>
            </a:extLst>
          </p:cNvPr>
          <p:cNvSpPr txBox="1"/>
          <p:nvPr/>
        </p:nvSpPr>
        <p:spPr>
          <a:xfrm>
            <a:off x="17802" y="1265833"/>
            <a:ext cx="6139542" cy="307777"/>
          </a:xfrm>
          <a:prstGeom prst="rect">
            <a:avLst/>
          </a:prstGeom>
          <a:noFill/>
        </p:spPr>
        <p:txBody>
          <a:bodyPr wrap="square">
            <a:spAutoFit/>
          </a:bodyPr>
          <a:lstStyle/>
          <a:p>
            <a:pPr algn="ctr"/>
            <a:r>
              <a:rPr lang="en-IN" sz="1400" b="1" dirty="0"/>
              <a:t>External Stakeholders: Audience, NetFilms users, Artists, Agencies and Critics</a:t>
            </a:r>
            <a:endParaRPr lang="en-US" sz="1400" dirty="0"/>
          </a:p>
        </p:txBody>
      </p:sp>
      <p:sp>
        <p:nvSpPr>
          <p:cNvPr id="21" name="TextBox 20">
            <a:extLst>
              <a:ext uri="{FF2B5EF4-FFF2-40B4-BE49-F238E27FC236}">
                <a16:creationId xmlns:a16="http://schemas.microsoft.com/office/drawing/2014/main" id="{A77FFF91-253A-AFD0-435C-E5569AE5CA1C}"/>
              </a:ext>
            </a:extLst>
          </p:cNvPr>
          <p:cNvSpPr txBox="1"/>
          <p:nvPr/>
        </p:nvSpPr>
        <p:spPr>
          <a:xfrm>
            <a:off x="6097272" y="1258506"/>
            <a:ext cx="6139542" cy="307777"/>
          </a:xfrm>
          <a:prstGeom prst="rect">
            <a:avLst/>
          </a:prstGeom>
          <a:noFill/>
        </p:spPr>
        <p:txBody>
          <a:bodyPr wrap="square">
            <a:spAutoFit/>
          </a:bodyPr>
          <a:lstStyle/>
          <a:p>
            <a:pPr algn="ctr"/>
            <a:r>
              <a:rPr lang="en-IN" sz="1400" b="1" dirty="0"/>
              <a:t>Internal Stakeholders: Investors, Employees, Shylock Sarkar and others</a:t>
            </a:r>
            <a:endParaRPr lang="en-US" sz="1400" dirty="0"/>
          </a:p>
        </p:txBody>
      </p:sp>
      <p:sp>
        <p:nvSpPr>
          <p:cNvPr id="23" name="Rectangle 22">
            <a:extLst>
              <a:ext uri="{FF2B5EF4-FFF2-40B4-BE49-F238E27FC236}">
                <a16:creationId xmlns:a16="http://schemas.microsoft.com/office/drawing/2014/main" id="{7E319FC6-E93A-1DE4-9151-4168D0949CF3}"/>
              </a:ext>
            </a:extLst>
          </p:cNvPr>
          <p:cNvSpPr/>
          <p:nvPr/>
        </p:nvSpPr>
        <p:spPr>
          <a:xfrm>
            <a:off x="60335" y="4387930"/>
            <a:ext cx="12057174" cy="24159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547DEB9-1BA3-F670-364F-59322D928165}"/>
              </a:ext>
            </a:extLst>
          </p:cNvPr>
          <p:cNvSpPr/>
          <p:nvPr/>
        </p:nvSpPr>
        <p:spPr>
          <a:xfrm>
            <a:off x="2950029" y="6411689"/>
            <a:ext cx="3169721" cy="31704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6956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B9F1DF00-BE67-9F10-5D3E-705D56537898}"/>
              </a:ext>
            </a:extLst>
          </p:cNvPr>
          <p:cNvGraphicFramePr/>
          <p:nvPr>
            <p:extLst>
              <p:ext uri="{D42A27DB-BD31-4B8C-83A1-F6EECF244321}">
                <p14:modId xmlns:p14="http://schemas.microsoft.com/office/powerpoint/2010/main" val="2830538048"/>
              </p:ext>
            </p:extLst>
          </p:nvPr>
        </p:nvGraphicFramePr>
        <p:xfrm>
          <a:off x="17802" y="11772"/>
          <a:ext cx="12156395" cy="3697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Google Shape;300;p22">
            <a:extLst>
              <a:ext uri="{FF2B5EF4-FFF2-40B4-BE49-F238E27FC236}">
                <a16:creationId xmlns:a16="http://schemas.microsoft.com/office/drawing/2014/main" id="{AA428775-F0BC-4FE7-1573-B6B01344C80F}"/>
              </a:ext>
            </a:extLst>
          </p:cNvPr>
          <p:cNvGraphicFramePr/>
          <p:nvPr>
            <p:extLst>
              <p:ext uri="{D42A27DB-BD31-4B8C-83A1-F6EECF244321}">
                <p14:modId xmlns:p14="http://schemas.microsoft.com/office/powerpoint/2010/main" val="101881910"/>
              </p:ext>
            </p:extLst>
          </p:nvPr>
        </p:nvGraphicFramePr>
        <p:xfrm>
          <a:off x="141288" y="5009017"/>
          <a:ext cx="11637960" cy="365144"/>
        </p:xfrm>
        <a:graphic>
          <a:graphicData uri="http://schemas.openxmlformats.org/drawingml/2006/table">
            <a:tbl>
              <a:tblPr>
                <a:noFill/>
              </a:tblPr>
              <a:tblGrid>
                <a:gridCol w="969830">
                  <a:extLst>
                    <a:ext uri="{9D8B030D-6E8A-4147-A177-3AD203B41FA5}">
                      <a16:colId xmlns:a16="http://schemas.microsoft.com/office/drawing/2014/main" val="20000"/>
                    </a:ext>
                  </a:extLst>
                </a:gridCol>
                <a:gridCol w="969830">
                  <a:extLst>
                    <a:ext uri="{9D8B030D-6E8A-4147-A177-3AD203B41FA5}">
                      <a16:colId xmlns:a16="http://schemas.microsoft.com/office/drawing/2014/main" val="20001"/>
                    </a:ext>
                  </a:extLst>
                </a:gridCol>
                <a:gridCol w="969830">
                  <a:extLst>
                    <a:ext uri="{9D8B030D-6E8A-4147-A177-3AD203B41FA5}">
                      <a16:colId xmlns:a16="http://schemas.microsoft.com/office/drawing/2014/main" val="20002"/>
                    </a:ext>
                  </a:extLst>
                </a:gridCol>
                <a:gridCol w="969830">
                  <a:extLst>
                    <a:ext uri="{9D8B030D-6E8A-4147-A177-3AD203B41FA5}">
                      <a16:colId xmlns:a16="http://schemas.microsoft.com/office/drawing/2014/main" val="20003"/>
                    </a:ext>
                  </a:extLst>
                </a:gridCol>
                <a:gridCol w="969830">
                  <a:extLst>
                    <a:ext uri="{9D8B030D-6E8A-4147-A177-3AD203B41FA5}">
                      <a16:colId xmlns:a16="http://schemas.microsoft.com/office/drawing/2014/main" val="20004"/>
                    </a:ext>
                  </a:extLst>
                </a:gridCol>
                <a:gridCol w="969830">
                  <a:extLst>
                    <a:ext uri="{9D8B030D-6E8A-4147-A177-3AD203B41FA5}">
                      <a16:colId xmlns:a16="http://schemas.microsoft.com/office/drawing/2014/main" val="20005"/>
                    </a:ext>
                  </a:extLst>
                </a:gridCol>
                <a:gridCol w="969830">
                  <a:extLst>
                    <a:ext uri="{9D8B030D-6E8A-4147-A177-3AD203B41FA5}">
                      <a16:colId xmlns:a16="http://schemas.microsoft.com/office/drawing/2014/main" val="20006"/>
                    </a:ext>
                  </a:extLst>
                </a:gridCol>
                <a:gridCol w="969830">
                  <a:extLst>
                    <a:ext uri="{9D8B030D-6E8A-4147-A177-3AD203B41FA5}">
                      <a16:colId xmlns:a16="http://schemas.microsoft.com/office/drawing/2014/main" val="20007"/>
                    </a:ext>
                  </a:extLst>
                </a:gridCol>
                <a:gridCol w="969830">
                  <a:extLst>
                    <a:ext uri="{9D8B030D-6E8A-4147-A177-3AD203B41FA5}">
                      <a16:colId xmlns:a16="http://schemas.microsoft.com/office/drawing/2014/main" val="20008"/>
                    </a:ext>
                  </a:extLst>
                </a:gridCol>
                <a:gridCol w="969830">
                  <a:extLst>
                    <a:ext uri="{9D8B030D-6E8A-4147-A177-3AD203B41FA5}">
                      <a16:colId xmlns:a16="http://schemas.microsoft.com/office/drawing/2014/main" val="20009"/>
                    </a:ext>
                  </a:extLst>
                </a:gridCol>
                <a:gridCol w="969830">
                  <a:extLst>
                    <a:ext uri="{9D8B030D-6E8A-4147-A177-3AD203B41FA5}">
                      <a16:colId xmlns:a16="http://schemas.microsoft.com/office/drawing/2014/main" val="20010"/>
                    </a:ext>
                  </a:extLst>
                </a:gridCol>
                <a:gridCol w="969830">
                  <a:extLst>
                    <a:ext uri="{9D8B030D-6E8A-4147-A177-3AD203B41FA5}">
                      <a16:colId xmlns:a16="http://schemas.microsoft.com/office/drawing/2014/main" val="20011"/>
                    </a:ext>
                  </a:extLst>
                </a:gridCol>
              </a:tblGrid>
              <a:tr h="365125">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October</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Nov</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Jan</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Feb</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Mar</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Apr</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May</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June</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July</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August</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Sep</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6"/>
                    </a:solidFill>
                  </a:tcPr>
                </a:tc>
                <a:tc>
                  <a:txBody>
                    <a:bodyPr/>
                    <a:lstStyle/>
                    <a:p>
                      <a:pPr marL="0" lvl="0" indent="0" algn="ctr" rtl="0">
                        <a:spcBef>
                          <a:spcPts val="0"/>
                        </a:spcBef>
                        <a:spcAft>
                          <a:spcPts val="0"/>
                        </a:spcAft>
                        <a:buNone/>
                      </a:pPr>
                      <a:r>
                        <a:rPr lang="en" sz="1200" b="1" dirty="0">
                          <a:solidFill>
                            <a:schemeClr val="lt1"/>
                          </a:solidFill>
                          <a:latin typeface="+mn-lt"/>
                          <a:ea typeface="Fira Sans Extra Condensed"/>
                          <a:cs typeface="Fira Sans Extra Condensed"/>
                          <a:sym typeface="Fira Sans Extra Condensed"/>
                        </a:rPr>
                        <a:t>October</a:t>
                      </a:r>
                      <a:endParaRPr sz="1200" b="1" dirty="0">
                        <a:solidFill>
                          <a:schemeClr val="lt1"/>
                        </a:solidFill>
                        <a:latin typeface="+mn-lt"/>
                        <a:ea typeface="Fira Sans Extra Condensed"/>
                        <a:cs typeface="Fira Sans Extra Condensed"/>
                        <a:sym typeface="Fira Sans Extra Condensed"/>
                      </a:endParaRPr>
                    </a:p>
                  </a:txBody>
                  <a:tcPr marL="91428" marR="91428" marT="91132" marB="91132" anchor="ctr">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bl>
          </a:graphicData>
        </a:graphic>
      </p:graphicFrame>
      <p:sp>
        <p:nvSpPr>
          <p:cNvPr id="9" name="Google Shape;319;p22">
            <a:extLst>
              <a:ext uri="{FF2B5EF4-FFF2-40B4-BE49-F238E27FC236}">
                <a16:creationId xmlns:a16="http://schemas.microsoft.com/office/drawing/2014/main" id="{F2123805-11E7-1428-F4B4-DB44786CE8E3}"/>
              </a:ext>
            </a:extLst>
          </p:cNvPr>
          <p:cNvSpPr/>
          <p:nvPr/>
        </p:nvSpPr>
        <p:spPr>
          <a:xfrm>
            <a:off x="195263" y="5409067"/>
            <a:ext cx="2276475" cy="223837"/>
          </a:xfrm>
          <a:prstGeom prst="roundRect">
            <a:avLst>
              <a:gd name="adj" fmla="val 50000"/>
            </a:avLst>
          </a:prstGeom>
          <a:solidFill>
            <a:schemeClr val="accent4"/>
          </a:solidFill>
          <a:ln>
            <a:noFill/>
          </a:ln>
        </p:spPr>
        <p:txBody>
          <a:bodyPr spcFirstLastPara="1" lIns="91425" tIns="91425" rIns="91425" bIns="91425" anchor="ctr"/>
          <a:lstStyle/>
          <a:p>
            <a:pPr algn="ctr" eaLnBrk="1" fontAlgn="auto" hangingPunct="1">
              <a:spcBef>
                <a:spcPts val="0"/>
              </a:spcBef>
              <a:spcAft>
                <a:spcPts val="0"/>
              </a:spcAft>
              <a:defRPr/>
            </a:pPr>
            <a:r>
              <a:rPr lang="en" sz="1100" b="1" dirty="0">
                <a:latin typeface="+mn-lt"/>
                <a:ea typeface="Roboto" panose="02000000000000000000" pitchFamily="2" charset="0"/>
                <a:cs typeface="Roboto"/>
                <a:sym typeface="Roboto"/>
              </a:rPr>
              <a:t>PODCAST and its promotion</a:t>
            </a:r>
            <a:endParaRPr sz="900" b="1" dirty="0">
              <a:latin typeface="+mn-lt"/>
              <a:ea typeface="Roboto" panose="02000000000000000000" pitchFamily="2" charset="0"/>
              <a:cs typeface="Roboto"/>
              <a:sym typeface="Roboto"/>
            </a:endParaRPr>
          </a:p>
        </p:txBody>
      </p:sp>
      <p:sp>
        <p:nvSpPr>
          <p:cNvPr id="10" name="Google Shape;320;p22">
            <a:extLst>
              <a:ext uri="{FF2B5EF4-FFF2-40B4-BE49-F238E27FC236}">
                <a16:creationId xmlns:a16="http://schemas.microsoft.com/office/drawing/2014/main" id="{6CCB8F84-54F4-B148-27C6-315A11A713E1}"/>
              </a:ext>
            </a:extLst>
          </p:cNvPr>
          <p:cNvSpPr/>
          <p:nvPr/>
        </p:nvSpPr>
        <p:spPr>
          <a:xfrm>
            <a:off x="1284288" y="5642882"/>
            <a:ext cx="2789237" cy="466706"/>
          </a:xfrm>
          <a:prstGeom prst="roundRect">
            <a:avLst>
              <a:gd name="adj" fmla="val 50000"/>
            </a:avLst>
          </a:prstGeom>
          <a:solidFill>
            <a:schemeClr val="accent5"/>
          </a:solidFill>
          <a:ln>
            <a:noFill/>
          </a:ln>
        </p:spPr>
        <p:txBody>
          <a:bodyPr spcFirstLastPara="1" lIns="91425" tIns="91425" rIns="91425" bIns="91425" anchor="ctr"/>
          <a:lstStyle/>
          <a:p>
            <a:pPr algn="ctr" eaLnBrk="1" fontAlgn="auto" hangingPunct="1">
              <a:spcBef>
                <a:spcPts val="0"/>
              </a:spcBef>
              <a:spcAft>
                <a:spcPts val="0"/>
              </a:spcAft>
              <a:defRPr/>
            </a:pPr>
            <a:r>
              <a:rPr lang="en" sz="1200" b="1" dirty="0">
                <a:solidFill>
                  <a:schemeClr val="bg1"/>
                </a:solidFill>
                <a:latin typeface="Roboto"/>
                <a:ea typeface="Roboto"/>
                <a:cs typeface="Roboto"/>
                <a:sym typeface="Roboto"/>
              </a:rPr>
              <a:t>Trailer release and premiere announcement</a:t>
            </a:r>
            <a:endParaRPr sz="1000" b="1" dirty="0">
              <a:solidFill>
                <a:schemeClr val="bg1"/>
              </a:solidFill>
              <a:latin typeface="Roboto"/>
              <a:ea typeface="Roboto"/>
              <a:cs typeface="Roboto"/>
              <a:sym typeface="Roboto"/>
            </a:endParaRPr>
          </a:p>
        </p:txBody>
      </p:sp>
      <p:sp>
        <p:nvSpPr>
          <p:cNvPr id="11" name="Google Shape;321;p22">
            <a:extLst>
              <a:ext uri="{FF2B5EF4-FFF2-40B4-BE49-F238E27FC236}">
                <a16:creationId xmlns:a16="http://schemas.microsoft.com/office/drawing/2014/main" id="{1A25BB18-6267-7607-B4F6-21AEFA450924}"/>
              </a:ext>
            </a:extLst>
          </p:cNvPr>
          <p:cNvSpPr>
            <a:spLocks noChangeArrowheads="1"/>
          </p:cNvSpPr>
          <p:nvPr/>
        </p:nvSpPr>
        <p:spPr bwMode="auto">
          <a:xfrm>
            <a:off x="3657600" y="5415417"/>
            <a:ext cx="831850" cy="169862"/>
          </a:xfrm>
          <a:prstGeom prst="roundRect">
            <a:avLst>
              <a:gd name="adj" fmla="val 50000"/>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Paid ads</a:t>
            </a:r>
            <a:endParaRPr lang="en-US" altLang="en-US" sz="1000" b="1">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2" name="Google Shape;321;p22">
            <a:extLst>
              <a:ext uri="{FF2B5EF4-FFF2-40B4-BE49-F238E27FC236}">
                <a16:creationId xmlns:a16="http://schemas.microsoft.com/office/drawing/2014/main" id="{2019CCEB-CDD1-88DF-A170-2619ADA2E1C0}"/>
              </a:ext>
            </a:extLst>
          </p:cNvPr>
          <p:cNvSpPr>
            <a:spLocks noChangeArrowheads="1"/>
          </p:cNvSpPr>
          <p:nvPr/>
        </p:nvSpPr>
        <p:spPr bwMode="auto">
          <a:xfrm>
            <a:off x="5981700" y="5399542"/>
            <a:ext cx="831850" cy="169862"/>
          </a:xfrm>
          <a:prstGeom prst="roundRect">
            <a:avLst>
              <a:gd name="adj" fmla="val 50000"/>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Paid ads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3" name="Google Shape;321;p22">
            <a:extLst>
              <a:ext uri="{FF2B5EF4-FFF2-40B4-BE49-F238E27FC236}">
                <a16:creationId xmlns:a16="http://schemas.microsoft.com/office/drawing/2014/main" id="{4EF0C876-4C47-2F87-2E4E-8B532D6EC987}"/>
              </a:ext>
            </a:extLst>
          </p:cNvPr>
          <p:cNvSpPr>
            <a:spLocks noChangeArrowheads="1"/>
          </p:cNvSpPr>
          <p:nvPr/>
        </p:nvSpPr>
        <p:spPr bwMode="auto">
          <a:xfrm>
            <a:off x="8305800" y="5405892"/>
            <a:ext cx="831850" cy="169862"/>
          </a:xfrm>
          <a:prstGeom prst="roundRect">
            <a:avLst>
              <a:gd name="adj" fmla="val 50000"/>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Paid ads</a:t>
            </a:r>
            <a:endParaRPr lang="en-US" altLang="en-US" sz="1000" b="1">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5" name="Google Shape;320;p22">
            <a:extLst>
              <a:ext uri="{FF2B5EF4-FFF2-40B4-BE49-F238E27FC236}">
                <a16:creationId xmlns:a16="http://schemas.microsoft.com/office/drawing/2014/main" id="{646708D9-6426-A832-5FB7-B08B29A31197}"/>
              </a:ext>
            </a:extLst>
          </p:cNvPr>
          <p:cNvSpPr>
            <a:spLocks noChangeArrowheads="1"/>
          </p:cNvSpPr>
          <p:nvPr/>
        </p:nvSpPr>
        <p:spPr bwMode="auto">
          <a:xfrm>
            <a:off x="4044950" y="5920242"/>
            <a:ext cx="2449513" cy="223837"/>
          </a:xfrm>
          <a:prstGeom prst="roundRect">
            <a:avLst>
              <a:gd name="adj" fmla="val 50000"/>
            </a:avLst>
          </a:prstGeom>
          <a:solidFill>
            <a:srgbClr val="A5A5A5"/>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Pending payments and its PR</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6" name="Google Shape;320;p22">
            <a:extLst>
              <a:ext uri="{FF2B5EF4-FFF2-40B4-BE49-F238E27FC236}">
                <a16:creationId xmlns:a16="http://schemas.microsoft.com/office/drawing/2014/main" id="{9B9B3441-5901-3D52-03C3-3C591730CB8E}"/>
              </a:ext>
            </a:extLst>
          </p:cNvPr>
          <p:cNvSpPr>
            <a:spLocks noChangeArrowheads="1"/>
          </p:cNvSpPr>
          <p:nvPr/>
        </p:nvSpPr>
        <p:spPr bwMode="auto">
          <a:xfrm>
            <a:off x="6569075" y="5669869"/>
            <a:ext cx="2449513" cy="422296"/>
          </a:xfrm>
          <a:prstGeom prst="roundRect">
            <a:avLst>
              <a:gd name="adj" fmla="val 50000"/>
            </a:avLst>
          </a:prstGeom>
          <a:solidFill>
            <a:srgbClr val="A5A5A5"/>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Settlement of legal issues and its PR</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7" name="Google Shape;320;p22">
            <a:extLst>
              <a:ext uri="{FF2B5EF4-FFF2-40B4-BE49-F238E27FC236}">
                <a16:creationId xmlns:a16="http://schemas.microsoft.com/office/drawing/2014/main" id="{8E9CD68D-B934-716B-A280-6AB7E9910AF9}"/>
              </a:ext>
            </a:extLst>
          </p:cNvPr>
          <p:cNvSpPr>
            <a:spLocks noChangeArrowheads="1"/>
          </p:cNvSpPr>
          <p:nvPr/>
        </p:nvSpPr>
        <p:spPr bwMode="auto">
          <a:xfrm>
            <a:off x="9093200" y="5920242"/>
            <a:ext cx="2451100" cy="457615"/>
          </a:xfrm>
          <a:prstGeom prst="roundRect">
            <a:avLst>
              <a:gd name="adj" fmla="val 50000"/>
            </a:avLst>
          </a:prstGeom>
          <a:solidFill>
            <a:srgbClr val="A5A5A5"/>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Premier release on 1</a:t>
            </a:r>
            <a:r>
              <a:rPr lang="en-US" altLang="en-US" sz="1200" b="1" baseline="30000"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st</a:t>
            </a: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 September and its promotions </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8" name="Google Shape;320;p22">
            <a:extLst>
              <a:ext uri="{FF2B5EF4-FFF2-40B4-BE49-F238E27FC236}">
                <a16:creationId xmlns:a16="http://schemas.microsoft.com/office/drawing/2014/main" id="{587915E8-2402-3AC5-0B2A-B95DE1DE4011}"/>
              </a:ext>
            </a:extLst>
          </p:cNvPr>
          <p:cNvSpPr>
            <a:spLocks noChangeArrowheads="1"/>
          </p:cNvSpPr>
          <p:nvPr/>
        </p:nvSpPr>
        <p:spPr bwMode="auto">
          <a:xfrm>
            <a:off x="1077913" y="6114164"/>
            <a:ext cx="2787650" cy="457615"/>
          </a:xfrm>
          <a:prstGeom prst="roundRect">
            <a:avLst>
              <a:gd name="adj" fmla="val 50000"/>
            </a:avLst>
          </a:prstGeom>
          <a:solidFill>
            <a:srgbClr val="4472C4"/>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Diwali Holidays to employees and new year incentives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19" name="Google Shape;321;p22">
            <a:extLst>
              <a:ext uri="{FF2B5EF4-FFF2-40B4-BE49-F238E27FC236}">
                <a16:creationId xmlns:a16="http://schemas.microsoft.com/office/drawing/2014/main" id="{138F5F8E-9C1C-1428-E4AC-0E8640B74DC4}"/>
              </a:ext>
            </a:extLst>
          </p:cNvPr>
          <p:cNvSpPr>
            <a:spLocks noChangeArrowheads="1"/>
          </p:cNvSpPr>
          <p:nvPr/>
        </p:nvSpPr>
        <p:spPr bwMode="auto">
          <a:xfrm>
            <a:off x="4502150" y="5415417"/>
            <a:ext cx="831850" cy="169862"/>
          </a:xfrm>
          <a:prstGeom prst="roundRect">
            <a:avLst>
              <a:gd name="adj" fmla="val 50000"/>
            </a:avLst>
          </a:pr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Videos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20" name="Google Shape;321;p22">
            <a:extLst>
              <a:ext uri="{FF2B5EF4-FFF2-40B4-BE49-F238E27FC236}">
                <a16:creationId xmlns:a16="http://schemas.microsoft.com/office/drawing/2014/main" id="{BD36E4E4-F198-1C03-B193-87E170FFFE97}"/>
              </a:ext>
            </a:extLst>
          </p:cNvPr>
          <p:cNvSpPr>
            <a:spLocks noChangeArrowheads="1"/>
          </p:cNvSpPr>
          <p:nvPr/>
        </p:nvSpPr>
        <p:spPr bwMode="auto">
          <a:xfrm>
            <a:off x="6827838" y="5404304"/>
            <a:ext cx="831850" cy="169863"/>
          </a:xfrm>
          <a:prstGeom prst="roundRect">
            <a:avLst>
              <a:gd name="adj" fmla="val 50000"/>
            </a:avLst>
          </a:pr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Videos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21" name="Google Shape;321;p22">
            <a:extLst>
              <a:ext uri="{FF2B5EF4-FFF2-40B4-BE49-F238E27FC236}">
                <a16:creationId xmlns:a16="http://schemas.microsoft.com/office/drawing/2014/main" id="{07BE0C61-22F2-34A2-1B7E-AB0EAFF4EEAB}"/>
              </a:ext>
            </a:extLst>
          </p:cNvPr>
          <p:cNvSpPr>
            <a:spLocks noChangeArrowheads="1"/>
          </p:cNvSpPr>
          <p:nvPr/>
        </p:nvSpPr>
        <p:spPr bwMode="auto">
          <a:xfrm>
            <a:off x="9170988" y="5415417"/>
            <a:ext cx="831850" cy="169862"/>
          </a:xfrm>
          <a:prstGeom prst="roundRect">
            <a:avLst>
              <a:gd name="adj" fmla="val 50000"/>
            </a:avLst>
          </a:prstGeom>
          <a:solidFill>
            <a:srgbClr val="ED7D31"/>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Videos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22" name="Google Shape;320;p22">
            <a:extLst>
              <a:ext uri="{FF2B5EF4-FFF2-40B4-BE49-F238E27FC236}">
                <a16:creationId xmlns:a16="http://schemas.microsoft.com/office/drawing/2014/main" id="{9A8EEE9B-71F1-1D12-ECAD-4BCCECC43255}"/>
              </a:ext>
            </a:extLst>
          </p:cNvPr>
          <p:cNvSpPr>
            <a:spLocks noChangeArrowheads="1"/>
          </p:cNvSpPr>
          <p:nvPr/>
        </p:nvSpPr>
        <p:spPr bwMode="auto">
          <a:xfrm>
            <a:off x="1687513" y="6590622"/>
            <a:ext cx="10145712" cy="223837"/>
          </a:xfrm>
          <a:prstGeom prst="roundRect">
            <a:avLst>
              <a:gd name="adj" fmla="val 50000"/>
            </a:avLst>
          </a:prstGeom>
          <a:solidFill>
            <a:srgbClr val="428A8C"/>
          </a:solidFill>
          <a:ln>
            <a:noFill/>
          </a:ln>
          <a:extLst>
            <a:ext uri="{91240B29-F687-4F45-9708-019B960494DF}">
              <a14:hiddenLine xmlns:a14="http://schemas.microsoft.com/office/drawing/2010/main" w="9525">
                <a:solidFill>
                  <a:srgbClr val="000000"/>
                </a:solidFill>
                <a:round/>
                <a:headEnd/>
                <a:tailEnd/>
              </a14:hiddenLine>
            </a:ext>
          </a:extLst>
        </p:spPr>
        <p:txBody>
          <a:bodyPr lIns="91425" tIns="91425" rIns="91425" bIns="91425"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12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rPr>
              <a:t>Narrative change strategies</a:t>
            </a:r>
            <a:endParaRPr lang="en-US" altLang="en-US" sz="1000" b="1" dirty="0">
              <a:solidFill>
                <a:schemeClr val="bg1"/>
              </a:solidFill>
              <a:latin typeface="Roboto" panose="02000000000000000000" pitchFamily="2" charset="0"/>
              <a:ea typeface="Roboto" panose="02000000000000000000" pitchFamily="2" charset="0"/>
              <a:cs typeface="Roboto" panose="02000000000000000000" pitchFamily="2" charset="0"/>
              <a:sym typeface="Roboto" panose="02000000000000000000" pitchFamily="2" charset="0"/>
            </a:endParaRPr>
          </a:p>
        </p:txBody>
      </p:sp>
      <p:sp>
        <p:nvSpPr>
          <p:cNvPr id="24" name="Google Shape;320;p22">
            <a:extLst>
              <a:ext uri="{FF2B5EF4-FFF2-40B4-BE49-F238E27FC236}">
                <a16:creationId xmlns:a16="http://schemas.microsoft.com/office/drawing/2014/main" id="{A396306E-99B0-C428-8B46-7815B2E254A1}"/>
              </a:ext>
            </a:extLst>
          </p:cNvPr>
          <p:cNvSpPr/>
          <p:nvPr/>
        </p:nvSpPr>
        <p:spPr>
          <a:xfrm>
            <a:off x="3974307" y="6162922"/>
            <a:ext cx="3297237" cy="404303"/>
          </a:xfrm>
          <a:prstGeom prst="roundRect">
            <a:avLst>
              <a:gd name="adj" fmla="val 50000"/>
            </a:avLst>
          </a:prstGeom>
          <a:solidFill>
            <a:schemeClr val="accent2">
              <a:lumMod val="75000"/>
            </a:schemeClr>
          </a:solidFill>
          <a:ln>
            <a:noFill/>
          </a:ln>
        </p:spPr>
        <p:txBody>
          <a:bodyPr spcFirstLastPara="1" lIns="91425" tIns="91425" rIns="91425" bIns="91425" anchor="ctr"/>
          <a:lstStyle/>
          <a:p>
            <a:pPr algn="ctr" eaLnBrk="1" fontAlgn="auto" hangingPunct="1">
              <a:spcBef>
                <a:spcPts val="0"/>
              </a:spcBef>
              <a:spcAft>
                <a:spcPts val="0"/>
              </a:spcAft>
              <a:defRPr/>
            </a:pPr>
            <a:r>
              <a:rPr lang="en" sz="1200" b="1" dirty="0">
                <a:solidFill>
                  <a:schemeClr val="bg1"/>
                </a:solidFill>
                <a:latin typeface="Roboto"/>
                <a:ea typeface="Roboto"/>
                <a:cs typeface="Roboto"/>
                <a:sym typeface="Roboto"/>
              </a:rPr>
              <a:t>Release &amp; promotion of Arijit Singh’s song from the series on reels and FB</a:t>
            </a:r>
            <a:endParaRPr sz="1000" b="1" dirty="0">
              <a:solidFill>
                <a:schemeClr val="bg1"/>
              </a:solidFill>
              <a:latin typeface="Roboto"/>
              <a:ea typeface="Roboto"/>
              <a:cs typeface="Roboto"/>
              <a:sym typeface="Roboto"/>
            </a:endParaRPr>
          </a:p>
        </p:txBody>
      </p:sp>
      <p:sp>
        <p:nvSpPr>
          <p:cNvPr id="25" name="TextBox 24">
            <a:extLst>
              <a:ext uri="{FF2B5EF4-FFF2-40B4-BE49-F238E27FC236}">
                <a16:creationId xmlns:a16="http://schemas.microsoft.com/office/drawing/2014/main" id="{4D4DBF95-2BFC-970F-0BA7-C0B83CBE0C71}"/>
              </a:ext>
            </a:extLst>
          </p:cNvPr>
          <p:cNvSpPr txBox="1"/>
          <p:nvPr/>
        </p:nvSpPr>
        <p:spPr>
          <a:xfrm>
            <a:off x="11174185" y="4750976"/>
            <a:ext cx="740229" cy="307777"/>
          </a:xfrm>
          <a:prstGeom prst="rect">
            <a:avLst/>
          </a:prstGeom>
          <a:noFill/>
        </p:spPr>
        <p:txBody>
          <a:bodyPr wrap="square" rtlCol="0">
            <a:spAutoFit/>
          </a:bodyPr>
          <a:lstStyle/>
          <a:p>
            <a:r>
              <a:rPr lang="en-IN" sz="1400" b="1" dirty="0"/>
              <a:t>2023</a:t>
            </a:r>
            <a:endParaRPr lang="en-US" sz="1400" b="1" dirty="0"/>
          </a:p>
        </p:txBody>
      </p:sp>
      <p:sp>
        <p:nvSpPr>
          <p:cNvPr id="26" name="TextBox 25">
            <a:extLst>
              <a:ext uri="{FF2B5EF4-FFF2-40B4-BE49-F238E27FC236}">
                <a16:creationId xmlns:a16="http://schemas.microsoft.com/office/drawing/2014/main" id="{CC8E1023-7348-DEB7-5987-1518B4C44E23}"/>
              </a:ext>
            </a:extLst>
          </p:cNvPr>
          <p:cNvSpPr txBox="1"/>
          <p:nvPr/>
        </p:nvSpPr>
        <p:spPr>
          <a:xfrm>
            <a:off x="141288" y="4740296"/>
            <a:ext cx="740229" cy="307777"/>
          </a:xfrm>
          <a:prstGeom prst="rect">
            <a:avLst/>
          </a:prstGeom>
          <a:noFill/>
        </p:spPr>
        <p:txBody>
          <a:bodyPr wrap="square" rtlCol="0">
            <a:spAutoFit/>
          </a:bodyPr>
          <a:lstStyle/>
          <a:p>
            <a:r>
              <a:rPr lang="en-IN" sz="1400" b="1" dirty="0"/>
              <a:t>2022</a:t>
            </a:r>
            <a:endParaRPr lang="en-US" sz="1400" b="1" dirty="0"/>
          </a:p>
        </p:txBody>
      </p:sp>
      <p:graphicFrame>
        <p:nvGraphicFramePr>
          <p:cNvPr id="29" name="Chart 28">
            <a:extLst>
              <a:ext uri="{FF2B5EF4-FFF2-40B4-BE49-F238E27FC236}">
                <a16:creationId xmlns:a16="http://schemas.microsoft.com/office/drawing/2014/main" id="{87BA299F-513C-33FF-14E1-00CD62262DD7}"/>
              </a:ext>
            </a:extLst>
          </p:cNvPr>
          <p:cNvGraphicFramePr/>
          <p:nvPr>
            <p:extLst>
              <p:ext uri="{D42A27DB-BD31-4B8C-83A1-F6EECF244321}">
                <p14:modId xmlns:p14="http://schemas.microsoft.com/office/powerpoint/2010/main" val="764080161"/>
              </p:ext>
            </p:extLst>
          </p:nvPr>
        </p:nvGraphicFramePr>
        <p:xfrm>
          <a:off x="-150812" y="667555"/>
          <a:ext cx="4640262" cy="3860201"/>
        </p:xfrm>
        <a:graphic>
          <a:graphicData uri="http://schemas.openxmlformats.org/drawingml/2006/chart">
            <c:chart xmlns:c="http://schemas.openxmlformats.org/drawingml/2006/chart" xmlns:r="http://schemas.openxmlformats.org/officeDocument/2006/relationships" r:id="rId7"/>
          </a:graphicData>
        </a:graphic>
      </p:graphicFrame>
      <p:cxnSp>
        <p:nvCxnSpPr>
          <p:cNvPr id="31" name="Straight Connector 30">
            <a:extLst>
              <a:ext uri="{FF2B5EF4-FFF2-40B4-BE49-F238E27FC236}">
                <a16:creationId xmlns:a16="http://schemas.microsoft.com/office/drawing/2014/main" id="{EF6416BE-CCBB-6DDC-17BB-E69CFA288556}"/>
              </a:ext>
            </a:extLst>
          </p:cNvPr>
          <p:cNvCxnSpPr/>
          <p:nvPr/>
        </p:nvCxnSpPr>
        <p:spPr>
          <a:xfrm>
            <a:off x="4391479" y="684817"/>
            <a:ext cx="0" cy="4066159"/>
          </a:xfrm>
          <a:prstGeom prst="line">
            <a:avLst/>
          </a:prstGeom>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5B00B9A-F1C4-0A41-806B-375F32B90FAE}"/>
              </a:ext>
            </a:extLst>
          </p:cNvPr>
          <p:cNvSpPr txBox="1"/>
          <p:nvPr/>
        </p:nvSpPr>
        <p:spPr>
          <a:xfrm>
            <a:off x="4512582" y="608442"/>
            <a:ext cx="7320643" cy="338554"/>
          </a:xfrm>
          <a:prstGeom prst="rect">
            <a:avLst/>
          </a:prstGeom>
          <a:noFill/>
        </p:spPr>
        <p:txBody>
          <a:bodyPr wrap="square" rtlCol="0">
            <a:spAutoFit/>
          </a:bodyPr>
          <a:lstStyle/>
          <a:p>
            <a:pPr algn="ctr"/>
            <a:r>
              <a:rPr lang="en-IN" sz="1600" b="1" dirty="0"/>
              <a:t>Tomorrow morning press conference statement</a:t>
            </a:r>
          </a:p>
        </p:txBody>
      </p:sp>
      <p:sp>
        <p:nvSpPr>
          <p:cNvPr id="2" name="TextBox 1">
            <a:extLst>
              <a:ext uri="{FF2B5EF4-FFF2-40B4-BE49-F238E27FC236}">
                <a16:creationId xmlns:a16="http://schemas.microsoft.com/office/drawing/2014/main" id="{0650A0B5-98E1-8C6E-FF2F-1A7BC6E26838}"/>
              </a:ext>
            </a:extLst>
          </p:cNvPr>
          <p:cNvSpPr txBox="1"/>
          <p:nvPr/>
        </p:nvSpPr>
        <p:spPr>
          <a:xfrm>
            <a:off x="1186318" y="1873768"/>
            <a:ext cx="805768" cy="461665"/>
          </a:xfrm>
          <a:prstGeom prst="rect">
            <a:avLst/>
          </a:prstGeom>
          <a:noFill/>
        </p:spPr>
        <p:txBody>
          <a:bodyPr wrap="square" rtlCol="0">
            <a:spAutoFit/>
          </a:bodyPr>
          <a:lstStyle/>
          <a:p>
            <a:pPr algn="ctr"/>
            <a:r>
              <a:rPr lang="en-IN" sz="1200" b="1" dirty="0"/>
              <a:t>Owned + Shared</a:t>
            </a:r>
            <a:endParaRPr lang="en-US" sz="1200" b="1" dirty="0"/>
          </a:p>
        </p:txBody>
      </p:sp>
      <p:sp>
        <p:nvSpPr>
          <p:cNvPr id="3" name="TextBox 2">
            <a:extLst>
              <a:ext uri="{FF2B5EF4-FFF2-40B4-BE49-F238E27FC236}">
                <a16:creationId xmlns:a16="http://schemas.microsoft.com/office/drawing/2014/main" id="{A84A745B-D712-D96A-D8F2-3EB874DC6C59}"/>
              </a:ext>
            </a:extLst>
          </p:cNvPr>
          <p:cNvSpPr txBox="1"/>
          <p:nvPr/>
        </p:nvSpPr>
        <p:spPr>
          <a:xfrm>
            <a:off x="881404" y="2612519"/>
            <a:ext cx="805768" cy="461665"/>
          </a:xfrm>
          <a:prstGeom prst="rect">
            <a:avLst/>
          </a:prstGeom>
          <a:noFill/>
        </p:spPr>
        <p:txBody>
          <a:bodyPr wrap="square" rtlCol="0">
            <a:spAutoFit/>
          </a:bodyPr>
          <a:lstStyle/>
          <a:p>
            <a:pPr algn="ctr"/>
            <a:r>
              <a:rPr lang="en-IN" sz="1200" b="1" dirty="0"/>
              <a:t>Owned + Shared</a:t>
            </a:r>
            <a:endParaRPr lang="en-US" sz="1200" b="1" dirty="0"/>
          </a:p>
        </p:txBody>
      </p:sp>
      <p:sp>
        <p:nvSpPr>
          <p:cNvPr id="4" name="TextBox 3">
            <a:extLst>
              <a:ext uri="{FF2B5EF4-FFF2-40B4-BE49-F238E27FC236}">
                <a16:creationId xmlns:a16="http://schemas.microsoft.com/office/drawing/2014/main" id="{BFAF43A2-277A-5D18-9DF6-C20E9BF19FE5}"/>
              </a:ext>
            </a:extLst>
          </p:cNvPr>
          <p:cNvSpPr txBox="1"/>
          <p:nvPr/>
        </p:nvSpPr>
        <p:spPr>
          <a:xfrm>
            <a:off x="1322842" y="3310812"/>
            <a:ext cx="805768" cy="461665"/>
          </a:xfrm>
          <a:prstGeom prst="rect">
            <a:avLst/>
          </a:prstGeom>
          <a:noFill/>
        </p:spPr>
        <p:txBody>
          <a:bodyPr wrap="square" rtlCol="0">
            <a:spAutoFit/>
          </a:bodyPr>
          <a:lstStyle/>
          <a:p>
            <a:pPr algn="ctr"/>
            <a:r>
              <a:rPr lang="en-IN" sz="1200" b="1" dirty="0"/>
              <a:t>Owned + Shared</a:t>
            </a:r>
            <a:endParaRPr lang="en-US" sz="1200" b="1" dirty="0"/>
          </a:p>
        </p:txBody>
      </p:sp>
      <p:sp>
        <p:nvSpPr>
          <p:cNvPr id="5" name="TextBox 4">
            <a:extLst>
              <a:ext uri="{FF2B5EF4-FFF2-40B4-BE49-F238E27FC236}">
                <a16:creationId xmlns:a16="http://schemas.microsoft.com/office/drawing/2014/main" id="{9CC94FFC-7EB9-2600-E4CE-1A0DFC38488B}"/>
              </a:ext>
            </a:extLst>
          </p:cNvPr>
          <p:cNvSpPr txBox="1"/>
          <p:nvPr/>
        </p:nvSpPr>
        <p:spPr>
          <a:xfrm>
            <a:off x="2233558" y="3198167"/>
            <a:ext cx="805768" cy="461665"/>
          </a:xfrm>
          <a:prstGeom prst="rect">
            <a:avLst/>
          </a:prstGeom>
          <a:noFill/>
        </p:spPr>
        <p:txBody>
          <a:bodyPr wrap="square" rtlCol="0">
            <a:spAutoFit/>
          </a:bodyPr>
          <a:lstStyle/>
          <a:p>
            <a:pPr algn="ctr"/>
            <a:r>
              <a:rPr lang="en-IN" sz="1200" b="1" dirty="0"/>
              <a:t>Owned + Shared</a:t>
            </a:r>
            <a:endParaRPr lang="en-US" sz="1200" b="1" dirty="0"/>
          </a:p>
        </p:txBody>
      </p:sp>
      <p:sp>
        <p:nvSpPr>
          <p:cNvPr id="6" name="TextBox 5">
            <a:extLst>
              <a:ext uri="{FF2B5EF4-FFF2-40B4-BE49-F238E27FC236}">
                <a16:creationId xmlns:a16="http://schemas.microsoft.com/office/drawing/2014/main" id="{48014EF4-2882-3AB3-2414-F5B4C9964231}"/>
              </a:ext>
            </a:extLst>
          </p:cNvPr>
          <p:cNvSpPr txBox="1"/>
          <p:nvPr/>
        </p:nvSpPr>
        <p:spPr>
          <a:xfrm>
            <a:off x="2301084" y="2002788"/>
            <a:ext cx="805768" cy="461665"/>
          </a:xfrm>
          <a:prstGeom prst="rect">
            <a:avLst/>
          </a:prstGeom>
          <a:noFill/>
        </p:spPr>
        <p:txBody>
          <a:bodyPr wrap="square" rtlCol="0">
            <a:spAutoFit/>
          </a:bodyPr>
          <a:lstStyle/>
          <a:p>
            <a:pPr algn="ctr"/>
            <a:r>
              <a:rPr lang="en-IN" sz="1200" b="1" dirty="0"/>
              <a:t>Earned + Paid</a:t>
            </a:r>
            <a:endParaRPr lang="en-US" sz="1200" b="1" dirty="0"/>
          </a:p>
        </p:txBody>
      </p:sp>
      <p:pic>
        <p:nvPicPr>
          <p:cNvPr id="23" name="Graphic 22" descr="Open quotation mark with solid fill">
            <a:extLst>
              <a:ext uri="{FF2B5EF4-FFF2-40B4-BE49-F238E27FC236}">
                <a16:creationId xmlns:a16="http://schemas.microsoft.com/office/drawing/2014/main" id="{40E74600-5C98-59A3-5B75-A451B4D0A7D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67892" y="807213"/>
            <a:ext cx="390180" cy="390180"/>
          </a:xfrm>
          <a:prstGeom prst="rect">
            <a:avLst/>
          </a:prstGeom>
        </p:spPr>
      </p:pic>
      <p:sp>
        <p:nvSpPr>
          <p:cNvPr id="27" name="Rectangle: Rounded Corners 26">
            <a:extLst>
              <a:ext uri="{FF2B5EF4-FFF2-40B4-BE49-F238E27FC236}">
                <a16:creationId xmlns:a16="http://schemas.microsoft.com/office/drawing/2014/main" id="{6DF59FA6-32CA-3AB7-0A33-F9DD72322E1C}"/>
              </a:ext>
            </a:extLst>
          </p:cNvPr>
          <p:cNvSpPr/>
          <p:nvPr/>
        </p:nvSpPr>
        <p:spPr>
          <a:xfrm>
            <a:off x="4880344" y="1020726"/>
            <a:ext cx="6751675" cy="146955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i="1" dirty="0">
                <a:solidFill>
                  <a:schemeClr val="tx1">
                    <a:lumMod val="65000"/>
                    <a:lumOff val="35000"/>
                  </a:schemeClr>
                </a:solidFill>
              </a:rPr>
              <a:t>The entire staff of the Miranda studios is geared up for a new trek. We felt honoured that people are with us through thick and thin and they believe in the art we have created so far. We promise not to disappoint them with something that India has never seen before soon. The journey was exciting!, hold on your horses!</a:t>
            </a:r>
            <a:endParaRPr lang="en-US" sz="1600" i="1" dirty="0">
              <a:solidFill>
                <a:schemeClr val="tx1">
                  <a:lumMod val="65000"/>
                  <a:lumOff val="35000"/>
                </a:schemeClr>
              </a:solidFill>
            </a:endParaRPr>
          </a:p>
        </p:txBody>
      </p:sp>
      <p:pic>
        <p:nvPicPr>
          <p:cNvPr id="28" name="Graphic 27" descr="Open quotation mark with solid fill">
            <a:extLst>
              <a:ext uri="{FF2B5EF4-FFF2-40B4-BE49-F238E27FC236}">
                <a16:creationId xmlns:a16="http://schemas.microsoft.com/office/drawing/2014/main" id="{897B83FD-1F51-03E5-38E8-4A2EC30EF46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10800000">
            <a:off x="11616057" y="2261620"/>
            <a:ext cx="390180" cy="390180"/>
          </a:xfrm>
          <a:prstGeom prst="rect">
            <a:avLst/>
          </a:prstGeom>
        </p:spPr>
      </p:pic>
      <p:sp>
        <p:nvSpPr>
          <p:cNvPr id="30" name="TextBox 29">
            <a:extLst>
              <a:ext uri="{FF2B5EF4-FFF2-40B4-BE49-F238E27FC236}">
                <a16:creationId xmlns:a16="http://schemas.microsoft.com/office/drawing/2014/main" id="{E78F0257-1EA8-BD69-D869-7A4721DABF16}"/>
              </a:ext>
            </a:extLst>
          </p:cNvPr>
          <p:cNvSpPr txBox="1"/>
          <p:nvPr/>
        </p:nvSpPr>
        <p:spPr>
          <a:xfrm>
            <a:off x="4645478" y="2655965"/>
            <a:ext cx="7320643" cy="338554"/>
          </a:xfrm>
          <a:prstGeom prst="rect">
            <a:avLst/>
          </a:prstGeom>
          <a:noFill/>
        </p:spPr>
        <p:txBody>
          <a:bodyPr wrap="square" rtlCol="0">
            <a:spAutoFit/>
          </a:bodyPr>
          <a:lstStyle/>
          <a:p>
            <a:pPr algn="ctr"/>
            <a:r>
              <a:rPr lang="en-IN" sz="1600" b="1" dirty="0"/>
              <a:t>Expected reaction</a:t>
            </a:r>
          </a:p>
        </p:txBody>
      </p:sp>
      <p:pic>
        <p:nvPicPr>
          <p:cNvPr id="34" name="Picture 33" descr="Graphical user interface, text, application&#10;&#10;Description automatically generated">
            <a:extLst>
              <a:ext uri="{FF2B5EF4-FFF2-40B4-BE49-F238E27FC236}">
                <a16:creationId xmlns:a16="http://schemas.microsoft.com/office/drawing/2014/main" id="{5319DDB1-1F3D-E5B2-FA38-2B50935A984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5054" y="1520037"/>
            <a:ext cx="6751674" cy="4232723"/>
          </a:xfrm>
          <a:prstGeom prst="rect">
            <a:avLst/>
          </a:prstGeom>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40443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2910</TotalTime>
  <Words>805</Words>
  <Application>Microsoft Office PowerPoint</Application>
  <PresentationFormat>Widescreen</PresentationFormat>
  <Paragraphs>105</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Roboto</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Mohit Kiradoo</dc:creator>
  <cp:lastModifiedBy>Mohit Kiradoo</cp:lastModifiedBy>
  <cp:revision>10</cp:revision>
  <dcterms:created xsi:type="dcterms:W3CDTF">2022-11-07T06:45:34Z</dcterms:created>
  <dcterms:modified xsi:type="dcterms:W3CDTF">2022-11-11T05:43:42Z</dcterms:modified>
</cp:coreProperties>
</file>