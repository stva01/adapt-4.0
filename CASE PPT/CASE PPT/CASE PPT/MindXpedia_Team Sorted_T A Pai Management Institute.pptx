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8" r:id="rId4"/>
    <p:sldId id="260" r:id="rId5"/>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8693" autoAdjust="0"/>
  </p:normalViewPr>
  <p:slideViewPr>
    <p:cSldViewPr snapToGrid="0">
      <p:cViewPr varScale="1">
        <p:scale>
          <a:sx n="65" d="100"/>
          <a:sy n="65" d="100"/>
        </p:scale>
        <p:origin x="1358"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FEFE0D-B598-460A-B331-2F636FE5B91D}" type="datetimeFigureOut">
              <a:rPr lang="en-IN" smtClean="0"/>
              <a:t>14-01-2023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567E5C-C1F9-4E9F-A014-955349C26083}" type="slidenum">
              <a:rPr lang="en-IN" smtClean="0"/>
              <a:t>‹#›</a:t>
            </a:fld>
            <a:endParaRPr lang="en-IN"/>
          </a:p>
        </p:txBody>
      </p:sp>
    </p:spTree>
    <p:extLst>
      <p:ext uri="{BB962C8B-B14F-4D97-AF65-F5344CB8AC3E}">
        <p14:creationId xmlns:p14="http://schemas.microsoft.com/office/powerpoint/2010/main" val="595312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098" name="Google Shape;81;p1:notes">
            <a:extLst>
              <a:ext uri="{FF2B5EF4-FFF2-40B4-BE49-F238E27FC236}">
                <a16:creationId xmlns:a16="http://schemas.microsoft.com/office/drawing/2014/main" id="{DAB7529C-CB61-F776-FFBF-8C80EAF3AA3E}"/>
              </a:ext>
            </a:extLst>
          </p:cNvPr>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numCol="1" anchor="t" anchorCtr="0" compatLnSpc="1">
            <a:prstTxWarp prst="textNoShape">
              <a:avLst/>
            </a:prstTxWarp>
          </a:bodyPr>
          <a:lstStyle/>
          <a:p>
            <a:pPr eaLnBrk="1" hangingPunct="1">
              <a:spcBef>
                <a:spcPct val="0"/>
              </a:spcBef>
            </a:pPr>
            <a:endParaRPr lang="en-US" altLang="en-US" dirty="0"/>
          </a:p>
        </p:txBody>
      </p:sp>
      <p:sp>
        <p:nvSpPr>
          <p:cNvPr id="4099" name="Google Shape;82;p1:notes">
            <a:extLst>
              <a:ext uri="{FF2B5EF4-FFF2-40B4-BE49-F238E27FC236}">
                <a16:creationId xmlns:a16="http://schemas.microsoft.com/office/drawing/2014/main" id="{14833473-BBDF-79C3-B7FA-E9A0190CCA84}"/>
              </a:ext>
            </a:extLst>
          </p:cNvPr>
          <p:cNvSpPr>
            <a:spLocks noGrp="1" noRot="1" noChangeAspect="1" noTextEdit="1"/>
          </p:cNvSpPr>
          <p:nvPr>
            <p:ph type="sldImg" idx="2"/>
          </p:nvPr>
        </p:nvSpPr>
        <p:spPr bwMode="auto">
          <a:xfrm>
            <a:off x="381000" y="685800"/>
            <a:ext cx="6096000" cy="3429000"/>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solidFill>
              <a:srgbClr val="000000"/>
            </a:solidFill>
            <a:round/>
            <a:headEnd/>
            <a:tailEnd/>
          </a:ln>
          <a:extLst>
            <a:ext uri="{909E8E84-426E-40DD-AFC4-6F175D3DCCD1}">
              <a14:hiddenFill xmlns:a14="http://schemas.microsoft.com/office/drawing/2010/main">
                <a:solidFill>
                  <a:srgbClr val="FFFFFF"/>
                </a:solidFill>
              </a14:hiddenFill>
            </a:ext>
          </a:extLs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0567E5C-C1F9-4E9F-A014-955349C26083}" type="slidenum">
              <a:rPr lang="en-IN" smtClean="0"/>
              <a:t>4</a:t>
            </a:fld>
            <a:endParaRPr lang="en-IN"/>
          </a:p>
        </p:txBody>
      </p:sp>
    </p:spTree>
    <p:extLst>
      <p:ext uri="{BB962C8B-B14F-4D97-AF65-F5344CB8AC3E}">
        <p14:creationId xmlns:p14="http://schemas.microsoft.com/office/powerpoint/2010/main" val="3522619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0567E5C-C1F9-4E9F-A014-955349C26083}" type="slidenum">
              <a:rPr lang="en-IN" smtClean="0"/>
              <a:t>5</a:t>
            </a:fld>
            <a:endParaRPr lang="en-IN"/>
          </a:p>
        </p:txBody>
      </p:sp>
    </p:spTree>
    <p:extLst>
      <p:ext uri="{BB962C8B-B14F-4D97-AF65-F5344CB8AC3E}">
        <p14:creationId xmlns:p14="http://schemas.microsoft.com/office/powerpoint/2010/main" val="1224019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AF2C9-BCD3-F88A-1984-32B87B4D20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0D6DEB1-A9CD-2C57-0B96-66582641D9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A98733B-B31E-7B1D-73D6-F6CCA9DAA470}"/>
              </a:ext>
            </a:extLst>
          </p:cNvPr>
          <p:cNvSpPr>
            <a:spLocks noGrp="1"/>
          </p:cNvSpPr>
          <p:nvPr>
            <p:ph type="dt" sz="half" idx="10"/>
          </p:nvPr>
        </p:nvSpPr>
        <p:spPr/>
        <p:txBody>
          <a:bodyPr/>
          <a:lstStyle/>
          <a:p>
            <a:fld id="{B4F40654-9525-4875-BBFF-D0D3976835CB}" type="datetimeFigureOut">
              <a:rPr lang="en-IN" smtClean="0"/>
              <a:t>14-01-2023</a:t>
            </a:fld>
            <a:endParaRPr lang="en-IN"/>
          </a:p>
        </p:txBody>
      </p:sp>
      <p:sp>
        <p:nvSpPr>
          <p:cNvPr id="5" name="Footer Placeholder 4">
            <a:extLst>
              <a:ext uri="{FF2B5EF4-FFF2-40B4-BE49-F238E27FC236}">
                <a16:creationId xmlns:a16="http://schemas.microsoft.com/office/drawing/2014/main" id="{89205A13-FA1D-7BFB-B5CA-58CE9C81DE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2FF7F1-129C-7C61-29D9-5D1BE53D8887}"/>
              </a:ext>
            </a:extLst>
          </p:cNvPr>
          <p:cNvSpPr>
            <a:spLocks noGrp="1"/>
          </p:cNvSpPr>
          <p:nvPr>
            <p:ph type="sldNum" sz="quarter" idx="12"/>
          </p:nvPr>
        </p:nvSpPr>
        <p:spPr/>
        <p:txBody>
          <a:bodyPr/>
          <a:lstStyle/>
          <a:p>
            <a:fld id="{33A9E7DF-9426-4C6B-ABAB-19CEE2DEE493}" type="slidenum">
              <a:rPr lang="en-IN" smtClean="0"/>
              <a:t>‹#›</a:t>
            </a:fld>
            <a:endParaRPr lang="en-IN"/>
          </a:p>
        </p:txBody>
      </p:sp>
    </p:spTree>
    <p:extLst>
      <p:ext uri="{BB962C8B-B14F-4D97-AF65-F5344CB8AC3E}">
        <p14:creationId xmlns:p14="http://schemas.microsoft.com/office/powerpoint/2010/main" val="2247033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BA24-32FD-80D5-D3DB-DF7E88A3200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1D97F1-2B0F-CD40-A439-F24550B7E7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592A30-96DE-F8A9-F975-483E306D2484}"/>
              </a:ext>
            </a:extLst>
          </p:cNvPr>
          <p:cNvSpPr>
            <a:spLocks noGrp="1"/>
          </p:cNvSpPr>
          <p:nvPr>
            <p:ph type="dt" sz="half" idx="10"/>
          </p:nvPr>
        </p:nvSpPr>
        <p:spPr/>
        <p:txBody>
          <a:bodyPr/>
          <a:lstStyle/>
          <a:p>
            <a:fld id="{B4F40654-9525-4875-BBFF-D0D3976835CB}" type="datetimeFigureOut">
              <a:rPr lang="en-IN" smtClean="0"/>
              <a:t>14-01-2023</a:t>
            </a:fld>
            <a:endParaRPr lang="en-IN"/>
          </a:p>
        </p:txBody>
      </p:sp>
      <p:sp>
        <p:nvSpPr>
          <p:cNvPr id="5" name="Footer Placeholder 4">
            <a:extLst>
              <a:ext uri="{FF2B5EF4-FFF2-40B4-BE49-F238E27FC236}">
                <a16:creationId xmlns:a16="http://schemas.microsoft.com/office/drawing/2014/main" id="{B9F4F962-C6CC-4F8B-FF1F-54757E735D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C92298-58CD-798C-D1B9-AA51446BA443}"/>
              </a:ext>
            </a:extLst>
          </p:cNvPr>
          <p:cNvSpPr>
            <a:spLocks noGrp="1"/>
          </p:cNvSpPr>
          <p:nvPr>
            <p:ph type="sldNum" sz="quarter" idx="12"/>
          </p:nvPr>
        </p:nvSpPr>
        <p:spPr/>
        <p:txBody>
          <a:bodyPr/>
          <a:lstStyle/>
          <a:p>
            <a:fld id="{33A9E7DF-9426-4C6B-ABAB-19CEE2DEE493}" type="slidenum">
              <a:rPr lang="en-IN" smtClean="0"/>
              <a:t>‹#›</a:t>
            </a:fld>
            <a:endParaRPr lang="en-IN"/>
          </a:p>
        </p:txBody>
      </p:sp>
    </p:spTree>
    <p:extLst>
      <p:ext uri="{BB962C8B-B14F-4D97-AF65-F5344CB8AC3E}">
        <p14:creationId xmlns:p14="http://schemas.microsoft.com/office/powerpoint/2010/main" val="2413572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E2C5A-9231-409B-2FF0-C6F0AE1040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9F6864B-9FF3-1E85-2357-012B50E1FCD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6402CB3-6831-F5C9-2601-AF7F528410B3}"/>
              </a:ext>
            </a:extLst>
          </p:cNvPr>
          <p:cNvSpPr>
            <a:spLocks noGrp="1"/>
          </p:cNvSpPr>
          <p:nvPr>
            <p:ph type="dt" sz="half" idx="10"/>
          </p:nvPr>
        </p:nvSpPr>
        <p:spPr/>
        <p:txBody>
          <a:bodyPr/>
          <a:lstStyle/>
          <a:p>
            <a:fld id="{B4F40654-9525-4875-BBFF-D0D3976835CB}" type="datetimeFigureOut">
              <a:rPr lang="en-IN" smtClean="0"/>
              <a:t>14-01-2023</a:t>
            </a:fld>
            <a:endParaRPr lang="en-IN"/>
          </a:p>
        </p:txBody>
      </p:sp>
      <p:sp>
        <p:nvSpPr>
          <p:cNvPr id="5" name="Footer Placeholder 4">
            <a:extLst>
              <a:ext uri="{FF2B5EF4-FFF2-40B4-BE49-F238E27FC236}">
                <a16:creationId xmlns:a16="http://schemas.microsoft.com/office/drawing/2014/main" id="{958EA159-3AB3-E0AB-FCF8-2251A02BF8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9BF1FD-7C54-8294-02E7-270384FF678C}"/>
              </a:ext>
            </a:extLst>
          </p:cNvPr>
          <p:cNvSpPr>
            <a:spLocks noGrp="1"/>
          </p:cNvSpPr>
          <p:nvPr>
            <p:ph type="sldNum" sz="quarter" idx="12"/>
          </p:nvPr>
        </p:nvSpPr>
        <p:spPr/>
        <p:txBody>
          <a:bodyPr/>
          <a:lstStyle/>
          <a:p>
            <a:fld id="{33A9E7DF-9426-4C6B-ABAB-19CEE2DEE493}" type="slidenum">
              <a:rPr lang="en-IN" smtClean="0"/>
              <a:t>‹#›</a:t>
            </a:fld>
            <a:endParaRPr lang="en-IN"/>
          </a:p>
        </p:txBody>
      </p:sp>
    </p:spTree>
    <p:extLst>
      <p:ext uri="{BB962C8B-B14F-4D97-AF65-F5344CB8AC3E}">
        <p14:creationId xmlns:p14="http://schemas.microsoft.com/office/powerpoint/2010/main" val="2006714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4540C-8476-6CF8-C565-23D032FE367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3EDA3C-266A-F3A4-C698-CEADF30027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D1C8B0C-69E5-569C-96FE-577ECBFA80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E7D2CA8-B532-7592-403B-B4039AD6798B}"/>
              </a:ext>
            </a:extLst>
          </p:cNvPr>
          <p:cNvSpPr>
            <a:spLocks noGrp="1"/>
          </p:cNvSpPr>
          <p:nvPr>
            <p:ph type="dt" sz="half" idx="10"/>
          </p:nvPr>
        </p:nvSpPr>
        <p:spPr/>
        <p:txBody>
          <a:bodyPr/>
          <a:lstStyle/>
          <a:p>
            <a:fld id="{B4F40654-9525-4875-BBFF-D0D3976835CB}" type="datetimeFigureOut">
              <a:rPr lang="en-IN" smtClean="0"/>
              <a:t>14-01-2023</a:t>
            </a:fld>
            <a:endParaRPr lang="en-IN"/>
          </a:p>
        </p:txBody>
      </p:sp>
      <p:sp>
        <p:nvSpPr>
          <p:cNvPr id="6" name="Footer Placeholder 5">
            <a:extLst>
              <a:ext uri="{FF2B5EF4-FFF2-40B4-BE49-F238E27FC236}">
                <a16:creationId xmlns:a16="http://schemas.microsoft.com/office/drawing/2014/main" id="{C0C8C195-D438-AF99-D442-A264D03806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EDB8550-D803-DCB4-97B8-CD3773BBD797}"/>
              </a:ext>
            </a:extLst>
          </p:cNvPr>
          <p:cNvSpPr>
            <a:spLocks noGrp="1"/>
          </p:cNvSpPr>
          <p:nvPr>
            <p:ph type="sldNum" sz="quarter" idx="12"/>
          </p:nvPr>
        </p:nvSpPr>
        <p:spPr/>
        <p:txBody>
          <a:bodyPr/>
          <a:lstStyle/>
          <a:p>
            <a:fld id="{33A9E7DF-9426-4C6B-ABAB-19CEE2DEE493}" type="slidenum">
              <a:rPr lang="en-IN" smtClean="0"/>
              <a:t>‹#›</a:t>
            </a:fld>
            <a:endParaRPr lang="en-IN"/>
          </a:p>
        </p:txBody>
      </p:sp>
    </p:spTree>
    <p:extLst>
      <p:ext uri="{BB962C8B-B14F-4D97-AF65-F5344CB8AC3E}">
        <p14:creationId xmlns:p14="http://schemas.microsoft.com/office/powerpoint/2010/main" val="3974211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FBCB6-ECB9-AB61-ACB8-C8C6BD0C70A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7808118-758C-BABA-D79D-EE30E05F9D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340857E-3C8C-9A3A-A706-3E8E9A0C4B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491D003-2063-08F9-B6AB-04355E2D61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906B35-F73B-BD93-CBF5-3AF0BCBDEF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C843116-17ED-D847-6908-2B377054DA06}"/>
              </a:ext>
            </a:extLst>
          </p:cNvPr>
          <p:cNvSpPr>
            <a:spLocks noGrp="1"/>
          </p:cNvSpPr>
          <p:nvPr>
            <p:ph type="dt" sz="half" idx="10"/>
          </p:nvPr>
        </p:nvSpPr>
        <p:spPr/>
        <p:txBody>
          <a:bodyPr/>
          <a:lstStyle/>
          <a:p>
            <a:fld id="{B4F40654-9525-4875-BBFF-D0D3976835CB}" type="datetimeFigureOut">
              <a:rPr lang="en-IN" smtClean="0"/>
              <a:t>14-01-2023</a:t>
            </a:fld>
            <a:endParaRPr lang="en-IN"/>
          </a:p>
        </p:txBody>
      </p:sp>
      <p:sp>
        <p:nvSpPr>
          <p:cNvPr id="8" name="Footer Placeholder 7">
            <a:extLst>
              <a:ext uri="{FF2B5EF4-FFF2-40B4-BE49-F238E27FC236}">
                <a16:creationId xmlns:a16="http://schemas.microsoft.com/office/drawing/2014/main" id="{1C36C9E5-52EA-06DF-D642-080942C94C6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6BCE6C3-2B46-323C-9FE6-243D9F114EE7}"/>
              </a:ext>
            </a:extLst>
          </p:cNvPr>
          <p:cNvSpPr>
            <a:spLocks noGrp="1"/>
          </p:cNvSpPr>
          <p:nvPr>
            <p:ph type="sldNum" sz="quarter" idx="12"/>
          </p:nvPr>
        </p:nvSpPr>
        <p:spPr/>
        <p:txBody>
          <a:bodyPr/>
          <a:lstStyle/>
          <a:p>
            <a:fld id="{33A9E7DF-9426-4C6B-ABAB-19CEE2DEE493}" type="slidenum">
              <a:rPr lang="en-IN" smtClean="0"/>
              <a:t>‹#›</a:t>
            </a:fld>
            <a:endParaRPr lang="en-IN"/>
          </a:p>
        </p:txBody>
      </p:sp>
    </p:spTree>
    <p:extLst>
      <p:ext uri="{BB962C8B-B14F-4D97-AF65-F5344CB8AC3E}">
        <p14:creationId xmlns:p14="http://schemas.microsoft.com/office/powerpoint/2010/main" val="1735215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923B6-6A1C-CF71-B6CA-CB9AAB92CF0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7D92B84-097E-8C0F-6885-0FC7F3985036}"/>
              </a:ext>
            </a:extLst>
          </p:cNvPr>
          <p:cNvSpPr>
            <a:spLocks noGrp="1"/>
          </p:cNvSpPr>
          <p:nvPr>
            <p:ph type="dt" sz="half" idx="10"/>
          </p:nvPr>
        </p:nvSpPr>
        <p:spPr/>
        <p:txBody>
          <a:bodyPr/>
          <a:lstStyle/>
          <a:p>
            <a:fld id="{B4F40654-9525-4875-BBFF-D0D3976835CB}" type="datetimeFigureOut">
              <a:rPr lang="en-IN" smtClean="0"/>
              <a:t>14-01-2023</a:t>
            </a:fld>
            <a:endParaRPr lang="en-IN"/>
          </a:p>
        </p:txBody>
      </p:sp>
      <p:sp>
        <p:nvSpPr>
          <p:cNvPr id="4" name="Footer Placeholder 3">
            <a:extLst>
              <a:ext uri="{FF2B5EF4-FFF2-40B4-BE49-F238E27FC236}">
                <a16:creationId xmlns:a16="http://schemas.microsoft.com/office/drawing/2014/main" id="{8ED05538-5CB5-DE6E-87BD-D1A63F082B5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DE0B57E-1E77-624E-0A7F-9F54DDC80234}"/>
              </a:ext>
            </a:extLst>
          </p:cNvPr>
          <p:cNvSpPr>
            <a:spLocks noGrp="1"/>
          </p:cNvSpPr>
          <p:nvPr>
            <p:ph type="sldNum" sz="quarter" idx="12"/>
          </p:nvPr>
        </p:nvSpPr>
        <p:spPr/>
        <p:txBody>
          <a:bodyPr/>
          <a:lstStyle/>
          <a:p>
            <a:fld id="{33A9E7DF-9426-4C6B-ABAB-19CEE2DEE493}" type="slidenum">
              <a:rPr lang="en-IN" smtClean="0"/>
              <a:t>‹#›</a:t>
            </a:fld>
            <a:endParaRPr lang="en-IN"/>
          </a:p>
        </p:txBody>
      </p:sp>
    </p:spTree>
    <p:extLst>
      <p:ext uri="{BB962C8B-B14F-4D97-AF65-F5344CB8AC3E}">
        <p14:creationId xmlns:p14="http://schemas.microsoft.com/office/powerpoint/2010/main" val="4137336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492A5E-7FD7-2446-0003-8D4091DDC01E}"/>
              </a:ext>
            </a:extLst>
          </p:cNvPr>
          <p:cNvSpPr>
            <a:spLocks noGrp="1"/>
          </p:cNvSpPr>
          <p:nvPr>
            <p:ph type="dt" sz="half" idx="10"/>
          </p:nvPr>
        </p:nvSpPr>
        <p:spPr/>
        <p:txBody>
          <a:bodyPr/>
          <a:lstStyle/>
          <a:p>
            <a:fld id="{B4F40654-9525-4875-BBFF-D0D3976835CB}" type="datetimeFigureOut">
              <a:rPr lang="en-IN" smtClean="0"/>
              <a:t>14-01-2023</a:t>
            </a:fld>
            <a:endParaRPr lang="en-IN"/>
          </a:p>
        </p:txBody>
      </p:sp>
      <p:sp>
        <p:nvSpPr>
          <p:cNvPr id="3" name="Footer Placeholder 2">
            <a:extLst>
              <a:ext uri="{FF2B5EF4-FFF2-40B4-BE49-F238E27FC236}">
                <a16:creationId xmlns:a16="http://schemas.microsoft.com/office/drawing/2014/main" id="{F00BA895-C4CE-B2DF-DC27-CFC238A01C0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7FF7687-0507-E7BB-542C-0818EEA88EC2}"/>
              </a:ext>
            </a:extLst>
          </p:cNvPr>
          <p:cNvSpPr>
            <a:spLocks noGrp="1"/>
          </p:cNvSpPr>
          <p:nvPr>
            <p:ph type="sldNum" sz="quarter" idx="12"/>
          </p:nvPr>
        </p:nvSpPr>
        <p:spPr/>
        <p:txBody>
          <a:bodyPr/>
          <a:lstStyle/>
          <a:p>
            <a:fld id="{33A9E7DF-9426-4C6B-ABAB-19CEE2DEE493}" type="slidenum">
              <a:rPr lang="en-IN" smtClean="0"/>
              <a:t>‹#›</a:t>
            </a:fld>
            <a:endParaRPr lang="en-IN"/>
          </a:p>
        </p:txBody>
      </p:sp>
    </p:spTree>
    <p:extLst>
      <p:ext uri="{BB962C8B-B14F-4D97-AF65-F5344CB8AC3E}">
        <p14:creationId xmlns:p14="http://schemas.microsoft.com/office/powerpoint/2010/main" val="2380247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47357-C8E1-EB8C-BC08-24D63D145C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E3517DA-21DA-1D48-6EF0-78E7CF6A0E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A02DE40-8B7F-CBE1-F9F7-DCBBD248EE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ECD465-9CE8-2DE0-54B0-A66106995C12}"/>
              </a:ext>
            </a:extLst>
          </p:cNvPr>
          <p:cNvSpPr>
            <a:spLocks noGrp="1"/>
          </p:cNvSpPr>
          <p:nvPr>
            <p:ph type="dt" sz="half" idx="10"/>
          </p:nvPr>
        </p:nvSpPr>
        <p:spPr/>
        <p:txBody>
          <a:bodyPr/>
          <a:lstStyle/>
          <a:p>
            <a:fld id="{B4F40654-9525-4875-BBFF-D0D3976835CB}" type="datetimeFigureOut">
              <a:rPr lang="en-IN" smtClean="0"/>
              <a:t>14-01-2023</a:t>
            </a:fld>
            <a:endParaRPr lang="en-IN"/>
          </a:p>
        </p:txBody>
      </p:sp>
      <p:sp>
        <p:nvSpPr>
          <p:cNvPr id="6" name="Footer Placeholder 5">
            <a:extLst>
              <a:ext uri="{FF2B5EF4-FFF2-40B4-BE49-F238E27FC236}">
                <a16:creationId xmlns:a16="http://schemas.microsoft.com/office/drawing/2014/main" id="{204DAA6B-15DE-B38D-3ABF-6EA04370D4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73F6A9-A376-26FE-4C4B-CB221D070647}"/>
              </a:ext>
            </a:extLst>
          </p:cNvPr>
          <p:cNvSpPr>
            <a:spLocks noGrp="1"/>
          </p:cNvSpPr>
          <p:nvPr>
            <p:ph type="sldNum" sz="quarter" idx="12"/>
          </p:nvPr>
        </p:nvSpPr>
        <p:spPr/>
        <p:txBody>
          <a:bodyPr/>
          <a:lstStyle/>
          <a:p>
            <a:fld id="{33A9E7DF-9426-4C6B-ABAB-19CEE2DEE493}" type="slidenum">
              <a:rPr lang="en-IN" smtClean="0"/>
              <a:t>‹#›</a:t>
            </a:fld>
            <a:endParaRPr lang="en-IN"/>
          </a:p>
        </p:txBody>
      </p:sp>
    </p:spTree>
    <p:extLst>
      <p:ext uri="{BB962C8B-B14F-4D97-AF65-F5344CB8AC3E}">
        <p14:creationId xmlns:p14="http://schemas.microsoft.com/office/powerpoint/2010/main" val="3396144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0E41D-0625-93F8-D1E8-A6D6ECC933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F8F70B3-4B19-FF43-60F8-6D5D345327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1B3FCB0-3F54-C9D5-8D0B-2E6A24DEF5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854B47-81E7-9723-D59B-D8EA859912DA}"/>
              </a:ext>
            </a:extLst>
          </p:cNvPr>
          <p:cNvSpPr>
            <a:spLocks noGrp="1"/>
          </p:cNvSpPr>
          <p:nvPr>
            <p:ph type="dt" sz="half" idx="10"/>
          </p:nvPr>
        </p:nvSpPr>
        <p:spPr/>
        <p:txBody>
          <a:bodyPr/>
          <a:lstStyle/>
          <a:p>
            <a:fld id="{B4F40654-9525-4875-BBFF-D0D3976835CB}" type="datetimeFigureOut">
              <a:rPr lang="en-IN" smtClean="0"/>
              <a:t>14-01-2023</a:t>
            </a:fld>
            <a:endParaRPr lang="en-IN"/>
          </a:p>
        </p:txBody>
      </p:sp>
      <p:sp>
        <p:nvSpPr>
          <p:cNvPr id="6" name="Footer Placeholder 5">
            <a:extLst>
              <a:ext uri="{FF2B5EF4-FFF2-40B4-BE49-F238E27FC236}">
                <a16:creationId xmlns:a16="http://schemas.microsoft.com/office/drawing/2014/main" id="{21E00179-2F72-DB22-FC73-1824C35591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808DF7-F9D0-CF37-F74A-89F1666ED726}"/>
              </a:ext>
            </a:extLst>
          </p:cNvPr>
          <p:cNvSpPr>
            <a:spLocks noGrp="1"/>
          </p:cNvSpPr>
          <p:nvPr>
            <p:ph type="sldNum" sz="quarter" idx="12"/>
          </p:nvPr>
        </p:nvSpPr>
        <p:spPr/>
        <p:txBody>
          <a:bodyPr/>
          <a:lstStyle/>
          <a:p>
            <a:fld id="{33A9E7DF-9426-4C6B-ABAB-19CEE2DEE493}" type="slidenum">
              <a:rPr lang="en-IN" smtClean="0"/>
              <a:t>‹#›</a:t>
            </a:fld>
            <a:endParaRPr lang="en-IN"/>
          </a:p>
        </p:txBody>
      </p:sp>
    </p:spTree>
    <p:extLst>
      <p:ext uri="{BB962C8B-B14F-4D97-AF65-F5344CB8AC3E}">
        <p14:creationId xmlns:p14="http://schemas.microsoft.com/office/powerpoint/2010/main" val="2613178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A7D50-A10E-3BA4-3B67-DE0709178E7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1C38E18-5397-6E93-16CC-2771645170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827C1B-28A3-F527-2DDF-B1486961467E}"/>
              </a:ext>
            </a:extLst>
          </p:cNvPr>
          <p:cNvSpPr>
            <a:spLocks noGrp="1"/>
          </p:cNvSpPr>
          <p:nvPr>
            <p:ph type="dt" sz="half" idx="10"/>
          </p:nvPr>
        </p:nvSpPr>
        <p:spPr/>
        <p:txBody>
          <a:bodyPr/>
          <a:lstStyle/>
          <a:p>
            <a:fld id="{B4F40654-9525-4875-BBFF-D0D3976835CB}" type="datetimeFigureOut">
              <a:rPr lang="en-IN" smtClean="0"/>
              <a:t>14-01-2023</a:t>
            </a:fld>
            <a:endParaRPr lang="en-IN"/>
          </a:p>
        </p:txBody>
      </p:sp>
      <p:sp>
        <p:nvSpPr>
          <p:cNvPr id="5" name="Footer Placeholder 4">
            <a:extLst>
              <a:ext uri="{FF2B5EF4-FFF2-40B4-BE49-F238E27FC236}">
                <a16:creationId xmlns:a16="http://schemas.microsoft.com/office/drawing/2014/main" id="{461636E1-CE89-1256-7DEC-D745435D95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31B298-31ED-3CEC-912A-D7512807D7B2}"/>
              </a:ext>
            </a:extLst>
          </p:cNvPr>
          <p:cNvSpPr>
            <a:spLocks noGrp="1"/>
          </p:cNvSpPr>
          <p:nvPr>
            <p:ph type="sldNum" sz="quarter" idx="12"/>
          </p:nvPr>
        </p:nvSpPr>
        <p:spPr/>
        <p:txBody>
          <a:bodyPr/>
          <a:lstStyle/>
          <a:p>
            <a:fld id="{33A9E7DF-9426-4C6B-ABAB-19CEE2DEE493}" type="slidenum">
              <a:rPr lang="en-IN" smtClean="0"/>
              <a:t>‹#›</a:t>
            </a:fld>
            <a:endParaRPr lang="en-IN"/>
          </a:p>
        </p:txBody>
      </p:sp>
    </p:spTree>
    <p:extLst>
      <p:ext uri="{BB962C8B-B14F-4D97-AF65-F5344CB8AC3E}">
        <p14:creationId xmlns:p14="http://schemas.microsoft.com/office/powerpoint/2010/main" val="30972650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59163B-E073-2B5D-5D06-DA4432FF69C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A6EF38-51E6-5010-1E3A-7804402263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5CA603-949A-813C-7D0B-CAF0E2910230}"/>
              </a:ext>
            </a:extLst>
          </p:cNvPr>
          <p:cNvSpPr>
            <a:spLocks noGrp="1"/>
          </p:cNvSpPr>
          <p:nvPr>
            <p:ph type="dt" sz="half" idx="10"/>
          </p:nvPr>
        </p:nvSpPr>
        <p:spPr/>
        <p:txBody>
          <a:bodyPr/>
          <a:lstStyle/>
          <a:p>
            <a:fld id="{B4F40654-9525-4875-BBFF-D0D3976835CB}" type="datetimeFigureOut">
              <a:rPr lang="en-IN" smtClean="0"/>
              <a:t>14-01-2023</a:t>
            </a:fld>
            <a:endParaRPr lang="en-IN"/>
          </a:p>
        </p:txBody>
      </p:sp>
      <p:sp>
        <p:nvSpPr>
          <p:cNvPr id="5" name="Footer Placeholder 4">
            <a:extLst>
              <a:ext uri="{FF2B5EF4-FFF2-40B4-BE49-F238E27FC236}">
                <a16:creationId xmlns:a16="http://schemas.microsoft.com/office/drawing/2014/main" id="{7C5CDF38-B9A5-6D69-2D94-1B1DE3A12C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F98368-6C0D-381E-0C7C-48F49FCD6D7F}"/>
              </a:ext>
            </a:extLst>
          </p:cNvPr>
          <p:cNvSpPr>
            <a:spLocks noGrp="1"/>
          </p:cNvSpPr>
          <p:nvPr>
            <p:ph type="sldNum" sz="quarter" idx="12"/>
          </p:nvPr>
        </p:nvSpPr>
        <p:spPr/>
        <p:txBody>
          <a:bodyPr/>
          <a:lstStyle/>
          <a:p>
            <a:fld id="{33A9E7DF-9426-4C6B-ABAB-19CEE2DEE493}" type="slidenum">
              <a:rPr lang="en-IN" smtClean="0"/>
              <a:t>‹#›</a:t>
            </a:fld>
            <a:endParaRPr lang="en-IN"/>
          </a:p>
        </p:txBody>
      </p:sp>
    </p:spTree>
    <p:extLst>
      <p:ext uri="{BB962C8B-B14F-4D97-AF65-F5344CB8AC3E}">
        <p14:creationId xmlns:p14="http://schemas.microsoft.com/office/powerpoint/2010/main" val="3963262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749383-202F-97A6-EC59-491ECAA67B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C441CAC-E4A1-4459-3632-E897F1D996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A4AB65-28D1-A967-D8F1-7E448BF1F6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F40654-9525-4875-BBFF-D0D3976835CB}" type="datetimeFigureOut">
              <a:rPr lang="en-IN" smtClean="0"/>
              <a:t>14-01-2023</a:t>
            </a:fld>
            <a:endParaRPr lang="en-IN"/>
          </a:p>
        </p:txBody>
      </p:sp>
      <p:sp>
        <p:nvSpPr>
          <p:cNvPr id="5" name="Footer Placeholder 4">
            <a:extLst>
              <a:ext uri="{FF2B5EF4-FFF2-40B4-BE49-F238E27FC236}">
                <a16:creationId xmlns:a16="http://schemas.microsoft.com/office/drawing/2014/main" id="{05D5F239-C262-C5C6-49F2-8BF8E3597B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5992F3F-FC31-5423-0703-CF01262515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A9E7DF-9426-4C6B-ABAB-19CEE2DEE493}" type="slidenum">
              <a:rPr lang="en-IN" smtClean="0"/>
              <a:t>‹#›</a:t>
            </a:fld>
            <a:endParaRPr lang="en-IN"/>
          </a:p>
        </p:txBody>
      </p:sp>
    </p:spTree>
    <p:extLst>
      <p:ext uri="{BB962C8B-B14F-4D97-AF65-F5344CB8AC3E}">
        <p14:creationId xmlns:p14="http://schemas.microsoft.com/office/powerpoint/2010/main" val="6132846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5FCFBF4A-2C27-8644-CAE7-A23EB8BAF84D}"/>
              </a:ext>
            </a:extLst>
          </p:cNvPr>
          <p:cNvSpPr/>
          <p:nvPr/>
        </p:nvSpPr>
        <p:spPr>
          <a:xfrm>
            <a:off x="2107893" y="1816958"/>
            <a:ext cx="7976206" cy="4438188"/>
          </a:xfrm>
          <a:prstGeom prst="roundRect">
            <a:avLst/>
          </a:prstGeom>
          <a:solidFill>
            <a:schemeClr val="bg1"/>
          </a:solidFill>
          <a:effectLst>
            <a:glow rad="228600">
              <a:schemeClr val="accent3">
                <a:satMod val="175000"/>
                <a:alpha val="40000"/>
              </a:schemeClr>
            </a:glow>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p>
        </p:txBody>
      </p:sp>
      <p:grpSp>
        <p:nvGrpSpPr>
          <p:cNvPr id="3079" name="Group 10">
            <a:extLst>
              <a:ext uri="{FF2B5EF4-FFF2-40B4-BE49-F238E27FC236}">
                <a16:creationId xmlns:a16="http://schemas.microsoft.com/office/drawing/2014/main" id="{E613AF4F-AA27-2383-021A-E96D36478C5D}"/>
              </a:ext>
            </a:extLst>
          </p:cNvPr>
          <p:cNvGrpSpPr>
            <a:grpSpLocks/>
          </p:cNvGrpSpPr>
          <p:nvPr/>
        </p:nvGrpSpPr>
        <p:grpSpPr bwMode="auto">
          <a:xfrm>
            <a:off x="3714750" y="3759200"/>
            <a:ext cx="4762500" cy="1460500"/>
            <a:chOff x="3983420" y="3303309"/>
            <a:chExt cx="4225159" cy="1114106"/>
          </a:xfrm>
        </p:grpSpPr>
        <p:pic>
          <p:nvPicPr>
            <p:cNvPr id="12" name="Picture 11" descr="A person with long hair wearing glasses&#10;&#10;Description automatically generated with low confidence">
              <a:extLst>
                <a:ext uri="{FF2B5EF4-FFF2-40B4-BE49-F238E27FC236}">
                  <a16:creationId xmlns:a16="http://schemas.microsoft.com/office/drawing/2014/main" id="{CAFDC898-4785-5931-3E87-60EF46568BB9}"/>
                </a:ext>
              </a:extLst>
            </p:cNvPr>
            <p:cNvPicPr>
              <a:picLocks noChangeAspect="1"/>
            </p:cNvPicPr>
            <p:nvPr/>
          </p:nvPicPr>
          <p:blipFill>
            <a:blip r:embed="rId3"/>
            <a:stretch>
              <a:fillRect/>
            </a:stretch>
          </p:blipFill>
          <p:spPr>
            <a:xfrm>
              <a:off x="7267777" y="3303309"/>
              <a:ext cx="940802" cy="1114106"/>
            </a:xfrm>
            <a:prstGeom prst="rect">
              <a:avLst/>
            </a:prstGeom>
            <a:effectLst>
              <a:outerShdw blurRad="50800" dist="38100" dir="2700000" algn="tl" rotWithShape="0">
                <a:prstClr val="black">
                  <a:alpha val="40000"/>
                </a:prstClr>
              </a:outerShdw>
            </a:effectLst>
          </p:spPr>
        </p:pic>
        <p:pic>
          <p:nvPicPr>
            <p:cNvPr id="13" name="Picture 12" descr="A person in a suit and tie&#10;&#10;Description automatically generated">
              <a:extLst>
                <a:ext uri="{FF2B5EF4-FFF2-40B4-BE49-F238E27FC236}">
                  <a16:creationId xmlns:a16="http://schemas.microsoft.com/office/drawing/2014/main" id="{22CF54A7-7730-8387-5CB5-0301E5AB36B8}"/>
                </a:ext>
              </a:extLst>
            </p:cNvPr>
            <p:cNvPicPr>
              <a:picLocks noChangeAspect="1"/>
            </p:cNvPicPr>
            <p:nvPr/>
          </p:nvPicPr>
          <p:blipFill>
            <a:blip r:embed="rId4"/>
            <a:stretch>
              <a:fillRect/>
            </a:stretch>
          </p:blipFill>
          <p:spPr>
            <a:xfrm>
              <a:off x="3983420" y="3303309"/>
              <a:ext cx="940802" cy="1114106"/>
            </a:xfrm>
            <a:prstGeom prst="rect">
              <a:avLst/>
            </a:prstGeom>
            <a:effectLst>
              <a:outerShdw blurRad="50800" dist="38100" dir="2700000" algn="tl" rotWithShape="0">
                <a:prstClr val="black">
                  <a:alpha val="40000"/>
                </a:prstClr>
              </a:outerShdw>
            </a:effectLst>
          </p:spPr>
        </p:pic>
        <p:pic>
          <p:nvPicPr>
            <p:cNvPr id="14" name="Picture 13" descr="A person wearing glasses and a suit&#10;&#10;Description automatically generated with medium confidence">
              <a:extLst>
                <a:ext uri="{FF2B5EF4-FFF2-40B4-BE49-F238E27FC236}">
                  <a16:creationId xmlns:a16="http://schemas.microsoft.com/office/drawing/2014/main" id="{EC6D7C85-3D04-9DE9-50EC-64F3CA5B0937}"/>
                </a:ext>
              </a:extLst>
            </p:cNvPr>
            <p:cNvPicPr>
              <a:picLocks noChangeAspect="1"/>
            </p:cNvPicPr>
            <p:nvPr/>
          </p:nvPicPr>
          <p:blipFill>
            <a:blip r:embed="rId5"/>
            <a:stretch>
              <a:fillRect/>
            </a:stretch>
          </p:blipFill>
          <p:spPr>
            <a:xfrm>
              <a:off x="5625598" y="3303309"/>
              <a:ext cx="940802" cy="1114106"/>
            </a:xfrm>
            <a:prstGeom prst="rect">
              <a:avLst/>
            </a:prstGeom>
            <a:effectLst>
              <a:outerShdw blurRad="50800" dist="38100" dir="2700000" algn="tl" rotWithShape="0">
                <a:prstClr val="black">
                  <a:alpha val="40000"/>
                </a:prstClr>
              </a:outerShdw>
            </a:effectLst>
          </p:spPr>
        </p:pic>
      </p:grpSp>
      <p:sp>
        <p:nvSpPr>
          <p:cNvPr id="3080" name="Subtitle 2">
            <a:extLst>
              <a:ext uri="{FF2B5EF4-FFF2-40B4-BE49-F238E27FC236}">
                <a16:creationId xmlns:a16="http://schemas.microsoft.com/office/drawing/2014/main" id="{6E75CE8D-A170-D39C-4E46-FCBD79A4BFEF}"/>
              </a:ext>
            </a:extLst>
          </p:cNvPr>
          <p:cNvSpPr txBox="1">
            <a:spLocks noChangeArrowheads="1"/>
          </p:cNvSpPr>
          <p:nvPr/>
        </p:nvSpPr>
        <p:spPr bwMode="auto">
          <a:xfrm>
            <a:off x="3594100" y="5399088"/>
            <a:ext cx="5070475"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buFont typeface="Arial" panose="020B0604020202020204" pitchFamily="34" charset="0"/>
              <a:buNone/>
            </a:pPr>
            <a:r>
              <a:rPr lang="en-IN" altLang="en-US" sz="1600" b="1"/>
              <a:t>Devesh Sinha               Mohit Kiradoo                Kajal Gupta</a:t>
            </a:r>
          </a:p>
        </p:txBody>
      </p:sp>
      <p:sp>
        <p:nvSpPr>
          <p:cNvPr id="3082" name="Subtitle 2">
            <a:extLst>
              <a:ext uri="{FF2B5EF4-FFF2-40B4-BE49-F238E27FC236}">
                <a16:creationId xmlns:a16="http://schemas.microsoft.com/office/drawing/2014/main" id="{2E90C3BF-F516-5116-6E7D-69FB3F7B7033}"/>
              </a:ext>
            </a:extLst>
          </p:cNvPr>
          <p:cNvSpPr txBox="1">
            <a:spLocks noChangeArrowheads="1"/>
          </p:cNvSpPr>
          <p:nvPr/>
        </p:nvSpPr>
        <p:spPr bwMode="auto">
          <a:xfrm>
            <a:off x="3714750" y="5843588"/>
            <a:ext cx="4762500"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buFont typeface="Arial" panose="020B0604020202020204" pitchFamily="34" charset="0"/>
              <a:buNone/>
            </a:pPr>
            <a:r>
              <a:rPr lang="en-IN" altLang="en-US" sz="2000" b="1"/>
              <a:t>T. A. Pai Management Institute</a:t>
            </a:r>
          </a:p>
        </p:txBody>
      </p:sp>
      <p:sp>
        <p:nvSpPr>
          <p:cNvPr id="17" name="Subtitle 2">
            <a:extLst>
              <a:ext uri="{FF2B5EF4-FFF2-40B4-BE49-F238E27FC236}">
                <a16:creationId xmlns:a16="http://schemas.microsoft.com/office/drawing/2014/main" id="{A2D9F975-D636-DE27-8483-E82E085D9A48}"/>
              </a:ext>
            </a:extLst>
          </p:cNvPr>
          <p:cNvSpPr txBox="1">
            <a:spLocks/>
          </p:cNvSpPr>
          <p:nvPr/>
        </p:nvSpPr>
        <p:spPr>
          <a:xfrm>
            <a:off x="4338638" y="1638300"/>
            <a:ext cx="3514725" cy="357188"/>
          </a:xfrm>
          <a:prstGeom prst="rect">
            <a:avLst/>
          </a:prstGeom>
          <a:solidFill>
            <a:schemeClr val="bg1"/>
          </a:solidFill>
        </p:spPr>
        <p:style>
          <a:lnRef idx="2">
            <a:schemeClr val="accent2">
              <a:shade val="50000"/>
            </a:schemeClr>
          </a:lnRef>
          <a:fillRef idx="1">
            <a:schemeClr val="accent2"/>
          </a:fillRef>
          <a:effectRef idx="0">
            <a:schemeClr val="accent2"/>
          </a:effectRef>
          <a:fontRef idx="minor">
            <a:schemeClr val="lt1"/>
          </a:fontRef>
        </p:style>
        <p:txBody>
          <a:bodyPr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IN" sz="1800" b="1" dirty="0"/>
              <a:t>Team SORTED</a:t>
            </a:r>
          </a:p>
        </p:txBody>
      </p:sp>
      <p:sp>
        <p:nvSpPr>
          <p:cNvPr id="3" name="Title 2">
            <a:extLst>
              <a:ext uri="{FF2B5EF4-FFF2-40B4-BE49-F238E27FC236}">
                <a16:creationId xmlns:a16="http://schemas.microsoft.com/office/drawing/2014/main" id="{006E3E04-9126-CE67-9D8E-0D1A81D8F34A}"/>
              </a:ext>
            </a:extLst>
          </p:cNvPr>
          <p:cNvSpPr>
            <a:spLocks noGrp="1"/>
          </p:cNvSpPr>
          <p:nvPr>
            <p:ph type="ctrTitle"/>
          </p:nvPr>
        </p:nvSpPr>
        <p:spPr>
          <a:xfrm>
            <a:off x="1695450" y="929433"/>
            <a:ext cx="9144000" cy="2387600"/>
          </a:xfrm>
        </p:spPr>
        <p:txBody>
          <a:bodyPr>
            <a:normAutofit/>
          </a:bodyPr>
          <a:lstStyle/>
          <a:p>
            <a:r>
              <a:rPr lang="en-IN" sz="4000" b="1" dirty="0"/>
              <a:t>From Chaos to Success:</a:t>
            </a:r>
            <a:br>
              <a:rPr lang="en-IN" sz="4000" b="1" dirty="0"/>
            </a:br>
            <a:r>
              <a:rPr lang="en-IN" sz="4000" b="1" dirty="0"/>
              <a:t>A case study on Change Management</a:t>
            </a:r>
            <a:endParaRPr lang="en-IN" sz="4000" dirty="0"/>
          </a:p>
        </p:txBody>
      </p:sp>
      <p:pic>
        <p:nvPicPr>
          <p:cNvPr id="4" name="Picture 3">
            <a:extLst>
              <a:ext uri="{FF2B5EF4-FFF2-40B4-BE49-F238E27FC236}">
                <a16:creationId xmlns:a16="http://schemas.microsoft.com/office/drawing/2014/main" id="{69E1C2BA-0A8D-8413-C966-27EBE5638537}"/>
              </a:ext>
            </a:extLst>
          </p:cNvPr>
          <p:cNvPicPr>
            <a:picLocks noChangeAspect="1"/>
          </p:cNvPicPr>
          <p:nvPr/>
        </p:nvPicPr>
        <p:blipFill>
          <a:blip r:embed="rId6"/>
          <a:stretch>
            <a:fillRect/>
          </a:stretch>
        </p:blipFill>
        <p:spPr>
          <a:xfrm>
            <a:off x="4537783" y="263542"/>
            <a:ext cx="3116425" cy="11523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58E6E405-874C-09BE-26B4-DFCAC6463457}"/>
              </a:ext>
            </a:extLst>
          </p:cNvPr>
          <p:cNvSpPr txBox="1"/>
          <p:nvPr/>
        </p:nvSpPr>
        <p:spPr>
          <a:xfrm>
            <a:off x="1660848" y="594154"/>
            <a:ext cx="10531151" cy="1323439"/>
          </a:xfrm>
          <a:prstGeom prst="rect">
            <a:avLst/>
          </a:prstGeom>
          <a:solidFill>
            <a:schemeClr val="accent6"/>
          </a:solidFill>
          <a:ln>
            <a:solidFill>
              <a:schemeClr val="accent6"/>
            </a:solidFill>
          </a:ln>
        </p:spPr>
        <p:txBody>
          <a:bodyPr wrap="square" rtlCol="0" anchor="ctr">
            <a:spAutoFit/>
          </a:bodyPr>
          <a:lstStyle/>
          <a:p>
            <a:r>
              <a:rPr lang="en-IN" sz="1600" b="1" dirty="0">
                <a:solidFill>
                  <a:schemeClr val="bg1"/>
                </a:solidFill>
              </a:rPr>
              <a:t>Vision:</a:t>
            </a:r>
            <a:r>
              <a:rPr lang="en-IN" sz="1600" dirty="0">
                <a:solidFill>
                  <a:schemeClr val="bg1"/>
                </a:solidFill>
              </a:rPr>
              <a:t> Providing guests with a comfortable and enjoyable stay</a:t>
            </a:r>
          </a:p>
          <a:p>
            <a:r>
              <a:rPr lang="en-IN" sz="1600" dirty="0">
                <a:solidFill>
                  <a:schemeClr val="bg1"/>
                </a:solidFill>
              </a:rPr>
              <a:t>Popular choice among travellers:</a:t>
            </a:r>
          </a:p>
          <a:p>
            <a:pPr marL="285750" indent="-285750">
              <a:buFont typeface="Arial" panose="020B0604020202020204" pitchFamily="34" charset="0"/>
              <a:buChar char="•"/>
            </a:pPr>
            <a:r>
              <a:rPr lang="en-IN" sz="1600" b="1" dirty="0">
                <a:solidFill>
                  <a:schemeClr val="bg1"/>
                </a:solidFill>
              </a:rPr>
              <a:t>Location Advantage: </a:t>
            </a:r>
            <a:r>
              <a:rPr lang="en-IN" sz="1600" dirty="0">
                <a:solidFill>
                  <a:schemeClr val="bg1"/>
                </a:solidFill>
              </a:rPr>
              <a:t>The hotel is located in the heart of the city, providing location advantage, hence has the capability to attract higher footfalls</a:t>
            </a:r>
          </a:p>
          <a:p>
            <a:pPr marL="285750" indent="-285750">
              <a:buFont typeface="Arial" panose="020B0604020202020204" pitchFamily="34" charset="0"/>
              <a:buChar char="•"/>
            </a:pPr>
            <a:r>
              <a:rPr lang="en-IN" sz="1600" b="1" dirty="0">
                <a:solidFill>
                  <a:schemeClr val="bg1"/>
                </a:solidFill>
              </a:rPr>
              <a:t>Pricing:</a:t>
            </a:r>
            <a:r>
              <a:rPr lang="en-IN" sz="1600" dirty="0">
                <a:solidFill>
                  <a:schemeClr val="bg1"/>
                </a:solidFill>
              </a:rPr>
              <a:t> Prices are reasonable and affordable in spite of its prime location</a:t>
            </a:r>
          </a:p>
        </p:txBody>
      </p:sp>
      <p:pic>
        <p:nvPicPr>
          <p:cNvPr id="1028" name="Picture 4" descr="Hotel ">
            <a:extLst>
              <a:ext uri="{FF2B5EF4-FFF2-40B4-BE49-F238E27FC236}">
                <a16:creationId xmlns:a16="http://schemas.microsoft.com/office/drawing/2014/main" id="{E1D03F30-F4A4-F96A-C3FA-F911DFB074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950" y="660763"/>
            <a:ext cx="1045005" cy="104500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ACF088C0-2CE5-1D11-8009-4B71B53CB250}"/>
              </a:ext>
            </a:extLst>
          </p:cNvPr>
          <p:cNvSpPr txBox="1"/>
          <p:nvPr/>
        </p:nvSpPr>
        <p:spPr>
          <a:xfrm>
            <a:off x="-96131" y="1567269"/>
            <a:ext cx="1828022" cy="338554"/>
          </a:xfrm>
          <a:prstGeom prst="rect">
            <a:avLst/>
          </a:prstGeom>
          <a:noFill/>
        </p:spPr>
        <p:txBody>
          <a:bodyPr wrap="square">
            <a:spAutoFit/>
          </a:bodyPr>
          <a:lstStyle/>
          <a:p>
            <a:pPr algn="ctr"/>
            <a:r>
              <a:rPr lang="en-IN" sz="1600" dirty="0"/>
              <a:t>Rosewood Hotel</a:t>
            </a:r>
          </a:p>
        </p:txBody>
      </p:sp>
      <p:sp>
        <p:nvSpPr>
          <p:cNvPr id="14" name="Rectangle 13">
            <a:extLst>
              <a:ext uri="{FF2B5EF4-FFF2-40B4-BE49-F238E27FC236}">
                <a16:creationId xmlns:a16="http://schemas.microsoft.com/office/drawing/2014/main" id="{39024362-515B-537F-EFEA-A7AD779088C4}"/>
              </a:ext>
            </a:extLst>
          </p:cNvPr>
          <p:cNvSpPr/>
          <p:nvPr/>
        </p:nvSpPr>
        <p:spPr>
          <a:xfrm>
            <a:off x="0" y="594154"/>
            <a:ext cx="1660849" cy="1321764"/>
          </a:xfrm>
          <a:prstGeom prst="rect">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9433563A-C26B-CCD6-A822-54AE03E88166}"/>
              </a:ext>
            </a:extLst>
          </p:cNvPr>
          <p:cNvSpPr/>
          <p:nvPr/>
        </p:nvSpPr>
        <p:spPr>
          <a:xfrm>
            <a:off x="0" y="2124456"/>
            <a:ext cx="1660848" cy="427286"/>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The Pain Point</a:t>
            </a:r>
          </a:p>
        </p:txBody>
      </p:sp>
      <p:sp>
        <p:nvSpPr>
          <p:cNvPr id="16" name="Rectangle 15">
            <a:extLst>
              <a:ext uri="{FF2B5EF4-FFF2-40B4-BE49-F238E27FC236}">
                <a16:creationId xmlns:a16="http://schemas.microsoft.com/office/drawing/2014/main" id="{404707F8-C14C-546C-98C4-1C0116C3D9AD}"/>
              </a:ext>
            </a:extLst>
          </p:cNvPr>
          <p:cNvSpPr/>
          <p:nvPr/>
        </p:nvSpPr>
        <p:spPr>
          <a:xfrm>
            <a:off x="1660848" y="2124456"/>
            <a:ext cx="10531152" cy="427286"/>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dirty="0"/>
              <a:t>Struggled to consistently deliver a high level of service and guest satisfaction, failing to attain its stated vision</a:t>
            </a:r>
          </a:p>
        </p:txBody>
      </p:sp>
      <p:sp>
        <p:nvSpPr>
          <p:cNvPr id="17" name="Rectangle 16">
            <a:extLst>
              <a:ext uri="{FF2B5EF4-FFF2-40B4-BE49-F238E27FC236}">
                <a16:creationId xmlns:a16="http://schemas.microsoft.com/office/drawing/2014/main" id="{F5504C5D-9566-C70E-6B19-8DACD25EAF4A}"/>
              </a:ext>
            </a:extLst>
          </p:cNvPr>
          <p:cNvSpPr/>
          <p:nvPr/>
        </p:nvSpPr>
        <p:spPr>
          <a:xfrm>
            <a:off x="0" y="2650593"/>
            <a:ext cx="1660848" cy="1191286"/>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The Change</a:t>
            </a:r>
          </a:p>
        </p:txBody>
      </p:sp>
      <p:sp>
        <p:nvSpPr>
          <p:cNvPr id="18" name="Rectangle 17">
            <a:extLst>
              <a:ext uri="{FF2B5EF4-FFF2-40B4-BE49-F238E27FC236}">
                <a16:creationId xmlns:a16="http://schemas.microsoft.com/office/drawing/2014/main" id="{E4AAED58-E328-E3FC-3E7B-06F3E73700B9}"/>
              </a:ext>
            </a:extLst>
          </p:cNvPr>
          <p:cNvSpPr/>
          <p:nvPr/>
        </p:nvSpPr>
        <p:spPr>
          <a:xfrm>
            <a:off x="1660848" y="2653113"/>
            <a:ext cx="10531152" cy="1191286"/>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b="1" dirty="0"/>
              <a:t>Change in ownership </a:t>
            </a:r>
            <a:r>
              <a:rPr lang="en-IN" sz="1600" dirty="0"/>
              <a:t>of the hotel, Mr Smith, the new owner</a:t>
            </a:r>
          </a:p>
          <a:p>
            <a:pPr marL="285750" indent="-285750">
              <a:buFont typeface="Arial" panose="020B0604020202020204" pitchFamily="34" charset="0"/>
              <a:buChar char="•"/>
            </a:pPr>
            <a:r>
              <a:rPr lang="en-IN" sz="1600" b="1" dirty="0"/>
              <a:t>Vision: </a:t>
            </a:r>
            <a:r>
              <a:rPr lang="en-IN" sz="1600" dirty="0"/>
              <a:t>to modernize the hotel, adopting same standards as the other hotels in the chain</a:t>
            </a:r>
          </a:p>
          <a:p>
            <a:pPr marL="285750" indent="-285750">
              <a:buFont typeface="Arial" panose="020B0604020202020204" pitchFamily="34" charset="0"/>
              <a:buChar char="•"/>
            </a:pPr>
            <a:r>
              <a:rPr lang="en-IN" sz="1600" b="1" dirty="0"/>
              <a:t>How?: </a:t>
            </a:r>
            <a:r>
              <a:rPr lang="en-IN" sz="1600" dirty="0"/>
              <a:t>Implementation of new policies and procedures which included a new reservation system, loyalty program and training for all staff members</a:t>
            </a:r>
          </a:p>
        </p:txBody>
      </p:sp>
      <p:grpSp>
        <p:nvGrpSpPr>
          <p:cNvPr id="29" name="Group 28">
            <a:extLst>
              <a:ext uri="{FF2B5EF4-FFF2-40B4-BE49-F238E27FC236}">
                <a16:creationId xmlns:a16="http://schemas.microsoft.com/office/drawing/2014/main" id="{CB51BB27-FBA0-23EA-5C1F-63052E9EF4FC}"/>
              </a:ext>
            </a:extLst>
          </p:cNvPr>
          <p:cNvGrpSpPr/>
          <p:nvPr/>
        </p:nvGrpSpPr>
        <p:grpSpPr>
          <a:xfrm>
            <a:off x="0" y="3966201"/>
            <a:ext cx="12191998" cy="2219989"/>
            <a:chOff x="0" y="4115497"/>
            <a:chExt cx="12191998" cy="2219989"/>
          </a:xfrm>
        </p:grpSpPr>
        <p:sp>
          <p:nvSpPr>
            <p:cNvPr id="19" name="Rectangle 18">
              <a:extLst>
                <a:ext uri="{FF2B5EF4-FFF2-40B4-BE49-F238E27FC236}">
                  <a16:creationId xmlns:a16="http://schemas.microsoft.com/office/drawing/2014/main" id="{76B5C17A-C252-4484-C052-410D50A6A7F8}"/>
                </a:ext>
              </a:extLst>
            </p:cNvPr>
            <p:cNvSpPr/>
            <p:nvPr/>
          </p:nvSpPr>
          <p:spPr>
            <a:xfrm>
              <a:off x="0" y="4118018"/>
              <a:ext cx="1660848" cy="2209528"/>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20" name="Rectangle 19">
              <a:extLst>
                <a:ext uri="{FF2B5EF4-FFF2-40B4-BE49-F238E27FC236}">
                  <a16:creationId xmlns:a16="http://schemas.microsoft.com/office/drawing/2014/main" id="{235A3ABD-6412-8A53-A02C-3C039BE47615}"/>
                </a:ext>
              </a:extLst>
            </p:cNvPr>
            <p:cNvSpPr/>
            <p:nvPr/>
          </p:nvSpPr>
          <p:spPr>
            <a:xfrm>
              <a:off x="1660847" y="4115497"/>
              <a:ext cx="10531151" cy="221998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sz="1600" dirty="0"/>
            </a:p>
          </p:txBody>
        </p:sp>
        <p:sp>
          <p:nvSpPr>
            <p:cNvPr id="2" name="TextBox 1">
              <a:extLst>
                <a:ext uri="{FF2B5EF4-FFF2-40B4-BE49-F238E27FC236}">
                  <a16:creationId xmlns:a16="http://schemas.microsoft.com/office/drawing/2014/main" id="{E4620AFC-322B-F3AF-26AF-E8D2C3ED9C60}"/>
                </a:ext>
              </a:extLst>
            </p:cNvPr>
            <p:cNvSpPr txBox="1"/>
            <p:nvPr/>
          </p:nvSpPr>
          <p:spPr>
            <a:xfrm>
              <a:off x="3083183" y="4163195"/>
              <a:ext cx="2522766" cy="338554"/>
            </a:xfrm>
            <a:prstGeom prst="rect">
              <a:avLst/>
            </a:prstGeom>
            <a:noFill/>
          </p:spPr>
          <p:txBody>
            <a:bodyPr wrap="square" rtlCol="0">
              <a:spAutoFit/>
            </a:bodyPr>
            <a:lstStyle/>
            <a:p>
              <a:r>
                <a:rPr lang="en-IN" sz="1600" b="1" dirty="0">
                  <a:solidFill>
                    <a:schemeClr val="bg1"/>
                  </a:solidFill>
                </a:rPr>
                <a:t>New Reservation System</a:t>
              </a:r>
            </a:p>
          </p:txBody>
        </p:sp>
        <p:sp>
          <p:nvSpPr>
            <p:cNvPr id="3" name="TextBox 2">
              <a:extLst>
                <a:ext uri="{FF2B5EF4-FFF2-40B4-BE49-F238E27FC236}">
                  <a16:creationId xmlns:a16="http://schemas.microsoft.com/office/drawing/2014/main" id="{83639DEB-392F-0B8A-20CA-13AE13D7608A}"/>
                </a:ext>
              </a:extLst>
            </p:cNvPr>
            <p:cNvSpPr txBox="1"/>
            <p:nvPr/>
          </p:nvSpPr>
          <p:spPr>
            <a:xfrm>
              <a:off x="8616044" y="4163195"/>
              <a:ext cx="2310881" cy="338554"/>
            </a:xfrm>
            <a:prstGeom prst="rect">
              <a:avLst/>
            </a:prstGeom>
            <a:noFill/>
          </p:spPr>
          <p:txBody>
            <a:bodyPr wrap="square" rtlCol="0">
              <a:spAutoFit/>
            </a:bodyPr>
            <a:lstStyle/>
            <a:p>
              <a:r>
                <a:rPr lang="en-IN" sz="1600" b="1" dirty="0">
                  <a:solidFill>
                    <a:schemeClr val="bg1"/>
                  </a:solidFill>
                </a:rPr>
                <a:t>New Loyalty Program</a:t>
              </a:r>
            </a:p>
          </p:txBody>
        </p:sp>
        <p:sp>
          <p:nvSpPr>
            <p:cNvPr id="10" name="TextBox 9">
              <a:extLst>
                <a:ext uri="{FF2B5EF4-FFF2-40B4-BE49-F238E27FC236}">
                  <a16:creationId xmlns:a16="http://schemas.microsoft.com/office/drawing/2014/main" id="{83323A7C-D1AD-8F34-A53C-C422502CA0AF}"/>
                </a:ext>
              </a:extLst>
            </p:cNvPr>
            <p:cNvSpPr txBox="1"/>
            <p:nvPr/>
          </p:nvSpPr>
          <p:spPr>
            <a:xfrm>
              <a:off x="2251010" y="4550677"/>
              <a:ext cx="4187112" cy="584775"/>
            </a:xfrm>
            <a:prstGeom prst="rect">
              <a:avLst/>
            </a:prstGeom>
            <a:noFill/>
            <a:ln>
              <a:solidFill>
                <a:schemeClr val="accent6">
                  <a:lumMod val="50000"/>
                </a:schemeClr>
              </a:solidFill>
            </a:ln>
          </p:spPr>
          <p:txBody>
            <a:bodyPr wrap="square" rtlCol="0">
              <a:spAutoFit/>
            </a:bodyPr>
            <a:lstStyle/>
            <a:p>
              <a:r>
                <a:rPr lang="en-IN" sz="1600" dirty="0">
                  <a:solidFill>
                    <a:schemeClr val="bg1"/>
                  </a:solidFill>
                </a:rPr>
                <a:t>Many staff members not used to, struggled to navigate, confusion amongst staff</a:t>
              </a:r>
            </a:p>
          </p:txBody>
        </p:sp>
        <p:pic>
          <p:nvPicPr>
            <p:cNvPr id="2052" name="Picture 4" descr="Failure ">
              <a:extLst>
                <a:ext uri="{FF2B5EF4-FFF2-40B4-BE49-F238E27FC236}">
                  <a16:creationId xmlns:a16="http://schemas.microsoft.com/office/drawing/2014/main" id="{BB713D98-E522-FFC3-C78E-73A1864D35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6941" y="4607530"/>
              <a:ext cx="532624" cy="53262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Resist ">
              <a:extLst>
                <a:ext uri="{FF2B5EF4-FFF2-40B4-BE49-F238E27FC236}">
                  <a16:creationId xmlns:a16="http://schemas.microsoft.com/office/drawing/2014/main" id="{F5BBA61A-2133-20A9-238D-B0FD4CCD65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7563" y="4607530"/>
              <a:ext cx="532624" cy="53262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58E74578-6442-EDBF-735E-7933CF172D8C}"/>
                </a:ext>
              </a:extLst>
            </p:cNvPr>
            <p:cNvSpPr txBox="1"/>
            <p:nvPr/>
          </p:nvSpPr>
          <p:spPr>
            <a:xfrm>
              <a:off x="7389845" y="4549844"/>
              <a:ext cx="4763281" cy="584775"/>
            </a:xfrm>
            <a:prstGeom prst="rect">
              <a:avLst/>
            </a:prstGeom>
            <a:noFill/>
            <a:ln>
              <a:solidFill>
                <a:schemeClr val="accent6">
                  <a:lumMod val="50000"/>
                </a:schemeClr>
              </a:solidFill>
            </a:ln>
          </p:spPr>
          <p:txBody>
            <a:bodyPr wrap="square" rtlCol="0">
              <a:spAutoFit/>
            </a:bodyPr>
            <a:lstStyle/>
            <a:p>
              <a:r>
                <a:rPr lang="en-IN" sz="1600" dirty="0">
                  <a:solidFill>
                    <a:schemeClr val="bg1"/>
                  </a:solidFill>
                </a:rPr>
                <a:t>Program perceived to be complex and time-consuming; resistance from staff members</a:t>
              </a:r>
            </a:p>
          </p:txBody>
        </p:sp>
        <p:sp>
          <p:nvSpPr>
            <p:cNvPr id="22" name="TextBox 21">
              <a:extLst>
                <a:ext uri="{FF2B5EF4-FFF2-40B4-BE49-F238E27FC236}">
                  <a16:creationId xmlns:a16="http://schemas.microsoft.com/office/drawing/2014/main" id="{1B9175C3-3BEA-4D17-351B-270D1F521653}"/>
                </a:ext>
              </a:extLst>
            </p:cNvPr>
            <p:cNvSpPr txBox="1"/>
            <p:nvPr/>
          </p:nvSpPr>
          <p:spPr>
            <a:xfrm>
              <a:off x="1679510" y="5204876"/>
              <a:ext cx="10473616" cy="338554"/>
            </a:xfrm>
            <a:prstGeom prst="rect">
              <a:avLst/>
            </a:prstGeom>
            <a:solidFill>
              <a:schemeClr val="accent6">
                <a:lumMod val="50000"/>
              </a:schemeClr>
            </a:solidFill>
            <a:ln>
              <a:solidFill>
                <a:schemeClr val="accent6">
                  <a:lumMod val="50000"/>
                </a:schemeClr>
              </a:solidFill>
            </a:ln>
          </p:spPr>
          <p:txBody>
            <a:bodyPr wrap="square" rtlCol="0">
              <a:spAutoFit/>
            </a:bodyPr>
            <a:lstStyle/>
            <a:p>
              <a:pPr algn="ctr"/>
              <a:r>
                <a:rPr lang="en-IN" sz="1600" b="1" dirty="0">
                  <a:solidFill>
                    <a:schemeClr val="bg1"/>
                  </a:solidFill>
                </a:rPr>
                <a:t>The consequential impact: </a:t>
              </a:r>
              <a:r>
                <a:rPr lang="en-IN" sz="1600" dirty="0">
                  <a:solidFill>
                    <a:schemeClr val="bg1"/>
                  </a:solidFill>
                </a:rPr>
                <a:t>Longer waiting time and frustration among the guests</a:t>
              </a:r>
            </a:p>
          </p:txBody>
        </p:sp>
        <p:sp>
          <p:nvSpPr>
            <p:cNvPr id="23" name="TextBox 22">
              <a:extLst>
                <a:ext uri="{FF2B5EF4-FFF2-40B4-BE49-F238E27FC236}">
                  <a16:creationId xmlns:a16="http://schemas.microsoft.com/office/drawing/2014/main" id="{5FF6435F-42A9-C093-081E-7175F86FEA37}"/>
                </a:ext>
              </a:extLst>
            </p:cNvPr>
            <p:cNvSpPr txBox="1"/>
            <p:nvPr/>
          </p:nvSpPr>
          <p:spPr>
            <a:xfrm>
              <a:off x="1660844" y="5681215"/>
              <a:ext cx="10531154" cy="584775"/>
            </a:xfrm>
            <a:prstGeom prst="rect">
              <a:avLst/>
            </a:prstGeom>
            <a:noFill/>
          </p:spPr>
          <p:txBody>
            <a:bodyPr wrap="square" rtlCol="0">
              <a:spAutoFit/>
            </a:bodyPr>
            <a:lstStyle/>
            <a:p>
              <a:pPr marL="285750" indent="-285750">
                <a:buFont typeface="Arial" panose="020B0604020202020204" pitchFamily="34" charset="0"/>
                <a:buChar char="•"/>
              </a:pPr>
              <a:r>
                <a:rPr lang="en-IN" sz="1600" dirty="0">
                  <a:solidFill>
                    <a:schemeClr val="bg1"/>
                  </a:solidFill>
                </a:rPr>
                <a:t>Meetings to explain the new policies and procedures in detail</a:t>
              </a:r>
            </a:p>
            <a:p>
              <a:pPr marL="285750" indent="-285750">
                <a:buFont typeface="Arial" panose="020B0604020202020204" pitchFamily="34" charset="0"/>
                <a:buChar char="•"/>
              </a:pPr>
              <a:r>
                <a:rPr lang="en-IN" sz="1600" dirty="0">
                  <a:solidFill>
                    <a:schemeClr val="bg1"/>
                  </a:solidFill>
                </a:rPr>
                <a:t>Written materials and additional training</a:t>
              </a:r>
            </a:p>
          </p:txBody>
        </p:sp>
        <p:sp>
          <p:nvSpPr>
            <p:cNvPr id="24" name="TextBox 23">
              <a:extLst>
                <a:ext uri="{FF2B5EF4-FFF2-40B4-BE49-F238E27FC236}">
                  <a16:creationId xmlns:a16="http://schemas.microsoft.com/office/drawing/2014/main" id="{2D660A30-959A-4C88-10E3-AF70B13F595D}"/>
                </a:ext>
              </a:extLst>
            </p:cNvPr>
            <p:cNvSpPr txBox="1"/>
            <p:nvPr/>
          </p:nvSpPr>
          <p:spPr>
            <a:xfrm>
              <a:off x="68233" y="4670963"/>
              <a:ext cx="1553742" cy="338554"/>
            </a:xfrm>
            <a:prstGeom prst="rect">
              <a:avLst/>
            </a:prstGeom>
            <a:noFill/>
          </p:spPr>
          <p:txBody>
            <a:bodyPr wrap="square" rtlCol="0">
              <a:spAutoFit/>
            </a:bodyPr>
            <a:lstStyle/>
            <a:p>
              <a:pPr algn="ctr"/>
              <a:r>
                <a:rPr lang="en-IN" sz="1600" dirty="0">
                  <a:solidFill>
                    <a:schemeClr val="bg1"/>
                  </a:solidFill>
                </a:rPr>
                <a:t>The Chaos</a:t>
              </a:r>
            </a:p>
          </p:txBody>
        </p:sp>
        <p:sp>
          <p:nvSpPr>
            <p:cNvPr id="25" name="TextBox 24">
              <a:extLst>
                <a:ext uri="{FF2B5EF4-FFF2-40B4-BE49-F238E27FC236}">
                  <a16:creationId xmlns:a16="http://schemas.microsoft.com/office/drawing/2014/main" id="{6B02ABD2-9370-C9A8-AF82-40ACA4D3B967}"/>
                </a:ext>
              </a:extLst>
            </p:cNvPr>
            <p:cNvSpPr txBox="1"/>
            <p:nvPr/>
          </p:nvSpPr>
          <p:spPr>
            <a:xfrm>
              <a:off x="41009" y="5681215"/>
              <a:ext cx="1553742" cy="584775"/>
            </a:xfrm>
            <a:prstGeom prst="rect">
              <a:avLst/>
            </a:prstGeom>
            <a:noFill/>
          </p:spPr>
          <p:txBody>
            <a:bodyPr wrap="square" rtlCol="0">
              <a:spAutoFit/>
            </a:bodyPr>
            <a:lstStyle/>
            <a:p>
              <a:pPr algn="ctr"/>
              <a:r>
                <a:rPr lang="en-IN" sz="1600" dirty="0">
                  <a:solidFill>
                    <a:schemeClr val="bg1"/>
                  </a:solidFill>
                </a:rPr>
                <a:t>Corrective measures </a:t>
              </a:r>
            </a:p>
          </p:txBody>
        </p:sp>
        <p:cxnSp>
          <p:nvCxnSpPr>
            <p:cNvPr id="27" name="Straight Connector 26">
              <a:extLst>
                <a:ext uri="{FF2B5EF4-FFF2-40B4-BE49-F238E27FC236}">
                  <a16:creationId xmlns:a16="http://schemas.microsoft.com/office/drawing/2014/main" id="{019251BE-85BF-1BAB-D904-BB82E8753BB0}"/>
                </a:ext>
              </a:extLst>
            </p:cNvPr>
            <p:cNvCxnSpPr/>
            <p:nvPr/>
          </p:nvCxnSpPr>
          <p:spPr>
            <a:xfrm>
              <a:off x="0" y="5583539"/>
              <a:ext cx="1660844" cy="0"/>
            </a:xfrm>
            <a:prstGeom prst="line">
              <a:avLst/>
            </a:prstGeom>
            <a:ln>
              <a:solidFill>
                <a:srgbClr val="92D050"/>
              </a:solidFill>
              <a:prstDash val="dash"/>
            </a:ln>
          </p:spPr>
          <p:style>
            <a:lnRef idx="1">
              <a:schemeClr val="accent1"/>
            </a:lnRef>
            <a:fillRef idx="0">
              <a:schemeClr val="accent1"/>
            </a:fillRef>
            <a:effectRef idx="0">
              <a:schemeClr val="accent1"/>
            </a:effectRef>
            <a:fontRef idx="minor">
              <a:schemeClr val="tx1"/>
            </a:fontRef>
          </p:style>
        </p:cxnSp>
      </p:grpSp>
      <p:sp>
        <p:nvSpPr>
          <p:cNvPr id="28" name="Rectangle 27">
            <a:extLst>
              <a:ext uri="{FF2B5EF4-FFF2-40B4-BE49-F238E27FC236}">
                <a16:creationId xmlns:a16="http://schemas.microsoft.com/office/drawing/2014/main" id="{F62FFB51-3316-9963-E2BE-579FE07B3481}"/>
              </a:ext>
            </a:extLst>
          </p:cNvPr>
          <p:cNvSpPr/>
          <p:nvPr/>
        </p:nvSpPr>
        <p:spPr>
          <a:xfrm>
            <a:off x="0" y="6402658"/>
            <a:ext cx="12192000" cy="41987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The resistance received has more of psychological aspects which has lead to decrease in employee morale. Hence, it is imperative to build a positive workplace environment with vision aligned implementation process to calm </a:t>
            </a:r>
            <a:r>
              <a:rPr lang="en-IN" sz="1600"/>
              <a:t>the commotion.</a:t>
            </a:r>
            <a:endParaRPr lang="en-IN" sz="1600" dirty="0"/>
          </a:p>
        </p:txBody>
      </p:sp>
      <p:grpSp>
        <p:nvGrpSpPr>
          <p:cNvPr id="30" name="Group 29">
            <a:extLst>
              <a:ext uri="{FF2B5EF4-FFF2-40B4-BE49-F238E27FC236}">
                <a16:creationId xmlns:a16="http://schemas.microsoft.com/office/drawing/2014/main" id="{5EFEA0BD-D63B-43A0-D8ED-F8200A088120}"/>
              </a:ext>
            </a:extLst>
          </p:cNvPr>
          <p:cNvGrpSpPr/>
          <p:nvPr/>
        </p:nvGrpSpPr>
        <p:grpSpPr>
          <a:xfrm>
            <a:off x="-1" y="0"/>
            <a:ext cx="12195111" cy="438539"/>
            <a:chOff x="0" y="0"/>
            <a:chExt cx="6867332" cy="438539"/>
          </a:xfrm>
          <a:solidFill>
            <a:schemeClr val="accent6">
              <a:lumMod val="50000"/>
            </a:schemeClr>
          </a:solidFill>
        </p:grpSpPr>
        <p:sp>
          <p:nvSpPr>
            <p:cNvPr id="31" name="Rectangle 30">
              <a:extLst>
                <a:ext uri="{FF2B5EF4-FFF2-40B4-BE49-F238E27FC236}">
                  <a16:creationId xmlns:a16="http://schemas.microsoft.com/office/drawing/2014/main" id="{683D2BB5-229C-764D-A9FE-BC0B905D05B6}"/>
                </a:ext>
              </a:extLst>
            </p:cNvPr>
            <p:cNvSpPr/>
            <p:nvPr/>
          </p:nvSpPr>
          <p:spPr>
            <a:xfrm>
              <a:off x="0" y="0"/>
              <a:ext cx="1716833" cy="43853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The Chaos</a:t>
              </a:r>
            </a:p>
          </p:txBody>
        </p:sp>
        <p:sp>
          <p:nvSpPr>
            <p:cNvPr id="32" name="Rectangle 31">
              <a:extLst>
                <a:ext uri="{FF2B5EF4-FFF2-40B4-BE49-F238E27FC236}">
                  <a16:creationId xmlns:a16="http://schemas.microsoft.com/office/drawing/2014/main" id="{7D50F505-06CB-D814-B2D2-B5029231ED4D}"/>
                </a:ext>
              </a:extLst>
            </p:cNvPr>
            <p:cNvSpPr/>
            <p:nvPr/>
          </p:nvSpPr>
          <p:spPr>
            <a:xfrm>
              <a:off x="1716833" y="0"/>
              <a:ext cx="1716833" cy="43853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Creating the climate</a:t>
              </a:r>
            </a:p>
          </p:txBody>
        </p:sp>
        <p:sp>
          <p:nvSpPr>
            <p:cNvPr id="33" name="Rectangle 32">
              <a:extLst>
                <a:ext uri="{FF2B5EF4-FFF2-40B4-BE49-F238E27FC236}">
                  <a16:creationId xmlns:a16="http://schemas.microsoft.com/office/drawing/2014/main" id="{A1FF75BB-CD98-E070-38ED-7F8182D93284}"/>
                </a:ext>
              </a:extLst>
            </p:cNvPr>
            <p:cNvSpPr/>
            <p:nvPr/>
          </p:nvSpPr>
          <p:spPr>
            <a:xfrm>
              <a:off x="3433666" y="0"/>
              <a:ext cx="1716833" cy="43853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Enabling &amp; Implementing</a:t>
              </a:r>
            </a:p>
          </p:txBody>
        </p:sp>
        <p:sp>
          <p:nvSpPr>
            <p:cNvPr id="34" name="Rectangle 33">
              <a:extLst>
                <a:ext uri="{FF2B5EF4-FFF2-40B4-BE49-F238E27FC236}">
                  <a16:creationId xmlns:a16="http://schemas.microsoft.com/office/drawing/2014/main" id="{73729484-0F4A-A797-D8F0-2C08E0835181}"/>
                </a:ext>
              </a:extLst>
            </p:cNvPr>
            <p:cNvSpPr/>
            <p:nvPr/>
          </p:nvSpPr>
          <p:spPr>
            <a:xfrm>
              <a:off x="5150499" y="0"/>
              <a:ext cx="1716833" cy="43853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Embedding the change</a:t>
              </a:r>
            </a:p>
          </p:txBody>
        </p:sp>
      </p:grpSp>
    </p:spTree>
    <p:extLst>
      <p:ext uri="{BB962C8B-B14F-4D97-AF65-F5344CB8AC3E}">
        <p14:creationId xmlns:p14="http://schemas.microsoft.com/office/powerpoint/2010/main" val="1751159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FB9CDCF-D8FE-B3E1-0566-33556A3DD1DE}"/>
              </a:ext>
            </a:extLst>
          </p:cNvPr>
          <p:cNvGrpSpPr/>
          <p:nvPr/>
        </p:nvGrpSpPr>
        <p:grpSpPr>
          <a:xfrm>
            <a:off x="-1" y="0"/>
            <a:ext cx="12195111" cy="438539"/>
            <a:chOff x="0" y="0"/>
            <a:chExt cx="6867332" cy="438539"/>
          </a:xfrm>
          <a:solidFill>
            <a:schemeClr val="accent6">
              <a:lumMod val="50000"/>
            </a:schemeClr>
          </a:solidFill>
        </p:grpSpPr>
        <p:sp>
          <p:nvSpPr>
            <p:cNvPr id="3" name="Rectangle 2">
              <a:extLst>
                <a:ext uri="{FF2B5EF4-FFF2-40B4-BE49-F238E27FC236}">
                  <a16:creationId xmlns:a16="http://schemas.microsoft.com/office/drawing/2014/main" id="{48CBF49E-6FE4-F39F-D41A-35D7019D1F44}"/>
                </a:ext>
              </a:extLst>
            </p:cNvPr>
            <p:cNvSpPr/>
            <p:nvPr/>
          </p:nvSpPr>
          <p:spPr>
            <a:xfrm>
              <a:off x="0" y="0"/>
              <a:ext cx="1716833" cy="43853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The Chaos</a:t>
              </a:r>
            </a:p>
          </p:txBody>
        </p:sp>
        <p:sp>
          <p:nvSpPr>
            <p:cNvPr id="4" name="Rectangle 3">
              <a:extLst>
                <a:ext uri="{FF2B5EF4-FFF2-40B4-BE49-F238E27FC236}">
                  <a16:creationId xmlns:a16="http://schemas.microsoft.com/office/drawing/2014/main" id="{E4DFFDC5-95FC-B2BA-1DF1-71B105FA045D}"/>
                </a:ext>
              </a:extLst>
            </p:cNvPr>
            <p:cNvSpPr/>
            <p:nvPr/>
          </p:nvSpPr>
          <p:spPr>
            <a:xfrm>
              <a:off x="1716833" y="0"/>
              <a:ext cx="1716833" cy="43853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Creating the climate</a:t>
              </a:r>
            </a:p>
          </p:txBody>
        </p:sp>
        <p:sp>
          <p:nvSpPr>
            <p:cNvPr id="5" name="Rectangle 4">
              <a:extLst>
                <a:ext uri="{FF2B5EF4-FFF2-40B4-BE49-F238E27FC236}">
                  <a16:creationId xmlns:a16="http://schemas.microsoft.com/office/drawing/2014/main" id="{E00731AA-8499-111A-DDDA-2F1973271A24}"/>
                </a:ext>
              </a:extLst>
            </p:cNvPr>
            <p:cNvSpPr/>
            <p:nvPr/>
          </p:nvSpPr>
          <p:spPr>
            <a:xfrm>
              <a:off x="3433666" y="0"/>
              <a:ext cx="1716833" cy="43853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Enabling &amp; Implementing</a:t>
              </a:r>
            </a:p>
          </p:txBody>
        </p:sp>
        <p:sp>
          <p:nvSpPr>
            <p:cNvPr id="6" name="Rectangle 5">
              <a:extLst>
                <a:ext uri="{FF2B5EF4-FFF2-40B4-BE49-F238E27FC236}">
                  <a16:creationId xmlns:a16="http://schemas.microsoft.com/office/drawing/2014/main" id="{CDE26B27-3C5A-D450-25BC-46CDC5D5BD0D}"/>
                </a:ext>
              </a:extLst>
            </p:cNvPr>
            <p:cNvSpPr/>
            <p:nvPr/>
          </p:nvSpPr>
          <p:spPr>
            <a:xfrm>
              <a:off x="5150499" y="0"/>
              <a:ext cx="1716833" cy="43853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Embedding the change</a:t>
              </a:r>
            </a:p>
          </p:txBody>
        </p:sp>
      </p:grpSp>
      <p:grpSp>
        <p:nvGrpSpPr>
          <p:cNvPr id="28" name="Group 27">
            <a:extLst>
              <a:ext uri="{FF2B5EF4-FFF2-40B4-BE49-F238E27FC236}">
                <a16:creationId xmlns:a16="http://schemas.microsoft.com/office/drawing/2014/main" id="{90CC6355-4312-AE93-CE44-1D83CF1C9E8E}"/>
              </a:ext>
            </a:extLst>
          </p:cNvPr>
          <p:cNvGrpSpPr/>
          <p:nvPr/>
        </p:nvGrpSpPr>
        <p:grpSpPr>
          <a:xfrm>
            <a:off x="0" y="457898"/>
            <a:ext cx="12192000" cy="2392727"/>
            <a:chOff x="0" y="569870"/>
            <a:chExt cx="12192000" cy="2392727"/>
          </a:xfrm>
        </p:grpSpPr>
        <p:sp>
          <p:nvSpPr>
            <p:cNvPr id="9" name="Rectangle 8">
              <a:extLst>
                <a:ext uri="{FF2B5EF4-FFF2-40B4-BE49-F238E27FC236}">
                  <a16:creationId xmlns:a16="http://schemas.microsoft.com/office/drawing/2014/main" id="{AD6BC93D-1A56-014E-E70A-9EB1B094F5D7}"/>
                </a:ext>
              </a:extLst>
            </p:cNvPr>
            <p:cNvSpPr/>
            <p:nvPr/>
          </p:nvSpPr>
          <p:spPr>
            <a:xfrm>
              <a:off x="0" y="569870"/>
              <a:ext cx="1660848" cy="2392726"/>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Stakeholder Identification</a:t>
              </a:r>
            </a:p>
            <a:p>
              <a:pPr algn="ctr"/>
              <a:r>
                <a:rPr lang="en-IN" sz="1400" dirty="0"/>
                <a:t>(These would be the change agents influencing others in the organization)</a:t>
              </a:r>
            </a:p>
          </p:txBody>
        </p:sp>
        <p:sp>
          <p:nvSpPr>
            <p:cNvPr id="10" name="Rectangle 9">
              <a:extLst>
                <a:ext uri="{FF2B5EF4-FFF2-40B4-BE49-F238E27FC236}">
                  <a16:creationId xmlns:a16="http://schemas.microsoft.com/office/drawing/2014/main" id="{7C37E5F9-6596-31EA-6058-5692E59BDAE5}"/>
                </a:ext>
              </a:extLst>
            </p:cNvPr>
            <p:cNvSpPr/>
            <p:nvPr/>
          </p:nvSpPr>
          <p:spPr>
            <a:xfrm>
              <a:off x="1670178" y="569871"/>
              <a:ext cx="10521822" cy="2392726"/>
            </a:xfrm>
            <a:prstGeom prst="rect">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7" name="Group 26">
              <a:extLst>
                <a:ext uri="{FF2B5EF4-FFF2-40B4-BE49-F238E27FC236}">
                  <a16:creationId xmlns:a16="http://schemas.microsoft.com/office/drawing/2014/main" id="{187B4E29-B182-640D-2A32-AD4CF3F03FCF}"/>
                </a:ext>
              </a:extLst>
            </p:cNvPr>
            <p:cNvGrpSpPr/>
            <p:nvPr/>
          </p:nvGrpSpPr>
          <p:grpSpPr>
            <a:xfrm>
              <a:off x="1577658" y="881756"/>
              <a:ext cx="8514942" cy="2080841"/>
              <a:chOff x="1577658" y="881756"/>
              <a:chExt cx="8514942" cy="2080841"/>
            </a:xfrm>
          </p:grpSpPr>
          <p:grpSp>
            <p:nvGrpSpPr>
              <p:cNvPr id="16" name="Group 15">
                <a:extLst>
                  <a:ext uri="{FF2B5EF4-FFF2-40B4-BE49-F238E27FC236}">
                    <a16:creationId xmlns:a16="http://schemas.microsoft.com/office/drawing/2014/main" id="{B7960CC7-797F-CB59-0619-2669048A152A}"/>
                  </a:ext>
                </a:extLst>
              </p:cNvPr>
              <p:cNvGrpSpPr/>
              <p:nvPr/>
            </p:nvGrpSpPr>
            <p:grpSpPr>
              <a:xfrm>
                <a:off x="1577658" y="881756"/>
                <a:ext cx="2712096" cy="1865397"/>
                <a:chOff x="1811690" y="635535"/>
                <a:chExt cx="2712096" cy="1865397"/>
              </a:xfrm>
            </p:grpSpPr>
            <p:pic>
              <p:nvPicPr>
                <p:cNvPr id="3078" name="Picture 6" descr="Manager ">
                  <a:extLst>
                    <a:ext uri="{FF2B5EF4-FFF2-40B4-BE49-F238E27FC236}">
                      <a16:creationId xmlns:a16="http://schemas.microsoft.com/office/drawing/2014/main" id="{F405970B-DDF9-24EE-C4B6-03D9D63DC1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0539" y="635535"/>
                  <a:ext cx="911290" cy="91129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12B8D76-38C8-F3AC-DAF4-341F0A0CFBC6}"/>
                    </a:ext>
                  </a:extLst>
                </p:cNvPr>
                <p:cNvSpPr txBox="1"/>
                <p:nvPr/>
              </p:nvSpPr>
              <p:spPr>
                <a:xfrm>
                  <a:off x="1811690" y="1546825"/>
                  <a:ext cx="2712096" cy="954107"/>
                </a:xfrm>
                <a:prstGeom prst="rect">
                  <a:avLst/>
                </a:prstGeom>
                <a:noFill/>
              </p:spPr>
              <p:txBody>
                <a:bodyPr wrap="square" rtlCol="0">
                  <a:spAutoFit/>
                </a:bodyPr>
                <a:lstStyle/>
                <a:p>
                  <a:pPr algn="ctr"/>
                  <a:r>
                    <a:rPr lang="en-IN" sz="1400" b="1" dirty="0"/>
                    <a:t>Maria, General Manager</a:t>
                  </a:r>
                </a:p>
                <a:p>
                  <a:pPr algn="ctr"/>
                  <a:r>
                    <a:rPr lang="en-IN" sz="1400" dirty="0"/>
                    <a:t>20 years workex, strong background in operations and ability to lead team successfully</a:t>
                  </a:r>
                </a:p>
              </p:txBody>
            </p:sp>
          </p:grpSp>
          <p:grpSp>
            <p:nvGrpSpPr>
              <p:cNvPr id="17" name="Group 16">
                <a:extLst>
                  <a:ext uri="{FF2B5EF4-FFF2-40B4-BE49-F238E27FC236}">
                    <a16:creationId xmlns:a16="http://schemas.microsoft.com/office/drawing/2014/main" id="{1E11E21D-05DA-61AE-3964-D3BD42517838}"/>
                  </a:ext>
                </a:extLst>
              </p:cNvPr>
              <p:cNvGrpSpPr/>
              <p:nvPr/>
            </p:nvGrpSpPr>
            <p:grpSpPr>
              <a:xfrm>
                <a:off x="4178939" y="881756"/>
                <a:ext cx="2712095" cy="1865397"/>
                <a:chOff x="4287409" y="881756"/>
                <a:chExt cx="2712095" cy="1865397"/>
              </a:xfrm>
            </p:grpSpPr>
            <p:sp>
              <p:nvSpPr>
                <p:cNvPr id="11" name="TextBox 10">
                  <a:extLst>
                    <a:ext uri="{FF2B5EF4-FFF2-40B4-BE49-F238E27FC236}">
                      <a16:creationId xmlns:a16="http://schemas.microsoft.com/office/drawing/2014/main" id="{B535D0C5-EADF-E2A4-A87B-49DA386E97B4}"/>
                    </a:ext>
                  </a:extLst>
                </p:cNvPr>
                <p:cNvSpPr txBox="1"/>
                <p:nvPr/>
              </p:nvSpPr>
              <p:spPr>
                <a:xfrm>
                  <a:off x="4287409" y="1793046"/>
                  <a:ext cx="2712095" cy="954107"/>
                </a:xfrm>
                <a:prstGeom prst="rect">
                  <a:avLst/>
                </a:prstGeom>
                <a:noFill/>
              </p:spPr>
              <p:txBody>
                <a:bodyPr wrap="square" rtlCol="0">
                  <a:spAutoFit/>
                </a:bodyPr>
                <a:lstStyle/>
                <a:p>
                  <a:pPr algn="ctr"/>
                  <a:r>
                    <a:rPr lang="en-IN" sz="1400" b="1" dirty="0"/>
                    <a:t>John, Front Desk Manager</a:t>
                  </a:r>
                </a:p>
                <a:p>
                  <a:pPr algn="ctr"/>
                  <a:r>
                    <a:rPr lang="en-IN" sz="1400" dirty="0"/>
                    <a:t>Working for the past 10 years, rose through the hierarchy, respected by his team, known for friendliness</a:t>
                  </a:r>
                </a:p>
              </p:txBody>
            </p:sp>
            <p:pic>
              <p:nvPicPr>
                <p:cNvPr id="3080" name="Picture 8" descr="Manager ">
                  <a:extLst>
                    <a:ext uri="{FF2B5EF4-FFF2-40B4-BE49-F238E27FC236}">
                      <a16:creationId xmlns:a16="http://schemas.microsoft.com/office/drawing/2014/main" id="{CA26AE4C-02B3-D3D5-E632-EF90B799B9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7227" y="881756"/>
                  <a:ext cx="911290" cy="91129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 name="Group 17">
                <a:extLst>
                  <a:ext uri="{FF2B5EF4-FFF2-40B4-BE49-F238E27FC236}">
                    <a16:creationId xmlns:a16="http://schemas.microsoft.com/office/drawing/2014/main" id="{1BAED5C9-A946-923E-7574-2331BFDDBB79}"/>
                  </a:ext>
                </a:extLst>
              </p:cNvPr>
              <p:cNvGrpSpPr/>
              <p:nvPr/>
            </p:nvGrpSpPr>
            <p:grpSpPr>
              <a:xfrm>
                <a:off x="6843997" y="881756"/>
                <a:ext cx="3248603" cy="2080841"/>
                <a:chOff x="6940427" y="635535"/>
                <a:chExt cx="3248603" cy="2080841"/>
              </a:xfrm>
            </p:grpSpPr>
            <p:pic>
              <p:nvPicPr>
                <p:cNvPr id="3084" name="Picture 12" descr="Businesswoman ">
                  <a:extLst>
                    <a:ext uri="{FF2B5EF4-FFF2-40B4-BE49-F238E27FC236}">
                      <a16:creationId xmlns:a16="http://schemas.microsoft.com/office/drawing/2014/main" id="{755517AF-4C14-573C-7684-2062264E05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07830" y="635535"/>
                  <a:ext cx="911290" cy="91129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CDAE0BDB-F7DB-04BE-33D9-BB9B3F7D18FE}"/>
                    </a:ext>
                  </a:extLst>
                </p:cNvPr>
                <p:cNvSpPr txBox="1"/>
                <p:nvPr/>
              </p:nvSpPr>
              <p:spPr>
                <a:xfrm>
                  <a:off x="6940427" y="1546825"/>
                  <a:ext cx="3248603" cy="1169551"/>
                </a:xfrm>
                <a:prstGeom prst="rect">
                  <a:avLst/>
                </a:prstGeom>
                <a:noFill/>
              </p:spPr>
              <p:txBody>
                <a:bodyPr wrap="square" rtlCol="0">
                  <a:spAutoFit/>
                </a:bodyPr>
                <a:lstStyle/>
                <a:p>
                  <a:pPr algn="ctr"/>
                  <a:r>
                    <a:rPr lang="en-IN" sz="1400" b="1" dirty="0"/>
                    <a:t>Sarah, Housekeeping Manager</a:t>
                  </a:r>
                </a:p>
                <a:p>
                  <a:pPr algn="ctr"/>
                  <a:r>
                    <a:rPr lang="en-IN" sz="1400" dirty="0"/>
                    <a:t>Working for the past 7 years, strong background in housekeeping, known for maintaining cleanliness and guest satisfaction</a:t>
                  </a:r>
                </a:p>
              </p:txBody>
            </p:sp>
          </p:grpSp>
        </p:grpSp>
      </p:grpSp>
      <p:sp>
        <p:nvSpPr>
          <p:cNvPr id="19" name="Rectangle 18">
            <a:extLst>
              <a:ext uri="{FF2B5EF4-FFF2-40B4-BE49-F238E27FC236}">
                <a16:creationId xmlns:a16="http://schemas.microsoft.com/office/drawing/2014/main" id="{50127722-8242-B88B-9686-A7CC22791CC2}"/>
              </a:ext>
            </a:extLst>
          </p:cNvPr>
          <p:cNvSpPr/>
          <p:nvPr/>
        </p:nvSpPr>
        <p:spPr>
          <a:xfrm>
            <a:off x="0" y="2916367"/>
            <a:ext cx="12192000" cy="289252"/>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Implementing Kotter’s Change Management Model to ease the commotion</a:t>
            </a:r>
          </a:p>
        </p:txBody>
      </p:sp>
      <p:sp>
        <p:nvSpPr>
          <p:cNvPr id="22" name="Rectangle 21">
            <a:extLst>
              <a:ext uri="{FF2B5EF4-FFF2-40B4-BE49-F238E27FC236}">
                <a16:creationId xmlns:a16="http://schemas.microsoft.com/office/drawing/2014/main" id="{052B6588-BF59-C8B3-6809-18B9BF9F7FE4}"/>
              </a:ext>
            </a:extLst>
          </p:cNvPr>
          <p:cNvSpPr/>
          <p:nvPr/>
        </p:nvSpPr>
        <p:spPr>
          <a:xfrm>
            <a:off x="471197" y="6285222"/>
            <a:ext cx="1259630" cy="572778"/>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Aligning with the vision</a:t>
            </a:r>
          </a:p>
        </p:txBody>
      </p:sp>
      <p:sp>
        <p:nvSpPr>
          <p:cNvPr id="24" name="Rectangle 23">
            <a:extLst>
              <a:ext uri="{FF2B5EF4-FFF2-40B4-BE49-F238E27FC236}">
                <a16:creationId xmlns:a16="http://schemas.microsoft.com/office/drawing/2014/main" id="{F573A0A3-23E5-555C-4071-056F0EA98443}"/>
              </a:ext>
            </a:extLst>
          </p:cNvPr>
          <p:cNvSpPr/>
          <p:nvPr/>
        </p:nvSpPr>
        <p:spPr>
          <a:xfrm>
            <a:off x="1721496" y="3288475"/>
            <a:ext cx="10456507" cy="111719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dirty="0"/>
              <a:t>To address or create the urgency of the situation, the following is recommended:</a:t>
            </a:r>
          </a:p>
          <a:p>
            <a:pPr marL="285750" indent="-285750">
              <a:buFont typeface="Arial" panose="020B0604020202020204" pitchFamily="34" charset="0"/>
              <a:buChar char="•"/>
            </a:pPr>
            <a:r>
              <a:rPr lang="en-IN" sz="1400" dirty="0"/>
              <a:t>Sending data about guest dissatisfaction to staffs, repeated complaints received and feedbacks from repeat guests</a:t>
            </a:r>
          </a:p>
          <a:p>
            <a:pPr marL="285750" indent="-285750">
              <a:buFont typeface="Arial" panose="020B0604020202020204" pitchFamily="34" charset="0"/>
              <a:buChar char="•"/>
            </a:pPr>
            <a:r>
              <a:rPr lang="en-IN" sz="1400" dirty="0"/>
              <a:t>Engaging in conversations about unsatisfactory service, unhappy customers and disgruntled shareholders</a:t>
            </a:r>
          </a:p>
          <a:p>
            <a:pPr marL="285750" indent="-285750">
              <a:buFont typeface="Arial" panose="020B0604020202020204" pitchFamily="34" charset="0"/>
              <a:buChar char="•"/>
            </a:pPr>
            <a:r>
              <a:rPr lang="en-IN" sz="1400" dirty="0"/>
              <a:t>Honest discussions of the problems in company newspapers and senior management forums or speeches</a:t>
            </a:r>
          </a:p>
        </p:txBody>
      </p:sp>
      <p:sp>
        <p:nvSpPr>
          <p:cNvPr id="25" name="Rectangle 24">
            <a:extLst>
              <a:ext uri="{FF2B5EF4-FFF2-40B4-BE49-F238E27FC236}">
                <a16:creationId xmlns:a16="http://schemas.microsoft.com/office/drawing/2014/main" id="{C9DC952F-EA83-BB6D-E08F-74DDF0A4ACEB}"/>
              </a:ext>
            </a:extLst>
          </p:cNvPr>
          <p:cNvSpPr/>
          <p:nvPr/>
        </p:nvSpPr>
        <p:spPr>
          <a:xfrm>
            <a:off x="1712169" y="4455504"/>
            <a:ext cx="10482942" cy="179670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IN" sz="1400" dirty="0"/>
              <a:t>Identifying the change agents on the basis of:</a:t>
            </a:r>
          </a:p>
          <a:p>
            <a:pPr marL="285750" indent="-285750">
              <a:buFont typeface="Arial" panose="020B0604020202020204" pitchFamily="34" charset="0"/>
              <a:buChar char="•"/>
            </a:pPr>
            <a:r>
              <a:rPr lang="en-IN" sz="1400" dirty="0"/>
              <a:t>Position Power: Bring key people on board(main line managers), to reduce resistance from others not directly involved</a:t>
            </a:r>
          </a:p>
          <a:p>
            <a:pPr marL="285750" indent="-285750">
              <a:buFont typeface="Arial" panose="020B0604020202020204" pitchFamily="34" charset="0"/>
              <a:buChar char="•"/>
            </a:pPr>
            <a:r>
              <a:rPr lang="en-IN" sz="1400" dirty="0"/>
              <a:t>Expertise: For bringing in varied, informed and intelligent decisions</a:t>
            </a:r>
          </a:p>
          <a:p>
            <a:pPr marL="285750" indent="-285750">
              <a:buFont typeface="Arial" panose="020B0604020202020204" pitchFamily="34" charset="0"/>
              <a:buChar char="•"/>
            </a:pPr>
            <a:r>
              <a:rPr lang="en-IN" sz="1400" dirty="0"/>
              <a:t>Leadership: Proven leaders as change agents to drive the change implementation process</a:t>
            </a:r>
          </a:p>
          <a:p>
            <a:r>
              <a:rPr lang="en-IN" sz="1400" dirty="0"/>
              <a:t>Based on these criterions, </a:t>
            </a:r>
            <a:r>
              <a:rPr lang="en-IN" sz="1400" b="1" dirty="0"/>
              <a:t>Maria, the General Manager</a:t>
            </a:r>
            <a:r>
              <a:rPr lang="en-IN" sz="1400" dirty="0"/>
              <a:t>, </a:t>
            </a:r>
            <a:r>
              <a:rPr lang="en-IN" sz="1400" b="1" dirty="0"/>
              <a:t>John, the Front Desk Manager </a:t>
            </a:r>
            <a:r>
              <a:rPr lang="en-IN" sz="1400" dirty="0"/>
              <a:t>and </a:t>
            </a:r>
            <a:r>
              <a:rPr lang="en-IN" sz="1400" b="1" dirty="0"/>
              <a:t>Sarah, the Housekeeping Manager</a:t>
            </a:r>
            <a:r>
              <a:rPr lang="en-IN" sz="1400" dirty="0"/>
              <a:t> are to be the change agents. Maria will take account of the overall policy and procedure implementation, John will take account of the issues faced in implementation of the new reservation system and Sarah, will take account of procedures to improve guest satisfaction. Maria will be the reporting manager for both John and Sarah. Stakeholders in support will act as key influencers.</a:t>
            </a:r>
          </a:p>
        </p:txBody>
      </p:sp>
      <p:sp>
        <p:nvSpPr>
          <p:cNvPr id="26" name="Rectangle 25">
            <a:extLst>
              <a:ext uri="{FF2B5EF4-FFF2-40B4-BE49-F238E27FC236}">
                <a16:creationId xmlns:a16="http://schemas.microsoft.com/office/drawing/2014/main" id="{F7FB1D51-1316-C9D8-7995-E38DAC967AA7}"/>
              </a:ext>
            </a:extLst>
          </p:cNvPr>
          <p:cNvSpPr/>
          <p:nvPr/>
        </p:nvSpPr>
        <p:spPr>
          <a:xfrm>
            <a:off x="1730827" y="6285222"/>
            <a:ext cx="10464284" cy="57277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400" dirty="0"/>
              <a:t>Communicating a clear picture of how the policies and procedures which are under implementation will increase the staff efficiency and increase the guest satisfaction which will be beneficial in long term to all stakeholders in the organization</a:t>
            </a:r>
          </a:p>
        </p:txBody>
      </p:sp>
      <p:sp>
        <p:nvSpPr>
          <p:cNvPr id="29" name="TextBox 28">
            <a:extLst>
              <a:ext uri="{FF2B5EF4-FFF2-40B4-BE49-F238E27FC236}">
                <a16:creationId xmlns:a16="http://schemas.microsoft.com/office/drawing/2014/main" id="{C629C960-F21A-BBF3-A353-977787CAFD50}"/>
              </a:ext>
            </a:extLst>
          </p:cNvPr>
          <p:cNvSpPr txBox="1"/>
          <p:nvPr/>
        </p:nvSpPr>
        <p:spPr>
          <a:xfrm>
            <a:off x="9817173" y="1681074"/>
            <a:ext cx="2311254" cy="738664"/>
          </a:xfrm>
          <a:prstGeom prst="rect">
            <a:avLst/>
          </a:prstGeom>
          <a:noFill/>
        </p:spPr>
        <p:txBody>
          <a:bodyPr wrap="square" rtlCol="0">
            <a:spAutoFit/>
          </a:bodyPr>
          <a:lstStyle/>
          <a:p>
            <a:pPr algn="ctr"/>
            <a:r>
              <a:rPr lang="en-IN" sz="1400" b="1" dirty="0"/>
              <a:t>Promoters or stakeholders</a:t>
            </a:r>
          </a:p>
          <a:p>
            <a:pPr algn="ctr"/>
            <a:r>
              <a:rPr lang="en-IN" sz="1400" b="1" dirty="0"/>
              <a:t> </a:t>
            </a:r>
            <a:r>
              <a:rPr lang="en-IN" sz="1400" dirty="0"/>
              <a:t>in support of the change being implemented</a:t>
            </a:r>
          </a:p>
        </p:txBody>
      </p:sp>
      <p:grpSp>
        <p:nvGrpSpPr>
          <p:cNvPr id="30" name="Group 29">
            <a:extLst>
              <a:ext uri="{FF2B5EF4-FFF2-40B4-BE49-F238E27FC236}">
                <a16:creationId xmlns:a16="http://schemas.microsoft.com/office/drawing/2014/main" id="{9489D832-C294-0855-C9F8-DDC29EE138BD}"/>
              </a:ext>
            </a:extLst>
          </p:cNvPr>
          <p:cNvGrpSpPr/>
          <p:nvPr/>
        </p:nvGrpSpPr>
        <p:grpSpPr>
          <a:xfrm>
            <a:off x="10407428" y="769784"/>
            <a:ext cx="1180556" cy="905538"/>
            <a:chOff x="10407428" y="769784"/>
            <a:chExt cx="1180556" cy="905538"/>
          </a:xfrm>
        </p:grpSpPr>
        <p:pic>
          <p:nvPicPr>
            <p:cNvPr id="3086" name="Picture 14" descr="People ">
              <a:extLst>
                <a:ext uri="{FF2B5EF4-FFF2-40B4-BE49-F238E27FC236}">
                  <a16:creationId xmlns:a16="http://schemas.microsoft.com/office/drawing/2014/main" id="{E4D6C911-6130-02C7-3E51-65EF2FE0CA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07428" y="769784"/>
              <a:ext cx="905538" cy="905538"/>
            </a:xfrm>
            <a:prstGeom prst="rect">
              <a:avLst/>
            </a:prstGeom>
            <a:noFill/>
            <a:extLst>
              <a:ext uri="{909E8E84-426E-40DD-AFC4-6F175D3DCCD1}">
                <a14:hiddenFill xmlns:a14="http://schemas.microsoft.com/office/drawing/2010/main">
                  <a:solidFill>
                    <a:srgbClr val="FFFFFF"/>
                  </a:solidFill>
                </a14:hiddenFill>
              </a:ext>
            </a:extLst>
          </p:spPr>
        </p:pic>
        <p:pic>
          <p:nvPicPr>
            <p:cNvPr id="3088" name="Picture 16" descr="Loudspeaker ">
              <a:extLst>
                <a:ext uri="{FF2B5EF4-FFF2-40B4-BE49-F238E27FC236}">
                  <a16:creationId xmlns:a16="http://schemas.microsoft.com/office/drawing/2014/main" id="{A7F466FA-448B-0974-EEAF-5004EBFBFB2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37948" y="774475"/>
              <a:ext cx="550036" cy="550036"/>
            </a:xfrm>
            <a:prstGeom prst="rect">
              <a:avLst/>
            </a:prstGeom>
            <a:noFill/>
            <a:extLst>
              <a:ext uri="{909E8E84-426E-40DD-AFC4-6F175D3DCCD1}">
                <a14:hiddenFill xmlns:a14="http://schemas.microsoft.com/office/drawing/2010/main">
                  <a:solidFill>
                    <a:srgbClr val="FFFFFF"/>
                  </a:solidFill>
                </a14:hiddenFill>
              </a:ext>
            </a:extLst>
          </p:spPr>
        </p:pic>
      </p:grpSp>
      <p:sp>
        <p:nvSpPr>
          <p:cNvPr id="32" name="Rectangle 31">
            <a:extLst>
              <a:ext uri="{FF2B5EF4-FFF2-40B4-BE49-F238E27FC236}">
                <a16:creationId xmlns:a16="http://schemas.microsoft.com/office/drawing/2014/main" id="{AABA121E-6E70-348A-48BD-05C5B79B8F39}"/>
              </a:ext>
            </a:extLst>
          </p:cNvPr>
          <p:cNvSpPr/>
          <p:nvPr/>
        </p:nvSpPr>
        <p:spPr>
          <a:xfrm>
            <a:off x="471196" y="4453888"/>
            <a:ext cx="1250302" cy="1798323"/>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Building the guiding team</a:t>
            </a:r>
          </a:p>
        </p:txBody>
      </p:sp>
      <p:sp>
        <p:nvSpPr>
          <p:cNvPr id="33" name="Rectangle 32">
            <a:extLst>
              <a:ext uri="{FF2B5EF4-FFF2-40B4-BE49-F238E27FC236}">
                <a16:creationId xmlns:a16="http://schemas.microsoft.com/office/drawing/2014/main" id="{B28FCBA3-2996-E38A-473D-DB6F50E3C297}"/>
              </a:ext>
            </a:extLst>
          </p:cNvPr>
          <p:cNvSpPr/>
          <p:nvPr/>
        </p:nvSpPr>
        <p:spPr>
          <a:xfrm>
            <a:off x="480526" y="3288475"/>
            <a:ext cx="1240972" cy="111557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Create the urgency</a:t>
            </a:r>
          </a:p>
        </p:txBody>
      </p:sp>
      <p:sp>
        <p:nvSpPr>
          <p:cNvPr id="34" name="Rectangle 33">
            <a:extLst>
              <a:ext uri="{FF2B5EF4-FFF2-40B4-BE49-F238E27FC236}">
                <a16:creationId xmlns:a16="http://schemas.microsoft.com/office/drawing/2014/main" id="{EBC84882-116B-5AAC-C189-30CE544589E4}"/>
              </a:ext>
            </a:extLst>
          </p:cNvPr>
          <p:cNvSpPr/>
          <p:nvPr/>
        </p:nvSpPr>
        <p:spPr>
          <a:xfrm>
            <a:off x="4665" y="3279144"/>
            <a:ext cx="475860" cy="357885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sz="1600" b="1" dirty="0"/>
              <a:t>Creating the climate for change</a:t>
            </a:r>
          </a:p>
        </p:txBody>
      </p:sp>
    </p:spTree>
    <p:extLst>
      <p:ext uri="{BB962C8B-B14F-4D97-AF65-F5344CB8AC3E}">
        <p14:creationId xmlns:p14="http://schemas.microsoft.com/office/powerpoint/2010/main" val="10282405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73A8CDF-D7EC-3759-6F81-482C3FA41206}"/>
              </a:ext>
            </a:extLst>
          </p:cNvPr>
          <p:cNvSpPr/>
          <p:nvPr/>
        </p:nvSpPr>
        <p:spPr>
          <a:xfrm>
            <a:off x="475861" y="479957"/>
            <a:ext cx="1240972" cy="1414156"/>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Communicate for buy-in</a:t>
            </a:r>
          </a:p>
        </p:txBody>
      </p:sp>
      <p:sp>
        <p:nvSpPr>
          <p:cNvPr id="15" name="Rectangle 14">
            <a:extLst>
              <a:ext uri="{FF2B5EF4-FFF2-40B4-BE49-F238E27FC236}">
                <a16:creationId xmlns:a16="http://schemas.microsoft.com/office/drawing/2014/main" id="{67CD7312-C3EA-A933-A81F-FE8455570215}"/>
              </a:ext>
            </a:extLst>
          </p:cNvPr>
          <p:cNvSpPr/>
          <p:nvPr/>
        </p:nvSpPr>
        <p:spPr>
          <a:xfrm>
            <a:off x="475861" y="1938150"/>
            <a:ext cx="1240972" cy="1414156"/>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Empower action</a:t>
            </a:r>
          </a:p>
        </p:txBody>
      </p:sp>
      <p:sp>
        <p:nvSpPr>
          <p:cNvPr id="16" name="Rectangle 15">
            <a:extLst>
              <a:ext uri="{FF2B5EF4-FFF2-40B4-BE49-F238E27FC236}">
                <a16:creationId xmlns:a16="http://schemas.microsoft.com/office/drawing/2014/main" id="{F2B0E79C-66F4-C78D-864A-0C39E88F0E49}"/>
              </a:ext>
            </a:extLst>
          </p:cNvPr>
          <p:cNvSpPr/>
          <p:nvPr/>
        </p:nvSpPr>
        <p:spPr>
          <a:xfrm>
            <a:off x="475861" y="3412618"/>
            <a:ext cx="1240972" cy="1612726"/>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Create short-term wins</a:t>
            </a:r>
          </a:p>
        </p:txBody>
      </p:sp>
      <p:sp>
        <p:nvSpPr>
          <p:cNvPr id="17" name="Rectangle 16">
            <a:extLst>
              <a:ext uri="{FF2B5EF4-FFF2-40B4-BE49-F238E27FC236}">
                <a16:creationId xmlns:a16="http://schemas.microsoft.com/office/drawing/2014/main" id="{65236B5E-5B5B-EB26-2895-CD03D7CAFF7B}"/>
              </a:ext>
            </a:extLst>
          </p:cNvPr>
          <p:cNvSpPr/>
          <p:nvPr/>
        </p:nvSpPr>
        <p:spPr>
          <a:xfrm>
            <a:off x="1" y="479957"/>
            <a:ext cx="475860" cy="454538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sz="1400" b="1" dirty="0"/>
              <a:t>Engaging &amp; enabling the whole organization</a:t>
            </a:r>
          </a:p>
        </p:txBody>
      </p:sp>
      <p:sp>
        <p:nvSpPr>
          <p:cNvPr id="18" name="Rectangle 17">
            <a:extLst>
              <a:ext uri="{FF2B5EF4-FFF2-40B4-BE49-F238E27FC236}">
                <a16:creationId xmlns:a16="http://schemas.microsoft.com/office/drawing/2014/main" id="{018E7B08-1DA0-556A-22A3-03D8C3A97145}"/>
              </a:ext>
            </a:extLst>
          </p:cNvPr>
          <p:cNvSpPr/>
          <p:nvPr/>
        </p:nvSpPr>
        <p:spPr>
          <a:xfrm>
            <a:off x="1716833" y="479957"/>
            <a:ext cx="10475166" cy="141415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IN" sz="1400" dirty="0"/>
              <a:t>Communicating the vision through all channels: daily meetings, formal and informal discussion forums, newspapers, internal groups of daily communication(WhatsApp/Mail) and also engaging the staff members promoting for the change to bring in members against through conversations</a:t>
            </a:r>
          </a:p>
          <a:p>
            <a:pPr marL="285750" indent="-285750">
              <a:buFont typeface="Arial" panose="020B0604020202020204" pitchFamily="34" charset="0"/>
              <a:buChar char="•"/>
            </a:pPr>
            <a:r>
              <a:rPr lang="en-IN" sz="1400" dirty="0"/>
              <a:t>Engaging in a two-way communication, with the resistors of change to understand their problems and communicating how the hotel is looking forward to address the issues</a:t>
            </a:r>
          </a:p>
          <a:p>
            <a:pPr marL="285750" indent="-285750">
              <a:buFont typeface="Arial" panose="020B0604020202020204" pitchFamily="34" charset="0"/>
              <a:buChar char="•"/>
            </a:pPr>
            <a:r>
              <a:rPr lang="en-IN" sz="1400" dirty="0"/>
              <a:t>Activities promoting repetition of the idea of implementation to be conducted, thus creating a verbal image of the future.</a:t>
            </a:r>
          </a:p>
        </p:txBody>
      </p:sp>
      <p:sp>
        <p:nvSpPr>
          <p:cNvPr id="19" name="Rectangle 18">
            <a:extLst>
              <a:ext uri="{FF2B5EF4-FFF2-40B4-BE49-F238E27FC236}">
                <a16:creationId xmlns:a16="http://schemas.microsoft.com/office/drawing/2014/main" id="{0C821B04-34AA-D4AD-402A-D9917B68844F}"/>
              </a:ext>
            </a:extLst>
          </p:cNvPr>
          <p:cNvSpPr/>
          <p:nvPr/>
        </p:nvSpPr>
        <p:spPr>
          <a:xfrm>
            <a:off x="1716833" y="1938150"/>
            <a:ext cx="10484496" cy="141415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IN" sz="1400" dirty="0"/>
              <a:t>Front office team to be tasked to train the staffs for the new reservation system by creating a dummy reservation portal, and gather feedback to address the problems or issues while working (On-the-job and off-the job training)</a:t>
            </a:r>
          </a:p>
          <a:p>
            <a:pPr marL="285750" indent="-285750">
              <a:buFont typeface="Arial" panose="020B0604020202020204" pitchFamily="34" charset="0"/>
              <a:buChar char="•"/>
            </a:pPr>
            <a:r>
              <a:rPr lang="en-IN" sz="1400" dirty="0"/>
              <a:t>Sales team training to be conducted to communicate the changes in the loyalty program and articulate a story or pitch accordingly to why the changes have been brought in, thus enhancing the transparency attribute of the hotel amongst customers</a:t>
            </a:r>
          </a:p>
          <a:p>
            <a:pPr marL="285750" indent="-285750">
              <a:buFont typeface="Arial" panose="020B0604020202020204" pitchFamily="34" charset="0"/>
              <a:buChar char="•"/>
            </a:pPr>
            <a:r>
              <a:rPr lang="en-IN" sz="1400" dirty="0"/>
              <a:t>Establish a customer complaint handling system to address guest complaints and communicate to the internal team through internal channels(WhatsApp Groups) and empower guest relation executives to engage in conversations with guests and collect verbal feedbacks</a:t>
            </a:r>
          </a:p>
        </p:txBody>
      </p:sp>
      <p:sp>
        <p:nvSpPr>
          <p:cNvPr id="20" name="Rectangle 19">
            <a:extLst>
              <a:ext uri="{FF2B5EF4-FFF2-40B4-BE49-F238E27FC236}">
                <a16:creationId xmlns:a16="http://schemas.microsoft.com/office/drawing/2014/main" id="{4506BAAE-659F-FDDB-0213-4DA8DD704D41}"/>
              </a:ext>
            </a:extLst>
          </p:cNvPr>
          <p:cNvSpPr/>
          <p:nvPr/>
        </p:nvSpPr>
        <p:spPr>
          <a:xfrm>
            <a:off x="1716833" y="3416472"/>
            <a:ext cx="10475166" cy="161272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IN" sz="1400" dirty="0"/>
              <a:t>Use of as many numbers as possible, as this is the most visible aspect to see how the change has benefitted the stakeholders. Use of various KPI metrics(booking time or waiting time, etc) to show how the employee efficiency will increase through the dummy reservation portal</a:t>
            </a:r>
          </a:p>
          <a:p>
            <a:pPr marL="285750" indent="-285750">
              <a:buFont typeface="Arial" panose="020B0604020202020204" pitchFamily="34" charset="0"/>
              <a:buChar char="•"/>
            </a:pPr>
            <a:r>
              <a:rPr lang="en-IN" sz="1400" dirty="0"/>
              <a:t>Create short term goals: # of positive feedbacks received, # of new customers added or rate of renewals on the loyalty program, increase in the # of reservations post and pre implementation, reduction in reservation time, reduction in customer churn, etc</a:t>
            </a:r>
          </a:p>
          <a:p>
            <a:pPr marL="285750" indent="-285750">
              <a:buFont typeface="Arial" panose="020B0604020202020204" pitchFamily="34" charset="0"/>
              <a:buChar char="•"/>
            </a:pPr>
            <a:r>
              <a:rPr lang="en-IN" sz="1400" dirty="0"/>
              <a:t>Highlight feedbacks from guests who have given positive reviews about the new procedures and think their issues would be addressed on its implementation</a:t>
            </a:r>
          </a:p>
          <a:p>
            <a:endParaRPr lang="en-IN" sz="1400" dirty="0"/>
          </a:p>
        </p:txBody>
      </p:sp>
      <p:sp>
        <p:nvSpPr>
          <p:cNvPr id="21" name="Rectangle 20">
            <a:extLst>
              <a:ext uri="{FF2B5EF4-FFF2-40B4-BE49-F238E27FC236}">
                <a16:creationId xmlns:a16="http://schemas.microsoft.com/office/drawing/2014/main" id="{A5E5BED1-008F-A4A1-3ABA-1B529BC9B982}"/>
              </a:ext>
            </a:extLst>
          </p:cNvPr>
          <p:cNvSpPr/>
          <p:nvPr/>
        </p:nvSpPr>
        <p:spPr>
          <a:xfrm>
            <a:off x="475861" y="5113899"/>
            <a:ext cx="1240972" cy="17441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a:t>Build on the change</a:t>
            </a:r>
          </a:p>
        </p:txBody>
      </p:sp>
      <p:sp>
        <p:nvSpPr>
          <p:cNvPr id="22" name="Rectangle 21">
            <a:extLst>
              <a:ext uri="{FF2B5EF4-FFF2-40B4-BE49-F238E27FC236}">
                <a16:creationId xmlns:a16="http://schemas.microsoft.com/office/drawing/2014/main" id="{5F52D0BA-6BEA-52EA-C1A8-18D6B9B3DB17}"/>
              </a:ext>
            </a:extLst>
          </p:cNvPr>
          <p:cNvSpPr/>
          <p:nvPr/>
        </p:nvSpPr>
        <p:spPr>
          <a:xfrm>
            <a:off x="1" y="5113898"/>
            <a:ext cx="475860" cy="174410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sz="1400" b="1" dirty="0"/>
              <a:t>Implement &amp; sustain change</a:t>
            </a:r>
          </a:p>
        </p:txBody>
      </p:sp>
      <p:sp>
        <p:nvSpPr>
          <p:cNvPr id="23" name="Rectangle 22">
            <a:extLst>
              <a:ext uri="{FF2B5EF4-FFF2-40B4-BE49-F238E27FC236}">
                <a16:creationId xmlns:a16="http://schemas.microsoft.com/office/drawing/2014/main" id="{4BC16A80-3333-8864-179D-EEE97EBD59EC}"/>
              </a:ext>
            </a:extLst>
          </p:cNvPr>
          <p:cNvSpPr/>
          <p:nvPr/>
        </p:nvSpPr>
        <p:spPr>
          <a:xfrm>
            <a:off x="1716833" y="5113900"/>
            <a:ext cx="10475166" cy="17441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IN" sz="1400" dirty="0"/>
              <a:t>Perform lessons learned analysis after each stage of implementation and incorporate them into the next stage of implementation to build the momentum gained</a:t>
            </a:r>
          </a:p>
          <a:p>
            <a:pPr marL="285750" indent="-285750">
              <a:buFont typeface="Arial" panose="020B0604020202020204" pitchFamily="34" charset="0"/>
              <a:buChar char="•"/>
            </a:pPr>
            <a:r>
              <a:rPr lang="en-IN" sz="1400" dirty="0"/>
              <a:t>Rewards, recognition  and positive reviews will boost employee morale and motivation. Promotion of these staffs will help execute the implementation program, and act as tangible benefits to others in the organization</a:t>
            </a:r>
          </a:p>
          <a:p>
            <a:pPr marL="285750" indent="-285750">
              <a:buFont typeface="Arial" panose="020B0604020202020204" pitchFamily="34" charset="0"/>
              <a:buChar char="•"/>
            </a:pPr>
            <a:r>
              <a:rPr lang="en-IN" sz="1400" dirty="0"/>
              <a:t>Use these as proven results and tangible benefits to increase the number of influential change agents. This will help turn neutral people to supports and reluctant ones to active helpers, thus bringing in more change influencers</a:t>
            </a:r>
          </a:p>
          <a:p>
            <a:pPr marL="285750" indent="-285750">
              <a:buFont typeface="Arial" panose="020B0604020202020204" pitchFamily="34" charset="0"/>
              <a:buChar char="•"/>
            </a:pPr>
            <a:r>
              <a:rPr lang="en-IN" sz="1400" dirty="0"/>
              <a:t>Use the expanded group of change influencers to reinforce the momentum and boost the execution of the implementation process</a:t>
            </a:r>
          </a:p>
        </p:txBody>
      </p:sp>
      <p:grpSp>
        <p:nvGrpSpPr>
          <p:cNvPr id="24" name="Group 23">
            <a:extLst>
              <a:ext uri="{FF2B5EF4-FFF2-40B4-BE49-F238E27FC236}">
                <a16:creationId xmlns:a16="http://schemas.microsoft.com/office/drawing/2014/main" id="{C3E2D15A-C3B1-D86D-2794-AA76251AA857}"/>
              </a:ext>
            </a:extLst>
          </p:cNvPr>
          <p:cNvGrpSpPr/>
          <p:nvPr/>
        </p:nvGrpSpPr>
        <p:grpSpPr>
          <a:xfrm>
            <a:off x="-1" y="0"/>
            <a:ext cx="12195111" cy="438539"/>
            <a:chOff x="0" y="0"/>
            <a:chExt cx="6867332" cy="438539"/>
          </a:xfrm>
          <a:solidFill>
            <a:schemeClr val="accent6">
              <a:lumMod val="50000"/>
            </a:schemeClr>
          </a:solidFill>
        </p:grpSpPr>
        <p:sp>
          <p:nvSpPr>
            <p:cNvPr id="25" name="Rectangle 24">
              <a:extLst>
                <a:ext uri="{FF2B5EF4-FFF2-40B4-BE49-F238E27FC236}">
                  <a16:creationId xmlns:a16="http://schemas.microsoft.com/office/drawing/2014/main" id="{3C98E2DF-A658-FEC8-AE73-02B48A88AC5F}"/>
                </a:ext>
              </a:extLst>
            </p:cNvPr>
            <p:cNvSpPr/>
            <p:nvPr/>
          </p:nvSpPr>
          <p:spPr>
            <a:xfrm>
              <a:off x="0" y="0"/>
              <a:ext cx="1716833" cy="43853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The Chaos</a:t>
              </a:r>
            </a:p>
          </p:txBody>
        </p:sp>
        <p:sp>
          <p:nvSpPr>
            <p:cNvPr id="26" name="Rectangle 25">
              <a:extLst>
                <a:ext uri="{FF2B5EF4-FFF2-40B4-BE49-F238E27FC236}">
                  <a16:creationId xmlns:a16="http://schemas.microsoft.com/office/drawing/2014/main" id="{F6BDE5EB-CE16-F10D-191F-502E41CBAD43}"/>
                </a:ext>
              </a:extLst>
            </p:cNvPr>
            <p:cNvSpPr/>
            <p:nvPr/>
          </p:nvSpPr>
          <p:spPr>
            <a:xfrm>
              <a:off x="1716833" y="0"/>
              <a:ext cx="1716833" cy="43853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Creating the climate</a:t>
              </a:r>
            </a:p>
          </p:txBody>
        </p:sp>
        <p:sp>
          <p:nvSpPr>
            <p:cNvPr id="27" name="Rectangle 26">
              <a:extLst>
                <a:ext uri="{FF2B5EF4-FFF2-40B4-BE49-F238E27FC236}">
                  <a16:creationId xmlns:a16="http://schemas.microsoft.com/office/drawing/2014/main" id="{F41F76A0-EA57-FF2E-C557-5F57E5F579C6}"/>
                </a:ext>
              </a:extLst>
            </p:cNvPr>
            <p:cNvSpPr/>
            <p:nvPr/>
          </p:nvSpPr>
          <p:spPr>
            <a:xfrm>
              <a:off x="3433666" y="0"/>
              <a:ext cx="1716833" cy="43853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Enabling &amp; Implementing</a:t>
              </a:r>
            </a:p>
          </p:txBody>
        </p:sp>
        <p:sp>
          <p:nvSpPr>
            <p:cNvPr id="28" name="Rectangle 27">
              <a:extLst>
                <a:ext uri="{FF2B5EF4-FFF2-40B4-BE49-F238E27FC236}">
                  <a16:creationId xmlns:a16="http://schemas.microsoft.com/office/drawing/2014/main" id="{78717C86-A718-5F87-417D-31F735EFDEBD}"/>
                </a:ext>
              </a:extLst>
            </p:cNvPr>
            <p:cNvSpPr/>
            <p:nvPr/>
          </p:nvSpPr>
          <p:spPr>
            <a:xfrm>
              <a:off x="5150499" y="0"/>
              <a:ext cx="1716833" cy="43853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Embedding the change</a:t>
              </a:r>
            </a:p>
          </p:txBody>
        </p:sp>
      </p:grpSp>
    </p:spTree>
    <p:extLst>
      <p:ext uri="{BB962C8B-B14F-4D97-AF65-F5344CB8AC3E}">
        <p14:creationId xmlns:p14="http://schemas.microsoft.com/office/powerpoint/2010/main" val="4007470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652894-4CE0-621A-23A3-63AEA77BE2CB}"/>
              </a:ext>
            </a:extLst>
          </p:cNvPr>
          <p:cNvSpPr/>
          <p:nvPr/>
        </p:nvSpPr>
        <p:spPr>
          <a:xfrm>
            <a:off x="466530" y="513907"/>
            <a:ext cx="1250302" cy="1819466"/>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Embed the change</a:t>
            </a:r>
          </a:p>
        </p:txBody>
      </p:sp>
      <p:sp>
        <p:nvSpPr>
          <p:cNvPr id="10" name="Rectangle 9">
            <a:extLst>
              <a:ext uri="{FF2B5EF4-FFF2-40B4-BE49-F238E27FC236}">
                <a16:creationId xmlns:a16="http://schemas.microsoft.com/office/drawing/2014/main" id="{2B8FDC8D-0FC1-0356-292E-20F63B5012A2}"/>
              </a:ext>
            </a:extLst>
          </p:cNvPr>
          <p:cNvSpPr/>
          <p:nvPr/>
        </p:nvSpPr>
        <p:spPr>
          <a:xfrm>
            <a:off x="-1" y="513906"/>
            <a:ext cx="466531" cy="181946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sz="1400" b="1" dirty="0"/>
              <a:t>Implement &amp; sustain change</a:t>
            </a:r>
          </a:p>
        </p:txBody>
      </p:sp>
      <p:sp>
        <p:nvSpPr>
          <p:cNvPr id="11" name="Rectangle 10">
            <a:extLst>
              <a:ext uri="{FF2B5EF4-FFF2-40B4-BE49-F238E27FC236}">
                <a16:creationId xmlns:a16="http://schemas.microsoft.com/office/drawing/2014/main" id="{07669302-453B-F50D-CAD8-DCB9087CEB6F}"/>
              </a:ext>
            </a:extLst>
          </p:cNvPr>
          <p:cNvSpPr/>
          <p:nvPr/>
        </p:nvSpPr>
        <p:spPr>
          <a:xfrm>
            <a:off x="1716832" y="513905"/>
            <a:ext cx="10475168" cy="181946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IN" sz="1400" dirty="0"/>
              <a:t>Identify how these approaches have helped build a positive culture in the workplace and how they are superior to the traditional or old methods</a:t>
            </a:r>
          </a:p>
          <a:p>
            <a:pPr marL="285750" indent="-285750">
              <a:buFont typeface="Arial" panose="020B0604020202020204" pitchFamily="34" charset="0"/>
              <a:buChar char="•"/>
            </a:pPr>
            <a:r>
              <a:rPr lang="en-IN" sz="1400" dirty="0"/>
              <a:t>Use the established formal channels of communication to proclaim the success of the changes happening. Include stories of what was the situation earlier and how it is gradually taking a turn, all because of the employees or staff members working in the organization</a:t>
            </a:r>
          </a:p>
          <a:p>
            <a:pPr marL="285750" indent="-285750">
              <a:buFont typeface="Arial" panose="020B0604020202020204" pitchFamily="34" charset="0"/>
              <a:buChar char="•"/>
            </a:pPr>
            <a:r>
              <a:rPr lang="en-IN" sz="1400" dirty="0"/>
              <a:t>Spread the word, by engaging in verbal communication and instruction to admit the validity of the new practices and procedures amongst the staff members, through the daily meetings or forums being held. Change agents to act as key anchors</a:t>
            </a:r>
          </a:p>
          <a:p>
            <a:pPr marL="285750" indent="-285750">
              <a:buFont typeface="Arial" panose="020B0604020202020204" pitchFamily="34" charset="0"/>
              <a:buChar char="•"/>
            </a:pPr>
            <a:r>
              <a:rPr lang="en-IN" sz="1400" dirty="0"/>
              <a:t>Buy in the new hires or leaders in the organization to the new vision through these stories of change narrating a collaborative work environment</a:t>
            </a:r>
          </a:p>
          <a:p>
            <a:pPr marL="285750" indent="-285750">
              <a:buFont typeface="Arial" panose="020B0604020202020204" pitchFamily="34" charset="0"/>
              <a:buChar char="•"/>
            </a:pPr>
            <a:endParaRPr lang="en-IN" sz="1400" dirty="0"/>
          </a:p>
          <a:p>
            <a:endParaRPr lang="en-IN" sz="1400" dirty="0"/>
          </a:p>
        </p:txBody>
      </p:sp>
      <p:grpSp>
        <p:nvGrpSpPr>
          <p:cNvPr id="59" name="Group 58">
            <a:extLst>
              <a:ext uri="{FF2B5EF4-FFF2-40B4-BE49-F238E27FC236}">
                <a16:creationId xmlns:a16="http://schemas.microsoft.com/office/drawing/2014/main" id="{76319403-96C0-EAB6-4606-03B1EC545586}"/>
              </a:ext>
            </a:extLst>
          </p:cNvPr>
          <p:cNvGrpSpPr/>
          <p:nvPr/>
        </p:nvGrpSpPr>
        <p:grpSpPr>
          <a:xfrm>
            <a:off x="27993" y="2827182"/>
            <a:ext cx="12101803" cy="3993503"/>
            <a:chOff x="27993" y="2556588"/>
            <a:chExt cx="12101803" cy="3993503"/>
          </a:xfrm>
        </p:grpSpPr>
        <p:sp>
          <p:nvSpPr>
            <p:cNvPr id="18" name="Rectangle 17">
              <a:extLst>
                <a:ext uri="{FF2B5EF4-FFF2-40B4-BE49-F238E27FC236}">
                  <a16:creationId xmlns:a16="http://schemas.microsoft.com/office/drawing/2014/main" id="{2F71EDCA-9ACA-AA4E-12BB-001A13524874}"/>
                </a:ext>
              </a:extLst>
            </p:cNvPr>
            <p:cNvSpPr/>
            <p:nvPr/>
          </p:nvSpPr>
          <p:spPr>
            <a:xfrm>
              <a:off x="214602" y="2701853"/>
              <a:ext cx="4531579" cy="311162"/>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Complaining Flow</a:t>
              </a:r>
            </a:p>
          </p:txBody>
        </p:sp>
        <p:sp>
          <p:nvSpPr>
            <p:cNvPr id="20" name="Rectangle 19">
              <a:extLst>
                <a:ext uri="{FF2B5EF4-FFF2-40B4-BE49-F238E27FC236}">
                  <a16:creationId xmlns:a16="http://schemas.microsoft.com/office/drawing/2014/main" id="{47FEAE16-2EFB-021E-87D5-AD868B42C465}"/>
                </a:ext>
              </a:extLst>
            </p:cNvPr>
            <p:cNvSpPr/>
            <p:nvPr/>
          </p:nvSpPr>
          <p:spPr>
            <a:xfrm>
              <a:off x="1695069" y="4022526"/>
              <a:ext cx="2799184" cy="42693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Complain logged and tracking details issued</a:t>
              </a:r>
            </a:p>
          </p:txBody>
        </p:sp>
        <p:sp>
          <p:nvSpPr>
            <p:cNvPr id="21" name="Rectangle 20">
              <a:extLst>
                <a:ext uri="{FF2B5EF4-FFF2-40B4-BE49-F238E27FC236}">
                  <a16:creationId xmlns:a16="http://schemas.microsoft.com/office/drawing/2014/main" id="{F433616C-741C-8A12-15C1-3554409B8F92}"/>
                </a:ext>
              </a:extLst>
            </p:cNvPr>
            <p:cNvSpPr/>
            <p:nvPr/>
          </p:nvSpPr>
          <p:spPr>
            <a:xfrm>
              <a:off x="1695904" y="5106542"/>
              <a:ext cx="2799184" cy="42693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Complaints management department</a:t>
              </a:r>
            </a:p>
          </p:txBody>
        </p:sp>
        <p:sp>
          <p:nvSpPr>
            <p:cNvPr id="22" name="Rectangle 21">
              <a:extLst>
                <a:ext uri="{FF2B5EF4-FFF2-40B4-BE49-F238E27FC236}">
                  <a16:creationId xmlns:a16="http://schemas.microsoft.com/office/drawing/2014/main" id="{88788C78-5A1A-2D29-F839-E6DB0E94C043}"/>
                </a:ext>
              </a:extLst>
            </p:cNvPr>
            <p:cNvSpPr/>
            <p:nvPr/>
          </p:nvSpPr>
          <p:spPr>
            <a:xfrm>
              <a:off x="1695069" y="5999087"/>
              <a:ext cx="2799184" cy="42693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Responsible department for investigation</a:t>
              </a:r>
            </a:p>
          </p:txBody>
        </p:sp>
        <p:sp>
          <p:nvSpPr>
            <p:cNvPr id="23" name="Rectangle 22">
              <a:extLst>
                <a:ext uri="{FF2B5EF4-FFF2-40B4-BE49-F238E27FC236}">
                  <a16:creationId xmlns:a16="http://schemas.microsoft.com/office/drawing/2014/main" id="{A47ECA64-7E29-BDCA-0D78-10B24D51C8D0}"/>
                </a:ext>
              </a:extLst>
            </p:cNvPr>
            <p:cNvSpPr/>
            <p:nvPr/>
          </p:nvSpPr>
          <p:spPr>
            <a:xfrm>
              <a:off x="6854898" y="3165463"/>
              <a:ext cx="2799184" cy="251927"/>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Complaint from Customer</a:t>
              </a:r>
            </a:p>
          </p:txBody>
        </p:sp>
        <p:sp>
          <p:nvSpPr>
            <p:cNvPr id="24" name="Oval 23">
              <a:extLst>
                <a:ext uri="{FF2B5EF4-FFF2-40B4-BE49-F238E27FC236}">
                  <a16:creationId xmlns:a16="http://schemas.microsoft.com/office/drawing/2014/main" id="{DC9C5E99-9EF5-A023-782B-11B0A0790079}"/>
                </a:ext>
              </a:extLst>
            </p:cNvPr>
            <p:cNvSpPr/>
            <p:nvPr/>
          </p:nvSpPr>
          <p:spPr>
            <a:xfrm>
              <a:off x="6854898" y="3902475"/>
              <a:ext cx="1309396" cy="793102"/>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Customer</a:t>
              </a:r>
            </a:p>
            <a:p>
              <a:pPr algn="ctr"/>
              <a:r>
                <a:rPr lang="en-IN" sz="1400" dirty="0"/>
                <a:t>unhappy</a:t>
              </a:r>
            </a:p>
          </p:txBody>
        </p:sp>
        <p:sp>
          <p:nvSpPr>
            <p:cNvPr id="25" name="Diamond 24">
              <a:extLst>
                <a:ext uri="{FF2B5EF4-FFF2-40B4-BE49-F238E27FC236}">
                  <a16:creationId xmlns:a16="http://schemas.microsoft.com/office/drawing/2014/main" id="{D599C716-6584-78FA-7EC0-1C00774C9628}"/>
                </a:ext>
              </a:extLst>
            </p:cNvPr>
            <p:cNvSpPr/>
            <p:nvPr/>
          </p:nvSpPr>
          <p:spPr>
            <a:xfrm>
              <a:off x="9339945" y="3631168"/>
              <a:ext cx="2111821" cy="1334383"/>
            </a:xfrm>
            <a:prstGeom prst="diamond">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Customer Satisfaction</a:t>
              </a:r>
            </a:p>
          </p:txBody>
        </p:sp>
        <p:sp>
          <p:nvSpPr>
            <p:cNvPr id="26" name="Rectangle 25">
              <a:extLst>
                <a:ext uri="{FF2B5EF4-FFF2-40B4-BE49-F238E27FC236}">
                  <a16:creationId xmlns:a16="http://schemas.microsoft.com/office/drawing/2014/main" id="{25C1C0E7-25EA-82A2-EEF2-E3CB48E195A7}"/>
                </a:ext>
              </a:extLst>
            </p:cNvPr>
            <p:cNvSpPr/>
            <p:nvPr/>
          </p:nvSpPr>
          <p:spPr>
            <a:xfrm>
              <a:off x="6867333" y="5106542"/>
              <a:ext cx="2799184" cy="42693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Complaints management department</a:t>
              </a:r>
            </a:p>
          </p:txBody>
        </p:sp>
        <p:sp>
          <p:nvSpPr>
            <p:cNvPr id="27" name="Oval 26">
              <a:extLst>
                <a:ext uri="{FF2B5EF4-FFF2-40B4-BE49-F238E27FC236}">
                  <a16:creationId xmlns:a16="http://schemas.microsoft.com/office/drawing/2014/main" id="{18C5F9D9-DB29-5D3E-D1A6-CEB891CB30BD}"/>
                </a:ext>
              </a:extLst>
            </p:cNvPr>
            <p:cNvSpPr/>
            <p:nvPr/>
          </p:nvSpPr>
          <p:spPr>
            <a:xfrm>
              <a:off x="9898945" y="5238793"/>
              <a:ext cx="1782981" cy="1024552"/>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Customer</a:t>
              </a:r>
            </a:p>
            <a:p>
              <a:pPr algn="ctr"/>
              <a:r>
                <a:rPr lang="en-IN" sz="1400" dirty="0"/>
                <a:t>happy(Closed)</a:t>
              </a:r>
            </a:p>
          </p:txBody>
        </p:sp>
        <p:sp>
          <p:nvSpPr>
            <p:cNvPr id="28" name="Flowchart: Document 27">
              <a:extLst>
                <a:ext uri="{FF2B5EF4-FFF2-40B4-BE49-F238E27FC236}">
                  <a16:creationId xmlns:a16="http://schemas.microsoft.com/office/drawing/2014/main" id="{C51ABA45-A589-FA09-9DB2-3DF33F4759DE}"/>
                </a:ext>
              </a:extLst>
            </p:cNvPr>
            <p:cNvSpPr/>
            <p:nvPr/>
          </p:nvSpPr>
          <p:spPr>
            <a:xfrm>
              <a:off x="214602" y="3527576"/>
              <a:ext cx="1309396" cy="516585"/>
            </a:xfrm>
            <a:prstGeom prst="flowChartDocumen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Receipt/Ticket raised</a:t>
              </a:r>
            </a:p>
          </p:txBody>
        </p:sp>
        <p:sp>
          <p:nvSpPr>
            <p:cNvPr id="29" name="Flowchart: Document 28">
              <a:extLst>
                <a:ext uri="{FF2B5EF4-FFF2-40B4-BE49-F238E27FC236}">
                  <a16:creationId xmlns:a16="http://schemas.microsoft.com/office/drawing/2014/main" id="{17FCE17C-A898-5130-9B9C-B6794A5ACA7A}"/>
                </a:ext>
              </a:extLst>
            </p:cNvPr>
            <p:cNvSpPr/>
            <p:nvPr/>
          </p:nvSpPr>
          <p:spPr>
            <a:xfrm>
              <a:off x="5830082" y="5956237"/>
              <a:ext cx="1502229" cy="516585"/>
            </a:xfrm>
            <a:prstGeom prst="flowChartDocumen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Resolution/Ticket closed</a:t>
              </a:r>
            </a:p>
          </p:txBody>
        </p:sp>
        <p:sp>
          <p:nvSpPr>
            <p:cNvPr id="30" name="Rectangle 29">
              <a:extLst>
                <a:ext uri="{FF2B5EF4-FFF2-40B4-BE49-F238E27FC236}">
                  <a16:creationId xmlns:a16="http://schemas.microsoft.com/office/drawing/2014/main" id="{08640E9A-091F-DE3F-2819-7FF01075279C}"/>
                </a:ext>
              </a:extLst>
            </p:cNvPr>
            <p:cNvSpPr/>
            <p:nvPr/>
          </p:nvSpPr>
          <p:spPr>
            <a:xfrm>
              <a:off x="6307494" y="2702250"/>
              <a:ext cx="5374432" cy="30768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t>Resolution Flow</a:t>
              </a:r>
            </a:p>
          </p:txBody>
        </p:sp>
        <p:sp>
          <p:nvSpPr>
            <p:cNvPr id="31" name="Rectangle 30">
              <a:extLst>
                <a:ext uri="{FF2B5EF4-FFF2-40B4-BE49-F238E27FC236}">
                  <a16:creationId xmlns:a16="http://schemas.microsoft.com/office/drawing/2014/main" id="{098399B6-855E-3561-D445-C3B6865A51E7}"/>
                </a:ext>
              </a:extLst>
            </p:cNvPr>
            <p:cNvSpPr/>
            <p:nvPr/>
          </p:nvSpPr>
          <p:spPr>
            <a:xfrm>
              <a:off x="1695904" y="3159792"/>
              <a:ext cx="2799184" cy="251927"/>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Complaint from Customer</a:t>
              </a:r>
            </a:p>
          </p:txBody>
        </p:sp>
        <p:cxnSp>
          <p:nvCxnSpPr>
            <p:cNvPr id="33" name="Straight Arrow Connector 32">
              <a:extLst>
                <a:ext uri="{FF2B5EF4-FFF2-40B4-BE49-F238E27FC236}">
                  <a16:creationId xmlns:a16="http://schemas.microsoft.com/office/drawing/2014/main" id="{EB51BB49-3AFB-40F1-3156-EF03C30FA58B}"/>
                </a:ext>
              </a:extLst>
            </p:cNvPr>
            <p:cNvCxnSpPr>
              <a:stCxn id="31" idx="2"/>
              <a:endCxn id="20" idx="0"/>
            </p:cNvCxnSpPr>
            <p:nvPr/>
          </p:nvCxnSpPr>
          <p:spPr>
            <a:xfrm flipH="1">
              <a:off x="3094661" y="3411719"/>
              <a:ext cx="835" cy="610807"/>
            </a:xfrm>
            <a:prstGeom prst="straightConnector1">
              <a:avLst/>
            </a:prstGeom>
            <a:ln w="12700">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C052D80-218A-4C1D-3885-973F4BFE4C0B}"/>
                </a:ext>
              </a:extLst>
            </p:cNvPr>
            <p:cNvCxnSpPr>
              <a:stCxn id="20" idx="2"/>
              <a:endCxn id="21" idx="0"/>
            </p:cNvCxnSpPr>
            <p:nvPr/>
          </p:nvCxnSpPr>
          <p:spPr>
            <a:xfrm>
              <a:off x="3094661" y="4449456"/>
              <a:ext cx="835" cy="657086"/>
            </a:xfrm>
            <a:prstGeom prst="straightConnector1">
              <a:avLst/>
            </a:prstGeom>
            <a:ln w="12700">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C5991B9-97B1-33C6-5870-49AF6EF7B47C}"/>
                </a:ext>
              </a:extLst>
            </p:cNvPr>
            <p:cNvCxnSpPr>
              <a:stCxn id="21" idx="2"/>
              <a:endCxn id="22" idx="0"/>
            </p:cNvCxnSpPr>
            <p:nvPr/>
          </p:nvCxnSpPr>
          <p:spPr>
            <a:xfrm flipH="1">
              <a:off x="3094661" y="5533472"/>
              <a:ext cx="835" cy="465615"/>
            </a:xfrm>
            <a:prstGeom prst="straightConnector1">
              <a:avLst/>
            </a:prstGeom>
            <a:ln w="12700">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5D692672-532E-5CEE-6F40-1DD41849A7D6}"/>
                </a:ext>
              </a:extLst>
            </p:cNvPr>
            <p:cNvCxnSpPr>
              <a:stCxn id="20" idx="1"/>
              <a:endCxn id="28" idx="2"/>
            </p:cNvCxnSpPr>
            <p:nvPr/>
          </p:nvCxnSpPr>
          <p:spPr>
            <a:xfrm rot="10800000">
              <a:off x="869301" y="4010009"/>
              <a:ext cx="825769" cy="225982"/>
            </a:xfrm>
            <a:prstGeom prst="bentConnector2">
              <a:avLst/>
            </a:prstGeom>
            <a:ln w="12700">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908712EE-4187-8538-8E3A-7ABF58C2A704}"/>
                </a:ext>
              </a:extLst>
            </p:cNvPr>
            <p:cNvCxnSpPr>
              <a:stCxn id="28" idx="0"/>
              <a:endCxn id="31" idx="1"/>
            </p:cNvCxnSpPr>
            <p:nvPr/>
          </p:nvCxnSpPr>
          <p:spPr>
            <a:xfrm rot="5400000" flipH="1" flipV="1">
              <a:off x="1161692" y="2993364"/>
              <a:ext cx="241820" cy="826604"/>
            </a:xfrm>
            <a:prstGeom prst="bentConnector2">
              <a:avLst/>
            </a:prstGeom>
            <a:ln w="12700">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DB87C547-F6A7-3B04-8B66-363556346CFC}"/>
                </a:ext>
              </a:extLst>
            </p:cNvPr>
            <p:cNvCxnSpPr>
              <a:stCxn id="24" idx="2"/>
              <a:endCxn id="21" idx="3"/>
            </p:cNvCxnSpPr>
            <p:nvPr/>
          </p:nvCxnSpPr>
          <p:spPr>
            <a:xfrm rot="10800000" flipV="1">
              <a:off x="4495088" y="4299025"/>
              <a:ext cx="2359810" cy="1020981"/>
            </a:xfrm>
            <a:prstGeom prst="bentConnector3">
              <a:avLst/>
            </a:prstGeom>
            <a:ln w="12700">
              <a:solidFill>
                <a:schemeClr val="accent6">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BC78924A-AECF-D931-5189-EBE639BCEBB3}"/>
                </a:ext>
              </a:extLst>
            </p:cNvPr>
            <p:cNvCxnSpPr>
              <a:stCxn id="25" idx="1"/>
              <a:endCxn id="24" idx="6"/>
            </p:cNvCxnSpPr>
            <p:nvPr/>
          </p:nvCxnSpPr>
          <p:spPr>
            <a:xfrm flipH="1">
              <a:off x="8164294" y="4298360"/>
              <a:ext cx="1175651" cy="666"/>
            </a:xfrm>
            <a:prstGeom prst="straightConnector1">
              <a:avLst/>
            </a:prstGeom>
            <a:ln w="12700">
              <a:solidFill>
                <a:schemeClr val="accent6">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5FDDAE87-102F-10FC-83A5-FB1ED762FFBB}"/>
                </a:ext>
              </a:extLst>
            </p:cNvPr>
            <p:cNvCxnSpPr>
              <a:stCxn id="22" idx="3"/>
              <a:endCxn id="29" idx="1"/>
            </p:cNvCxnSpPr>
            <p:nvPr/>
          </p:nvCxnSpPr>
          <p:spPr>
            <a:xfrm>
              <a:off x="4494253" y="6212552"/>
              <a:ext cx="1335829" cy="1978"/>
            </a:xfrm>
            <a:prstGeom prst="straightConnector1">
              <a:avLst/>
            </a:prstGeom>
            <a:ln w="12700">
              <a:solidFill>
                <a:schemeClr val="accent6">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8BF0BAA4-67F0-162D-C2E5-8C379B1EE024}"/>
                </a:ext>
              </a:extLst>
            </p:cNvPr>
            <p:cNvCxnSpPr>
              <a:stCxn id="29" idx="3"/>
              <a:endCxn id="26" idx="2"/>
            </p:cNvCxnSpPr>
            <p:nvPr/>
          </p:nvCxnSpPr>
          <p:spPr>
            <a:xfrm flipV="1">
              <a:off x="7332311" y="5533472"/>
              <a:ext cx="934614" cy="681058"/>
            </a:xfrm>
            <a:prstGeom prst="bentConnector2">
              <a:avLst/>
            </a:prstGeom>
            <a:ln w="12700">
              <a:solidFill>
                <a:schemeClr val="accent6">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E87672C3-CBB7-0197-3E9C-CFACFDFEE488}"/>
                </a:ext>
              </a:extLst>
            </p:cNvPr>
            <p:cNvCxnSpPr>
              <a:stCxn id="26" idx="0"/>
              <a:endCxn id="23" idx="2"/>
            </p:cNvCxnSpPr>
            <p:nvPr/>
          </p:nvCxnSpPr>
          <p:spPr>
            <a:xfrm flipH="1" flipV="1">
              <a:off x="8254490" y="3417390"/>
              <a:ext cx="12435" cy="1689152"/>
            </a:xfrm>
            <a:prstGeom prst="straightConnector1">
              <a:avLst/>
            </a:prstGeom>
            <a:ln w="12700">
              <a:solidFill>
                <a:schemeClr val="accent6">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4" name="Connector: Elbow 53">
              <a:extLst>
                <a:ext uri="{FF2B5EF4-FFF2-40B4-BE49-F238E27FC236}">
                  <a16:creationId xmlns:a16="http://schemas.microsoft.com/office/drawing/2014/main" id="{B2F6DB35-7571-93D1-A52D-98F7CC1552AE}"/>
                </a:ext>
              </a:extLst>
            </p:cNvPr>
            <p:cNvCxnSpPr>
              <a:stCxn id="25" idx="2"/>
              <a:endCxn id="27" idx="0"/>
            </p:cNvCxnSpPr>
            <p:nvPr/>
          </p:nvCxnSpPr>
          <p:spPr>
            <a:xfrm rot="16200000" flipH="1">
              <a:off x="10456525" y="4904882"/>
              <a:ext cx="273242" cy="394580"/>
            </a:xfrm>
            <a:prstGeom prst="bentConnector3">
              <a:avLst/>
            </a:prstGeom>
            <a:ln w="12700">
              <a:solidFill>
                <a:schemeClr val="accent6">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6" name="Connector: Elbow 55">
              <a:extLst>
                <a:ext uri="{FF2B5EF4-FFF2-40B4-BE49-F238E27FC236}">
                  <a16:creationId xmlns:a16="http://schemas.microsoft.com/office/drawing/2014/main" id="{C8F374E4-DCCF-F3B0-D171-2F763F92D9E4}"/>
                </a:ext>
              </a:extLst>
            </p:cNvPr>
            <p:cNvCxnSpPr>
              <a:stCxn id="23" idx="3"/>
              <a:endCxn id="25" idx="0"/>
            </p:cNvCxnSpPr>
            <p:nvPr/>
          </p:nvCxnSpPr>
          <p:spPr>
            <a:xfrm>
              <a:off x="9654082" y="3291427"/>
              <a:ext cx="741774" cy="339741"/>
            </a:xfrm>
            <a:prstGeom prst="bentConnector2">
              <a:avLst/>
            </a:prstGeom>
            <a:ln w="12700">
              <a:solidFill>
                <a:schemeClr val="accent6">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79A83EFD-FE64-D680-69A1-C6373B2A8405}"/>
                </a:ext>
              </a:extLst>
            </p:cNvPr>
            <p:cNvSpPr/>
            <p:nvPr/>
          </p:nvSpPr>
          <p:spPr>
            <a:xfrm>
              <a:off x="27993" y="2556589"/>
              <a:ext cx="5514392" cy="3993502"/>
            </a:xfrm>
            <a:prstGeom prst="rect">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57">
              <a:extLst>
                <a:ext uri="{FF2B5EF4-FFF2-40B4-BE49-F238E27FC236}">
                  <a16:creationId xmlns:a16="http://schemas.microsoft.com/office/drawing/2014/main" id="{5EDD6694-4802-22B9-B7F2-699F0C1D3487}"/>
                </a:ext>
              </a:extLst>
            </p:cNvPr>
            <p:cNvSpPr/>
            <p:nvPr/>
          </p:nvSpPr>
          <p:spPr>
            <a:xfrm>
              <a:off x="5542393" y="2556588"/>
              <a:ext cx="6587403" cy="3993502"/>
            </a:xfrm>
            <a:prstGeom prst="rect">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0" name="Rectangle 59">
            <a:extLst>
              <a:ext uri="{FF2B5EF4-FFF2-40B4-BE49-F238E27FC236}">
                <a16:creationId xmlns:a16="http://schemas.microsoft.com/office/drawing/2014/main" id="{79D77E68-E1DF-731B-C723-DCC2EB997EAB}"/>
              </a:ext>
            </a:extLst>
          </p:cNvPr>
          <p:cNvSpPr/>
          <p:nvPr/>
        </p:nvSpPr>
        <p:spPr>
          <a:xfrm>
            <a:off x="27993" y="2547256"/>
            <a:ext cx="12101803" cy="259752"/>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A recommended </a:t>
            </a:r>
            <a:r>
              <a:rPr lang="en-IN" sz="1400" b="1" dirty="0"/>
              <a:t>Customer Handling System </a:t>
            </a:r>
            <a:r>
              <a:rPr lang="en-IN" sz="1400" dirty="0"/>
              <a:t>to be implemented to address the customer complaints</a:t>
            </a:r>
          </a:p>
        </p:txBody>
      </p:sp>
      <p:grpSp>
        <p:nvGrpSpPr>
          <p:cNvPr id="61" name="Group 60">
            <a:extLst>
              <a:ext uri="{FF2B5EF4-FFF2-40B4-BE49-F238E27FC236}">
                <a16:creationId xmlns:a16="http://schemas.microsoft.com/office/drawing/2014/main" id="{66A282C0-1302-707B-E2B0-A748CE16116C}"/>
              </a:ext>
            </a:extLst>
          </p:cNvPr>
          <p:cNvGrpSpPr/>
          <p:nvPr/>
        </p:nvGrpSpPr>
        <p:grpSpPr>
          <a:xfrm>
            <a:off x="-1" y="0"/>
            <a:ext cx="12195111" cy="438539"/>
            <a:chOff x="0" y="0"/>
            <a:chExt cx="6867332" cy="438539"/>
          </a:xfrm>
          <a:solidFill>
            <a:schemeClr val="accent6">
              <a:lumMod val="50000"/>
            </a:schemeClr>
          </a:solidFill>
        </p:grpSpPr>
        <p:sp>
          <p:nvSpPr>
            <p:cNvPr id="62" name="Rectangle 61">
              <a:extLst>
                <a:ext uri="{FF2B5EF4-FFF2-40B4-BE49-F238E27FC236}">
                  <a16:creationId xmlns:a16="http://schemas.microsoft.com/office/drawing/2014/main" id="{C7FC26CD-3138-A8BF-CCCF-AEA35EF0925D}"/>
                </a:ext>
              </a:extLst>
            </p:cNvPr>
            <p:cNvSpPr/>
            <p:nvPr/>
          </p:nvSpPr>
          <p:spPr>
            <a:xfrm>
              <a:off x="0" y="0"/>
              <a:ext cx="1716833" cy="43853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The Chaos</a:t>
              </a:r>
            </a:p>
          </p:txBody>
        </p:sp>
        <p:sp>
          <p:nvSpPr>
            <p:cNvPr id="63" name="Rectangle 62">
              <a:extLst>
                <a:ext uri="{FF2B5EF4-FFF2-40B4-BE49-F238E27FC236}">
                  <a16:creationId xmlns:a16="http://schemas.microsoft.com/office/drawing/2014/main" id="{F2651477-AE70-AB0A-048B-2C40B85F0479}"/>
                </a:ext>
              </a:extLst>
            </p:cNvPr>
            <p:cNvSpPr/>
            <p:nvPr/>
          </p:nvSpPr>
          <p:spPr>
            <a:xfrm>
              <a:off x="1716833" y="0"/>
              <a:ext cx="1716833" cy="43853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Creating the climate</a:t>
              </a:r>
            </a:p>
          </p:txBody>
        </p:sp>
        <p:sp>
          <p:nvSpPr>
            <p:cNvPr id="5120" name="Rectangle 5119">
              <a:extLst>
                <a:ext uri="{FF2B5EF4-FFF2-40B4-BE49-F238E27FC236}">
                  <a16:creationId xmlns:a16="http://schemas.microsoft.com/office/drawing/2014/main" id="{D535BE3A-ECD9-E316-7EBD-0A19157ED264}"/>
                </a:ext>
              </a:extLst>
            </p:cNvPr>
            <p:cNvSpPr/>
            <p:nvPr/>
          </p:nvSpPr>
          <p:spPr>
            <a:xfrm>
              <a:off x="3433666" y="0"/>
              <a:ext cx="1716833" cy="43853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Enabling &amp; Implementing</a:t>
              </a:r>
            </a:p>
          </p:txBody>
        </p:sp>
        <p:sp>
          <p:nvSpPr>
            <p:cNvPr id="5121" name="Rectangle 5120">
              <a:extLst>
                <a:ext uri="{FF2B5EF4-FFF2-40B4-BE49-F238E27FC236}">
                  <a16:creationId xmlns:a16="http://schemas.microsoft.com/office/drawing/2014/main" id="{E0B6F809-5841-8F1C-4F6E-63BD65FCDB5D}"/>
                </a:ext>
              </a:extLst>
            </p:cNvPr>
            <p:cNvSpPr/>
            <p:nvPr/>
          </p:nvSpPr>
          <p:spPr>
            <a:xfrm>
              <a:off x="5150499" y="0"/>
              <a:ext cx="1716833" cy="43853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Embedding the change</a:t>
              </a:r>
            </a:p>
          </p:txBody>
        </p:sp>
      </p:grpSp>
    </p:spTree>
    <p:extLst>
      <p:ext uri="{BB962C8B-B14F-4D97-AF65-F5344CB8AC3E}">
        <p14:creationId xmlns:p14="http://schemas.microsoft.com/office/powerpoint/2010/main" val="21780114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2753</TotalTime>
  <Words>1330</Words>
  <Application>Microsoft Office PowerPoint</Application>
  <PresentationFormat>Widescreen</PresentationFormat>
  <Paragraphs>109</Paragraphs>
  <Slides>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From Chaos to Success: A case study on Change Management</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Devesh Sinha</dc:creator>
  <cp:lastModifiedBy>Devesh Sinha</cp:lastModifiedBy>
  <cp:revision>24</cp:revision>
  <dcterms:created xsi:type="dcterms:W3CDTF">2023-01-08T05:02:03Z</dcterms:created>
  <dcterms:modified xsi:type="dcterms:W3CDTF">2023-01-14T15:20:15Z</dcterms:modified>
</cp:coreProperties>
</file>