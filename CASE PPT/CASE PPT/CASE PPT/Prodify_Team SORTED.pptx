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258" r:id="rId3"/>
    <p:sldId id="282" r:id="rId4"/>
    <p:sldId id="281" r:id="rId5"/>
    <p:sldId id="260" r:id="rId6"/>
    <p:sldId id="261" r:id="rId7"/>
    <p:sldId id="279" r:id="rId8"/>
    <p:sldId id="283" r:id="rId9"/>
    <p:sldId id="280" r:id="rId10"/>
    <p:sldId id="28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20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 Id="rId4" Type="http://schemas.openxmlformats.org/officeDocument/2006/relationships/image" Target="../media/image2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 Id="rId4"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CD16A7-F39F-43D0-A6E7-946943309F72}" type="doc">
      <dgm:prSet loTypeId="urn:microsoft.com/office/officeart/2005/8/layout/hProcess10" loCatId="process" qsTypeId="urn:microsoft.com/office/officeart/2005/8/quickstyle/simple1" qsCatId="simple" csTypeId="urn:microsoft.com/office/officeart/2005/8/colors/accent1_2" csCatId="accent1" phldr="1"/>
      <dgm:spPr/>
      <dgm:t>
        <a:bodyPr/>
        <a:lstStyle/>
        <a:p>
          <a:endParaRPr lang="en-IN"/>
        </a:p>
      </dgm:t>
    </dgm:pt>
    <dgm:pt modelId="{7F70B408-D401-4FC2-BABF-C9193BAA1D1D}">
      <dgm:prSet phldrT="[Text]" custT="1"/>
      <dgm:spPr>
        <a:solidFill>
          <a:schemeClr val="bg1">
            <a:lumMod val="85000"/>
          </a:schemeClr>
        </a:solidFill>
      </dgm:spPr>
      <dgm:t>
        <a:bodyPr anchor="t"/>
        <a:lstStyle/>
        <a:p>
          <a:pPr algn="l"/>
          <a:r>
            <a:rPr lang="en-IN" sz="1200" b="1" dirty="0">
              <a:solidFill>
                <a:schemeClr val="tx1"/>
              </a:solidFill>
            </a:rPr>
            <a:t>Polygon Mapping </a:t>
          </a:r>
        </a:p>
      </dgm:t>
    </dgm:pt>
    <dgm:pt modelId="{2D95A72D-AD6F-470B-A162-8FA2E7B401AD}" type="parTrans" cxnId="{7D7A2450-D87F-40A6-AF10-BC4B4F104085}">
      <dgm:prSet/>
      <dgm:spPr/>
      <dgm:t>
        <a:bodyPr/>
        <a:lstStyle/>
        <a:p>
          <a:endParaRPr lang="en-IN"/>
        </a:p>
      </dgm:t>
    </dgm:pt>
    <dgm:pt modelId="{5B0A5A15-DE1E-481B-AD44-E9E4FB3FB656}" type="sibTrans" cxnId="{7D7A2450-D87F-40A6-AF10-BC4B4F104085}">
      <dgm:prSet/>
      <dgm:spPr>
        <a:solidFill>
          <a:schemeClr val="bg1">
            <a:lumMod val="50000"/>
          </a:schemeClr>
        </a:solidFill>
      </dgm:spPr>
      <dgm:t>
        <a:bodyPr/>
        <a:lstStyle/>
        <a:p>
          <a:endParaRPr lang="en-IN"/>
        </a:p>
      </dgm:t>
    </dgm:pt>
    <dgm:pt modelId="{D48F1B0C-535F-414C-A310-14133C062B7D}">
      <dgm:prSet phldrT="[Text]" custT="1"/>
      <dgm:spPr>
        <a:solidFill>
          <a:schemeClr val="bg1">
            <a:lumMod val="85000"/>
          </a:schemeClr>
        </a:solidFill>
      </dgm:spPr>
      <dgm:t>
        <a:bodyPr anchor="t"/>
        <a:lstStyle/>
        <a:p>
          <a:pPr algn="l"/>
          <a:r>
            <a:rPr lang="en-IN" sz="1200" dirty="0">
              <a:solidFill>
                <a:schemeClr val="tx1"/>
              </a:solidFill>
            </a:rPr>
            <a:t>Discovering areas with low restaurant coverage or lower # of outlets in a 5-10km radius</a:t>
          </a:r>
        </a:p>
      </dgm:t>
    </dgm:pt>
    <dgm:pt modelId="{17117929-3E1B-41F8-B3EB-4693ED2EF644}" type="parTrans" cxnId="{DA4BA65A-52E5-4BEC-BB6D-1D45A66F77CB}">
      <dgm:prSet/>
      <dgm:spPr/>
      <dgm:t>
        <a:bodyPr/>
        <a:lstStyle/>
        <a:p>
          <a:endParaRPr lang="en-IN"/>
        </a:p>
      </dgm:t>
    </dgm:pt>
    <dgm:pt modelId="{AC8CF3FF-D2A3-46BA-8C42-747591294CBA}" type="sibTrans" cxnId="{DA4BA65A-52E5-4BEC-BB6D-1D45A66F77CB}">
      <dgm:prSet/>
      <dgm:spPr/>
      <dgm:t>
        <a:bodyPr/>
        <a:lstStyle/>
        <a:p>
          <a:endParaRPr lang="en-IN"/>
        </a:p>
      </dgm:t>
    </dgm:pt>
    <dgm:pt modelId="{5DE23810-D094-4D60-BB3A-0DEFD689ACC8}">
      <dgm:prSet phldrT="[Text]" custT="1"/>
      <dgm:spPr>
        <a:solidFill>
          <a:schemeClr val="bg1">
            <a:lumMod val="85000"/>
          </a:schemeClr>
        </a:solidFill>
      </dgm:spPr>
      <dgm:t>
        <a:bodyPr anchor="t"/>
        <a:lstStyle/>
        <a:p>
          <a:pPr algn="l"/>
          <a:r>
            <a:rPr lang="en-IN" sz="1200" dirty="0">
              <a:solidFill>
                <a:schemeClr val="tx1"/>
              </a:solidFill>
            </a:rPr>
            <a:t>Supply demand gap in food delivery </a:t>
          </a:r>
        </a:p>
      </dgm:t>
    </dgm:pt>
    <dgm:pt modelId="{BA81397A-28F0-4583-B2D8-93576A0D52EB}" type="parTrans" cxnId="{5DE73809-514F-4293-9C64-6AA69C4197CB}">
      <dgm:prSet/>
      <dgm:spPr/>
      <dgm:t>
        <a:bodyPr/>
        <a:lstStyle/>
        <a:p>
          <a:endParaRPr lang="en-IN"/>
        </a:p>
      </dgm:t>
    </dgm:pt>
    <dgm:pt modelId="{655BECB3-F1A8-423E-ADAA-E72595B84EB8}" type="sibTrans" cxnId="{5DE73809-514F-4293-9C64-6AA69C4197CB}">
      <dgm:prSet/>
      <dgm:spPr/>
      <dgm:t>
        <a:bodyPr/>
        <a:lstStyle/>
        <a:p>
          <a:endParaRPr lang="en-IN"/>
        </a:p>
      </dgm:t>
    </dgm:pt>
    <dgm:pt modelId="{8C12D582-AD2D-4973-A581-521DBEF0516B}">
      <dgm:prSet phldrT="[Text]" custT="1"/>
      <dgm:spPr>
        <a:solidFill>
          <a:schemeClr val="bg1">
            <a:lumMod val="85000"/>
          </a:schemeClr>
        </a:solidFill>
      </dgm:spPr>
      <dgm:t>
        <a:bodyPr anchor="t"/>
        <a:lstStyle/>
        <a:p>
          <a:pPr algn="l"/>
          <a:r>
            <a:rPr lang="en-IN" sz="1200" b="1" dirty="0">
              <a:solidFill>
                <a:schemeClr val="tx1"/>
              </a:solidFill>
            </a:rPr>
            <a:t>Demand Forecasting</a:t>
          </a:r>
        </a:p>
      </dgm:t>
    </dgm:pt>
    <dgm:pt modelId="{984C6099-68AB-412C-914B-FD79F4969B07}" type="parTrans" cxnId="{E5180CE2-E32C-437A-BB6A-6DD5F32A2E48}">
      <dgm:prSet/>
      <dgm:spPr/>
      <dgm:t>
        <a:bodyPr/>
        <a:lstStyle/>
        <a:p>
          <a:endParaRPr lang="en-IN"/>
        </a:p>
      </dgm:t>
    </dgm:pt>
    <dgm:pt modelId="{84F679E9-93A5-4B15-BCE5-F0540C581B76}" type="sibTrans" cxnId="{E5180CE2-E32C-437A-BB6A-6DD5F32A2E48}">
      <dgm:prSet/>
      <dgm:spPr>
        <a:solidFill>
          <a:schemeClr val="bg1">
            <a:lumMod val="50000"/>
          </a:schemeClr>
        </a:solidFill>
      </dgm:spPr>
      <dgm:t>
        <a:bodyPr/>
        <a:lstStyle/>
        <a:p>
          <a:endParaRPr lang="en-IN"/>
        </a:p>
      </dgm:t>
    </dgm:pt>
    <dgm:pt modelId="{490721C9-B872-4AA8-BFEB-3F37B69A9CE8}">
      <dgm:prSet phldrT="[Text]" custT="1"/>
      <dgm:spPr>
        <a:solidFill>
          <a:schemeClr val="bg1">
            <a:lumMod val="85000"/>
          </a:schemeClr>
        </a:solidFill>
      </dgm:spPr>
      <dgm:t>
        <a:bodyPr anchor="t"/>
        <a:lstStyle/>
        <a:p>
          <a:pPr algn="l"/>
          <a:r>
            <a:rPr lang="en-IN" sz="1200" dirty="0">
              <a:solidFill>
                <a:schemeClr val="tx1"/>
              </a:solidFill>
            </a:rPr>
            <a:t>Passive Demand Forecasting using historical sales data</a:t>
          </a:r>
        </a:p>
      </dgm:t>
    </dgm:pt>
    <dgm:pt modelId="{DB4023DA-5F3C-40BB-8F20-642F777BDBC9}" type="parTrans" cxnId="{86FCE79D-AB0A-4618-B10A-4AB05FE043A2}">
      <dgm:prSet/>
      <dgm:spPr/>
      <dgm:t>
        <a:bodyPr/>
        <a:lstStyle/>
        <a:p>
          <a:endParaRPr lang="en-IN"/>
        </a:p>
      </dgm:t>
    </dgm:pt>
    <dgm:pt modelId="{7AA1650B-A59A-4136-9B42-CBF777BEBCF5}" type="sibTrans" cxnId="{86FCE79D-AB0A-4618-B10A-4AB05FE043A2}">
      <dgm:prSet/>
      <dgm:spPr/>
      <dgm:t>
        <a:bodyPr/>
        <a:lstStyle/>
        <a:p>
          <a:endParaRPr lang="en-IN"/>
        </a:p>
      </dgm:t>
    </dgm:pt>
    <dgm:pt modelId="{41402F4B-5F75-4429-9057-DE9381C9A06E}">
      <dgm:prSet phldrT="[Text]" custT="1"/>
      <dgm:spPr>
        <a:solidFill>
          <a:schemeClr val="bg1">
            <a:lumMod val="85000"/>
          </a:schemeClr>
        </a:solidFill>
      </dgm:spPr>
      <dgm:t>
        <a:bodyPr anchor="t"/>
        <a:lstStyle/>
        <a:p>
          <a:pPr algn="l"/>
          <a:r>
            <a:rPr lang="en-IN" sz="1200" dirty="0">
              <a:solidFill>
                <a:schemeClr val="tx1"/>
              </a:solidFill>
            </a:rPr>
            <a:t>Short-term projections for next 3-12 months</a:t>
          </a:r>
        </a:p>
      </dgm:t>
    </dgm:pt>
    <dgm:pt modelId="{34A2D671-5AA2-4CFC-9FE0-A2BE8715D76F}" type="parTrans" cxnId="{C2D583AC-9375-4D1D-8150-40AF66CB84B6}">
      <dgm:prSet/>
      <dgm:spPr/>
      <dgm:t>
        <a:bodyPr/>
        <a:lstStyle/>
        <a:p>
          <a:endParaRPr lang="en-IN"/>
        </a:p>
      </dgm:t>
    </dgm:pt>
    <dgm:pt modelId="{DFE86C3E-F2E1-407B-9A3D-B5305BD1DA09}" type="sibTrans" cxnId="{C2D583AC-9375-4D1D-8150-40AF66CB84B6}">
      <dgm:prSet/>
      <dgm:spPr/>
      <dgm:t>
        <a:bodyPr/>
        <a:lstStyle/>
        <a:p>
          <a:endParaRPr lang="en-IN"/>
        </a:p>
      </dgm:t>
    </dgm:pt>
    <dgm:pt modelId="{52EA58B3-8C5E-4428-9E67-BBB1A4855EF8}">
      <dgm:prSet phldrT="[Text]" custT="1"/>
      <dgm:spPr>
        <a:solidFill>
          <a:schemeClr val="bg1">
            <a:lumMod val="85000"/>
          </a:schemeClr>
        </a:solidFill>
      </dgm:spPr>
      <dgm:t>
        <a:bodyPr/>
        <a:lstStyle/>
        <a:p>
          <a:r>
            <a:rPr lang="en-IN" sz="1200" b="1" dirty="0">
              <a:solidFill>
                <a:schemeClr val="tx1"/>
              </a:solidFill>
            </a:rPr>
            <a:t>Selection of cuisines</a:t>
          </a:r>
        </a:p>
      </dgm:t>
    </dgm:pt>
    <dgm:pt modelId="{B3868603-67C1-4DF6-8C7A-B94D0104C83F}" type="parTrans" cxnId="{154B1C33-D039-4CDD-B251-6E9E5F887272}">
      <dgm:prSet/>
      <dgm:spPr/>
      <dgm:t>
        <a:bodyPr/>
        <a:lstStyle/>
        <a:p>
          <a:endParaRPr lang="en-IN"/>
        </a:p>
      </dgm:t>
    </dgm:pt>
    <dgm:pt modelId="{2BD8C6AF-CC3E-4F88-B6B6-80DF1F484FCA}" type="sibTrans" cxnId="{154B1C33-D039-4CDD-B251-6E9E5F887272}">
      <dgm:prSet/>
      <dgm:spPr>
        <a:solidFill>
          <a:schemeClr val="bg1">
            <a:lumMod val="50000"/>
          </a:schemeClr>
        </a:solidFill>
      </dgm:spPr>
      <dgm:t>
        <a:bodyPr/>
        <a:lstStyle/>
        <a:p>
          <a:endParaRPr lang="en-IN"/>
        </a:p>
      </dgm:t>
    </dgm:pt>
    <dgm:pt modelId="{3FE5436B-BFC3-4E32-A50F-C96314EA2ABB}">
      <dgm:prSet phldrT="[Text]" custT="1"/>
      <dgm:spPr>
        <a:solidFill>
          <a:schemeClr val="bg1">
            <a:lumMod val="85000"/>
          </a:schemeClr>
        </a:solidFill>
      </dgm:spPr>
      <dgm:t>
        <a:bodyPr/>
        <a:lstStyle/>
        <a:p>
          <a:r>
            <a:rPr lang="en-IN" sz="1200" dirty="0">
              <a:solidFill>
                <a:schemeClr val="tx1"/>
              </a:solidFill>
            </a:rPr>
            <a:t>Areas chosen</a:t>
          </a:r>
        </a:p>
      </dgm:t>
    </dgm:pt>
    <dgm:pt modelId="{2DF2AAFD-9A56-4334-8DAB-7A2AF48156A7}" type="parTrans" cxnId="{D9EF2ADB-2526-4877-90C7-7BE73B855A11}">
      <dgm:prSet/>
      <dgm:spPr/>
      <dgm:t>
        <a:bodyPr/>
        <a:lstStyle/>
        <a:p>
          <a:endParaRPr lang="en-IN"/>
        </a:p>
      </dgm:t>
    </dgm:pt>
    <dgm:pt modelId="{EC039084-0408-425A-AAFF-86C1BBA8E85C}" type="sibTrans" cxnId="{D9EF2ADB-2526-4877-90C7-7BE73B855A11}">
      <dgm:prSet/>
      <dgm:spPr/>
      <dgm:t>
        <a:bodyPr/>
        <a:lstStyle/>
        <a:p>
          <a:endParaRPr lang="en-IN"/>
        </a:p>
      </dgm:t>
    </dgm:pt>
    <dgm:pt modelId="{51552952-A07A-4D6D-ADBE-79155E409716}">
      <dgm:prSet phldrT="[Text]" custT="1"/>
      <dgm:spPr>
        <a:solidFill>
          <a:schemeClr val="bg1">
            <a:lumMod val="85000"/>
          </a:schemeClr>
        </a:solidFill>
      </dgm:spPr>
      <dgm:t>
        <a:bodyPr/>
        <a:lstStyle/>
        <a:p>
          <a:r>
            <a:rPr lang="en-IN" sz="1200" dirty="0">
              <a:solidFill>
                <a:schemeClr val="tx1"/>
              </a:solidFill>
            </a:rPr>
            <a:t>Food tastes</a:t>
          </a:r>
        </a:p>
      </dgm:t>
    </dgm:pt>
    <dgm:pt modelId="{3D92634B-DABB-4A45-AB23-97CE04DC1A95}" type="parTrans" cxnId="{498A6DDF-1033-4C47-A274-7A23870D751E}">
      <dgm:prSet/>
      <dgm:spPr/>
      <dgm:t>
        <a:bodyPr/>
        <a:lstStyle/>
        <a:p>
          <a:endParaRPr lang="en-IN"/>
        </a:p>
      </dgm:t>
    </dgm:pt>
    <dgm:pt modelId="{B393A4CD-86C0-4E16-8C33-1A1D85F93C3A}" type="sibTrans" cxnId="{498A6DDF-1033-4C47-A274-7A23870D751E}">
      <dgm:prSet/>
      <dgm:spPr/>
      <dgm:t>
        <a:bodyPr/>
        <a:lstStyle/>
        <a:p>
          <a:endParaRPr lang="en-IN"/>
        </a:p>
      </dgm:t>
    </dgm:pt>
    <dgm:pt modelId="{E7B975EF-CA25-4F61-B4B2-4455A538B9CD}">
      <dgm:prSet custT="1"/>
      <dgm:spPr>
        <a:solidFill>
          <a:schemeClr val="bg1">
            <a:lumMod val="85000"/>
          </a:schemeClr>
        </a:solidFill>
      </dgm:spPr>
      <dgm:t>
        <a:bodyPr anchor="t"/>
        <a:lstStyle/>
        <a:p>
          <a:pPr algn="l"/>
          <a:r>
            <a:rPr lang="en-IN" sz="1200" b="1" dirty="0">
              <a:solidFill>
                <a:schemeClr val="tx1"/>
              </a:solidFill>
            </a:rPr>
            <a:t>Building Brands</a:t>
          </a:r>
        </a:p>
        <a:p>
          <a:pPr algn="l"/>
          <a:r>
            <a:rPr lang="en-IN" sz="1200" dirty="0">
              <a:solidFill>
                <a:schemeClr val="tx1"/>
              </a:solidFill>
            </a:rPr>
            <a:t>Conveying a differentiated factor in each cuisine</a:t>
          </a:r>
        </a:p>
        <a:p>
          <a:pPr algn="l"/>
          <a:r>
            <a:rPr lang="en-IN" sz="1200" dirty="0">
              <a:solidFill>
                <a:schemeClr val="tx1"/>
              </a:solidFill>
            </a:rPr>
            <a:t>Customer perception for each specific cuisine as a separate brand/entity</a:t>
          </a:r>
        </a:p>
        <a:p>
          <a:pPr algn="l"/>
          <a:endParaRPr lang="en-IN" sz="1200" dirty="0">
            <a:solidFill>
              <a:schemeClr val="tx1"/>
            </a:solidFill>
          </a:endParaRPr>
        </a:p>
      </dgm:t>
    </dgm:pt>
    <dgm:pt modelId="{77AC09F9-E924-4568-97CA-1675D8131D3A}" type="parTrans" cxnId="{659813BD-CAA4-495E-80F5-099A3EDA8F50}">
      <dgm:prSet/>
      <dgm:spPr/>
      <dgm:t>
        <a:bodyPr/>
        <a:lstStyle/>
        <a:p>
          <a:endParaRPr lang="en-IN"/>
        </a:p>
      </dgm:t>
    </dgm:pt>
    <dgm:pt modelId="{5F25A0F2-4E18-4248-A53C-E5CF316887C6}" type="sibTrans" cxnId="{659813BD-CAA4-495E-80F5-099A3EDA8F50}">
      <dgm:prSet/>
      <dgm:spPr/>
      <dgm:t>
        <a:bodyPr/>
        <a:lstStyle/>
        <a:p>
          <a:endParaRPr lang="en-IN"/>
        </a:p>
      </dgm:t>
    </dgm:pt>
    <dgm:pt modelId="{CCD7D56C-B891-4A00-B823-1995FC564628}">
      <dgm:prSet phldrT="[Text]" custT="1"/>
      <dgm:spPr>
        <a:solidFill>
          <a:schemeClr val="bg1">
            <a:lumMod val="85000"/>
          </a:schemeClr>
        </a:solidFill>
      </dgm:spPr>
      <dgm:t>
        <a:bodyPr anchor="t"/>
        <a:lstStyle/>
        <a:p>
          <a:pPr algn="l"/>
          <a:r>
            <a:rPr lang="en-IN" sz="1200" dirty="0">
              <a:solidFill>
                <a:schemeClr val="tx1"/>
              </a:solidFill>
            </a:rPr>
            <a:t>Long term projections for  next 4-5 years</a:t>
          </a:r>
        </a:p>
      </dgm:t>
    </dgm:pt>
    <dgm:pt modelId="{0A35567B-62F8-471B-9D55-116BD4064554}" type="parTrans" cxnId="{E458C433-7555-42D7-B078-2B18C54FAA3D}">
      <dgm:prSet/>
      <dgm:spPr/>
      <dgm:t>
        <a:bodyPr/>
        <a:lstStyle/>
        <a:p>
          <a:endParaRPr lang="en-IN"/>
        </a:p>
      </dgm:t>
    </dgm:pt>
    <dgm:pt modelId="{D30E0678-70CC-4DBE-A0FC-929B16EE15A6}" type="sibTrans" cxnId="{E458C433-7555-42D7-B078-2B18C54FAA3D}">
      <dgm:prSet/>
      <dgm:spPr/>
      <dgm:t>
        <a:bodyPr/>
        <a:lstStyle/>
        <a:p>
          <a:endParaRPr lang="en-IN"/>
        </a:p>
      </dgm:t>
    </dgm:pt>
    <dgm:pt modelId="{B0531924-6D2C-444F-8A2F-4AD5C26D8069}">
      <dgm:prSet phldrT="[Text]" custT="1"/>
      <dgm:spPr>
        <a:solidFill>
          <a:schemeClr val="bg1">
            <a:lumMod val="85000"/>
          </a:schemeClr>
        </a:solidFill>
      </dgm:spPr>
      <dgm:t>
        <a:bodyPr anchor="t"/>
        <a:lstStyle/>
        <a:p>
          <a:pPr algn="l"/>
          <a:r>
            <a:rPr lang="en-IN" sz="1200" dirty="0">
              <a:solidFill>
                <a:schemeClr val="tx1"/>
              </a:solidFill>
            </a:rPr>
            <a:t>Internal business forecasting</a:t>
          </a:r>
        </a:p>
      </dgm:t>
    </dgm:pt>
    <dgm:pt modelId="{6464936A-A56E-4382-A891-DECE407E3A73}" type="parTrans" cxnId="{92C8FB83-44B2-4776-A469-92C0D5C2AD51}">
      <dgm:prSet/>
      <dgm:spPr/>
      <dgm:t>
        <a:bodyPr/>
        <a:lstStyle/>
        <a:p>
          <a:endParaRPr lang="en-IN"/>
        </a:p>
      </dgm:t>
    </dgm:pt>
    <dgm:pt modelId="{46B407F5-D0FA-4123-9C8F-67D4B5BB0E87}" type="sibTrans" cxnId="{92C8FB83-44B2-4776-A469-92C0D5C2AD51}">
      <dgm:prSet/>
      <dgm:spPr/>
      <dgm:t>
        <a:bodyPr/>
        <a:lstStyle/>
        <a:p>
          <a:endParaRPr lang="en-IN"/>
        </a:p>
      </dgm:t>
    </dgm:pt>
    <dgm:pt modelId="{68EFBA4C-CFA8-4CF6-9F8C-CF55426FDC42}">
      <dgm:prSet phldrT="[Text]" custT="1"/>
      <dgm:spPr>
        <a:solidFill>
          <a:schemeClr val="bg1">
            <a:lumMod val="85000"/>
          </a:schemeClr>
        </a:solidFill>
      </dgm:spPr>
      <dgm:t>
        <a:bodyPr/>
        <a:lstStyle/>
        <a:p>
          <a:r>
            <a:rPr lang="en-IN" sz="1200" dirty="0">
              <a:solidFill>
                <a:schemeClr val="tx1"/>
              </a:solidFill>
            </a:rPr>
            <a:t>Consumer preferences</a:t>
          </a:r>
        </a:p>
      </dgm:t>
    </dgm:pt>
    <dgm:pt modelId="{5D786DC3-9C4B-41C8-8251-2B85F87EAB9A}" type="parTrans" cxnId="{235F778B-5760-4573-BA34-164BE0C3DD48}">
      <dgm:prSet/>
      <dgm:spPr/>
      <dgm:t>
        <a:bodyPr/>
        <a:lstStyle/>
        <a:p>
          <a:endParaRPr lang="en-IN"/>
        </a:p>
      </dgm:t>
    </dgm:pt>
    <dgm:pt modelId="{A04EC9F7-3CE0-4250-B393-10E0FC80B934}" type="sibTrans" cxnId="{235F778B-5760-4573-BA34-164BE0C3DD48}">
      <dgm:prSet/>
      <dgm:spPr/>
      <dgm:t>
        <a:bodyPr/>
        <a:lstStyle/>
        <a:p>
          <a:endParaRPr lang="en-IN"/>
        </a:p>
      </dgm:t>
    </dgm:pt>
    <dgm:pt modelId="{35DEEA55-9431-452A-B54D-54FB8597FC6B}">
      <dgm:prSet phldrT="[Text]" custT="1"/>
      <dgm:spPr>
        <a:solidFill>
          <a:schemeClr val="bg1">
            <a:lumMod val="85000"/>
          </a:schemeClr>
        </a:solidFill>
      </dgm:spPr>
      <dgm:t>
        <a:bodyPr/>
        <a:lstStyle/>
        <a:p>
          <a:r>
            <a:rPr lang="en-IN" sz="1200" dirty="0">
              <a:solidFill>
                <a:schemeClr val="tx1"/>
              </a:solidFill>
            </a:rPr>
            <a:t>Specific cuisines having high demand</a:t>
          </a:r>
        </a:p>
      </dgm:t>
    </dgm:pt>
    <dgm:pt modelId="{8B103CF8-E139-4ED7-BA88-C6B49857A68E}" type="parTrans" cxnId="{894D96A1-9DB3-4A08-96A2-0AEC458B82CA}">
      <dgm:prSet/>
      <dgm:spPr/>
      <dgm:t>
        <a:bodyPr/>
        <a:lstStyle/>
        <a:p>
          <a:endParaRPr lang="en-IN"/>
        </a:p>
      </dgm:t>
    </dgm:pt>
    <dgm:pt modelId="{68BB7F17-3244-4691-9F19-380460EACD8A}" type="sibTrans" cxnId="{894D96A1-9DB3-4A08-96A2-0AEC458B82CA}">
      <dgm:prSet/>
      <dgm:spPr/>
      <dgm:t>
        <a:bodyPr/>
        <a:lstStyle/>
        <a:p>
          <a:endParaRPr lang="en-IN"/>
        </a:p>
      </dgm:t>
    </dgm:pt>
    <dgm:pt modelId="{0466B610-2814-45CC-9DCA-0303B81174A4}" type="pres">
      <dgm:prSet presAssocID="{91CD16A7-F39F-43D0-A6E7-946943309F72}" presName="Name0" presStyleCnt="0">
        <dgm:presLayoutVars>
          <dgm:dir/>
          <dgm:resizeHandles val="exact"/>
        </dgm:presLayoutVars>
      </dgm:prSet>
      <dgm:spPr/>
    </dgm:pt>
    <dgm:pt modelId="{A99BC51E-673C-4793-8892-41AA27611775}" type="pres">
      <dgm:prSet presAssocID="{7F70B408-D401-4FC2-BABF-C9193BAA1D1D}" presName="composite" presStyleCnt="0"/>
      <dgm:spPr/>
    </dgm:pt>
    <dgm:pt modelId="{EC1399F8-186C-4380-BE07-10366FA56CEA}" type="pres">
      <dgm:prSet presAssocID="{7F70B408-D401-4FC2-BABF-C9193BAA1D1D}" presName="imagSh" presStyleLbl="bgImgPlace1" presStyleIdx="0" presStyleCnt="4" custScaleX="90890" custScaleY="73788" custLinFactNeighborY="-18289"/>
      <dgm:spPr>
        <a:blipFill>
          <a:blip xmlns:r="http://schemas.openxmlformats.org/officeDocument/2006/relationships" r:embed="rId1"/>
          <a:srcRect/>
          <a:stretch>
            <a:fillRect/>
          </a:stretch>
        </a:blipFill>
        <a:ln>
          <a:solidFill>
            <a:schemeClr val="bg1">
              <a:lumMod val="65000"/>
            </a:schemeClr>
          </a:solidFill>
        </a:ln>
      </dgm:spPr>
    </dgm:pt>
    <dgm:pt modelId="{A5F9A1EC-D84C-4670-88C8-165A1C01292D}" type="pres">
      <dgm:prSet presAssocID="{7F70B408-D401-4FC2-BABF-C9193BAA1D1D}" presName="txNode" presStyleLbl="node1" presStyleIdx="0" presStyleCnt="4" custScaleX="131183" custScaleY="110000">
        <dgm:presLayoutVars>
          <dgm:bulletEnabled val="1"/>
        </dgm:presLayoutVars>
      </dgm:prSet>
      <dgm:spPr/>
    </dgm:pt>
    <dgm:pt modelId="{8C947B88-C598-4FEF-979A-F3EEDB01C8CF}" type="pres">
      <dgm:prSet presAssocID="{5B0A5A15-DE1E-481B-AD44-E9E4FB3FB656}" presName="sibTrans" presStyleLbl="sibTrans2D1" presStyleIdx="0" presStyleCnt="3" custScaleX="110000" custScaleY="110000" custLinFactNeighborX="40160" custLinFactNeighborY="-28127"/>
      <dgm:spPr/>
    </dgm:pt>
    <dgm:pt modelId="{36DD6320-244E-45D5-8C4F-242ADD2C8A75}" type="pres">
      <dgm:prSet presAssocID="{5B0A5A15-DE1E-481B-AD44-E9E4FB3FB656}" presName="connTx" presStyleLbl="sibTrans2D1" presStyleIdx="0" presStyleCnt="3"/>
      <dgm:spPr/>
    </dgm:pt>
    <dgm:pt modelId="{DC00C3C4-5F08-4581-A960-49B49D4521D2}" type="pres">
      <dgm:prSet presAssocID="{8C12D582-AD2D-4973-A581-521DBEF0516B}" presName="composite" presStyleCnt="0"/>
      <dgm:spPr/>
    </dgm:pt>
    <dgm:pt modelId="{CA6A621F-3E40-4A28-946B-0E861C0B8A4A}" type="pres">
      <dgm:prSet presAssocID="{8C12D582-AD2D-4973-A581-521DBEF0516B}" presName="imagSh" presStyleLbl="bgImgPlace1" presStyleIdx="1" presStyleCnt="4" custScaleX="91052" custScaleY="90214" custLinFactNeighborY="-18289"/>
      <dgm:spPr>
        <a:blipFill>
          <a:blip xmlns:r="http://schemas.openxmlformats.org/officeDocument/2006/relationships" r:embed="rId2"/>
          <a:srcRect/>
          <a:stretch>
            <a:fillRect/>
          </a:stretch>
        </a:blipFill>
        <a:ln>
          <a:solidFill>
            <a:schemeClr val="bg1">
              <a:lumMod val="65000"/>
            </a:schemeClr>
          </a:solidFill>
        </a:ln>
      </dgm:spPr>
    </dgm:pt>
    <dgm:pt modelId="{5CB827DC-BD9D-47DC-B5B6-9CB28ADFE1C4}" type="pres">
      <dgm:prSet presAssocID="{8C12D582-AD2D-4973-A581-521DBEF0516B}" presName="txNode" presStyleLbl="node1" presStyleIdx="1" presStyleCnt="4" custScaleX="131183" custScaleY="110000">
        <dgm:presLayoutVars>
          <dgm:bulletEnabled val="1"/>
        </dgm:presLayoutVars>
      </dgm:prSet>
      <dgm:spPr/>
    </dgm:pt>
    <dgm:pt modelId="{2F943CF6-8A49-4383-9128-89990DBA3E67}" type="pres">
      <dgm:prSet presAssocID="{84F679E9-93A5-4B15-BCE5-F0540C581B76}" presName="sibTrans" presStyleLbl="sibTrans2D1" presStyleIdx="1" presStyleCnt="3" custScaleX="110000" custScaleY="110000" custLinFactNeighborY="-42460"/>
      <dgm:spPr/>
    </dgm:pt>
    <dgm:pt modelId="{24FCC63A-D034-40FA-B110-0533417DA393}" type="pres">
      <dgm:prSet presAssocID="{84F679E9-93A5-4B15-BCE5-F0540C581B76}" presName="connTx" presStyleLbl="sibTrans2D1" presStyleIdx="1" presStyleCnt="3"/>
      <dgm:spPr/>
    </dgm:pt>
    <dgm:pt modelId="{01EDCCFB-68A1-4620-A759-1990912305AD}" type="pres">
      <dgm:prSet presAssocID="{52EA58B3-8C5E-4428-9E67-BBB1A4855EF8}" presName="composite" presStyleCnt="0"/>
      <dgm:spPr/>
    </dgm:pt>
    <dgm:pt modelId="{CE5936E5-4EE0-45AB-BB83-233DB4F69579}" type="pres">
      <dgm:prSet presAssocID="{52EA58B3-8C5E-4428-9E67-BBB1A4855EF8}" presName="imagSh" presStyleLbl="bgImgPlace1" presStyleIdx="2" presStyleCnt="4" custScaleX="90054" custScaleY="88449" custLinFactNeighborY="-18289"/>
      <dgm:spPr>
        <a:blipFill>
          <a:blip xmlns:r="http://schemas.openxmlformats.org/officeDocument/2006/relationships" r:embed="rId3"/>
          <a:srcRect/>
          <a:stretch>
            <a:fillRect/>
          </a:stretch>
        </a:blipFill>
        <a:ln>
          <a:solidFill>
            <a:schemeClr val="bg1">
              <a:lumMod val="65000"/>
            </a:schemeClr>
          </a:solidFill>
        </a:ln>
      </dgm:spPr>
    </dgm:pt>
    <dgm:pt modelId="{E7B50AF3-09B9-4E3F-8FCB-46A2A7C97F0A}" type="pres">
      <dgm:prSet presAssocID="{52EA58B3-8C5E-4428-9E67-BBB1A4855EF8}" presName="txNode" presStyleLbl="node1" presStyleIdx="2" presStyleCnt="4" custScaleX="131183" custScaleY="110000">
        <dgm:presLayoutVars>
          <dgm:bulletEnabled val="1"/>
        </dgm:presLayoutVars>
      </dgm:prSet>
      <dgm:spPr/>
    </dgm:pt>
    <dgm:pt modelId="{34CC0682-BA06-471F-8B7E-3ED848C96DF7}" type="pres">
      <dgm:prSet presAssocID="{2BD8C6AF-CC3E-4F88-B6B6-80DF1F484FCA}" presName="sibTrans" presStyleLbl="sibTrans2D1" presStyleIdx="2" presStyleCnt="3" custScaleX="110000" custScaleY="110000" custLinFactNeighborX="9391" custLinFactNeighborY="-37740"/>
      <dgm:spPr/>
    </dgm:pt>
    <dgm:pt modelId="{25AA5DE3-C8CB-4077-9810-BAC6DD332E9A}" type="pres">
      <dgm:prSet presAssocID="{2BD8C6AF-CC3E-4F88-B6B6-80DF1F484FCA}" presName="connTx" presStyleLbl="sibTrans2D1" presStyleIdx="2" presStyleCnt="3"/>
      <dgm:spPr/>
    </dgm:pt>
    <dgm:pt modelId="{0E1F4231-3262-460A-9800-EFE9D2E9F076}" type="pres">
      <dgm:prSet presAssocID="{E7B975EF-CA25-4F61-B4B2-4455A538B9CD}" presName="composite" presStyleCnt="0"/>
      <dgm:spPr/>
    </dgm:pt>
    <dgm:pt modelId="{B0CCF031-7A24-4ABA-89D2-4564BE0BA92A}" type="pres">
      <dgm:prSet presAssocID="{E7B975EF-CA25-4F61-B4B2-4455A538B9CD}" presName="imagSh" presStyleLbl="bgImgPlace1" presStyleIdx="3" presStyleCnt="4" custScaleX="86359" custScaleY="81336" custLinFactNeighborY="-18289"/>
      <dgm:spPr>
        <a:blipFill>
          <a:blip xmlns:r="http://schemas.openxmlformats.org/officeDocument/2006/relationships" r:embed="rId4"/>
          <a:srcRect/>
          <a:stretch>
            <a:fillRect/>
          </a:stretch>
        </a:blipFill>
        <a:ln>
          <a:solidFill>
            <a:schemeClr val="bg1">
              <a:lumMod val="65000"/>
            </a:schemeClr>
          </a:solidFill>
        </a:ln>
      </dgm:spPr>
    </dgm:pt>
    <dgm:pt modelId="{A266DA4C-0DF8-4DE7-BD2B-3836861E3F63}" type="pres">
      <dgm:prSet presAssocID="{E7B975EF-CA25-4F61-B4B2-4455A538B9CD}" presName="txNode" presStyleLbl="node1" presStyleIdx="3" presStyleCnt="4" custScaleX="131183" custScaleY="110000">
        <dgm:presLayoutVars>
          <dgm:bulletEnabled val="1"/>
        </dgm:presLayoutVars>
      </dgm:prSet>
      <dgm:spPr/>
    </dgm:pt>
  </dgm:ptLst>
  <dgm:cxnLst>
    <dgm:cxn modelId="{5DE73809-514F-4293-9C64-6AA69C4197CB}" srcId="{7F70B408-D401-4FC2-BABF-C9193BAA1D1D}" destId="{5DE23810-D094-4D60-BB3A-0DEFD689ACC8}" srcOrd="1" destOrd="0" parTransId="{BA81397A-28F0-4583-B2D8-93576A0D52EB}" sibTransId="{655BECB3-F1A8-423E-ADAA-E72595B84EB8}"/>
    <dgm:cxn modelId="{0B70BC0E-DD57-4B49-B4A9-EB53F826952A}" type="presOf" srcId="{3FE5436B-BFC3-4E32-A50F-C96314EA2ABB}" destId="{E7B50AF3-09B9-4E3F-8FCB-46A2A7C97F0A}" srcOrd="0" destOrd="1" presId="urn:microsoft.com/office/officeart/2005/8/layout/hProcess10"/>
    <dgm:cxn modelId="{EE1CE317-B389-42F3-93C0-B948CCEADC0A}" type="presOf" srcId="{7F70B408-D401-4FC2-BABF-C9193BAA1D1D}" destId="{A5F9A1EC-D84C-4670-88C8-165A1C01292D}" srcOrd="0" destOrd="0" presId="urn:microsoft.com/office/officeart/2005/8/layout/hProcess10"/>
    <dgm:cxn modelId="{F7A59427-37CE-495E-8E04-39E11788F88E}" type="presOf" srcId="{B0531924-6D2C-444F-8A2F-4AD5C26D8069}" destId="{5CB827DC-BD9D-47DC-B5B6-9CB28ADFE1C4}" srcOrd="0" destOrd="4" presId="urn:microsoft.com/office/officeart/2005/8/layout/hProcess10"/>
    <dgm:cxn modelId="{CFB91B29-D313-4A69-A8EF-0F59BA551CFA}" type="presOf" srcId="{84F679E9-93A5-4B15-BCE5-F0540C581B76}" destId="{24FCC63A-D034-40FA-B110-0533417DA393}" srcOrd="1" destOrd="0" presId="urn:microsoft.com/office/officeart/2005/8/layout/hProcess10"/>
    <dgm:cxn modelId="{74C2F62A-2768-4156-A55F-1ADE978DC9D8}" type="presOf" srcId="{52EA58B3-8C5E-4428-9E67-BBB1A4855EF8}" destId="{E7B50AF3-09B9-4E3F-8FCB-46A2A7C97F0A}" srcOrd="0" destOrd="0" presId="urn:microsoft.com/office/officeart/2005/8/layout/hProcess10"/>
    <dgm:cxn modelId="{154B1C33-D039-4CDD-B251-6E9E5F887272}" srcId="{91CD16A7-F39F-43D0-A6E7-946943309F72}" destId="{52EA58B3-8C5E-4428-9E67-BBB1A4855EF8}" srcOrd="2" destOrd="0" parTransId="{B3868603-67C1-4DF6-8C7A-B94D0104C83F}" sibTransId="{2BD8C6AF-CC3E-4F88-B6B6-80DF1F484FCA}"/>
    <dgm:cxn modelId="{E458C433-7555-42D7-B078-2B18C54FAA3D}" srcId="{8C12D582-AD2D-4973-A581-521DBEF0516B}" destId="{CCD7D56C-B891-4A00-B823-1995FC564628}" srcOrd="2" destOrd="0" parTransId="{0A35567B-62F8-471B-9D55-116BD4064554}" sibTransId="{D30E0678-70CC-4DBE-A0FC-929B16EE15A6}"/>
    <dgm:cxn modelId="{528F9537-17AD-4082-B709-7ECAB9DAB1AD}" type="presOf" srcId="{35DEEA55-9431-452A-B54D-54FB8597FC6B}" destId="{E7B50AF3-09B9-4E3F-8FCB-46A2A7C97F0A}" srcOrd="0" destOrd="4" presId="urn:microsoft.com/office/officeart/2005/8/layout/hProcess10"/>
    <dgm:cxn modelId="{C281435E-C61F-4E0F-AEBF-297AE5AF1162}" type="presOf" srcId="{68EFBA4C-CFA8-4CF6-9F8C-CF55426FDC42}" destId="{E7B50AF3-09B9-4E3F-8FCB-46A2A7C97F0A}" srcOrd="0" destOrd="3" presId="urn:microsoft.com/office/officeart/2005/8/layout/hProcess10"/>
    <dgm:cxn modelId="{29F2494C-A0E9-482F-8217-F671663C04B0}" type="presOf" srcId="{2BD8C6AF-CC3E-4F88-B6B6-80DF1F484FCA}" destId="{34CC0682-BA06-471F-8B7E-3ED848C96DF7}" srcOrd="0" destOrd="0" presId="urn:microsoft.com/office/officeart/2005/8/layout/hProcess10"/>
    <dgm:cxn modelId="{7D7A2450-D87F-40A6-AF10-BC4B4F104085}" srcId="{91CD16A7-F39F-43D0-A6E7-946943309F72}" destId="{7F70B408-D401-4FC2-BABF-C9193BAA1D1D}" srcOrd="0" destOrd="0" parTransId="{2D95A72D-AD6F-470B-A162-8FA2E7B401AD}" sibTransId="{5B0A5A15-DE1E-481B-AD44-E9E4FB3FB656}"/>
    <dgm:cxn modelId="{3E47CD73-1DA9-4BA4-B3E3-F94070DFC46A}" type="presOf" srcId="{CCD7D56C-B891-4A00-B823-1995FC564628}" destId="{5CB827DC-BD9D-47DC-B5B6-9CB28ADFE1C4}" srcOrd="0" destOrd="3" presId="urn:microsoft.com/office/officeart/2005/8/layout/hProcess10"/>
    <dgm:cxn modelId="{DA4BA65A-52E5-4BEC-BB6D-1D45A66F77CB}" srcId="{7F70B408-D401-4FC2-BABF-C9193BAA1D1D}" destId="{D48F1B0C-535F-414C-A310-14133C062B7D}" srcOrd="0" destOrd="0" parTransId="{17117929-3E1B-41F8-B3EB-4693ED2EF644}" sibTransId="{AC8CF3FF-D2A3-46BA-8C42-747591294CBA}"/>
    <dgm:cxn modelId="{A32CB67B-D8D6-46C9-8791-1456C7C7FB66}" type="presOf" srcId="{5B0A5A15-DE1E-481B-AD44-E9E4FB3FB656}" destId="{8C947B88-C598-4FEF-979A-F3EEDB01C8CF}" srcOrd="0" destOrd="0" presId="urn:microsoft.com/office/officeart/2005/8/layout/hProcess10"/>
    <dgm:cxn modelId="{56428F7E-53CF-4A86-929E-DA32F8DB1CEE}" type="presOf" srcId="{91CD16A7-F39F-43D0-A6E7-946943309F72}" destId="{0466B610-2814-45CC-9DCA-0303B81174A4}" srcOrd="0" destOrd="0" presId="urn:microsoft.com/office/officeart/2005/8/layout/hProcess10"/>
    <dgm:cxn modelId="{F884C681-F28D-45E2-93E3-87E07F417EAC}" type="presOf" srcId="{2BD8C6AF-CC3E-4F88-B6B6-80DF1F484FCA}" destId="{25AA5DE3-C8CB-4077-9810-BAC6DD332E9A}" srcOrd="1" destOrd="0" presId="urn:microsoft.com/office/officeart/2005/8/layout/hProcess10"/>
    <dgm:cxn modelId="{92C8FB83-44B2-4776-A469-92C0D5C2AD51}" srcId="{8C12D582-AD2D-4973-A581-521DBEF0516B}" destId="{B0531924-6D2C-444F-8A2F-4AD5C26D8069}" srcOrd="3" destOrd="0" parTransId="{6464936A-A56E-4382-A891-DECE407E3A73}" sibTransId="{46B407F5-D0FA-4123-9C8F-67D4B5BB0E87}"/>
    <dgm:cxn modelId="{FD722A8B-332D-43FE-9950-059D92920C52}" type="presOf" srcId="{84F679E9-93A5-4B15-BCE5-F0540C581B76}" destId="{2F943CF6-8A49-4383-9128-89990DBA3E67}" srcOrd="0" destOrd="0" presId="urn:microsoft.com/office/officeart/2005/8/layout/hProcess10"/>
    <dgm:cxn modelId="{235F778B-5760-4573-BA34-164BE0C3DD48}" srcId="{52EA58B3-8C5E-4428-9E67-BBB1A4855EF8}" destId="{68EFBA4C-CFA8-4CF6-9F8C-CF55426FDC42}" srcOrd="2" destOrd="0" parTransId="{5D786DC3-9C4B-41C8-8251-2B85F87EAB9A}" sibTransId="{A04EC9F7-3CE0-4250-B393-10E0FC80B934}"/>
    <dgm:cxn modelId="{C165888D-0BEB-4BDF-8E76-CB4EC65AFAB7}" type="presOf" srcId="{5B0A5A15-DE1E-481B-AD44-E9E4FB3FB656}" destId="{36DD6320-244E-45D5-8C4F-242ADD2C8A75}" srcOrd="1" destOrd="0" presId="urn:microsoft.com/office/officeart/2005/8/layout/hProcess10"/>
    <dgm:cxn modelId="{86FCE79D-AB0A-4618-B10A-4AB05FE043A2}" srcId="{8C12D582-AD2D-4973-A581-521DBEF0516B}" destId="{490721C9-B872-4AA8-BFEB-3F37B69A9CE8}" srcOrd="0" destOrd="0" parTransId="{DB4023DA-5F3C-40BB-8F20-642F777BDBC9}" sibTransId="{7AA1650B-A59A-4136-9B42-CBF777BEBCF5}"/>
    <dgm:cxn modelId="{894D96A1-9DB3-4A08-96A2-0AEC458B82CA}" srcId="{52EA58B3-8C5E-4428-9E67-BBB1A4855EF8}" destId="{35DEEA55-9431-452A-B54D-54FB8597FC6B}" srcOrd="3" destOrd="0" parTransId="{8B103CF8-E139-4ED7-BA88-C6B49857A68E}" sibTransId="{68BB7F17-3244-4691-9F19-380460EACD8A}"/>
    <dgm:cxn modelId="{C2D583AC-9375-4D1D-8150-40AF66CB84B6}" srcId="{8C12D582-AD2D-4973-A581-521DBEF0516B}" destId="{41402F4B-5F75-4429-9057-DE9381C9A06E}" srcOrd="1" destOrd="0" parTransId="{34A2D671-5AA2-4CFC-9FE0-A2BE8715D76F}" sibTransId="{DFE86C3E-F2E1-407B-9A3D-B5305BD1DA09}"/>
    <dgm:cxn modelId="{1BCF27B3-3025-4427-9FF1-96D9A0505974}" type="presOf" srcId="{E7B975EF-CA25-4F61-B4B2-4455A538B9CD}" destId="{A266DA4C-0DF8-4DE7-BD2B-3836861E3F63}" srcOrd="0" destOrd="0" presId="urn:microsoft.com/office/officeart/2005/8/layout/hProcess10"/>
    <dgm:cxn modelId="{152305B8-07C9-4019-AC34-B927801A644B}" type="presOf" srcId="{41402F4B-5F75-4429-9057-DE9381C9A06E}" destId="{5CB827DC-BD9D-47DC-B5B6-9CB28ADFE1C4}" srcOrd="0" destOrd="2" presId="urn:microsoft.com/office/officeart/2005/8/layout/hProcess10"/>
    <dgm:cxn modelId="{659813BD-CAA4-495E-80F5-099A3EDA8F50}" srcId="{91CD16A7-F39F-43D0-A6E7-946943309F72}" destId="{E7B975EF-CA25-4F61-B4B2-4455A538B9CD}" srcOrd="3" destOrd="0" parTransId="{77AC09F9-E924-4568-97CA-1675D8131D3A}" sibTransId="{5F25A0F2-4E18-4248-A53C-E5CF316887C6}"/>
    <dgm:cxn modelId="{86AB6CC5-7439-4C2E-9EEF-1BC42E074A5E}" type="presOf" srcId="{490721C9-B872-4AA8-BFEB-3F37B69A9CE8}" destId="{5CB827DC-BD9D-47DC-B5B6-9CB28ADFE1C4}" srcOrd="0" destOrd="1" presId="urn:microsoft.com/office/officeart/2005/8/layout/hProcess10"/>
    <dgm:cxn modelId="{45FB3CC8-940C-4020-AD36-70C7A1A066E0}" type="presOf" srcId="{D48F1B0C-535F-414C-A310-14133C062B7D}" destId="{A5F9A1EC-D84C-4670-88C8-165A1C01292D}" srcOrd="0" destOrd="1" presId="urn:microsoft.com/office/officeart/2005/8/layout/hProcess10"/>
    <dgm:cxn modelId="{95A57ECB-2705-4795-99AC-D4FADB412545}" type="presOf" srcId="{51552952-A07A-4D6D-ADBE-79155E409716}" destId="{E7B50AF3-09B9-4E3F-8FCB-46A2A7C97F0A}" srcOrd="0" destOrd="2" presId="urn:microsoft.com/office/officeart/2005/8/layout/hProcess10"/>
    <dgm:cxn modelId="{30B244D3-9F29-4DEA-97C6-AD679E33BBB5}" type="presOf" srcId="{5DE23810-D094-4D60-BB3A-0DEFD689ACC8}" destId="{A5F9A1EC-D84C-4670-88C8-165A1C01292D}" srcOrd="0" destOrd="2" presId="urn:microsoft.com/office/officeart/2005/8/layout/hProcess10"/>
    <dgm:cxn modelId="{D9EF2ADB-2526-4877-90C7-7BE73B855A11}" srcId="{52EA58B3-8C5E-4428-9E67-BBB1A4855EF8}" destId="{3FE5436B-BFC3-4E32-A50F-C96314EA2ABB}" srcOrd="0" destOrd="0" parTransId="{2DF2AAFD-9A56-4334-8DAB-7A2AF48156A7}" sibTransId="{EC039084-0408-425A-AAFF-86C1BBA8E85C}"/>
    <dgm:cxn modelId="{498A6DDF-1033-4C47-A274-7A23870D751E}" srcId="{52EA58B3-8C5E-4428-9E67-BBB1A4855EF8}" destId="{51552952-A07A-4D6D-ADBE-79155E409716}" srcOrd="1" destOrd="0" parTransId="{3D92634B-DABB-4A45-AB23-97CE04DC1A95}" sibTransId="{B393A4CD-86C0-4E16-8C33-1A1D85F93C3A}"/>
    <dgm:cxn modelId="{E5180CE2-E32C-437A-BB6A-6DD5F32A2E48}" srcId="{91CD16A7-F39F-43D0-A6E7-946943309F72}" destId="{8C12D582-AD2D-4973-A581-521DBEF0516B}" srcOrd="1" destOrd="0" parTransId="{984C6099-68AB-412C-914B-FD79F4969B07}" sibTransId="{84F679E9-93A5-4B15-BCE5-F0540C581B76}"/>
    <dgm:cxn modelId="{B823F0FD-D718-4717-BE67-373505803123}" type="presOf" srcId="{8C12D582-AD2D-4973-A581-521DBEF0516B}" destId="{5CB827DC-BD9D-47DC-B5B6-9CB28ADFE1C4}" srcOrd="0" destOrd="0" presId="urn:microsoft.com/office/officeart/2005/8/layout/hProcess10"/>
    <dgm:cxn modelId="{395BD85B-4C0E-462E-908A-C00F9AFF9024}" type="presParOf" srcId="{0466B610-2814-45CC-9DCA-0303B81174A4}" destId="{A99BC51E-673C-4793-8892-41AA27611775}" srcOrd="0" destOrd="0" presId="urn:microsoft.com/office/officeart/2005/8/layout/hProcess10"/>
    <dgm:cxn modelId="{479AC6FC-5562-4B7B-9027-6B0914242700}" type="presParOf" srcId="{A99BC51E-673C-4793-8892-41AA27611775}" destId="{EC1399F8-186C-4380-BE07-10366FA56CEA}" srcOrd="0" destOrd="0" presId="urn:microsoft.com/office/officeart/2005/8/layout/hProcess10"/>
    <dgm:cxn modelId="{4A1270FF-B4A8-4DA1-BCB7-13A7CF5B896C}" type="presParOf" srcId="{A99BC51E-673C-4793-8892-41AA27611775}" destId="{A5F9A1EC-D84C-4670-88C8-165A1C01292D}" srcOrd="1" destOrd="0" presId="urn:microsoft.com/office/officeart/2005/8/layout/hProcess10"/>
    <dgm:cxn modelId="{997288F7-DB04-4DE4-9F11-872B16C579DE}" type="presParOf" srcId="{0466B610-2814-45CC-9DCA-0303B81174A4}" destId="{8C947B88-C598-4FEF-979A-F3EEDB01C8CF}" srcOrd="1" destOrd="0" presId="urn:microsoft.com/office/officeart/2005/8/layout/hProcess10"/>
    <dgm:cxn modelId="{7242C36D-7433-4AFA-A773-F26A1032B23A}" type="presParOf" srcId="{8C947B88-C598-4FEF-979A-F3EEDB01C8CF}" destId="{36DD6320-244E-45D5-8C4F-242ADD2C8A75}" srcOrd="0" destOrd="0" presId="urn:microsoft.com/office/officeart/2005/8/layout/hProcess10"/>
    <dgm:cxn modelId="{0FEAABA3-38AB-4B8E-A51F-1CBC5B8A341A}" type="presParOf" srcId="{0466B610-2814-45CC-9DCA-0303B81174A4}" destId="{DC00C3C4-5F08-4581-A960-49B49D4521D2}" srcOrd="2" destOrd="0" presId="urn:microsoft.com/office/officeart/2005/8/layout/hProcess10"/>
    <dgm:cxn modelId="{70A5A058-253B-436B-AB76-2D676B6B3C0A}" type="presParOf" srcId="{DC00C3C4-5F08-4581-A960-49B49D4521D2}" destId="{CA6A621F-3E40-4A28-946B-0E861C0B8A4A}" srcOrd="0" destOrd="0" presId="urn:microsoft.com/office/officeart/2005/8/layout/hProcess10"/>
    <dgm:cxn modelId="{2C3FCA4F-EC1D-4E73-8E01-BFE60C6A47D6}" type="presParOf" srcId="{DC00C3C4-5F08-4581-A960-49B49D4521D2}" destId="{5CB827DC-BD9D-47DC-B5B6-9CB28ADFE1C4}" srcOrd="1" destOrd="0" presId="urn:microsoft.com/office/officeart/2005/8/layout/hProcess10"/>
    <dgm:cxn modelId="{5E9EEBE7-3AB7-4DDB-8AB5-34A7F62E21A0}" type="presParOf" srcId="{0466B610-2814-45CC-9DCA-0303B81174A4}" destId="{2F943CF6-8A49-4383-9128-89990DBA3E67}" srcOrd="3" destOrd="0" presId="urn:microsoft.com/office/officeart/2005/8/layout/hProcess10"/>
    <dgm:cxn modelId="{6EE1CE4E-60A1-4851-B141-5E26FE2CE18C}" type="presParOf" srcId="{2F943CF6-8A49-4383-9128-89990DBA3E67}" destId="{24FCC63A-D034-40FA-B110-0533417DA393}" srcOrd="0" destOrd="0" presId="urn:microsoft.com/office/officeart/2005/8/layout/hProcess10"/>
    <dgm:cxn modelId="{0BDDB1F7-692E-4166-AE52-605BF6915EC0}" type="presParOf" srcId="{0466B610-2814-45CC-9DCA-0303B81174A4}" destId="{01EDCCFB-68A1-4620-A759-1990912305AD}" srcOrd="4" destOrd="0" presId="urn:microsoft.com/office/officeart/2005/8/layout/hProcess10"/>
    <dgm:cxn modelId="{215E6084-68EB-4CF0-BC77-B7DCE610D72C}" type="presParOf" srcId="{01EDCCFB-68A1-4620-A759-1990912305AD}" destId="{CE5936E5-4EE0-45AB-BB83-233DB4F69579}" srcOrd="0" destOrd="0" presId="urn:microsoft.com/office/officeart/2005/8/layout/hProcess10"/>
    <dgm:cxn modelId="{FBC7CA47-B388-48D4-A182-B8C349EDA177}" type="presParOf" srcId="{01EDCCFB-68A1-4620-A759-1990912305AD}" destId="{E7B50AF3-09B9-4E3F-8FCB-46A2A7C97F0A}" srcOrd="1" destOrd="0" presId="urn:microsoft.com/office/officeart/2005/8/layout/hProcess10"/>
    <dgm:cxn modelId="{29A7A3DE-F222-45A6-8BDA-4585049F1BBE}" type="presParOf" srcId="{0466B610-2814-45CC-9DCA-0303B81174A4}" destId="{34CC0682-BA06-471F-8B7E-3ED848C96DF7}" srcOrd="5" destOrd="0" presId="urn:microsoft.com/office/officeart/2005/8/layout/hProcess10"/>
    <dgm:cxn modelId="{F5284215-4622-4485-AF88-D38E628A8AEA}" type="presParOf" srcId="{34CC0682-BA06-471F-8B7E-3ED848C96DF7}" destId="{25AA5DE3-C8CB-4077-9810-BAC6DD332E9A}" srcOrd="0" destOrd="0" presId="urn:microsoft.com/office/officeart/2005/8/layout/hProcess10"/>
    <dgm:cxn modelId="{AA43FBC9-E58B-4329-B331-B9A0EDA4880E}" type="presParOf" srcId="{0466B610-2814-45CC-9DCA-0303B81174A4}" destId="{0E1F4231-3262-460A-9800-EFE9D2E9F076}" srcOrd="6" destOrd="0" presId="urn:microsoft.com/office/officeart/2005/8/layout/hProcess10"/>
    <dgm:cxn modelId="{08ED6F96-4139-4EC6-B215-9C9E06FEBD3B}" type="presParOf" srcId="{0E1F4231-3262-460A-9800-EFE9D2E9F076}" destId="{B0CCF031-7A24-4ABA-89D2-4564BE0BA92A}" srcOrd="0" destOrd="0" presId="urn:microsoft.com/office/officeart/2005/8/layout/hProcess10"/>
    <dgm:cxn modelId="{BA63B583-03BC-4CE9-BF1D-92CC4CEE855D}" type="presParOf" srcId="{0E1F4231-3262-460A-9800-EFE9D2E9F076}" destId="{A266DA4C-0DF8-4DE7-BD2B-3836861E3F63}"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5E58CD-FDF0-4801-8F0A-499F3908F991}" type="doc">
      <dgm:prSet loTypeId="urn:microsoft.com/office/officeart/2011/layout/CircleProcess" loCatId="process" qsTypeId="urn:microsoft.com/office/officeart/2005/8/quickstyle/simple1" qsCatId="simple" csTypeId="urn:microsoft.com/office/officeart/2005/8/colors/colorful1" csCatId="colorful" phldr="1"/>
      <dgm:spPr/>
      <dgm:t>
        <a:bodyPr/>
        <a:lstStyle/>
        <a:p>
          <a:endParaRPr lang="en-IN"/>
        </a:p>
      </dgm:t>
    </dgm:pt>
    <dgm:pt modelId="{1A3A4B11-0FB9-4BA0-8A43-406C4DD8A723}">
      <dgm:prSet phldrT="[Text]"/>
      <dgm:spPr/>
      <dgm:t>
        <a:bodyPr/>
        <a:lstStyle/>
        <a:p>
          <a:r>
            <a:rPr lang="en-IN" dirty="0"/>
            <a:t>Feature Development</a:t>
          </a:r>
        </a:p>
      </dgm:t>
    </dgm:pt>
    <dgm:pt modelId="{0E32A0B9-82CD-4895-B0DC-C29E8359ABDA}" type="parTrans" cxnId="{C2C0839B-16F4-42F1-9CB7-0A68F37D94FB}">
      <dgm:prSet/>
      <dgm:spPr/>
      <dgm:t>
        <a:bodyPr/>
        <a:lstStyle/>
        <a:p>
          <a:endParaRPr lang="en-IN"/>
        </a:p>
      </dgm:t>
    </dgm:pt>
    <dgm:pt modelId="{8FBBE62F-D996-4F37-BD0D-1FDFCE77CC18}" type="sibTrans" cxnId="{C2C0839B-16F4-42F1-9CB7-0A68F37D94FB}">
      <dgm:prSet/>
      <dgm:spPr/>
      <dgm:t>
        <a:bodyPr/>
        <a:lstStyle/>
        <a:p>
          <a:endParaRPr lang="en-IN"/>
        </a:p>
      </dgm:t>
    </dgm:pt>
    <dgm:pt modelId="{662B6897-3E2B-461A-8313-ED8D1909BE15}">
      <dgm:prSet phldrT="[Text]"/>
      <dgm:spPr/>
      <dgm:t>
        <a:bodyPr/>
        <a:lstStyle/>
        <a:p>
          <a:r>
            <a:rPr lang="en-IN" dirty="0"/>
            <a:t>A/B Testing</a:t>
          </a:r>
        </a:p>
      </dgm:t>
    </dgm:pt>
    <dgm:pt modelId="{265EA088-D10D-41D9-9BFD-5BCE3300FD8D}" type="parTrans" cxnId="{154B8528-0BAD-441A-BAEC-7BFBBFE70A2F}">
      <dgm:prSet/>
      <dgm:spPr/>
      <dgm:t>
        <a:bodyPr/>
        <a:lstStyle/>
        <a:p>
          <a:endParaRPr lang="en-IN"/>
        </a:p>
      </dgm:t>
    </dgm:pt>
    <dgm:pt modelId="{F96B7FA7-2A2E-4F9F-A0F9-01B1EF2D7AD3}" type="sibTrans" cxnId="{154B8528-0BAD-441A-BAEC-7BFBBFE70A2F}">
      <dgm:prSet/>
      <dgm:spPr/>
      <dgm:t>
        <a:bodyPr/>
        <a:lstStyle/>
        <a:p>
          <a:endParaRPr lang="en-IN"/>
        </a:p>
      </dgm:t>
    </dgm:pt>
    <dgm:pt modelId="{09BAD260-BEBE-491A-B651-3544558DC273}">
      <dgm:prSet phldrT="[Text]"/>
      <dgm:spPr/>
      <dgm:t>
        <a:bodyPr/>
        <a:lstStyle/>
        <a:p>
          <a:r>
            <a:rPr lang="en-IN" dirty="0"/>
            <a:t>Improvement</a:t>
          </a:r>
        </a:p>
      </dgm:t>
    </dgm:pt>
    <dgm:pt modelId="{BC8B2F38-CF2B-40B2-A183-B6623432F0EE}" type="parTrans" cxnId="{532392ED-8635-4268-8397-EDDACBD8B498}">
      <dgm:prSet/>
      <dgm:spPr/>
      <dgm:t>
        <a:bodyPr/>
        <a:lstStyle/>
        <a:p>
          <a:endParaRPr lang="en-IN"/>
        </a:p>
      </dgm:t>
    </dgm:pt>
    <dgm:pt modelId="{5F47B425-B33A-4878-9C75-6F9E2B1361AE}" type="sibTrans" cxnId="{532392ED-8635-4268-8397-EDDACBD8B498}">
      <dgm:prSet/>
      <dgm:spPr/>
      <dgm:t>
        <a:bodyPr/>
        <a:lstStyle/>
        <a:p>
          <a:endParaRPr lang="en-IN"/>
        </a:p>
      </dgm:t>
    </dgm:pt>
    <dgm:pt modelId="{890722A8-0852-4E07-80F5-69EA16769B91}">
      <dgm:prSet/>
      <dgm:spPr/>
      <dgm:t>
        <a:bodyPr/>
        <a:lstStyle/>
        <a:p>
          <a:r>
            <a:rPr lang="en-IN" dirty="0"/>
            <a:t>Awareness</a:t>
          </a:r>
        </a:p>
      </dgm:t>
    </dgm:pt>
    <dgm:pt modelId="{248706E7-FE0A-4844-BD36-0F86EBBB5B9F}" type="parTrans" cxnId="{4A9AABB6-6691-4013-B3EC-4F9B1601448E}">
      <dgm:prSet/>
      <dgm:spPr/>
      <dgm:t>
        <a:bodyPr/>
        <a:lstStyle/>
        <a:p>
          <a:endParaRPr lang="en-IN"/>
        </a:p>
      </dgm:t>
    </dgm:pt>
    <dgm:pt modelId="{89DD8306-81EB-41A5-A91E-67E16E6B55BE}" type="sibTrans" cxnId="{4A9AABB6-6691-4013-B3EC-4F9B1601448E}">
      <dgm:prSet/>
      <dgm:spPr/>
      <dgm:t>
        <a:bodyPr/>
        <a:lstStyle/>
        <a:p>
          <a:endParaRPr lang="en-IN"/>
        </a:p>
      </dgm:t>
    </dgm:pt>
    <dgm:pt modelId="{A4BC0434-1703-4A45-AA16-66DBB5A61F0B}">
      <dgm:prSet/>
      <dgm:spPr/>
      <dgm:t>
        <a:bodyPr/>
        <a:lstStyle/>
        <a:p>
          <a:r>
            <a:rPr lang="en-IN" dirty="0"/>
            <a:t>Release</a:t>
          </a:r>
        </a:p>
      </dgm:t>
    </dgm:pt>
    <dgm:pt modelId="{3190BE64-24D4-437C-B459-384888C2841B}" type="parTrans" cxnId="{A89C6234-DD5B-4788-AFD9-05F110CC9106}">
      <dgm:prSet/>
      <dgm:spPr/>
      <dgm:t>
        <a:bodyPr/>
        <a:lstStyle/>
        <a:p>
          <a:endParaRPr lang="en-IN"/>
        </a:p>
      </dgm:t>
    </dgm:pt>
    <dgm:pt modelId="{8D2200A3-8A53-4F4C-9CF0-30F707412AF4}" type="sibTrans" cxnId="{A89C6234-DD5B-4788-AFD9-05F110CC9106}">
      <dgm:prSet/>
      <dgm:spPr/>
      <dgm:t>
        <a:bodyPr/>
        <a:lstStyle/>
        <a:p>
          <a:endParaRPr lang="en-IN"/>
        </a:p>
      </dgm:t>
    </dgm:pt>
    <dgm:pt modelId="{BD245AE2-37C9-420A-98C1-D4539EEA5A0E}" type="pres">
      <dgm:prSet presAssocID="{A15E58CD-FDF0-4801-8F0A-499F3908F991}" presName="Name0" presStyleCnt="0">
        <dgm:presLayoutVars>
          <dgm:chMax val="11"/>
          <dgm:chPref val="11"/>
          <dgm:dir/>
          <dgm:resizeHandles/>
        </dgm:presLayoutVars>
      </dgm:prSet>
      <dgm:spPr/>
    </dgm:pt>
    <dgm:pt modelId="{1E0CF75E-E032-483D-81D6-F8021AC01874}" type="pres">
      <dgm:prSet presAssocID="{A4BC0434-1703-4A45-AA16-66DBB5A61F0B}" presName="Accent5" presStyleCnt="0"/>
      <dgm:spPr/>
    </dgm:pt>
    <dgm:pt modelId="{B425BA28-8384-4E35-8AEE-96AE264ED40D}" type="pres">
      <dgm:prSet presAssocID="{A4BC0434-1703-4A45-AA16-66DBB5A61F0B}" presName="Accent" presStyleLbl="node1" presStyleIdx="0" presStyleCnt="5"/>
      <dgm:spPr/>
    </dgm:pt>
    <dgm:pt modelId="{259AAC90-ED93-44F9-B604-3AC19DB3AF0D}" type="pres">
      <dgm:prSet presAssocID="{A4BC0434-1703-4A45-AA16-66DBB5A61F0B}" presName="ParentBackground5" presStyleCnt="0"/>
      <dgm:spPr/>
    </dgm:pt>
    <dgm:pt modelId="{80B653E9-2799-4C4F-AA21-E54D0C4482D3}" type="pres">
      <dgm:prSet presAssocID="{A4BC0434-1703-4A45-AA16-66DBB5A61F0B}" presName="ParentBackground" presStyleLbl="fgAcc1" presStyleIdx="0" presStyleCnt="5"/>
      <dgm:spPr/>
    </dgm:pt>
    <dgm:pt modelId="{70FE95AD-33E8-4B27-8B6A-6398378279A4}" type="pres">
      <dgm:prSet presAssocID="{A4BC0434-1703-4A45-AA16-66DBB5A61F0B}" presName="Parent5" presStyleLbl="revTx" presStyleIdx="0" presStyleCnt="0">
        <dgm:presLayoutVars>
          <dgm:chMax val="1"/>
          <dgm:chPref val="1"/>
          <dgm:bulletEnabled val="1"/>
        </dgm:presLayoutVars>
      </dgm:prSet>
      <dgm:spPr/>
    </dgm:pt>
    <dgm:pt modelId="{3BA4257D-93AB-4A38-BB2E-A9A007C56637}" type="pres">
      <dgm:prSet presAssocID="{890722A8-0852-4E07-80F5-69EA16769B91}" presName="Accent4" presStyleCnt="0"/>
      <dgm:spPr/>
    </dgm:pt>
    <dgm:pt modelId="{3622CD8A-F58E-4088-872F-E93A23D6AE4C}" type="pres">
      <dgm:prSet presAssocID="{890722A8-0852-4E07-80F5-69EA16769B91}" presName="Accent" presStyleLbl="node1" presStyleIdx="1" presStyleCnt="5"/>
      <dgm:spPr/>
    </dgm:pt>
    <dgm:pt modelId="{105F9BE1-9E7E-41D5-ABAE-A548105F6919}" type="pres">
      <dgm:prSet presAssocID="{890722A8-0852-4E07-80F5-69EA16769B91}" presName="ParentBackground4" presStyleCnt="0"/>
      <dgm:spPr/>
    </dgm:pt>
    <dgm:pt modelId="{7E7FEB31-0EB5-4FDC-963F-74FD71740FCA}" type="pres">
      <dgm:prSet presAssocID="{890722A8-0852-4E07-80F5-69EA16769B91}" presName="ParentBackground" presStyleLbl="fgAcc1" presStyleIdx="1" presStyleCnt="5"/>
      <dgm:spPr/>
    </dgm:pt>
    <dgm:pt modelId="{542D6D63-11CF-4A76-A7C3-7F4B6B1A3E72}" type="pres">
      <dgm:prSet presAssocID="{890722A8-0852-4E07-80F5-69EA16769B91}" presName="Parent4" presStyleLbl="revTx" presStyleIdx="0" presStyleCnt="0">
        <dgm:presLayoutVars>
          <dgm:chMax val="1"/>
          <dgm:chPref val="1"/>
          <dgm:bulletEnabled val="1"/>
        </dgm:presLayoutVars>
      </dgm:prSet>
      <dgm:spPr/>
    </dgm:pt>
    <dgm:pt modelId="{F2E919CE-5E20-4964-9175-911A2332CB5E}" type="pres">
      <dgm:prSet presAssocID="{09BAD260-BEBE-491A-B651-3544558DC273}" presName="Accent3" presStyleCnt="0"/>
      <dgm:spPr/>
    </dgm:pt>
    <dgm:pt modelId="{C66B54D2-8270-4319-8583-01A381B87E53}" type="pres">
      <dgm:prSet presAssocID="{09BAD260-BEBE-491A-B651-3544558DC273}" presName="Accent" presStyleLbl="node1" presStyleIdx="2" presStyleCnt="5"/>
      <dgm:spPr/>
    </dgm:pt>
    <dgm:pt modelId="{43E33A3A-57C3-44D8-9840-6ACD7EB56D0E}" type="pres">
      <dgm:prSet presAssocID="{09BAD260-BEBE-491A-B651-3544558DC273}" presName="ParentBackground3" presStyleCnt="0"/>
      <dgm:spPr/>
    </dgm:pt>
    <dgm:pt modelId="{3791A3D1-6479-4BA0-BD2A-05EB7EFF7AF6}" type="pres">
      <dgm:prSet presAssocID="{09BAD260-BEBE-491A-B651-3544558DC273}" presName="ParentBackground" presStyleLbl="fgAcc1" presStyleIdx="2" presStyleCnt="5"/>
      <dgm:spPr/>
    </dgm:pt>
    <dgm:pt modelId="{628D6DA4-261A-462D-B329-17060A8BE240}" type="pres">
      <dgm:prSet presAssocID="{09BAD260-BEBE-491A-B651-3544558DC273}" presName="Parent3" presStyleLbl="revTx" presStyleIdx="0" presStyleCnt="0">
        <dgm:presLayoutVars>
          <dgm:chMax val="1"/>
          <dgm:chPref val="1"/>
          <dgm:bulletEnabled val="1"/>
        </dgm:presLayoutVars>
      </dgm:prSet>
      <dgm:spPr/>
    </dgm:pt>
    <dgm:pt modelId="{C339FDEB-A0DB-4CD6-91F5-27038C09F98D}" type="pres">
      <dgm:prSet presAssocID="{662B6897-3E2B-461A-8313-ED8D1909BE15}" presName="Accent2" presStyleCnt="0"/>
      <dgm:spPr/>
    </dgm:pt>
    <dgm:pt modelId="{0609BF30-1FC0-4BE5-8BAB-EA15F06125F7}" type="pres">
      <dgm:prSet presAssocID="{662B6897-3E2B-461A-8313-ED8D1909BE15}" presName="Accent" presStyleLbl="node1" presStyleIdx="3" presStyleCnt="5"/>
      <dgm:spPr/>
    </dgm:pt>
    <dgm:pt modelId="{7828BB23-6F01-485D-A353-1FD6A3D05ECF}" type="pres">
      <dgm:prSet presAssocID="{662B6897-3E2B-461A-8313-ED8D1909BE15}" presName="ParentBackground2" presStyleCnt="0"/>
      <dgm:spPr/>
    </dgm:pt>
    <dgm:pt modelId="{44E2752F-ABD9-4670-BF1A-0DE08CF4691A}" type="pres">
      <dgm:prSet presAssocID="{662B6897-3E2B-461A-8313-ED8D1909BE15}" presName="ParentBackground" presStyleLbl="fgAcc1" presStyleIdx="3" presStyleCnt="5"/>
      <dgm:spPr/>
    </dgm:pt>
    <dgm:pt modelId="{47E97A79-52EE-47EB-9681-CA58C1A39A2B}" type="pres">
      <dgm:prSet presAssocID="{662B6897-3E2B-461A-8313-ED8D1909BE15}" presName="Parent2" presStyleLbl="revTx" presStyleIdx="0" presStyleCnt="0">
        <dgm:presLayoutVars>
          <dgm:chMax val="1"/>
          <dgm:chPref val="1"/>
          <dgm:bulletEnabled val="1"/>
        </dgm:presLayoutVars>
      </dgm:prSet>
      <dgm:spPr/>
    </dgm:pt>
    <dgm:pt modelId="{0D490472-AFC0-4C5E-8656-42BF31B531B5}" type="pres">
      <dgm:prSet presAssocID="{1A3A4B11-0FB9-4BA0-8A43-406C4DD8A723}" presName="Accent1" presStyleCnt="0"/>
      <dgm:spPr/>
    </dgm:pt>
    <dgm:pt modelId="{A7D5AEF3-A6A6-4C37-970C-4BF7D166C117}" type="pres">
      <dgm:prSet presAssocID="{1A3A4B11-0FB9-4BA0-8A43-406C4DD8A723}" presName="Accent" presStyleLbl="node1" presStyleIdx="4" presStyleCnt="5"/>
      <dgm:spPr/>
    </dgm:pt>
    <dgm:pt modelId="{3F014948-F666-4DAA-8599-72B1144F2477}" type="pres">
      <dgm:prSet presAssocID="{1A3A4B11-0FB9-4BA0-8A43-406C4DD8A723}" presName="ParentBackground1" presStyleCnt="0"/>
      <dgm:spPr/>
    </dgm:pt>
    <dgm:pt modelId="{A159E263-37F2-427C-9FC0-CC640AC62F6B}" type="pres">
      <dgm:prSet presAssocID="{1A3A4B11-0FB9-4BA0-8A43-406C4DD8A723}" presName="ParentBackground" presStyleLbl="fgAcc1" presStyleIdx="4" presStyleCnt="5"/>
      <dgm:spPr/>
    </dgm:pt>
    <dgm:pt modelId="{8ADB416D-4758-4DB3-BD86-F88736FDA2D2}" type="pres">
      <dgm:prSet presAssocID="{1A3A4B11-0FB9-4BA0-8A43-406C4DD8A723}" presName="Parent1" presStyleLbl="revTx" presStyleIdx="0" presStyleCnt="0">
        <dgm:presLayoutVars>
          <dgm:chMax val="1"/>
          <dgm:chPref val="1"/>
          <dgm:bulletEnabled val="1"/>
        </dgm:presLayoutVars>
      </dgm:prSet>
      <dgm:spPr/>
    </dgm:pt>
  </dgm:ptLst>
  <dgm:cxnLst>
    <dgm:cxn modelId="{C9D6D505-7FAB-4281-A02A-9BA522E3FCA9}" type="presOf" srcId="{09BAD260-BEBE-491A-B651-3544558DC273}" destId="{628D6DA4-261A-462D-B329-17060A8BE240}" srcOrd="1" destOrd="0" presId="urn:microsoft.com/office/officeart/2011/layout/CircleProcess"/>
    <dgm:cxn modelId="{7D99020F-D429-46D3-85B7-3AF08C896C59}" type="presOf" srcId="{A4BC0434-1703-4A45-AA16-66DBB5A61F0B}" destId="{80B653E9-2799-4C4F-AA21-E54D0C4482D3}" srcOrd="0" destOrd="0" presId="urn:microsoft.com/office/officeart/2011/layout/CircleProcess"/>
    <dgm:cxn modelId="{0CB1E910-292B-4F30-B6FA-0B600F22633E}" type="presOf" srcId="{09BAD260-BEBE-491A-B651-3544558DC273}" destId="{3791A3D1-6479-4BA0-BD2A-05EB7EFF7AF6}" srcOrd="0" destOrd="0" presId="urn:microsoft.com/office/officeart/2011/layout/CircleProcess"/>
    <dgm:cxn modelId="{59387F23-66F0-422E-ADAF-E0B6C6CA3FC6}" type="presOf" srcId="{662B6897-3E2B-461A-8313-ED8D1909BE15}" destId="{44E2752F-ABD9-4670-BF1A-0DE08CF4691A}" srcOrd="0" destOrd="0" presId="urn:microsoft.com/office/officeart/2011/layout/CircleProcess"/>
    <dgm:cxn modelId="{154B8528-0BAD-441A-BAEC-7BFBBFE70A2F}" srcId="{A15E58CD-FDF0-4801-8F0A-499F3908F991}" destId="{662B6897-3E2B-461A-8313-ED8D1909BE15}" srcOrd="1" destOrd="0" parTransId="{265EA088-D10D-41D9-9BFD-5BCE3300FD8D}" sibTransId="{F96B7FA7-2A2E-4F9F-A0F9-01B1EF2D7AD3}"/>
    <dgm:cxn modelId="{A89C6234-DD5B-4788-AFD9-05F110CC9106}" srcId="{A15E58CD-FDF0-4801-8F0A-499F3908F991}" destId="{A4BC0434-1703-4A45-AA16-66DBB5A61F0B}" srcOrd="4" destOrd="0" parTransId="{3190BE64-24D4-437C-B459-384888C2841B}" sibTransId="{8D2200A3-8A53-4F4C-9CF0-30F707412AF4}"/>
    <dgm:cxn modelId="{495F6339-A6E4-40A8-A0E5-7A918E04B309}" type="presOf" srcId="{A4BC0434-1703-4A45-AA16-66DBB5A61F0B}" destId="{70FE95AD-33E8-4B27-8B6A-6398378279A4}" srcOrd="1" destOrd="0" presId="urn:microsoft.com/office/officeart/2011/layout/CircleProcess"/>
    <dgm:cxn modelId="{F9B40A5C-FD70-434F-A53F-CF9F1E4CC0D8}" type="presOf" srcId="{1A3A4B11-0FB9-4BA0-8A43-406C4DD8A723}" destId="{A159E263-37F2-427C-9FC0-CC640AC62F6B}" srcOrd="0" destOrd="0" presId="urn:microsoft.com/office/officeart/2011/layout/CircleProcess"/>
    <dgm:cxn modelId="{8978416C-6F3B-4F79-A1CD-57681EFD7833}" type="presOf" srcId="{890722A8-0852-4E07-80F5-69EA16769B91}" destId="{542D6D63-11CF-4A76-A7C3-7F4B6B1A3E72}" srcOrd="1" destOrd="0" presId="urn:microsoft.com/office/officeart/2011/layout/CircleProcess"/>
    <dgm:cxn modelId="{EFDBC595-3E6B-4ACD-95B9-CBBF1227AD33}" type="presOf" srcId="{890722A8-0852-4E07-80F5-69EA16769B91}" destId="{7E7FEB31-0EB5-4FDC-963F-74FD71740FCA}" srcOrd="0" destOrd="0" presId="urn:microsoft.com/office/officeart/2011/layout/CircleProcess"/>
    <dgm:cxn modelId="{C2C0839B-16F4-42F1-9CB7-0A68F37D94FB}" srcId="{A15E58CD-FDF0-4801-8F0A-499F3908F991}" destId="{1A3A4B11-0FB9-4BA0-8A43-406C4DD8A723}" srcOrd="0" destOrd="0" parTransId="{0E32A0B9-82CD-4895-B0DC-C29E8359ABDA}" sibTransId="{8FBBE62F-D996-4F37-BD0D-1FDFCE77CC18}"/>
    <dgm:cxn modelId="{4A9AABB6-6691-4013-B3EC-4F9B1601448E}" srcId="{A15E58CD-FDF0-4801-8F0A-499F3908F991}" destId="{890722A8-0852-4E07-80F5-69EA16769B91}" srcOrd="3" destOrd="0" parTransId="{248706E7-FE0A-4844-BD36-0F86EBBB5B9F}" sibTransId="{89DD8306-81EB-41A5-A91E-67E16E6B55BE}"/>
    <dgm:cxn modelId="{4BC81CC6-FF38-435B-984E-B19DD8092779}" type="presOf" srcId="{662B6897-3E2B-461A-8313-ED8D1909BE15}" destId="{47E97A79-52EE-47EB-9681-CA58C1A39A2B}" srcOrd="1" destOrd="0" presId="urn:microsoft.com/office/officeart/2011/layout/CircleProcess"/>
    <dgm:cxn modelId="{EB90D8CB-2386-4841-816F-085417EAB3B9}" type="presOf" srcId="{A15E58CD-FDF0-4801-8F0A-499F3908F991}" destId="{BD245AE2-37C9-420A-98C1-D4539EEA5A0E}" srcOrd="0" destOrd="0" presId="urn:microsoft.com/office/officeart/2011/layout/CircleProcess"/>
    <dgm:cxn modelId="{532392ED-8635-4268-8397-EDDACBD8B498}" srcId="{A15E58CD-FDF0-4801-8F0A-499F3908F991}" destId="{09BAD260-BEBE-491A-B651-3544558DC273}" srcOrd="2" destOrd="0" parTransId="{BC8B2F38-CF2B-40B2-A183-B6623432F0EE}" sibTransId="{5F47B425-B33A-4878-9C75-6F9E2B1361AE}"/>
    <dgm:cxn modelId="{3C3EC5F3-51C5-467C-B14A-BF58A627A7E4}" type="presOf" srcId="{1A3A4B11-0FB9-4BA0-8A43-406C4DD8A723}" destId="{8ADB416D-4758-4DB3-BD86-F88736FDA2D2}" srcOrd="1" destOrd="0" presId="urn:microsoft.com/office/officeart/2011/layout/CircleProcess"/>
    <dgm:cxn modelId="{A7F69D0A-89A3-449C-A4C1-01C2C6BEBF04}" type="presParOf" srcId="{BD245AE2-37C9-420A-98C1-D4539EEA5A0E}" destId="{1E0CF75E-E032-483D-81D6-F8021AC01874}" srcOrd="0" destOrd="0" presId="urn:microsoft.com/office/officeart/2011/layout/CircleProcess"/>
    <dgm:cxn modelId="{59072A3A-308E-442D-AA5F-2814AE6B7145}" type="presParOf" srcId="{1E0CF75E-E032-483D-81D6-F8021AC01874}" destId="{B425BA28-8384-4E35-8AEE-96AE264ED40D}" srcOrd="0" destOrd="0" presId="urn:microsoft.com/office/officeart/2011/layout/CircleProcess"/>
    <dgm:cxn modelId="{10AFE116-8C24-440B-B864-F317BA777CBA}" type="presParOf" srcId="{BD245AE2-37C9-420A-98C1-D4539EEA5A0E}" destId="{259AAC90-ED93-44F9-B604-3AC19DB3AF0D}" srcOrd="1" destOrd="0" presId="urn:microsoft.com/office/officeart/2011/layout/CircleProcess"/>
    <dgm:cxn modelId="{D1CC9E25-323A-4364-9A36-2E8FC9940A59}" type="presParOf" srcId="{259AAC90-ED93-44F9-B604-3AC19DB3AF0D}" destId="{80B653E9-2799-4C4F-AA21-E54D0C4482D3}" srcOrd="0" destOrd="0" presId="urn:microsoft.com/office/officeart/2011/layout/CircleProcess"/>
    <dgm:cxn modelId="{9A30FA9E-BA77-4596-9401-A6FDC49AA51E}" type="presParOf" srcId="{BD245AE2-37C9-420A-98C1-D4539EEA5A0E}" destId="{70FE95AD-33E8-4B27-8B6A-6398378279A4}" srcOrd="2" destOrd="0" presId="urn:microsoft.com/office/officeart/2011/layout/CircleProcess"/>
    <dgm:cxn modelId="{5241CB09-7817-4143-A6CC-B87FD1DC6510}" type="presParOf" srcId="{BD245AE2-37C9-420A-98C1-D4539EEA5A0E}" destId="{3BA4257D-93AB-4A38-BB2E-A9A007C56637}" srcOrd="3" destOrd="0" presId="urn:microsoft.com/office/officeart/2011/layout/CircleProcess"/>
    <dgm:cxn modelId="{4589459F-63E7-49D2-8321-1A95B2762E71}" type="presParOf" srcId="{3BA4257D-93AB-4A38-BB2E-A9A007C56637}" destId="{3622CD8A-F58E-4088-872F-E93A23D6AE4C}" srcOrd="0" destOrd="0" presId="urn:microsoft.com/office/officeart/2011/layout/CircleProcess"/>
    <dgm:cxn modelId="{8612514B-A90F-4880-96AC-119D5CE3575E}" type="presParOf" srcId="{BD245AE2-37C9-420A-98C1-D4539EEA5A0E}" destId="{105F9BE1-9E7E-41D5-ABAE-A548105F6919}" srcOrd="4" destOrd="0" presId="urn:microsoft.com/office/officeart/2011/layout/CircleProcess"/>
    <dgm:cxn modelId="{1AE7212F-1239-4516-97EC-D8459ACBDF03}" type="presParOf" srcId="{105F9BE1-9E7E-41D5-ABAE-A548105F6919}" destId="{7E7FEB31-0EB5-4FDC-963F-74FD71740FCA}" srcOrd="0" destOrd="0" presId="urn:microsoft.com/office/officeart/2011/layout/CircleProcess"/>
    <dgm:cxn modelId="{132BA12A-0572-4ECE-A56F-83BC271C4C73}" type="presParOf" srcId="{BD245AE2-37C9-420A-98C1-D4539EEA5A0E}" destId="{542D6D63-11CF-4A76-A7C3-7F4B6B1A3E72}" srcOrd="5" destOrd="0" presId="urn:microsoft.com/office/officeart/2011/layout/CircleProcess"/>
    <dgm:cxn modelId="{FDA39649-C830-4D04-8A33-9AC4F2BFA115}" type="presParOf" srcId="{BD245AE2-37C9-420A-98C1-D4539EEA5A0E}" destId="{F2E919CE-5E20-4964-9175-911A2332CB5E}" srcOrd="6" destOrd="0" presId="urn:microsoft.com/office/officeart/2011/layout/CircleProcess"/>
    <dgm:cxn modelId="{0C429DA1-A538-4540-966D-FCDA635C542B}" type="presParOf" srcId="{F2E919CE-5E20-4964-9175-911A2332CB5E}" destId="{C66B54D2-8270-4319-8583-01A381B87E53}" srcOrd="0" destOrd="0" presId="urn:microsoft.com/office/officeart/2011/layout/CircleProcess"/>
    <dgm:cxn modelId="{BDC87FFC-9BA8-4B83-8D08-CF79EF8FF2E0}" type="presParOf" srcId="{BD245AE2-37C9-420A-98C1-D4539EEA5A0E}" destId="{43E33A3A-57C3-44D8-9840-6ACD7EB56D0E}" srcOrd="7" destOrd="0" presId="urn:microsoft.com/office/officeart/2011/layout/CircleProcess"/>
    <dgm:cxn modelId="{91A8E27C-390C-4C35-90D8-D7C9FDAF4A7B}" type="presParOf" srcId="{43E33A3A-57C3-44D8-9840-6ACD7EB56D0E}" destId="{3791A3D1-6479-4BA0-BD2A-05EB7EFF7AF6}" srcOrd="0" destOrd="0" presId="urn:microsoft.com/office/officeart/2011/layout/CircleProcess"/>
    <dgm:cxn modelId="{3C6D40A4-6A33-4374-8099-895C799D979A}" type="presParOf" srcId="{BD245AE2-37C9-420A-98C1-D4539EEA5A0E}" destId="{628D6DA4-261A-462D-B329-17060A8BE240}" srcOrd="8" destOrd="0" presId="urn:microsoft.com/office/officeart/2011/layout/CircleProcess"/>
    <dgm:cxn modelId="{C9E04117-A81D-4F63-8F3D-A9DD7D6F7BBB}" type="presParOf" srcId="{BD245AE2-37C9-420A-98C1-D4539EEA5A0E}" destId="{C339FDEB-A0DB-4CD6-91F5-27038C09F98D}" srcOrd="9" destOrd="0" presId="urn:microsoft.com/office/officeart/2011/layout/CircleProcess"/>
    <dgm:cxn modelId="{AC683958-9BD9-4DE4-BD2B-91566AFE9CB5}" type="presParOf" srcId="{C339FDEB-A0DB-4CD6-91F5-27038C09F98D}" destId="{0609BF30-1FC0-4BE5-8BAB-EA15F06125F7}" srcOrd="0" destOrd="0" presId="urn:microsoft.com/office/officeart/2011/layout/CircleProcess"/>
    <dgm:cxn modelId="{A4BBE717-8AED-485F-8D68-F920915AEECA}" type="presParOf" srcId="{BD245AE2-37C9-420A-98C1-D4539EEA5A0E}" destId="{7828BB23-6F01-485D-A353-1FD6A3D05ECF}" srcOrd="10" destOrd="0" presId="urn:microsoft.com/office/officeart/2011/layout/CircleProcess"/>
    <dgm:cxn modelId="{B95ABCC6-A12A-4600-90A3-DBF24FDA90CB}" type="presParOf" srcId="{7828BB23-6F01-485D-A353-1FD6A3D05ECF}" destId="{44E2752F-ABD9-4670-BF1A-0DE08CF4691A}" srcOrd="0" destOrd="0" presId="urn:microsoft.com/office/officeart/2011/layout/CircleProcess"/>
    <dgm:cxn modelId="{0E07B1A7-70C9-4C24-B3C3-836799B66B7C}" type="presParOf" srcId="{BD245AE2-37C9-420A-98C1-D4539EEA5A0E}" destId="{47E97A79-52EE-47EB-9681-CA58C1A39A2B}" srcOrd="11" destOrd="0" presId="urn:microsoft.com/office/officeart/2011/layout/CircleProcess"/>
    <dgm:cxn modelId="{03DD28D6-9BE0-402A-AE43-98E06B57F810}" type="presParOf" srcId="{BD245AE2-37C9-420A-98C1-D4539EEA5A0E}" destId="{0D490472-AFC0-4C5E-8656-42BF31B531B5}" srcOrd="12" destOrd="0" presId="urn:microsoft.com/office/officeart/2011/layout/CircleProcess"/>
    <dgm:cxn modelId="{6F9093DC-25E5-46A6-B6C1-08278E90159D}" type="presParOf" srcId="{0D490472-AFC0-4C5E-8656-42BF31B531B5}" destId="{A7D5AEF3-A6A6-4C37-970C-4BF7D166C117}" srcOrd="0" destOrd="0" presId="urn:microsoft.com/office/officeart/2011/layout/CircleProcess"/>
    <dgm:cxn modelId="{8A9FF050-71C7-4B44-9C1E-163B3AC6C402}" type="presParOf" srcId="{BD245AE2-37C9-420A-98C1-D4539EEA5A0E}" destId="{3F014948-F666-4DAA-8599-72B1144F2477}" srcOrd="13" destOrd="0" presId="urn:microsoft.com/office/officeart/2011/layout/CircleProcess"/>
    <dgm:cxn modelId="{3E4DBB5C-3ED5-40E6-9177-01F2C5F8751F}" type="presParOf" srcId="{3F014948-F666-4DAA-8599-72B1144F2477}" destId="{A159E263-37F2-427C-9FC0-CC640AC62F6B}" srcOrd="0" destOrd="0" presId="urn:microsoft.com/office/officeart/2011/layout/CircleProcess"/>
    <dgm:cxn modelId="{DAFAC07B-F2A6-45D3-AA88-4C443D649FF2}" type="presParOf" srcId="{BD245AE2-37C9-420A-98C1-D4539EEA5A0E}" destId="{8ADB416D-4758-4DB3-BD86-F88736FDA2D2}" srcOrd="14"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1399F8-186C-4380-BE07-10366FA56CEA}">
      <dsp:nvSpPr>
        <dsp:cNvPr id="0" name=""/>
        <dsp:cNvSpPr/>
      </dsp:nvSpPr>
      <dsp:spPr>
        <a:xfrm>
          <a:off x="61379" y="1419220"/>
          <a:ext cx="1438374" cy="1167727"/>
        </a:xfrm>
        <a:prstGeom prst="roundRect">
          <a:avLst>
            <a:gd name="adj" fmla="val 10000"/>
          </a:avLst>
        </a:prstGeom>
        <a:blipFill>
          <a:blip xmlns:r="http://schemas.openxmlformats.org/officeDocument/2006/relationships" r:embed="rId1"/>
          <a:srcRect/>
          <a:stretch>
            <a:fillRect/>
          </a:stretch>
        </a:blip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sp>
    <dsp:sp modelId="{A5F9A1EC-D84C-4670-88C8-165A1C01292D}">
      <dsp:nvSpPr>
        <dsp:cNvPr id="0" name=""/>
        <dsp:cNvSpPr/>
      </dsp:nvSpPr>
      <dsp:spPr>
        <a:xfrm>
          <a:off x="175" y="2371642"/>
          <a:ext cx="2076028" cy="1740798"/>
        </a:xfrm>
        <a:prstGeom prst="roundRect">
          <a:avLst>
            <a:gd name="adj" fmla="val 10000"/>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dirty="0">
              <a:solidFill>
                <a:schemeClr val="tx1"/>
              </a:solidFill>
            </a:rPr>
            <a:t>Polygon Mapping </a:t>
          </a:r>
        </a:p>
        <a:p>
          <a:pPr marL="114300" lvl="1" indent="-114300" algn="l" defTabSz="533400">
            <a:lnSpc>
              <a:spcPct val="90000"/>
            </a:lnSpc>
            <a:spcBef>
              <a:spcPct val="0"/>
            </a:spcBef>
            <a:spcAft>
              <a:spcPct val="15000"/>
            </a:spcAft>
            <a:buChar char="•"/>
          </a:pPr>
          <a:r>
            <a:rPr lang="en-IN" sz="1200" kern="1200" dirty="0">
              <a:solidFill>
                <a:schemeClr val="tx1"/>
              </a:solidFill>
            </a:rPr>
            <a:t>Discovering areas with low restaurant coverage or lower # of outlets in a 5-10km radius</a:t>
          </a:r>
        </a:p>
        <a:p>
          <a:pPr marL="114300" lvl="1" indent="-114300" algn="l" defTabSz="533400">
            <a:lnSpc>
              <a:spcPct val="90000"/>
            </a:lnSpc>
            <a:spcBef>
              <a:spcPct val="0"/>
            </a:spcBef>
            <a:spcAft>
              <a:spcPct val="15000"/>
            </a:spcAft>
            <a:buChar char="•"/>
          </a:pPr>
          <a:r>
            <a:rPr lang="en-IN" sz="1200" kern="1200" dirty="0">
              <a:solidFill>
                <a:schemeClr val="tx1"/>
              </a:solidFill>
            </a:rPr>
            <a:t>Supply demand gap in food delivery </a:t>
          </a:r>
        </a:p>
      </dsp:txBody>
      <dsp:txXfrm>
        <a:off x="51161" y="2422628"/>
        <a:ext cx="1974056" cy="1638826"/>
      </dsp:txXfrm>
    </dsp:sp>
    <dsp:sp modelId="{8C947B88-C598-4FEF-979A-F3EEDB01C8CF}">
      <dsp:nvSpPr>
        <dsp:cNvPr id="0" name=""/>
        <dsp:cNvSpPr/>
      </dsp:nvSpPr>
      <dsp:spPr>
        <a:xfrm rot="83056">
          <a:off x="2090918" y="1720215"/>
          <a:ext cx="481275" cy="418289"/>
        </a:xfrm>
        <a:prstGeom prst="rightArrow">
          <a:avLst>
            <a:gd name="adj1" fmla="val 60000"/>
            <a:gd name="adj2" fmla="val 50000"/>
          </a:avLst>
        </a:prstGeom>
        <a:solidFill>
          <a:schemeClr val="bg1">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2090936" y="1802357"/>
        <a:ext cx="355788" cy="250973"/>
      </dsp:txXfrm>
    </dsp:sp>
    <dsp:sp modelId="{CA6A621F-3E40-4A28-946B-0E861C0B8A4A}">
      <dsp:nvSpPr>
        <dsp:cNvPr id="0" name=""/>
        <dsp:cNvSpPr/>
      </dsp:nvSpPr>
      <dsp:spPr>
        <a:xfrm>
          <a:off x="2749454" y="1354233"/>
          <a:ext cx="1440938" cy="1427676"/>
        </a:xfrm>
        <a:prstGeom prst="roundRect">
          <a:avLst>
            <a:gd name="adj" fmla="val 10000"/>
          </a:avLst>
        </a:prstGeom>
        <a:blipFill>
          <a:blip xmlns:r="http://schemas.openxmlformats.org/officeDocument/2006/relationships" r:embed="rId2"/>
          <a:srcRect/>
          <a:stretch>
            <a:fillRect/>
          </a:stretch>
        </a:blip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sp>
    <dsp:sp modelId="{5CB827DC-BD9D-47DC-B5B6-9CB28ADFE1C4}">
      <dsp:nvSpPr>
        <dsp:cNvPr id="0" name=""/>
        <dsp:cNvSpPr/>
      </dsp:nvSpPr>
      <dsp:spPr>
        <a:xfrm>
          <a:off x="2689532" y="2436629"/>
          <a:ext cx="2076028" cy="1740798"/>
        </a:xfrm>
        <a:prstGeom prst="roundRect">
          <a:avLst>
            <a:gd name="adj" fmla="val 10000"/>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dirty="0">
              <a:solidFill>
                <a:schemeClr val="tx1"/>
              </a:solidFill>
            </a:rPr>
            <a:t>Demand Forecasting</a:t>
          </a:r>
        </a:p>
        <a:p>
          <a:pPr marL="114300" lvl="1" indent="-114300" algn="l" defTabSz="533400">
            <a:lnSpc>
              <a:spcPct val="90000"/>
            </a:lnSpc>
            <a:spcBef>
              <a:spcPct val="0"/>
            </a:spcBef>
            <a:spcAft>
              <a:spcPct val="15000"/>
            </a:spcAft>
            <a:buChar char="•"/>
          </a:pPr>
          <a:r>
            <a:rPr lang="en-IN" sz="1200" kern="1200" dirty="0">
              <a:solidFill>
                <a:schemeClr val="tx1"/>
              </a:solidFill>
            </a:rPr>
            <a:t>Passive Demand Forecasting using historical sales data</a:t>
          </a:r>
        </a:p>
        <a:p>
          <a:pPr marL="114300" lvl="1" indent="-114300" algn="l" defTabSz="533400">
            <a:lnSpc>
              <a:spcPct val="90000"/>
            </a:lnSpc>
            <a:spcBef>
              <a:spcPct val="0"/>
            </a:spcBef>
            <a:spcAft>
              <a:spcPct val="15000"/>
            </a:spcAft>
            <a:buChar char="•"/>
          </a:pPr>
          <a:r>
            <a:rPr lang="en-IN" sz="1200" kern="1200" dirty="0">
              <a:solidFill>
                <a:schemeClr val="tx1"/>
              </a:solidFill>
            </a:rPr>
            <a:t>Short-term projections for next 3-12 months</a:t>
          </a:r>
        </a:p>
        <a:p>
          <a:pPr marL="114300" lvl="1" indent="-114300" algn="l" defTabSz="533400">
            <a:lnSpc>
              <a:spcPct val="90000"/>
            </a:lnSpc>
            <a:spcBef>
              <a:spcPct val="0"/>
            </a:spcBef>
            <a:spcAft>
              <a:spcPct val="15000"/>
            </a:spcAft>
            <a:buChar char="•"/>
          </a:pPr>
          <a:r>
            <a:rPr lang="en-IN" sz="1200" kern="1200" dirty="0">
              <a:solidFill>
                <a:schemeClr val="tx1"/>
              </a:solidFill>
            </a:rPr>
            <a:t>Long term projections for  next 4-5 years</a:t>
          </a:r>
        </a:p>
        <a:p>
          <a:pPr marL="114300" lvl="1" indent="-114300" algn="l" defTabSz="533400">
            <a:lnSpc>
              <a:spcPct val="90000"/>
            </a:lnSpc>
            <a:spcBef>
              <a:spcPct val="0"/>
            </a:spcBef>
            <a:spcAft>
              <a:spcPct val="15000"/>
            </a:spcAft>
            <a:buChar char="•"/>
          </a:pPr>
          <a:r>
            <a:rPr lang="en-IN" sz="1200" kern="1200" dirty="0">
              <a:solidFill>
                <a:schemeClr val="tx1"/>
              </a:solidFill>
            </a:rPr>
            <a:t>Internal business forecasting</a:t>
          </a:r>
        </a:p>
      </dsp:txBody>
      <dsp:txXfrm>
        <a:off x="2740518" y="2487615"/>
        <a:ext cx="1974056" cy="1638826"/>
      </dsp:txXfrm>
    </dsp:sp>
    <dsp:sp modelId="{2F943CF6-8A49-4383-9128-89990DBA3E67}">
      <dsp:nvSpPr>
        <dsp:cNvPr id="0" name=""/>
        <dsp:cNvSpPr/>
      </dsp:nvSpPr>
      <dsp:spPr>
        <a:xfrm rot="21591074">
          <a:off x="4608116" y="1693883"/>
          <a:ext cx="483683" cy="418289"/>
        </a:xfrm>
        <a:prstGeom prst="rightArrow">
          <a:avLst>
            <a:gd name="adj1" fmla="val 60000"/>
            <a:gd name="adj2" fmla="val 50000"/>
          </a:avLst>
        </a:prstGeom>
        <a:solidFill>
          <a:schemeClr val="bg1">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4608116" y="1777704"/>
        <a:ext cx="358196" cy="250973"/>
      </dsp:txXfrm>
    </dsp:sp>
    <dsp:sp modelId="{CE5936E5-4EE0-45AB-BB83-233DB4F69579}">
      <dsp:nvSpPr>
        <dsp:cNvPr id="0" name=""/>
        <dsp:cNvSpPr/>
      </dsp:nvSpPr>
      <dsp:spPr>
        <a:xfrm>
          <a:off x="5446707" y="1361216"/>
          <a:ext cx="1425144" cy="1399744"/>
        </a:xfrm>
        <a:prstGeom prst="roundRect">
          <a:avLst>
            <a:gd name="adj" fmla="val 10000"/>
          </a:avLst>
        </a:prstGeom>
        <a:blipFill>
          <a:blip xmlns:r="http://schemas.openxmlformats.org/officeDocument/2006/relationships" r:embed="rId3"/>
          <a:srcRect/>
          <a:stretch>
            <a:fillRect/>
          </a:stretch>
        </a:blip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sp>
    <dsp:sp modelId="{E7B50AF3-09B9-4E3F-8FCB-46A2A7C97F0A}">
      <dsp:nvSpPr>
        <dsp:cNvPr id="0" name=""/>
        <dsp:cNvSpPr/>
      </dsp:nvSpPr>
      <dsp:spPr>
        <a:xfrm>
          <a:off x="5378888" y="2429646"/>
          <a:ext cx="2076028" cy="1740798"/>
        </a:xfrm>
        <a:prstGeom prst="roundRect">
          <a:avLst>
            <a:gd name="adj" fmla="val 10000"/>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dirty="0">
              <a:solidFill>
                <a:schemeClr val="tx1"/>
              </a:solidFill>
            </a:rPr>
            <a:t>Selection of cuisines</a:t>
          </a:r>
        </a:p>
        <a:p>
          <a:pPr marL="114300" lvl="1" indent="-114300" algn="l" defTabSz="533400">
            <a:lnSpc>
              <a:spcPct val="90000"/>
            </a:lnSpc>
            <a:spcBef>
              <a:spcPct val="0"/>
            </a:spcBef>
            <a:spcAft>
              <a:spcPct val="15000"/>
            </a:spcAft>
            <a:buChar char="•"/>
          </a:pPr>
          <a:r>
            <a:rPr lang="en-IN" sz="1200" kern="1200" dirty="0">
              <a:solidFill>
                <a:schemeClr val="tx1"/>
              </a:solidFill>
            </a:rPr>
            <a:t>Areas chosen</a:t>
          </a:r>
        </a:p>
        <a:p>
          <a:pPr marL="114300" lvl="1" indent="-114300" algn="l" defTabSz="533400">
            <a:lnSpc>
              <a:spcPct val="90000"/>
            </a:lnSpc>
            <a:spcBef>
              <a:spcPct val="0"/>
            </a:spcBef>
            <a:spcAft>
              <a:spcPct val="15000"/>
            </a:spcAft>
            <a:buChar char="•"/>
          </a:pPr>
          <a:r>
            <a:rPr lang="en-IN" sz="1200" kern="1200" dirty="0">
              <a:solidFill>
                <a:schemeClr val="tx1"/>
              </a:solidFill>
            </a:rPr>
            <a:t>Food tastes</a:t>
          </a:r>
        </a:p>
        <a:p>
          <a:pPr marL="114300" lvl="1" indent="-114300" algn="l" defTabSz="533400">
            <a:lnSpc>
              <a:spcPct val="90000"/>
            </a:lnSpc>
            <a:spcBef>
              <a:spcPct val="0"/>
            </a:spcBef>
            <a:spcAft>
              <a:spcPct val="15000"/>
            </a:spcAft>
            <a:buChar char="•"/>
          </a:pPr>
          <a:r>
            <a:rPr lang="en-IN" sz="1200" kern="1200" dirty="0">
              <a:solidFill>
                <a:schemeClr val="tx1"/>
              </a:solidFill>
            </a:rPr>
            <a:t>Consumer preferences</a:t>
          </a:r>
        </a:p>
        <a:p>
          <a:pPr marL="114300" lvl="1" indent="-114300" algn="l" defTabSz="533400">
            <a:lnSpc>
              <a:spcPct val="90000"/>
            </a:lnSpc>
            <a:spcBef>
              <a:spcPct val="0"/>
            </a:spcBef>
            <a:spcAft>
              <a:spcPct val="15000"/>
            </a:spcAft>
            <a:buChar char="•"/>
          </a:pPr>
          <a:r>
            <a:rPr lang="en-IN" sz="1200" kern="1200" dirty="0">
              <a:solidFill>
                <a:schemeClr val="tx1"/>
              </a:solidFill>
            </a:rPr>
            <a:t>Specific cuisines having high demand</a:t>
          </a:r>
        </a:p>
      </dsp:txBody>
      <dsp:txXfrm>
        <a:off x="5429874" y="2480632"/>
        <a:ext cx="1974056" cy="1638826"/>
      </dsp:txXfrm>
    </dsp:sp>
    <dsp:sp modelId="{34CC0682-BA06-471F-8B7E-3ED848C96DF7}">
      <dsp:nvSpPr>
        <dsp:cNvPr id="0" name=""/>
        <dsp:cNvSpPr/>
      </dsp:nvSpPr>
      <dsp:spPr>
        <a:xfrm rot="21564029">
          <a:off x="7344426" y="1693869"/>
          <a:ext cx="498005" cy="418289"/>
        </a:xfrm>
        <a:prstGeom prst="rightArrow">
          <a:avLst>
            <a:gd name="adj1" fmla="val 60000"/>
            <a:gd name="adj2" fmla="val 50000"/>
          </a:avLst>
        </a:prstGeom>
        <a:solidFill>
          <a:schemeClr val="bg1">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7344429" y="1778184"/>
        <a:ext cx="372518" cy="250973"/>
      </dsp:txXfrm>
    </dsp:sp>
    <dsp:sp modelId="{B0CCF031-7A24-4ABA-89D2-4564BE0BA92A}">
      <dsp:nvSpPr>
        <dsp:cNvPr id="0" name=""/>
        <dsp:cNvSpPr/>
      </dsp:nvSpPr>
      <dsp:spPr>
        <a:xfrm>
          <a:off x="8165301" y="1389357"/>
          <a:ext cx="1366669" cy="1287178"/>
        </a:xfrm>
        <a:prstGeom prst="roundRect">
          <a:avLst>
            <a:gd name="adj" fmla="val 10000"/>
          </a:avLst>
        </a:prstGeom>
        <a:blipFill>
          <a:blip xmlns:r="http://schemas.openxmlformats.org/officeDocument/2006/relationships" r:embed="rId4"/>
          <a:srcRect/>
          <a:stretch>
            <a:fillRect/>
          </a:stretch>
        </a:blip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sp>
    <dsp:sp modelId="{A266DA4C-0DF8-4DE7-BD2B-3836861E3F63}">
      <dsp:nvSpPr>
        <dsp:cNvPr id="0" name=""/>
        <dsp:cNvSpPr/>
      </dsp:nvSpPr>
      <dsp:spPr>
        <a:xfrm>
          <a:off x="8068245" y="2401505"/>
          <a:ext cx="2076028" cy="1740798"/>
        </a:xfrm>
        <a:prstGeom prst="roundRect">
          <a:avLst>
            <a:gd name="adj" fmla="val 10000"/>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dirty="0">
              <a:solidFill>
                <a:schemeClr val="tx1"/>
              </a:solidFill>
            </a:rPr>
            <a:t>Building Brands</a:t>
          </a:r>
        </a:p>
        <a:p>
          <a:pPr marL="0" lvl="0" indent="0" algn="l" defTabSz="533400">
            <a:lnSpc>
              <a:spcPct val="90000"/>
            </a:lnSpc>
            <a:spcBef>
              <a:spcPct val="0"/>
            </a:spcBef>
            <a:spcAft>
              <a:spcPct val="35000"/>
            </a:spcAft>
            <a:buNone/>
          </a:pPr>
          <a:r>
            <a:rPr lang="en-IN" sz="1200" kern="1200" dirty="0">
              <a:solidFill>
                <a:schemeClr val="tx1"/>
              </a:solidFill>
            </a:rPr>
            <a:t>Conveying a differentiated factor in each cuisine</a:t>
          </a:r>
        </a:p>
        <a:p>
          <a:pPr marL="0" lvl="0" indent="0" algn="l" defTabSz="533400">
            <a:lnSpc>
              <a:spcPct val="90000"/>
            </a:lnSpc>
            <a:spcBef>
              <a:spcPct val="0"/>
            </a:spcBef>
            <a:spcAft>
              <a:spcPct val="35000"/>
            </a:spcAft>
            <a:buNone/>
          </a:pPr>
          <a:r>
            <a:rPr lang="en-IN" sz="1200" kern="1200" dirty="0">
              <a:solidFill>
                <a:schemeClr val="tx1"/>
              </a:solidFill>
            </a:rPr>
            <a:t>Customer perception for each specific cuisine as a separate brand/entity</a:t>
          </a:r>
        </a:p>
        <a:p>
          <a:pPr marL="0" lvl="0" indent="0" algn="l" defTabSz="533400">
            <a:lnSpc>
              <a:spcPct val="90000"/>
            </a:lnSpc>
            <a:spcBef>
              <a:spcPct val="0"/>
            </a:spcBef>
            <a:spcAft>
              <a:spcPct val="35000"/>
            </a:spcAft>
            <a:buNone/>
          </a:pPr>
          <a:endParaRPr lang="en-IN" sz="1200" kern="1200" dirty="0">
            <a:solidFill>
              <a:schemeClr val="tx1"/>
            </a:solidFill>
          </a:endParaRPr>
        </a:p>
      </dsp:txBody>
      <dsp:txXfrm>
        <a:off x="8119231" y="2452491"/>
        <a:ext cx="1974056" cy="16388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5BA28-8384-4E35-8AEE-96AE264ED40D}">
      <dsp:nvSpPr>
        <dsp:cNvPr id="0" name=""/>
        <dsp:cNvSpPr/>
      </dsp:nvSpPr>
      <dsp:spPr>
        <a:xfrm>
          <a:off x="9635818" y="1803271"/>
          <a:ext cx="2197123" cy="219748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B653E9-2799-4C4F-AA21-E54D0C4482D3}">
      <dsp:nvSpPr>
        <dsp:cNvPr id="0" name=""/>
        <dsp:cNvSpPr/>
      </dsp:nvSpPr>
      <dsp:spPr>
        <a:xfrm>
          <a:off x="9708314" y="1876533"/>
          <a:ext cx="2050959" cy="2050958"/>
        </a:xfrm>
        <a:prstGeom prst="ellipse">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dirty="0"/>
            <a:t>Release</a:t>
          </a:r>
        </a:p>
      </dsp:txBody>
      <dsp:txXfrm>
        <a:off x="10001810" y="2169582"/>
        <a:ext cx="1465138" cy="1464859"/>
      </dsp:txXfrm>
    </dsp:sp>
    <dsp:sp modelId="{3622CD8A-F58E-4088-872F-E93A23D6AE4C}">
      <dsp:nvSpPr>
        <dsp:cNvPr id="0" name=""/>
        <dsp:cNvSpPr/>
      </dsp:nvSpPr>
      <dsp:spPr>
        <a:xfrm rot="2700000">
          <a:off x="7363986" y="1803385"/>
          <a:ext cx="2196868" cy="2196868"/>
        </a:xfrm>
        <a:prstGeom prst="teardrop">
          <a:avLst>
            <a:gd name="adj" fmla="val 10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7FEB31-0EB5-4FDC-963F-74FD71740FCA}">
      <dsp:nvSpPr>
        <dsp:cNvPr id="0" name=""/>
        <dsp:cNvSpPr/>
      </dsp:nvSpPr>
      <dsp:spPr>
        <a:xfrm>
          <a:off x="7438695" y="1876533"/>
          <a:ext cx="2050959" cy="2050958"/>
        </a:xfrm>
        <a:prstGeom prst="ellipse">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dirty="0"/>
            <a:t>Awareness</a:t>
          </a:r>
        </a:p>
      </dsp:txBody>
      <dsp:txXfrm>
        <a:off x="7731021" y="2169582"/>
        <a:ext cx="1465138" cy="1464859"/>
      </dsp:txXfrm>
    </dsp:sp>
    <dsp:sp modelId="{C66B54D2-8270-4319-8583-01A381B87E53}">
      <dsp:nvSpPr>
        <dsp:cNvPr id="0" name=""/>
        <dsp:cNvSpPr/>
      </dsp:nvSpPr>
      <dsp:spPr>
        <a:xfrm rot="2700000">
          <a:off x="5094366" y="1803385"/>
          <a:ext cx="2196868" cy="2196868"/>
        </a:xfrm>
        <a:prstGeom prst="teardrop">
          <a:avLst>
            <a:gd name="adj" fmla="val 1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91A3D1-6479-4BA0-BD2A-05EB7EFF7AF6}">
      <dsp:nvSpPr>
        <dsp:cNvPr id="0" name=""/>
        <dsp:cNvSpPr/>
      </dsp:nvSpPr>
      <dsp:spPr>
        <a:xfrm>
          <a:off x="5167905" y="1876533"/>
          <a:ext cx="2050959" cy="2050958"/>
        </a:xfrm>
        <a:prstGeom prst="ellipse">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dirty="0"/>
            <a:t>Improvement</a:t>
          </a:r>
        </a:p>
      </dsp:txBody>
      <dsp:txXfrm>
        <a:off x="5460231" y="2169582"/>
        <a:ext cx="1465138" cy="1464859"/>
      </dsp:txXfrm>
    </dsp:sp>
    <dsp:sp modelId="{0609BF30-1FC0-4BE5-8BAB-EA15F06125F7}">
      <dsp:nvSpPr>
        <dsp:cNvPr id="0" name=""/>
        <dsp:cNvSpPr/>
      </dsp:nvSpPr>
      <dsp:spPr>
        <a:xfrm rot="2700000">
          <a:off x="2823577" y="1803385"/>
          <a:ext cx="2196868" cy="2196868"/>
        </a:xfrm>
        <a:prstGeom prst="teardrop">
          <a:avLst>
            <a:gd name="adj" fmla="val 10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E2752F-ABD9-4670-BF1A-0DE08CF4691A}">
      <dsp:nvSpPr>
        <dsp:cNvPr id="0" name=""/>
        <dsp:cNvSpPr/>
      </dsp:nvSpPr>
      <dsp:spPr>
        <a:xfrm>
          <a:off x="2897116" y="1876533"/>
          <a:ext cx="2050959" cy="2050958"/>
        </a:xfrm>
        <a:prstGeom prst="ellipse">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dirty="0"/>
            <a:t>A/B Testing</a:t>
          </a:r>
        </a:p>
      </dsp:txBody>
      <dsp:txXfrm>
        <a:off x="3190612" y="2169582"/>
        <a:ext cx="1465138" cy="1464859"/>
      </dsp:txXfrm>
    </dsp:sp>
    <dsp:sp modelId="{A7D5AEF3-A6A6-4C37-970C-4BF7D166C117}">
      <dsp:nvSpPr>
        <dsp:cNvPr id="0" name=""/>
        <dsp:cNvSpPr/>
      </dsp:nvSpPr>
      <dsp:spPr>
        <a:xfrm rot="2700000">
          <a:off x="552788" y="1803385"/>
          <a:ext cx="2196868" cy="2196868"/>
        </a:xfrm>
        <a:prstGeom prst="teardrop">
          <a:avLst>
            <a:gd name="adj" fmla="val 1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59E263-37F2-427C-9FC0-CC640AC62F6B}">
      <dsp:nvSpPr>
        <dsp:cNvPr id="0" name=""/>
        <dsp:cNvSpPr/>
      </dsp:nvSpPr>
      <dsp:spPr>
        <a:xfrm>
          <a:off x="626327" y="1876533"/>
          <a:ext cx="2050959" cy="2050958"/>
        </a:xfrm>
        <a:prstGeom prst="ellipse">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IN" sz="2000" kern="1200" dirty="0"/>
            <a:t>Feature Development</a:t>
          </a:r>
        </a:p>
      </dsp:txBody>
      <dsp:txXfrm>
        <a:off x="919822" y="2169582"/>
        <a:ext cx="1465138" cy="146485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F3E0D-9943-3496-DA2F-9DE41FE2CA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3988B7A-EEC9-A2F2-8E11-02E67F57E3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85B16E-33A1-BFE1-B3A6-4AEA8B911CC2}"/>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5" name="Footer Placeholder 4">
            <a:extLst>
              <a:ext uri="{FF2B5EF4-FFF2-40B4-BE49-F238E27FC236}">
                <a16:creationId xmlns:a16="http://schemas.microsoft.com/office/drawing/2014/main" id="{BE9FB433-0F9A-CA0E-5F6A-9E95D2596D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852A9C-9EA3-7F6F-3338-B56B92F84F66}"/>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3023786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444CC-591A-0B80-A293-C6A8455C12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A1F86F-B8C7-7132-30C4-650D298B5C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75ABCA-6A90-81E0-FB3D-41459B1E193F}"/>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5" name="Footer Placeholder 4">
            <a:extLst>
              <a:ext uri="{FF2B5EF4-FFF2-40B4-BE49-F238E27FC236}">
                <a16:creationId xmlns:a16="http://schemas.microsoft.com/office/drawing/2014/main" id="{816A9282-D0E2-FBC5-E940-B7F4AE9628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6AF22B-F128-E539-461B-5EE4B5135777}"/>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610486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5B7E8-3B3D-B853-D300-695D81F8E9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AD5F92-FE7E-2C26-69AF-789A561C7A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102BDF-7B2B-9019-2B76-49D705E903C8}"/>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5" name="Footer Placeholder 4">
            <a:extLst>
              <a:ext uri="{FF2B5EF4-FFF2-40B4-BE49-F238E27FC236}">
                <a16:creationId xmlns:a16="http://schemas.microsoft.com/office/drawing/2014/main" id="{24735C22-1BBF-4DF6-83E8-D8EABE004B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896D17-02D0-FD96-1275-17031799F040}"/>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2710448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309CA-5249-60E4-E20E-0B92056896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B5963B-B04D-BA48-C5AE-EB163C5EA6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DCD879-716D-3F82-4450-F18B102C69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7A7FB8-FAF5-D650-7CC1-751A01659282}"/>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6" name="Footer Placeholder 5">
            <a:extLst>
              <a:ext uri="{FF2B5EF4-FFF2-40B4-BE49-F238E27FC236}">
                <a16:creationId xmlns:a16="http://schemas.microsoft.com/office/drawing/2014/main" id="{63CF12C2-2DE3-A102-5D6B-8065BD81E4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3AA23E-55E5-53B9-3D34-5312E3135CB3}"/>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3168791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55F9A-37E5-0127-1CED-B93CDB42F5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D4535B-D44C-7B59-32E6-33C4FC2F53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48CDA1-8F3B-44C3-B292-098934DF79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ACA42F-8A51-04A8-DFDE-D683740B15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E4C6F7-26E8-D46F-E2CB-F3E738075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24B3EB-CC26-6D13-6B4D-A7166E272C48}"/>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8" name="Footer Placeholder 7">
            <a:extLst>
              <a:ext uri="{FF2B5EF4-FFF2-40B4-BE49-F238E27FC236}">
                <a16:creationId xmlns:a16="http://schemas.microsoft.com/office/drawing/2014/main" id="{BCDF74D2-9F70-2495-2C29-D3FFEB56B9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08EE6F-99FF-6585-BC84-92607C3AF5FE}"/>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352379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9AAF-3FB8-C2C5-9B8F-D6DF1CD986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DA7D4F-6995-B94F-2E4F-225616EF317D}"/>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4" name="Footer Placeholder 3">
            <a:extLst>
              <a:ext uri="{FF2B5EF4-FFF2-40B4-BE49-F238E27FC236}">
                <a16:creationId xmlns:a16="http://schemas.microsoft.com/office/drawing/2014/main" id="{C1CB647E-576A-2E9B-2D51-F13E630823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4AA9884-5E8A-75AC-40AF-5536DEB806D4}"/>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2384737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4FE269-A041-8386-DBCF-5DE58362E2CC}"/>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3" name="Footer Placeholder 2">
            <a:extLst>
              <a:ext uri="{FF2B5EF4-FFF2-40B4-BE49-F238E27FC236}">
                <a16:creationId xmlns:a16="http://schemas.microsoft.com/office/drawing/2014/main" id="{F7700C27-F602-6975-5984-CEE53B85F3B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9231C2-E58D-82AF-9A3B-73A4919FBC74}"/>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703016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4F18-CFD2-C862-9FCA-7ED2AA331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69200A-1689-82AB-9BEB-026A11C5B8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CB27C1-8798-FC0B-725F-E540745E28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FA4AE0-4B1B-3EDB-3798-D714B50A1830}"/>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6" name="Footer Placeholder 5">
            <a:extLst>
              <a:ext uri="{FF2B5EF4-FFF2-40B4-BE49-F238E27FC236}">
                <a16:creationId xmlns:a16="http://schemas.microsoft.com/office/drawing/2014/main" id="{72EA10EC-94D1-3BA7-9A1F-6E7673CC1B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2B2791-2E50-146F-B23B-5DF0CAD33419}"/>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3783053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C2386-7248-18AE-865C-2A4A34CD1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7A5C9B-96D6-C322-EF0A-D139385EAA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CA1BEF-9137-1ED9-B77D-731E2139C9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EBF0CF-DE02-84AE-91FA-4C4FF61E3D6E}"/>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6" name="Footer Placeholder 5">
            <a:extLst>
              <a:ext uri="{FF2B5EF4-FFF2-40B4-BE49-F238E27FC236}">
                <a16:creationId xmlns:a16="http://schemas.microsoft.com/office/drawing/2014/main" id="{43CB84D7-EE1F-A391-9A04-EB90D0A243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9D363F-0964-9B5F-FCDD-E780878D4375}"/>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3514707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03E5-649C-E11F-15C3-3F2B2E00F2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70FA9F-8E30-F370-7984-51D969DD5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9DCA27-C478-D882-BE68-87417B14512E}"/>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5" name="Footer Placeholder 4">
            <a:extLst>
              <a:ext uri="{FF2B5EF4-FFF2-40B4-BE49-F238E27FC236}">
                <a16:creationId xmlns:a16="http://schemas.microsoft.com/office/drawing/2014/main" id="{A8E35902-B477-7239-0129-3C5929A57B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330B2B-910F-C925-AF37-16F34F7359FA}"/>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310908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CCACE3-D995-51F0-5230-5D9AB917B9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EC2C84-46D0-F931-8176-BF7917C1AB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42D24C-4D21-64E4-B793-B535ED32D8A2}"/>
              </a:ext>
            </a:extLst>
          </p:cNvPr>
          <p:cNvSpPr>
            <a:spLocks noGrp="1"/>
          </p:cNvSpPr>
          <p:nvPr>
            <p:ph type="dt" sz="half" idx="10"/>
          </p:nvPr>
        </p:nvSpPr>
        <p:spPr/>
        <p:txBody>
          <a:bodyPr/>
          <a:lstStyle/>
          <a:p>
            <a:fld id="{77FDCF37-1ECF-4286-B9AA-FE366FB747A1}" type="datetimeFigureOut">
              <a:rPr lang="en-IN" smtClean="0"/>
              <a:t>03-08-2022</a:t>
            </a:fld>
            <a:endParaRPr lang="en-IN"/>
          </a:p>
        </p:txBody>
      </p:sp>
      <p:sp>
        <p:nvSpPr>
          <p:cNvPr id="5" name="Footer Placeholder 4">
            <a:extLst>
              <a:ext uri="{FF2B5EF4-FFF2-40B4-BE49-F238E27FC236}">
                <a16:creationId xmlns:a16="http://schemas.microsoft.com/office/drawing/2014/main" id="{783582BC-4323-DC6D-C6BB-DC8F46645C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8AF638-27D4-8025-AD1D-37CEFED03C90}"/>
              </a:ext>
            </a:extLst>
          </p:cNvPr>
          <p:cNvSpPr>
            <a:spLocks noGrp="1"/>
          </p:cNvSpPr>
          <p:nvPr>
            <p:ph type="sldNum" sz="quarter" idx="12"/>
          </p:nvPr>
        </p:nvSpPr>
        <p:spPr/>
        <p:txBody>
          <a:bodyPr/>
          <a:lstStyle/>
          <a:p>
            <a:fld id="{AF298D7C-3E8C-4EA6-BF9C-96C4291C7694}" type="slidenum">
              <a:rPr lang="en-IN" smtClean="0"/>
              <a:t>‹#›</a:t>
            </a:fld>
            <a:endParaRPr lang="en-IN"/>
          </a:p>
        </p:txBody>
      </p:sp>
    </p:spTree>
    <p:extLst>
      <p:ext uri="{BB962C8B-B14F-4D97-AF65-F5344CB8AC3E}">
        <p14:creationId xmlns:p14="http://schemas.microsoft.com/office/powerpoint/2010/main" val="97928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BBC67C-FB3B-3616-7B22-FD824EDB19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97E31F-BD32-7C52-C141-1A691FC54D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579324-B8ED-3BC1-933B-0233166F83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FDCF37-1ECF-4286-B9AA-FE366FB747A1}" type="datetimeFigureOut">
              <a:rPr lang="en-IN" smtClean="0"/>
              <a:t>03-08-2022</a:t>
            </a:fld>
            <a:endParaRPr lang="en-IN"/>
          </a:p>
        </p:txBody>
      </p:sp>
      <p:sp>
        <p:nvSpPr>
          <p:cNvPr id="5" name="Footer Placeholder 4">
            <a:extLst>
              <a:ext uri="{FF2B5EF4-FFF2-40B4-BE49-F238E27FC236}">
                <a16:creationId xmlns:a16="http://schemas.microsoft.com/office/drawing/2014/main" id="{CC021A4F-09F4-BB61-9B9D-5EEA9E7E0D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7C36F7-CB1A-ACA7-6288-1D0346C672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98D7C-3E8C-4EA6-BF9C-96C4291C7694}" type="slidenum">
              <a:rPr lang="en-IN" smtClean="0"/>
              <a:t>‹#›</a:t>
            </a:fld>
            <a:endParaRPr lang="en-IN"/>
          </a:p>
        </p:txBody>
      </p:sp>
    </p:spTree>
    <p:extLst>
      <p:ext uri="{BB962C8B-B14F-4D97-AF65-F5344CB8AC3E}">
        <p14:creationId xmlns:p14="http://schemas.microsoft.com/office/powerpoint/2010/main" val="1013898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jpe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image" Target="../media/image32.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6E125F-3A26-40E8-190A-AD97B03FCAC3}"/>
              </a:ext>
            </a:extLst>
          </p:cNvPr>
          <p:cNvSpPr/>
          <p:nvPr/>
        </p:nvSpPr>
        <p:spPr>
          <a:xfrm>
            <a:off x="0" y="0"/>
            <a:ext cx="700729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194" name="Picture 2" descr="Zomato App--Find Food Based on In-Depth Reviews of the Menu">
            <a:extLst>
              <a:ext uri="{FF2B5EF4-FFF2-40B4-BE49-F238E27FC236}">
                <a16:creationId xmlns:a16="http://schemas.microsoft.com/office/drawing/2014/main" id="{AC799F20-E4AB-078B-C2D6-80DBEB78E0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90" y="1724025"/>
            <a:ext cx="5184710" cy="2831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6C8508-1397-1C42-F485-361835775938}"/>
              </a:ext>
            </a:extLst>
          </p:cNvPr>
          <p:cNvSpPr txBox="1"/>
          <p:nvPr/>
        </p:nvSpPr>
        <p:spPr>
          <a:xfrm>
            <a:off x="716126" y="4463132"/>
            <a:ext cx="3687796" cy="400110"/>
          </a:xfrm>
          <a:prstGeom prst="rect">
            <a:avLst/>
          </a:prstGeom>
          <a:noFill/>
        </p:spPr>
        <p:txBody>
          <a:bodyPr wrap="square" rtlCol="0">
            <a:spAutoFit/>
          </a:bodyPr>
          <a:lstStyle/>
          <a:p>
            <a:r>
              <a:rPr lang="en-IN" sz="2000" dirty="0">
                <a:latin typeface="Metropolis" panose="00000500000000000000" pitchFamily="50" charset="0"/>
              </a:rPr>
              <a:t>Kajal Gupta (Team Leader)</a:t>
            </a:r>
          </a:p>
        </p:txBody>
      </p:sp>
      <p:sp>
        <p:nvSpPr>
          <p:cNvPr id="6" name="TextBox 5">
            <a:extLst>
              <a:ext uri="{FF2B5EF4-FFF2-40B4-BE49-F238E27FC236}">
                <a16:creationId xmlns:a16="http://schemas.microsoft.com/office/drawing/2014/main" id="{ABD365E3-CC9B-5421-13A2-4ABE096E2807}"/>
              </a:ext>
            </a:extLst>
          </p:cNvPr>
          <p:cNvSpPr txBox="1"/>
          <p:nvPr/>
        </p:nvSpPr>
        <p:spPr>
          <a:xfrm>
            <a:off x="724678" y="5029202"/>
            <a:ext cx="2463281" cy="400110"/>
          </a:xfrm>
          <a:prstGeom prst="rect">
            <a:avLst/>
          </a:prstGeom>
          <a:noFill/>
        </p:spPr>
        <p:txBody>
          <a:bodyPr wrap="square" rtlCol="0">
            <a:spAutoFit/>
          </a:bodyPr>
          <a:lstStyle/>
          <a:p>
            <a:r>
              <a:rPr lang="en-IN" sz="2000" dirty="0">
                <a:latin typeface="Metropolis" panose="00000500000000000000" pitchFamily="50" charset="0"/>
              </a:rPr>
              <a:t>Mohit Kiradoo</a:t>
            </a:r>
          </a:p>
        </p:txBody>
      </p:sp>
      <p:sp>
        <p:nvSpPr>
          <p:cNvPr id="7" name="TextBox 6">
            <a:extLst>
              <a:ext uri="{FF2B5EF4-FFF2-40B4-BE49-F238E27FC236}">
                <a16:creationId xmlns:a16="http://schemas.microsoft.com/office/drawing/2014/main" id="{575E2285-093F-6769-3A12-B4309F6C7E26}"/>
              </a:ext>
            </a:extLst>
          </p:cNvPr>
          <p:cNvSpPr txBox="1"/>
          <p:nvPr/>
        </p:nvSpPr>
        <p:spPr>
          <a:xfrm>
            <a:off x="724678" y="5595272"/>
            <a:ext cx="2463281" cy="400110"/>
          </a:xfrm>
          <a:prstGeom prst="rect">
            <a:avLst/>
          </a:prstGeom>
          <a:noFill/>
        </p:spPr>
        <p:txBody>
          <a:bodyPr wrap="square" rtlCol="0">
            <a:spAutoFit/>
          </a:bodyPr>
          <a:lstStyle/>
          <a:p>
            <a:r>
              <a:rPr lang="en-IN" sz="2000" dirty="0">
                <a:latin typeface="Metropolis" panose="00000500000000000000" pitchFamily="50" charset="0"/>
              </a:rPr>
              <a:t>Devesh Sinha</a:t>
            </a:r>
          </a:p>
        </p:txBody>
      </p:sp>
      <p:pic>
        <p:nvPicPr>
          <p:cNvPr id="8196" name="Picture 4" descr="Manager ">
            <a:extLst>
              <a:ext uri="{FF2B5EF4-FFF2-40B4-BE49-F238E27FC236}">
                <a16:creationId xmlns:a16="http://schemas.microsoft.com/office/drawing/2014/main" id="{62D794D9-B67C-710C-BCA5-9C3FC6F14B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68" y="4404044"/>
            <a:ext cx="451758" cy="451758"/>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Boss ">
            <a:extLst>
              <a:ext uri="{FF2B5EF4-FFF2-40B4-BE49-F238E27FC236}">
                <a16:creationId xmlns:a16="http://schemas.microsoft.com/office/drawing/2014/main" id="{4C4712C7-D21B-60C7-1D3D-4406AB10D5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368" y="4946776"/>
            <a:ext cx="451758" cy="4517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Boss ">
            <a:extLst>
              <a:ext uri="{FF2B5EF4-FFF2-40B4-BE49-F238E27FC236}">
                <a16:creationId xmlns:a16="http://schemas.microsoft.com/office/drawing/2014/main" id="{C8431045-99B0-DC21-61EC-73F22FA106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368" y="5489508"/>
            <a:ext cx="451758" cy="45175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0B3FDD-47A1-ABE3-6A13-B5AA72B02996}"/>
              </a:ext>
            </a:extLst>
          </p:cNvPr>
          <p:cNvSpPr txBox="1"/>
          <p:nvPr/>
        </p:nvSpPr>
        <p:spPr>
          <a:xfrm>
            <a:off x="180394" y="3880112"/>
            <a:ext cx="6733590" cy="369332"/>
          </a:xfrm>
          <a:prstGeom prst="rect">
            <a:avLst/>
          </a:prstGeom>
          <a:solidFill>
            <a:schemeClr val="bg1">
              <a:lumMod val="50000"/>
            </a:schemeClr>
          </a:solidFill>
        </p:spPr>
        <p:txBody>
          <a:bodyPr wrap="square" rtlCol="0">
            <a:spAutoFit/>
          </a:bodyPr>
          <a:lstStyle/>
          <a:p>
            <a:r>
              <a:rPr lang="en-IN" b="1" dirty="0">
                <a:latin typeface="Metropolis" panose="00000500000000000000" pitchFamily="50" charset="0"/>
              </a:rPr>
              <a:t>Team SORTED, T. A. Pai Management Institute, Manipal</a:t>
            </a:r>
          </a:p>
        </p:txBody>
      </p:sp>
      <p:pic>
        <p:nvPicPr>
          <p:cNvPr id="10" name="Picture 9">
            <a:extLst>
              <a:ext uri="{FF2B5EF4-FFF2-40B4-BE49-F238E27FC236}">
                <a16:creationId xmlns:a16="http://schemas.microsoft.com/office/drawing/2014/main" id="{54511D78-1AB8-3E43-1603-EEADE40A3C4D}"/>
              </a:ext>
            </a:extLst>
          </p:cNvPr>
          <p:cNvPicPr>
            <a:picLocks noChangeAspect="1"/>
          </p:cNvPicPr>
          <p:nvPr/>
        </p:nvPicPr>
        <p:blipFill rotWithShape="1">
          <a:blip r:embed="rId5"/>
          <a:srcRect t="2965"/>
          <a:stretch/>
        </p:blipFill>
        <p:spPr>
          <a:xfrm>
            <a:off x="2292999" y="613374"/>
            <a:ext cx="2110923" cy="606361"/>
          </a:xfrm>
          <a:prstGeom prst="rect">
            <a:avLst/>
          </a:prstGeom>
        </p:spPr>
      </p:pic>
      <p:sp>
        <p:nvSpPr>
          <p:cNvPr id="12" name="TextBox 11">
            <a:extLst>
              <a:ext uri="{FF2B5EF4-FFF2-40B4-BE49-F238E27FC236}">
                <a16:creationId xmlns:a16="http://schemas.microsoft.com/office/drawing/2014/main" id="{8C8454D5-121B-7976-B87A-B1DB1DF14502}"/>
              </a:ext>
            </a:extLst>
          </p:cNvPr>
          <p:cNvSpPr txBox="1"/>
          <p:nvPr/>
        </p:nvSpPr>
        <p:spPr>
          <a:xfrm>
            <a:off x="180393" y="1833109"/>
            <a:ext cx="6240624" cy="1077218"/>
          </a:xfrm>
          <a:prstGeom prst="rect">
            <a:avLst/>
          </a:prstGeom>
          <a:noFill/>
        </p:spPr>
        <p:txBody>
          <a:bodyPr wrap="square" rtlCol="0">
            <a:spAutoFit/>
          </a:bodyPr>
          <a:lstStyle/>
          <a:p>
            <a:pPr algn="ctr"/>
            <a:r>
              <a:rPr lang="en-IN" sz="3200" dirty="0"/>
              <a:t>PRODIFY</a:t>
            </a:r>
          </a:p>
          <a:p>
            <a:pPr algn="ctr"/>
            <a:r>
              <a:rPr lang="en-IN" sz="3200" dirty="0"/>
              <a:t>Product Management Case Comp</a:t>
            </a:r>
          </a:p>
        </p:txBody>
      </p:sp>
      <p:pic>
        <p:nvPicPr>
          <p:cNvPr id="8204" name="Picture 12" descr="IIM Lucknow - IIM Lucknow Logo - &quot;Suprabandhe Rashtra Samriddhi&quot; | Facebook">
            <a:extLst>
              <a:ext uri="{FF2B5EF4-FFF2-40B4-BE49-F238E27FC236}">
                <a16:creationId xmlns:a16="http://schemas.microsoft.com/office/drawing/2014/main" id="{3ACFE7C1-BC32-723E-5A33-359C7AAB44B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2063" t="15550" r="14773" b="8804"/>
          <a:stretch/>
        </p:blipFill>
        <p:spPr bwMode="auto">
          <a:xfrm>
            <a:off x="5220092" y="352594"/>
            <a:ext cx="1252633" cy="1123147"/>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EE75CDE-EC9F-2534-2C06-C027965C8398}"/>
              </a:ext>
            </a:extLst>
          </p:cNvPr>
          <p:cNvSpPr txBox="1"/>
          <p:nvPr/>
        </p:nvSpPr>
        <p:spPr>
          <a:xfrm>
            <a:off x="7015842" y="4629923"/>
            <a:ext cx="5184710" cy="923330"/>
          </a:xfrm>
          <a:prstGeom prst="rect">
            <a:avLst/>
          </a:prstGeom>
          <a:noFill/>
        </p:spPr>
        <p:txBody>
          <a:bodyPr wrap="square">
            <a:spAutoFit/>
          </a:bodyPr>
          <a:lstStyle/>
          <a:p>
            <a:pPr algn="ctr"/>
            <a:r>
              <a:rPr lang="en-US" b="1" i="1" dirty="0">
                <a:latin typeface="Metropolis" panose="00000500000000000000" pitchFamily="50" charset="0"/>
              </a:rPr>
              <a:t>INCREASE AVERAGE REVENUE PER USER</a:t>
            </a:r>
          </a:p>
          <a:p>
            <a:pPr algn="ctr"/>
            <a:r>
              <a:rPr lang="en-US" b="1" i="1" dirty="0">
                <a:latin typeface="Metropolis" panose="00000500000000000000" pitchFamily="50" charset="0"/>
              </a:rPr>
              <a:t>Should Zomato venture to Grocery or Cloud Kitchen?</a:t>
            </a:r>
            <a:endParaRPr lang="en-IN" b="1" i="1" dirty="0">
              <a:latin typeface="Metropolis" panose="00000500000000000000" pitchFamily="50" charset="0"/>
            </a:endParaRPr>
          </a:p>
        </p:txBody>
      </p:sp>
      <p:pic>
        <p:nvPicPr>
          <p:cNvPr id="15" name="Picture 14">
            <a:extLst>
              <a:ext uri="{FF2B5EF4-FFF2-40B4-BE49-F238E27FC236}">
                <a16:creationId xmlns:a16="http://schemas.microsoft.com/office/drawing/2014/main" id="{21C7D04F-2215-A78A-78CC-5D34E8C7DE89}"/>
              </a:ext>
            </a:extLst>
          </p:cNvPr>
          <p:cNvPicPr>
            <a:picLocks noChangeAspect="1"/>
          </p:cNvPicPr>
          <p:nvPr/>
        </p:nvPicPr>
        <p:blipFill>
          <a:blip r:embed="rId7"/>
          <a:stretch>
            <a:fillRect/>
          </a:stretch>
        </p:blipFill>
        <p:spPr>
          <a:xfrm>
            <a:off x="490247" y="373101"/>
            <a:ext cx="1120237" cy="1082134"/>
          </a:xfrm>
          <a:prstGeom prst="rect">
            <a:avLst/>
          </a:prstGeom>
        </p:spPr>
      </p:pic>
    </p:spTree>
    <p:extLst>
      <p:ext uri="{BB962C8B-B14F-4D97-AF65-F5344CB8AC3E}">
        <p14:creationId xmlns:p14="http://schemas.microsoft.com/office/powerpoint/2010/main" val="3612849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EA0AC0BE-1E7A-C8A6-37F9-E289290B8C75}"/>
              </a:ext>
            </a:extLst>
          </p:cNvPr>
          <p:cNvSpPr/>
          <p:nvPr/>
        </p:nvSpPr>
        <p:spPr>
          <a:xfrm>
            <a:off x="111967" y="610142"/>
            <a:ext cx="11949679" cy="185802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2" name="Group 51">
            <a:extLst>
              <a:ext uri="{FF2B5EF4-FFF2-40B4-BE49-F238E27FC236}">
                <a16:creationId xmlns:a16="http://schemas.microsoft.com/office/drawing/2014/main" id="{E0FC1281-223D-9682-9C0A-3849CE876678}"/>
              </a:ext>
            </a:extLst>
          </p:cNvPr>
          <p:cNvGrpSpPr/>
          <p:nvPr/>
        </p:nvGrpSpPr>
        <p:grpSpPr>
          <a:xfrm>
            <a:off x="359970" y="748026"/>
            <a:ext cx="5503604" cy="1648324"/>
            <a:chOff x="251926" y="513184"/>
            <a:chExt cx="5503604" cy="1648324"/>
          </a:xfrm>
        </p:grpSpPr>
        <p:grpSp>
          <p:nvGrpSpPr>
            <p:cNvPr id="48" name="Group 47">
              <a:extLst>
                <a:ext uri="{FF2B5EF4-FFF2-40B4-BE49-F238E27FC236}">
                  <a16:creationId xmlns:a16="http://schemas.microsoft.com/office/drawing/2014/main" id="{FAB26037-2F26-F77F-5189-D042E5DBBAAC}"/>
                </a:ext>
              </a:extLst>
            </p:cNvPr>
            <p:cNvGrpSpPr/>
            <p:nvPr/>
          </p:nvGrpSpPr>
          <p:grpSpPr>
            <a:xfrm>
              <a:off x="251926" y="513184"/>
              <a:ext cx="2481943" cy="769441"/>
              <a:chOff x="251926" y="513184"/>
              <a:chExt cx="2481943" cy="769441"/>
            </a:xfrm>
          </p:grpSpPr>
          <p:pic>
            <p:nvPicPr>
              <p:cNvPr id="2050" name="Picture 2" descr="Growth ">
                <a:extLst>
                  <a:ext uri="{FF2B5EF4-FFF2-40B4-BE49-F238E27FC236}">
                    <a16:creationId xmlns:a16="http://schemas.microsoft.com/office/drawing/2014/main" id="{A3A4C1A6-EE6A-48B6-A7A2-1002B5C68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26" y="614264"/>
                <a:ext cx="587829" cy="58782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DA255B8-7A33-9AEA-1706-56F16D7D9B55}"/>
                  </a:ext>
                </a:extLst>
              </p:cNvPr>
              <p:cNvSpPr txBox="1"/>
              <p:nvPr/>
            </p:nvSpPr>
            <p:spPr>
              <a:xfrm>
                <a:off x="970384" y="513184"/>
                <a:ext cx="1763485" cy="769441"/>
              </a:xfrm>
              <a:prstGeom prst="rect">
                <a:avLst/>
              </a:prstGeom>
              <a:noFill/>
            </p:spPr>
            <p:txBody>
              <a:bodyPr wrap="square" rtlCol="0">
                <a:spAutoFit/>
              </a:bodyPr>
              <a:lstStyle/>
              <a:p>
                <a:r>
                  <a:rPr lang="en-IN" sz="1200" dirty="0"/>
                  <a:t>Market will ACCELERATE at a CAGR of</a:t>
                </a:r>
              </a:p>
              <a:p>
                <a:r>
                  <a:rPr lang="en-IN" sz="2000" dirty="0"/>
                  <a:t>20.52% </a:t>
                </a:r>
              </a:p>
            </p:txBody>
          </p:sp>
        </p:grpSp>
        <p:grpSp>
          <p:nvGrpSpPr>
            <p:cNvPr id="50" name="Group 49">
              <a:extLst>
                <a:ext uri="{FF2B5EF4-FFF2-40B4-BE49-F238E27FC236}">
                  <a16:creationId xmlns:a16="http://schemas.microsoft.com/office/drawing/2014/main" id="{23E18660-E947-880A-96C6-FC0215EEF656}"/>
                </a:ext>
              </a:extLst>
            </p:cNvPr>
            <p:cNvGrpSpPr/>
            <p:nvPr/>
          </p:nvGrpSpPr>
          <p:grpSpPr>
            <a:xfrm>
              <a:off x="438538" y="614264"/>
              <a:ext cx="4478595" cy="1470300"/>
              <a:chOff x="438538" y="614264"/>
              <a:chExt cx="4478595" cy="1470300"/>
            </a:xfrm>
          </p:grpSpPr>
          <p:grpSp>
            <p:nvGrpSpPr>
              <p:cNvPr id="9" name="Group 8">
                <a:extLst>
                  <a:ext uri="{FF2B5EF4-FFF2-40B4-BE49-F238E27FC236}">
                    <a16:creationId xmlns:a16="http://schemas.microsoft.com/office/drawing/2014/main" id="{8B869E53-89A4-8A97-8EAB-A662389EC3BE}"/>
                  </a:ext>
                </a:extLst>
              </p:cNvPr>
              <p:cNvGrpSpPr/>
              <p:nvPr/>
            </p:nvGrpSpPr>
            <p:grpSpPr>
              <a:xfrm>
                <a:off x="438538" y="1436915"/>
                <a:ext cx="466531" cy="587830"/>
                <a:chOff x="438538" y="1436914"/>
                <a:chExt cx="639153" cy="746449"/>
              </a:xfrm>
            </p:grpSpPr>
            <p:sp>
              <p:nvSpPr>
                <p:cNvPr id="3" name="Rectangle 2">
                  <a:extLst>
                    <a:ext uri="{FF2B5EF4-FFF2-40B4-BE49-F238E27FC236}">
                      <a16:creationId xmlns:a16="http://schemas.microsoft.com/office/drawing/2014/main" id="{D5887541-0DF6-8002-4EA7-BE7D092D1E85}"/>
                    </a:ext>
                  </a:extLst>
                </p:cNvPr>
                <p:cNvSpPr/>
                <p:nvPr/>
              </p:nvSpPr>
              <p:spPr>
                <a:xfrm>
                  <a:off x="438538" y="1838131"/>
                  <a:ext cx="177281" cy="34523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5E84BCC-9354-9F33-9B60-6187566BFA0E}"/>
                    </a:ext>
                  </a:extLst>
                </p:cNvPr>
                <p:cNvSpPr/>
                <p:nvPr/>
              </p:nvSpPr>
              <p:spPr>
                <a:xfrm>
                  <a:off x="900410" y="1595534"/>
                  <a:ext cx="177281" cy="58782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CFD7109C-105C-EE46-7D02-90776E363467}"/>
                    </a:ext>
                  </a:extLst>
                </p:cNvPr>
                <p:cNvCxnSpPr>
                  <a:cxnSpLocks/>
                </p:cNvCxnSpPr>
                <p:nvPr/>
              </p:nvCxnSpPr>
              <p:spPr>
                <a:xfrm flipV="1">
                  <a:off x="531845" y="1436914"/>
                  <a:ext cx="438539" cy="298580"/>
                </a:xfrm>
                <a:prstGeom prst="straightConnector1">
                  <a:avLst/>
                </a:prstGeom>
                <a:solidFill>
                  <a:schemeClr val="accent6">
                    <a:lumMod val="60000"/>
                    <a:lumOff val="40000"/>
                  </a:schemeClr>
                </a:solidFill>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9A63E376-6A79-E1BD-8C43-ED37DBBB32F4}"/>
                  </a:ext>
                </a:extLst>
              </p:cNvPr>
              <p:cNvSpPr txBox="1"/>
              <p:nvPr/>
            </p:nvSpPr>
            <p:spPr>
              <a:xfrm>
                <a:off x="970384" y="1515177"/>
                <a:ext cx="1542409" cy="569387"/>
              </a:xfrm>
              <a:prstGeom prst="rect">
                <a:avLst/>
              </a:prstGeom>
              <a:noFill/>
            </p:spPr>
            <p:txBody>
              <a:bodyPr wrap="square" rtlCol="0">
                <a:spAutoFit/>
              </a:bodyPr>
              <a:lstStyle/>
              <a:p>
                <a:r>
                  <a:rPr lang="en-IN" sz="1100" dirty="0"/>
                  <a:t>Incremental growth($B)</a:t>
                </a:r>
              </a:p>
              <a:p>
                <a:r>
                  <a:rPr lang="en-IN" sz="2000" dirty="0"/>
                  <a:t>4.74</a:t>
                </a:r>
              </a:p>
            </p:txBody>
          </p:sp>
          <p:grpSp>
            <p:nvGrpSpPr>
              <p:cNvPr id="49" name="Group 48">
                <a:extLst>
                  <a:ext uri="{FF2B5EF4-FFF2-40B4-BE49-F238E27FC236}">
                    <a16:creationId xmlns:a16="http://schemas.microsoft.com/office/drawing/2014/main" id="{1451869E-2986-3C13-C6EB-0D93BBAEC28E}"/>
                  </a:ext>
                </a:extLst>
              </p:cNvPr>
              <p:cNvGrpSpPr/>
              <p:nvPr/>
            </p:nvGrpSpPr>
            <p:grpSpPr>
              <a:xfrm>
                <a:off x="3097664" y="614264"/>
                <a:ext cx="1819469" cy="586301"/>
                <a:chOff x="3097664" y="614264"/>
                <a:chExt cx="1819469" cy="586301"/>
              </a:xfrm>
            </p:grpSpPr>
            <p:pic>
              <p:nvPicPr>
                <p:cNvPr id="2052" name="Picture 4" descr="Arrow up ">
                  <a:extLst>
                    <a:ext uri="{FF2B5EF4-FFF2-40B4-BE49-F238E27FC236}">
                      <a16:creationId xmlns:a16="http://schemas.microsoft.com/office/drawing/2014/main" id="{EFC47AF0-99D3-6D4A-84BE-698C722AA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664" y="614264"/>
                  <a:ext cx="514741" cy="51474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E4334A9-2B82-D0E8-A982-02D1429DEA89}"/>
                    </a:ext>
                  </a:extLst>
                </p:cNvPr>
                <p:cNvSpPr txBox="1"/>
                <p:nvPr/>
              </p:nvSpPr>
              <p:spPr>
                <a:xfrm>
                  <a:off x="3612405" y="615790"/>
                  <a:ext cx="1304728" cy="584775"/>
                </a:xfrm>
                <a:prstGeom prst="rect">
                  <a:avLst/>
                </a:prstGeom>
                <a:noFill/>
              </p:spPr>
              <p:txBody>
                <a:bodyPr wrap="square" rtlCol="0">
                  <a:spAutoFit/>
                </a:bodyPr>
                <a:lstStyle/>
                <a:p>
                  <a:r>
                    <a:rPr lang="en-IN" sz="1200" dirty="0"/>
                    <a:t>Growth for 2022</a:t>
                  </a:r>
                </a:p>
                <a:p>
                  <a:r>
                    <a:rPr lang="en-IN" sz="2000" dirty="0"/>
                    <a:t>19.20%</a:t>
                  </a:r>
                </a:p>
              </p:txBody>
            </p:sp>
          </p:grpSp>
        </p:grpSp>
        <p:grpSp>
          <p:nvGrpSpPr>
            <p:cNvPr id="51" name="Group 50">
              <a:extLst>
                <a:ext uri="{FF2B5EF4-FFF2-40B4-BE49-F238E27FC236}">
                  <a16:creationId xmlns:a16="http://schemas.microsoft.com/office/drawing/2014/main" id="{0CCEC860-5F4D-963D-E426-5F406D4CB792}"/>
                </a:ext>
              </a:extLst>
            </p:cNvPr>
            <p:cNvGrpSpPr/>
            <p:nvPr/>
          </p:nvGrpSpPr>
          <p:grpSpPr>
            <a:xfrm>
              <a:off x="2915238" y="1515177"/>
              <a:ext cx="2840292" cy="646331"/>
              <a:chOff x="2915238" y="1515177"/>
              <a:chExt cx="2840292" cy="646331"/>
            </a:xfrm>
          </p:grpSpPr>
          <p:pic>
            <p:nvPicPr>
              <p:cNvPr id="15" name="Picture 2" descr="Online Grocery Market in India: By Product and Payment Mode | Market Size,  Share &amp; Trends Analysis Report | Segment Forecasts 2022-2026">
                <a:extLst>
                  <a:ext uri="{FF2B5EF4-FFF2-40B4-BE49-F238E27FC236}">
                    <a16:creationId xmlns:a16="http://schemas.microsoft.com/office/drawing/2014/main" id="{6FADA905-D732-7EAC-4108-A835DB73B1B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315" t="77477" r="78015" b="5978"/>
              <a:stretch/>
            </p:blipFill>
            <p:spPr bwMode="auto">
              <a:xfrm>
                <a:off x="2915238" y="1621648"/>
                <a:ext cx="730141" cy="46291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36D72EB-1CDD-4CF2-7A6B-3C8DAF5F7578}"/>
                  </a:ext>
                </a:extLst>
              </p:cNvPr>
              <p:cNvSpPr txBox="1"/>
              <p:nvPr/>
            </p:nvSpPr>
            <p:spPr>
              <a:xfrm>
                <a:off x="3612405" y="1515177"/>
                <a:ext cx="2143125" cy="646331"/>
              </a:xfrm>
              <a:prstGeom prst="rect">
                <a:avLst/>
              </a:prstGeom>
              <a:noFill/>
            </p:spPr>
            <p:txBody>
              <a:bodyPr wrap="square" rtlCol="0">
                <a:spAutoFit/>
              </a:bodyPr>
              <a:lstStyle/>
              <a:p>
                <a:r>
                  <a:rPr lang="en-IN" sz="1200" dirty="0"/>
                  <a:t>The market is CONCENTRATED with few players occupying the market</a:t>
                </a:r>
              </a:p>
            </p:txBody>
          </p:sp>
        </p:grpSp>
      </p:grpSp>
      <p:grpSp>
        <p:nvGrpSpPr>
          <p:cNvPr id="27" name="Group 26">
            <a:extLst>
              <a:ext uri="{FF2B5EF4-FFF2-40B4-BE49-F238E27FC236}">
                <a16:creationId xmlns:a16="http://schemas.microsoft.com/office/drawing/2014/main" id="{754923CC-2C5C-F6EB-0FAB-F97853959252}"/>
              </a:ext>
            </a:extLst>
          </p:cNvPr>
          <p:cNvGrpSpPr/>
          <p:nvPr/>
        </p:nvGrpSpPr>
        <p:grpSpPr>
          <a:xfrm>
            <a:off x="6294270" y="778210"/>
            <a:ext cx="5526671" cy="1612216"/>
            <a:chOff x="7050103" y="758191"/>
            <a:chExt cx="5526671" cy="1612216"/>
          </a:xfrm>
        </p:grpSpPr>
        <p:grpSp>
          <p:nvGrpSpPr>
            <p:cNvPr id="22" name="Group 21">
              <a:extLst>
                <a:ext uri="{FF2B5EF4-FFF2-40B4-BE49-F238E27FC236}">
                  <a16:creationId xmlns:a16="http://schemas.microsoft.com/office/drawing/2014/main" id="{00B0A5EC-D77B-FF15-0EFB-79CFE02484B1}"/>
                </a:ext>
              </a:extLst>
            </p:cNvPr>
            <p:cNvGrpSpPr/>
            <p:nvPr/>
          </p:nvGrpSpPr>
          <p:grpSpPr>
            <a:xfrm>
              <a:off x="7050103" y="758191"/>
              <a:ext cx="2233856" cy="584776"/>
              <a:chOff x="7050103" y="758191"/>
              <a:chExt cx="2233856" cy="584776"/>
            </a:xfrm>
          </p:grpSpPr>
          <p:pic>
            <p:nvPicPr>
              <p:cNvPr id="2054" name="Picture 6" descr="Pie chart ">
                <a:extLst>
                  <a:ext uri="{FF2B5EF4-FFF2-40B4-BE49-F238E27FC236}">
                    <a16:creationId xmlns:a16="http://schemas.microsoft.com/office/drawing/2014/main" id="{3A41CB65-E54D-0D88-0F62-CE65C0C909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0103" y="758191"/>
                <a:ext cx="554346" cy="55434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BE1409B2-7A90-498A-43E6-D7B938323FC8}"/>
                  </a:ext>
                </a:extLst>
              </p:cNvPr>
              <p:cNvSpPr txBox="1"/>
              <p:nvPr/>
            </p:nvSpPr>
            <p:spPr>
              <a:xfrm>
                <a:off x="7679094" y="758192"/>
                <a:ext cx="1604865" cy="584775"/>
              </a:xfrm>
              <a:prstGeom prst="rect">
                <a:avLst/>
              </a:prstGeom>
              <a:noFill/>
            </p:spPr>
            <p:txBody>
              <a:bodyPr wrap="square" rtlCol="0">
                <a:spAutoFit/>
              </a:bodyPr>
              <a:lstStyle/>
              <a:p>
                <a:r>
                  <a:rPr lang="en-IN" sz="1200" dirty="0"/>
                  <a:t>Estimated Market Size</a:t>
                </a:r>
              </a:p>
              <a:p>
                <a:r>
                  <a:rPr lang="en-IN" sz="2000" dirty="0"/>
                  <a:t>$1.05B</a:t>
                </a:r>
              </a:p>
            </p:txBody>
          </p:sp>
        </p:grpSp>
        <p:grpSp>
          <p:nvGrpSpPr>
            <p:cNvPr id="25" name="Group 24">
              <a:extLst>
                <a:ext uri="{FF2B5EF4-FFF2-40B4-BE49-F238E27FC236}">
                  <a16:creationId xmlns:a16="http://schemas.microsoft.com/office/drawing/2014/main" id="{327F087F-3332-D46C-30B3-F0E722C705F3}"/>
                </a:ext>
              </a:extLst>
            </p:cNvPr>
            <p:cNvGrpSpPr/>
            <p:nvPr/>
          </p:nvGrpSpPr>
          <p:grpSpPr>
            <a:xfrm>
              <a:off x="7050103" y="793568"/>
              <a:ext cx="4735058" cy="1485309"/>
              <a:chOff x="7050103" y="793568"/>
              <a:chExt cx="4735058" cy="1485309"/>
            </a:xfrm>
          </p:grpSpPr>
          <p:grpSp>
            <p:nvGrpSpPr>
              <p:cNvPr id="24" name="Group 23">
                <a:extLst>
                  <a:ext uri="{FF2B5EF4-FFF2-40B4-BE49-F238E27FC236}">
                    <a16:creationId xmlns:a16="http://schemas.microsoft.com/office/drawing/2014/main" id="{4F616D56-50FC-58CB-224C-7E7617D51BF3}"/>
                  </a:ext>
                </a:extLst>
              </p:cNvPr>
              <p:cNvGrpSpPr/>
              <p:nvPr/>
            </p:nvGrpSpPr>
            <p:grpSpPr>
              <a:xfrm>
                <a:off x="9528013" y="793568"/>
                <a:ext cx="2257148" cy="584775"/>
                <a:chOff x="9528013" y="793568"/>
                <a:chExt cx="2257148" cy="584775"/>
              </a:xfrm>
            </p:grpSpPr>
            <p:pic>
              <p:nvPicPr>
                <p:cNvPr id="21" name="Picture 4" descr="Arrow up ">
                  <a:extLst>
                    <a:ext uri="{FF2B5EF4-FFF2-40B4-BE49-F238E27FC236}">
                      <a16:creationId xmlns:a16="http://schemas.microsoft.com/office/drawing/2014/main" id="{BBC98CED-D8EE-389C-C0A7-98C9BCC9E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8013" y="821912"/>
                  <a:ext cx="521056" cy="52105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D1A9800-3A3B-1D04-B482-750CEE5B42B6}"/>
                    </a:ext>
                  </a:extLst>
                </p:cNvPr>
                <p:cNvSpPr txBox="1"/>
                <p:nvPr/>
              </p:nvSpPr>
              <p:spPr>
                <a:xfrm>
                  <a:off x="10180296" y="793568"/>
                  <a:ext cx="1604865" cy="584775"/>
                </a:xfrm>
                <a:prstGeom prst="rect">
                  <a:avLst/>
                </a:prstGeom>
                <a:noFill/>
              </p:spPr>
              <p:txBody>
                <a:bodyPr wrap="square">
                  <a:spAutoFit/>
                </a:bodyPr>
                <a:lstStyle/>
                <a:p>
                  <a:r>
                    <a:rPr lang="en-IN" sz="1200" dirty="0"/>
                    <a:t>Growth rate</a:t>
                  </a:r>
                </a:p>
                <a:p>
                  <a:r>
                    <a:rPr lang="en-IN" sz="2000" dirty="0"/>
                    <a:t>12%</a:t>
                  </a:r>
                </a:p>
              </p:txBody>
            </p:sp>
          </p:grpSp>
          <p:pic>
            <p:nvPicPr>
              <p:cNvPr id="2056" name="Picture 8" descr="Market ">
                <a:extLst>
                  <a:ext uri="{FF2B5EF4-FFF2-40B4-BE49-F238E27FC236}">
                    <a16:creationId xmlns:a16="http://schemas.microsoft.com/office/drawing/2014/main" id="{51425791-3EAE-55A9-6FB7-3CAAAC14E2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50103" y="1690314"/>
                <a:ext cx="554346" cy="55434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E4911AA-13DE-992F-456B-D29254B9E380}"/>
                  </a:ext>
                </a:extLst>
              </p:cNvPr>
              <p:cNvSpPr txBox="1"/>
              <p:nvPr/>
            </p:nvSpPr>
            <p:spPr>
              <a:xfrm>
                <a:off x="7679094" y="1694102"/>
                <a:ext cx="1427584" cy="584775"/>
              </a:xfrm>
              <a:prstGeom prst="rect">
                <a:avLst/>
              </a:prstGeom>
              <a:noFill/>
            </p:spPr>
            <p:txBody>
              <a:bodyPr wrap="square" rtlCol="0">
                <a:spAutoFit/>
              </a:bodyPr>
              <a:lstStyle/>
              <a:p>
                <a:r>
                  <a:rPr lang="en-IN" sz="1200" dirty="0"/>
                  <a:t>Addressed Market</a:t>
                </a:r>
              </a:p>
              <a:p>
                <a:r>
                  <a:rPr lang="en-IN" sz="2000" dirty="0"/>
                  <a:t>$84Mn</a:t>
                </a:r>
              </a:p>
            </p:txBody>
          </p:sp>
        </p:grpSp>
        <p:grpSp>
          <p:nvGrpSpPr>
            <p:cNvPr id="26" name="Group 25">
              <a:extLst>
                <a:ext uri="{FF2B5EF4-FFF2-40B4-BE49-F238E27FC236}">
                  <a16:creationId xmlns:a16="http://schemas.microsoft.com/office/drawing/2014/main" id="{903085DD-4F45-1A92-C003-06C280C2218D}"/>
                </a:ext>
              </a:extLst>
            </p:cNvPr>
            <p:cNvGrpSpPr/>
            <p:nvPr/>
          </p:nvGrpSpPr>
          <p:grpSpPr>
            <a:xfrm>
              <a:off x="9354150" y="1724076"/>
              <a:ext cx="3222624" cy="646331"/>
              <a:chOff x="9354150" y="1724076"/>
              <a:chExt cx="3222624" cy="646331"/>
            </a:xfrm>
          </p:grpSpPr>
          <p:pic>
            <p:nvPicPr>
              <p:cNvPr id="2058" name="Picture 10" descr="Cloud Kitchen Market size to grow by USD 1.18 billion from 2019 to 2024 |  Advantages of Cloud Kitchens over Restaurants to Boost Market | 17000+  Technavio Reports">
                <a:extLst>
                  <a:ext uri="{FF2B5EF4-FFF2-40B4-BE49-F238E27FC236}">
                    <a16:creationId xmlns:a16="http://schemas.microsoft.com/office/drawing/2014/main" id="{C18F4E37-761B-300D-0F93-D5D677B4FB3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778" t="78072" r="78140" b="6928"/>
              <a:stretch/>
            </p:blipFill>
            <p:spPr bwMode="auto">
              <a:xfrm>
                <a:off x="9354150" y="1765519"/>
                <a:ext cx="868781" cy="484762"/>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35ABC815-58BE-F075-C3AD-DEE4BA9A5573}"/>
                  </a:ext>
                </a:extLst>
              </p:cNvPr>
              <p:cNvSpPr txBox="1"/>
              <p:nvPr/>
            </p:nvSpPr>
            <p:spPr>
              <a:xfrm>
                <a:off x="10209384" y="1724076"/>
                <a:ext cx="2367390" cy="646331"/>
              </a:xfrm>
              <a:prstGeom prst="rect">
                <a:avLst/>
              </a:prstGeom>
              <a:noFill/>
            </p:spPr>
            <p:txBody>
              <a:bodyPr wrap="square">
                <a:spAutoFit/>
              </a:bodyPr>
              <a:lstStyle/>
              <a:p>
                <a:r>
                  <a:rPr lang="en-IN" sz="1200" dirty="0"/>
                  <a:t>The market is FRAGMENTED with one established player(REBEL FOODS) and multiple small players</a:t>
                </a:r>
              </a:p>
            </p:txBody>
          </p:sp>
        </p:grpSp>
      </p:grpSp>
      <p:grpSp>
        <p:nvGrpSpPr>
          <p:cNvPr id="62" name="Group 61">
            <a:extLst>
              <a:ext uri="{FF2B5EF4-FFF2-40B4-BE49-F238E27FC236}">
                <a16:creationId xmlns:a16="http://schemas.microsoft.com/office/drawing/2014/main" id="{1C04D796-D416-3866-ECF2-01D0E1F4BC00}"/>
              </a:ext>
            </a:extLst>
          </p:cNvPr>
          <p:cNvGrpSpPr/>
          <p:nvPr/>
        </p:nvGrpSpPr>
        <p:grpSpPr>
          <a:xfrm>
            <a:off x="111967" y="2623840"/>
            <a:ext cx="11949679" cy="1261866"/>
            <a:chOff x="111967" y="2659224"/>
            <a:chExt cx="11949679" cy="1261866"/>
          </a:xfrm>
          <a:solidFill>
            <a:schemeClr val="bg1">
              <a:lumMod val="95000"/>
            </a:schemeClr>
          </a:solidFill>
        </p:grpSpPr>
        <p:sp>
          <p:nvSpPr>
            <p:cNvPr id="38" name="Rectangle: Rounded Corners 37">
              <a:extLst>
                <a:ext uri="{FF2B5EF4-FFF2-40B4-BE49-F238E27FC236}">
                  <a16:creationId xmlns:a16="http://schemas.microsoft.com/office/drawing/2014/main" id="{B17934ED-E53E-21CE-B8EE-E9674EA2B435}"/>
                </a:ext>
              </a:extLst>
            </p:cNvPr>
            <p:cNvSpPr/>
            <p:nvPr/>
          </p:nvSpPr>
          <p:spPr>
            <a:xfrm>
              <a:off x="111967" y="2659224"/>
              <a:ext cx="11949679" cy="1261866"/>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3" name="TextBox 32">
              <a:extLst>
                <a:ext uri="{FF2B5EF4-FFF2-40B4-BE49-F238E27FC236}">
                  <a16:creationId xmlns:a16="http://schemas.microsoft.com/office/drawing/2014/main" id="{05674109-2F4A-EBCB-E794-6033423E7FA6}"/>
                </a:ext>
              </a:extLst>
            </p:cNvPr>
            <p:cNvSpPr txBox="1"/>
            <p:nvPr/>
          </p:nvSpPr>
          <p:spPr>
            <a:xfrm>
              <a:off x="586601" y="2775926"/>
              <a:ext cx="5474321" cy="646331"/>
            </a:xfrm>
            <a:prstGeom prst="rect">
              <a:avLst/>
            </a:prstGeom>
            <a:grpFill/>
            <a:ln>
              <a:noFill/>
            </a:ln>
          </p:spPr>
          <p:txBody>
            <a:bodyPr wrap="square" rtlCol="0">
              <a:spAutoFit/>
            </a:bodyPr>
            <a:lstStyle/>
            <a:p>
              <a:r>
                <a:rPr lang="en-IN" sz="1200" dirty="0"/>
                <a:t>Grocery being considered as essential items, has a stagnant demand, with small upticks observed throughout the year. Hence, the demand for grocery items can be considered to be linear in nature.</a:t>
              </a:r>
            </a:p>
          </p:txBody>
        </p:sp>
        <p:pic>
          <p:nvPicPr>
            <p:cNvPr id="2060" name="Picture 12" descr="Linear regression ">
              <a:extLst>
                <a:ext uri="{FF2B5EF4-FFF2-40B4-BE49-F238E27FC236}">
                  <a16:creationId xmlns:a16="http://schemas.microsoft.com/office/drawing/2014/main" id="{FDBBE3B0-4505-6DB4-4006-EDAAE3519D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347" y="2852371"/>
              <a:ext cx="437585" cy="437585"/>
            </a:xfrm>
            <a:prstGeom prst="rect">
              <a:avLst/>
            </a:prstGeom>
            <a:grpFill/>
            <a:ln>
              <a:noFill/>
            </a:ln>
          </p:spPr>
        </p:pic>
        <p:pic>
          <p:nvPicPr>
            <p:cNvPr id="2062" name="Picture 14" descr="Chart ">
              <a:extLst>
                <a:ext uri="{FF2B5EF4-FFF2-40B4-BE49-F238E27FC236}">
                  <a16:creationId xmlns:a16="http://schemas.microsoft.com/office/drawing/2014/main" id="{252E63A6-381D-0C5C-EB03-DE1C93EBA4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1365" y="2849488"/>
              <a:ext cx="417278" cy="417278"/>
            </a:xfrm>
            <a:prstGeom prst="rect">
              <a:avLst/>
            </a:prstGeom>
            <a:grpFill/>
            <a:ln>
              <a:noFill/>
            </a:ln>
          </p:spPr>
        </p:pic>
        <p:sp>
          <p:nvSpPr>
            <p:cNvPr id="37" name="TextBox 36">
              <a:extLst>
                <a:ext uri="{FF2B5EF4-FFF2-40B4-BE49-F238E27FC236}">
                  <a16:creationId xmlns:a16="http://schemas.microsoft.com/office/drawing/2014/main" id="{CECC0A60-EB5E-B0AD-F883-A8CD994996A5}"/>
                </a:ext>
              </a:extLst>
            </p:cNvPr>
            <p:cNvSpPr txBox="1"/>
            <p:nvPr/>
          </p:nvSpPr>
          <p:spPr>
            <a:xfrm>
              <a:off x="6706965" y="2775926"/>
              <a:ext cx="5354681" cy="830997"/>
            </a:xfrm>
            <a:prstGeom prst="rect">
              <a:avLst/>
            </a:prstGeom>
            <a:noFill/>
            <a:ln>
              <a:noFill/>
            </a:ln>
          </p:spPr>
          <p:txBody>
            <a:bodyPr wrap="square" rtlCol="0">
              <a:spAutoFit/>
            </a:bodyPr>
            <a:lstStyle/>
            <a:p>
              <a:r>
                <a:rPr lang="en-IN" sz="1200" dirty="0"/>
                <a:t>Food &amp; Beverages industry runs on convenience and availability. Significant surge in demand in observed on multiple occasions like weekends, long holidays, festivals. Many restaurants have reported considerable profits even after almost no sales on normal working days. Hence, the demand is driven by seasonality.</a:t>
              </a:r>
            </a:p>
          </p:txBody>
        </p:sp>
        <p:sp>
          <p:nvSpPr>
            <p:cNvPr id="39" name="TextBox 38">
              <a:extLst>
                <a:ext uri="{FF2B5EF4-FFF2-40B4-BE49-F238E27FC236}">
                  <a16:creationId xmlns:a16="http://schemas.microsoft.com/office/drawing/2014/main" id="{1D074F96-6426-A66F-8157-9D1E67ADFB63}"/>
                </a:ext>
              </a:extLst>
            </p:cNvPr>
            <p:cNvSpPr txBox="1"/>
            <p:nvPr/>
          </p:nvSpPr>
          <p:spPr>
            <a:xfrm>
              <a:off x="158347" y="3613313"/>
              <a:ext cx="11613274" cy="307777"/>
            </a:xfrm>
            <a:prstGeom prst="rect">
              <a:avLst/>
            </a:prstGeom>
            <a:noFill/>
            <a:ln>
              <a:noFill/>
            </a:ln>
          </p:spPr>
          <p:txBody>
            <a:bodyPr wrap="square" rtlCol="0">
              <a:spAutoFit/>
            </a:bodyPr>
            <a:lstStyle/>
            <a:p>
              <a:pPr algn="ctr"/>
              <a:r>
                <a:rPr lang="en-IN" sz="1400" b="1" dirty="0"/>
                <a:t>Hence from the nature of demand POV, Zomato’s venture into cloud kitchen should be considered over grocery.</a:t>
              </a:r>
            </a:p>
          </p:txBody>
        </p:sp>
        <p:cxnSp>
          <p:nvCxnSpPr>
            <p:cNvPr id="43" name="Straight Connector 42">
              <a:extLst>
                <a:ext uri="{FF2B5EF4-FFF2-40B4-BE49-F238E27FC236}">
                  <a16:creationId xmlns:a16="http://schemas.microsoft.com/office/drawing/2014/main" id="{9EF3629B-F6A5-C3CB-8D1E-638B771DA543}"/>
                </a:ext>
              </a:extLst>
            </p:cNvPr>
            <p:cNvCxnSpPr>
              <a:cxnSpLocks/>
            </p:cNvCxnSpPr>
            <p:nvPr/>
          </p:nvCxnSpPr>
          <p:spPr>
            <a:xfrm flipH="1">
              <a:off x="6086806" y="2765957"/>
              <a:ext cx="9194" cy="847356"/>
            </a:xfrm>
            <a:prstGeom prst="line">
              <a:avLst/>
            </a:prstGeom>
            <a:grpFill/>
            <a:ln w="19050">
              <a:noFill/>
              <a:prstDash val="dash"/>
            </a:ln>
          </p:spPr>
          <p:style>
            <a:lnRef idx="1">
              <a:schemeClr val="accent1"/>
            </a:lnRef>
            <a:fillRef idx="0">
              <a:schemeClr val="accent1"/>
            </a:fillRef>
            <a:effectRef idx="0">
              <a:schemeClr val="accent1"/>
            </a:effectRef>
            <a:fontRef idx="minor">
              <a:schemeClr val="tx1"/>
            </a:fontRef>
          </p:style>
        </p:cxnSp>
      </p:grpSp>
      <p:cxnSp>
        <p:nvCxnSpPr>
          <p:cNvPr id="47" name="Straight Connector 46">
            <a:extLst>
              <a:ext uri="{FF2B5EF4-FFF2-40B4-BE49-F238E27FC236}">
                <a16:creationId xmlns:a16="http://schemas.microsoft.com/office/drawing/2014/main" id="{EEAB50D5-8E00-3507-4449-DCFD2516C48C}"/>
              </a:ext>
            </a:extLst>
          </p:cNvPr>
          <p:cNvCxnSpPr>
            <a:cxnSpLocks/>
          </p:cNvCxnSpPr>
          <p:nvPr/>
        </p:nvCxnSpPr>
        <p:spPr>
          <a:xfrm>
            <a:off x="6086806" y="682116"/>
            <a:ext cx="0" cy="1690079"/>
          </a:xfrm>
          <a:prstGeom prst="line">
            <a:avLst/>
          </a:prstGeom>
          <a:ln w="19050">
            <a:solidFill>
              <a:srgbClr val="CB202D"/>
            </a:solidFill>
            <a:prstDash val="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34784ED-EBB9-DE55-1020-5A36051737DB}"/>
              </a:ext>
            </a:extLst>
          </p:cNvPr>
          <p:cNvCxnSpPr>
            <a:cxnSpLocks/>
          </p:cNvCxnSpPr>
          <p:nvPr/>
        </p:nvCxnSpPr>
        <p:spPr>
          <a:xfrm>
            <a:off x="6060922" y="5408810"/>
            <a:ext cx="0" cy="1127676"/>
          </a:xfrm>
          <a:prstGeom prst="line">
            <a:avLst/>
          </a:prstGeom>
          <a:ln w="19050">
            <a:solidFill>
              <a:srgbClr val="CB202D"/>
            </a:solidFill>
            <a:prstDash val="dash"/>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C346DC42-B737-61A9-704E-334B3936442A}"/>
              </a:ext>
            </a:extLst>
          </p:cNvPr>
          <p:cNvGrpSpPr/>
          <p:nvPr/>
        </p:nvGrpSpPr>
        <p:grpSpPr>
          <a:xfrm>
            <a:off x="121299" y="4030824"/>
            <a:ext cx="11958734" cy="2794777"/>
            <a:chOff x="121299" y="4030824"/>
            <a:chExt cx="11958734" cy="2794777"/>
          </a:xfrm>
          <a:solidFill>
            <a:schemeClr val="bg1">
              <a:lumMod val="95000"/>
            </a:schemeClr>
          </a:solidFill>
        </p:grpSpPr>
        <p:sp>
          <p:nvSpPr>
            <p:cNvPr id="58" name="Rectangle: Rounded Corners 57">
              <a:extLst>
                <a:ext uri="{FF2B5EF4-FFF2-40B4-BE49-F238E27FC236}">
                  <a16:creationId xmlns:a16="http://schemas.microsoft.com/office/drawing/2014/main" id="{A63AB5B3-D02F-F6E3-1FE3-43D496CD767F}"/>
                </a:ext>
              </a:extLst>
            </p:cNvPr>
            <p:cNvSpPr/>
            <p:nvPr/>
          </p:nvSpPr>
          <p:spPr>
            <a:xfrm>
              <a:off x="121299" y="4030824"/>
              <a:ext cx="11940348" cy="277119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4" name="TextBox 33">
              <a:extLst>
                <a:ext uri="{FF2B5EF4-FFF2-40B4-BE49-F238E27FC236}">
                  <a16:creationId xmlns:a16="http://schemas.microsoft.com/office/drawing/2014/main" id="{AB15058A-E125-D962-92CA-DBAA363B5D77}"/>
                </a:ext>
              </a:extLst>
            </p:cNvPr>
            <p:cNvSpPr txBox="1"/>
            <p:nvPr/>
          </p:nvSpPr>
          <p:spPr>
            <a:xfrm>
              <a:off x="217237" y="6074821"/>
              <a:ext cx="5747747" cy="461665"/>
            </a:xfrm>
            <a:prstGeom prst="rect">
              <a:avLst/>
            </a:prstGeom>
            <a:grpFill/>
            <a:ln>
              <a:noFill/>
            </a:ln>
          </p:spPr>
          <p:txBody>
            <a:bodyPr wrap="square" rtlCol="0">
              <a:spAutoFit/>
            </a:bodyPr>
            <a:lstStyle/>
            <a:p>
              <a:r>
                <a:rPr lang="en-IN" sz="1200" b="1" dirty="0"/>
                <a:t>Inference: </a:t>
              </a:r>
              <a:r>
                <a:rPr lang="en-IN" sz="1200" dirty="0"/>
                <a:t>Grocery items being essential, user choices are very specific. Hence users are more likely to switch platforms, if not available.</a:t>
              </a:r>
            </a:p>
          </p:txBody>
        </p:sp>
        <p:sp>
          <p:nvSpPr>
            <p:cNvPr id="42" name="TextBox 41">
              <a:extLst>
                <a:ext uri="{FF2B5EF4-FFF2-40B4-BE49-F238E27FC236}">
                  <a16:creationId xmlns:a16="http://schemas.microsoft.com/office/drawing/2014/main" id="{987310EF-DA65-D71F-303F-87346FBD7C68}"/>
                </a:ext>
              </a:extLst>
            </p:cNvPr>
            <p:cNvSpPr txBox="1"/>
            <p:nvPr/>
          </p:nvSpPr>
          <p:spPr>
            <a:xfrm>
              <a:off x="6466697" y="6074821"/>
              <a:ext cx="5485817" cy="461665"/>
            </a:xfrm>
            <a:prstGeom prst="rect">
              <a:avLst/>
            </a:prstGeom>
            <a:grpFill/>
            <a:ln>
              <a:noFill/>
            </a:ln>
          </p:spPr>
          <p:txBody>
            <a:bodyPr wrap="square" rtlCol="0">
              <a:spAutoFit/>
            </a:bodyPr>
            <a:lstStyle/>
            <a:p>
              <a:r>
                <a:rPr lang="en-IN" sz="1200" b="1" dirty="0"/>
                <a:t>Inference: </a:t>
              </a:r>
              <a:r>
                <a:rPr lang="en-IN" sz="1200" dirty="0"/>
                <a:t>At the top of their mind, users usually do not have what they would like to have. Hence, choices are more driven by availability and price.</a:t>
              </a:r>
            </a:p>
          </p:txBody>
        </p:sp>
        <p:pic>
          <p:nvPicPr>
            <p:cNvPr id="2064" name="Picture 16" descr="Man ">
              <a:extLst>
                <a:ext uri="{FF2B5EF4-FFF2-40B4-BE49-F238E27FC236}">
                  <a16:creationId xmlns:a16="http://schemas.microsoft.com/office/drawing/2014/main" id="{2E8B1B16-4529-0979-C659-A08633D052A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06915" y="4115397"/>
              <a:ext cx="759782" cy="759782"/>
            </a:xfrm>
            <a:prstGeom prst="rect">
              <a:avLst/>
            </a:prstGeom>
            <a:grpFill/>
            <a:ln>
              <a:noFill/>
            </a:ln>
          </p:spPr>
        </p:pic>
        <p:sp>
          <p:nvSpPr>
            <p:cNvPr id="55" name="TextBox 54">
              <a:extLst>
                <a:ext uri="{FF2B5EF4-FFF2-40B4-BE49-F238E27FC236}">
                  <a16:creationId xmlns:a16="http://schemas.microsoft.com/office/drawing/2014/main" id="{FD1A6B4D-848D-9DBB-04E0-67F8C6635A48}"/>
                </a:ext>
              </a:extLst>
            </p:cNvPr>
            <p:cNvSpPr txBox="1"/>
            <p:nvPr/>
          </p:nvSpPr>
          <p:spPr>
            <a:xfrm>
              <a:off x="5081722" y="4837411"/>
              <a:ext cx="2010168" cy="461665"/>
            </a:xfrm>
            <a:prstGeom prst="rect">
              <a:avLst/>
            </a:prstGeom>
            <a:grpFill/>
            <a:ln>
              <a:noFill/>
            </a:ln>
          </p:spPr>
          <p:txBody>
            <a:bodyPr wrap="square" rtlCol="0">
              <a:spAutoFit/>
            </a:bodyPr>
            <a:lstStyle/>
            <a:p>
              <a:pPr algn="ctr"/>
              <a:r>
                <a:rPr lang="en-IN" sz="1200" b="1" dirty="0"/>
                <a:t>Arun Kumar</a:t>
              </a:r>
            </a:p>
            <a:p>
              <a:pPr algn="ctr"/>
              <a:r>
                <a:rPr lang="en-IN" sz="1200" b="1" dirty="0"/>
                <a:t>Working Professional, 27 yr</a:t>
              </a:r>
            </a:p>
          </p:txBody>
        </p:sp>
        <p:sp>
          <p:nvSpPr>
            <p:cNvPr id="56" name="TextBox 55">
              <a:extLst>
                <a:ext uri="{FF2B5EF4-FFF2-40B4-BE49-F238E27FC236}">
                  <a16:creationId xmlns:a16="http://schemas.microsoft.com/office/drawing/2014/main" id="{3C47CB1D-B9BC-198B-DBEF-43443A43EE0C}"/>
                </a:ext>
              </a:extLst>
            </p:cNvPr>
            <p:cNvSpPr txBox="1"/>
            <p:nvPr/>
          </p:nvSpPr>
          <p:spPr>
            <a:xfrm>
              <a:off x="158347" y="5343498"/>
              <a:ext cx="5747747" cy="646331"/>
            </a:xfrm>
            <a:prstGeom prst="rect">
              <a:avLst/>
            </a:prstGeom>
            <a:grpFill/>
            <a:ln>
              <a:noFill/>
            </a:ln>
          </p:spPr>
          <p:txBody>
            <a:bodyPr wrap="square" rtlCol="0">
              <a:spAutoFit/>
            </a:bodyPr>
            <a:lstStyle/>
            <a:p>
              <a:r>
                <a:rPr lang="en-IN" sz="1200" dirty="0"/>
                <a:t>After a long day at office, forgets to buy a pack of Amul Taaza from a local store. Gets back home, looks to order the same from online grocery business. Does not find it on Big Basket, switches to another app finds it there and orders it.</a:t>
              </a:r>
            </a:p>
          </p:txBody>
        </p:sp>
        <p:sp>
          <p:nvSpPr>
            <p:cNvPr id="57" name="TextBox 56">
              <a:extLst>
                <a:ext uri="{FF2B5EF4-FFF2-40B4-BE49-F238E27FC236}">
                  <a16:creationId xmlns:a16="http://schemas.microsoft.com/office/drawing/2014/main" id="{E24EA3CE-AA6F-228B-6332-6318AE104E28}"/>
                </a:ext>
              </a:extLst>
            </p:cNvPr>
            <p:cNvSpPr txBox="1"/>
            <p:nvPr/>
          </p:nvSpPr>
          <p:spPr>
            <a:xfrm>
              <a:off x="6450004" y="5343498"/>
              <a:ext cx="5630029" cy="646331"/>
            </a:xfrm>
            <a:prstGeom prst="rect">
              <a:avLst/>
            </a:prstGeom>
            <a:noFill/>
            <a:ln>
              <a:noFill/>
            </a:ln>
          </p:spPr>
          <p:txBody>
            <a:bodyPr wrap="square" rtlCol="0">
              <a:spAutoFit/>
            </a:bodyPr>
            <a:lstStyle/>
            <a:p>
              <a:r>
                <a:rPr lang="en-IN" sz="1200" dirty="0"/>
                <a:t>After finishing off his office schedule, gets back home early. Is in no mood to cook food, instead looks to order some good food online. Opens Zomato and scrolls for what he should order. Chooses a bestseller after minutes of thinking, and places the order.</a:t>
              </a:r>
            </a:p>
          </p:txBody>
        </p:sp>
        <p:sp>
          <p:nvSpPr>
            <p:cNvPr id="61" name="TextBox 60">
              <a:extLst>
                <a:ext uri="{FF2B5EF4-FFF2-40B4-BE49-F238E27FC236}">
                  <a16:creationId xmlns:a16="http://schemas.microsoft.com/office/drawing/2014/main" id="{FF718415-0802-9D9E-0AEB-5C438775AB94}"/>
                </a:ext>
              </a:extLst>
            </p:cNvPr>
            <p:cNvSpPr txBox="1"/>
            <p:nvPr/>
          </p:nvSpPr>
          <p:spPr>
            <a:xfrm>
              <a:off x="1074568" y="6517824"/>
              <a:ext cx="10439405" cy="307777"/>
            </a:xfrm>
            <a:prstGeom prst="rect">
              <a:avLst/>
            </a:prstGeom>
            <a:noFill/>
            <a:ln>
              <a:noFill/>
            </a:ln>
          </p:spPr>
          <p:txBody>
            <a:bodyPr wrap="square" rtlCol="0">
              <a:spAutoFit/>
            </a:bodyPr>
            <a:lstStyle/>
            <a:p>
              <a:pPr algn="ctr"/>
              <a:r>
                <a:rPr lang="en-IN" sz="1400" b="1" dirty="0"/>
                <a:t>Hence from the consumer behaviour POV, Zomato should venture into cloud kitchen rather than grocery.</a:t>
              </a:r>
            </a:p>
          </p:txBody>
        </p:sp>
      </p:grpSp>
      <p:grpSp>
        <p:nvGrpSpPr>
          <p:cNvPr id="96" name="Group 95">
            <a:extLst>
              <a:ext uri="{FF2B5EF4-FFF2-40B4-BE49-F238E27FC236}">
                <a16:creationId xmlns:a16="http://schemas.microsoft.com/office/drawing/2014/main" id="{9F2898B1-C441-3FCD-A878-14E73C7ED5C4}"/>
              </a:ext>
            </a:extLst>
          </p:cNvPr>
          <p:cNvGrpSpPr/>
          <p:nvPr/>
        </p:nvGrpSpPr>
        <p:grpSpPr>
          <a:xfrm>
            <a:off x="137" y="0"/>
            <a:ext cx="12192000" cy="419879"/>
            <a:chOff x="0" y="1380931"/>
            <a:chExt cx="12039341" cy="419879"/>
          </a:xfrm>
          <a:solidFill>
            <a:schemeClr val="bg1">
              <a:lumMod val="65000"/>
            </a:schemeClr>
          </a:solidFill>
        </p:grpSpPr>
        <p:sp>
          <p:nvSpPr>
            <p:cNvPr id="97" name="Rectangle 96">
              <a:extLst>
                <a:ext uri="{FF2B5EF4-FFF2-40B4-BE49-F238E27FC236}">
                  <a16:creationId xmlns:a16="http://schemas.microsoft.com/office/drawing/2014/main" id="{69167729-E9CE-DA4A-3FD9-F39AA5325CEA}"/>
                </a:ext>
              </a:extLst>
            </p:cNvPr>
            <p:cNvSpPr/>
            <p:nvPr/>
          </p:nvSpPr>
          <p:spPr>
            <a:xfrm>
              <a:off x="0" y="1380931"/>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98" name="Rectangle 97">
              <a:extLst>
                <a:ext uri="{FF2B5EF4-FFF2-40B4-BE49-F238E27FC236}">
                  <a16:creationId xmlns:a16="http://schemas.microsoft.com/office/drawing/2014/main" id="{8FD98843-B097-AFB9-5E55-197104E510C8}"/>
                </a:ext>
              </a:extLst>
            </p:cNvPr>
            <p:cNvSpPr/>
            <p:nvPr/>
          </p:nvSpPr>
          <p:spPr>
            <a:xfrm>
              <a:off x="1504918"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99" name="Rectangle 98">
              <a:extLst>
                <a:ext uri="{FF2B5EF4-FFF2-40B4-BE49-F238E27FC236}">
                  <a16:creationId xmlns:a16="http://schemas.microsoft.com/office/drawing/2014/main" id="{0D43CB75-A6A6-4FC0-CC2F-8DCF8DAED489}"/>
                </a:ext>
              </a:extLst>
            </p:cNvPr>
            <p:cNvSpPr/>
            <p:nvPr/>
          </p:nvSpPr>
          <p:spPr>
            <a:xfrm>
              <a:off x="3009835"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100" name="Rectangle 99">
              <a:extLst>
                <a:ext uri="{FF2B5EF4-FFF2-40B4-BE49-F238E27FC236}">
                  <a16:creationId xmlns:a16="http://schemas.microsoft.com/office/drawing/2014/main" id="{6B71C462-BFD0-3CC7-00B9-2356FA488DD1}"/>
                </a:ext>
              </a:extLst>
            </p:cNvPr>
            <p:cNvSpPr/>
            <p:nvPr/>
          </p:nvSpPr>
          <p:spPr>
            <a:xfrm>
              <a:off x="451475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101" name="Rectangle 100">
              <a:extLst>
                <a:ext uri="{FF2B5EF4-FFF2-40B4-BE49-F238E27FC236}">
                  <a16:creationId xmlns:a16="http://schemas.microsoft.com/office/drawing/2014/main" id="{B5C5CF45-15B3-58D3-12CF-CA8268D1312E}"/>
                </a:ext>
              </a:extLst>
            </p:cNvPr>
            <p:cNvSpPr/>
            <p:nvPr/>
          </p:nvSpPr>
          <p:spPr>
            <a:xfrm>
              <a:off x="6019671"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102" name="Rectangle 101">
              <a:extLst>
                <a:ext uri="{FF2B5EF4-FFF2-40B4-BE49-F238E27FC236}">
                  <a16:creationId xmlns:a16="http://schemas.microsoft.com/office/drawing/2014/main" id="{8D57586C-2A66-5299-7023-E5EDC0C4BC6B}"/>
                </a:ext>
              </a:extLst>
            </p:cNvPr>
            <p:cNvSpPr/>
            <p:nvPr/>
          </p:nvSpPr>
          <p:spPr>
            <a:xfrm>
              <a:off x="7524588" y="1380932"/>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103" name="Rectangle 102">
              <a:extLst>
                <a:ext uri="{FF2B5EF4-FFF2-40B4-BE49-F238E27FC236}">
                  <a16:creationId xmlns:a16="http://schemas.microsoft.com/office/drawing/2014/main" id="{479D1CD1-0CC3-3735-06EB-E8AC75AA84E6}"/>
                </a:ext>
              </a:extLst>
            </p:cNvPr>
            <p:cNvSpPr/>
            <p:nvPr/>
          </p:nvSpPr>
          <p:spPr>
            <a:xfrm>
              <a:off x="9029507"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104" name="Rectangle 103">
              <a:extLst>
                <a:ext uri="{FF2B5EF4-FFF2-40B4-BE49-F238E27FC236}">
                  <a16:creationId xmlns:a16="http://schemas.microsoft.com/office/drawing/2014/main" id="{4DF01979-9D9D-6926-DDA7-E3F53F1E3678}"/>
                </a:ext>
              </a:extLst>
            </p:cNvPr>
            <p:cNvSpPr/>
            <p:nvPr/>
          </p:nvSpPr>
          <p:spPr>
            <a:xfrm>
              <a:off x="1053442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sp>
        <p:nvSpPr>
          <p:cNvPr id="69" name="Rectangle: Folded Corner 68">
            <a:extLst>
              <a:ext uri="{FF2B5EF4-FFF2-40B4-BE49-F238E27FC236}">
                <a16:creationId xmlns:a16="http://schemas.microsoft.com/office/drawing/2014/main" id="{51A868F5-8330-F0AF-0927-9E83436A21F4}"/>
              </a:ext>
            </a:extLst>
          </p:cNvPr>
          <p:cNvSpPr/>
          <p:nvPr/>
        </p:nvSpPr>
        <p:spPr>
          <a:xfrm>
            <a:off x="1053530" y="515474"/>
            <a:ext cx="4028192" cy="241958"/>
          </a:xfrm>
          <a:prstGeom prst="foldedCorner">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ONLINE GROCERY MARKET </a:t>
            </a:r>
          </a:p>
        </p:txBody>
      </p:sp>
      <p:sp>
        <p:nvSpPr>
          <p:cNvPr id="106" name="Rectangle: Folded Corner 105">
            <a:extLst>
              <a:ext uri="{FF2B5EF4-FFF2-40B4-BE49-F238E27FC236}">
                <a16:creationId xmlns:a16="http://schemas.microsoft.com/office/drawing/2014/main" id="{A2F22E0C-547C-F84F-7649-5869E10F00E2}"/>
              </a:ext>
            </a:extLst>
          </p:cNvPr>
          <p:cNvSpPr/>
          <p:nvPr/>
        </p:nvSpPr>
        <p:spPr>
          <a:xfrm>
            <a:off x="7000673" y="507387"/>
            <a:ext cx="4028192" cy="241958"/>
          </a:xfrm>
          <a:prstGeom prst="foldedCorner">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CLOUD KITCHEN MARKET</a:t>
            </a:r>
          </a:p>
        </p:txBody>
      </p:sp>
      <p:cxnSp>
        <p:nvCxnSpPr>
          <p:cNvPr id="107" name="Straight Connector 106">
            <a:extLst>
              <a:ext uri="{FF2B5EF4-FFF2-40B4-BE49-F238E27FC236}">
                <a16:creationId xmlns:a16="http://schemas.microsoft.com/office/drawing/2014/main" id="{D74A45AB-0CB8-CA58-03B4-278108175BFE}"/>
              </a:ext>
            </a:extLst>
          </p:cNvPr>
          <p:cNvCxnSpPr>
            <a:cxnSpLocks/>
          </p:cNvCxnSpPr>
          <p:nvPr/>
        </p:nvCxnSpPr>
        <p:spPr>
          <a:xfrm>
            <a:off x="6086806" y="2698499"/>
            <a:ext cx="0" cy="949191"/>
          </a:xfrm>
          <a:prstGeom prst="line">
            <a:avLst/>
          </a:prstGeom>
          <a:ln w="19050">
            <a:solidFill>
              <a:srgbClr val="CB202D"/>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C11116C-7616-8044-9FDD-20DAA717FEBD}"/>
              </a:ext>
            </a:extLst>
          </p:cNvPr>
          <p:cNvCxnSpPr>
            <a:cxnSpLocks/>
          </p:cNvCxnSpPr>
          <p:nvPr/>
        </p:nvCxnSpPr>
        <p:spPr>
          <a:xfrm flipH="1">
            <a:off x="6086806" y="5416420"/>
            <a:ext cx="9194" cy="1030823"/>
          </a:xfrm>
          <a:prstGeom prst="line">
            <a:avLst/>
          </a:prstGeom>
          <a:ln w="19050">
            <a:solidFill>
              <a:srgbClr val="CB202D"/>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898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11053B08-0FBD-D603-5A58-AC49278AE811}"/>
              </a:ext>
            </a:extLst>
          </p:cNvPr>
          <p:cNvSpPr/>
          <p:nvPr/>
        </p:nvSpPr>
        <p:spPr>
          <a:xfrm>
            <a:off x="102638" y="663840"/>
            <a:ext cx="11952256" cy="28089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Table 5">
            <a:extLst>
              <a:ext uri="{FF2B5EF4-FFF2-40B4-BE49-F238E27FC236}">
                <a16:creationId xmlns:a16="http://schemas.microsoft.com/office/drawing/2014/main" id="{E525FF51-4AD0-2619-AD41-6F9EF7E770A4}"/>
              </a:ext>
            </a:extLst>
          </p:cNvPr>
          <p:cNvGraphicFramePr>
            <a:graphicFrameLocks noGrp="1"/>
          </p:cNvGraphicFramePr>
          <p:nvPr>
            <p:extLst>
              <p:ext uri="{D42A27DB-BD31-4B8C-83A1-F6EECF244321}">
                <p14:modId xmlns:p14="http://schemas.microsoft.com/office/powerpoint/2010/main" val="3648399001"/>
              </p:ext>
            </p:extLst>
          </p:nvPr>
        </p:nvGraphicFramePr>
        <p:xfrm>
          <a:off x="328644" y="805820"/>
          <a:ext cx="5161899" cy="2188995"/>
        </p:xfrm>
        <a:graphic>
          <a:graphicData uri="http://schemas.openxmlformats.org/drawingml/2006/table">
            <a:tbl>
              <a:tblPr firstRow="1" bandRow="1">
                <a:tableStyleId>{5C22544A-7EE6-4342-B048-85BDC9FD1C3A}</a:tableStyleId>
              </a:tblPr>
              <a:tblGrid>
                <a:gridCol w="1720633">
                  <a:extLst>
                    <a:ext uri="{9D8B030D-6E8A-4147-A177-3AD203B41FA5}">
                      <a16:colId xmlns:a16="http://schemas.microsoft.com/office/drawing/2014/main" val="952637111"/>
                    </a:ext>
                  </a:extLst>
                </a:gridCol>
                <a:gridCol w="1304557">
                  <a:extLst>
                    <a:ext uri="{9D8B030D-6E8A-4147-A177-3AD203B41FA5}">
                      <a16:colId xmlns:a16="http://schemas.microsoft.com/office/drawing/2014/main" val="4016930775"/>
                    </a:ext>
                  </a:extLst>
                </a:gridCol>
                <a:gridCol w="2136709">
                  <a:extLst>
                    <a:ext uri="{9D8B030D-6E8A-4147-A177-3AD203B41FA5}">
                      <a16:colId xmlns:a16="http://schemas.microsoft.com/office/drawing/2014/main" val="3003901688"/>
                    </a:ext>
                  </a:extLst>
                </a:gridCol>
              </a:tblGrid>
              <a:tr h="291584">
                <a:tc gridSpan="2">
                  <a:txBody>
                    <a:bodyPr/>
                    <a:lstStyle/>
                    <a:p>
                      <a:pPr algn="ctr"/>
                      <a:r>
                        <a:rPr lang="en-IN" sz="1000" dirty="0"/>
                        <a:t>Fixed Costs</a:t>
                      </a:r>
                    </a:p>
                  </a:txBody>
                  <a:tcPr anchor="ctr">
                    <a:solidFill>
                      <a:srgbClr val="CB202D"/>
                    </a:solidFill>
                  </a:tcPr>
                </a:tc>
                <a:tc hMerge="1">
                  <a:txBody>
                    <a:bodyPr/>
                    <a:lstStyle/>
                    <a:p>
                      <a:endParaRPr lang="en-IN" dirty="0"/>
                    </a:p>
                  </a:txBody>
                  <a:tcPr/>
                </a:tc>
                <a:tc>
                  <a:txBody>
                    <a:bodyPr/>
                    <a:lstStyle/>
                    <a:p>
                      <a:pPr algn="ctr"/>
                      <a:r>
                        <a:rPr lang="en-IN" sz="1000" dirty="0"/>
                        <a:t>Assumptions </a:t>
                      </a:r>
                    </a:p>
                  </a:txBody>
                  <a:tcPr anchor="ctr">
                    <a:solidFill>
                      <a:srgbClr val="CB202D"/>
                    </a:solidFill>
                  </a:tcPr>
                </a:tc>
                <a:extLst>
                  <a:ext uri="{0D108BD9-81ED-4DB2-BD59-A6C34878D82A}">
                    <a16:rowId xmlns:a16="http://schemas.microsoft.com/office/drawing/2014/main" val="858303100"/>
                  </a:ext>
                </a:extLst>
              </a:tr>
              <a:tr h="632469">
                <a:tc>
                  <a:txBody>
                    <a:bodyPr/>
                    <a:lstStyle/>
                    <a:p>
                      <a:pPr algn="ctr" fontAlgn="b"/>
                      <a:r>
                        <a:rPr lang="en-IN" sz="1000" u="none" strike="noStrike" dirty="0">
                          <a:effectLst/>
                        </a:rPr>
                        <a:t>Hub setup</a:t>
                      </a:r>
                      <a:endParaRPr lang="en-IN" sz="1000" b="0" i="0" u="none" strike="noStrike" dirty="0">
                        <a:solidFill>
                          <a:srgbClr val="000000"/>
                        </a:solidFill>
                        <a:effectLst/>
                        <a:latin typeface="Calibri" panose="020F0502020204030204" pitchFamily="34" charset="0"/>
                      </a:endParaRPr>
                    </a:p>
                  </a:txBody>
                  <a:tcPr marL="7620" marR="7620" marT="7620" marB="0" anchor="ctr">
                    <a:solidFill>
                      <a:schemeClr val="bg2"/>
                    </a:solidFill>
                  </a:tcPr>
                </a:tc>
                <a:tc>
                  <a:txBody>
                    <a:bodyPr/>
                    <a:lstStyle/>
                    <a:p>
                      <a:pPr algn="ctr" fontAlgn="b"/>
                      <a:r>
                        <a:rPr lang="en-IN" sz="1000" b="0" i="0" kern="1200" dirty="0">
                          <a:solidFill>
                            <a:schemeClr val="dk1"/>
                          </a:solidFill>
                          <a:effectLst/>
                          <a:latin typeface="+mn-lt"/>
                          <a:ea typeface="+mn-ea"/>
                          <a:cs typeface="+mn-cs"/>
                        </a:rPr>
                        <a:t>₹ </a:t>
                      </a:r>
                      <a:r>
                        <a:rPr lang="en-IN" sz="1000" u="none" strike="noStrike" dirty="0">
                          <a:effectLst/>
                        </a:rPr>
                        <a:t>4000000</a:t>
                      </a:r>
                      <a:endParaRPr lang="en-IN" sz="1000" b="0" i="0" u="none" strike="noStrike" dirty="0">
                        <a:solidFill>
                          <a:srgbClr val="000000"/>
                        </a:solidFill>
                        <a:effectLst/>
                        <a:latin typeface="Calibri" panose="020F0502020204030204" pitchFamily="34" charset="0"/>
                      </a:endParaRPr>
                    </a:p>
                  </a:txBody>
                  <a:tcPr marL="7620" marR="7620" marT="7620" marB="0" anchor="ctr">
                    <a:solidFill>
                      <a:schemeClr val="bg2"/>
                    </a:solidFill>
                  </a:tcPr>
                </a:tc>
                <a:tc>
                  <a:txBody>
                    <a:bodyPr/>
                    <a:lstStyle/>
                    <a:p>
                      <a:pPr algn="ctr" fontAlgn="b"/>
                      <a:r>
                        <a:rPr lang="en-IN" sz="1000" u="none" strike="noStrike" dirty="0">
                          <a:effectLst/>
                        </a:rPr>
                        <a:t>Assuming </a:t>
                      </a:r>
                      <a:r>
                        <a:rPr lang="en-IN" sz="1000" b="0" i="0" kern="1200" dirty="0">
                          <a:solidFill>
                            <a:schemeClr val="dk1"/>
                          </a:solidFill>
                          <a:effectLst/>
                          <a:latin typeface="+mn-lt"/>
                          <a:ea typeface="+mn-ea"/>
                          <a:cs typeface="+mn-cs"/>
                        </a:rPr>
                        <a:t>₹2000 per sqft and minimum space requirement is 2</a:t>
                      </a:r>
                      <a:r>
                        <a:rPr lang="en-IN" sz="1000" b="0" u="none" strike="noStrike" dirty="0">
                          <a:effectLst/>
                        </a:rPr>
                        <a:t>000sqft</a:t>
                      </a:r>
                      <a:endParaRPr lang="en-IN" sz="1000" b="0" i="0" u="none" strike="noStrike" dirty="0">
                        <a:solidFill>
                          <a:srgbClr val="000000"/>
                        </a:solidFill>
                        <a:effectLst/>
                        <a:latin typeface="Calibri" panose="020F0502020204030204" pitchFamily="34" charset="0"/>
                      </a:endParaRPr>
                    </a:p>
                  </a:txBody>
                  <a:tcPr marL="7620" marR="7620" marT="7620" marB="0" anchor="ctr">
                    <a:solidFill>
                      <a:schemeClr val="bg2"/>
                    </a:solidFill>
                  </a:tcPr>
                </a:tc>
                <a:extLst>
                  <a:ext uri="{0D108BD9-81ED-4DB2-BD59-A6C34878D82A}">
                    <a16:rowId xmlns:a16="http://schemas.microsoft.com/office/drawing/2014/main" val="2689518187"/>
                  </a:ext>
                </a:extLst>
              </a:tr>
              <a:tr h="840814">
                <a:tc>
                  <a:txBody>
                    <a:bodyPr/>
                    <a:lstStyle/>
                    <a:p>
                      <a:pPr algn="ctr" fontAlgn="b"/>
                      <a:r>
                        <a:rPr lang="en-IN" sz="1000" b="0" i="0" u="none" strike="noStrike" dirty="0">
                          <a:solidFill>
                            <a:srgbClr val="000000"/>
                          </a:solidFill>
                          <a:effectLst/>
                          <a:latin typeface="Calibri" panose="020F0502020204030204" pitchFamily="34" charset="0"/>
                        </a:rPr>
                        <a:t>Staff cost</a:t>
                      </a:r>
                    </a:p>
                  </a:txBody>
                  <a:tcPr marL="7620" marR="7620" marT="7620" marB="0" anchor="ctr">
                    <a:solidFill>
                      <a:schemeClr val="bg2"/>
                    </a:solidFill>
                  </a:tcPr>
                </a:tc>
                <a:tc>
                  <a:txBody>
                    <a:bodyPr/>
                    <a:lstStyle/>
                    <a:p>
                      <a:pPr algn="ctr" fontAlgn="b"/>
                      <a:r>
                        <a:rPr lang="en-IN" sz="1000" b="0" i="0" kern="1200" dirty="0">
                          <a:solidFill>
                            <a:schemeClr val="dk1"/>
                          </a:solidFill>
                          <a:effectLst/>
                          <a:latin typeface="+mn-lt"/>
                          <a:ea typeface="+mn-ea"/>
                          <a:cs typeface="+mn-cs"/>
                        </a:rPr>
                        <a:t>₹ </a:t>
                      </a:r>
                      <a:r>
                        <a:rPr lang="en-IN" sz="1000" b="0" i="0" u="none" strike="noStrike" dirty="0">
                          <a:solidFill>
                            <a:srgbClr val="000000"/>
                          </a:solidFill>
                          <a:effectLst/>
                          <a:latin typeface="Calibri" panose="020F0502020204030204" pitchFamily="34" charset="0"/>
                        </a:rPr>
                        <a:t>72000</a:t>
                      </a:r>
                    </a:p>
                  </a:txBody>
                  <a:tcPr marL="7620" marR="7620" marT="7620" marB="0" anchor="ctr">
                    <a:solidFill>
                      <a:schemeClr val="bg2"/>
                    </a:solidFill>
                  </a:tcPr>
                </a:tc>
                <a:tc>
                  <a:txBody>
                    <a:bodyPr/>
                    <a:lstStyle/>
                    <a:p>
                      <a:pPr algn="ctr" fontAlgn="b"/>
                      <a:r>
                        <a:rPr lang="en-IN" sz="1000" b="0" i="0" u="none" strike="noStrike" dirty="0">
                          <a:solidFill>
                            <a:srgbClr val="000000"/>
                          </a:solidFill>
                          <a:effectLst/>
                          <a:latin typeface="Calibri" panose="020F0502020204030204" pitchFamily="34" charset="0"/>
                        </a:rPr>
                        <a:t>Each hub would require 3-4 people who sort out products at the hub. Considering the minimum wage of </a:t>
                      </a:r>
                      <a:r>
                        <a:rPr lang="en-IN" sz="1000" b="0" i="0" kern="1200" dirty="0">
                          <a:solidFill>
                            <a:schemeClr val="dk1"/>
                          </a:solidFill>
                          <a:effectLst/>
                          <a:latin typeface="+mn-lt"/>
                          <a:ea typeface="+mn-ea"/>
                          <a:cs typeface="+mn-cs"/>
                        </a:rPr>
                        <a:t>₹</a:t>
                      </a:r>
                      <a:r>
                        <a:rPr lang="en-IN" sz="1000" b="0" i="0" u="none" strike="noStrike" dirty="0">
                          <a:solidFill>
                            <a:srgbClr val="000000"/>
                          </a:solidFill>
                          <a:effectLst/>
                          <a:latin typeface="Calibri" panose="020F0502020204030204" pitchFamily="34" charset="0"/>
                        </a:rPr>
                        <a:t>18000</a:t>
                      </a:r>
                    </a:p>
                  </a:txBody>
                  <a:tcPr marL="7620" marR="7620" marT="7620" marB="0" anchor="ctr">
                    <a:solidFill>
                      <a:schemeClr val="bg2"/>
                    </a:solidFill>
                  </a:tcPr>
                </a:tc>
                <a:extLst>
                  <a:ext uri="{0D108BD9-81ED-4DB2-BD59-A6C34878D82A}">
                    <a16:rowId xmlns:a16="http://schemas.microsoft.com/office/drawing/2014/main" val="2967378182"/>
                  </a:ext>
                </a:extLst>
              </a:tr>
              <a:tr h="424128">
                <a:tc>
                  <a:txBody>
                    <a:bodyPr/>
                    <a:lstStyle/>
                    <a:p>
                      <a:pPr algn="ctr" fontAlgn="b"/>
                      <a:r>
                        <a:rPr lang="en-IN" sz="1000" b="0" i="0" u="none" strike="noStrike" dirty="0">
                          <a:solidFill>
                            <a:srgbClr val="000000"/>
                          </a:solidFill>
                          <a:effectLst/>
                          <a:latin typeface="Calibri" panose="020F0502020204030204" pitchFamily="34" charset="0"/>
                        </a:rPr>
                        <a:t>Delivery cost</a:t>
                      </a:r>
                    </a:p>
                  </a:txBody>
                  <a:tcPr marL="7620" marR="7620" marT="7620" marB="0" anchor="ctr">
                    <a:solidFill>
                      <a:schemeClr val="bg2"/>
                    </a:solidFill>
                  </a:tcPr>
                </a:tc>
                <a:tc>
                  <a:txBody>
                    <a:bodyPr/>
                    <a:lstStyle/>
                    <a:p>
                      <a:pPr algn="ctr" fontAlgn="b"/>
                      <a:r>
                        <a:rPr lang="en-IN" sz="1000" b="0" i="0" kern="1200" dirty="0">
                          <a:solidFill>
                            <a:schemeClr val="dk1"/>
                          </a:solidFill>
                          <a:effectLst/>
                          <a:latin typeface="+mn-lt"/>
                          <a:ea typeface="+mn-ea"/>
                          <a:cs typeface="+mn-cs"/>
                        </a:rPr>
                        <a:t>₹ </a:t>
                      </a:r>
                      <a:r>
                        <a:rPr lang="en-IN" sz="1000" u="none" strike="noStrike" dirty="0">
                          <a:effectLst/>
                        </a:rPr>
                        <a:t>50</a:t>
                      </a:r>
                      <a:endParaRPr lang="en-IN" sz="1000" b="0" i="0" u="none" strike="noStrike" dirty="0">
                        <a:solidFill>
                          <a:srgbClr val="000000"/>
                        </a:solidFill>
                        <a:effectLst/>
                        <a:latin typeface="Calibri" panose="020F0502020204030204" pitchFamily="34" charset="0"/>
                      </a:endParaRPr>
                    </a:p>
                  </a:txBody>
                  <a:tcPr marL="7620" marR="7620" marT="7620" marB="0" anchor="ctr">
                    <a:solidFill>
                      <a:schemeClr val="bg2"/>
                    </a:solidFill>
                  </a:tcPr>
                </a:tc>
                <a:tc>
                  <a:txBody>
                    <a:bodyPr/>
                    <a:lstStyle/>
                    <a:p>
                      <a:pPr algn="ctr" fontAlgn="b"/>
                      <a:r>
                        <a:rPr lang="en-IN" sz="1000" b="0" i="0" u="none" strike="noStrike" dirty="0">
                          <a:solidFill>
                            <a:srgbClr val="000000"/>
                          </a:solidFill>
                          <a:effectLst/>
                          <a:latin typeface="Calibri" panose="020F0502020204030204" pitchFamily="34" charset="0"/>
                        </a:rPr>
                        <a:t>Approximate costs incurred for delivering around a 5km radius</a:t>
                      </a:r>
                    </a:p>
                  </a:txBody>
                  <a:tcPr marL="7620" marR="7620" marT="7620" marB="0" anchor="ctr">
                    <a:solidFill>
                      <a:schemeClr val="bg2"/>
                    </a:solidFill>
                  </a:tcPr>
                </a:tc>
                <a:extLst>
                  <a:ext uri="{0D108BD9-81ED-4DB2-BD59-A6C34878D82A}">
                    <a16:rowId xmlns:a16="http://schemas.microsoft.com/office/drawing/2014/main" val="691112772"/>
                  </a:ext>
                </a:extLst>
              </a:tr>
            </a:tbl>
          </a:graphicData>
        </a:graphic>
      </p:graphicFrame>
      <p:graphicFrame>
        <p:nvGraphicFramePr>
          <p:cNvPr id="6" name="Table 6">
            <a:extLst>
              <a:ext uri="{FF2B5EF4-FFF2-40B4-BE49-F238E27FC236}">
                <a16:creationId xmlns:a16="http://schemas.microsoft.com/office/drawing/2014/main" id="{7A2182E5-15DB-36A0-AC1C-C4ABF2884C5D}"/>
              </a:ext>
            </a:extLst>
          </p:cNvPr>
          <p:cNvGraphicFramePr>
            <a:graphicFrameLocks noGrp="1"/>
          </p:cNvGraphicFramePr>
          <p:nvPr>
            <p:extLst>
              <p:ext uri="{D42A27DB-BD31-4B8C-83A1-F6EECF244321}">
                <p14:modId xmlns:p14="http://schemas.microsoft.com/office/powerpoint/2010/main" val="1737330730"/>
              </p:ext>
            </p:extLst>
          </p:nvPr>
        </p:nvGraphicFramePr>
        <p:xfrm>
          <a:off x="5716549" y="805819"/>
          <a:ext cx="6160278" cy="2188996"/>
        </p:xfrm>
        <a:graphic>
          <a:graphicData uri="http://schemas.openxmlformats.org/drawingml/2006/table">
            <a:tbl>
              <a:tblPr firstRow="1" bandRow="1">
                <a:tableStyleId>{5C22544A-7EE6-4342-B048-85BDC9FD1C3A}</a:tableStyleId>
              </a:tblPr>
              <a:tblGrid>
                <a:gridCol w="2053426">
                  <a:extLst>
                    <a:ext uri="{9D8B030D-6E8A-4147-A177-3AD203B41FA5}">
                      <a16:colId xmlns:a16="http://schemas.microsoft.com/office/drawing/2014/main" val="3860984579"/>
                    </a:ext>
                  </a:extLst>
                </a:gridCol>
                <a:gridCol w="1066111">
                  <a:extLst>
                    <a:ext uri="{9D8B030D-6E8A-4147-A177-3AD203B41FA5}">
                      <a16:colId xmlns:a16="http://schemas.microsoft.com/office/drawing/2014/main" val="1562891865"/>
                    </a:ext>
                  </a:extLst>
                </a:gridCol>
                <a:gridCol w="3040741">
                  <a:extLst>
                    <a:ext uri="{9D8B030D-6E8A-4147-A177-3AD203B41FA5}">
                      <a16:colId xmlns:a16="http://schemas.microsoft.com/office/drawing/2014/main" val="1168236526"/>
                    </a:ext>
                  </a:extLst>
                </a:gridCol>
              </a:tblGrid>
              <a:tr h="277407">
                <a:tc gridSpan="2">
                  <a:txBody>
                    <a:bodyPr/>
                    <a:lstStyle/>
                    <a:p>
                      <a:pPr algn="ctr"/>
                      <a:r>
                        <a:rPr lang="en-IN" sz="1000" dirty="0"/>
                        <a:t>Fixed Costs</a:t>
                      </a:r>
                    </a:p>
                  </a:txBody>
                  <a:tcPr anchor="ctr">
                    <a:solidFill>
                      <a:srgbClr val="CB202D"/>
                    </a:solidFill>
                  </a:tcPr>
                </a:tc>
                <a:tc hMerge="1">
                  <a:txBody>
                    <a:bodyPr/>
                    <a:lstStyle/>
                    <a:p>
                      <a:endParaRPr lang="en-IN" dirty="0"/>
                    </a:p>
                  </a:txBody>
                  <a:tcPr/>
                </a:tc>
                <a:tc>
                  <a:txBody>
                    <a:bodyPr/>
                    <a:lstStyle/>
                    <a:p>
                      <a:pPr algn="ctr"/>
                      <a:r>
                        <a:rPr lang="en-IN" sz="1000" dirty="0"/>
                        <a:t>Assumptions</a:t>
                      </a:r>
                    </a:p>
                  </a:txBody>
                  <a:tcPr anchor="ctr">
                    <a:solidFill>
                      <a:srgbClr val="CB202D"/>
                    </a:solidFill>
                  </a:tcPr>
                </a:tc>
                <a:extLst>
                  <a:ext uri="{0D108BD9-81ED-4DB2-BD59-A6C34878D82A}">
                    <a16:rowId xmlns:a16="http://schemas.microsoft.com/office/drawing/2014/main" val="2971170533"/>
                  </a:ext>
                </a:extLst>
              </a:tr>
              <a:tr h="709138">
                <a:tc>
                  <a:txBody>
                    <a:bodyPr/>
                    <a:lstStyle/>
                    <a:p>
                      <a:pPr algn="ctr"/>
                      <a:r>
                        <a:rPr lang="en-IN" sz="1000" dirty="0"/>
                        <a:t>Rent</a:t>
                      </a:r>
                    </a:p>
                  </a:txBody>
                  <a:tcPr anchor="ctr">
                    <a:solidFill>
                      <a:schemeClr val="bg2"/>
                    </a:solidFill>
                  </a:tcPr>
                </a:tc>
                <a:tc>
                  <a:txBody>
                    <a:bodyPr/>
                    <a:lstStyle/>
                    <a:p>
                      <a:pPr algn="ctr"/>
                      <a:r>
                        <a:rPr lang="en-US" sz="1000" dirty="0"/>
                        <a:t>₹ </a:t>
                      </a:r>
                      <a:r>
                        <a:rPr lang="en-IN" sz="1000" dirty="0"/>
                        <a:t>1600000</a:t>
                      </a:r>
                    </a:p>
                  </a:txBody>
                  <a:tcPr anchor="ctr">
                    <a:solidFill>
                      <a:schemeClr val="bg2"/>
                    </a:solidFill>
                  </a:tcPr>
                </a:tc>
                <a:tc>
                  <a:txBody>
                    <a:bodyPr/>
                    <a:lstStyle/>
                    <a:p>
                      <a:pPr algn="ctr"/>
                      <a:r>
                        <a:rPr lang="en-US" sz="1000" dirty="0"/>
                        <a:t>Cloud kitchen spaces are mostly leased. Assuming ₹2000 per sqft and space requirement is typically around 800 sqft. This is sufficient to accommodate 10-12 brands.</a:t>
                      </a:r>
                      <a:endParaRPr lang="en-IN" sz="1000" dirty="0"/>
                    </a:p>
                  </a:txBody>
                  <a:tcPr anchor="ctr">
                    <a:solidFill>
                      <a:schemeClr val="bg2"/>
                    </a:solidFill>
                  </a:tcPr>
                </a:tc>
                <a:extLst>
                  <a:ext uri="{0D108BD9-81ED-4DB2-BD59-A6C34878D82A}">
                    <a16:rowId xmlns:a16="http://schemas.microsoft.com/office/drawing/2014/main" val="2651559705"/>
                  </a:ext>
                </a:extLst>
              </a:tr>
              <a:tr h="400817">
                <a:tc>
                  <a:txBody>
                    <a:bodyPr/>
                    <a:lstStyle/>
                    <a:p>
                      <a:pPr algn="ctr"/>
                      <a:r>
                        <a:rPr lang="en-IN" sz="1000" dirty="0"/>
                        <a:t>Licenses</a:t>
                      </a:r>
                    </a:p>
                  </a:txBody>
                  <a:tcPr anchor="ctr">
                    <a:solidFill>
                      <a:schemeClr val="bg2"/>
                    </a:solidFill>
                  </a:tcPr>
                </a:tc>
                <a:tc>
                  <a:txBody>
                    <a:bodyPr/>
                    <a:lstStyle/>
                    <a:p>
                      <a:pPr algn="ctr"/>
                      <a:r>
                        <a:rPr lang="en-US" sz="1000" dirty="0"/>
                        <a:t>₹ </a:t>
                      </a:r>
                      <a:r>
                        <a:rPr lang="en-IN" sz="1000" dirty="0"/>
                        <a:t>15000</a:t>
                      </a:r>
                    </a:p>
                  </a:txBody>
                  <a:tcPr anchor="ctr">
                    <a:solidFill>
                      <a:schemeClr val="bg2"/>
                    </a:solidFill>
                  </a:tcPr>
                </a:tc>
                <a:tc>
                  <a:txBody>
                    <a:bodyPr/>
                    <a:lstStyle/>
                    <a:p>
                      <a:pPr algn="ctr"/>
                      <a:r>
                        <a:rPr lang="en-IN" sz="1000" dirty="0"/>
                        <a:t>FSSAI, Health Trade, Tax Registration Licenses. Ensures better quality control</a:t>
                      </a:r>
                    </a:p>
                  </a:txBody>
                  <a:tcPr anchor="ctr">
                    <a:solidFill>
                      <a:schemeClr val="bg2"/>
                    </a:solidFill>
                  </a:tcPr>
                </a:tc>
                <a:extLst>
                  <a:ext uri="{0D108BD9-81ED-4DB2-BD59-A6C34878D82A}">
                    <a16:rowId xmlns:a16="http://schemas.microsoft.com/office/drawing/2014/main" val="2342195079"/>
                  </a:ext>
                </a:extLst>
              </a:tr>
              <a:tr h="400817">
                <a:tc>
                  <a:txBody>
                    <a:bodyPr/>
                    <a:lstStyle/>
                    <a:p>
                      <a:pPr algn="ctr"/>
                      <a:r>
                        <a:rPr lang="en-IN" sz="1000" dirty="0"/>
                        <a:t>Kitchen &amp; Equipment</a:t>
                      </a:r>
                    </a:p>
                  </a:txBody>
                  <a:tcPr anchor="ctr">
                    <a:solidFill>
                      <a:schemeClr val="bg2"/>
                    </a:solidFill>
                  </a:tcPr>
                </a:tc>
                <a:tc>
                  <a:txBody>
                    <a:bodyPr/>
                    <a:lstStyle/>
                    <a:p>
                      <a:pPr algn="ctr"/>
                      <a:r>
                        <a:rPr lang="en-US" sz="1000" dirty="0"/>
                        <a:t>₹ </a:t>
                      </a:r>
                      <a:r>
                        <a:rPr lang="en-IN" sz="1000" dirty="0"/>
                        <a:t>1000000</a:t>
                      </a:r>
                    </a:p>
                  </a:txBody>
                  <a:tcPr anchor="ctr">
                    <a:solidFill>
                      <a:schemeClr val="bg2"/>
                    </a:solidFill>
                  </a:tcPr>
                </a:tc>
                <a:tc>
                  <a:txBody>
                    <a:bodyPr/>
                    <a:lstStyle/>
                    <a:p>
                      <a:pPr algn="ctr"/>
                      <a:r>
                        <a:rPr lang="en-IN" sz="1000" dirty="0"/>
                        <a:t>For kitchen setup and kitchen equipment required depending on the type of cuisine</a:t>
                      </a:r>
                    </a:p>
                  </a:txBody>
                  <a:tcPr anchor="ctr">
                    <a:solidFill>
                      <a:schemeClr val="bg2"/>
                    </a:solidFill>
                  </a:tcPr>
                </a:tc>
                <a:extLst>
                  <a:ext uri="{0D108BD9-81ED-4DB2-BD59-A6C34878D82A}">
                    <a16:rowId xmlns:a16="http://schemas.microsoft.com/office/drawing/2014/main" val="488628362"/>
                  </a:ext>
                </a:extLst>
              </a:tr>
              <a:tr h="400817">
                <a:tc>
                  <a:txBody>
                    <a:bodyPr/>
                    <a:lstStyle/>
                    <a:p>
                      <a:pPr algn="ctr"/>
                      <a:r>
                        <a:rPr lang="en-IN" sz="1000" dirty="0"/>
                        <a:t>Staff</a:t>
                      </a:r>
                    </a:p>
                  </a:txBody>
                  <a:tcPr anchor="ctr">
                    <a:solidFill>
                      <a:schemeClr val="bg2"/>
                    </a:solidFill>
                  </a:tcPr>
                </a:tc>
                <a:tc>
                  <a:txBody>
                    <a:bodyPr/>
                    <a:lstStyle/>
                    <a:p>
                      <a:pPr algn="ctr"/>
                      <a:r>
                        <a:rPr lang="en-US" sz="1000" dirty="0"/>
                        <a:t>₹ </a:t>
                      </a:r>
                      <a:r>
                        <a:rPr lang="en-IN" sz="1000" dirty="0"/>
                        <a:t>70000</a:t>
                      </a:r>
                    </a:p>
                  </a:txBody>
                  <a:tcPr anchor="ctr">
                    <a:solidFill>
                      <a:schemeClr val="bg2"/>
                    </a:solidFill>
                  </a:tcPr>
                </a:tc>
                <a:tc>
                  <a:txBody>
                    <a:bodyPr/>
                    <a:lstStyle/>
                    <a:p>
                      <a:pPr algn="ctr"/>
                      <a:r>
                        <a:rPr lang="en-IN" sz="1000" dirty="0"/>
                        <a:t>Considering the wages of Head Chef, Sous Chef and other support staff</a:t>
                      </a:r>
                    </a:p>
                  </a:txBody>
                  <a:tcPr anchor="ctr">
                    <a:solidFill>
                      <a:schemeClr val="bg2"/>
                    </a:solidFill>
                  </a:tcPr>
                </a:tc>
                <a:extLst>
                  <a:ext uri="{0D108BD9-81ED-4DB2-BD59-A6C34878D82A}">
                    <a16:rowId xmlns:a16="http://schemas.microsoft.com/office/drawing/2014/main" val="3440194477"/>
                  </a:ext>
                </a:extLst>
              </a:tr>
            </a:tbl>
          </a:graphicData>
        </a:graphic>
      </p:graphicFrame>
      <p:sp>
        <p:nvSpPr>
          <p:cNvPr id="7" name="TextBox 6">
            <a:extLst>
              <a:ext uri="{FF2B5EF4-FFF2-40B4-BE49-F238E27FC236}">
                <a16:creationId xmlns:a16="http://schemas.microsoft.com/office/drawing/2014/main" id="{7F0F3665-DB3F-9F68-ABB1-A4CF0540278F}"/>
              </a:ext>
            </a:extLst>
          </p:cNvPr>
          <p:cNvSpPr txBox="1"/>
          <p:nvPr/>
        </p:nvSpPr>
        <p:spPr>
          <a:xfrm>
            <a:off x="221863" y="3011558"/>
            <a:ext cx="11748274" cy="461665"/>
          </a:xfrm>
          <a:prstGeom prst="rect">
            <a:avLst/>
          </a:prstGeom>
          <a:noFill/>
        </p:spPr>
        <p:txBody>
          <a:bodyPr wrap="square" rtlCol="0">
            <a:spAutoFit/>
          </a:bodyPr>
          <a:lstStyle/>
          <a:p>
            <a:pPr algn="ctr"/>
            <a:r>
              <a:rPr lang="en-IN" sz="1200" b="1" dirty="0"/>
              <a:t>Based on the above cost structure, the fixed costs are relatively higher for online grocery due to requirement of large spaces, while in case of cloud kitchen 800 sqft of space is enough to accommodate 10-12 brands. Also, automation and AI techniques can be used to optimize costs and reducing staff requirements in case of cloud kitchen. </a:t>
            </a:r>
          </a:p>
        </p:txBody>
      </p:sp>
      <p:grpSp>
        <p:nvGrpSpPr>
          <p:cNvPr id="37" name="Group 36">
            <a:extLst>
              <a:ext uri="{FF2B5EF4-FFF2-40B4-BE49-F238E27FC236}">
                <a16:creationId xmlns:a16="http://schemas.microsoft.com/office/drawing/2014/main" id="{B0B06787-1E5B-4210-C4A4-E22658742A74}"/>
              </a:ext>
            </a:extLst>
          </p:cNvPr>
          <p:cNvGrpSpPr/>
          <p:nvPr/>
        </p:nvGrpSpPr>
        <p:grpSpPr>
          <a:xfrm>
            <a:off x="102638" y="3552415"/>
            <a:ext cx="11952256" cy="1221086"/>
            <a:chOff x="102638" y="3532907"/>
            <a:chExt cx="11952256" cy="1221086"/>
          </a:xfrm>
          <a:solidFill>
            <a:schemeClr val="bg1">
              <a:lumMod val="95000"/>
            </a:schemeClr>
          </a:solidFill>
        </p:grpSpPr>
        <p:sp>
          <p:nvSpPr>
            <p:cNvPr id="33" name="Rectangle: Rounded Corners 32">
              <a:extLst>
                <a:ext uri="{FF2B5EF4-FFF2-40B4-BE49-F238E27FC236}">
                  <a16:creationId xmlns:a16="http://schemas.microsoft.com/office/drawing/2014/main" id="{D2229B2D-7801-2025-BAD8-1206D87445F2}"/>
                </a:ext>
              </a:extLst>
            </p:cNvPr>
            <p:cNvSpPr/>
            <p:nvPr/>
          </p:nvSpPr>
          <p:spPr>
            <a:xfrm>
              <a:off x="102638" y="3532907"/>
              <a:ext cx="11952256" cy="1221086"/>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9" name="Group 18">
              <a:extLst>
                <a:ext uri="{FF2B5EF4-FFF2-40B4-BE49-F238E27FC236}">
                  <a16:creationId xmlns:a16="http://schemas.microsoft.com/office/drawing/2014/main" id="{B2E188CB-FA39-D9E3-FCA4-2F30BCF07AA7}"/>
                </a:ext>
              </a:extLst>
            </p:cNvPr>
            <p:cNvGrpSpPr/>
            <p:nvPr/>
          </p:nvGrpSpPr>
          <p:grpSpPr>
            <a:xfrm>
              <a:off x="367526" y="3799688"/>
              <a:ext cx="5016236" cy="576648"/>
              <a:chOff x="367526" y="3799688"/>
              <a:chExt cx="5016236" cy="576648"/>
            </a:xfrm>
            <a:grpFill/>
          </p:grpSpPr>
          <p:grpSp>
            <p:nvGrpSpPr>
              <p:cNvPr id="17" name="Group 16">
                <a:extLst>
                  <a:ext uri="{FF2B5EF4-FFF2-40B4-BE49-F238E27FC236}">
                    <a16:creationId xmlns:a16="http://schemas.microsoft.com/office/drawing/2014/main" id="{2A953692-B3BC-0D54-55D1-9C95D895AEB1}"/>
                  </a:ext>
                </a:extLst>
              </p:cNvPr>
              <p:cNvGrpSpPr/>
              <p:nvPr/>
            </p:nvGrpSpPr>
            <p:grpSpPr>
              <a:xfrm>
                <a:off x="367526" y="3799688"/>
                <a:ext cx="2692915" cy="563107"/>
                <a:chOff x="367526" y="3799688"/>
                <a:chExt cx="2692915" cy="563107"/>
              </a:xfrm>
              <a:grpFill/>
            </p:grpSpPr>
            <p:pic>
              <p:nvPicPr>
                <p:cNvPr id="6146" name="Picture 2" descr="Shopping basket ">
                  <a:extLst>
                    <a:ext uri="{FF2B5EF4-FFF2-40B4-BE49-F238E27FC236}">
                      <a16:creationId xmlns:a16="http://schemas.microsoft.com/office/drawing/2014/main" id="{0B36D09E-FE3B-CD82-D4B3-6443D4E54D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526" y="3810217"/>
                  <a:ext cx="552578" cy="552578"/>
                </a:xfrm>
                <a:prstGeom prst="rect">
                  <a:avLst/>
                </a:prstGeom>
                <a:grpFill/>
                <a:ln>
                  <a:noFill/>
                </a:ln>
              </p:spPr>
            </p:pic>
            <p:sp>
              <p:nvSpPr>
                <p:cNvPr id="8" name="TextBox 7">
                  <a:extLst>
                    <a:ext uri="{FF2B5EF4-FFF2-40B4-BE49-F238E27FC236}">
                      <a16:creationId xmlns:a16="http://schemas.microsoft.com/office/drawing/2014/main" id="{F88B44A6-514F-8AF7-BAF5-D2758C864DE1}"/>
                    </a:ext>
                  </a:extLst>
                </p:cNvPr>
                <p:cNvSpPr txBox="1"/>
                <p:nvPr/>
              </p:nvSpPr>
              <p:spPr>
                <a:xfrm>
                  <a:off x="920104" y="3799688"/>
                  <a:ext cx="2140337" cy="523220"/>
                </a:xfrm>
                <a:prstGeom prst="rect">
                  <a:avLst/>
                </a:prstGeom>
                <a:grpFill/>
                <a:ln>
                  <a:noFill/>
                </a:ln>
              </p:spPr>
              <p:txBody>
                <a:bodyPr wrap="square" rtlCol="0">
                  <a:spAutoFit/>
                </a:bodyPr>
                <a:lstStyle/>
                <a:p>
                  <a:r>
                    <a:rPr lang="en-IN" sz="1200" dirty="0"/>
                    <a:t>Average Order Value(AOV)</a:t>
                  </a:r>
                </a:p>
                <a:p>
                  <a:r>
                    <a:rPr lang="en-IN" sz="1600" b="0" i="0" kern="1200" dirty="0">
                      <a:effectLst/>
                      <a:latin typeface="+mn-lt"/>
                      <a:ea typeface="+mn-ea"/>
                      <a:cs typeface="+mn-cs"/>
                    </a:rPr>
                    <a:t>₹ </a:t>
                  </a:r>
                  <a:r>
                    <a:rPr lang="en-IN" sz="1600" dirty="0"/>
                    <a:t>250</a:t>
                  </a:r>
                </a:p>
              </p:txBody>
            </p:sp>
          </p:grpSp>
          <p:grpSp>
            <p:nvGrpSpPr>
              <p:cNvPr id="18" name="Group 17">
                <a:extLst>
                  <a:ext uri="{FF2B5EF4-FFF2-40B4-BE49-F238E27FC236}">
                    <a16:creationId xmlns:a16="http://schemas.microsoft.com/office/drawing/2014/main" id="{81241647-B431-11D5-7C34-4C3994C1526B}"/>
                  </a:ext>
                </a:extLst>
              </p:cNvPr>
              <p:cNvGrpSpPr/>
              <p:nvPr/>
            </p:nvGrpSpPr>
            <p:grpSpPr>
              <a:xfrm>
                <a:off x="2802812" y="3823758"/>
                <a:ext cx="2580950" cy="552578"/>
                <a:chOff x="2802812" y="3823758"/>
                <a:chExt cx="2580950" cy="552578"/>
              </a:xfrm>
              <a:grpFill/>
            </p:grpSpPr>
            <p:pic>
              <p:nvPicPr>
                <p:cNvPr id="6148" name="Picture 4" descr="Frequency ">
                  <a:extLst>
                    <a:ext uri="{FF2B5EF4-FFF2-40B4-BE49-F238E27FC236}">
                      <a16:creationId xmlns:a16="http://schemas.microsoft.com/office/drawing/2014/main" id="{037D06C8-C4B4-CBA4-F0BB-B12E74AD9C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2812" y="3823758"/>
                  <a:ext cx="552578" cy="552578"/>
                </a:xfrm>
                <a:prstGeom prst="rect">
                  <a:avLst/>
                </a:prstGeom>
                <a:grpFill/>
                <a:ln>
                  <a:noFill/>
                </a:ln>
              </p:spPr>
            </p:pic>
            <p:sp>
              <p:nvSpPr>
                <p:cNvPr id="9" name="TextBox 8">
                  <a:extLst>
                    <a:ext uri="{FF2B5EF4-FFF2-40B4-BE49-F238E27FC236}">
                      <a16:creationId xmlns:a16="http://schemas.microsoft.com/office/drawing/2014/main" id="{44B4AD85-FAA0-AB1A-6BAA-83D3F715B578}"/>
                    </a:ext>
                  </a:extLst>
                </p:cNvPr>
                <p:cNvSpPr txBox="1"/>
                <p:nvPr/>
              </p:nvSpPr>
              <p:spPr>
                <a:xfrm>
                  <a:off x="3355390" y="3823758"/>
                  <a:ext cx="2028372" cy="492443"/>
                </a:xfrm>
                <a:prstGeom prst="rect">
                  <a:avLst/>
                </a:prstGeom>
                <a:grpFill/>
                <a:ln>
                  <a:noFill/>
                </a:ln>
              </p:spPr>
              <p:txBody>
                <a:bodyPr wrap="square" rtlCol="0">
                  <a:spAutoFit/>
                </a:bodyPr>
                <a:lstStyle/>
                <a:p>
                  <a:r>
                    <a:rPr lang="en-IN" sz="1200" dirty="0"/>
                    <a:t>Average Purchase frequency</a:t>
                  </a:r>
                </a:p>
                <a:p>
                  <a:r>
                    <a:rPr lang="en-IN" sz="1400" b="1" dirty="0"/>
                    <a:t>2-3 times per week</a:t>
                  </a:r>
                </a:p>
              </p:txBody>
            </p:sp>
          </p:grpSp>
        </p:grpSp>
        <p:grpSp>
          <p:nvGrpSpPr>
            <p:cNvPr id="16" name="Group 15">
              <a:extLst>
                <a:ext uri="{FF2B5EF4-FFF2-40B4-BE49-F238E27FC236}">
                  <a16:creationId xmlns:a16="http://schemas.microsoft.com/office/drawing/2014/main" id="{AD26F252-A4ED-E5F6-EA9D-8858A482BD44}"/>
                </a:ext>
              </a:extLst>
            </p:cNvPr>
            <p:cNvGrpSpPr/>
            <p:nvPr/>
          </p:nvGrpSpPr>
          <p:grpSpPr>
            <a:xfrm>
              <a:off x="6036385" y="3699228"/>
              <a:ext cx="5933752" cy="677108"/>
              <a:chOff x="5819711" y="3699228"/>
              <a:chExt cx="5933752" cy="677108"/>
            </a:xfrm>
            <a:grpFill/>
          </p:grpSpPr>
          <p:grpSp>
            <p:nvGrpSpPr>
              <p:cNvPr id="12" name="Group 11">
                <a:extLst>
                  <a:ext uri="{FF2B5EF4-FFF2-40B4-BE49-F238E27FC236}">
                    <a16:creationId xmlns:a16="http://schemas.microsoft.com/office/drawing/2014/main" id="{59CEA1F7-8512-4B79-F925-3BB3DC643B4F}"/>
                  </a:ext>
                </a:extLst>
              </p:cNvPr>
              <p:cNvGrpSpPr/>
              <p:nvPr/>
            </p:nvGrpSpPr>
            <p:grpSpPr>
              <a:xfrm>
                <a:off x="5819711" y="3799688"/>
                <a:ext cx="2692915" cy="563107"/>
                <a:chOff x="5819711" y="3799688"/>
                <a:chExt cx="2692915" cy="563107"/>
              </a:xfrm>
              <a:grpFill/>
            </p:grpSpPr>
            <p:pic>
              <p:nvPicPr>
                <p:cNvPr id="10" name="Picture 2" descr="Shopping basket ">
                  <a:extLst>
                    <a:ext uri="{FF2B5EF4-FFF2-40B4-BE49-F238E27FC236}">
                      <a16:creationId xmlns:a16="http://schemas.microsoft.com/office/drawing/2014/main" id="{466AD371-0C5F-2C40-1FC1-B938AB7F40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9711" y="3810217"/>
                  <a:ext cx="552578" cy="552578"/>
                </a:xfrm>
                <a:prstGeom prst="rect">
                  <a:avLst/>
                </a:prstGeom>
                <a:grpFill/>
                <a:ln>
                  <a:noFill/>
                </a:ln>
              </p:spPr>
            </p:pic>
            <p:sp>
              <p:nvSpPr>
                <p:cNvPr id="11" name="TextBox 10">
                  <a:extLst>
                    <a:ext uri="{FF2B5EF4-FFF2-40B4-BE49-F238E27FC236}">
                      <a16:creationId xmlns:a16="http://schemas.microsoft.com/office/drawing/2014/main" id="{21AAA3A6-6525-1971-CB7A-3AE136A66ED7}"/>
                    </a:ext>
                  </a:extLst>
                </p:cNvPr>
                <p:cNvSpPr txBox="1"/>
                <p:nvPr/>
              </p:nvSpPr>
              <p:spPr>
                <a:xfrm>
                  <a:off x="6372289" y="3799688"/>
                  <a:ext cx="2140337" cy="523220"/>
                </a:xfrm>
                <a:prstGeom prst="rect">
                  <a:avLst/>
                </a:prstGeom>
                <a:grpFill/>
                <a:ln>
                  <a:noFill/>
                </a:ln>
              </p:spPr>
              <p:txBody>
                <a:bodyPr wrap="square" rtlCol="0">
                  <a:spAutoFit/>
                </a:bodyPr>
                <a:lstStyle/>
                <a:p>
                  <a:r>
                    <a:rPr lang="en-IN" sz="1200" dirty="0"/>
                    <a:t>Average Order Value(AOV)</a:t>
                  </a:r>
                </a:p>
                <a:p>
                  <a:r>
                    <a:rPr lang="en-IN" sz="1600" b="0" i="0" kern="1200" dirty="0">
                      <a:effectLst/>
                      <a:latin typeface="+mn-lt"/>
                      <a:ea typeface="+mn-ea"/>
                      <a:cs typeface="+mn-cs"/>
                    </a:rPr>
                    <a:t>₹ 40</a:t>
                  </a:r>
                  <a:r>
                    <a:rPr lang="en-IN" sz="1600" dirty="0"/>
                    <a:t>0</a:t>
                  </a:r>
                </a:p>
              </p:txBody>
            </p:sp>
          </p:grpSp>
          <p:grpSp>
            <p:nvGrpSpPr>
              <p:cNvPr id="13" name="Group 12">
                <a:extLst>
                  <a:ext uri="{FF2B5EF4-FFF2-40B4-BE49-F238E27FC236}">
                    <a16:creationId xmlns:a16="http://schemas.microsoft.com/office/drawing/2014/main" id="{C6B923C1-36C9-9CAD-38CA-E7AF414EFF71}"/>
                  </a:ext>
                </a:extLst>
              </p:cNvPr>
              <p:cNvGrpSpPr/>
              <p:nvPr/>
            </p:nvGrpSpPr>
            <p:grpSpPr>
              <a:xfrm>
                <a:off x="8337420" y="3699228"/>
                <a:ext cx="3416043" cy="677108"/>
                <a:chOff x="8337420" y="3699228"/>
                <a:chExt cx="3416043" cy="677108"/>
              </a:xfrm>
              <a:grpFill/>
            </p:grpSpPr>
            <p:pic>
              <p:nvPicPr>
                <p:cNvPr id="14" name="Picture 4" descr="Frequency ">
                  <a:extLst>
                    <a:ext uri="{FF2B5EF4-FFF2-40B4-BE49-F238E27FC236}">
                      <a16:creationId xmlns:a16="http://schemas.microsoft.com/office/drawing/2014/main" id="{4656875A-BEE7-4AE1-8EC4-4D1A8AB23F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7420" y="3823758"/>
                  <a:ext cx="552578" cy="552578"/>
                </a:xfrm>
                <a:prstGeom prst="rect">
                  <a:avLst/>
                </a:prstGeom>
                <a:grpFill/>
                <a:ln>
                  <a:noFill/>
                </a:ln>
              </p:spPr>
            </p:pic>
            <p:sp>
              <p:nvSpPr>
                <p:cNvPr id="15" name="TextBox 14">
                  <a:extLst>
                    <a:ext uri="{FF2B5EF4-FFF2-40B4-BE49-F238E27FC236}">
                      <a16:creationId xmlns:a16="http://schemas.microsoft.com/office/drawing/2014/main" id="{09337381-AF60-DCB3-C8B5-5F52CD6F23B4}"/>
                    </a:ext>
                  </a:extLst>
                </p:cNvPr>
                <p:cNvSpPr txBox="1"/>
                <p:nvPr/>
              </p:nvSpPr>
              <p:spPr>
                <a:xfrm>
                  <a:off x="8978120" y="3699228"/>
                  <a:ext cx="2775343" cy="677108"/>
                </a:xfrm>
                <a:prstGeom prst="rect">
                  <a:avLst/>
                </a:prstGeom>
                <a:grpFill/>
                <a:ln>
                  <a:noFill/>
                </a:ln>
              </p:spPr>
              <p:txBody>
                <a:bodyPr wrap="square" rtlCol="0">
                  <a:spAutoFit/>
                </a:bodyPr>
                <a:lstStyle/>
                <a:p>
                  <a:r>
                    <a:rPr lang="en-IN" sz="1200" dirty="0"/>
                    <a:t>Average Purchase frequency</a:t>
                  </a:r>
                </a:p>
                <a:p>
                  <a:r>
                    <a:rPr lang="en-IN" sz="1400" b="1" dirty="0"/>
                    <a:t>4 times per week</a:t>
                  </a:r>
                  <a:r>
                    <a:rPr lang="en-IN" sz="1200" dirty="0"/>
                    <a:t> (even higher during festivals or holidays)</a:t>
                  </a:r>
                  <a:endParaRPr lang="en-IN" sz="1400" dirty="0"/>
                </a:p>
              </p:txBody>
            </p:sp>
          </p:grpSp>
        </p:grpSp>
        <p:sp>
          <p:nvSpPr>
            <p:cNvPr id="20" name="TextBox 19">
              <a:extLst>
                <a:ext uri="{FF2B5EF4-FFF2-40B4-BE49-F238E27FC236}">
                  <a16:creationId xmlns:a16="http://schemas.microsoft.com/office/drawing/2014/main" id="{B845AB12-5D67-ACE2-0C84-D91C1E64A509}"/>
                </a:ext>
              </a:extLst>
            </p:cNvPr>
            <p:cNvSpPr txBox="1"/>
            <p:nvPr/>
          </p:nvSpPr>
          <p:spPr>
            <a:xfrm>
              <a:off x="200606" y="4451189"/>
              <a:ext cx="11671557" cy="276999"/>
            </a:xfrm>
            <a:prstGeom prst="rect">
              <a:avLst/>
            </a:prstGeom>
            <a:grpFill/>
            <a:ln>
              <a:noFill/>
            </a:ln>
          </p:spPr>
          <p:txBody>
            <a:bodyPr wrap="square" rtlCol="0">
              <a:spAutoFit/>
            </a:bodyPr>
            <a:lstStyle/>
            <a:p>
              <a:pPr algn="ctr"/>
              <a:r>
                <a:rPr lang="en-IN" sz="1200" b="1" dirty="0"/>
                <a:t>Hence, the average revenue per user is comparatively much higher in case of food &amp; beverages as compared to groceries.</a:t>
              </a:r>
            </a:p>
          </p:txBody>
        </p:sp>
      </p:grpSp>
      <p:grpSp>
        <p:nvGrpSpPr>
          <p:cNvPr id="38" name="Group 37">
            <a:extLst>
              <a:ext uri="{FF2B5EF4-FFF2-40B4-BE49-F238E27FC236}">
                <a16:creationId xmlns:a16="http://schemas.microsoft.com/office/drawing/2014/main" id="{68C872CD-F9A1-792F-C589-25F24F050EA3}"/>
              </a:ext>
            </a:extLst>
          </p:cNvPr>
          <p:cNvGrpSpPr/>
          <p:nvPr/>
        </p:nvGrpSpPr>
        <p:grpSpPr>
          <a:xfrm>
            <a:off x="102638" y="4888981"/>
            <a:ext cx="11952256" cy="1766172"/>
            <a:chOff x="102638" y="4888981"/>
            <a:chExt cx="11952256" cy="1766172"/>
          </a:xfrm>
          <a:solidFill>
            <a:schemeClr val="bg1">
              <a:lumMod val="95000"/>
            </a:schemeClr>
          </a:solidFill>
        </p:grpSpPr>
        <p:sp>
          <p:nvSpPr>
            <p:cNvPr id="39" name="Rectangle: Rounded Corners 38">
              <a:extLst>
                <a:ext uri="{FF2B5EF4-FFF2-40B4-BE49-F238E27FC236}">
                  <a16:creationId xmlns:a16="http://schemas.microsoft.com/office/drawing/2014/main" id="{C4647997-505F-4755-9C1B-FF94DB922B5B}"/>
                </a:ext>
              </a:extLst>
            </p:cNvPr>
            <p:cNvSpPr/>
            <p:nvPr/>
          </p:nvSpPr>
          <p:spPr>
            <a:xfrm>
              <a:off x="102638" y="4888981"/>
              <a:ext cx="11952256" cy="1748944"/>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32" name="Group 31">
              <a:extLst>
                <a:ext uri="{FF2B5EF4-FFF2-40B4-BE49-F238E27FC236}">
                  <a16:creationId xmlns:a16="http://schemas.microsoft.com/office/drawing/2014/main" id="{DDDA8E87-2137-F7EA-6C4D-3524133A70C7}"/>
                </a:ext>
              </a:extLst>
            </p:cNvPr>
            <p:cNvGrpSpPr/>
            <p:nvPr/>
          </p:nvGrpSpPr>
          <p:grpSpPr>
            <a:xfrm>
              <a:off x="374409" y="4948447"/>
              <a:ext cx="3703325" cy="760446"/>
              <a:chOff x="398773" y="5021642"/>
              <a:chExt cx="3703325" cy="760446"/>
            </a:xfrm>
            <a:grpFill/>
          </p:grpSpPr>
          <p:pic>
            <p:nvPicPr>
              <p:cNvPr id="6152" name="Picture 8" descr="Ebit ">
                <a:extLst>
                  <a:ext uri="{FF2B5EF4-FFF2-40B4-BE49-F238E27FC236}">
                    <a16:creationId xmlns:a16="http://schemas.microsoft.com/office/drawing/2014/main" id="{2679E2C3-5B93-6394-0E5C-63B5C5E92E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0218" y="5021642"/>
                <a:ext cx="760446" cy="760446"/>
              </a:xfrm>
              <a:prstGeom prst="rect">
                <a:avLst/>
              </a:prstGeom>
              <a:grpFill/>
            </p:spPr>
          </p:pic>
          <p:grpSp>
            <p:nvGrpSpPr>
              <p:cNvPr id="27" name="Group 26">
                <a:extLst>
                  <a:ext uri="{FF2B5EF4-FFF2-40B4-BE49-F238E27FC236}">
                    <a16:creationId xmlns:a16="http://schemas.microsoft.com/office/drawing/2014/main" id="{920CC8B3-2310-0C55-16CF-D95221BE7648}"/>
                  </a:ext>
                </a:extLst>
              </p:cNvPr>
              <p:cNvGrpSpPr/>
              <p:nvPr/>
            </p:nvGrpSpPr>
            <p:grpSpPr>
              <a:xfrm>
                <a:off x="398773" y="5187562"/>
                <a:ext cx="1943211" cy="521331"/>
                <a:chOff x="398773" y="5187562"/>
                <a:chExt cx="1943211" cy="521331"/>
              </a:xfrm>
              <a:grpFill/>
            </p:grpSpPr>
            <p:pic>
              <p:nvPicPr>
                <p:cNvPr id="6154" name="Picture 10" descr="Profit ">
                  <a:extLst>
                    <a:ext uri="{FF2B5EF4-FFF2-40B4-BE49-F238E27FC236}">
                      <a16:creationId xmlns:a16="http://schemas.microsoft.com/office/drawing/2014/main" id="{175E4D87-2AE2-2FE9-9DD5-4088C46117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773" y="5187562"/>
                  <a:ext cx="521331" cy="521331"/>
                </a:xfrm>
                <a:prstGeom prst="rect">
                  <a:avLst/>
                </a:prstGeom>
                <a:grpFill/>
              </p:spPr>
            </p:pic>
            <p:sp>
              <p:nvSpPr>
                <p:cNvPr id="21" name="TextBox 20">
                  <a:extLst>
                    <a:ext uri="{FF2B5EF4-FFF2-40B4-BE49-F238E27FC236}">
                      <a16:creationId xmlns:a16="http://schemas.microsoft.com/office/drawing/2014/main" id="{70016DD9-8745-897F-73E3-875FEB417AF1}"/>
                    </a:ext>
                  </a:extLst>
                </p:cNvPr>
                <p:cNvSpPr txBox="1"/>
                <p:nvPr/>
              </p:nvSpPr>
              <p:spPr>
                <a:xfrm>
                  <a:off x="942392" y="5187562"/>
                  <a:ext cx="1399592" cy="492443"/>
                </a:xfrm>
                <a:prstGeom prst="rect">
                  <a:avLst/>
                </a:prstGeom>
                <a:grpFill/>
              </p:spPr>
              <p:txBody>
                <a:bodyPr wrap="square" rtlCol="0">
                  <a:spAutoFit/>
                </a:bodyPr>
                <a:lstStyle/>
                <a:p>
                  <a:r>
                    <a:rPr lang="en-IN" sz="1200" dirty="0"/>
                    <a:t>Average net profit </a:t>
                  </a:r>
                  <a:r>
                    <a:rPr lang="en-IN" sz="1400" b="1" dirty="0"/>
                    <a:t>2.2%</a:t>
                  </a:r>
                  <a:endParaRPr lang="en-IN" sz="1200" b="1" dirty="0"/>
                </a:p>
              </p:txBody>
            </p:sp>
          </p:grpSp>
          <p:sp>
            <p:nvSpPr>
              <p:cNvPr id="22" name="TextBox 21">
                <a:extLst>
                  <a:ext uri="{FF2B5EF4-FFF2-40B4-BE49-F238E27FC236}">
                    <a16:creationId xmlns:a16="http://schemas.microsoft.com/office/drawing/2014/main" id="{8BEA0934-E99C-64AE-51F1-203BC76ED030}"/>
                  </a:ext>
                </a:extLst>
              </p:cNvPr>
              <p:cNvSpPr txBox="1"/>
              <p:nvPr/>
            </p:nvSpPr>
            <p:spPr>
              <a:xfrm>
                <a:off x="3467616" y="5187562"/>
                <a:ext cx="634482" cy="492443"/>
              </a:xfrm>
              <a:prstGeom prst="rect">
                <a:avLst/>
              </a:prstGeom>
              <a:grpFill/>
            </p:spPr>
            <p:txBody>
              <a:bodyPr wrap="square" rtlCol="0">
                <a:spAutoFit/>
              </a:bodyPr>
              <a:lstStyle/>
              <a:p>
                <a:r>
                  <a:rPr lang="en-IN" sz="1200" dirty="0"/>
                  <a:t>EBIT</a:t>
                </a:r>
              </a:p>
              <a:p>
                <a:r>
                  <a:rPr lang="en-IN" sz="1400" b="1" dirty="0"/>
                  <a:t>4-8%</a:t>
                </a:r>
              </a:p>
            </p:txBody>
          </p:sp>
        </p:grpSp>
        <p:grpSp>
          <p:nvGrpSpPr>
            <p:cNvPr id="26" name="Group 25">
              <a:extLst>
                <a:ext uri="{FF2B5EF4-FFF2-40B4-BE49-F238E27FC236}">
                  <a16:creationId xmlns:a16="http://schemas.microsoft.com/office/drawing/2014/main" id="{48CC829B-B145-23C5-B51F-8F915DB8D6DA}"/>
                </a:ext>
              </a:extLst>
            </p:cNvPr>
            <p:cNvGrpSpPr/>
            <p:nvPr/>
          </p:nvGrpSpPr>
          <p:grpSpPr>
            <a:xfrm>
              <a:off x="6036384" y="4948447"/>
              <a:ext cx="4028749" cy="760446"/>
              <a:chOff x="6067632" y="5021642"/>
              <a:chExt cx="4028749" cy="760446"/>
            </a:xfrm>
            <a:grpFill/>
          </p:grpSpPr>
          <p:pic>
            <p:nvPicPr>
              <p:cNvPr id="29" name="Picture 8" descr="Ebit ">
                <a:extLst>
                  <a:ext uri="{FF2B5EF4-FFF2-40B4-BE49-F238E27FC236}">
                    <a16:creationId xmlns:a16="http://schemas.microsoft.com/office/drawing/2014/main" id="{4CE47014-198B-CF1D-B3AD-71ADC300B4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5485" y="5021642"/>
                <a:ext cx="760446" cy="760446"/>
              </a:xfrm>
              <a:prstGeom prst="rect">
                <a:avLst/>
              </a:prstGeom>
              <a:grpFill/>
            </p:spPr>
          </p:pic>
          <p:grpSp>
            <p:nvGrpSpPr>
              <p:cNvPr id="25" name="Group 24">
                <a:extLst>
                  <a:ext uri="{FF2B5EF4-FFF2-40B4-BE49-F238E27FC236}">
                    <a16:creationId xmlns:a16="http://schemas.microsoft.com/office/drawing/2014/main" id="{637A76E7-0CD4-FF69-C1D6-322822899B77}"/>
                  </a:ext>
                </a:extLst>
              </p:cNvPr>
              <p:cNvGrpSpPr/>
              <p:nvPr/>
            </p:nvGrpSpPr>
            <p:grpSpPr>
              <a:xfrm>
                <a:off x="6067632" y="5193105"/>
                <a:ext cx="1978466" cy="521331"/>
                <a:chOff x="6067632" y="5193105"/>
                <a:chExt cx="1978466" cy="521331"/>
              </a:xfrm>
              <a:grpFill/>
            </p:grpSpPr>
            <p:pic>
              <p:nvPicPr>
                <p:cNvPr id="28" name="Picture 10" descr="Profit ">
                  <a:extLst>
                    <a:ext uri="{FF2B5EF4-FFF2-40B4-BE49-F238E27FC236}">
                      <a16:creationId xmlns:a16="http://schemas.microsoft.com/office/drawing/2014/main" id="{0F5D5E23-D153-D5A6-44B4-9CF8D6A016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7632" y="5193105"/>
                  <a:ext cx="521331" cy="521331"/>
                </a:xfrm>
                <a:prstGeom prst="rect">
                  <a:avLst/>
                </a:prstGeom>
                <a:grpFill/>
              </p:spPr>
            </p:pic>
            <p:sp>
              <p:nvSpPr>
                <p:cNvPr id="30" name="TextBox 29">
                  <a:extLst>
                    <a:ext uri="{FF2B5EF4-FFF2-40B4-BE49-F238E27FC236}">
                      <a16:creationId xmlns:a16="http://schemas.microsoft.com/office/drawing/2014/main" id="{04AC7BCB-FEDC-863F-F6B8-DEEB1BE66630}"/>
                    </a:ext>
                  </a:extLst>
                </p:cNvPr>
                <p:cNvSpPr txBox="1"/>
                <p:nvPr/>
              </p:nvSpPr>
              <p:spPr>
                <a:xfrm>
                  <a:off x="6646506" y="5216450"/>
                  <a:ext cx="1399592" cy="492443"/>
                </a:xfrm>
                <a:prstGeom prst="rect">
                  <a:avLst/>
                </a:prstGeom>
                <a:grpFill/>
              </p:spPr>
              <p:txBody>
                <a:bodyPr wrap="square" rtlCol="0">
                  <a:spAutoFit/>
                </a:bodyPr>
                <a:lstStyle/>
                <a:p>
                  <a:r>
                    <a:rPr lang="en-IN" sz="1200" dirty="0"/>
                    <a:t>Average net profit </a:t>
                  </a:r>
                  <a:r>
                    <a:rPr lang="en-IN" sz="1400" b="1" dirty="0"/>
                    <a:t>10%</a:t>
                  </a:r>
                  <a:endParaRPr lang="en-IN" sz="1200" b="1" dirty="0"/>
                </a:p>
              </p:txBody>
            </p:sp>
          </p:grpSp>
          <p:sp>
            <p:nvSpPr>
              <p:cNvPr id="31" name="TextBox 30">
                <a:extLst>
                  <a:ext uri="{FF2B5EF4-FFF2-40B4-BE49-F238E27FC236}">
                    <a16:creationId xmlns:a16="http://schemas.microsoft.com/office/drawing/2014/main" id="{D68E0E31-99EE-6636-3B35-8ADFDF35EACC}"/>
                  </a:ext>
                </a:extLst>
              </p:cNvPr>
              <p:cNvSpPr txBox="1"/>
              <p:nvPr/>
            </p:nvSpPr>
            <p:spPr>
              <a:xfrm>
                <a:off x="9238102" y="5216450"/>
                <a:ext cx="858279" cy="492443"/>
              </a:xfrm>
              <a:prstGeom prst="rect">
                <a:avLst/>
              </a:prstGeom>
              <a:grpFill/>
            </p:spPr>
            <p:txBody>
              <a:bodyPr wrap="square" rtlCol="0">
                <a:spAutoFit/>
              </a:bodyPr>
              <a:lstStyle/>
              <a:p>
                <a:r>
                  <a:rPr lang="en-IN" sz="1200" dirty="0"/>
                  <a:t>EBIT</a:t>
                </a:r>
              </a:p>
              <a:p>
                <a:r>
                  <a:rPr lang="en-IN" sz="1400" b="1" dirty="0"/>
                  <a:t>15-20%</a:t>
                </a:r>
              </a:p>
            </p:txBody>
          </p:sp>
        </p:grpSp>
        <p:sp>
          <p:nvSpPr>
            <p:cNvPr id="23" name="TextBox 22">
              <a:extLst>
                <a:ext uri="{FF2B5EF4-FFF2-40B4-BE49-F238E27FC236}">
                  <a16:creationId xmlns:a16="http://schemas.microsoft.com/office/drawing/2014/main" id="{7C721BF1-1A20-FC5B-2F9A-A2EC294C83B6}"/>
                </a:ext>
              </a:extLst>
            </p:cNvPr>
            <p:cNvSpPr txBox="1"/>
            <p:nvPr/>
          </p:nvSpPr>
          <p:spPr>
            <a:xfrm>
              <a:off x="5899278" y="5597422"/>
              <a:ext cx="6155616" cy="830997"/>
            </a:xfrm>
            <a:prstGeom prst="rect">
              <a:avLst/>
            </a:prstGeom>
            <a:noFill/>
          </p:spPr>
          <p:txBody>
            <a:bodyPr wrap="square" rtlCol="0">
              <a:spAutoFit/>
            </a:bodyPr>
            <a:lstStyle/>
            <a:p>
              <a:r>
                <a:rPr lang="en-IN" sz="1200" dirty="0"/>
                <a:t>Typically, food industry has very high margins. Consider, a use case of making a Margherita Pizza. The cost incurred to make is typically around </a:t>
              </a:r>
              <a:r>
                <a:rPr lang="en-IN" sz="1200" b="0" i="0" kern="1200" dirty="0">
                  <a:effectLst/>
                  <a:latin typeface="+mn-lt"/>
                  <a:ea typeface="+mn-ea"/>
                  <a:cs typeface="+mn-cs"/>
                </a:rPr>
                <a:t>₹ </a:t>
              </a:r>
              <a:r>
                <a:rPr lang="en-IN" sz="1200" dirty="0"/>
                <a:t>55-57, while it is sold at approximately </a:t>
              </a:r>
              <a:r>
                <a:rPr lang="en-IN" sz="1200" b="0" i="0" kern="1200" dirty="0">
                  <a:effectLst/>
                  <a:latin typeface="+mn-lt"/>
                  <a:ea typeface="+mn-ea"/>
                  <a:cs typeface="+mn-cs"/>
                </a:rPr>
                <a:t>₹ </a:t>
              </a:r>
              <a:r>
                <a:rPr lang="en-IN" sz="1200" dirty="0"/>
                <a:t>200, almost 4X. Operational efficiency(EBIT) can be improved by implementing tech equipment like automatic fryers, smart refrigerators, etc.</a:t>
              </a:r>
            </a:p>
          </p:txBody>
        </p:sp>
        <p:sp>
          <p:nvSpPr>
            <p:cNvPr id="24" name="TextBox 23">
              <a:extLst>
                <a:ext uri="{FF2B5EF4-FFF2-40B4-BE49-F238E27FC236}">
                  <a16:creationId xmlns:a16="http://schemas.microsoft.com/office/drawing/2014/main" id="{A6D0E4CB-3710-8336-76A4-F01BA1005D79}"/>
                </a:ext>
              </a:extLst>
            </p:cNvPr>
            <p:cNvSpPr txBox="1"/>
            <p:nvPr/>
          </p:nvSpPr>
          <p:spPr>
            <a:xfrm>
              <a:off x="221863" y="5641266"/>
              <a:ext cx="5339181" cy="646331"/>
            </a:xfrm>
            <a:prstGeom prst="rect">
              <a:avLst/>
            </a:prstGeom>
            <a:grpFill/>
          </p:spPr>
          <p:txBody>
            <a:bodyPr wrap="square" rtlCol="0">
              <a:spAutoFit/>
            </a:bodyPr>
            <a:lstStyle/>
            <a:p>
              <a:r>
                <a:rPr lang="en-IN" sz="1200" dirty="0"/>
                <a:t>Margins in grocery industry are very low, with most of the demand being driven by discounts. Also, inventory plays an important role in providing the service. Shortage of any particular product even an SKU, leads to a bad customer experience.</a:t>
              </a:r>
            </a:p>
          </p:txBody>
        </p:sp>
        <p:sp>
          <p:nvSpPr>
            <p:cNvPr id="35" name="TextBox 34">
              <a:extLst>
                <a:ext uri="{FF2B5EF4-FFF2-40B4-BE49-F238E27FC236}">
                  <a16:creationId xmlns:a16="http://schemas.microsoft.com/office/drawing/2014/main" id="{4F038F32-C90E-93A8-DDB1-EF929C496209}"/>
                </a:ext>
              </a:extLst>
            </p:cNvPr>
            <p:cNvSpPr txBox="1"/>
            <p:nvPr/>
          </p:nvSpPr>
          <p:spPr>
            <a:xfrm>
              <a:off x="3716826" y="6378154"/>
              <a:ext cx="5179767" cy="276999"/>
            </a:xfrm>
            <a:prstGeom prst="rect">
              <a:avLst/>
            </a:prstGeom>
            <a:noFill/>
          </p:spPr>
          <p:txBody>
            <a:bodyPr wrap="square" rtlCol="0">
              <a:spAutoFit/>
            </a:bodyPr>
            <a:lstStyle/>
            <a:p>
              <a:r>
                <a:rPr lang="en-IN" sz="1200" b="1" dirty="0"/>
                <a:t>Low profit margins and low EBIT, make investments in grocery unfeasible.</a:t>
              </a:r>
            </a:p>
          </p:txBody>
        </p:sp>
      </p:grpSp>
      <p:sp>
        <p:nvSpPr>
          <p:cNvPr id="36" name="Rectangle 35">
            <a:extLst>
              <a:ext uri="{FF2B5EF4-FFF2-40B4-BE49-F238E27FC236}">
                <a16:creationId xmlns:a16="http://schemas.microsoft.com/office/drawing/2014/main" id="{C0BFD8BC-9805-40D3-C9A2-CFDB24DB2804}"/>
              </a:ext>
            </a:extLst>
          </p:cNvPr>
          <p:cNvSpPr/>
          <p:nvPr/>
        </p:nvSpPr>
        <p:spPr>
          <a:xfrm>
            <a:off x="0" y="6672381"/>
            <a:ext cx="12192000" cy="1909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Zomato should allow Blinkit to operate the grocery business model and instead venture into cloud kitchen which has higher scalability in order to make a profitable business. </a:t>
            </a:r>
          </a:p>
        </p:txBody>
      </p:sp>
      <p:grpSp>
        <p:nvGrpSpPr>
          <p:cNvPr id="45" name="Group 44">
            <a:extLst>
              <a:ext uri="{FF2B5EF4-FFF2-40B4-BE49-F238E27FC236}">
                <a16:creationId xmlns:a16="http://schemas.microsoft.com/office/drawing/2014/main" id="{BF3369E8-F4AF-1996-3DB4-7B60B6C1C776}"/>
              </a:ext>
            </a:extLst>
          </p:cNvPr>
          <p:cNvGrpSpPr/>
          <p:nvPr/>
        </p:nvGrpSpPr>
        <p:grpSpPr>
          <a:xfrm>
            <a:off x="137" y="0"/>
            <a:ext cx="12192000" cy="419879"/>
            <a:chOff x="0" y="1380931"/>
            <a:chExt cx="12039341" cy="419879"/>
          </a:xfrm>
          <a:solidFill>
            <a:schemeClr val="bg1">
              <a:lumMod val="65000"/>
            </a:schemeClr>
          </a:solidFill>
        </p:grpSpPr>
        <p:sp>
          <p:nvSpPr>
            <p:cNvPr id="46" name="Rectangle 45">
              <a:extLst>
                <a:ext uri="{FF2B5EF4-FFF2-40B4-BE49-F238E27FC236}">
                  <a16:creationId xmlns:a16="http://schemas.microsoft.com/office/drawing/2014/main" id="{A667B884-292D-3475-B2A8-C0A33A806DEB}"/>
                </a:ext>
              </a:extLst>
            </p:cNvPr>
            <p:cNvSpPr/>
            <p:nvPr/>
          </p:nvSpPr>
          <p:spPr>
            <a:xfrm>
              <a:off x="0" y="1380931"/>
              <a:ext cx="1504918" cy="4198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47" name="Rectangle 46">
              <a:extLst>
                <a:ext uri="{FF2B5EF4-FFF2-40B4-BE49-F238E27FC236}">
                  <a16:creationId xmlns:a16="http://schemas.microsoft.com/office/drawing/2014/main" id="{07183990-E233-AD9D-ACFD-1F298EFEE2E9}"/>
                </a:ext>
              </a:extLst>
            </p:cNvPr>
            <p:cNvSpPr/>
            <p:nvPr/>
          </p:nvSpPr>
          <p:spPr>
            <a:xfrm>
              <a:off x="1504918" y="1380931"/>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48" name="Rectangle 47">
              <a:extLst>
                <a:ext uri="{FF2B5EF4-FFF2-40B4-BE49-F238E27FC236}">
                  <a16:creationId xmlns:a16="http://schemas.microsoft.com/office/drawing/2014/main" id="{6F85C9DB-D0D4-8921-A22D-E4D9183DD91F}"/>
                </a:ext>
              </a:extLst>
            </p:cNvPr>
            <p:cNvSpPr/>
            <p:nvPr/>
          </p:nvSpPr>
          <p:spPr>
            <a:xfrm>
              <a:off x="3009835"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49" name="Rectangle 48">
              <a:extLst>
                <a:ext uri="{FF2B5EF4-FFF2-40B4-BE49-F238E27FC236}">
                  <a16:creationId xmlns:a16="http://schemas.microsoft.com/office/drawing/2014/main" id="{B9AAEC56-6E7E-C17F-A648-1157BBBA6B5C}"/>
                </a:ext>
              </a:extLst>
            </p:cNvPr>
            <p:cNvSpPr/>
            <p:nvPr/>
          </p:nvSpPr>
          <p:spPr>
            <a:xfrm>
              <a:off x="451475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50" name="Rectangle 49">
              <a:extLst>
                <a:ext uri="{FF2B5EF4-FFF2-40B4-BE49-F238E27FC236}">
                  <a16:creationId xmlns:a16="http://schemas.microsoft.com/office/drawing/2014/main" id="{C71E9724-404F-E856-95C7-5491288F5D2A}"/>
                </a:ext>
              </a:extLst>
            </p:cNvPr>
            <p:cNvSpPr/>
            <p:nvPr/>
          </p:nvSpPr>
          <p:spPr>
            <a:xfrm>
              <a:off x="6019671"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51" name="Rectangle 50">
              <a:extLst>
                <a:ext uri="{FF2B5EF4-FFF2-40B4-BE49-F238E27FC236}">
                  <a16:creationId xmlns:a16="http://schemas.microsoft.com/office/drawing/2014/main" id="{92E8823F-E1EC-2A94-F6A5-34021B9EA3AC}"/>
                </a:ext>
              </a:extLst>
            </p:cNvPr>
            <p:cNvSpPr/>
            <p:nvPr/>
          </p:nvSpPr>
          <p:spPr>
            <a:xfrm>
              <a:off x="7524588" y="1380932"/>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52" name="Rectangle 51">
              <a:extLst>
                <a:ext uri="{FF2B5EF4-FFF2-40B4-BE49-F238E27FC236}">
                  <a16:creationId xmlns:a16="http://schemas.microsoft.com/office/drawing/2014/main" id="{A40744F2-2FA6-B4E4-4BFA-11E5A890F084}"/>
                </a:ext>
              </a:extLst>
            </p:cNvPr>
            <p:cNvSpPr/>
            <p:nvPr/>
          </p:nvSpPr>
          <p:spPr>
            <a:xfrm>
              <a:off x="9029507"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53" name="Rectangle 52">
              <a:extLst>
                <a:ext uri="{FF2B5EF4-FFF2-40B4-BE49-F238E27FC236}">
                  <a16:creationId xmlns:a16="http://schemas.microsoft.com/office/drawing/2014/main" id="{749C13DF-6EDE-73B6-61C6-891E8286BE5B}"/>
                </a:ext>
              </a:extLst>
            </p:cNvPr>
            <p:cNvSpPr/>
            <p:nvPr/>
          </p:nvSpPr>
          <p:spPr>
            <a:xfrm>
              <a:off x="1053442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sp>
        <p:nvSpPr>
          <p:cNvPr id="54" name="Rectangle: Folded Corner 53">
            <a:extLst>
              <a:ext uri="{FF2B5EF4-FFF2-40B4-BE49-F238E27FC236}">
                <a16:creationId xmlns:a16="http://schemas.microsoft.com/office/drawing/2014/main" id="{A56A452E-99B7-E06E-2E72-699F06EC21DF}"/>
              </a:ext>
            </a:extLst>
          </p:cNvPr>
          <p:cNvSpPr/>
          <p:nvPr/>
        </p:nvSpPr>
        <p:spPr>
          <a:xfrm>
            <a:off x="1053530" y="515474"/>
            <a:ext cx="4028192" cy="241958"/>
          </a:xfrm>
          <a:prstGeom prst="foldedCorner">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ONLINE GROCERY MARKET </a:t>
            </a:r>
          </a:p>
        </p:txBody>
      </p:sp>
      <p:sp>
        <p:nvSpPr>
          <p:cNvPr id="55" name="Rectangle: Folded Corner 54">
            <a:extLst>
              <a:ext uri="{FF2B5EF4-FFF2-40B4-BE49-F238E27FC236}">
                <a16:creationId xmlns:a16="http://schemas.microsoft.com/office/drawing/2014/main" id="{A63E79AE-534B-E2F8-3F0A-B9A14875D119}"/>
              </a:ext>
            </a:extLst>
          </p:cNvPr>
          <p:cNvSpPr/>
          <p:nvPr/>
        </p:nvSpPr>
        <p:spPr>
          <a:xfrm>
            <a:off x="7000673" y="507387"/>
            <a:ext cx="4028192" cy="241958"/>
          </a:xfrm>
          <a:prstGeom prst="foldedCorner">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rPr>
              <a:t>CLOUD KITCHEN MARKET</a:t>
            </a:r>
          </a:p>
        </p:txBody>
      </p:sp>
      <p:cxnSp>
        <p:nvCxnSpPr>
          <p:cNvPr id="56" name="Straight Connector 55">
            <a:extLst>
              <a:ext uri="{FF2B5EF4-FFF2-40B4-BE49-F238E27FC236}">
                <a16:creationId xmlns:a16="http://schemas.microsoft.com/office/drawing/2014/main" id="{1F73467E-F60E-10C4-0D5C-0AB3492DF246}"/>
              </a:ext>
            </a:extLst>
          </p:cNvPr>
          <p:cNvCxnSpPr>
            <a:cxnSpLocks/>
          </p:cNvCxnSpPr>
          <p:nvPr/>
        </p:nvCxnSpPr>
        <p:spPr>
          <a:xfrm>
            <a:off x="5630244" y="5017463"/>
            <a:ext cx="0" cy="1302951"/>
          </a:xfrm>
          <a:prstGeom prst="line">
            <a:avLst/>
          </a:prstGeom>
          <a:ln w="19050">
            <a:solidFill>
              <a:srgbClr val="CB202D"/>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1D1024-473A-554F-F867-E122A8EC3A8A}"/>
              </a:ext>
            </a:extLst>
          </p:cNvPr>
          <p:cNvCxnSpPr>
            <a:cxnSpLocks/>
          </p:cNvCxnSpPr>
          <p:nvPr/>
        </p:nvCxnSpPr>
        <p:spPr>
          <a:xfrm>
            <a:off x="5626997" y="3632756"/>
            <a:ext cx="0" cy="837941"/>
          </a:xfrm>
          <a:prstGeom prst="line">
            <a:avLst/>
          </a:prstGeom>
          <a:ln w="19050">
            <a:solidFill>
              <a:srgbClr val="CB202D"/>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786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pic>
        <p:nvPicPr>
          <p:cNvPr id="3" name="Picture 2" descr="Graphical user interface, website&#10;&#10;Description automatically generated">
            <a:extLst>
              <a:ext uri="{FF2B5EF4-FFF2-40B4-BE49-F238E27FC236}">
                <a16:creationId xmlns:a16="http://schemas.microsoft.com/office/drawing/2014/main" id="{CEA7982A-94B1-DB04-EC80-577E5F1951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629" y="3137969"/>
            <a:ext cx="1992240" cy="3505620"/>
          </a:xfrm>
          <a:prstGeom prst="rect">
            <a:avLst/>
          </a:prstGeom>
        </p:spPr>
      </p:pic>
      <p:sp>
        <p:nvSpPr>
          <p:cNvPr id="5" name="TextBox 4">
            <a:extLst>
              <a:ext uri="{FF2B5EF4-FFF2-40B4-BE49-F238E27FC236}">
                <a16:creationId xmlns:a16="http://schemas.microsoft.com/office/drawing/2014/main" id="{5F5B5059-C7E6-D685-8D0E-50AC500FE843}"/>
              </a:ext>
            </a:extLst>
          </p:cNvPr>
          <p:cNvSpPr txBox="1"/>
          <p:nvPr/>
        </p:nvSpPr>
        <p:spPr>
          <a:xfrm>
            <a:off x="469776" y="529233"/>
            <a:ext cx="3415004" cy="307777"/>
          </a:xfrm>
          <a:prstGeom prst="rect">
            <a:avLst/>
          </a:prstGeom>
          <a:solidFill>
            <a:schemeClr val="bg1">
              <a:lumMod val="85000"/>
            </a:schemeClr>
          </a:solidFill>
          <a:ln>
            <a:solidFill>
              <a:schemeClr val="bg1">
                <a:lumMod val="75000"/>
              </a:schemeClr>
            </a:solidFill>
          </a:ln>
        </p:spPr>
        <p:txBody>
          <a:bodyPr wrap="square" rtlCol="0">
            <a:spAutoFit/>
          </a:bodyPr>
          <a:lstStyle/>
          <a:p>
            <a:r>
              <a:rPr lang="en-IN" sz="1400" dirty="0"/>
              <a:t>Introducing a new app for Zomato’s Kitchen</a:t>
            </a:r>
          </a:p>
        </p:txBody>
      </p:sp>
      <p:sp>
        <p:nvSpPr>
          <p:cNvPr id="6" name="TextBox 5">
            <a:extLst>
              <a:ext uri="{FF2B5EF4-FFF2-40B4-BE49-F238E27FC236}">
                <a16:creationId xmlns:a16="http://schemas.microsoft.com/office/drawing/2014/main" id="{6F9FBFA6-FC45-B2A3-D321-CB8892DD6573}"/>
              </a:ext>
            </a:extLst>
          </p:cNvPr>
          <p:cNvSpPr txBox="1"/>
          <p:nvPr/>
        </p:nvSpPr>
        <p:spPr>
          <a:xfrm>
            <a:off x="93306" y="968875"/>
            <a:ext cx="5411755" cy="1384995"/>
          </a:xfrm>
          <a:prstGeom prst="rect">
            <a:avLst/>
          </a:prstGeom>
          <a:solidFill>
            <a:schemeClr val="bg1">
              <a:lumMod val="95000"/>
            </a:schemeClr>
          </a:solidFill>
        </p:spPr>
        <p:txBody>
          <a:bodyPr wrap="square" rtlCol="0">
            <a:spAutoFit/>
          </a:bodyPr>
          <a:lstStyle/>
          <a:p>
            <a:r>
              <a:rPr lang="en-IN" sz="1400" b="1" dirty="0"/>
              <a:t>Challenges:</a:t>
            </a:r>
          </a:p>
          <a:p>
            <a:pPr marL="285750" indent="-285750">
              <a:buFont typeface="Arial" panose="020B0604020202020204" pitchFamily="34" charset="0"/>
              <a:buChar char="•"/>
            </a:pPr>
            <a:r>
              <a:rPr lang="en-IN" sz="1400" dirty="0"/>
              <a:t>Awareness about the new app being launched, time taking process</a:t>
            </a:r>
          </a:p>
          <a:p>
            <a:pPr marL="285750" indent="-285750">
              <a:buFont typeface="Arial" panose="020B0604020202020204" pitchFamily="34" charset="0"/>
              <a:buChar char="•"/>
            </a:pPr>
            <a:r>
              <a:rPr lang="en-IN" sz="1400" dirty="0"/>
              <a:t>High Customer Acquisition Cost(CAC)</a:t>
            </a:r>
          </a:p>
          <a:p>
            <a:pPr marL="285750" indent="-285750">
              <a:buFont typeface="Arial" panose="020B0604020202020204" pitchFamily="34" charset="0"/>
              <a:buChar char="•"/>
            </a:pPr>
            <a:r>
              <a:rPr lang="en-IN" sz="1400" dirty="0"/>
              <a:t>Development and Promotional costs related to launching of a new app</a:t>
            </a:r>
          </a:p>
          <a:p>
            <a:pPr marL="285750" indent="-285750">
              <a:buFont typeface="Arial" panose="020B0604020202020204" pitchFamily="34" charset="0"/>
              <a:buChar char="•"/>
            </a:pPr>
            <a:r>
              <a:rPr lang="en-IN" sz="1400" dirty="0"/>
              <a:t>Challenges with respect to integration with new system</a:t>
            </a:r>
          </a:p>
        </p:txBody>
      </p:sp>
      <p:pic>
        <p:nvPicPr>
          <p:cNvPr id="8" name="Picture 7" descr="Graphical user interface&#10;&#10;Description automatically generated">
            <a:extLst>
              <a:ext uri="{FF2B5EF4-FFF2-40B4-BE49-F238E27FC236}">
                <a16:creationId xmlns:a16="http://schemas.microsoft.com/office/drawing/2014/main" id="{86504DD7-546A-A12F-C0A6-536E378E8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7990" y="3137969"/>
            <a:ext cx="1992240" cy="3505620"/>
          </a:xfrm>
          <a:prstGeom prst="rect">
            <a:avLst/>
          </a:prstGeom>
        </p:spPr>
      </p:pic>
      <p:cxnSp>
        <p:nvCxnSpPr>
          <p:cNvPr id="10" name="Straight Connector 9">
            <a:extLst>
              <a:ext uri="{FF2B5EF4-FFF2-40B4-BE49-F238E27FC236}">
                <a16:creationId xmlns:a16="http://schemas.microsoft.com/office/drawing/2014/main" id="{94698A82-0406-78F1-CA83-68CBF44DAAA9}"/>
              </a:ext>
            </a:extLst>
          </p:cNvPr>
          <p:cNvCxnSpPr>
            <a:cxnSpLocks/>
          </p:cNvCxnSpPr>
          <p:nvPr/>
        </p:nvCxnSpPr>
        <p:spPr>
          <a:xfrm>
            <a:off x="0" y="2733869"/>
            <a:ext cx="12192000" cy="0"/>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C3DD946-6690-BC5E-0207-9D4A0F8ED4AC}"/>
              </a:ext>
            </a:extLst>
          </p:cNvPr>
          <p:cNvSpPr txBox="1"/>
          <p:nvPr/>
        </p:nvSpPr>
        <p:spPr>
          <a:xfrm>
            <a:off x="5640357" y="968875"/>
            <a:ext cx="6393023" cy="1384995"/>
          </a:xfrm>
          <a:prstGeom prst="rect">
            <a:avLst/>
          </a:prstGeom>
          <a:solidFill>
            <a:schemeClr val="bg1">
              <a:lumMod val="95000"/>
            </a:schemeClr>
          </a:solidFill>
        </p:spPr>
        <p:txBody>
          <a:bodyPr wrap="square" rtlCol="0">
            <a:spAutoFit/>
          </a:bodyPr>
          <a:lstStyle/>
          <a:p>
            <a:r>
              <a:rPr lang="en-IN" sz="1400" b="1" dirty="0"/>
              <a:t>Failure of Swiggy Daily:</a:t>
            </a:r>
          </a:p>
          <a:p>
            <a:r>
              <a:rPr lang="en-US" sz="1400" dirty="0"/>
              <a:t>Swiggy Daily was largely targeted at users who look for healthy home-cooked food at an affordable price point. It allowed users to choose three days to a month-long subscription.</a:t>
            </a:r>
          </a:p>
          <a:p>
            <a:r>
              <a:rPr lang="en-US" sz="1400" dirty="0"/>
              <a:t>The app never gained traction owing to the low awareness about the new app which resulted in weak demand, that even plummeted due to the black swan event.</a:t>
            </a:r>
            <a:endParaRPr lang="en-IN" sz="1400" dirty="0"/>
          </a:p>
        </p:txBody>
      </p:sp>
      <p:sp>
        <p:nvSpPr>
          <p:cNvPr id="13" name="TextBox 12">
            <a:extLst>
              <a:ext uri="{FF2B5EF4-FFF2-40B4-BE49-F238E27FC236}">
                <a16:creationId xmlns:a16="http://schemas.microsoft.com/office/drawing/2014/main" id="{1C6F7445-65D4-62CC-A620-9F19C70D3D05}"/>
              </a:ext>
            </a:extLst>
          </p:cNvPr>
          <p:cNvSpPr txBox="1"/>
          <p:nvPr/>
        </p:nvSpPr>
        <p:spPr>
          <a:xfrm>
            <a:off x="469776" y="2880774"/>
            <a:ext cx="5072480" cy="307777"/>
          </a:xfrm>
          <a:prstGeom prst="rect">
            <a:avLst/>
          </a:prstGeom>
          <a:solidFill>
            <a:schemeClr val="bg1">
              <a:lumMod val="85000"/>
            </a:schemeClr>
          </a:solidFill>
          <a:ln>
            <a:solidFill>
              <a:schemeClr val="bg1">
                <a:lumMod val="75000"/>
              </a:schemeClr>
            </a:solidFill>
          </a:ln>
        </p:spPr>
        <p:txBody>
          <a:bodyPr wrap="square" rtlCol="0">
            <a:spAutoFit/>
          </a:bodyPr>
          <a:lstStyle/>
          <a:p>
            <a:r>
              <a:rPr lang="en-IN" sz="1400" dirty="0"/>
              <a:t>Integrating Zomato’s Kitchen as Zomato Special in the existing app</a:t>
            </a:r>
          </a:p>
        </p:txBody>
      </p:sp>
      <p:sp>
        <p:nvSpPr>
          <p:cNvPr id="15" name="Rectangle: Rounded Corners 14">
            <a:extLst>
              <a:ext uri="{FF2B5EF4-FFF2-40B4-BE49-F238E27FC236}">
                <a16:creationId xmlns:a16="http://schemas.microsoft.com/office/drawing/2014/main" id="{D4CF9A66-508D-1EBA-4285-B2CA9052010B}"/>
              </a:ext>
            </a:extLst>
          </p:cNvPr>
          <p:cNvSpPr/>
          <p:nvPr/>
        </p:nvSpPr>
        <p:spPr>
          <a:xfrm>
            <a:off x="6503437" y="4264090"/>
            <a:ext cx="718457" cy="121298"/>
          </a:xfrm>
          <a:prstGeom prst="roundRect">
            <a:avLst/>
          </a:prstGeom>
          <a:noFill/>
          <a:ln w="28575">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E24C9E63-ED7D-520C-572E-9E6B3EC51A60}"/>
              </a:ext>
            </a:extLst>
          </p:cNvPr>
          <p:cNvSpPr/>
          <p:nvPr/>
        </p:nvSpPr>
        <p:spPr>
          <a:xfrm>
            <a:off x="10108164" y="4251641"/>
            <a:ext cx="718457" cy="121298"/>
          </a:xfrm>
          <a:prstGeom prst="roundRect">
            <a:avLst/>
          </a:prstGeom>
          <a:noFill/>
          <a:ln w="28575">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7F957CEB-000D-EFCC-6A24-F5750057ABC4}"/>
              </a:ext>
            </a:extLst>
          </p:cNvPr>
          <p:cNvCxnSpPr>
            <a:cxnSpLocks/>
            <a:stCxn id="15" idx="3"/>
            <a:endCxn id="21" idx="1"/>
          </p:cNvCxnSpPr>
          <p:nvPr/>
        </p:nvCxnSpPr>
        <p:spPr>
          <a:xfrm flipV="1">
            <a:off x="7221894" y="4316177"/>
            <a:ext cx="1273784" cy="856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572D419B-2DC8-0053-5D46-B55594171FB7}"/>
              </a:ext>
            </a:extLst>
          </p:cNvPr>
          <p:cNvSpPr/>
          <p:nvPr/>
        </p:nvSpPr>
        <p:spPr>
          <a:xfrm>
            <a:off x="8495678" y="3685588"/>
            <a:ext cx="1181006" cy="1261178"/>
          </a:xfrm>
          <a:prstGeom prst="roundRect">
            <a:avLst/>
          </a:prstGeom>
          <a:solidFill>
            <a:schemeClr val="bg2"/>
          </a:solidFill>
          <a:ln w="19050">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CB202D"/>
                </a:solidFill>
              </a:rPr>
              <a:t>Zomato’s Cloud Kitchen Special Cuisines to be listed here</a:t>
            </a:r>
          </a:p>
        </p:txBody>
      </p:sp>
      <p:cxnSp>
        <p:nvCxnSpPr>
          <p:cNvPr id="23" name="Straight Arrow Connector 22">
            <a:extLst>
              <a:ext uri="{FF2B5EF4-FFF2-40B4-BE49-F238E27FC236}">
                <a16:creationId xmlns:a16="http://schemas.microsoft.com/office/drawing/2014/main" id="{66D58094-9865-FD60-81E8-9FBD50F44100}"/>
              </a:ext>
            </a:extLst>
          </p:cNvPr>
          <p:cNvCxnSpPr>
            <a:cxnSpLocks/>
            <a:stCxn id="16" idx="1"/>
            <a:endCxn id="21" idx="3"/>
          </p:cNvCxnSpPr>
          <p:nvPr/>
        </p:nvCxnSpPr>
        <p:spPr>
          <a:xfrm flipH="1">
            <a:off x="9676684" y="4312290"/>
            <a:ext cx="431480" cy="3887"/>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B39611C-9930-38BA-B134-F729F44FB19D}"/>
              </a:ext>
            </a:extLst>
          </p:cNvPr>
          <p:cNvSpPr txBox="1"/>
          <p:nvPr/>
        </p:nvSpPr>
        <p:spPr>
          <a:xfrm>
            <a:off x="7646999" y="2808965"/>
            <a:ext cx="3179622" cy="523220"/>
          </a:xfrm>
          <a:prstGeom prst="rect">
            <a:avLst/>
          </a:prstGeom>
          <a:noFill/>
          <a:ln>
            <a:noFill/>
          </a:ln>
        </p:spPr>
        <p:txBody>
          <a:bodyPr wrap="square" rtlCol="0">
            <a:spAutoFit/>
          </a:bodyPr>
          <a:lstStyle/>
          <a:p>
            <a:pPr algn="ctr"/>
            <a:r>
              <a:rPr lang="en-IN" sz="1400" b="1" i="1" dirty="0">
                <a:solidFill>
                  <a:schemeClr val="bg1">
                    <a:lumMod val="85000"/>
                  </a:schemeClr>
                </a:solidFill>
              </a:rPr>
              <a:t>UI Changes recommended for integration</a:t>
            </a:r>
          </a:p>
        </p:txBody>
      </p:sp>
      <p:grpSp>
        <p:nvGrpSpPr>
          <p:cNvPr id="39" name="Group 38">
            <a:extLst>
              <a:ext uri="{FF2B5EF4-FFF2-40B4-BE49-F238E27FC236}">
                <a16:creationId xmlns:a16="http://schemas.microsoft.com/office/drawing/2014/main" id="{0E68BBA2-D3A5-45BB-7154-1301BC349367}"/>
              </a:ext>
            </a:extLst>
          </p:cNvPr>
          <p:cNvGrpSpPr/>
          <p:nvPr/>
        </p:nvGrpSpPr>
        <p:grpSpPr>
          <a:xfrm>
            <a:off x="916094" y="3512184"/>
            <a:ext cx="4135443" cy="2869164"/>
            <a:chOff x="93306" y="3429000"/>
            <a:chExt cx="4135443" cy="2869164"/>
          </a:xfrm>
          <a:solidFill>
            <a:schemeClr val="bg1">
              <a:lumMod val="95000"/>
            </a:schemeClr>
          </a:solidFill>
        </p:grpSpPr>
        <p:sp>
          <p:nvSpPr>
            <p:cNvPr id="36" name="Rectangle: Rounded Corners 35">
              <a:extLst>
                <a:ext uri="{FF2B5EF4-FFF2-40B4-BE49-F238E27FC236}">
                  <a16:creationId xmlns:a16="http://schemas.microsoft.com/office/drawing/2014/main" id="{223D3208-BADC-D2BA-538B-5DA4BC560F3E}"/>
                </a:ext>
              </a:extLst>
            </p:cNvPr>
            <p:cNvSpPr/>
            <p:nvPr/>
          </p:nvSpPr>
          <p:spPr>
            <a:xfrm>
              <a:off x="125807" y="3429000"/>
              <a:ext cx="4102942" cy="2869164"/>
            </a:xfrm>
            <a:prstGeom prst="roundRect">
              <a:avLst/>
            </a:prstGeom>
            <a:grpFill/>
            <a:ln>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28" name="Group 27">
              <a:extLst>
                <a:ext uri="{FF2B5EF4-FFF2-40B4-BE49-F238E27FC236}">
                  <a16:creationId xmlns:a16="http://schemas.microsoft.com/office/drawing/2014/main" id="{39E9BD71-BAD4-6C56-0096-84EC7A762523}"/>
                </a:ext>
              </a:extLst>
            </p:cNvPr>
            <p:cNvGrpSpPr/>
            <p:nvPr/>
          </p:nvGrpSpPr>
          <p:grpSpPr>
            <a:xfrm>
              <a:off x="217131" y="3575904"/>
              <a:ext cx="1679508" cy="1158342"/>
              <a:chOff x="0" y="3554964"/>
              <a:chExt cx="1679508" cy="1158342"/>
            </a:xfrm>
            <a:grpFill/>
          </p:grpSpPr>
          <p:pic>
            <p:nvPicPr>
              <p:cNvPr id="5122" name="Picture 2" descr="Customer ">
                <a:extLst>
                  <a:ext uri="{FF2B5EF4-FFF2-40B4-BE49-F238E27FC236}">
                    <a16:creationId xmlns:a16="http://schemas.microsoft.com/office/drawing/2014/main" id="{BB831C26-925B-2F7A-D7F1-649684E80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534" y="3554964"/>
                <a:ext cx="699797" cy="699797"/>
              </a:xfrm>
              <a:prstGeom prst="rect">
                <a:avLst/>
              </a:prstGeom>
              <a:grpFill/>
            </p:spPr>
          </p:pic>
          <p:sp>
            <p:nvSpPr>
              <p:cNvPr id="27" name="TextBox 26">
                <a:extLst>
                  <a:ext uri="{FF2B5EF4-FFF2-40B4-BE49-F238E27FC236}">
                    <a16:creationId xmlns:a16="http://schemas.microsoft.com/office/drawing/2014/main" id="{E861D9D8-B704-D438-0646-CC0BC9837DB4}"/>
                  </a:ext>
                </a:extLst>
              </p:cNvPr>
              <p:cNvSpPr txBox="1"/>
              <p:nvPr/>
            </p:nvSpPr>
            <p:spPr>
              <a:xfrm>
                <a:off x="0" y="4251641"/>
                <a:ext cx="1679508" cy="461665"/>
              </a:xfrm>
              <a:prstGeom prst="rect">
                <a:avLst/>
              </a:prstGeom>
              <a:grpFill/>
            </p:spPr>
            <p:txBody>
              <a:bodyPr wrap="square">
                <a:spAutoFit/>
              </a:bodyPr>
              <a:lstStyle/>
              <a:p>
                <a:pPr algn="ctr"/>
                <a:r>
                  <a:rPr lang="en-IN" sz="1200" dirty="0"/>
                  <a:t>Wider reach with existing customer base</a:t>
                </a:r>
              </a:p>
            </p:txBody>
          </p:sp>
        </p:grpSp>
        <p:grpSp>
          <p:nvGrpSpPr>
            <p:cNvPr id="29" name="Group 28">
              <a:extLst>
                <a:ext uri="{FF2B5EF4-FFF2-40B4-BE49-F238E27FC236}">
                  <a16:creationId xmlns:a16="http://schemas.microsoft.com/office/drawing/2014/main" id="{18C2FD1C-AF16-D5E4-8153-EEF37EC5ACB9}"/>
                </a:ext>
              </a:extLst>
            </p:cNvPr>
            <p:cNvGrpSpPr/>
            <p:nvPr/>
          </p:nvGrpSpPr>
          <p:grpSpPr>
            <a:xfrm>
              <a:off x="2390035" y="3579478"/>
              <a:ext cx="1804759" cy="1179436"/>
              <a:chOff x="1588328" y="3551843"/>
              <a:chExt cx="1804759" cy="1179436"/>
            </a:xfrm>
            <a:grpFill/>
          </p:grpSpPr>
          <p:pic>
            <p:nvPicPr>
              <p:cNvPr id="5124" name="Picture 4" descr="Customer ">
                <a:extLst>
                  <a:ext uri="{FF2B5EF4-FFF2-40B4-BE49-F238E27FC236}">
                    <a16:creationId xmlns:a16="http://schemas.microsoft.com/office/drawing/2014/main" id="{8438760C-E28F-45EA-93B3-38CCB8A8C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0808" y="3551843"/>
                <a:ext cx="699798" cy="699798"/>
              </a:xfrm>
              <a:prstGeom prst="rect">
                <a:avLst/>
              </a:prstGeom>
              <a:grpFill/>
            </p:spPr>
          </p:pic>
          <p:sp>
            <p:nvSpPr>
              <p:cNvPr id="30" name="TextBox 29">
                <a:extLst>
                  <a:ext uri="{FF2B5EF4-FFF2-40B4-BE49-F238E27FC236}">
                    <a16:creationId xmlns:a16="http://schemas.microsoft.com/office/drawing/2014/main" id="{5D9A7081-7BFD-A18B-7351-2B430F282687}"/>
                  </a:ext>
                </a:extLst>
              </p:cNvPr>
              <p:cNvSpPr txBox="1"/>
              <p:nvPr/>
            </p:nvSpPr>
            <p:spPr>
              <a:xfrm>
                <a:off x="1588328" y="4269614"/>
                <a:ext cx="1804759" cy="461665"/>
              </a:xfrm>
              <a:prstGeom prst="rect">
                <a:avLst/>
              </a:prstGeom>
              <a:grpFill/>
            </p:spPr>
            <p:txBody>
              <a:bodyPr wrap="square">
                <a:spAutoFit/>
              </a:bodyPr>
              <a:lstStyle/>
              <a:p>
                <a:pPr algn="ctr"/>
                <a:r>
                  <a:rPr lang="en-IN" sz="1200" dirty="0"/>
                  <a:t>Low Customer Acquisition Cost(CAC)</a:t>
                </a:r>
              </a:p>
            </p:txBody>
          </p:sp>
        </p:grpSp>
        <p:grpSp>
          <p:nvGrpSpPr>
            <p:cNvPr id="33" name="Group 32">
              <a:extLst>
                <a:ext uri="{FF2B5EF4-FFF2-40B4-BE49-F238E27FC236}">
                  <a16:creationId xmlns:a16="http://schemas.microsoft.com/office/drawing/2014/main" id="{7973DDC7-F775-7D0A-46F3-2CD616395A51}"/>
                </a:ext>
              </a:extLst>
            </p:cNvPr>
            <p:cNvGrpSpPr/>
            <p:nvPr/>
          </p:nvGrpSpPr>
          <p:grpSpPr>
            <a:xfrm>
              <a:off x="93306" y="4890779"/>
              <a:ext cx="1679508" cy="1189298"/>
              <a:chOff x="1381470" y="4855401"/>
              <a:chExt cx="1679508" cy="1189298"/>
            </a:xfrm>
            <a:grpFill/>
          </p:grpSpPr>
          <p:pic>
            <p:nvPicPr>
              <p:cNvPr id="5126" name="Picture 6" descr="Low prices ">
                <a:extLst>
                  <a:ext uri="{FF2B5EF4-FFF2-40B4-BE49-F238E27FC236}">
                    <a16:creationId xmlns:a16="http://schemas.microsoft.com/office/drawing/2014/main" id="{D16D1B73-3D51-A966-2CA0-AA5879DF44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6120" y="4855401"/>
                <a:ext cx="727633" cy="727633"/>
              </a:xfrm>
              <a:prstGeom prst="rect">
                <a:avLst/>
              </a:prstGeom>
              <a:grpFill/>
            </p:spPr>
          </p:pic>
          <p:sp>
            <p:nvSpPr>
              <p:cNvPr id="35" name="TextBox 34">
                <a:extLst>
                  <a:ext uri="{FF2B5EF4-FFF2-40B4-BE49-F238E27FC236}">
                    <a16:creationId xmlns:a16="http://schemas.microsoft.com/office/drawing/2014/main" id="{FE2B007D-28E8-636F-CF33-BA78BA53E5E6}"/>
                  </a:ext>
                </a:extLst>
              </p:cNvPr>
              <p:cNvSpPr txBox="1"/>
              <p:nvPr/>
            </p:nvSpPr>
            <p:spPr>
              <a:xfrm>
                <a:off x="1381470" y="5583034"/>
                <a:ext cx="1679508" cy="461665"/>
              </a:xfrm>
              <a:prstGeom prst="rect">
                <a:avLst/>
              </a:prstGeom>
              <a:noFill/>
            </p:spPr>
            <p:txBody>
              <a:bodyPr wrap="square">
                <a:spAutoFit/>
              </a:bodyPr>
              <a:lstStyle/>
              <a:p>
                <a:pPr algn="ctr"/>
                <a:r>
                  <a:rPr lang="en-IN" sz="1200" dirty="0"/>
                  <a:t>Low integration cost incurred</a:t>
                </a:r>
              </a:p>
            </p:txBody>
          </p:sp>
        </p:grpSp>
        <p:grpSp>
          <p:nvGrpSpPr>
            <p:cNvPr id="34" name="Group 33">
              <a:extLst>
                <a:ext uri="{FF2B5EF4-FFF2-40B4-BE49-F238E27FC236}">
                  <a16:creationId xmlns:a16="http://schemas.microsoft.com/office/drawing/2014/main" id="{28B5AA90-F1E6-8375-85E6-46095AA5114E}"/>
                </a:ext>
              </a:extLst>
            </p:cNvPr>
            <p:cNvGrpSpPr/>
            <p:nvPr/>
          </p:nvGrpSpPr>
          <p:grpSpPr>
            <a:xfrm>
              <a:off x="2618998" y="4890779"/>
              <a:ext cx="1346832" cy="1034534"/>
              <a:chOff x="3078403" y="4825499"/>
              <a:chExt cx="1346832" cy="1034534"/>
            </a:xfrm>
            <a:grpFill/>
          </p:grpSpPr>
          <p:pic>
            <p:nvPicPr>
              <p:cNvPr id="5128" name="Picture 8" descr="Promotion ">
                <a:extLst>
                  <a:ext uri="{FF2B5EF4-FFF2-40B4-BE49-F238E27FC236}">
                    <a16:creationId xmlns:a16="http://schemas.microsoft.com/office/drawing/2014/main" id="{F77586DA-7A70-2F21-34A1-32EFEF196FA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1333" y="4825499"/>
                <a:ext cx="727633" cy="727633"/>
              </a:xfrm>
              <a:prstGeom prst="rect">
                <a:avLst/>
              </a:prstGeom>
              <a:grpFill/>
            </p:spPr>
          </p:pic>
          <p:sp>
            <p:nvSpPr>
              <p:cNvPr id="32" name="TextBox 31">
                <a:extLst>
                  <a:ext uri="{FF2B5EF4-FFF2-40B4-BE49-F238E27FC236}">
                    <a16:creationId xmlns:a16="http://schemas.microsoft.com/office/drawing/2014/main" id="{8A3292D1-B9B0-17F4-2AF9-BD3B5ABAC316}"/>
                  </a:ext>
                </a:extLst>
              </p:cNvPr>
              <p:cNvSpPr txBox="1"/>
              <p:nvPr/>
            </p:nvSpPr>
            <p:spPr>
              <a:xfrm>
                <a:off x="3078403" y="5583034"/>
                <a:ext cx="1346832" cy="276999"/>
              </a:xfrm>
              <a:prstGeom prst="rect">
                <a:avLst/>
              </a:prstGeom>
              <a:grpFill/>
            </p:spPr>
            <p:txBody>
              <a:bodyPr wrap="square" rtlCol="0">
                <a:spAutoFit/>
              </a:bodyPr>
              <a:lstStyle/>
              <a:p>
                <a:r>
                  <a:rPr lang="en-IN" sz="1200" dirty="0"/>
                  <a:t>In App promotions</a:t>
                </a:r>
              </a:p>
            </p:txBody>
          </p:sp>
        </p:grpSp>
      </p:grpSp>
      <p:sp>
        <p:nvSpPr>
          <p:cNvPr id="37" name="Oval 36">
            <a:extLst>
              <a:ext uri="{FF2B5EF4-FFF2-40B4-BE49-F238E27FC236}">
                <a16:creationId xmlns:a16="http://schemas.microsoft.com/office/drawing/2014/main" id="{B2AB5638-B2EE-4A67-8B30-F2056BD6DAE8}"/>
              </a:ext>
            </a:extLst>
          </p:cNvPr>
          <p:cNvSpPr/>
          <p:nvPr/>
        </p:nvSpPr>
        <p:spPr>
          <a:xfrm>
            <a:off x="116476" y="501197"/>
            <a:ext cx="343969" cy="364547"/>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42" name="Oval 41">
            <a:extLst>
              <a:ext uri="{FF2B5EF4-FFF2-40B4-BE49-F238E27FC236}">
                <a16:creationId xmlns:a16="http://schemas.microsoft.com/office/drawing/2014/main" id="{FC50288E-C788-A10A-80B4-C9A50F079CB3}"/>
              </a:ext>
            </a:extLst>
          </p:cNvPr>
          <p:cNvSpPr/>
          <p:nvPr/>
        </p:nvSpPr>
        <p:spPr>
          <a:xfrm>
            <a:off x="111425" y="2846366"/>
            <a:ext cx="343969" cy="364547"/>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40" name="Rectangle: Rounded Corners 39">
            <a:extLst>
              <a:ext uri="{FF2B5EF4-FFF2-40B4-BE49-F238E27FC236}">
                <a16:creationId xmlns:a16="http://schemas.microsoft.com/office/drawing/2014/main" id="{7E0905F0-2115-137C-AC02-953E623D4A72}"/>
              </a:ext>
            </a:extLst>
          </p:cNvPr>
          <p:cNvSpPr/>
          <p:nvPr/>
        </p:nvSpPr>
        <p:spPr>
          <a:xfrm>
            <a:off x="7623708" y="4862179"/>
            <a:ext cx="535948" cy="131849"/>
          </a:xfrm>
          <a:prstGeom prst="roundRect">
            <a:avLst/>
          </a:prstGeom>
          <a:noFill/>
          <a:ln w="19050">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Rounded Corners 45">
            <a:extLst>
              <a:ext uri="{FF2B5EF4-FFF2-40B4-BE49-F238E27FC236}">
                <a16:creationId xmlns:a16="http://schemas.microsoft.com/office/drawing/2014/main" id="{984A68EB-2C19-0C44-2A10-85DF0C4859CC}"/>
              </a:ext>
            </a:extLst>
          </p:cNvPr>
          <p:cNvSpPr/>
          <p:nvPr/>
        </p:nvSpPr>
        <p:spPr>
          <a:xfrm>
            <a:off x="11243405" y="4871509"/>
            <a:ext cx="535948" cy="131849"/>
          </a:xfrm>
          <a:prstGeom prst="roundRect">
            <a:avLst/>
          </a:prstGeom>
          <a:noFill/>
          <a:ln w="19050">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AC61E039-62D6-0EDC-C394-C7E5E67CC63E}"/>
              </a:ext>
            </a:extLst>
          </p:cNvPr>
          <p:cNvSpPr/>
          <p:nvPr/>
        </p:nvSpPr>
        <p:spPr>
          <a:xfrm>
            <a:off x="8564940" y="5234473"/>
            <a:ext cx="1017599" cy="774024"/>
          </a:xfrm>
          <a:prstGeom prst="roundRect">
            <a:avLst/>
          </a:prstGeom>
          <a:solidFill>
            <a:schemeClr val="bg2"/>
          </a:solidFill>
          <a:ln w="19050">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CB202D"/>
                </a:solidFill>
              </a:rPr>
              <a:t>Zomato hygiene certified tag</a:t>
            </a:r>
          </a:p>
        </p:txBody>
      </p:sp>
      <p:cxnSp>
        <p:nvCxnSpPr>
          <p:cNvPr id="45" name="Connector: Elbow 44">
            <a:extLst>
              <a:ext uri="{FF2B5EF4-FFF2-40B4-BE49-F238E27FC236}">
                <a16:creationId xmlns:a16="http://schemas.microsoft.com/office/drawing/2014/main" id="{0750D748-3DE6-51F5-FDFC-752E613F7978}"/>
              </a:ext>
            </a:extLst>
          </p:cNvPr>
          <p:cNvCxnSpPr>
            <a:stCxn id="40" idx="2"/>
            <a:endCxn id="43" idx="1"/>
          </p:cNvCxnSpPr>
          <p:nvPr/>
        </p:nvCxnSpPr>
        <p:spPr>
          <a:xfrm rot="16200000" flipH="1">
            <a:off x="7914583" y="4971127"/>
            <a:ext cx="627457" cy="67325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56E0A717-CCB8-0066-8103-DBFDC67EBF73}"/>
              </a:ext>
            </a:extLst>
          </p:cNvPr>
          <p:cNvCxnSpPr>
            <a:stCxn id="46" idx="2"/>
            <a:endCxn id="43" idx="3"/>
          </p:cNvCxnSpPr>
          <p:nvPr/>
        </p:nvCxnSpPr>
        <p:spPr>
          <a:xfrm rot="5400000">
            <a:off x="10237896" y="4348001"/>
            <a:ext cx="618127" cy="192884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0B0C033B-B09C-A9A3-C9A3-8910A14C80FC}"/>
              </a:ext>
            </a:extLst>
          </p:cNvPr>
          <p:cNvGrpSpPr/>
          <p:nvPr/>
        </p:nvGrpSpPr>
        <p:grpSpPr>
          <a:xfrm>
            <a:off x="137" y="0"/>
            <a:ext cx="12192000" cy="419879"/>
            <a:chOff x="0" y="1380931"/>
            <a:chExt cx="12039341" cy="419879"/>
          </a:xfrm>
          <a:solidFill>
            <a:schemeClr val="bg1">
              <a:lumMod val="65000"/>
            </a:schemeClr>
          </a:solidFill>
        </p:grpSpPr>
        <p:sp>
          <p:nvSpPr>
            <p:cNvPr id="57" name="Rectangle 56">
              <a:extLst>
                <a:ext uri="{FF2B5EF4-FFF2-40B4-BE49-F238E27FC236}">
                  <a16:creationId xmlns:a16="http://schemas.microsoft.com/office/drawing/2014/main" id="{344DFEFB-738D-EA5B-FD1F-A9FE4F580A5D}"/>
                </a:ext>
              </a:extLst>
            </p:cNvPr>
            <p:cNvSpPr/>
            <p:nvPr/>
          </p:nvSpPr>
          <p:spPr>
            <a:xfrm>
              <a:off x="0" y="1380931"/>
              <a:ext cx="1504918" cy="4198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58" name="Rectangle 57">
              <a:extLst>
                <a:ext uri="{FF2B5EF4-FFF2-40B4-BE49-F238E27FC236}">
                  <a16:creationId xmlns:a16="http://schemas.microsoft.com/office/drawing/2014/main" id="{E5E69F20-753F-4228-BBBD-12C01EF3434D}"/>
                </a:ext>
              </a:extLst>
            </p:cNvPr>
            <p:cNvSpPr/>
            <p:nvPr/>
          </p:nvSpPr>
          <p:spPr>
            <a:xfrm>
              <a:off x="1504918"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59" name="Rectangle 58">
              <a:extLst>
                <a:ext uri="{FF2B5EF4-FFF2-40B4-BE49-F238E27FC236}">
                  <a16:creationId xmlns:a16="http://schemas.microsoft.com/office/drawing/2014/main" id="{4C440EBF-2D20-643A-866F-1F0BD9BEBFA9}"/>
                </a:ext>
              </a:extLst>
            </p:cNvPr>
            <p:cNvSpPr/>
            <p:nvPr/>
          </p:nvSpPr>
          <p:spPr>
            <a:xfrm>
              <a:off x="3009835" y="1380931"/>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60" name="Rectangle 59">
              <a:extLst>
                <a:ext uri="{FF2B5EF4-FFF2-40B4-BE49-F238E27FC236}">
                  <a16:creationId xmlns:a16="http://schemas.microsoft.com/office/drawing/2014/main" id="{3CAA2914-63B4-4625-5CE6-85D2F1C9BA73}"/>
                </a:ext>
              </a:extLst>
            </p:cNvPr>
            <p:cNvSpPr/>
            <p:nvPr/>
          </p:nvSpPr>
          <p:spPr>
            <a:xfrm>
              <a:off x="451475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61" name="Rectangle 60">
              <a:extLst>
                <a:ext uri="{FF2B5EF4-FFF2-40B4-BE49-F238E27FC236}">
                  <a16:creationId xmlns:a16="http://schemas.microsoft.com/office/drawing/2014/main" id="{8CA3DDEE-459B-FE45-4763-1199E54153ED}"/>
                </a:ext>
              </a:extLst>
            </p:cNvPr>
            <p:cNvSpPr/>
            <p:nvPr/>
          </p:nvSpPr>
          <p:spPr>
            <a:xfrm>
              <a:off x="6019671"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62" name="Rectangle 61">
              <a:extLst>
                <a:ext uri="{FF2B5EF4-FFF2-40B4-BE49-F238E27FC236}">
                  <a16:creationId xmlns:a16="http://schemas.microsoft.com/office/drawing/2014/main" id="{7BC81BC2-F7E2-0EAB-B2AD-58EA0DAE0A2F}"/>
                </a:ext>
              </a:extLst>
            </p:cNvPr>
            <p:cNvSpPr/>
            <p:nvPr/>
          </p:nvSpPr>
          <p:spPr>
            <a:xfrm>
              <a:off x="7524588" y="1380932"/>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63" name="Rectangle 62">
              <a:extLst>
                <a:ext uri="{FF2B5EF4-FFF2-40B4-BE49-F238E27FC236}">
                  <a16:creationId xmlns:a16="http://schemas.microsoft.com/office/drawing/2014/main" id="{BF412C6B-DE5E-A954-FBE5-132DA652E83A}"/>
                </a:ext>
              </a:extLst>
            </p:cNvPr>
            <p:cNvSpPr/>
            <p:nvPr/>
          </p:nvSpPr>
          <p:spPr>
            <a:xfrm>
              <a:off x="9029507"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64" name="Rectangle 63">
              <a:extLst>
                <a:ext uri="{FF2B5EF4-FFF2-40B4-BE49-F238E27FC236}">
                  <a16:creationId xmlns:a16="http://schemas.microsoft.com/office/drawing/2014/main" id="{E64B4407-C42F-E49C-0BA0-FFF89080A301}"/>
                </a:ext>
              </a:extLst>
            </p:cNvPr>
            <p:cNvSpPr/>
            <p:nvPr/>
          </p:nvSpPr>
          <p:spPr>
            <a:xfrm>
              <a:off x="1053442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spTree>
    <p:extLst>
      <p:ext uri="{BB962C8B-B14F-4D97-AF65-F5344CB8AC3E}">
        <p14:creationId xmlns:p14="http://schemas.microsoft.com/office/powerpoint/2010/main" val="809067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7A15110-9CCE-BDC4-E414-A99E06A0E726}"/>
              </a:ext>
            </a:extLst>
          </p:cNvPr>
          <p:cNvSpPr/>
          <p:nvPr/>
        </p:nvSpPr>
        <p:spPr>
          <a:xfrm>
            <a:off x="373224" y="1240971"/>
            <a:ext cx="11430000" cy="451601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 name="Diagram 3">
            <a:extLst>
              <a:ext uri="{FF2B5EF4-FFF2-40B4-BE49-F238E27FC236}">
                <a16:creationId xmlns:a16="http://schemas.microsoft.com/office/drawing/2014/main" id="{8F21CE64-48AC-7F5B-8460-CC48FB8353F7}"/>
              </a:ext>
            </a:extLst>
          </p:cNvPr>
          <p:cNvGraphicFramePr/>
          <p:nvPr>
            <p:extLst>
              <p:ext uri="{D42A27DB-BD31-4B8C-83A1-F6EECF244321}">
                <p14:modId xmlns:p14="http://schemas.microsoft.com/office/powerpoint/2010/main" val="4231186771"/>
              </p:ext>
            </p:extLst>
          </p:nvPr>
        </p:nvGraphicFramePr>
        <p:xfrm>
          <a:off x="912325" y="755779"/>
          <a:ext cx="10144450" cy="58210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5">
            <a:extLst>
              <a:ext uri="{FF2B5EF4-FFF2-40B4-BE49-F238E27FC236}">
                <a16:creationId xmlns:a16="http://schemas.microsoft.com/office/drawing/2014/main" id="{78C5465D-57C2-51FB-1DC2-588391BA0387}"/>
              </a:ext>
            </a:extLst>
          </p:cNvPr>
          <p:cNvGrpSpPr/>
          <p:nvPr/>
        </p:nvGrpSpPr>
        <p:grpSpPr>
          <a:xfrm>
            <a:off x="137" y="0"/>
            <a:ext cx="12192000" cy="419879"/>
            <a:chOff x="0" y="1380931"/>
            <a:chExt cx="12039341" cy="419879"/>
          </a:xfrm>
          <a:solidFill>
            <a:schemeClr val="bg1">
              <a:lumMod val="65000"/>
            </a:schemeClr>
          </a:solidFill>
        </p:grpSpPr>
        <p:sp>
          <p:nvSpPr>
            <p:cNvPr id="7" name="Rectangle 6">
              <a:extLst>
                <a:ext uri="{FF2B5EF4-FFF2-40B4-BE49-F238E27FC236}">
                  <a16:creationId xmlns:a16="http://schemas.microsoft.com/office/drawing/2014/main" id="{9F7BEEF9-5446-2A36-B559-44662CB7ADFA}"/>
                </a:ext>
              </a:extLst>
            </p:cNvPr>
            <p:cNvSpPr/>
            <p:nvPr/>
          </p:nvSpPr>
          <p:spPr>
            <a:xfrm>
              <a:off x="0" y="1380931"/>
              <a:ext cx="1504918" cy="4198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8" name="Rectangle 7">
              <a:extLst>
                <a:ext uri="{FF2B5EF4-FFF2-40B4-BE49-F238E27FC236}">
                  <a16:creationId xmlns:a16="http://schemas.microsoft.com/office/drawing/2014/main" id="{650A99DB-5B22-9706-A9A5-D1E54DBB2433}"/>
                </a:ext>
              </a:extLst>
            </p:cNvPr>
            <p:cNvSpPr/>
            <p:nvPr/>
          </p:nvSpPr>
          <p:spPr>
            <a:xfrm>
              <a:off x="1504918"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9" name="Rectangle 8">
              <a:extLst>
                <a:ext uri="{FF2B5EF4-FFF2-40B4-BE49-F238E27FC236}">
                  <a16:creationId xmlns:a16="http://schemas.microsoft.com/office/drawing/2014/main" id="{53DAD422-2D1A-F36D-E034-4303D818F865}"/>
                </a:ext>
              </a:extLst>
            </p:cNvPr>
            <p:cNvSpPr/>
            <p:nvPr/>
          </p:nvSpPr>
          <p:spPr>
            <a:xfrm>
              <a:off x="3009835"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10" name="Rectangle 9">
              <a:extLst>
                <a:ext uri="{FF2B5EF4-FFF2-40B4-BE49-F238E27FC236}">
                  <a16:creationId xmlns:a16="http://schemas.microsoft.com/office/drawing/2014/main" id="{B05D3597-04A7-D8FC-9E03-A1335368CB85}"/>
                </a:ext>
              </a:extLst>
            </p:cNvPr>
            <p:cNvSpPr/>
            <p:nvPr/>
          </p:nvSpPr>
          <p:spPr>
            <a:xfrm>
              <a:off x="4514753" y="1380931"/>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11" name="Rectangle 10">
              <a:extLst>
                <a:ext uri="{FF2B5EF4-FFF2-40B4-BE49-F238E27FC236}">
                  <a16:creationId xmlns:a16="http://schemas.microsoft.com/office/drawing/2014/main" id="{D8242FAF-E22D-2676-FF81-77D318A90EFB}"/>
                </a:ext>
              </a:extLst>
            </p:cNvPr>
            <p:cNvSpPr/>
            <p:nvPr/>
          </p:nvSpPr>
          <p:spPr>
            <a:xfrm>
              <a:off x="6019671"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12" name="Rectangle 11">
              <a:extLst>
                <a:ext uri="{FF2B5EF4-FFF2-40B4-BE49-F238E27FC236}">
                  <a16:creationId xmlns:a16="http://schemas.microsoft.com/office/drawing/2014/main" id="{AA7C4117-FCAD-C164-0803-8BAAC312F67B}"/>
                </a:ext>
              </a:extLst>
            </p:cNvPr>
            <p:cNvSpPr/>
            <p:nvPr/>
          </p:nvSpPr>
          <p:spPr>
            <a:xfrm>
              <a:off x="7524588" y="1380932"/>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13" name="Rectangle 12">
              <a:extLst>
                <a:ext uri="{FF2B5EF4-FFF2-40B4-BE49-F238E27FC236}">
                  <a16:creationId xmlns:a16="http://schemas.microsoft.com/office/drawing/2014/main" id="{A719A948-A782-70D3-E570-B4FED9524D95}"/>
                </a:ext>
              </a:extLst>
            </p:cNvPr>
            <p:cNvSpPr/>
            <p:nvPr/>
          </p:nvSpPr>
          <p:spPr>
            <a:xfrm>
              <a:off x="9029507"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14" name="Rectangle 13">
              <a:extLst>
                <a:ext uri="{FF2B5EF4-FFF2-40B4-BE49-F238E27FC236}">
                  <a16:creationId xmlns:a16="http://schemas.microsoft.com/office/drawing/2014/main" id="{3B4C0FAE-5330-DA89-422D-2A931B1AC624}"/>
                </a:ext>
              </a:extLst>
            </p:cNvPr>
            <p:cNvSpPr/>
            <p:nvPr/>
          </p:nvSpPr>
          <p:spPr>
            <a:xfrm>
              <a:off x="1053442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spTree>
    <p:extLst>
      <p:ext uri="{BB962C8B-B14F-4D97-AF65-F5344CB8AC3E}">
        <p14:creationId xmlns:p14="http://schemas.microsoft.com/office/powerpoint/2010/main" val="2530511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graphicFrame>
        <p:nvGraphicFramePr>
          <p:cNvPr id="16" name="Table 17">
            <a:extLst>
              <a:ext uri="{FF2B5EF4-FFF2-40B4-BE49-F238E27FC236}">
                <a16:creationId xmlns:a16="http://schemas.microsoft.com/office/drawing/2014/main" id="{07DFC549-111A-43B6-AEAA-329DA9CD2AB5}"/>
              </a:ext>
            </a:extLst>
          </p:cNvPr>
          <p:cNvGraphicFramePr>
            <a:graphicFrameLocks noGrp="1"/>
          </p:cNvGraphicFramePr>
          <p:nvPr>
            <p:extLst>
              <p:ext uri="{D42A27DB-BD31-4B8C-83A1-F6EECF244321}">
                <p14:modId xmlns:p14="http://schemas.microsoft.com/office/powerpoint/2010/main" val="1885800104"/>
              </p:ext>
            </p:extLst>
          </p:nvPr>
        </p:nvGraphicFramePr>
        <p:xfrm>
          <a:off x="113185" y="546126"/>
          <a:ext cx="11867322" cy="3890322"/>
        </p:xfrm>
        <a:graphic>
          <a:graphicData uri="http://schemas.openxmlformats.org/drawingml/2006/table">
            <a:tbl>
              <a:tblPr firstRow="1" bandRow="1">
                <a:tableStyleId>{5C22544A-7EE6-4342-B048-85BDC9FD1C3A}</a:tableStyleId>
              </a:tblPr>
              <a:tblGrid>
                <a:gridCol w="1837985">
                  <a:extLst>
                    <a:ext uri="{9D8B030D-6E8A-4147-A177-3AD203B41FA5}">
                      <a16:colId xmlns:a16="http://schemas.microsoft.com/office/drawing/2014/main" val="3519900651"/>
                    </a:ext>
                  </a:extLst>
                </a:gridCol>
                <a:gridCol w="4443858">
                  <a:extLst>
                    <a:ext uri="{9D8B030D-6E8A-4147-A177-3AD203B41FA5}">
                      <a16:colId xmlns:a16="http://schemas.microsoft.com/office/drawing/2014/main" val="3037087722"/>
                    </a:ext>
                  </a:extLst>
                </a:gridCol>
                <a:gridCol w="1424025">
                  <a:extLst>
                    <a:ext uri="{9D8B030D-6E8A-4147-A177-3AD203B41FA5}">
                      <a16:colId xmlns:a16="http://schemas.microsoft.com/office/drawing/2014/main" val="750777013"/>
                    </a:ext>
                  </a:extLst>
                </a:gridCol>
                <a:gridCol w="1925668">
                  <a:extLst>
                    <a:ext uri="{9D8B030D-6E8A-4147-A177-3AD203B41FA5}">
                      <a16:colId xmlns:a16="http://schemas.microsoft.com/office/drawing/2014/main" val="3777133968"/>
                    </a:ext>
                  </a:extLst>
                </a:gridCol>
                <a:gridCol w="2235786">
                  <a:extLst>
                    <a:ext uri="{9D8B030D-6E8A-4147-A177-3AD203B41FA5}">
                      <a16:colId xmlns:a16="http://schemas.microsoft.com/office/drawing/2014/main" val="1316315936"/>
                    </a:ext>
                  </a:extLst>
                </a:gridCol>
              </a:tblGrid>
              <a:tr h="294226">
                <a:tc>
                  <a:txBody>
                    <a:bodyPr/>
                    <a:lstStyle/>
                    <a:p>
                      <a:pPr algn="ctr"/>
                      <a:r>
                        <a:rPr lang="en-IN" sz="1200" b="1" dirty="0"/>
                        <a:t>Demographic Segments</a:t>
                      </a:r>
                    </a:p>
                  </a:txBody>
                  <a:tcPr>
                    <a:solidFill>
                      <a:srgbClr val="CB202D"/>
                    </a:solidFill>
                  </a:tcPr>
                </a:tc>
                <a:tc>
                  <a:txBody>
                    <a:bodyPr/>
                    <a:lstStyle/>
                    <a:p>
                      <a:pPr algn="ctr"/>
                      <a:r>
                        <a:rPr lang="en-IN" sz="1200" dirty="0"/>
                        <a:t>Profile</a:t>
                      </a:r>
                    </a:p>
                  </a:txBody>
                  <a:tcPr>
                    <a:solidFill>
                      <a:srgbClr val="CB202D"/>
                    </a:solidFill>
                  </a:tcPr>
                </a:tc>
                <a:tc>
                  <a:txBody>
                    <a:bodyPr/>
                    <a:lstStyle/>
                    <a:p>
                      <a:pPr algn="ctr"/>
                      <a:r>
                        <a:rPr lang="en-IN" sz="1200" dirty="0"/>
                        <a:t>Participation Rate*</a:t>
                      </a:r>
                    </a:p>
                  </a:txBody>
                  <a:tcPr>
                    <a:solidFill>
                      <a:srgbClr val="CB202D"/>
                    </a:solidFill>
                  </a:tcPr>
                </a:tc>
                <a:tc>
                  <a:txBody>
                    <a:bodyPr/>
                    <a:lstStyle/>
                    <a:p>
                      <a:pPr algn="ctr"/>
                      <a:r>
                        <a:rPr lang="en-IN" sz="1200" dirty="0"/>
                        <a:t>Targeting</a:t>
                      </a:r>
                    </a:p>
                  </a:txBody>
                  <a:tcPr>
                    <a:solidFill>
                      <a:srgbClr val="CB202D"/>
                    </a:solidFill>
                  </a:tcPr>
                </a:tc>
                <a:tc>
                  <a:txBody>
                    <a:bodyPr/>
                    <a:lstStyle/>
                    <a:p>
                      <a:pPr algn="ctr"/>
                      <a:r>
                        <a:rPr lang="en-IN" sz="1200" dirty="0"/>
                        <a:t>Positioning</a:t>
                      </a:r>
                    </a:p>
                  </a:txBody>
                  <a:tcPr>
                    <a:solidFill>
                      <a:srgbClr val="CB202D"/>
                    </a:solidFill>
                  </a:tcPr>
                </a:tc>
                <a:extLst>
                  <a:ext uri="{0D108BD9-81ED-4DB2-BD59-A6C34878D82A}">
                    <a16:rowId xmlns:a16="http://schemas.microsoft.com/office/drawing/2014/main" val="525976586"/>
                  </a:ext>
                </a:extLst>
              </a:tr>
              <a:tr h="751911">
                <a:tc>
                  <a:txBody>
                    <a:bodyPr/>
                    <a:lstStyle/>
                    <a:p>
                      <a:r>
                        <a:rPr lang="en-IN" sz="1000" b="1" dirty="0"/>
                        <a:t>PG/ Hostel dwellers</a:t>
                      </a:r>
                    </a:p>
                  </a:txBody>
                  <a:tcPr>
                    <a:solidFill>
                      <a:schemeClr val="bg1">
                        <a:lumMod val="95000"/>
                      </a:schemeClr>
                    </a:solidFill>
                  </a:tcPr>
                </a:tc>
                <a:tc>
                  <a:txBody>
                    <a:bodyPr/>
                    <a:lstStyle/>
                    <a:p>
                      <a:pPr marL="171450" indent="-171450">
                        <a:buFont typeface="Arial" panose="020B0604020202020204" pitchFamily="34" charset="0"/>
                        <a:buChar char="•"/>
                      </a:pPr>
                      <a:r>
                        <a:rPr lang="en-US" sz="1000" dirty="0"/>
                        <a:t>Shares room with 2 to 4 people or even live individually</a:t>
                      </a:r>
                    </a:p>
                    <a:p>
                      <a:pPr marL="171450" indent="-171450">
                        <a:buFont typeface="Arial" panose="020B0604020202020204" pitchFamily="34" charset="0"/>
                        <a:buChar char="•"/>
                      </a:pPr>
                      <a:r>
                        <a:rPr lang="en-US" sz="1000" dirty="0"/>
                        <a:t>Cooking tendency low, skip meals often</a:t>
                      </a:r>
                    </a:p>
                    <a:p>
                      <a:pPr marL="171450" indent="-171450">
                        <a:buFont typeface="Arial" panose="020B0604020202020204" pitchFamily="34" charset="0"/>
                        <a:buChar char="•"/>
                      </a:pPr>
                      <a:r>
                        <a:rPr lang="en-US" sz="1000" dirty="0"/>
                        <a:t>Instant food and takeaways are their favorite</a:t>
                      </a:r>
                    </a:p>
                    <a:p>
                      <a:pPr marL="171450" indent="-171450">
                        <a:buFont typeface="Arial" panose="020B0604020202020204" pitchFamily="34" charset="0"/>
                        <a:buChar char="•"/>
                      </a:pPr>
                      <a:r>
                        <a:rPr lang="en-US" sz="1000" dirty="0"/>
                        <a:t>Always hunt for food that is available with less effort</a:t>
                      </a:r>
                      <a:endParaRPr lang="en-IN" sz="1000" dirty="0"/>
                    </a:p>
                  </a:txBody>
                  <a:tcPr>
                    <a:solidFill>
                      <a:schemeClr val="bg1">
                        <a:lumMod val="95000"/>
                      </a:schemeClr>
                    </a:solidFill>
                  </a:tcPr>
                </a:tc>
                <a:tc>
                  <a:txBody>
                    <a:bodyPr/>
                    <a:lstStyle/>
                    <a:p>
                      <a:r>
                        <a:rPr lang="en-IN" sz="1000" dirty="0"/>
                        <a:t>30%</a:t>
                      </a:r>
                    </a:p>
                  </a:txBody>
                  <a:tcPr>
                    <a:solidFill>
                      <a:schemeClr val="bg1">
                        <a:lumMod val="95000"/>
                      </a:schemeClr>
                    </a:solidFill>
                  </a:tcPr>
                </a:tc>
                <a:tc rowSpan="5">
                  <a:txBody>
                    <a:bodyPr/>
                    <a:lstStyle/>
                    <a:p>
                      <a:pPr algn="ctr"/>
                      <a:r>
                        <a:rPr lang="en-IN" sz="1000" b="1" dirty="0"/>
                        <a:t>Monitor order frequency of the users and target the population in each segment most vulnerable to ordering food online. Existing database of Zomato can be leveraged for implementing the strategy.</a:t>
                      </a:r>
                    </a:p>
                  </a:txBody>
                  <a:tcPr anchor="ctr">
                    <a:solidFill>
                      <a:schemeClr val="bg1">
                        <a:lumMod val="95000"/>
                      </a:schemeClr>
                    </a:solidFill>
                  </a:tcPr>
                </a:tc>
                <a:tc rowSpan="5">
                  <a:txBody>
                    <a:bodyPr/>
                    <a:lstStyle/>
                    <a:p>
                      <a:pPr algn="ctr"/>
                      <a:endParaRPr lang="en-IN" sz="1000" b="1" dirty="0"/>
                    </a:p>
                  </a:txBody>
                  <a:tcPr anchor="ctr">
                    <a:solidFill>
                      <a:schemeClr val="bg1">
                        <a:lumMod val="95000"/>
                      </a:schemeClr>
                    </a:solidFill>
                  </a:tcPr>
                </a:tc>
                <a:extLst>
                  <a:ext uri="{0D108BD9-81ED-4DB2-BD59-A6C34878D82A}">
                    <a16:rowId xmlns:a16="http://schemas.microsoft.com/office/drawing/2014/main" val="2225975300"/>
                  </a:ext>
                </a:extLst>
              </a:tr>
              <a:tr h="751911">
                <a:tc>
                  <a:txBody>
                    <a:bodyPr/>
                    <a:lstStyle/>
                    <a:p>
                      <a:r>
                        <a:rPr lang="en-IN" sz="1000" b="1" dirty="0"/>
                        <a:t>Young married couples</a:t>
                      </a:r>
                    </a:p>
                  </a:txBody>
                  <a:tcPr>
                    <a:solidFill>
                      <a:schemeClr val="bg1">
                        <a:lumMod val="95000"/>
                      </a:schemeClr>
                    </a:solidFill>
                  </a:tcPr>
                </a:tc>
                <a:tc>
                  <a:txBody>
                    <a:bodyPr/>
                    <a:lstStyle/>
                    <a:p>
                      <a:pPr marL="171450" indent="-171450">
                        <a:buFont typeface="Arial" panose="020B0604020202020204" pitchFamily="34" charset="0"/>
                        <a:buChar char="•"/>
                      </a:pPr>
                      <a:r>
                        <a:rPr lang="en-US" sz="1000" dirty="0"/>
                        <a:t>Not very keen on cooking</a:t>
                      </a:r>
                    </a:p>
                    <a:p>
                      <a:pPr marL="171450" indent="-171450">
                        <a:buFont typeface="Arial" panose="020B0604020202020204" pitchFamily="34" charset="0"/>
                        <a:buChar char="•"/>
                      </a:pPr>
                      <a:r>
                        <a:rPr lang="en-US" sz="1000" dirty="0"/>
                        <a:t>Prefer to spend quality time with family and friends</a:t>
                      </a:r>
                    </a:p>
                    <a:p>
                      <a:pPr marL="171450" indent="-171450">
                        <a:buFont typeface="Arial" panose="020B0604020202020204" pitchFamily="34" charset="0"/>
                        <a:buChar char="•"/>
                      </a:pPr>
                      <a:r>
                        <a:rPr lang="en-US" sz="1000" dirty="0"/>
                        <a:t>High on entertainment quotient and takeaways</a:t>
                      </a:r>
                    </a:p>
                    <a:p>
                      <a:pPr marL="171450" indent="-171450">
                        <a:buFont typeface="Arial" panose="020B0604020202020204" pitchFamily="34" charset="0"/>
                        <a:buChar char="•"/>
                      </a:pPr>
                      <a:r>
                        <a:rPr lang="en-US" sz="1000" dirty="0"/>
                        <a:t>Prefer to taste food from various outlets on regular basis</a:t>
                      </a:r>
                      <a:endParaRPr lang="en-IN" sz="1000" dirty="0"/>
                    </a:p>
                  </a:txBody>
                  <a:tcPr>
                    <a:solidFill>
                      <a:schemeClr val="bg1">
                        <a:lumMod val="95000"/>
                      </a:schemeClr>
                    </a:solidFill>
                  </a:tcPr>
                </a:tc>
                <a:tc>
                  <a:txBody>
                    <a:bodyPr/>
                    <a:lstStyle/>
                    <a:p>
                      <a:r>
                        <a:rPr lang="en-IN" sz="1000" dirty="0"/>
                        <a:t>40%</a:t>
                      </a:r>
                    </a:p>
                  </a:txBody>
                  <a:tcPr>
                    <a:solidFill>
                      <a:schemeClr val="bg1">
                        <a:lumMod val="95000"/>
                      </a:schemeClr>
                    </a:solidFill>
                  </a:tcPr>
                </a:tc>
                <a:tc vMerge="1">
                  <a:txBody>
                    <a:bodyPr/>
                    <a:lstStyle/>
                    <a:p>
                      <a:endParaRPr lang="en-IN" sz="1000" dirty="0"/>
                    </a:p>
                  </a:txBody>
                  <a:tcPr/>
                </a:tc>
                <a:tc vMerge="1">
                  <a:txBody>
                    <a:bodyPr/>
                    <a:lstStyle/>
                    <a:p>
                      <a:endParaRPr lang="en-IN"/>
                    </a:p>
                  </a:txBody>
                  <a:tcPr/>
                </a:tc>
                <a:extLst>
                  <a:ext uri="{0D108BD9-81ED-4DB2-BD59-A6C34878D82A}">
                    <a16:rowId xmlns:a16="http://schemas.microsoft.com/office/drawing/2014/main" val="4159831565"/>
                  </a:ext>
                </a:extLst>
              </a:tr>
              <a:tr h="751911">
                <a:tc>
                  <a:txBody>
                    <a:bodyPr/>
                    <a:lstStyle/>
                    <a:p>
                      <a:r>
                        <a:rPr lang="en-IN" sz="1000" b="1" dirty="0"/>
                        <a:t>Working wives</a:t>
                      </a:r>
                    </a:p>
                  </a:txBody>
                  <a:tcPr>
                    <a:solidFill>
                      <a:schemeClr val="bg1">
                        <a:lumMod val="95000"/>
                      </a:schemeClr>
                    </a:solidFill>
                  </a:tcPr>
                </a:tc>
                <a:tc>
                  <a:txBody>
                    <a:bodyPr/>
                    <a:lstStyle/>
                    <a:p>
                      <a:pPr marL="171450" indent="-171450">
                        <a:buFont typeface="Arial" panose="020B0604020202020204" pitchFamily="34" charset="0"/>
                        <a:buChar char="•"/>
                      </a:pPr>
                      <a:r>
                        <a:rPr lang="en-US" sz="1000" dirty="0"/>
                        <a:t>Both partners working, experience time crunch</a:t>
                      </a:r>
                    </a:p>
                    <a:p>
                      <a:pPr marL="171450" indent="-171450">
                        <a:buFont typeface="Arial" panose="020B0604020202020204" pitchFamily="34" charset="0"/>
                        <a:buChar char="•"/>
                      </a:pPr>
                      <a:r>
                        <a:rPr lang="en-US" sz="1000" dirty="0"/>
                        <a:t>Earn decently and spend a major share of their income on food and entertainment</a:t>
                      </a:r>
                    </a:p>
                    <a:p>
                      <a:pPr marL="171450" indent="-171450">
                        <a:buFont typeface="Arial" panose="020B0604020202020204" pitchFamily="34" charset="0"/>
                        <a:buChar char="•"/>
                      </a:pPr>
                      <a:r>
                        <a:rPr lang="en-US" sz="1000" dirty="0"/>
                        <a:t>Frequent takeaways are frequent, about 2–4 times in a week</a:t>
                      </a:r>
                      <a:endParaRPr lang="en-IN" sz="1000" dirty="0"/>
                    </a:p>
                  </a:txBody>
                  <a:tcPr>
                    <a:solidFill>
                      <a:schemeClr val="bg1">
                        <a:lumMod val="95000"/>
                      </a:schemeClr>
                    </a:solidFill>
                  </a:tcPr>
                </a:tc>
                <a:tc>
                  <a:txBody>
                    <a:bodyPr/>
                    <a:lstStyle/>
                    <a:p>
                      <a:r>
                        <a:rPr lang="en-IN" sz="1000" dirty="0"/>
                        <a:t>40%</a:t>
                      </a:r>
                    </a:p>
                  </a:txBody>
                  <a:tcPr>
                    <a:solidFill>
                      <a:schemeClr val="bg1">
                        <a:lumMod val="95000"/>
                      </a:schemeClr>
                    </a:solidFill>
                  </a:tcPr>
                </a:tc>
                <a:tc vMerge="1">
                  <a:txBody>
                    <a:bodyPr/>
                    <a:lstStyle/>
                    <a:p>
                      <a:endParaRPr lang="en-IN" sz="1000" dirty="0"/>
                    </a:p>
                  </a:txBody>
                  <a:tcPr/>
                </a:tc>
                <a:tc vMerge="1">
                  <a:txBody>
                    <a:bodyPr/>
                    <a:lstStyle/>
                    <a:p>
                      <a:endParaRPr lang="en-IN"/>
                    </a:p>
                  </a:txBody>
                  <a:tcPr/>
                </a:tc>
                <a:extLst>
                  <a:ext uri="{0D108BD9-81ED-4DB2-BD59-A6C34878D82A}">
                    <a16:rowId xmlns:a16="http://schemas.microsoft.com/office/drawing/2014/main" val="2993959882"/>
                  </a:ext>
                </a:extLst>
              </a:tr>
              <a:tr h="588452">
                <a:tc>
                  <a:txBody>
                    <a:bodyPr/>
                    <a:lstStyle/>
                    <a:p>
                      <a:r>
                        <a:rPr lang="en-IN" sz="1000" b="1" dirty="0"/>
                        <a:t>Students</a:t>
                      </a:r>
                    </a:p>
                  </a:txBody>
                  <a:tcPr>
                    <a:solidFill>
                      <a:schemeClr val="bg1">
                        <a:lumMod val="95000"/>
                      </a:schemeClr>
                    </a:solidFill>
                  </a:tcPr>
                </a:tc>
                <a:tc>
                  <a:txBody>
                    <a:bodyPr/>
                    <a:lstStyle/>
                    <a:p>
                      <a:pPr marL="171450" indent="-171450">
                        <a:buFont typeface="Arial" panose="020B0604020202020204" pitchFamily="34" charset="0"/>
                        <a:buChar char="•"/>
                      </a:pPr>
                      <a:r>
                        <a:rPr lang="en-US" sz="1000" dirty="0"/>
                        <a:t>Mostly in their teens and majorly stay in hostels</a:t>
                      </a:r>
                    </a:p>
                    <a:p>
                      <a:pPr marL="171450" indent="-171450">
                        <a:buFont typeface="Arial" panose="020B0604020202020204" pitchFamily="34" charset="0"/>
                        <a:buChar char="•"/>
                      </a:pPr>
                      <a:r>
                        <a:rPr lang="en-US" sz="1000" dirty="0"/>
                        <a:t>Do not prefer meals from college canteens, often skip it</a:t>
                      </a:r>
                    </a:p>
                    <a:p>
                      <a:pPr marL="171450" indent="-171450">
                        <a:buFont typeface="Arial" panose="020B0604020202020204" pitchFamily="34" charset="0"/>
                        <a:buChar char="•"/>
                      </a:pPr>
                      <a:r>
                        <a:rPr lang="en-US" sz="1000" dirty="0"/>
                        <a:t>Ordering food via apps is high on their agenda</a:t>
                      </a:r>
                      <a:endParaRPr lang="en-IN" sz="1000" dirty="0"/>
                    </a:p>
                  </a:txBody>
                  <a:tcPr>
                    <a:solidFill>
                      <a:schemeClr val="bg1">
                        <a:lumMod val="95000"/>
                      </a:schemeClr>
                    </a:solidFill>
                  </a:tcPr>
                </a:tc>
                <a:tc>
                  <a:txBody>
                    <a:bodyPr/>
                    <a:lstStyle/>
                    <a:p>
                      <a:r>
                        <a:rPr lang="en-IN" sz="1000" dirty="0"/>
                        <a:t>50%</a:t>
                      </a:r>
                    </a:p>
                  </a:txBody>
                  <a:tcPr>
                    <a:solidFill>
                      <a:schemeClr val="bg1">
                        <a:lumMod val="95000"/>
                      </a:schemeClr>
                    </a:solidFill>
                  </a:tcPr>
                </a:tc>
                <a:tc vMerge="1">
                  <a:txBody>
                    <a:bodyPr/>
                    <a:lstStyle/>
                    <a:p>
                      <a:endParaRPr lang="en-IN" sz="1000" dirty="0"/>
                    </a:p>
                  </a:txBody>
                  <a:tcPr/>
                </a:tc>
                <a:tc vMerge="1">
                  <a:txBody>
                    <a:bodyPr/>
                    <a:lstStyle/>
                    <a:p>
                      <a:endParaRPr lang="en-IN"/>
                    </a:p>
                  </a:txBody>
                  <a:tcPr/>
                </a:tc>
                <a:extLst>
                  <a:ext uri="{0D108BD9-81ED-4DB2-BD59-A6C34878D82A}">
                    <a16:rowId xmlns:a16="http://schemas.microsoft.com/office/drawing/2014/main" val="3713403348"/>
                  </a:ext>
                </a:extLst>
              </a:tr>
              <a:tr h="751911">
                <a:tc>
                  <a:txBody>
                    <a:bodyPr/>
                    <a:lstStyle/>
                    <a:p>
                      <a:r>
                        <a:rPr lang="en-IN" sz="1000" b="1" dirty="0"/>
                        <a:t>Hardcore foodies</a:t>
                      </a:r>
                    </a:p>
                  </a:txBody>
                  <a:tcPr>
                    <a:solidFill>
                      <a:schemeClr val="bg1">
                        <a:lumMod val="95000"/>
                      </a:schemeClr>
                    </a:solidFill>
                  </a:tcPr>
                </a:tc>
                <a:tc>
                  <a:txBody>
                    <a:bodyPr/>
                    <a:lstStyle/>
                    <a:p>
                      <a:pPr marL="171450" indent="-171450">
                        <a:buFont typeface="Arial" panose="020B0604020202020204" pitchFamily="34" charset="0"/>
                        <a:buChar char="•"/>
                      </a:pPr>
                      <a:r>
                        <a:rPr lang="en-US" sz="1000" dirty="0"/>
                        <a:t>First to try new restaurants and love boasting about their food knowledge to friends and family</a:t>
                      </a:r>
                    </a:p>
                    <a:p>
                      <a:pPr marL="171450" indent="-171450">
                        <a:buFont typeface="Arial" panose="020B0604020202020204" pitchFamily="34" charset="0"/>
                        <a:buChar char="•"/>
                      </a:pPr>
                      <a:r>
                        <a:rPr lang="en-US" sz="1000" dirty="0"/>
                        <a:t>Earn a decent salary and love to spend a major percentage on food</a:t>
                      </a:r>
                    </a:p>
                    <a:p>
                      <a:pPr marL="171450" indent="-171450">
                        <a:buFont typeface="Arial" panose="020B0604020202020204" pitchFamily="34" charset="0"/>
                        <a:buChar char="•"/>
                      </a:pPr>
                      <a:r>
                        <a:rPr lang="en-US" sz="1000" dirty="0"/>
                        <a:t>Like to attend college food fest, restaurants and cookery channels</a:t>
                      </a:r>
                      <a:endParaRPr lang="en-IN" sz="1000" dirty="0"/>
                    </a:p>
                  </a:txBody>
                  <a:tcPr>
                    <a:solidFill>
                      <a:schemeClr val="bg1">
                        <a:lumMod val="95000"/>
                      </a:schemeClr>
                    </a:solidFill>
                  </a:tcPr>
                </a:tc>
                <a:tc>
                  <a:txBody>
                    <a:bodyPr/>
                    <a:lstStyle/>
                    <a:p>
                      <a:r>
                        <a:rPr lang="en-IN" sz="1000" dirty="0"/>
                        <a:t>60%</a:t>
                      </a:r>
                    </a:p>
                  </a:txBody>
                  <a:tcPr>
                    <a:solidFill>
                      <a:schemeClr val="bg1">
                        <a:lumMod val="95000"/>
                      </a:schemeClr>
                    </a:solidFill>
                  </a:tcPr>
                </a:tc>
                <a:tc vMerge="1">
                  <a:txBody>
                    <a:bodyPr/>
                    <a:lstStyle/>
                    <a:p>
                      <a:endParaRPr lang="en-IN" sz="1000" dirty="0"/>
                    </a:p>
                  </a:txBody>
                  <a:tcPr/>
                </a:tc>
                <a:tc vMerge="1">
                  <a:txBody>
                    <a:bodyPr/>
                    <a:lstStyle/>
                    <a:p>
                      <a:endParaRPr lang="en-IN"/>
                    </a:p>
                  </a:txBody>
                  <a:tcPr/>
                </a:tc>
                <a:extLst>
                  <a:ext uri="{0D108BD9-81ED-4DB2-BD59-A6C34878D82A}">
                    <a16:rowId xmlns:a16="http://schemas.microsoft.com/office/drawing/2014/main" val="904184865"/>
                  </a:ext>
                </a:extLst>
              </a:tr>
            </a:tbl>
          </a:graphicData>
        </a:graphic>
      </p:graphicFrame>
      <p:grpSp>
        <p:nvGrpSpPr>
          <p:cNvPr id="3108" name="Group 3107">
            <a:extLst>
              <a:ext uri="{FF2B5EF4-FFF2-40B4-BE49-F238E27FC236}">
                <a16:creationId xmlns:a16="http://schemas.microsoft.com/office/drawing/2014/main" id="{E412E776-0404-A9B8-01F7-66FD892709B4}"/>
              </a:ext>
            </a:extLst>
          </p:cNvPr>
          <p:cNvGrpSpPr/>
          <p:nvPr/>
        </p:nvGrpSpPr>
        <p:grpSpPr>
          <a:xfrm>
            <a:off x="909432" y="4480692"/>
            <a:ext cx="10529900" cy="2268953"/>
            <a:chOff x="923435" y="691125"/>
            <a:chExt cx="10529900" cy="2268953"/>
          </a:xfrm>
        </p:grpSpPr>
        <p:sp>
          <p:nvSpPr>
            <p:cNvPr id="12" name="Oval 11">
              <a:extLst>
                <a:ext uri="{FF2B5EF4-FFF2-40B4-BE49-F238E27FC236}">
                  <a16:creationId xmlns:a16="http://schemas.microsoft.com/office/drawing/2014/main" id="{13FEA960-5A1A-A8E4-CB80-46237289E710}"/>
                </a:ext>
              </a:extLst>
            </p:cNvPr>
            <p:cNvSpPr/>
            <p:nvPr/>
          </p:nvSpPr>
          <p:spPr>
            <a:xfrm>
              <a:off x="1087019" y="1252831"/>
              <a:ext cx="755774" cy="76355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6CB58591-5DD5-7BAE-108D-C1D0777D075A}"/>
                </a:ext>
              </a:extLst>
            </p:cNvPr>
            <p:cNvSpPr/>
            <p:nvPr/>
          </p:nvSpPr>
          <p:spPr>
            <a:xfrm>
              <a:off x="2668936" y="691125"/>
              <a:ext cx="6904272" cy="326571"/>
            </a:xfrm>
            <a:prstGeom prst="roundRect">
              <a:avLst/>
            </a:prstGeom>
            <a:solidFill>
              <a:schemeClr val="bg1">
                <a:lumMod val="95000"/>
              </a:schemeClr>
            </a:solidFill>
            <a:ln>
              <a:solidFill>
                <a:srgbClr val="CB20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rgbClr val="CB202D"/>
                  </a:solidFill>
                </a:rPr>
                <a:t>MARKETING MIX</a:t>
              </a:r>
            </a:p>
          </p:txBody>
        </p:sp>
        <p:pic>
          <p:nvPicPr>
            <p:cNvPr id="3074" name="Picture 2" descr="New product ">
              <a:extLst>
                <a:ext uri="{FF2B5EF4-FFF2-40B4-BE49-F238E27FC236}">
                  <a16:creationId xmlns:a16="http://schemas.microsoft.com/office/drawing/2014/main" id="{5B65931C-F114-EDBD-C6EB-1D2C597968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3649" y="1402689"/>
              <a:ext cx="522514" cy="52251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ash flow ">
              <a:extLst>
                <a:ext uri="{FF2B5EF4-FFF2-40B4-BE49-F238E27FC236}">
                  <a16:creationId xmlns:a16="http://schemas.microsoft.com/office/drawing/2014/main" id="{27D77CFC-BFC7-BC98-328E-1FD4CF3BA8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8936" y="1402689"/>
              <a:ext cx="522514" cy="52251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Location ">
              <a:extLst>
                <a:ext uri="{FF2B5EF4-FFF2-40B4-BE49-F238E27FC236}">
                  <a16:creationId xmlns:a16="http://schemas.microsoft.com/office/drawing/2014/main" id="{5C2FF6FD-C68A-5D55-6C52-F92E6F076B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2826" y="1373352"/>
              <a:ext cx="522515" cy="52251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romotion ">
              <a:extLst>
                <a:ext uri="{FF2B5EF4-FFF2-40B4-BE49-F238E27FC236}">
                  <a16:creationId xmlns:a16="http://schemas.microsoft.com/office/drawing/2014/main" id="{A7C8FF20-0F84-492C-1694-332B801C56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4741" y="1407365"/>
              <a:ext cx="522516" cy="522516"/>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Work process ">
              <a:extLst>
                <a:ext uri="{FF2B5EF4-FFF2-40B4-BE49-F238E27FC236}">
                  <a16:creationId xmlns:a16="http://schemas.microsoft.com/office/drawing/2014/main" id="{4154D709-F3EA-EFA4-0B93-F6BAF8B775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0028" y="1402689"/>
              <a:ext cx="522515" cy="52251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Networking ">
              <a:extLst>
                <a:ext uri="{FF2B5EF4-FFF2-40B4-BE49-F238E27FC236}">
                  <a16:creationId xmlns:a16="http://schemas.microsoft.com/office/drawing/2014/main" id="{C87203FC-25D4-5796-3E72-F78C4DCE4A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3672" y="1402689"/>
              <a:ext cx="522516" cy="522516"/>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Dining table ">
              <a:extLst>
                <a:ext uri="{FF2B5EF4-FFF2-40B4-BE49-F238E27FC236}">
                  <a16:creationId xmlns:a16="http://schemas.microsoft.com/office/drawing/2014/main" id="{6518D559-074D-0BD5-18D6-520DFDAC13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00471" y="1309503"/>
              <a:ext cx="689919" cy="68991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10161CE-ADF3-8B52-E142-2BF15040BBD1}"/>
                </a:ext>
              </a:extLst>
            </p:cNvPr>
            <p:cNvSpPr txBox="1"/>
            <p:nvPr/>
          </p:nvSpPr>
          <p:spPr>
            <a:xfrm>
              <a:off x="5563078" y="2125342"/>
              <a:ext cx="1391046" cy="461665"/>
            </a:xfrm>
            <a:prstGeom prst="rect">
              <a:avLst/>
            </a:prstGeom>
            <a:solidFill>
              <a:schemeClr val="bg1">
                <a:lumMod val="95000"/>
              </a:schemeClr>
            </a:solidFill>
          </p:spPr>
          <p:txBody>
            <a:bodyPr wrap="square">
              <a:spAutoFit/>
            </a:bodyPr>
            <a:lstStyle/>
            <a:p>
              <a:r>
                <a:rPr lang="en-IN" sz="1200" dirty="0"/>
                <a:t>In-app promotions</a:t>
              </a:r>
            </a:p>
            <a:p>
              <a:r>
                <a:rPr lang="en-IN" sz="1200" dirty="0"/>
                <a:t>Press Release</a:t>
              </a:r>
            </a:p>
          </p:txBody>
        </p:sp>
        <p:sp>
          <p:nvSpPr>
            <p:cNvPr id="15" name="TextBox 14">
              <a:extLst>
                <a:ext uri="{FF2B5EF4-FFF2-40B4-BE49-F238E27FC236}">
                  <a16:creationId xmlns:a16="http://schemas.microsoft.com/office/drawing/2014/main" id="{271969A2-8224-A603-1DAF-32558C2D0299}"/>
                </a:ext>
              </a:extLst>
            </p:cNvPr>
            <p:cNvSpPr txBox="1"/>
            <p:nvPr/>
          </p:nvSpPr>
          <p:spPr>
            <a:xfrm>
              <a:off x="4065903" y="2125342"/>
              <a:ext cx="1185679" cy="830997"/>
            </a:xfrm>
            <a:prstGeom prst="rect">
              <a:avLst/>
            </a:prstGeom>
            <a:solidFill>
              <a:schemeClr val="bg1">
                <a:lumMod val="95000"/>
              </a:schemeClr>
            </a:solidFill>
          </p:spPr>
          <p:txBody>
            <a:bodyPr wrap="square">
              <a:spAutoFit/>
            </a:bodyPr>
            <a:lstStyle/>
            <a:p>
              <a:r>
                <a:rPr lang="en-IN" sz="1200" dirty="0"/>
                <a:t>Tier 1 cities</a:t>
              </a:r>
            </a:p>
            <a:p>
              <a:r>
                <a:rPr lang="en-IN" sz="1200" dirty="0"/>
                <a:t>&amp; high student populated cities(Manipal)</a:t>
              </a:r>
            </a:p>
          </p:txBody>
        </p:sp>
        <p:sp>
          <p:nvSpPr>
            <p:cNvPr id="17" name="TextBox 16">
              <a:extLst>
                <a:ext uri="{FF2B5EF4-FFF2-40B4-BE49-F238E27FC236}">
                  <a16:creationId xmlns:a16="http://schemas.microsoft.com/office/drawing/2014/main" id="{4A4C4D0E-91FB-012D-F79B-B1D10CF32E99}"/>
                </a:ext>
              </a:extLst>
            </p:cNvPr>
            <p:cNvSpPr txBox="1"/>
            <p:nvPr/>
          </p:nvSpPr>
          <p:spPr>
            <a:xfrm>
              <a:off x="923435" y="2129081"/>
              <a:ext cx="1115002" cy="830997"/>
            </a:xfrm>
            <a:prstGeom prst="rect">
              <a:avLst/>
            </a:prstGeom>
            <a:solidFill>
              <a:schemeClr val="bg1">
                <a:lumMod val="95000"/>
              </a:schemeClr>
            </a:solidFill>
          </p:spPr>
          <p:txBody>
            <a:bodyPr wrap="square">
              <a:spAutoFit/>
            </a:bodyPr>
            <a:lstStyle/>
            <a:p>
              <a:r>
                <a:rPr lang="en-IN" sz="1200" dirty="0"/>
                <a:t>Biryani Home</a:t>
              </a:r>
            </a:p>
            <a:p>
              <a:r>
                <a:rPr lang="en-IN" sz="1200" dirty="0"/>
                <a:t>Tasty Bowls</a:t>
              </a:r>
            </a:p>
            <a:p>
              <a:r>
                <a:rPr lang="en-IN" sz="1200" dirty="0"/>
                <a:t>Mealbox</a:t>
              </a:r>
            </a:p>
            <a:p>
              <a:r>
                <a:rPr lang="en-IN" sz="1200" dirty="0"/>
                <a:t>Sweet Tooth</a:t>
              </a:r>
            </a:p>
          </p:txBody>
        </p:sp>
        <p:sp>
          <p:nvSpPr>
            <p:cNvPr id="8" name="TextBox 7">
              <a:extLst>
                <a:ext uri="{FF2B5EF4-FFF2-40B4-BE49-F238E27FC236}">
                  <a16:creationId xmlns:a16="http://schemas.microsoft.com/office/drawing/2014/main" id="{D99ED417-C4BB-5723-0E25-D88C5E009735}"/>
                </a:ext>
              </a:extLst>
            </p:cNvPr>
            <p:cNvSpPr txBox="1"/>
            <p:nvPr/>
          </p:nvSpPr>
          <p:spPr>
            <a:xfrm>
              <a:off x="2325121" y="2124770"/>
              <a:ext cx="1585034" cy="830997"/>
            </a:xfrm>
            <a:prstGeom prst="rect">
              <a:avLst/>
            </a:prstGeom>
            <a:solidFill>
              <a:schemeClr val="bg1">
                <a:lumMod val="95000"/>
              </a:schemeClr>
            </a:solidFill>
          </p:spPr>
          <p:txBody>
            <a:bodyPr wrap="square" rtlCol="0">
              <a:spAutoFit/>
            </a:bodyPr>
            <a:lstStyle/>
            <a:p>
              <a:r>
                <a:rPr lang="en-IN" sz="1200" dirty="0"/>
                <a:t>Biryani Home: 179 </a:t>
              </a:r>
            </a:p>
            <a:p>
              <a:r>
                <a:rPr lang="en-IN" sz="1200" dirty="0"/>
                <a:t>Tasty Bowls: 159</a:t>
              </a:r>
            </a:p>
            <a:p>
              <a:r>
                <a:rPr lang="en-IN" sz="1200" dirty="0"/>
                <a:t>Mealbox: 199</a:t>
              </a:r>
            </a:p>
            <a:p>
              <a:r>
                <a:rPr lang="en-IN" sz="1200" dirty="0"/>
                <a:t>Sweet Tooth: 99</a:t>
              </a:r>
            </a:p>
          </p:txBody>
        </p:sp>
        <p:sp>
          <p:nvSpPr>
            <p:cNvPr id="20" name="TextBox 19">
              <a:extLst>
                <a:ext uri="{FF2B5EF4-FFF2-40B4-BE49-F238E27FC236}">
                  <a16:creationId xmlns:a16="http://schemas.microsoft.com/office/drawing/2014/main" id="{95D7967E-247E-BA9B-BBF6-236E4A2F2B84}"/>
                </a:ext>
              </a:extLst>
            </p:cNvPr>
            <p:cNvSpPr txBox="1"/>
            <p:nvPr/>
          </p:nvSpPr>
          <p:spPr>
            <a:xfrm>
              <a:off x="7061558" y="2125342"/>
              <a:ext cx="1521969" cy="646331"/>
            </a:xfrm>
            <a:prstGeom prst="rect">
              <a:avLst/>
            </a:prstGeom>
            <a:solidFill>
              <a:schemeClr val="bg1">
                <a:lumMod val="95000"/>
              </a:schemeClr>
            </a:solidFill>
          </p:spPr>
          <p:txBody>
            <a:bodyPr wrap="square">
              <a:spAutoFit/>
            </a:bodyPr>
            <a:lstStyle/>
            <a:p>
              <a:r>
                <a:rPr lang="en-IN" sz="1200" dirty="0"/>
                <a:t>Online orders</a:t>
              </a:r>
            </a:p>
            <a:p>
              <a:r>
                <a:rPr lang="en-IN" sz="1200" dirty="0"/>
                <a:t>Feedback received from customers</a:t>
              </a:r>
            </a:p>
          </p:txBody>
        </p:sp>
        <p:sp>
          <p:nvSpPr>
            <p:cNvPr id="22" name="TextBox 21">
              <a:extLst>
                <a:ext uri="{FF2B5EF4-FFF2-40B4-BE49-F238E27FC236}">
                  <a16:creationId xmlns:a16="http://schemas.microsoft.com/office/drawing/2014/main" id="{C29BD572-EADD-0DFB-F44B-29A501429430}"/>
                </a:ext>
              </a:extLst>
            </p:cNvPr>
            <p:cNvSpPr txBox="1"/>
            <p:nvPr/>
          </p:nvSpPr>
          <p:spPr>
            <a:xfrm>
              <a:off x="8661286" y="2139480"/>
              <a:ext cx="1290457" cy="276999"/>
            </a:xfrm>
            <a:prstGeom prst="rect">
              <a:avLst/>
            </a:prstGeom>
            <a:solidFill>
              <a:schemeClr val="bg1">
                <a:lumMod val="95000"/>
              </a:schemeClr>
            </a:solidFill>
          </p:spPr>
          <p:txBody>
            <a:bodyPr wrap="square">
              <a:spAutoFit/>
            </a:bodyPr>
            <a:lstStyle/>
            <a:p>
              <a:r>
                <a:rPr lang="en-IN" sz="1200" dirty="0"/>
                <a:t>Delivery partners</a:t>
              </a:r>
            </a:p>
          </p:txBody>
        </p:sp>
        <p:sp>
          <p:nvSpPr>
            <p:cNvPr id="24" name="TextBox 23">
              <a:extLst>
                <a:ext uri="{FF2B5EF4-FFF2-40B4-BE49-F238E27FC236}">
                  <a16:creationId xmlns:a16="http://schemas.microsoft.com/office/drawing/2014/main" id="{52722065-7C8F-8BC4-4367-67DEC3411E7C}"/>
                </a:ext>
              </a:extLst>
            </p:cNvPr>
            <p:cNvSpPr txBox="1"/>
            <p:nvPr/>
          </p:nvSpPr>
          <p:spPr>
            <a:xfrm>
              <a:off x="10073689" y="2133281"/>
              <a:ext cx="1379646" cy="276999"/>
            </a:xfrm>
            <a:prstGeom prst="rect">
              <a:avLst/>
            </a:prstGeom>
            <a:solidFill>
              <a:schemeClr val="bg1">
                <a:lumMod val="95000"/>
              </a:schemeClr>
            </a:solidFill>
          </p:spPr>
          <p:txBody>
            <a:bodyPr wrap="square">
              <a:spAutoFit/>
            </a:bodyPr>
            <a:lstStyle/>
            <a:p>
              <a:r>
                <a:rPr lang="en-IN" sz="1200" dirty="0"/>
                <a:t>Creative Packaging</a:t>
              </a:r>
            </a:p>
          </p:txBody>
        </p:sp>
        <p:sp>
          <p:nvSpPr>
            <p:cNvPr id="26" name="Oval 25">
              <a:extLst>
                <a:ext uri="{FF2B5EF4-FFF2-40B4-BE49-F238E27FC236}">
                  <a16:creationId xmlns:a16="http://schemas.microsoft.com/office/drawing/2014/main" id="{0017C734-29DC-F776-549C-B9F41E8314B6}"/>
                </a:ext>
              </a:extLst>
            </p:cNvPr>
            <p:cNvSpPr/>
            <p:nvPr/>
          </p:nvSpPr>
          <p:spPr>
            <a:xfrm>
              <a:off x="2546035" y="1252831"/>
              <a:ext cx="755774" cy="76355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2DD933EF-4BA7-B821-127B-D8877E0BE25B}"/>
                </a:ext>
              </a:extLst>
            </p:cNvPr>
            <p:cNvSpPr/>
            <p:nvPr/>
          </p:nvSpPr>
          <p:spPr>
            <a:xfrm>
              <a:off x="4134221" y="1252831"/>
              <a:ext cx="755774" cy="76355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862C89F6-86A0-83A6-581E-4B569E8FD5B9}"/>
                </a:ext>
              </a:extLst>
            </p:cNvPr>
            <p:cNvSpPr/>
            <p:nvPr/>
          </p:nvSpPr>
          <p:spPr>
            <a:xfrm>
              <a:off x="5744468" y="1296955"/>
              <a:ext cx="755774" cy="76355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4FA0D69D-083D-9377-9252-AC149CA5B06C}"/>
                </a:ext>
              </a:extLst>
            </p:cNvPr>
            <p:cNvSpPr/>
            <p:nvPr/>
          </p:nvSpPr>
          <p:spPr>
            <a:xfrm>
              <a:off x="7183398" y="1281604"/>
              <a:ext cx="755774" cy="76355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6CC4F87D-C296-D24A-096F-D6C90A440394}"/>
                </a:ext>
              </a:extLst>
            </p:cNvPr>
            <p:cNvSpPr/>
            <p:nvPr/>
          </p:nvSpPr>
          <p:spPr>
            <a:xfrm>
              <a:off x="8769977" y="1281391"/>
              <a:ext cx="755774" cy="76355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DFACF433-AE9C-BF0C-BAE7-E0E7E9F80748}"/>
                </a:ext>
              </a:extLst>
            </p:cNvPr>
            <p:cNvSpPr/>
            <p:nvPr/>
          </p:nvSpPr>
          <p:spPr>
            <a:xfrm>
              <a:off x="10300471" y="1265259"/>
              <a:ext cx="755774" cy="76355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Connector: Elbow 18">
              <a:extLst>
                <a:ext uri="{FF2B5EF4-FFF2-40B4-BE49-F238E27FC236}">
                  <a16:creationId xmlns:a16="http://schemas.microsoft.com/office/drawing/2014/main" id="{35AE4F73-2FEA-EB3B-F923-2A1CE5770BF2}"/>
                </a:ext>
              </a:extLst>
            </p:cNvPr>
            <p:cNvCxnSpPr>
              <a:cxnSpLocks/>
              <a:stCxn id="3" idx="1"/>
              <a:endCxn id="12" idx="0"/>
            </p:cNvCxnSpPr>
            <p:nvPr/>
          </p:nvCxnSpPr>
          <p:spPr>
            <a:xfrm rot="10800000" flipV="1">
              <a:off x="1464906" y="854411"/>
              <a:ext cx="1204030" cy="398420"/>
            </a:xfrm>
            <a:prstGeom prst="bentConnector2">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A32E6FC-5BD2-787F-AE10-8BC606ABCE4C}"/>
                </a:ext>
              </a:extLst>
            </p:cNvPr>
            <p:cNvCxnSpPr>
              <a:cxnSpLocks/>
              <a:endCxn id="26" idx="0"/>
            </p:cNvCxnSpPr>
            <p:nvPr/>
          </p:nvCxnSpPr>
          <p:spPr>
            <a:xfrm>
              <a:off x="2923922" y="1017036"/>
              <a:ext cx="0" cy="235795"/>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43CB66B-96B9-9DAB-6245-34FF91374884}"/>
                </a:ext>
              </a:extLst>
            </p:cNvPr>
            <p:cNvCxnSpPr>
              <a:cxnSpLocks/>
            </p:cNvCxnSpPr>
            <p:nvPr/>
          </p:nvCxnSpPr>
          <p:spPr>
            <a:xfrm>
              <a:off x="4487177" y="1017036"/>
              <a:ext cx="6269" cy="235795"/>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369C959-8B1F-BCAE-13AF-A16C7CBF7CC0}"/>
                </a:ext>
              </a:extLst>
            </p:cNvPr>
            <p:cNvCxnSpPr>
              <a:cxnSpLocks/>
              <a:stCxn id="3" idx="2"/>
              <a:endCxn id="28" idx="0"/>
            </p:cNvCxnSpPr>
            <p:nvPr/>
          </p:nvCxnSpPr>
          <p:spPr>
            <a:xfrm>
              <a:off x="6121072" y="1017696"/>
              <a:ext cx="1283" cy="279259"/>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76C16B5-637C-0F0F-5896-7783D1592FB1}"/>
                </a:ext>
              </a:extLst>
            </p:cNvPr>
            <p:cNvCxnSpPr>
              <a:cxnSpLocks/>
              <a:endCxn id="29" idx="0"/>
            </p:cNvCxnSpPr>
            <p:nvPr/>
          </p:nvCxnSpPr>
          <p:spPr>
            <a:xfrm>
              <a:off x="7555016" y="1002345"/>
              <a:ext cx="6269" cy="279259"/>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82C3F1A5-17E6-0B32-9475-E06BD3262E09}"/>
                </a:ext>
              </a:extLst>
            </p:cNvPr>
            <p:cNvCxnSpPr>
              <a:cxnSpLocks/>
              <a:endCxn id="30" idx="0"/>
            </p:cNvCxnSpPr>
            <p:nvPr/>
          </p:nvCxnSpPr>
          <p:spPr>
            <a:xfrm>
              <a:off x="9147864" y="1002345"/>
              <a:ext cx="0" cy="279046"/>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073" name="Connector: Elbow 3072">
              <a:extLst>
                <a:ext uri="{FF2B5EF4-FFF2-40B4-BE49-F238E27FC236}">
                  <a16:creationId xmlns:a16="http://schemas.microsoft.com/office/drawing/2014/main" id="{CDDED12C-AB49-5463-5BBE-7572F2B0E3CC}"/>
                </a:ext>
              </a:extLst>
            </p:cNvPr>
            <p:cNvCxnSpPr>
              <a:stCxn id="3" idx="3"/>
              <a:endCxn id="32" idx="0"/>
            </p:cNvCxnSpPr>
            <p:nvPr/>
          </p:nvCxnSpPr>
          <p:spPr>
            <a:xfrm>
              <a:off x="9573208" y="854411"/>
              <a:ext cx="1105150" cy="410848"/>
            </a:xfrm>
            <a:prstGeom prst="bentConnector2">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sp>
        <p:nvSpPr>
          <p:cNvPr id="3109" name="TextBox 3108">
            <a:extLst>
              <a:ext uri="{FF2B5EF4-FFF2-40B4-BE49-F238E27FC236}">
                <a16:creationId xmlns:a16="http://schemas.microsoft.com/office/drawing/2014/main" id="{3CD2A6BC-810B-8FCB-A763-02D3DD6BAA7C}"/>
              </a:ext>
            </a:extLst>
          </p:cNvPr>
          <p:cNvSpPr txBox="1"/>
          <p:nvPr/>
        </p:nvSpPr>
        <p:spPr>
          <a:xfrm>
            <a:off x="8658031" y="6498644"/>
            <a:ext cx="3685592" cy="338554"/>
          </a:xfrm>
          <a:prstGeom prst="rect">
            <a:avLst/>
          </a:prstGeom>
          <a:noFill/>
        </p:spPr>
        <p:txBody>
          <a:bodyPr wrap="square" rtlCol="0">
            <a:spAutoFit/>
          </a:bodyPr>
          <a:lstStyle/>
          <a:p>
            <a:r>
              <a:rPr lang="en-IN" sz="800" dirty="0"/>
              <a:t>*Population base is considered to be Tier 1 and Tier 2 cities, and the participation rate is estimated accordingly from market research reports</a:t>
            </a:r>
          </a:p>
        </p:txBody>
      </p:sp>
      <p:grpSp>
        <p:nvGrpSpPr>
          <p:cNvPr id="110" name="Group 109">
            <a:extLst>
              <a:ext uri="{FF2B5EF4-FFF2-40B4-BE49-F238E27FC236}">
                <a16:creationId xmlns:a16="http://schemas.microsoft.com/office/drawing/2014/main" id="{6D2C07F3-0E64-02B0-F8E0-18BF1089239A}"/>
              </a:ext>
            </a:extLst>
          </p:cNvPr>
          <p:cNvGrpSpPr/>
          <p:nvPr/>
        </p:nvGrpSpPr>
        <p:grpSpPr>
          <a:xfrm>
            <a:off x="137" y="0"/>
            <a:ext cx="12192000" cy="419879"/>
            <a:chOff x="0" y="1380931"/>
            <a:chExt cx="12039341" cy="419879"/>
          </a:xfrm>
          <a:solidFill>
            <a:schemeClr val="bg1">
              <a:lumMod val="65000"/>
            </a:schemeClr>
          </a:solidFill>
        </p:grpSpPr>
        <p:sp>
          <p:nvSpPr>
            <p:cNvPr id="111" name="Rectangle 110">
              <a:extLst>
                <a:ext uri="{FF2B5EF4-FFF2-40B4-BE49-F238E27FC236}">
                  <a16:creationId xmlns:a16="http://schemas.microsoft.com/office/drawing/2014/main" id="{7088407D-6E89-33F0-DC1D-061BC0D79362}"/>
                </a:ext>
              </a:extLst>
            </p:cNvPr>
            <p:cNvSpPr/>
            <p:nvPr/>
          </p:nvSpPr>
          <p:spPr>
            <a:xfrm>
              <a:off x="0" y="1380931"/>
              <a:ext cx="1504918" cy="4198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112" name="Rectangle 111">
              <a:extLst>
                <a:ext uri="{FF2B5EF4-FFF2-40B4-BE49-F238E27FC236}">
                  <a16:creationId xmlns:a16="http://schemas.microsoft.com/office/drawing/2014/main" id="{E62DE056-51C6-BA5A-C1E8-D608CDF1EF7B}"/>
                </a:ext>
              </a:extLst>
            </p:cNvPr>
            <p:cNvSpPr/>
            <p:nvPr/>
          </p:nvSpPr>
          <p:spPr>
            <a:xfrm>
              <a:off x="1504918"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113" name="Rectangle 112">
              <a:extLst>
                <a:ext uri="{FF2B5EF4-FFF2-40B4-BE49-F238E27FC236}">
                  <a16:creationId xmlns:a16="http://schemas.microsoft.com/office/drawing/2014/main" id="{81A40650-7EB9-DDDC-70F6-79C50207FBCF}"/>
                </a:ext>
              </a:extLst>
            </p:cNvPr>
            <p:cNvSpPr/>
            <p:nvPr/>
          </p:nvSpPr>
          <p:spPr>
            <a:xfrm>
              <a:off x="3009835"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114" name="Rectangle 113">
              <a:extLst>
                <a:ext uri="{FF2B5EF4-FFF2-40B4-BE49-F238E27FC236}">
                  <a16:creationId xmlns:a16="http://schemas.microsoft.com/office/drawing/2014/main" id="{4A39380F-AB46-EC15-27CF-02C8E93CAD81}"/>
                </a:ext>
              </a:extLst>
            </p:cNvPr>
            <p:cNvSpPr/>
            <p:nvPr/>
          </p:nvSpPr>
          <p:spPr>
            <a:xfrm>
              <a:off x="451475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115" name="Rectangle 114">
              <a:extLst>
                <a:ext uri="{FF2B5EF4-FFF2-40B4-BE49-F238E27FC236}">
                  <a16:creationId xmlns:a16="http://schemas.microsoft.com/office/drawing/2014/main" id="{B08DB473-F71C-2921-F258-0DB2461C9BF2}"/>
                </a:ext>
              </a:extLst>
            </p:cNvPr>
            <p:cNvSpPr/>
            <p:nvPr/>
          </p:nvSpPr>
          <p:spPr>
            <a:xfrm>
              <a:off x="6019671" y="1380931"/>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116" name="Rectangle 115">
              <a:extLst>
                <a:ext uri="{FF2B5EF4-FFF2-40B4-BE49-F238E27FC236}">
                  <a16:creationId xmlns:a16="http://schemas.microsoft.com/office/drawing/2014/main" id="{8B1A4066-AFD9-92D3-5DEB-F1633B659F3C}"/>
                </a:ext>
              </a:extLst>
            </p:cNvPr>
            <p:cNvSpPr/>
            <p:nvPr/>
          </p:nvSpPr>
          <p:spPr>
            <a:xfrm>
              <a:off x="7524588" y="1380932"/>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117" name="Rectangle 116">
              <a:extLst>
                <a:ext uri="{FF2B5EF4-FFF2-40B4-BE49-F238E27FC236}">
                  <a16:creationId xmlns:a16="http://schemas.microsoft.com/office/drawing/2014/main" id="{9E9B3FA5-3718-F32E-62C1-CE9E9029530B}"/>
                </a:ext>
              </a:extLst>
            </p:cNvPr>
            <p:cNvSpPr/>
            <p:nvPr/>
          </p:nvSpPr>
          <p:spPr>
            <a:xfrm>
              <a:off x="9029507"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118" name="Rectangle 117">
              <a:extLst>
                <a:ext uri="{FF2B5EF4-FFF2-40B4-BE49-F238E27FC236}">
                  <a16:creationId xmlns:a16="http://schemas.microsoft.com/office/drawing/2014/main" id="{62283931-B680-7B74-8ED5-78C75C8598EE}"/>
                </a:ext>
              </a:extLst>
            </p:cNvPr>
            <p:cNvSpPr/>
            <p:nvPr/>
          </p:nvSpPr>
          <p:spPr>
            <a:xfrm>
              <a:off x="1053442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grpSp>
        <p:nvGrpSpPr>
          <p:cNvPr id="130" name="Group 129">
            <a:extLst>
              <a:ext uri="{FF2B5EF4-FFF2-40B4-BE49-F238E27FC236}">
                <a16:creationId xmlns:a16="http://schemas.microsoft.com/office/drawing/2014/main" id="{08855631-F780-15E1-3330-A2967D68D079}"/>
              </a:ext>
            </a:extLst>
          </p:cNvPr>
          <p:cNvGrpSpPr/>
          <p:nvPr/>
        </p:nvGrpSpPr>
        <p:grpSpPr>
          <a:xfrm>
            <a:off x="9722079" y="1999120"/>
            <a:ext cx="2432597" cy="1141985"/>
            <a:chOff x="1265574" y="1727871"/>
            <a:chExt cx="2432597" cy="1141985"/>
          </a:xfrm>
        </p:grpSpPr>
        <p:cxnSp>
          <p:nvCxnSpPr>
            <p:cNvPr id="131" name="Straight Arrow Connector 130">
              <a:extLst>
                <a:ext uri="{FF2B5EF4-FFF2-40B4-BE49-F238E27FC236}">
                  <a16:creationId xmlns:a16="http://schemas.microsoft.com/office/drawing/2014/main" id="{8540465E-A687-FDFA-E7CE-6E2AA6B86580}"/>
                </a:ext>
              </a:extLst>
            </p:cNvPr>
            <p:cNvCxnSpPr>
              <a:cxnSpLocks/>
            </p:cNvCxnSpPr>
            <p:nvPr/>
          </p:nvCxnSpPr>
          <p:spPr>
            <a:xfrm flipV="1">
              <a:off x="1651518" y="1922106"/>
              <a:ext cx="0" cy="83233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1DFF922D-CD45-F818-FE3D-DB558C816FDE}"/>
                </a:ext>
              </a:extLst>
            </p:cNvPr>
            <p:cNvCxnSpPr/>
            <p:nvPr/>
          </p:nvCxnSpPr>
          <p:spPr>
            <a:xfrm>
              <a:off x="1651518" y="2754440"/>
              <a:ext cx="1396482"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33" name="Picture 32">
              <a:extLst>
                <a:ext uri="{FF2B5EF4-FFF2-40B4-BE49-F238E27FC236}">
                  <a16:creationId xmlns:a16="http://schemas.microsoft.com/office/drawing/2014/main" id="{E458E804-C2D0-1EFF-BBD5-79779EF7122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9611" y="2157280"/>
              <a:ext cx="209481" cy="238999"/>
            </a:xfrm>
            <a:prstGeom prst="rect">
              <a:avLst/>
            </a:prstGeom>
            <a:noFill/>
            <a:extLst>
              <a:ext uri="{909E8E84-426E-40DD-AFC4-6F175D3DCCD1}">
                <a14:hiddenFill xmlns:a14="http://schemas.microsoft.com/office/drawing/2010/main">
                  <a:solidFill>
                    <a:srgbClr val="FFFFFF"/>
                  </a:solidFill>
                </a14:hiddenFill>
              </a:ext>
            </a:extLst>
          </p:spPr>
        </p:pic>
        <p:sp>
          <p:nvSpPr>
            <p:cNvPr id="134" name="TextBox 133">
              <a:extLst>
                <a:ext uri="{FF2B5EF4-FFF2-40B4-BE49-F238E27FC236}">
                  <a16:creationId xmlns:a16="http://schemas.microsoft.com/office/drawing/2014/main" id="{160B0713-A3FF-63E5-DABD-2683AE21909C}"/>
                </a:ext>
              </a:extLst>
            </p:cNvPr>
            <p:cNvSpPr txBox="1"/>
            <p:nvPr/>
          </p:nvSpPr>
          <p:spPr>
            <a:xfrm>
              <a:off x="2964279" y="2639024"/>
              <a:ext cx="733892" cy="230832"/>
            </a:xfrm>
            <a:prstGeom prst="rect">
              <a:avLst/>
            </a:prstGeom>
            <a:noFill/>
          </p:spPr>
          <p:txBody>
            <a:bodyPr wrap="square" rtlCol="0">
              <a:spAutoFit/>
            </a:bodyPr>
            <a:lstStyle/>
            <a:p>
              <a:r>
                <a:rPr lang="en-IN" sz="900" b="1" dirty="0"/>
                <a:t>Hygiene</a:t>
              </a:r>
            </a:p>
          </p:txBody>
        </p:sp>
        <p:sp>
          <p:nvSpPr>
            <p:cNvPr id="135" name="TextBox 134">
              <a:extLst>
                <a:ext uri="{FF2B5EF4-FFF2-40B4-BE49-F238E27FC236}">
                  <a16:creationId xmlns:a16="http://schemas.microsoft.com/office/drawing/2014/main" id="{BADE3A38-8F93-73AE-7811-B94EE45AF13A}"/>
                </a:ext>
              </a:extLst>
            </p:cNvPr>
            <p:cNvSpPr txBox="1"/>
            <p:nvPr/>
          </p:nvSpPr>
          <p:spPr>
            <a:xfrm>
              <a:off x="1265574" y="1727871"/>
              <a:ext cx="990106" cy="230832"/>
            </a:xfrm>
            <a:prstGeom prst="rect">
              <a:avLst/>
            </a:prstGeom>
            <a:noFill/>
          </p:spPr>
          <p:txBody>
            <a:bodyPr wrap="square" rtlCol="0">
              <a:spAutoFit/>
            </a:bodyPr>
            <a:lstStyle/>
            <a:p>
              <a:r>
                <a:rPr lang="en-IN" sz="900" b="1" dirty="0"/>
                <a:t>Affordability</a:t>
              </a:r>
            </a:p>
          </p:txBody>
        </p:sp>
      </p:grpSp>
      <p:sp>
        <p:nvSpPr>
          <p:cNvPr id="3115" name="TextBox 3114">
            <a:extLst>
              <a:ext uri="{FF2B5EF4-FFF2-40B4-BE49-F238E27FC236}">
                <a16:creationId xmlns:a16="http://schemas.microsoft.com/office/drawing/2014/main" id="{8FF34AD3-9D10-3958-20FB-6EA809E6023E}"/>
              </a:ext>
            </a:extLst>
          </p:cNvPr>
          <p:cNvSpPr txBox="1"/>
          <p:nvPr/>
        </p:nvSpPr>
        <p:spPr>
          <a:xfrm>
            <a:off x="9722079" y="1044024"/>
            <a:ext cx="2319411" cy="1015663"/>
          </a:xfrm>
          <a:prstGeom prst="rect">
            <a:avLst/>
          </a:prstGeom>
          <a:noFill/>
        </p:spPr>
        <p:txBody>
          <a:bodyPr wrap="square" rtlCol="0">
            <a:spAutoFit/>
          </a:bodyPr>
          <a:lstStyle/>
          <a:p>
            <a:pPr algn="ctr"/>
            <a:r>
              <a:rPr lang="en-IN" sz="1200" dirty="0"/>
              <a:t>From secondary research, two most important variables identified for positioning Zomato’s Cloud Kitchen are Hygiene and Affordability</a:t>
            </a:r>
          </a:p>
        </p:txBody>
      </p:sp>
      <p:sp>
        <p:nvSpPr>
          <p:cNvPr id="138" name="TextBox 137">
            <a:extLst>
              <a:ext uri="{FF2B5EF4-FFF2-40B4-BE49-F238E27FC236}">
                <a16:creationId xmlns:a16="http://schemas.microsoft.com/office/drawing/2014/main" id="{DAD0A789-8992-67CC-3176-EEC48BA7D3C8}"/>
              </a:ext>
            </a:extLst>
          </p:cNvPr>
          <p:cNvSpPr txBox="1"/>
          <p:nvPr/>
        </p:nvSpPr>
        <p:spPr>
          <a:xfrm>
            <a:off x="9771232" y="3051453"/>
            <a:ext cx="2221104" cy="1384995"/>
          </a:xfrm>
          <a:prstGeom prst="rect">
            <a:avLst/>
          </a:prstGeom>
          <a:noFill/>
        </p:spPr>
        <p:txBody>
          <a:bodyPr wrap="square">
            <a:spAutoFit/>
          </a:bodyPr>
          <a:lstStyle/>
          <a:p>
            <a:r>
              <a:rPr lang="en-IN" sz="1200" b="1" dirty="0"/>
              <a:t>Value Proposition:</a:t>
            </a:r>
          </a:p>
          <a:p>
            <a:r>
              <a:rPr lang="en-IN" sz="1200" dirty="0"/>
              <a:t>You asked for it, we did it: Zomato Cloud Kitchens are handcrafted in a way that brings to you the most affordable, tastiest and hygienic food in just no time!</a:t>
            </a:r>
          </a:p>
        </p:txBody>
      </p:sp>
    </p:spTree>
    <p:extLst>
      <p:ext uri="{BB962C8B-B14F-4D97-AF65-F5344CB8AC3E}">
        <p14:creationId xmlns:p14="http://schemas.microsoft.com/office/powerpoint/2010/main" val="2846899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EE1B68BA-5FBA-711A-E273-0BB5AC90E1BC}"/>
              </a:ext>
            </a:extLst>
          </p:cNvPr>
          <p:cNvGraphicFramePr/>
          <p:nvPr>
            <p:extLst>
              <p:ext uri="{D42A27DB-BD31-4B8C-83A1-F6EECF244321}">
                <p14:modId xmlns:p14="http://schemas.microsoft.com/office/powerpoint/2010/main" val="476850949"/>
              </p:ext>
            </p:extLst>
          </p:nvPr>
        </p:nvGraphicFramePr>
        <p:xfrm>
          <a:off x="143436" y="80822"/>
          <a:ext cx="11930743" cy="5803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CFAA08FA-B073-A4A7-9EB9-676EEE40FDC8}"/>
              </a:ext>
            </a:extLst>
          </p:cNvPr>
          <p:cNvSpPr txBox="1"/>
          <p:nvPr/>
        </p:nvSpPr>
        <p:spPr>
          <a:xfrm>
            <a:off x="373223" y="4161721"/>
            <a:ext cx="2432181" cy="830997"/>
          </a:xfrm>
          <a:prstGeom prst="rect">
            <a:avLst/>
          </a:prstGeom>
          <a:solidFill>
            <a:schemeClr val="bg1">
              <a:lumMod val="95000"/>
            </a:schemeClr>
          </a:solidFill>
        </p:spPr>
        <p:txBody>
          <a:bodyPr wrap="square" rtlCol="0">
            <a:spAutoFit/>
          </a:bodyPr>
          <a:lstStyle/>
          <a:p>
            <a:pPr algn="ctr"/>
            <a:r>
              <a:rPr lang="en-IN" sz="1200" dirty="0">
                <a:solidFill>
                  <a:schemeClr val="accent6">
                    <a:lumMod val="75000"/>
                  </a:schemeClr>
                </a:solidFill>
              </a:rPr>
              <a:t>Proposed Feature to be developed by the development team in collaboration with Product Owner and tested thoroughly by QA team.</a:t>
            </a:r>
          </a:p>
        </p:txBody>
      </p:sp>
      <p:sp>
        <p:nvSpPr>
          <p:cNvPr id="10" name="TextBox 9">
            <a:extLst>
              <a:ext uri="{FF2B5EF4-FFF2-40B4-BE49-F238E27FC236}">
                <a16:creationId xmlns:a16="http://schemas.microsoft.com/office/drawing/2014/main" id="{ECC0FF30-C843-5D53-E6A3-87A9487B80D5}"/>
              </a:ext>
            </a:extLst>
          </p:cNvPr>
          <p:cNvSpPr txBox="1"/>
          <p:nvPr/>
        </p:nvSpPr>
        <p:spPr>
          <a:xfrm>
            <a:off x="2898708" y="4163532"/>
            <a:ext cx="2432181" cy="646331"/>
          </a:xfrm>
          <a:prstGeom prst="rect">
            <a:avLst/>
          </a:prstGeom>
          <a:solidFill>
            <a:schemeClr val="bg1">
              <a:lumMod val="95000"/>
            </a:schemeClr>
          </a:solidFill>
        </p:spPr>
        <p:txBody>
          <a:bodyPr wrap="square" rtlCol="0">
            <a:spAutoFit/>
          </a:bodyPr>
          <a:lstStyle/>
          <a:p>
            <a:pPr algn="ctr"/>
            <a:r>
              <a:rPr lang="en-IN" sz="1200" dirty="0">
                <a:solidFill>
                  <a:schemeClr val="accent1"/>
                </a:solidFill>
              </a:rPr>
              <a:t>Feature to be rolled out during pilot project and outcomes and relevance to be observed</a:t>
            </a:r>
          </a:p>
        </p:txBody>
      </p:sp>
      <p:sp>
        <p:nvSpPr>
          <p:cNvPr id="11" name="TextBox 10">
            <a:extLst>
              <a:ext uri="{FF2B5EF4-FFF2-40B4-BE49-F238E27FC236}">
                <a16:creationId xmlns:a16="http://schemas.microsoft.com/office/drawing/2014/main" id="{0895A157-C329-D658-5CBB-E4F5DE7D0DFC}"/>
              </a:ext>
            </a:extLst>
          </p:cNvPr>
          <p:cNvSpPr txBox="1"/>
          <p:nvPr/>
        </p:nvSpPr>
        <p:spPr>
          <a:xfrm>
            <a:off x="5393093" y="4161721"/>
            <a:ext cx="2071397" cy="646331"/>
          </a:xfrm>
          <a:prstGeom prst="rect">
            <a:avLst/>
          </a:prstGeom>
          <a:solidFill>
            <a:schemeClr val="bg1">
              <a:lumMod val="95000"/>
            </a:schemeClr>
          </a:solidFill>
        </p:spPr>
        <p:txBody>
          <a:bodyPr wrap="square" rtlCol="0">
            <a:spAutoFit/>
          </a:bodyPr>
          <a:lstStyle/>
          <a:p>
            <a:pPr algn="ctr"/>
            <a:r>
              <a:rPr lang="en-IN" sz="1200" dirty="0">
                <a:solidFill>
                  <a:schemeClr val="accent2"/>
                </a:solidFill>
              </a:rPr>
              <a:t>Improvements to be made based on responses received by user groups</a:t>
            </a:r>
          </a:p>
        </p:txBody>
      </p:sp>
      <p:sp>
        <p:nvSpPr>
          <p:cNvPr id="12" name="TextBox 11">
            <a:extLst>
              <a:ext uri="{FF2B5EF4-FFF2-40B4-BE49-F238E27FC236}">
                <a16:creationId xmlns:a16="http://schemas.microsoft.com/office/drawing/2014/main" id="{23CA2C86-8EF6-84FC-C869-EE14DB9A90D0}"/>
              </a:ext>
            </a:extLst>
          </p:cNvPr>
          <p:cNvSpPr txBox="1"/>
          <p:nvPr/>
        </p:nvSpPr>
        <p:spPr>
          <a:xfrm>
            <a:off x="7526694" y="4161721"/>
            <a:ext cx="2432182" cy="1200329"/>
          </a:xfrm>
          <a:prstGeom prst="rect">
            <a:avLst/>
          </a:prstGeom>
          <a:solidFill>
            <a:schemeClr val="bg1">
              <a:lumMod val="95000"/>
            </a:schemeClr>
          </a:solidFill>
        </p:spPr>
        <p:txBody>
          <a:bodyPr wrap="square" rtlCol="0">
            <a:spAutoFit/>
          </a:bodyPr>
          <a:lstStyle/>
          <a:p>
            <a:pPr algn="ctr"/>
            <a:r>
              <a:rPr lang="en-IN" sz="1200" dirty="0">
                <a:solidFill>
                  <a:schemeClr val="bg1">
                    <a:lumMod val="50000"/>
                  </a:schemeClr>
                </a:solidFill>
              </a:rPr>
              <a:t>Increasing visibility across platforms with the posts on their social handle.</a:t>
            </a:r>
          </a:p>
          <a:p>
            <a:pPr algn="ctr"/>
            <a:r>
              <a:rPr lang="en-IN" sz="1200" dirty="0">
                <a:solidFill>
                  <a:schemeClr val="bg1">
                    <a:lumMod val="50000"/>
                  </a:schemeClr>
                </a:solidFill>
              </a:rPr>
              <a:t>Features like Play along would help more engagement among the audience.</a:t>
            </a:r>
          </a:p>
        </p:txBody>
      </p:sp>
      <p:sp>
        <p:nvSpPr>
          <p:cNvPr id="14" name="TextBox 13">
            <a:extLst>
              <a:ext uri="{FF2B5EF4-FFF2-40B4-BE49-F238E27FC236}">
                <a16:creationId xmlns:a16="http://schemas.microsoft.com/office/drawing/2014/main" id="{D0F5C2A2-18F6-3368-E18C-65224BFA476C}"/>
              </a:ext>
            </a:extLst>
          </p:cNvPr>
          <p:cNvSpPr txBox="1"/>
          <p:nvPr/>
        </p:nvSpPr>
        <p:spPr>
          <a:xfrm>
            <a:off x="10021080" y="4172595"/>
            <a:ext cx="1797697" cy="830997"/>
          </a:xfrm>
          <a:prstGeom prst="rect">
            <a:avLst/>
          </a:prstGeom>
          <a:solidFill>
            <a:schemeClr val="bg1">
              <a:lumMod val="95000"/>
            </a:schemeClr>
          </a:solidFill>
        </p:spPr>
        <p:txBody>
          <a:bodyPr wrap="square" rtlCol="0">
            <a:spAutoFit/>
          </a:bodyPr>
          <a:lstStyle/>
          <a:p>
            <a:pPr algn="ctr"/>
            <a:r>
              <a:rPr lang="en-IN" sz="1200" dirty="0">
                <a:solidFill>
                  <a:schemeClr val="accent2"/>
                </a:solidFill>
              </a:rPr>
              <a:t>Final release of the product after addressing the modifications and bugs</a:t>
            </a:r>
          </a:p>
        </p:txBody>
      </p:sp>
      <p:grpSp>
        <p:nvGrpSpPr>
          <p:cNvPr id="13" name="Group 12">
            <a:extLst>
              <a:ext uri="{FF2B5EF4-FFF2-40B4-BE49-F238E27FC236}">
                <a16:creationId xmlns:a16="http://schemas.microsoft.com/office/drawing/2014/main" id="{EB50BAB4-788F-1588-8C38-C8AA46712673}"/>
              </a:ext>
            </a:extLst>
          </p:cNvPr>
          <p:cNvGrpSpPr/>
          <p:nvPr/>
        </p:nvGrpSpPr>
        <p:grpSpPr>
          <a:xfrm>
            <a:off x="137" y="0"/>
            <a:ext cx="12192000" cy="419879"/>
            <a:chOff x="0" y="1380931"/>
            <a:chExt cx="12039341" cy="419879"/>
          </a:xfrm>
          <a:solidFill>
            <a:schemeClr val="bg1">
              <a:lumMod val="65000"/>
            </a:schemeClr>
          </a:solidFill>
        </p:grpSpPr>
        <p:sp>
          <p:nvSpPr>
            <p:cNvPr id="18" name="Rectangle 17">
              <a:extLst>
                <a:ext uri="{FF2B5EF4-FFF2-40B4-BE49-F238E27FC236}">
                  <a16:creationId xmlns:a16="http://schemas.microsoft.com/office/drawing/2014/main" id="{D722B8B0-CF5A-AA2F-9224-90330D1AA0A8}"/>
                </a:ext>
              </a:extLst>
            </p:cNvPr>
            <p:cNvSpPr/>
            <p:nvPr/>
          </p:nvSpPr>
          <p:spPr>
            <a:xfrm>
              <a:off x="0" y="1380931"/>
              <a:ext cx="1504918" cy="4198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19" name="Rectangle 18">
              <a:extLst>
                <a:ext uri="{FF2B5EF4-FFF2-40B4-BE49-F238E27FC236}">
                  <a16:creationId xmlns:a16="http://schemas.microsoft.com/office/drawing/2014/main" id="{254D7E2C-C285-B3D3-1AC9-755826F820D0}"/>
                </a:ext>
              </a:extLst>
            </p:cNvPr>
            <p:cNvSpPr/>
            <p:nvPr/>
          </p:nvSpPr>
          <p:spPr>
            <a:xfrm>
              <a:off x="1504918"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20" name="Rectangle 19">
              <a:extLst>
                <a:ext uri="{FF2B5EF4-FFF2-40B4-BE49-F238E27FC236}">
                  <a16:creationId xmlns:a16="http://schemas.microsoft.com/office/drawing/2014/main" id="{997D08B3-197E-3A8D-88A2-FA2EDAA811FA}"/>
                </a:ext>
              </a:extLst>
            </p:cNvPr>
            <p:cNvSpPr/>
            <p:nvPr/>
          </p:nvSpPr>
          <p:spPr>
            <a:xfrm>
              <a:off x="3009835"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21" name="Rectangle 20">
              <a:extLst>
                <a:ext uri="{FF2B5EF4-FFF2-40B4-BE49-F238E27FC236}">
                  <a16:creationId xmlns:a16="http://schemas.microsoft.com/office/drawing/2014/main" id="{69466FDE-2CED-EAD0-B5AE-DDDE77BD61EE}"/>
                </a:ext>
              </a:extLst>
            </p:cNvPr>
            <p:cNvSpPr/>
            <p:nvPr/>
          </p:nvSpPr>
          <p:spPr>
            <a:xfrm>
              <a:off x="451475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22" name="Rectangle 21">
              <a:extLst>
                <a:ext uri="{FF2B5EF4-FFF2-40B4-BE49-F238E27FC236}">
                  <a16:creationId xmlns:a16="http://schemas.microsoft.com/office/drawing/2014/main" id="{8E6DCA39-05EC-7F00-9E97-675F9CD5060C}"/>
                </a:ext>
              </a:extLst>
            </p:cNvPr>
            <p:cNvSpPr/>
            <p:nvPr/>
          </p:nvSpPr>
          <p:spPr>
            <a:xfrm>
              <a:off x="6019671"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23" name="Rectangle 22">
              <a:extLst>
                <a:ext uri="{FF2B5EF4-FFF2-40B4-BE49-F238E27FC236}">
                  <a16:creationId xmlns:a16="http://schemas.microsoft.com/office/drawing/2014/main" id="{E79A82E3-148C-31A1-D7C0-6986D790BE78}"/>
                </a:ext>
              </a:extLst>
            </p:cNvPr>
            <p:cNvSpPr/>
            <p:nvPr/>
          </p:nvSpPr>
          <p:spPr>
            <a:xfrm>
              <a:off x="7524588" y="1380932"/>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24" name="Rectangle 23">
              <a:extLst>
                <a:ext uri="{FF2B5EF4-FFF2-40B4-BE49-F238E27FC236}">
                  <a16:creationId xmlns:a16="http://schemas.microsoft.com/office/drawing/2014/main" id="{DF77A455-F908-3B0B-AA31-A0E52DE6CF55}"/>
                </a:ext>
              </a:extLst>
            </p:cNvPr>
            <p:cNvSpPr/>
            <p:nvPr/>
          </p:nvSpPr>
          <p:spPr>
            <a:xfrm>
              <a:off x="9029507"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25" name="Rectangle 24">
              <a:extLst>
                <a:ext uri="{FF2B5EF4-FFF2-40B4-BE49-F238E27FC236}">
                  <a16:creationId xmlns:a16="http://schemas.microsoft.com/office/drawing/2014/main" id="{1DD098E1-8898-4825-FEE0-1978EB2507B0}"/>
                </a:ext>
              </a:extLst>
            </p:cNvPr>
            <p:cNvSpPr/>
            <p:nvPr/>
          </p:nvSpPr>
          <p:spPr>
            <a:xfrm>
              <a:off x="1053442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spTree>
    <p:extLst>
      <p:ext uri="{BB962C8B-B14F-4D97-AF65-F5344CB8AC3E}">
        <p14:creationId xmlns:p14="http://schemas.microsoft.com/office/powerpoint/2010/main" val="2104139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sp>
        <p:nvSpPr>
          <p:cNvPr id="7169" name="Rectangle: Rounded Corners 7168">
            <a:extLst>
              <a:ext uri="{FF2B5EF4-FFF2-40B4-BE49-F238E27FC236}">
                <a16:creationId xmlns:a16="http://schemas.microsoft.com/office/drawing/2014/main" id="{F96AFC30-434B-2C0F-AEB8-75126D3D3BF6}"/>
              </a:ext>
            </a:extLst>
          </p:cNvPr>
          <p:cNvSpPr/>
          <p:nvPr/>
        </p:nvSpPr>
        <p:spPr>
          <a:xfrm>
            <a:off x="1054359" y="481300"/>
            <a:ext cx="10328988" cy="377545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168" name="Group 7167">
            <a:extLst>
              <a:ext uri="{FF2B5EF4-FFF2-40B4-BE49-F238E27FC236}">
                <a16:creationId xmlns:a16="http://schemas.microsoft.com/office/drawing/2014/main" id="{8451A963-BCBA-6D81-EB38-8268E2B4DE54}"/>
              </a:ext>
            </a:extLst>
          </p:cNvPr>
          <p:cNvGrpSpPr/>
          <p:nvPr/>
        </p:nvGrpSpPr>
        <p:grpSpPr>
          <a:xfrm>
            <a:off x="1494953" y="690662"/>
            <a:ext cx="9253862" cy="3366855"/>
            <a:chOff x="233265" y="514842"/>
            <a:chExt cx="9253862" cy="3366855"/>
          </a:xfrm>
        </p:grpSpPr>
        <p:sp>
          <p:nvSpPr>
            <p:cNvPr id="5" name="TextBox 4">
              <a:extLst>
                <a:ext uri="{FF2B5EF4-FFF2-40B4-BE49-F238E27FC236}">
                  <a16:creationId xmlns:a16="http://schemas.microsoft.com/office/drawing/2014/main" id="{0A040EAD-CCD3-E4B9-6453-75933E529CEE}"/>
                </a:ext>
              </a:extLst>
            </p:cNvPr>
            <p:cNvSpPr txBox="1"/>
            <p:nvPr/>
          </p:nvSpPr>
          <p:spPr>
            <a:xfrm>
              <a:off x="397324" y="514842"/>
              <a:ext cx="1649969" cy="307777"/>
            </a:xfrm>
            <a:prstGeom prst="rect">
              <a:avLst/>
            </a:prstGeom>
            <a:solidFill>
              <a:schemeClr val="bg1">
                <a:lumMod val="65000"/>
              </a:schemeClr>
            </a:solidFill>
          </p:spPr>
          <p:txBody>
            <a:bodyPr wrap="square" rtlCol="0">
              <a:spAutoFit/>
            </a:bodyPr>
            <a:lstStyle/>
            <a:p>
              <a:r>
                <a:rPr lang="en-IN" sz="1400" b="1" dirty="0"/>
                <a:t>Product Initiatives</a:t>
              </a:r>
            </a:p>
          </p:txBody>
        </p:sp>
        <p:sp>
          <p:nvSpPr>
            <p:cNvPr id="6" name="TextBox 5">
              <a:extLst>
                <a:ext uri="{FF2B5EF4-FFF2-40B4-BE49-F238E27FC236}">
                  <a16:creationId xmlns:a16="http://schemas.microsoft.com/office/drawing/2014/main" id="{502408B5-9BE7-4D5C-7122-86932AE9F361}"/>
                </a:ext>
              </a:extLst>
            </p:cNvPr>
            <p:cNvSpPr txBox="1"/>
            <p:nvPr/>
          </p:nvSpPr>
          <p:spPr>
            <a:xfrm>
              <a:off x="3644456" y="514842"/>
              <a:ext cx="550508" cy="307777"/>
            </a:xfrm>
            <a:prstGeom prst="rect">
              <a:avLst/>
            </a:prstGeom>
            <a:solidFill>
              <a:schemeClr val="bg1">
                <a:lumMod val="65000"/>
              </a:schemeClr>
            </a:solidFill>
          </p:spPr>
          <p:txBody>
            <a:bodyPr wrap="square" rtlCol="0">
              <a:spAutoFit/>
            </a:bodyPr>
            <a:lstStyle/>
            <a:p>
              <a:pPr algn="ctr"/>
              <a:r>
                <a:rPr lang="en-IN" sz="1400" b="1" dirty="0"/>
                <a:t>KPI</a:t>
              </a:r>
            </a:p>
          </p:txBody>
        </p:sp>
        <p:sp>
          <p:nvSpPr>
            <p:cNvPr id="7" name="TextBox 6">
              <a:extLst>
                <a:ext uri="{FF2B5EF4-FFF2-40B4-BE49-F238E27FC236}">
                  <a16:creationId xmlns:a16="http://schemas.microsoft.com/office/drawing/2014/main" id="{EDF9A2EB-02A7-1E89-C3F2-20418649A4C5}"/>
                </a:ext>
              </a:extLst>
            </p:cNvPr>
            <p:cNvSpPr txBox="1"/>
            <p:nvPr/>
          </p:nvSpPr>
          <p:spPr>
            <a:xfrm>
              <a:off x="5489661" y="522201"/>
              <a:ext cx="1228531" cy="307777"/>
            </a:xfrm>
            <a:prstGeom prst="rect">
              <a:avLst/>
            </a:prstGeom>
            <a:solidFill>
              <a:schemeClr val="bg1">
                <a:lumMod val="65000"/>
              </a:schemeClr>
            </a:solidFill>
          </p:spPr>
          <p:txBody>
            <a:bodyPr wrap="square" rtlCol="0">
              <a:spAutoFit/>
            </a:bodyPr>
            <a:lstStyle/>
            <a:p>
              <a:pPr algn="ctr"/>
              <a:r>
                <a:rPr lang="en-IN" sz="1400" b="1" dirty="0"/>
                <a:t>Dimension</a:t>
              </a:r>
            </a:p>
          </p:txBody>
        </p:sp>
        <p:sp>
          <p:nvSpPr>
            <p:cNvPr id="8" name="TextBox 7">
              <a:extLst>
                <a:ext uri="{FF2B5EF4-FFF2-40B4-BE49-F238E27FC236}">
                  <a16:creationId xmlns:a16="http://schemas.microsoft.com/office/drawing/2014/main" id="{DB655991-F263-9F48-B94C-47207E0E5B00}"/>
                </a:ext>
              </a:extLst>
            </p:cNvPr>
            <p:cNvSpPr txBox="1"/>
            <p:nvPr/>
          </p:nvSpPr>
          <p:spPr>
            <a:xfrm>
              <a:off x="7877595" y="522201"/>
              <a:ext cx="1511561" cy="307777"/>
            </a:xfrm>
            <a:prstGeom prst="rect">
              <a:avLst/>
            </a:prstGeom>
            <a:solidFill>
              <a:schemeClr val="bg1">
                <a:lumMod val="65000"/>
              </a:schemeClr>
            </a:solidFill>
          </p:spPr>
          <p:txBody>
            <a:bodyPr wrap="square" rtlCol="0">
              <a:spAutoFit/>
            </a:bodyPr>
            <a:lstStyle/>
            <a:p>
              <a:r>
                <a:rPr lang="en-IN" sz="1400" b="1" dirty="0"/>
                <a:t>North Star Metric</a:t>
              </a:r>
            </a:p>
          </p:txBody>
        </p:sp>
        <p:sp>
          <p:nvSpPr>
            <p:cNvPr id="9" name="Rectangle: Rounded Corners 8">
              <a:extLst>
                <a:ext uri="{FF2B5EF4-FFF2-40B4-BE49-F238E27FC236}">
                  <a16:creationId xmlns:a16="http://schemas.microsoft.com/office/drawing/2014/main" id="{A1679B79-A218-D360-8290-E2C564B2953A}"/>
                </a:ext>
              </a:extLst>
            </p:cNvPr>
            <p:cNvSpPr/>
            <p:nvPr/>
          </p:nvSpPr>
          <p:spPr>
            <a:xfrm>
              <a:off x="3411194" y="1011918"/>
              <a:ext cx="1017037" cy="531845"/>
            </a:xfrm>
            <a:prstGeom prst="round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 of users placing order</a:t>
              </a:r>
            </a:p>
          </p:txBody>
        </p:sp>
        <p:sp>
          <p:nvSpPr>
            <p:cNvPr id="10" name="Rectangle 9">
              <a:extLst>
                <a:ext uri="{FF2B5EF4-FFF2-40B4-BE49-F238E27FC236}">
                  <a16:creationId xmlns:a16="http://schemas.microsoft.com/office/drawing/2014/main" id="{F246B583-553A-562F-390C-751376898849}"/>
                </a:ext>
              </a:extLst>
            </p:cNvPr>
            <p:cNvSpPr/>
            <p:nvPr/>
          </p:nvSpPr>
          <p:spPr>
            <a:xfrm>
              <a:off x="233267" y="1012237"/>
              <a:ext cx="1978086" cy="53184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dirty="0">
                  <a:solidFill>
                    <a:schemeClr val="tx1"/>
                  </a:solidFill>
                </a:rPr>
                <a:t>User activation</a:t>
              </a:r>
            </a:p>
            <a:p>
              <a:pPr marL="171450" indent="-171450">
                <a:buFont typeface="Arial" panose="020B0604020202020204" pitchFamily="34" charset="0"/>
                <a:buChar char="•"/>
              </a:pPr>
              <a:r>
                <a:rPr lang="en-IN" sz="1200" dirty="0">
                  <a:solidFill>
                    <a:schemeClr val="tx1"/>
                  </a:solidFill>
                </a:rPr>
                <a:t>Product Trials</a:t>
              </a:r>
            </a:p>
          </p:txBody>
        </p:sp>
        <p:sp>
          <p:nvSpPr>
            <p:cNvPr id="12" name="Rectangle 11">
              <a:extLst>
                <a:ext uri="{FF2B5EF4-FFF2-40B4-BE49-F238E27FC236}">
                  <a16:creationId xmlns:a16="http://schemas.microsoft.com/office/drawing/2014/main" id="{965EFF14-174A-A052-A19E-458C23AFF251}"/>
                </a:ext>
              </a:extLst>
            </p:cNvPr>
            <p:cNvSpPr/>
            <p:nvPr/>
          </p:nvSpPr>
          <p:spPr>
            <a:xfrm>
              <a:off x="233266" y="1791442"/>
              <a:ext cx="1978087" cy="55987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dirty="0">
                  <a:solidFill>
                    <a:schemeClr val="tx1"/>
                  </a:solidFill>
                </a:rPr>
                <a:t>Recommendations</a:t>
              </a:r>
            </a:p>
            <a:p>
              <a:pPr marL="171450" indent="-171450">
                <a:buFont typeface="Arial" panose="020B0604020202020204" pitchFamily="34" charset="0"/>
                <a:buChar char="•"/>
              </a:pPr>
              <a:r>
                <a:rPr lang="en-IN" sz="1200" dirty="0">
                  <a:solidFill>
                    <a:schemeClr val="tx1"/>
                  </a:solidFill>
                </a:rPr>
                <a:t>Discounts</a:t>
              </a:r>
            </a:p>
            <a:p>
              <a:pPr marL="171450" indent="-171450">
                <a:buFont typeface="Arial" panose="020B0604020202020204" pitchFamily="34" charset="0"/>
                <a:buChar char="•"/>
              </a:pPr>
              <a:r>
                <a:rPr lang="en-IN" sz="1200" dirty="0">
                  <a:solidFill>
                    <a:schemeClr val="tx1"/>
                  </a:solidFill>
                </a:rPr>
                <a:t>Cart list</a:t>
              </a:r>
            </a:p>
          </p:txBody>
        </p:sp>
        <p:sp>
          <p:nvSpPr>
            <p:cNvPr id="13" name="Rectangle 12">
              <a:extLst>
                <a:ext uri="{FF2B5EF4-FFF2-40B4-BE49-F238E27FC236}">
                  <a16:creationId xmlns:a16="http://schemas.microsoft.com/office/drawing/2014/main" id="{E37327BF-85AB-9316-064F-FC0C6F5189EB}"/>
                </a:ext>
              </a:extLst>
            </p:cNvPr>
            <p:cNvSpPr/>
            <p:nvPr/>
          </p:nvSpPr>
          <p:spPr>
            <a:xfrm>
              <a:off x="233265" y="2570647"/>
              <a:ext cx="1978089" cy="53184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dirty="0">
                  <a:solidFill>
                    <a:schemeClr val="tx1"/>
                  </a:solidFill>
                </a:rPr>
                <a:t>Flash sales</a:t>
              </a:r>
            </a:p>
            <a:p>
              <a:pPr marL="171450" indent="-171450">
                <a:buFont typeface="Arial" panose="020B0604020202020204" pitchFamily="34" charset="0"/>
                <a:buChar char="•"/>
              </a:pPr>
              <a:r>
                <a:rPr lang="en-IN" sz="1200" dirty="0">
                  <a:solidFill>
                    <a:schemeClr val="tx1"/>
                  </a:solidFill>
                </a:rPr>
                <a:t>Push-Notifications</a:t>
              </a:r>
            </a:p>
          </p:txBody>
        </p:sp>
        <p:sp>
          <p:nvSpPr>
            <p:cNvPr id="14" name="Rectangle 13">
              <a:extLst>
                <a:ext uri="{FF2B5EF4-FFF2-40B4-BE49-F238E27FC236}">
                  <a16:creationId xmlns:a16="http://schemas.microsoft.com/office/drawing/2014/main" id="{D35CF239-BCB0-5B83-736E-5F917CFDD0B4}"/>
                </a:ext>
              </a:extLst>
            </p:cNvPr>
            <p:cNvSpPr/>
            <p:nvPr/>
          </p:nvSpPr>
          <p:spPr>
            <a:xfrm>
              <a:off x="233265" y="3349852"/>
              <a:ext cx="1978090" cy="53184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dirty="0">
                  <a:solidFill>
                    <a:schemeClr val="tx1"/>
                  </a:solidFill>
                </a:rPr>
                <a:t>Automated replacements</a:t>
              </a:r>
            </a:p>
            <a:p>
              <a:pPr marL="171450" indent="-171450">
                <a:buFont typeface="Arial" panose="020B0604020202020204" pitchFamily="34" charset="0"/>
                <a:buChar char="•"/>
              </a:pPr>
              <a:r>
                <a:rPr lang="en-IN" sz="1200" dirty="0">
                  <a:solidFill>
                    <a:schemeClr val="tx1"/>
                  </a:solidFill>
                </a:rPr>
                <a:t>Zomato Support</a:t>
              </a:r>
            </a:p>
            <a:p>
              <a:pPr marL="171450" indent="-171450">
                <a:buFont typeface="Arial" panose="020B0604020202020204" pitchFamily="34" charset="0"/>
                <a:buChar char="•"/>
              </a:pPr>
              <a:r>
                <a:rPr lang="en-IN" sz="1200" dirty="0">
                  <a:solidFill>
                    <a:schemeClr val="tx1"/>
                  </a:solidFill>
                </a:rPr>
                <a:t>Logistics</a:t>
              </a:r>
            </a:p>
          </p:txBody>
        </p:sp>
        <p:sp>
          <p:nvSpPr>
            <p:cNvPr id="15" name="Rectangle: Rounded Corners 14">
              <a:extLst>
                <a:ext uri="{FF2B5EF4-FFF2-40B4-BE49-F238E27FC236}">
                  <a16:creationId xmlns:a16="http://schemas.microsoft.com/office/drawing/2014/main" id="{3AB8AB20-4CC5-A6AB-DA92-F53377DF83CA}"/>
                </a:ext>
              </a:extLst>
            </p:cNvPr>
            <p:cNvSpPr/>
            <p:nvPr/>
          </p:nvSpPr>
          <p:spPr>
            <a:xfrm>
              <a:off x="3411194" y="1795354"/>
              <a:ext cx="1017037" cy="531845"/>
            </a:xfrm>
            <a:prstGeom prst="round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 of items per order</a:t>
              </a:r>
            </a:p>
          </p:txBody>
        </p:sp>
        <p:sp>
          <p:nvSpPr>
            <p:cNvPr id="16" name="Rectangle: Rounded Corners 15">
              <a:extLst>
                <a:ext uri="{FF2B5EF4-FFF2-40B4-BE49-F238E27FC236}">
                  <a16:creationId xmlns:a16="http://schemas.microsoft.com/office/drawing/2014/main" id="{552BAB83-CE9C-0852-7DB7-9A7E741FA9A7}"/>
                </a:ext>
              </a:extLst>
            </p:cNvPr>
            <p:cNvSpPr/>
            <p:nvPr/>
          </p:nvSpPr>
          <p:spPr>
            <a:xfrm>
              <a:off x="3411193" y="2574559"/>
              <a:ext cx="1017037" cy="531845"/>
            </a:xfrm>
            <a:prstGeom prst="round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 of orders per user per week</a:t>
              </a:r>
            </a:p>
          </p:txBody>
        </p:sp>
        <p:sp>
          <p:nvSpPr>
            <p:cNvPr id="17" name="Rectangle: Rounded Corners 16">
              <a:extLst>
                <a:ext uri="{FF2B5EF4-FFF2-40B4-BE49-F238E27FC236}">
                  <a16:creationId xmlns:a16="http://schemas.microsoft.com/office/drawing/2014/main" id="{EF699A49-1FCD-2E01-CDA5-180488153C06}"/>
                </a:ext>
              </a:extLst>
            </p:cNvPr>
            <p:cNvSpPr/>
            <p:nvPr/>
          </p:nvSpPr>
          <p:spPr>
            <a:xfrm>
              <a:off x="3411192" y="3348963"/>
              <a:ext cx="1017037" cy="531845"/>
            </a:xfrm>
            <a:prstGeom prst="round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 of orders delivered on time</a:t>
              </a:r>
            </a:p>
          </p:txBody>
        </p:sp>
        <p:sp>
          <p:nvSpPr>
            <p:cNvPr id="11" name="Rectangle 10">
              <a:extLst>
                <a:ext uri="{FF2B5EF4-FFF2-40B4-BE49-F238E27FC236}">
                  <a16:creationId xmlns:a16="http://schemas.microsoft.com/office/drawing/2014/main" id="{FCAC5DD8-8134-2B00-10F2-D4D5558AB1A0}"/>
                </a:ext>
              </a:extLst>
            </p:cNvPr>
            <p:cNvSpPr/>
            <p:nvPr/>
          </p:nvSpPr>
          <p:spPr>
            <a:xfrm>
              <a:off x="5628068" y="1003525"/>
              <a:ext cx="951723" cy="54055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Breadth</a:t>
              </a:r>
            </a:p>
          </p:txBody>
        </p:sp>
        <p:sp>
          <p:nvSpPr>
            <p:cNvPr id="19" name="Rectangle 18">
              <a:extLst>
                <a:ext uri="{FF2B5EF4-FFF2-40B4-BE49-F238E27FC236}">
                  <a16:creationId xmlns:a16="http://schemas.microsoft.com/office/drawing/2014/main" id="{700882F5-4430-5915-B103-87FC6737E546}"/>
                </a:ext>
              </a:extLst>
            </p:cNvPr>
            <p:cNvSpPr/>
            <p:nvPr/>
          </p:nvSpPr>
          <p:spPr>
            <a:xfrm>
              <a:off x="5628067" y="1778371"/>
              <a:ext cx="951723" cy="54055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Depth</a:t>
              </a:r>
            </a:p>
          </p:txBody>
        </p:sp>
        <p:sp>
          <p:nvSpPr>
            <p:cNvPr id="20" name="Rectangle 19">
              <a:extLst>
                <a:ext uri="{FF2B5EF4-FFF2-40B4-BE49-F238E27FC236}">
                  <a16:creationId xmlns:a16="http://schemas.microsoft.com/office/drawing/2014/main" id="{EA56BA60-5821-D687-F512-AB4123DC6079}"/>
                </a:ext>
              </a:extLst>
            </p:cNvPr>
            <p:cNvSpPr/>
            <p:nvPr/>
          </p:nvSpPr>
          <p:spPr>
            <a:xfrm>
              <a:off x="5628066" y="2561934"/>
              <a:ext cx="951723" cy="54055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Frequency</a:t>
              </a:r>
            </a:p>
          </p:txBody>
        </p:sp>
        <p:sp>
          <p:nvSpPr>
            <p:cNvPr id="21" name="Rectangle 20">
              <a:extLst>
                <a:ext uri="{FF2B5EF4-FFF2-40B4-BE49-F238E27FC236}">
                  <a16:creationId xmlns:a16="http://schemas.microsoft.com/office/drawing/2014/main" id="{BF1D1160-2704-08E3-C202-9DA70043F917}"/>
                </a:ext>
              </a:extLst>
            </p:cNvPr>
            <p:cNvSpPr/>
            <p:nvPr/>
          </p:nvSpPr>
          <p:spPr>
            <a:xfrm>
              <a:off x="5628066" y="3336780"/>
              <a:ext cx="951723" cy="54055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Efficiency</a:t>
              </a:r>
            </a:p>
          </p:txBody>
        </p:sp>
        <p:cxnSp>
          <p:nvCxnSpPr>
            <p:cNvPr id="22" name="Straight Arrow Connector 21">
              <a:extLst>
                <a:ext uri="{FF2B5EF4-FFF2-40B4-BE49-F238E27FC236}">
                  <a16:creationId xmlns:a16="http://schemas.microsoft.com/office/drawing/2014/main" id="{313D7984-A2A2-36F5-A767-AE797729E5EF}"/>
                </a:ext>
              </a:extLst>
            </p:cNvPr>
            <p:cNvCxnSpPr>
              <a:stCxn id="10" idx="3"/>
              <a:endCxn id="9" idx="1"/>
            </p:cNvCxnSpPr>
            <p:nvPr/>
          </p:nvCxnSpPr>
          <p:spPr>
            <a:xfrm flipV="1">
              <a:off x="2211353" y="1277841"/>
              <a:ext cx="1199841" cy="3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FA81969-19E2-C6B6-8095-56846926E84D}"/>
                </a:ext>
              </a:extLst>
            </p:cNvPr>
            <p:cNvCxnSpPr>
              <a:cxnSpLocks/>
              <a:stCxn id="9" idx="3"/>
              <a:endCxn id="11" idx="1"/>
            </p:cNvCxnSpPr>
            <p:nvPr/>
          </p:nvCxnSpPr>
          <p:spPr>
            <a:xfrm flipV="1">
              <a:off x="4428231" y="1273804"/>
              <a:ext cx="1199837" cy="403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464AFB-9C96-DFA1-036B-6F7BDF129BB0}"/>
                </a:ext>
              </a:extLst>
            </p:cNvPr>
            <p:cNvCxnSpPr>
              <a:stCxn id="12" idx="3"/>
              <a:endCxn id="15" idx="1"/>
            </p:cNvCxnSpPr>
            <p:nvPr/>
          </p:nvCxnSpPr>
          <p:spPr>
            <a:xfrm flipV="1">
              <a:off x="2211353" y="2061277"/>
              <a:ext cx="1199841" cy="1010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9AA7F36-F00B-431A-267D-4CAEF766DC69}"/>
                </a:ext>
              </a:extLst>
            </p:cNvPr>
            <p:cNvCxnSpPr>
              <a:stCxn id="15" idx="3"/>
              <a:endCxn id="19" idx="1"/>
            </p:cNvCxnSpPr>
            <p:nvPr/>
          </p:nvCxnSpPr>
          <p:spPr>
            <a:xfrm flipV="1">
              <a:off x="4428231" y="2048650"/>
              <a:ext cx="1199836" cy="126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506CA93-D9E9-0EC5-0978-2D3EA879CDA7}"/>
                </a:ext>
              </a:extLst>
            </p:cNvPr>
            <p:cNvCxnSpPr>
              <a:stCxn id="13" idx="3"/>
              <a:endCxn id="16" idx="1"/>
            </p:cNvCxnSpPr>
            <p:nvPr/>
          </p:nvCxnSpPr>
          <p:spPr>
            <a:xfrm>
              <a:off x="2211354" y="2836570"/>
              <a:ext cx="1199839" cy="39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057C784-C852-35BC-3438-8C2B0E8FBA3D}"/>
                </a:ext>
              </a:extLst>
            </p:cNvPr>
            <p:cNvCxnSpPr>
              <a:stCxn id="16" idx="3"/>
              <a:endCxn id="20" idx="1"/>
            </p:cNvCxnSpPr>
            <p:nvPr/>
          </p:nvCxnSpPr>
          <p:spPr>
            <a:xfrm flipV="1">
              <a:off x="4428230" y="2832213"/>
              <a:ext cx="1199836" cy="82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D53FCE1-6DF7-5587-2179-E0D4EE67BA9A}"/>
                </a:ext>
              </a:extLst>
            </p:cNvPr>
            <p:cNvCxnSpPr>
              <a:stCxn id="14" idx="3"/>
              <a:endCxn id="17" idx="1"/>
            </p:cNvCxnSpPr>
            <p:nvPr/>
          </p:nvCxnSpPr>
          <p:spPr>
            <a:xfrm flipV="1">
              <a:off x="2211355" y="3614886"/>
              <a:ext cx="1199837" cy="88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343F2B6-AD5C-7520-2928-9007126A7823}"/>
                </a:ext>
              </a:extLst>
            </p:cNvPr>
            <p:cNvCxnSpPr>
              <a:stCxn id="17" idx="3"/>
              <a:endCxn id="21" idx="1"/>
            </p:cNvCxnSpPr>
            <p:nvPr/>
          </p:nvCxnSpPr>
          <p:spPr>
            <a:xfrm flipV="1">
              <a:off x="4428229" y="3607059"/>
              <a:ext cx="1199837" cy="78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8B615764-99EA-F242-673D-EFF04DF354DA}"/>
                </a:ext>
              </a:extLst>
            </p:cNvPr>
            <p:cNvSpPr/>
            <p:nvPr/>
          </p:nvSpPr>
          <p:spPr>
            <a:xfrm>
              <a:off x="7779625" y="1496129"/>
              <a:ext cx="1707502" cy="171325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Number of Successful food items deliver each week</a:t>
              </a:r>
              <a:endParaRPr lang="en-IN" dirty="0">
                <a:solidFill>
                  <a:schemeClr val="tx1"/>
                </a:solidFill>
              </a:endParaRPr>
            </a:p>
          </p:txBody>
        </p:sp>
        <p:cxnSp>
          <p:nvCxnSpPr>
            <p:cNvPr id="44" name="Straight Arrow Connector 43">
              <a:extLst>
                <a:ext uri="{FF2B5EF4-FFF2-40B4-BE49-F238E27FC236}">
                  <a16:creationId xmlns:a16="http://schemas.microsoft.com/office/drawing/2014/main" id="{075CDB55-DF1E-67E8-8B0D-731509EEFF07}"/>
                </a:ext>
              </a:extLst>
            </p:cNvPr>
            <p:cNvCxnSpPr>
              <a:cxnSpLocks/>
              <a:stCxn id="11" idx="3"/>
            </p:cNvCxnSpPr>
            <p:nvPr/>
          </p:nvCxnSpPr>
          <p:spPr>
            <a:xfrm>
              <a:off x="6579791" y="1273804"/>
              <a:ext cx="1220601" cy="8162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4846287-6226-2464-6C94-DA538FD2CB5D}"/>
                </a:ext>
              </a:extLst>
            </p:cNvPr>
            <p:cNvCxnSpPr>
              <a:stCxn id="19" idx="3"/>
              <a:endCxn id="42" idx="2"/>
            </p:cNvCxnSpPr>
            <p:nvPr/>
          </p:nvCxnSpPr>
          <p:spPr>
            <a:xfrm>
              <a:off x="6579790" y="2048650"/>
              <a:ext cx="1199835" cy="3041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F750B70-AD36-42D5-CB46-4E616391F0D3}"/>
                </a:ext>
              </a:extLst>
            </p:cNvPr>
            <p:cNvCxnSpPr>
              <a:stCxn id="20" idx="3"/>
            </p:cNvCxnSpPr>
            <p:nvPr/>
          </p:nvCxnSpPr>
          <p:spPr>
            <a:xfrm flipV="1">
              <a:off x="6579789" y="2561934"/>
              <a:ext cx="1220603" cy="2702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A2B6B6C-9B82-C230-C2C5-EF6057555E29}"/>
                </a:ext>
              </a:extLst>
            </p:cNvPr>
            <p:cNvCxnSpPr>
              <a:cxnSpLocks/>
              <a:stCxn id="21" idx="3"/>
            </p:cNvCxnSpPr>
            <p:nvPr/>
          </p:nvCxnSpPr>
          <p:spPr>
            <a:xfrm flipV="1">
              <a:off x="6579789" y="2819458"/>
              <a:ext cx="1360562" cy="78760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ADC24DBA-7987-E60E-0238-54499CF3073D}"/>
              </a:ext>
            </a:extLst>
          </p:cNvPr>
          <p:cNvGrpSpPr/>
          <p:nvPr/>
        </p:nvGrpSpPr>
        <p:grpSpPr>
          <a:xfrm>
            <a:off x="233265" y="4525347"/>
            <a:ext cx="11765902" cy="2218907"/>
            <a:chOff x="233265" y="4525347"/>
            <a:chExt cx="11765902" cy="2218907"/>
          </a:xfrm>
          <a:solidFill>
            <a:schemeClr val="bg1">
              <a:lumMod val="95000"/>
            </a:schemeClr>
          </a:solidFill>
        </p:grpSpPr>
        <p:sp>
          <p:nvSpPr>
            <p:cNvPr id="57" name="Rectangle 56">
              <a:extLst>
                <a:ext uri="{FF2B5EF4-FFF2-40B4-BE49-F238E27FC236}">
                  <a16:creationId xmlns:a16="http://schemas.microsoft.com/office/drawing/2014/main" id="{0AF8B810-C082-328B-C00B-57A88F021C97}"/>
                </a:ext>
              </a:extLst>
            </p:cNvPr>
            <p:cNvSpPr/>
            <p:nvPr/>
          </p:nvSpPr>
          <p:spPr>
            <a:xfrm>
              <a:off x="233265" y="4525347"/>
              <a:ext cx="11765902" cy="2218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8" name="TextBox 57">
              <a:extLst>
                <a:ext uri="{FF2B5EF4-FFF2-40B4-BE49-F238E27FC236}">
                  <a16:creationId xmlns:a16="http://schemas.microsoft.com/office/drawing/2014/main" id="{524D21F0-2EEC-2171-9FD2-A60CF9D4A030}"/>
                </a:ext>
              </a:extLst>
            </p:cNvPr>
            <p:cNvSpPr txBox="1"/>
            <p:nvPr/>
          </p:nvSpPr>
          <p:spPr>
            <a:xfrm>
              <a:off x="2105606" y="5821414"/>
              <a:ext cx="3077699" cy="646331"/>
            </a:xfrm>
            <a:prstGeom prst="rect">
              <a:avLst/>
            </a:prstGeom>
            <a:grpFill/>
            <a:ln>
              <a:noFill/>
            </a:ln>
          </p:spPr>
          <p:txBody>
            <a:bodyPr wrap="square" rtlCol="0">
              <a:spAutoFit/>
            </a:bodyPr>
            <a:lstStyle/>
            <a:p>
              <a:pPr algn="ctr"/>
              <a:r>
                <a:rPr lang="en-IN" sz="1200" b="1" dirty="0"/>
                <a:t>CTRs of new feature</a:t>
              </a:r>
            </a:p>
            <a:p>
              <a:pPr algn="ctr"/>
              <a:r>
                <a:rPr lang="en-IN" sz="1200" dirty="0"/>
                <a:t>Daily/weekly tracking would enable tracking of user engagement with the features </a:t>
              </a:r>
            </a:p>
          </p:txBody>
        </p:sp>
        <p:sp>
          <p:nvSpPr>
            <p:cNvPr id="60" name="TextBox 59">
              <a:extLst>
                <a:ext uri="{FF2B5EF4-FFF2-40B4-BE49-F238E27FC236}">
                  <a16:creationId xmlns:a16="http://schemas.microsoft.com/office/drawing/2014/main" id="{C3D940D3-370F-74B9-0295-257F75C6BCCF}"/>
                </a:ext>
              </a:extLst>
            </p:cNvPr>
            <p:cNvSpPr txBox="1"/>
            <p:nvPr/>
          </p:nvSpPr>
          <p:spPr>
            <a:xfrm>
              <a:off x="3476205" y="4714798"/>
              <a:ext cx="2295333" cy="830997"/>
            </a:xfrm>
            <a:prstGeom prst="rect">
              <a:avLst/>
            </a:prstGeom>
            <a:grpFill/>
            <a:ln>
              <a:noFill/>
            </a:ln>
          </p:spPr>
          <p:txBody>
            <a:bodyPr wrap="square" rtlCol="0">
              <a:spAutoFit/>
            </a:bodyPr>
            <a:lstStyle/>
            <a:p>
              <a:pPr algn="ctr"/>
              <a:r>
                <a:rPr lang="en-IN" sz="1200" b="1" dirty="0"/>
                <a:t># of clicks/impressions</a:t>
              </a:r>
            </a:p>
            <a:p>
              <a:pPr algn="ctr"/>
              <a:r>
                <a:rPr lang="en-IN" sz="1200" dirty="0"/>
                <a:t>Daily/weekly tracking would enable tracking # of users accessing the feature</a:t>
              </a:r>
            </a:p>
          </p:txBody>
        </p:sp>
        <p:sp>
          <p:nvSpPr>
            <p:cNvPr id="61" name="TextBox 60">
              <a:extLst>
                <a:ext uri="{FF2B5EF4-FFF2-40B4-BE49-F238E27FC236}">
                  <a16:creationId xmlns:a16="http://schemas.microsoft.com/office/drawing/2014/main" id="{D5B9D81D-3F02-900E-FC92-C2CCB06D6EEF}"/>
                </a:ext>
              </a:extLst>
            </p:cNvPr>
            <p:cNvSpPr txBox="1"/>
            <p:nvPr/>
          </p:nvSpPr>
          <p:spPr>
            <a:xfrm>
              <a:off x="347287" y="4715687"/>
              <a:ext cx="2295333" cy="830997"/>
            </a:xfrm>
            <a:prstGeom prst="rect">
              <a:avLst/>
            </a:prstGeom>
            <a:grpFill/>
            <a:ln>
              <a:noFill/>
            </a:ln>
          </p:spPr>
          <p:txBody>
            <a:bodyPr wrap="square" rtlCol="0">
              <a:spAutoFit/>
            </a:bodyPr>
            <a:lstStyle/>
            <a:p>
              <a:pPr algn="ctr"/>
              <a:r>
                <a:rPr lang="en-IN" sz="1200" b="1" dirty="0"/>
                <a:t>Average Duration Spent</a:t>
              </a:r>
            </a:p>
            <a:p>
              <a:pPr algn="ctr"/>
              <a:r>
                <a:rPr lang="en-IN" sz="1200" dirty="0"/>
                <a:t>Tracking time spent by user in the section will enable understand user likelihood of conversion</a:t>
              </a:r>
            </a:p>
          </p:txBody>
        </p:sp>
        <p:sp>
          <p:nvSpPr>
            <p:cNvPr id="62" name="TextBox 61">
              <a:extLst>
                <a:ext uri="{FF2B5EF4-FFF2-40B4-BE49-F238E27FC236}">
                  <a16:creationId xmlns:a16="http://schemas.microsoft.com/office/drawing/2014/main" id="{EEC7D98A-98F2-7C26-CA53-FF3778E2A917}"/>
                </a:ext>
              </a:extLst>
            </p:cNvPr>
            <p:cNvSpPr txBox="1"/>
            <p:nvPr/>
          </p:nvSpPr>
          <p:spPr>
            <a:xfrm>
              <a:off x="8972960" y="4714798"/>
              <a:ext cx="2295333" cy="1015663"/>
            </a:xfrm>
            <a:prstGeom prst="rect">
              <a:avLst/>
            </a:prstGeom>
            <a:grpFill/>
            <a:ln>
              <a:noFill/>
            </a:ln>
          </p:spPr>
          <p:txBody>
            <a:bodyPr wrap="square" rtlCol="0">
              <a:spAutoFit/>
            </a:bodyPr>
            <a:lstStyle/>
            <a:p>
              <a:pPr algn="ctr"/>
              <a:r>
                <a:rPr lang="en-IN" sz="1200" b="1" dirty="0"/>
                <a:t>Bounce Rate &amp; Retention Rate</a:t>
              </a:r>
            </a:p>
            <a:p>
              <a:pPr algn="ctr"/>
              <a:r>
                <a:rPr lang="en-IN" sz="1200" dirty="0"/>
                <a:t>Decrease in Bounce rate shows more engagement of customers and increase in the # of orders exhibits Retention</a:t>
              </a:r>
            </a:p>
          </p:txBody>
        </p:sp>
        <p:sp>
          <p:nvSpPr>
            <p:cNvPr id="63" name="TextBox 62">
              <a:extLst>
                <a:ext uri="{FF2B5EF4-FFF2-40B4-BE49-F238E27FC236}">
                  <a16:creationId xmlns:a16="http://schemas.microsoft.com/office/drawing/2014/main" id="{BA24AB09-EB45-5341-31B7-9F5C8553A357}"/>
                </a:ext>
              </a:extLst>
            </p:cNvPr>
            <p:cNvSpPr txBox="1"/>
            <p:nvPr/>
          </p:nvSpPr>
          <p:spPr>
            <a:xfrm>
              <a:off x="6173227" y="4714798"/>
              <a:ext cx="2295333" cy="646331"/>
            </a:xfrm>
            <a:prstGeom prst="rect">
              <a:avLst/>
            </a:prstGeom>
            <a:grpFill/>
            <a:ln>
              <a:noFill/>
            </a:ln>
          </p:spPr>
          <p:txBody>
            <a:bodyPr wrap="square" rtlCol="0">
              <a:spAutoFit/>
            </a:bodyPr>
            <a:lstStyle/>
            <a:p>
              <a:pPr algn="ctr"/>
              <a:r>
                <a:rPr lang="en-IN" sz="1200" b="1" dirty="0"/>
                <a:t>Drop-off Rates</a:t>
              </a:r>
            </a:p>
            <a:p>
              <a:pPr algn="ctr"/>
              <a:r>
                <a:rPr lang="en-IN" sz="1200" dirty="0"/>
                <a:t>High Drop-off rates would show low interest in the feature</a:t>
              </a:r>
            </a:p>
          </p:txBody>
        </p:sp>
        <p:sp>
          <p:nvSpPr>
            <p:cNvPr id="64" name="TextBox 63">
              <a:extLst>
                <a:ext uri="{FF2B5EF4-FFF2-40B4-BE49-F238E27FC236}">
                  <a16:creationId xmlns:a16="http://schemas.microsoft.com/office/drawing/2014/main" id="{4520724B-36DC-1892-D626-1C1D112E23B4}"/>
                </a:ext>
              </a:extLst>
            </p:cNvPr>
            <p:cNvSpPr txBox="1"/>
            <p:nvPr/>
          </p:nvSpPr>
          <p:spPr>
            <a:xfrm>
              <a:off x="5999585" y="5829334"/>
              <a:ext cx="2633792" cy="646331"/>
            </a:xfrm>
            <a:prstGeom prst="rect">
              <a:avLst/>
            </a:prstGeom>
            <a:grpFill/>
            <a:ln>
              <a:noFill/>
            </a:ln>
          </p:spPr>
          <p:txBody>
            <a:bodyPr wrap="square" rtlCol="0">
              <a:spAutoFit/>
            </a:bodyPr>
            <a:lstStyle/>
            <a:p>
              <a:pPr algn="ctr"/>
              <a:r>
                <a:rPr lang="en-IN" sz="1200" b="1" dirty="0"/>
                <a:t>Increase in # of app downloads</a:t>
              </a:r>
            </a:p>
            <a:p>
              <a:pPr algn="ctr"/>
              <a:r>
                <a:rPr lang="en-IN" sz="1200" dirty="0"/>
                <a:t>Will show new Customer acquisitions post launch</a:t>
              </a:r>
            </a:p>
          </p:txBody>
        </p:sp>
      </p:grpSp>
      <p:grpSp>
        <p:nvGrpSpPr>
          <p:cNvPr id="68" name="Group 67">
            <a:extLst>
              <a:ext uri="{FF2B5EF4-FFF2-40B4-BE49-F238E27FC236}">
                <a16:creationId xmlns:a16="http://schemas.microsoft.com/office/drawing/2014/main" id="{4C074A4D-15DF-0D3B-B618-D46ED2B150BF}"/>
              </a:ext>
            </a:extLst>
          </p:cNvPr>
          <p:cNvGrpSpPr/>
          <p:nvPr/>
        </p:nvGrpSpPr>
        <p:grpSpPr>
          <a:xfrm>
            <a:off x="137" y="0"/>
            <a:ext cx="12192000" cy="419879"/>
            <a:chOff x="0" y="1380931"/>
            <a:chExt cx="12039341" cy="419879"/>
          </a:xfrm>
          <a:solidFill>
            <a:schemeClr val="bg1">
              <a:lumMod val="65000"/>
            </a:schemeClr>
          </a:solidFill>
        </p:grpSpPr>
        <p:sp>
          <p:nvSpPr>
            <p:cNvPr id="69" name="Rectangle 68">
              <a:extLst>
                <a:ext uri="{FF2B5EF4-FFF2-40B4-BE49-F238E27FC236}">
                  <a16:creationId xmlns:a16="http://schemas.microsoft.com/office/drawing/2014/main" id="{B648952B-F34A-365C-95E5-0862D467ACC0}"/>
                </a:ext>
              </a:extLst>
            </p:cNvPr>
            <p:cNvSpPr/>
            <p:nvPr/>
          </p:nvSpPr>
          <p:spPr>
            <a:xfrm>
              <a:off x="0" y="1380931"/>
              <a:ext cx="1504918" cy="4198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70" name="Rectangle 69">
              <a:extLst>
                <a:ext uri="{FF2B5EF4-FFF2-40B4-BE49-F238E27FC236}">
                  <a16:creationId xmlns:a16="http://schemas.microsoft.com/office/drawing/2014/main" id="{7AEF085A-70B6-292A-54FD-A354BCCA427B}"/>
                </a:ext>
              </a:extLst>
            </p:cNvPr>
            <p:cNvSpPr/>
            <p:nvPr/>
          </p:nvSpPr>
          <p:spPr>
            <a:xfrm>
              <a:off x="1504918"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71" name="Rectangle 70">
              <a:extLst>
                <a:ext uri="{FF2B5EF4-FFF2-40B4-BE49-F238E27FC236}">
                  <a16:creationId xmlns:a16="http://schemas.microsoft.com/office/drawing/2014/main" id="{6CA4B53B-573F-6601-FBE5-C77ECACE87ED}"/>
                </a:ext>
              </a:extLst>
            </p:cNvPr>
            <p:cNvSpPr/>
            <p:nvPr/>
          </p:nvSpPr>
          <p:spPr>
            <a:xfrm>
              <a:off x="3009835"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72" name="Rectangle 71">
              <a:extLst>
                <a:ext uri="{FF2B5EF4-FFF2-40B4-BE49-F238E27FC236}">
                  <a16:creationId xmlns:a16="http://schemas.microsoft.com/office/drawing/2014/main" id="{527EDD1C-D772-E1D9-92C3-3973FA93B00B}"/>
                </a:ext>
              </a:extLst>
            </p:cNvPr>
            <p:cNvSpPr/>
            <p:nvPr/>
          </p:nvSpPr>
          <p:spPr>
            <a:xfrm>
              <a:off x="451475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73" name="Rectangle 72">
              <a:extLst>
                <a:ext uri="{FF2B5EF4-FFF2-40B4-BE49-F238E27FC236}">
                  <a16:creationId xmlns:a16="http://schemas.microsoft.com/office/drawing/2014/main" id="{65B41916-0E7A-28CB-95A8-F969548748C8}"/>
                </a:ext>
              </a:extLst>
            </p:cNvPr>
            <p:cNvSpPr/>
            <p:nvPr/>
          </p:nvSpPr>
          <p:spPr>
            <a:xfrm>
              <a:off x="6019671"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74" name="Rectangle 73">
              <a:extLst>
                <a:ext uri="{FF2B5EF4-FFF2-40B4-BE49-F238E27FC236}">
                  <a16:creationId xmlns:a16="http://schemas.microsoft.com/office/drawing/2014/main" id="{7E476B7F-33C1-B570-761D-CA73C16A4577}"/>
                </a:ext>
              </a:extLst>
            </p:cNvPr>
            <p:cNvSpPr/>
            <p:nvPr/>
          </p:nvSpPr>
          <p:spPr>
            <a:xfrm>
              <a:off x="7524588" y="1380932"/>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75" name="Rectangle 74">
              <a:extLst>
                <a:ext uri="{FF2B5EF4-FFF2-40B4-BE49-F238E27FC236}">
                  <a16:creationId xmlns:a16="http://schemas.microsoft.com/office/drawing/2014/main" id="{088F5B55-38F0-7DAC-2BF4-1E6AD0BDB8DC}"/>
                </a:ext>
              </a:extLst>
            </p:cNvPr>
            <p:cNvSpPr/>
            <p:nvPr/>
          </p:nvSpPr>
          <p:spPr>
            <a:xfrm>
              <a:off x="9029507" y="1380931"/>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76" name="Rectangle 75">
              <a:extLst>
                <a:ext uri="{FF2B5EF4-FFF2-40B4-BE49-F238E27FC236}">
                  <a16:creationId xmlns:a16="http://schemas.microsoft.com/office/drawing/2014/main" id="{DEAD0DDC-E258-69DD-675B-DD1D50E7DD4A}"/>
                </a:ext>
              </a:extLst>
            </p:cNvPr>
            <p:cNvSpPr/>
            <p:nvPr/>
          </p:nvSpPr>
          <p:spPr>
            <a:xfrm>
              <a:off x="1053442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spTree>
    <p:extLst>
      <p:ext uri="{BB962C8B-B14F-4D97-AF65-F5344CB8AC3E}">
        <p14:creationId xmlns:p14="http://schemas.microsoft.com/office/powerpoint/2010/main" val="678933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B202D"/>
        </a:solidFill>
        <a:effectLst/>
      </p:bgPr>
    </p:bg>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5A07694C-BD4A-07D7-982D-A21B4EC3629F}"/>
              </a:ext>
            </a:extLst>
          </p:cNvPr>
          <p:cNvSpPr/>
          <p:nvPr/>
        </p:nvSpPr>
        <p:spPr>
          <a:xfrm>
            <a:off x="4739950" y="1759710"/>
            <a:ext cx="7361445" cy="387598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1">
            <a:extLst>
              <a:ext uri="{FF2B5EF4-FFF2-40B4-BE49-F238E27FC236}">
                <a16:creationId xmlns:a16="http://schemas.microsoft.com/office/drawing/2014/main" id="{C9AAFBC5-7C24-412A-BBA7-80C31A914F72}"/>
              </a:ext>
            </a:extLst>
          </p:cNvPr>
          <p:cNvGrpSpPr/>
          <p:nvPr/>
        </p:nvGrpSpPr>
        <p:grpSpPr>
          <a:xfrm>
            <a:off x="4869070" y="1788675"/>
            <a:ext cx="7287063" cy="3650391"/>
            <a:chOff x="7077220" y="3276845"/>
            <a:chExt cx="5152225" cy="2422415"/>
          </a:xfrm>
        </p:grpSpPr>
        <p:cxnSp>
          <p:nvCxnSpPr>
            <p:cNvPr id="3" name="Straight Arrow Connector 2">
              <a:extLst>
                <a:ext uri="{FF2B5EF4-FFF2-40B4-BE49-F238E27FC236}">
                  <a16:creationId xmlns:a16="http://schemas.microsoft.com/office/drawing/2014/main" id="{B2ACA7E5-5235-65F4-4024-5A981A40BBAE}"/>
                </a:ext>
              </a:extLst>
            </p:cNvPr>
            <p:cNvCxnSpPr>
              <a:cxnSpLocks/>
            </p:cNvCxnSpPr>
            <p:nvPr/>
          </p:nvCxnSpPr>
          <p:spPr>
            <a:xfrm>
              <a:off x="9525751" y="3426988"/>
              <a:ext cx="0" cy="2106065"/>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302BAF6B-858D-2384-F17D-DF6FDF7B2B8F}"/>
                </a:ext>
              </a:extLst>
            </p:cNvPr>
            <p:cNvCxnSpPr>
              <a:cxnSpLocks/>
            </p:cNvCxnSpPr>
            <p:nvPr/>
          </p:nvCxnSpPr>
          <p:spPr>
            <a:xfrm>
              <a:off x="7697755" y="4462479"/>
              <a:ext cx="3685591" cy="0"/>
            </a:xfrm>
            <a:prstGeom prst="straightConnector1">
              <a:avLst/>
            </a:prstGeom>
            <a:ln w="28575">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5" name="Picture 18" descr="Rebel Foods - Home | Facebook">
              <a:extLst>
                <a:ext uri="{FF2B5EF4-FFF2-40B4-BE49-F238E27FC236}">
                  <a16:creationId xmlns:a16="http://schemas.microsoft.com/office/drawing/2014/main" id="{28A3A16A-C882-8A5F-5988-A4424DA8EC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547" b="25936"/>
            <a:stretch/>
          </p:blipFill>
          <p:spPr bwMode="auto">
            <a:xfrm>
              <a:off x="8924154" y="4175762"/>
              <a:ext cx="502034" cy="2435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0" descr="Swiggy Logo | Real Company | Alphabet, Letter S Logo">
              <a:extLst>
                <a:ext uri="{FF2B5EF4-FFF2-40B4-BE49-F238E27FC236}">
                  <a16:creationId xmlns:a16="http://schemas.microsoft.com/office/drawing/2014/main" id="{C0D8E664-3F18-D4D8-5545-3EFC0C95A3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977" t="16304" r="25574" b="15154"/>
            <a:stretch/>
          </p:blipFill>
          <p:spPr bwMode="auto">
            <a:xfrm>
              <a:off x="10678994" y="4900296"/>
              <a:ext cx="221692" cy="3271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2" descr="Kitopi">
              <a:extLst>
                <a:ext uri="{FF2B5EF4-FFF2-40B4-BE49-F238E27FC236}">
                  <a16:creationId xmlns:a16="http://schemas.microsoft.com/office/drawing/2014/main" id="{241DF0E2-4B15-F61F-3967-03D8745196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997" t="15678" r="10419" b="21241"/>
            <a:stretch/>
          </p:blipFill>
          <p:spPr bwMode="auto">
            <a:xfrm>
              <a:off x="9628424" y="3681770"/>
              <a:ext cx="341754" cy="28903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4" descr="CloudEats - Crunchbase Company Profile &amp; Funding">
              <a:extLst>
                <a:ext uri="{FF2B5EF4-FFF2-40B4-BE49-F238E27FC236}">
                  <a16:creationId xmlns:a16="http://schemas.microsoft.com/office/drawing/2014/main" id="{E383D192-E6B6-4774-D01B-CCC0654306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202" t="14643" r="12308" b="10203"/>
            <a:stretch/>
          </p:blipFill>
          <p:spPr bwMode="auto">
            <a:xfrm>
              <a:off x="8222970" y="4056878"/>
              <a:ext cx="498449" cy="37201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6FDD13E-A2E0-B516-12DD-0D61A97BA0F0}"/>
                </a:ext>
              </a:extLst>
            </p:cNvPr>
            <p:cNvSpPr txBox="1"/>
            <p:nvPr/>
          </p:nvSpPr>
          <p:spPr>
            <a:xfrm>
              <a:off x="8388221" y="3824499"/>
              <a:ext cx="759639" cy="207400"/>
            </a:xfrm>
            <a:prstGeom prst="rect">
              <a:avLst/>
            </a:prstGeom>
            <a:noFill/>
          </p:spPr>
          <p:txBody>
            <a:bodyPr wrap="square" rtlCol="0">
              <a:spAutoFit/>
            </a:bodyPr>
            <a:lstStyle/>
            <a:p>
              <a:r>
                <a:rPr lang="en-IN" sz="700" b="1" i="1" dirty="0"/>
                <a:t>DARK KITCHEN</a:t>
              </a:r>
            </a:p>
          </p:txBody>
        </p:sp>
        <p:sp>
          <p:nvSpPr>
            <p:cNvPr id="10" name="TextBox 9">
              <a:extLst>
                <a:ext uri="{FF2B5EF4-FFF2-40B4-BE49-F238E27FC236}">
                  <a16:creationId xmlns:a16="http://schemas.microsoft.com/office/drawing/2014/main" id="{4DFB2346-DDE4-7EB0-3C18-4F40DB0FC4A2}"/>
                </a:ext>
              </a:extLst>
            </p:cNvPr>
            <p:cNvSpPr txBox="1"/>
            <p:nvPr/>
          </p:nvSpPr>
          <p:spPr>
            <a:xfrm>
              <a:off x="9918719" y="3836378"/>
              <a:ext cx="1168776" cy="200055"/>
            </a:xfrm>
            <a:prstGeom prst="rect">
              <a:avLst/>
            </a:prstGeom>
            <a:noFill/>
          </p:spPr>
          <p:txBody>
            <a:bodyPr wrap="square" rtlCol="0">
              <a:spAutoFit/>
            </a:bodyPr>
            <a:lstStyle/>
            <a:p>
              <a:r>
                <a:rPr lang="en-IN" sz="700" b="1" i="1" dirty="0"/>
                <a:t>KITCHEN AS A SERVICE</a:t>
              </a:r>
            </a:p>
          </p:txBody>
        </p:sp>
        <p:sp>
          <p:nvSpPr>
            <p:cNvPr id="11" name="TextBox 10">
              <a:extLst>
                <a:ext uri="{FF2B5EF4-FFF2-40B4-BE49-F238E27FC236}">
                  <a16:creationId xmlns:a16="http://schemas.microsoft.com/office/drawing/2014/main" id="{3519E258-02DD-832E-A735-0D0B29AF8B7F}"/>
                </a:ext>
              </a:extLst>
            </p:cNvPr>
            <p:cNvSpPr txBox="1"/>
            <p:nvPr/>
          </p:nvSpPr>
          <p:spPr>
            <a:xfrm>
              <a:off x="9707320" y="4693696"/>
              <a:ext cx="1245212" cy="200055"/>
            </a:xfrm>
            <a:prstGeom prst="rect">
              <a:avLst/>
            </a:prstGeom>
            <a:noFill/>
          </p:spPr>
          <p:txBody>
            <a:bodyPr wrap="square" rtlCol="0">
              <a:spAutoFit/>
            </a:bodyPr>
            <a:lstStyle/>
            <a:p>
              <a:r>
                <a:rPr lang="en-IN" sz="700" b="1" i="1" dirty="0"/>
                <a:t>KITCHEN AGGREGATOR</a:t>
              </a:r>
            </a:p>
          </p:txBody>
        </p:sp>
        <p:sp>
          <p:nvSpPr>
            <p:cNvPr id="12" name="TextBox 11">
              <a:extLst>
                <a:ext uri="{FF2B5EF4-FFF2-40B4-BE49-F238E27FC236}">
                  <a16:creationId xmlns:a16="http://schemas.microsoft.com/office/drawing/2014/main" id="{7FD032CD-053C-5731-4024-CDE547C8CE29}"/>
                </a:ext>
              </a:extLst>
            </p:cNvPr>
            <p:cNvSpPr txBox="1"/>
            <p:nvPr/>
          </p:nvSpPr>
          <p:spPr>
            <a:xfrm>
              <a:off x="8430920" y="4696223"/>
              <a:ext cx="913263" cy="200055"/>
            </a:xfrm>
            <a:prstGeom prst="rect">
              <a:avLst/>
            </a:prstGeom>
            <a:noFill/>
          </p:spPr>
          <p:txBody>
            <a:bodyPr wrap="square" rtlCol="0">
              <a:spAutoFit/>
            </a:bodyPr>
            <a:lstStyle/>
            <a:p>
              <a:r>
                <a:rPr lang="en-IN" sz="700" b="1" i="1" dirty="0"/>
                <a:t>VIRTUAL KITCHEN</a:t>
              </a:r>
            </a:p>
          </p:txBody>
        </p:sp>
        <p:pic>
          <p:nvPicPr>
            <p:cNvPr id="13" name="Picture 26" descr="REEF KITCHENS and Barilla® Restaurants Launch Innovative Partnership to  Bring Italian Delivery Options to Miami | Business Wire">
              <a:extLst>
                <a:ext uri="{FF2B5EF4-FFF2-40B4-BE49-F238E27FC236}">
                  <a16:creationId xmlns:a16="http://schemas.microsoft.com/office/drawing/2014/main" id="{32341F27-7231-F958-9F9C-3D0939BBA24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8511" b="10191"/>
            <a:stretch/>
          </p:blipFill>
          <p:spPr bwMode="auto">
            <a:xfrm>
              <a:off x="10414605" y="4064251"/>
              <a:ext cx="697726" cy="2836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8" descr="Nextbite">
              <a:extLst>
                <a:ext uri="{FF2B5EF4-FFF2-40B4-BE49-F238E27FC236}">
                  <a16:creationId xmlns:a16="http://schemas.microsoft.com/office/drawing/2014/main" id="{CA18954F-52FA-90A9-A2AE-FA47833124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51536" y="5013108"/>
              <a:ext cx="480926" cy="10150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0" descr="Deliveroo New Logo transparent PNG - StickPNG">
              <a:extLst>
                <a:ext uri="{FF2B5EF4-FFF2-40B4-BE49-F238E27FC236}">
                  <a16:creationId xmlns:a16="http://schemas.microsoft.com/office/drawing/2014/main" id="{1E2794B7-88A3-02EC-53AB-1F5C234C3B3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190" t="6380" r="18678" b="6303"/>
            <a:stretch/>
          </p:blipFill>
          <p:spPr bwMode="auto">
            <a:xfrm>
              <a:off x="9700259" y="4864104"/>
              <a:ext cx="368842" cy="36332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2">
              <a:extLst>
                <a:ext uri="{FF2B5EF4-FFF2-40B4-BE49-F238E27FC236}">
                  <a16:creationId xmlns:a16="http://schemas.microsoft.com/office/drawing/2014/main" id="{B1837FAF-8BCD-7109-3193-8C735939DC4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15569" y="3652650"/>
              <a:ext cx="207401" cy="20740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D880BFCB-2073-2240-ABC6-0013B5EDF500}"/>
                </a:ext>
              </a:extLst>
            </p:cNvPr>
            <p:cNvSpPr/>
            <p:nvPr/>
          </p:nvSpPr>
          <p:spPr>
            <a:xfrm>
              <a:off x="7964007" y="3517840"/>
              <a:ext cx="1469240" cy="1883249"/>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48E8BD33-D9F0-75B2-5A5B-8FF00A69C0E9}"/>
                </a:ext>
              </a:extLst>
            </p:cNvPr>
            <p:cNvSpPr/>
            <p:nvPr/>
          </p:nvSpPr>
          <p:spPr>
            <a:xfrm>
              <a:off x="9612995" y="3517840"/>
              <a:ext cx="1551427" cy="1883249"/>
            </a:xfrm>
            <a:prstGeom prst="rect">
              <a:avLst/>
            </a:prstGeom>
            <a:noFill/>
            <a:ln w="1905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99D05AB1-BDF8-BEF8-F5DF-B9A704970393}"/>
                </a:ext>
              </a:extLst>
            </p:cNvPr>
            <p:cNvSpPr/>
            <p:nvPr/>
          </p:nvSpPr>
          <p:spPr>
            <a:xfrm>
              <a:off x="7822543" y="3601616"/>
              <a:ext cx="3439506" cy="817711"/>
            </a:xfrm>
            <a:prstGeom prst="rect">
              <a:avLst/>
            </a:prstGeom>
            <a:noFill/>
            <a:ln w="19050">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CF7EB40D-EA6B-7E6E-8A17-AF7400EA3180}"/>
                </a:ext>
              </a:extLst>
            </p:cNvPr>
            <p:cNvSpPr/>
            <p:nvPr/>
          </p:nvSpPr>
          <p:spPr>
            <a:xfrm>
              <a:off x="7853455" y="4527489"/>
              <a:ext cx="3439506" cy="817711"/>
            </a:xfrm>
            <a:prstGeom prst="rect">
              <a:avLst/>
            </a:prstGeom>
            <a:noFill/>
            <a:ln w="19050">
              <a:solidFill>
                <a:schemeClr val="tx1">
                  <a:lumMod val="95000"/>
                  <a:lumOff val="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EEEFCC56-2185-2118-24F7-61B3F0137D75}"/>
                </a:ext>
              </a:extLst>
            </p:cNvPr>
            <p:cNvSpPr txBox="1"/>
            <p:nvPr/>
          </p:nvSpPr>
          <p:spPr>
            <a:xfrm>
              <a:off x="9095982" y="3276845"/>
              <a:ext cx="1406636" cy="183818"/>
            </a:xfrm>
            <a:prstGeom prst="rect">
              <a:avLst/>
            </a:prstGeom>
            <a:noFill/>
          </p:spPr>
          <p:txBody>
            <a:bodyPr wrap="square" rtlCol="0">
              <a:spAutoFit/>
            </a:bodyPr>
            <a:lstStyle/>
            <a:p>
              <a:r>
                <a:rPr lang="en-IN" sz="1200" dirty="0"/>
                <a:t>Owned Operations</a:t>
              </a:r>
            </a:p>
          </p:txBody>
        </p:sp>
        <p:sp>
          <p:nvSpPr>
            <p:cNvPr id="22" name="TextBox 21">
              <a:extLst>
                <a:ext uri="{FF2B5EF4-FFF2-40B4-BE49-F238E27FC236}">
                  <a16:creationId xmlns:a16="http://schemas.microsoft.com/office/drawing/2014/main" id="{89B2A190-462E-9AD9-DBF6-DF1A2CAAF995}"/>
                </a:ext>
              </a:extLst>
            </p:cNvPr>
            <p:cNvSpPr txBox="1"/>
            <p:nvPr/>
          </p:nvSpPr>
          <p:spPr>
            <a:xfrm>
              <a:off x="8961445" y="5515442"/>
              <a:ext cx="1199287" cy="183818"/>
            </a:xfrm>
            <a:prstGeom prst="rect">
              <a:avLst/>
            </a:prstGeom>
            <a:noFill/>
          </p:spPr>
          <p:txBody>
            <a:bodyPr wrap="square" rtlCol="0">
              <a:spAutoFit/>
            </a:bodyPr>
            <a:lstStyle/>
            <a:p>
              <a:r>
                <a:rPr lang="en-IN" sz="1200" dirty="0"/>
                <a:t>Outsourced Operations</a:t>
              </a:r>
            </a:p>
          </p:txBody>
        </p:sp>
        <p:sp>
          <p:nvSpPr>
            <p:cNvPr id="23" name="TextBox 22">
              <a:extLst>
                <a:ext uri="{FF2B5EF4-FFF2-40B4-BE49-F238E27FC236}">
                  <a16:creationId xmlns:a16="http://schemas.microsoft.com/office/drawing/2014/main" id="{69F0BD36-89E2-27F3-09F9-64BDFA510283}"/>
                </a:ext>
              </a:extLst>
            </p:cNvPr>
            <p:cNvSpPr txBox="1"/>
            <p:nvPr/>
          </p:nvSpPr>
          <p:spPr>
            <a:xfrm>
              <a:off x="7077220" y="4364580"/>
              <a:ext cx="678761" cy="189767"/>
            </a:xfrm>
            <a:prstGeom prst="rect">
              <a:avLst/>
            </a:prstGeom>
            <a:noFill/>
          </p:spPr>
          <p:txBody>
            <a:bodyPr wrap="square" rtlCol="0">
              <a:spAutoFit/>
            </a:bodyPr>
            <a:lstStyle/>
            <a:p>
              <a:r>
                <a:rPr lang="en-IN" sz="1200" dirty="0"/>
                <a:t>Own Brands</a:t>
              </a:r>
            </a:p>
          </p:txBody>
        </p:sp>
        <p:sp>
          <p:nvSpPr>
            <p:cNvPr id="24" name="TextBox 23">
              <a:extLst>
                <a:ext uri="{FF2B5EF4-FFF2-40B4-BE49-F238E27FC236}">
                  <a16:creationId xmlns:a16="http://schemas.microsoft.com/office/drawing/2014/main" id="{E8B38B18-65A6-AA31-6304-F164FBDE9CD4}"/>
                </a:ext>
              </a:extLst>
            </p:cNvPr>
            <p:cNvSpPr txBox="1"/>
            <p:nvPr/>
          </p:nvSpPr>
          <p:spPr>
            <a:xfrm>
              <a:off x="11378155" y="4367555"/>
              <a:ext cx="851290" cy="183818"/>
            </a:xfrm>
            <a:prstGeom prst="rect">
              <a:avLst/>
            </a:prstGeom>
            <a:noFill/>
          </p:spPr>
          <p:txBody>
            <a:bodyPr wrap="square" rtlCol="0">
              <a:spAutoFit/>
            </a:bodyPr>
            <a:lstStyle/>
            <a:p>
              <a:r>
                <a:rPr lang="en-IN" sz="1200" dirty="0"/>
                <a:t>3</a:t>
              </a:r>
              <a:r>
                <a:rPr lang="en-IN" sz="1200" baseline="30000" dirty="0"/>
                <a:t>rd</a:t>
              </a:r>
              <a:r>
                <a:rPr lang="en-IN" sz="1200" dirty="0"/>
                <a:t> Party Brands</a:t>
              </a:r>
            </a:p>
          </p:txBody>
        </p:sp>
      </p:grpSp>
      <p:grpSp>
        <p:nvGrpSpPr>
          <p:cNvPr id="27" name="Group 26">
            <a:extLst>
              <a:ext uri="{FF2B5EF4-FFF2-40B4-BE49-F238E27FC236}">
                <a16:creationId xmlns:a16="http://schemas.microsoft.com/office/drawing/2014/main" id="{ED3AC0C4-9FBC-828C-79D8-7EC8AB925ABB}"/>
              </a:ext>
            </a:extLst>
          </p:cNvPr>
          <p:cNvGrpSpPr/>
          <p:nvPr/>
        </p:nvGrpSpPr>
        <p:grpSpPr>
          <a:xfrm>
            <a:off x="137" y="0"/>
            <a:ext cx="12192000" cy="419879"/>
            <a:chOff x="0" y="1380931"/>
            <a:chExt cx="12039341" cy="419879"/>
          </a:xfrm>
          <a:solidFill>
            <a:schemeClr val="bg1">
              <a:lumMod val="65000"/>
            </a:schemeClr>
          </a:solidFill>
        </p:grpSpPr>
        <p:sp>
          <p:nvSpPr>
            <p:cNvPr id="28" name="Rectangle 27">
              <a:extLst>
                <a:ext uri="{FF2B5EF4-FFF2-40B4-BE49-F238E27FC236}">
                  <a16:creationId xmlns:a16="http://schemas.microsoft.com/office/drawing/2014/main" id="{AD321978-0AF8-8E43-41BA-D0AF5AC46771}"/>
                </a:ext>
              </a:extLst>
            </p:cNvPr>
            <p:cNvSpPr/>
            <p:nvPr/>
          </p:nvSpPr>
          <p:spPr>
            <a:xfrm>
              <a:off x="0" y="1380931"/>
              <a:ext cx="1504918" cy="4198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About the sector &amp; Hypotheses</a:t>
              </a:r>
            </a:p>
          </p:txBody>
        </p:sp>
        <p:sp>
          <p:nvSpPr>
            <p:cNvPr id="29" name="Rectangle 28">
              <a:extLst>
                <a:ext uri="{FF2B5EF4-FFF2-40B4-BE49-F238E27FC236}">
                  <a16:creationId xmlns:a16="http://schemas.microsoft.com/office/drawing/2014/main" id="{76416FDB-A4FF-A06D-0DC3-E16C8DB2E1BE}"/>
                </a:ext>
              </a:extLst>
            </p:cNvPr>
            <p:cNvSpPr/>
            <p:nvPr/>
          </p:nvSpPr>
          <p:spPr>
            <a:xfrm>
              <a:off x="1504918"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Hypotheses from Financial POV </a:t>
              </a:r>
            </a:p>
          </p:txBody>
        </p:sp>
        <p:sp>
          <p:nvSpPr>
            <p:cNvPr id="30" name="Rectangle 29">
              <a:extLst>
                <a:ext uri="{FF2B5EF4-FFF2-40B4-BE49-F238E27FC236}">
                  <a16:creationId xmlns:a16="http://schemas.microsoft.com/office/drawing/2014/main" id="{A8931D04-AFAD-224F-D4E3-A432C7C7B1EC}"/>
                </a:ext>
              </a:extLst>
            </p:cNvPr>
            <p:cNvSpPr/>
            <p:nvPr/>
          </p:nvSpPr>
          <p:spPr>
            <a:xfrm>
              <a:off x="3009835"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Evaluating System Integrations</a:t>
              </a:r>
            </a:p>
          </p:txBody>
        </p:sp>
        <p:sp>
          <p:nvSpPr>
            <p:cNvPr id="31" name="Rectangle 30">
              <a:extLst>
                <a:ext uri="{FF2B5EF4-FFF2-40B4-BE49-F238E27FC236}">
                  <a16:creationId xmlns:a16="http://schemas.microsoft.com/office/drawing/2014/main" id="{9ECD9216-C089-9E00-F15E-B53E62246693}"/>
                </a:ext>
              </a:extLst>
            </p:cNvPr>
            <p:cNvSpPr/>
            <p:nvPr/>
          </p:nvSpPr>
          <p:spPr>
            <a:xfrm>
              <a:off x="4514753"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 </a:t>
              </a:r>
            </a:p>
          </p:txBody>
        </p:sp>
        <p:sp>
          <p:nvSpPr>
            <p:cNvPr id="32" name="Rectangle 31">
              <a:extLst>
                <a:ext uri="{FF2B5EF4-FFF2-40B4-BE49-F238E27FC236}">
                  <a16:creationId xmlns:a16="http://schemas.microsoft.com/office/drawing/2014/main" id="{DB66AECF-578C-9153-CE38-2EAFC01E2603}"/>
                </a:ext>
              </a:extLst>
            </p:cNvPr>
            <p:cNvSpPr/>
            <p:nvPr/>
          </p:nvSpPr>
          <p:spPr>
            <a:xfrm>
              <a:off x="6019671"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STP &amp; </a:t>
              </a:r>
            </a:p>
            <a:p>
              <a:pPr algn="ctr"/>
              <a:r>
                <a:rPr lang="en-IN" sz="1200" b="1" dirty="0">
                  <a:solidFill>
                    <a:schemeClr val="tx1"/>
                  </a:solidFill>
                </a:rPr>
                <a:t>Marketing Mix</a:t>
              </a:r>
            </a:p>
          </p:txBody>
        </p:sp>
        <p:sp>
          <p:nvSpPr>
            <p:cNvPr id="33" name="Rectangle 32">
              <a:extLst>
                <a:ext uri="{FF2B5EF4-FFF2-40B4-BE49-F238E27FC236}">
                  <a16:creationId xmlns:a16="http://schemas.microsoft.com/office/drawing/2014/main" id="{4059E587-047A-3DE6-D333-574820721CF8}"/>
                </a:ext>
              </a:extLst>
            </p:cNvPr>
            <p:cNvSpPr/>
            <p:nvPr/>
          </p:nvSpPr>
          <p:spPr>
            <a:xfrm>
              <a:off x="7524588" y="1380932"/>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Go To Market Strategy(App)</a:t>
              </a:r>
            </a:p>
          </p:txBody>
        </p:sp>
        <p:sp>
          <p:nvSpPr>
            <p:cNvPr id="34" name="Rectangle 33">
              <a:extLst>
                <a:ext uri="{FF2B5EF4-FFF2-40B4-BE49-F238E27FC236}">
                  <a16:creationId xmlns:a16="http://schemas.microsoft.com/office/drawing/2014/main" id="{97DD6A80-A9BA-82C2-2784-435801E95EC1}"/>
                </a:ext>
              </a:extLst>
            </p:cNvPr>
            <p:cNvSpPr/>
            <p:nvPr/>
          </p:nvSpPr>
          <p:spPr>
            <a:xfrm>
              <a:off x="9029507" y="1380931"/>
              <a:ext cx="1504918" cy="4198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Success Metrics</a:t>
              </a:r>
            </a:p>
          </p:txBody>
        </p:sp>
        <p:sp>
          <p:nvSpPr>
            <p:cNvPr id="35" name="Rectangle 34">
              <a:extLst>
                <a:ext uri="{FF2B5EF4-FFF2-40B4-BE49-F238E27FC236}">
                  <a16:creationId xmlns:a16="http://schemas.microsoft.com/office/drawing/2014/main" id="{BB879746-E326-17CE-734F-E344AB94A2B7}"/>
                </a:ext>
              </a:extLst>
            </p:cNvPr>
            <p:cNvSpPr/>
            <p:nvPr/>
          </p:nvSpPr>
          <p:spPr>
            <a:xfrm>
              <a:off x="10534423" y="1380931"/>
              <a:ext cx="1504918" cy="4198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Press Release</a:t>
              </a:r>
            </a:p>
          </p:txBody>
        </p:sp>
      </p:grpSp>
      <p:pic>
        <p:nvPicPr>
          <p:cNvPr id="37" name="Picture 36" descr="Graphical user interface, website&#10;&#10;Description automatically generated">
            <a:extLst>
              <a:ext uri="{FF2B5EF4-FFF2-40B4-BE49-F238E27FC236}">
                <a16:creationId xmlns:a16="http://schemas.microsoft.com/office/drawing/2014/main" id="{35824686-2021-630E-987C-8B5D002AAE1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0605" y="481583"/>
            <a:ext cx="4491139" cy="6042130"/>
          </a:xfrm>
          <a:prstGeom prst="rect">
            <a:avLst/>
          </a:prstGeom>
        </p:spPr>
      </p:pic>
      <p:sp>
        <p:nvSpPr>
          <p:cNvPr id="39" name="Rectangle: Folded Corner 38">
            <a:extLst>
              <a:ext uri="{FF2B5EF4-FFF2-40B4-BE49-F238E27FC236}">
                <a16:creationId xmlns:a16="http://schemas.microsoft.com/office/drawing/2014/main" id="{AA847889-F1F4-796F-8BD7-770C31D1FAD6}"/>
              </a:ext>
            </a:extLst>
          </p:cNvPr>
          <p:cNvSpPr/>
          <p:nvPr/>
        </p:nvSpPr>
        <p:spPr>
          <a:xfrm>
            <a:off x="5746725" y="1270832"/>
            <a:ext cx="5084889" cy="459386"/>
          </a:xfrm>
          <a:prstGeom prst="foldedCorne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SERVICE POSITIONING </a:t>
            </a:r>
          </a:p>
        </p:txBody>
      </p:sp>
    </p:spTree>
    <p:extLst>
      <p:ext uri="{BB962C8B-B14F-4D97-AF65-F5344CB8AC3E}">
        <p14:creationId xmlns:p14="http://schemas.microsoft.com/office/powerpoint/2010/main" val="3780798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C7AA9AD-E105-DAED-C8E4-75EEF5E62165}"/>
              </a:ext>
            </a:extLst>
          </p:cNvPr>
          <p:cNvGrpSpPr/>
          <p:nvPr/>
        </p:nvGrpSpPr>
        <p:grpSpPr>
          <a:xfrm>
            <a:off x="293914" y="2006081"/>
            <a:ext cx="11604171" cy="2845837"/>
            <a:chOff x="214604" y="1156996"/>
            <a:chExt cx="11604171" cy="2845837"/>
          </a:xfrm>
        </p:grpSpPr>
        <p:grpSp>
          <p:nvGrpSpPr>
            <p:cNvPr id="7" name="Group 6">
              <a:extLst>
                <a:ext uri="{FF2B5EF4-FFF2-40B4-BE49-F238E27FC236}">
                  <a16:creationId xmlns:a16="http://schemas.microsoft.com/office/drawing/2014/main" id="{034E1F77-E3F9-0CD2-3EDE-93F2AF8696DE}"/>
                </a:ext>
              </a:extLst>
            </p:cNvPr>
            <p:cNvGrpSpPr/>
            <p:nvPr/>
          </p:nvGrpSpPr>
          <p:grpSpPr>
            <a:xfrm>
              <a:off x="214604" y="1156996"/>
              <a:ext cx="11604171" cy="2845837"/>
              <a:chOff x="401216" y="1026367"/>
              <a:chExt cx="11604171" cy="2845837"/>
            </a:xfrm>
          </p:grpSpPr>
          <p:sp>
            <p:nvSpPr>
              <p:cNvPr id="3" name="Rectangle: Rounded Corners 2">
                <a:extLst>
                  <a:ext uri="{FF2B5EF4-FFF2-40B4-BE49-F238E27FC236}">
                    <a16:creationId xmlns:a16="http://schemas.microsoft.com/office/drawing/2014/main" id="{8865750A-7D68-CD29-FC70-4D310C6E2C8D}"/>
                  </a:ext>
                </a:extLst>
              </p:cNvPr>
              <p:cNvSpPr/>
              <p:nvPr/>
            </p:nvSpPr>
            <p:spPr>
              <a:xfrm>
                <a:off x="401216" y="1026367"/>
                <a:ext cx="11604171" cy="2845837"/>
              </a:xfrm>
              <a:prstGeom prst="roundRect">
                <a:avLst/>
              </a:prstGeom>
              <a:solidFill>
                <a:srgbClr val="CB2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TextBox 4">
                <a:extLst>
                  <a:ext uri="{FF2B5EF4-FFF2-40B4-BE49-F238E27FC236}">
                    <a16:creationId xmlns:a16="http://schemas.microsoft.com/office/drawing/2014/main" id="{D347A286-F4ED-E441-5074-F7D60DF02693}"/>
                  </a:ext>
                </a:extLst>
              </p:cNvPr>
              <p:cNvSpPr txBox="1"/>
              <p:nvPr/>
            </p:nvSpPr>
            <p:spPr>
              <a:xfrm>
                <a:off x="559837" y="1063689"/>
                <a:ext cx="5850294" cy="1938992"/>
              </a:xfrm>
              <a:prstGeom prst="rect">
                <a:avLst/>
              </a:prstGeom>
              <a:noFill/>
            </p:spPr>
            <p:txBody>
              <a:bodyPr wrap="square">
                <a:spAutoFit/>
              </a:bodyPr>
              <a:lstStyle/>
              <a:p>
                <a:r>
                  <a:rPr lang="en-IN" sz="4000" b="1" dirty="0">
                    <a:solidFill>
                      <a:schemeClr val="bg1"/>
                    </a:solidFill>
                    <a:latin typeface="Metropolis" panose="020F0502020204030204" pitchFamily="50" charset="0"/>
                  </a:rPr>
                  <a:t>Computer Ji!</a:t>
                </a:r>
              </a:p>
              <a:p>
                <a:r>
                  <a:rPr lang="en-IN" sz="4000" b="1" dirty="0">
                    <a:solidFill>
                      <a:schemeClr val="bg1"/>
                    </a:solidFill>
                    <a:latin typeface="Metropolis" panose="020F0502020204030204" pitchFamily="50" charset="0"/>
                  </a:rPr>
                  <a:t>Kitchen pe taala lagaya jaaye.</a:t>
                </a:r>
                <a:endParaRPr lang="en-IN" sz="1100" b="1" dirty="0">
                  <a:solidFill>
                    <a:schemeClr val="bg1"/>
                  </a:solidFill>
                  <a:latin typeface="Metropolis" panose="020F0502020204030204" pitchFamily="50" charset="0"/>
                </a:endParaRPr>
              </a:p>
            </p:txBody>
          </p:sp>
          <p:sp>
            <p:nvSpPr>
              <p:cNvPr id="6" name="TextBox 5">
                <a:extLst>
                  <a:ext uri="{FF2B5EF4-FFF2-40B4-BE49-F238E27FC236}">
                    <a16:creationId xmlns:a16="http://schemas.microsoft.com/office/drawing/2014/main" id="{23A4578D-C3D4-DE66-1979-B2AD11CB5DCE}"/>
                  </a:ext>
                </a:extLst>
              </p:cNvPr>
              <p:cNvSpPr txBox="1"/>
              <p:nvPr/>
            </p:nvSpPr>
            <p:spPr>
              <a:xfrm>
                <a:off x="592495" y="3298371"/>
                <a:ext cx="3974841" cy="369332"/>
              </a:xfrm>
              <a:prstGeom prst="rect">
                <a:avLst/>
              </a:prstGeom>
              <a:noFill/>
            </p:spPr>
            <p:txBody>
              <a:bodyPr wrap="square" rtlCol="0">
                <a:spAutoFit/>
              </a:bodyPr>
              <a:lstStyle/>
              <a:p>
                <a:r>
                  <a:rPr lang="en-IN" dirty="0">
                    <a:solidFill>
                      <a:schemeClr val="bg1"/>
                    </a:solidFill>
                    <a:latin typeface="Metropolis" panose="00000500000000000000" pitchFamily="50" charset="0"/>
                  </a:rPr>
                  <a:t>order food online on </a:t>
                </a:r>
                <a:r>
                  <a:rPr lang="en-IN" b="1" i="1" dirty="0">
                    <a:solidFill>
                      <a:schemeClr val="bg1"/>
                    </a:solidFill>
                    <a:latin typeface="Metropolis" panose="00000500000000000000" pitchFamily="50" charset="0"/>
                  </a:rPr>
                  <a:t>zomato</a:t>
                </a:r>
              </a:p>
            </p:txBody>
          </p:sp>
        </p:grpSp>
        <p:sp>
          <p:nvSpPr>
            <p:cNvPr id="8" name="TextBox 7">
              <a:extLst>
                <a:ext uri="{FF2B5EF4-FFF2-40B4-BE49-F238E27FC236}">
                  <a16:creationId xmlns:a16="http://schemas.microsoft.com/office/drawing/2014/main" id="{9E2D5495-B654-6E1E-079D-F3417C788064}"/>
                </a:ext>
              </a:extLst>
            </p:cNvPr>
            <p:cNvSpPr txBox="1"/>
            <p:nvPr/>
          </p:nvSpPr>
          <p:spPr>
            <a:xfrm>
              <a:off x="6354147" y="1929119"/>
              <a:ext cx="5010539" cy="1107996"/>
            </a:xfrm>
            <a:prstGeom prst="rect">
              <a:avLst/>
            </a:prstGeom>
            <a:noFill/>
          </p:spPr>
          <p:txBody>
            <a:bodyPr wrap="square" rtlCol="0">
              <a:spAutoFit/>
            </a:bodyPr>
            <a:lstStyle/>
            <a:p>
              <a:r>
                <a:rPr lang="en-IN" sz="6600" b="1" i="1" dirty="0">
                  <a:solidFill>
                    <a:schemeClr val="bg1"/>
                  </a:solidFill>
                  <a:latin typeface="Metropolis" panose="00000500000000000000" pitchFamily="50" charset="0"/>
                </a:rPr>
                <a:t>Thank you</a:t>
              </a:r>
            </a:p>
          </p:txBody>
        </p:sp>
      </p:grpSp>
    </p:spTree>
    <p:extLst>
      <p:ext uri="{BB962C8B-B14F-4D97-AF65-F5344CB8AC3E}">
        <p14:creationId xmlns:p14="http://schemas.microsoft.com/office/powerpoint/2010/main" val="1453496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4691</TotalTime>
  <Words>1975</Words>
  <Application>Microsoft Office PowerPoint</Application>
  <PresentationFormat>Widescreen</PresentationFormat>
  <Paragraphs>303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Metropolis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Devesh Sinha</dc:creator>
  <cp:lastModifiedBy>Devesh Sinha</cp:lastModifiedBy>
  <cp:revision>21</cp:revision>
  <dcterms:created xsi:type="dcterms:W3CDTF">2022-07-30T03:21:17Z</dcterms:created>
  <dcterms:modified xsi:type="dcterms:W3CDTF">2022-08-04T06:45:34Z</dcterms:modified>
</cp:coreProperties>
</file>