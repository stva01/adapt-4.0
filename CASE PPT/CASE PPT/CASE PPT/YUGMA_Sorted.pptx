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1" r:id="rId4"/>
    <p:sldId id="263" r:id="rId5"/>
    <p:sldId id="271" r:id="rId6"/>
    <p:sldId id="258" r:id="rId7"/>
    <p:sldId id="259" r:id="rId8"/>
    <p:sldId id="265" r:id="rId9"/>
    <p:sldId id="260" r:id="rId10"/>
    <p:sldId id="266" r:id="rId11"/>
    <p:sldId id="272"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1E24"/>
    <a:srgbClr val="E01F42"/>
    <a:srgbClr val="DF213A"/>
    <a:srgbClr val="DD203F"/>
    <a:srgbClr val="FF8886"/>
    <a:srgbClr val="FFCCCB"/>
    <a:srgbClr val="DF1835"/>
    <a:srgbClr val="E12A30"/>
    <a:srgbClr val="DF1939"/>
    <a:srgbClr val="DE1F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2"/>
      </p:cViewPr>
      <p:guideLst/>
    </p:cSldViewPr>
  </p:slideViewPr>
  <p:notesTextViewPr>
    <p:cViewPr>
      <p:scale>
        <a:sx n="1" d="1"/>
        <a:sy n="1" d="1"/>
      </p:scale>
      <p:origin x="0" y="0"/>
    </p:cViewPr>
  </p:notesTextViewPr>
  <p:notesViewPr>
    <p:cSldViewPr snapToGrid="0">
      <p:cViewPr varScale="1">
        <p:scale>
          <a:sx n="64" d="100"/>
          <a:sy n="64" d="100"/>
        </p:scale>
        <p:origin x="3115"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US"/>
              <a:t>Offerings</a:t>
            </a:r>
          </a:p>
        </c:rich>
      </c:tx>
      <c:layout>
        <c:manualLayout>
          <c:xMode val="edge"/>
          <c:yMode val="edge"/>
          <c:x val="0.4568735149446968"/>
          <c:y val="1.7723106465165957E-2"/>
        </c:manualLayout>
      </c:layout>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lotArea>
      <c:layout>
        <c:manualLayout>
          <c:layoutTarget val="inner"/>
          <c:xMode val="edge"/>
          <c:yMode val="edge"/>
          <c:x val="0.17361546190426996"/>
          <c:y val="0.16382058075968398"/>
          <c:w val="0.79980371442948883"/>
          <c:h val="0.56932432633588492"/>
        </c:manualLayout>
      </c:layout>
      <c:barChart>
        <c:barDir val="bar"/>
        <c:grouping val="clustered"/>
        <c:varyColors val="0"/>
        <c:ser>
          <c:idx val="0"/>
          <c:order val="0"/>
          <c:tx>
            <c:strRef>
              <c:f>Sheet1!$B$1</c:f>
              <c:strCache>
                <c:ptCount val="1"/>
                <c:pt idx="0">
                  <c:v>Respondents</c:v>
                </c:pt>
              </c:strCache>
            </c:strRef>
          </c:tx>
          <c:spPr>
            <a:solidFill>
              <a:srgbClr val="DD203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Sheet1!$A$2:$A$10</c:f>
              <c:strCache>
                <c:ptCount val="9"/>
                <c:pt idx="0">
                  <c:v>Case competitions</c:v>
                </c:pt>
                <c:pt idx="1">
                  <c:v>Mentorship workshops</c:v>
                </c:pt>
                <c:pt idx="2">
                  <c:v>Placement testimonials</c:v>
                </c:pt>
                <c:pt idx="3">
                  <c:v>Internship opportunities</c:v>
                </c:pt>
                <c:pt idx="4">
                  <c:v>News Articles</c:v>
                </c:pt>
                <c:pt idx="5">
                  <c:v>Mock tests</c:v>
                </c:pt>
                <c:pt idx="6">
                  <c:v>Scholarships</c:v>
                </c:pt>
                <c:pt idx="7">
                  <c:v>Stock market updates</c:v>
                </c:pt>
                <c:pt idx="8">
                  <c:v>Others</c:v>
                </c:pt>
              </c:strCache>
            </c:strRef>
          </c:cat>
          <c:val>
            <c:numRef>
              <c:f>Sheet1!$B$2:$B$10</c:f>
              <c:numCache>
                <c:formatCode>General</c:formatCode>
                <c:ptCount val="9"/>
                <c:pt idx="0">
                  <c:v>180</c:v>
                </c:pt>
                <c:pt idx="1">
                  <c:v>24</c:v>
                </c:pt>
                <c:pt idx="2">
                  <c:v>67</c:v>
                </c:pt>
                <c:pt idx="3">
                  <c:v>48</c:v>
                </c:pt>
                <c:pt idx="4">
                  <c:v>80</c:v>
                </c:pt>
                <c:pt idx="5">
                  <c:v>19</c:v>
                </c:pt>
                <c:pt idx="6">
                  <c:v>3</c:v>
                </c:pt>
                <c:pt idx="7">
                  <c:v>85</c:v>
                </c:pt>
                <c:pt idx="8">
                  <c:v>50</c:v>
                </c:pt>
              </c:numCache>
            </c:numRef>
          </c:val>
          <c:extLst>
            <c:ext xmlns:c16="http://schemas.microsoft.com/office/drawing/2014/chart" uri="{C3380CC4-5D6E-409C-BE32-E72D297353CC}">
              <c16:uniqueId val="{00000000-BCCD-4600-AE8F-A9D3322C41D8}"/>
            </c:ext>
          </c:extLst>
        </c:ser>
        <c:dLbls>
          <c:dLblPos val="outEnd"/>
          <c:showLegendKey val="0"/>
          <c:showVal val="1"/>
          <c:showCatName val="0"/>
          <c:showSerName val="0"/>
          <c:showPercent val="0"/>
          <c:showBubbleSize val="0"/>
        </c:dLbls>
        <c:gapWidth val="100"/>
        <c:axId val="1262206271"/>
        <c:axId val="1262207935"/>
      </c:barChart>
      <c:catAx>
        <c:axId val="1262206271"/>
        <c:scaling>
          <c:orientation val="minMax"/>
        </c:scaling>
        <c:delete val="0"/>
        <c:axPos val="l"/>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262207935"/>
        <c:crosses val="autoZero"/>
        <c:auto val="1"/>
        <c:lblAlgn val="ctr"/>
        <c:lblOffset val="100"/>
        <c:noMultiLvlLbl val="0"/>
      </c:catAx>
      <c:valAx>
        <c:axId val="1262207935"/>
        <c:scaling>
          <c:orientation val="minMax"/>
        </c:scaling>
        <c:delete val="0"/>
        <c:axPos val="b"/>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2622062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prstDash val="dash"/>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0">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7A21EB-AC94-463F-AB51-33FBBE663409}" type="doc">
      <dgm:prSet loTypeId="urn:microsoft.com/office/officeart/2005/8/layout/hChevron3" loCatId="process" qsTypeId="urn:microsoft.com/office/officeart/2005/8/quickstyle/simple1" qsCatId="simple" csTypeId="urn:microsoft.com/office/officeart/2005/8/colors/accent1_2" csCatId="accent1" phldr="1"/>
      <dgm:spPr/>
    </dgm:pt>
    <dgm:pt modelId="{3987911D-6410-4399-BB6D-6BD40E783677}">
      <dgm:prSet phldrT="[Text]" custT="1"/>
      <dgm:spPr>
        <a:solidFill>
          <a:srgbClr val="FF8886"/>
        </a:solidFill>
      </dgm:spPr>
      <dgm:t>
        <a:bodyPr/>
        <a:lstStyle/>
        <a:p>
          <a:pPr algn="l"/>
          <a:r>
            <a:rPr lang="en-IN" sz="1600" b="1" dirty="0"/>
            <a:t>Campus ambassador programs</a:t>
          </a:r>
          <a:endParaRPr lang="en-US" sz="1600" b="1" dirty="0"/>
        </a:p>
      </dgm:t>
    </dgm:pt>
    <dgm:pt modelId="{7A89AC85-82F9-437F-9C49-53E35955B754}" type="parTrans" cxnId="{AE7F517A-C20B-4DA5-9281-CEBC002E32E4}">
      <dgm:prSet/>
      <dgm:spPr/>
      <dgm:t>
        <a:bodyPr/>
        <a:lstStyle/>
        <a:p>
          <a:endParaRPr lang="en-US"/>
        </a:p>
      </dgm:t>
    </dgm:pt>
    <dgm:pt modelId="{69729E44-0ED9-40A9-A033-CB786D509ADD}" type="sibTrans" cxnId="{AE7F517A-C20B-4DA5-9281-CEBC002E32E4}">
      <dgm:prSet/>
      <dgm:spPr/>
      <dgm:t>
        <a:bodyPr/>
        <a:lstStyle/>
        <a:p>
          <a:endParaRPr lang="en-US"/>
        </a:p>
      </dgm:t>
    </dgm:pt>
    <dgm:pt modelId="{E9DDC14B-D1F2-468F-A106-52F4269E9C28}">
      <dgm:prSet phldrT="[Text]" custT="1"/>
      <dgm:spPr>
        <a:solidFill>
          <a:srgbClr val="FF8886"/>
        </a:solidFill>
      </dgm:spPr>
      <dgm:t>
        <a:bodyPr/>
        <a:lstStyle/>
        <a:p>
          <a:pPr algn="l"/>
          <a:r>
            <a:rPr lang="en-IN" sz="1600" b="1" dirty="0"/>
            <a:t> Referral Program</a:t>
          </a:r>
          <a:endParaRPr lang="en-US" sz="1600" b="1" dirty="0"/>
        </a:p>
      </dgm:t>
    </dgm:pt>
    <dgm:pt modelId="{95C5517C-AED1-41B4-BB10-8D8B78BF2170}" type="parTrans" cxnId="{C71CF216-F6C2-47AA-BD6E-CDA9A28E740D}">
      <dgm:prSet/>
      <dgm:spPr/>
      <dgm:t>
        <a:bodyPr/>
        <a:lstStyle/>
        <a:p>
          <a:endParaRPr lang="en-US"/>
        </a:p>
      </dgm:t>
    </dgm:pt>
    <dgm:pt modelId="{34D26213-73FB-4FEA-8F51-CB0AF432551C}" type="sibTrans" cxnId="{C71CF216-F6C2-47AA-BD6E-CDA9A28E740D}">
      <dgm:prSet/>
      <dgm:spPr/>
      <dgm:t>
        <a:bodyPr/>
        <a:lstStyle/>
        <a:p>
          <a:endParaRPr lang="en-US"/>
        </a:p>
      </dgm:t>
    </dgm:pt>
    <dgm:pt modelId="{4211FF1E-DB98-4ED8-BC83-6240B594C955}">
      <dgm:prSet phldrT="[Text]" custT="1"/>
      <dgm:spPr>
        <a:solidFill>
          <a:srgbClr val="FF8886"/>
        </a:solidFill>
      </dgm:spPr>
      <dgm:t>
        <a:bodyPr/>
        <a:lstStyle/>
        <a:p>
          <a:pPr algn="l"/>
          <a:r>
            <a:rPr lang="en-IN" sz="1600" b="1" dirty="0"/>
            <a:t> Exclusive content</a:t>
          </a:r>
          <a:endParaRPr lang="en-US" sz="1600" b="1" dirty="0"/>
        </a:p>
      </dgm:t>
    </dgm:pt>
    <dgm:pt modelId="{BA4F938E-D8B3-43EF-8CFE-7338BE5ED375}" type="parTrans" cxnId="{3178C360-A6A9-44E0-B2AC-73EEB86C16F2}">
      <dgm:prSet/>
      <dgm:spPr/>
      <dgm:t>
        <a:bodyPr/>
        <a:lstStyle/>
        <a:p>
          <a:endParaRPr lang="en-US"/>
        </a:p>
      </dgm:t>
    </dgm:pt>
    <dgm:pt modelId="{EBD9BBE5-FE35-4849-B49A-F54628983539}" type="sibTrans" cxnId="{3178C360-A6A9-44E0-B2AC-73EEB86C16F2}">
      <dgm:prSet/>
      <dgm:spPr/>
      <dgm:t>
        <a:bodyPr/>
        <a:lstStyle/>
        <a:p>
          <a:endParaRPr lang="en-US"/>
        </a:p>
      </dgm:t>
    </dgm:pt>
    <dgm:pt modelId="{66D578DF-4756-4494-AD3E-837AF96F46D3}">
      <dgm:prSet phldrT="[Text]" custT="1"/>
      <dgm:spPr>
        <a:solidFill>
          <a:srgbClr val="FF8886"/>
        </a:solidFill>
      </dgm:spPr>
      <dgm:t>
        <a:bodyPr/>
        <a:lstStyle/>
        <a:p>
          <a:pPr algn="l"/>
          <a:r>
            <a:rPr lang="en-IN" sz="1600" b="1" dirty="0"/>
            <a:t>Redeemable rewards or app coins with B2B collab</a:t>
          </a:r>
          <a:r>
            <a:rPr lang="en-IN" sz="1600" b="1" baseline="30000" dirty="0"/>
            <a:t>4</a:t>
          </a:r>
          <a:endParaRPr lang="en-US" sz="1600" b="1" baseline="30000" dirty="0"/>
        </a:p>
      </dgm:t>
    </dgm:pt>
    <dgm:pt modelId="{E8B372D8-6D41-406A-9873-055A0F735B59}" type="parTrans" cxnId="{75806132-146D-4746-8A00-09048241D99E}">
      <dgm:prSet/>
      <dgm:spPr/>
      <dgm:t>
        <a:bodyPr/>
        <a:lstStyle/>
        <a:p>
          <a:endParaRPr lang="en-US"/>
        </a:p>
      </dgm:t>
    </dgm:pt>
    <dgm:pt modelId="{1D73D83B-3451-405B-98BB-17BE9E2B99E0}" type="sibTrans" cxnId="{75806132-146D-4746-8A00-09048241D99E}">
      <dgm:prSet/>
      <dgm:spPr/>
      <dgm:t>
        <a:bodyPr/>
        <a:lstStyle/>
        <a:p>
          <a:endParaRPr lang="en-US"/>
        </a:p>
      </dgm:t>
    </dgm:pt>
    <dgm:pt modelId="{CD6E853C-6229-4A82-B6B6-F5D53686E54C}" type="pres">
      <dgm:prSet presAssocID="{187A21EB-AC94-463F-AB51-33FBBE663409}" presName="Name0" presStyleCnt="0">
        <dgm:presLayoutVars>
          <dgm:dir/>
          <dgm:resizeHandles val="exact"/>
        </dgm:presLayoutVars>
      </dgm:prSet>
      <dgm:spPr/>
    </dgm:pt>
    <dgm:pt modelId="{350C1120-31FD-4BC4-A2BF-503A8DE2D383}" type="pres">
      <dgm:prSet presAssocID="{3987911D-6410-4399-BB6D-6BD40E783677}" presName="parTxOnly" presStyleLbl="node1" presStyleIdx="0" presStyleCnt="4" custScaleX="81347">
        <dgm:presLayoutVars>
          <dgm:bulletEnabled val="1"/>
        </dgm:presLayoutVars>
      </dgm:prSet>
      <dgm:spPr/>
    </dgm:pt>
    <dgm:pt modelId="{B37D32DA-D3F1-474D-B25C-69574FA99377}" type="pres">
      <dgm:prSet presAssocID="{69729E44-0ED9-40A9-A033-CB786D509ADD}" presName="parSpace" presStyleCnt="0"/>
      <dgm:spPr/>
    </dgm:pt>
    <dgm:pt modelId="{16B0C9C8-381E-478C-9E07-5A880BD9D2B0}" type="pres">
      <dgm:prSet presAssocID="{E9DDC14B-D1F2-468F-A106-52F4269E9C28}" presName="parTxOnly" presStyleLbl="node1" presStyleIdx="1" presStyleCnt="4" custScaleX="61081">
        <dgm:presLayoutVars>
          <dgm:bulletEnabled val="1"/>
        </dgm:presLayoutVars>
      </dgm:prSet>
      <dgm:spPr/>
    </dgm:pt>
    <dgm:pt modelId="{DF090DED-DFD8-4AD0-94F4-A93A52A3ABD4}" type="pres">
      <dgm:prSet presAssocID="{34D26213-73FB-4FEA-8F51-CB0AF432551C}" presName="parSpace" presStyleCnt="0"/>
      <dgm:spPr/>
    </dgm:pt>
    <dgm:pt modelId="{B684D860-61AD-4FC6-B4FC-81047BEFC75D}" type="pres">
      <dgm:prSet presAssocID="{4211FF1E-DB98-4ED8-BC83-6240B594C955}" presName="parTxOnly" presStyleLbl="node1" presStyleIdx="2" presStyleCnt="4" custScaleX="61537">
        <dgm:presLayoutVars>
          <dgm:bulletEnabled val="1"/>
        </dgm:presLayoutVars>
      </dgm:prSet>
      <dgm:spPr/>
    </dgm:pt>
    <dgm:pt modelId="{F39CB17F-48FC-4FAA-9E1E-A2C5D6837B3A}" type="pres">
      <dgm:prSet presAssocID="{EBD9BBE5-FE35-4849-B49A-F54628983539}" presName="parSpace" presStyleCnt="0"/>
      <dgm:spPr/>
    </dgm:pt>
    <dgm:pt modelId="{544675E2-06D0-48BB-8287-D08AEB64F370}" type="pres">
      <dgm:prSet presAssocID="{66D578DF-4756-4494-AD3E-837AF96F46D3}" presName="parTxOnly" presStyleLbl="node1" presStyleIdx="3" presStyleCnt="4">
        <dgm:presLayoutVars>
          <dgm:bulletEnabled val="1"/>
        </dgm:presLayoutVars>
      </dgm:prSet>
      <dgm:spPr/>
    </dgm:pt>
  </dgm:ptLst>
  <dgm:cxnLst>
    <dgm:cxn modelId="{F0D7CA0D-B83D-4CFF-B8A4-48A2380A39F4}" type="presOf" srcId="{4211FF1E-DB98-4ED8-BC83-6240B594C955}" destId="{B684D860-61AD-4FC6-B4FC-81047BEFC75D}" srcOrd="0" destOrd="0" presId="urn:microsoft.com/office/officeart/2005/8/layout/hChevron3"/>
    <dgm:cxn modelId="{C71CF216-F6C2-47AA-BD6E-CDA9A28E740D}" srcId="{187A21EB-AC94-463F-AB51-33FBBE663409}" destId="{E9DDC14B-D1F2-468F-A106-52F4269E9C28}" srcOrd="1" destOrd="0" parTransId="{95C5517C-AED1-41B4-BB10-8D8B78BF2170}" sibTransId="{34D26213-73FB-4FEA-8F51-CB0AF432551C}"/>
    <dgm:cxn modelId="{9570D024-8FCB-4A9D-93A8-C87E6E177A7D}" type="presOf" srcId="{E9DDC14B-D1F2-468F-A106-52F4269E9C28}" destId="{16B0C9C8-381E-478C-9E07-5A880BD9D2B0}" srcOrd="0" destOrd="0" presId="urn:microsoft.com/office/officeart/2005/8/layout/hChevron3"/>
    <dgm:cxn modelId="{75806132-146D-4746-8A00-09048241D99E}" srcId="{187A21EB-AC94-463F-AB51-33FBBE663409}" destId="{66D578DF-4756-4494-AD3E-837AF96F46D3}" srcOrd="3" destOrd="0" parTransId="{E8B372D8-6D41-406A-9873-055A0F735B59}" sibTransId="{1D73D83B-3451-405B-98BB-17BE9E2B99E0}"/>
    <dgm:cxn modelId="{3178C360-A6A9-44E0-B2AC-73EEB86C16F2}" srcId="{187A21EB-AC94-463F-AB51-33FBBE663409}" destId="{4211FF1E-DB98-4ED8-BC83-6240B594C955}" srcOrd="2" destOrd="0" parTransId="{BA4F938E-D8B3-43EF-8CFE-7338BE5ED375}" sibTransId="{EBD9BBE5-FE35-4849-B49A-F54628983539}"/>
    <dgm:cxn modelId="{AE7F517A-C20B-4DA5-9281-CEBC002E32E4}" srcId="{187A21EB-AC94-463F-AB51-33FBBE663409}" destId="{3987911D-6410-4399-BB6D-6BD40E783677}" srcOrd="0" destOrd="0" parTransId="{7A89AC85-82F9-437F-9C49-53E35955B754}" sibTransId="{69729E44-0ED9-40A9-A033-CB786D509ADD}"/>
    <dgm:cxn modelId="{8624B096-1009-4435-AF25-DA4FAE7DE2D0}" type="presOf" srcId="{3987911D-6410-4399-BB6D-6BD40E783677}" destId="{350C1120-31FD-4BC4-A2BF-503A8DE2D383}" srcOrd="0" destOrd="0" presId="urn:microsoft.com/office/officeart/2005/8/layout/hChevron3"/>
    <dgm:cxn modelId="{3E1EF7D0-3CBC-43BC-9528-BA601A59A4D4}" type="presOf" srcId="{187A21EB-AC94-463F-AB51-33FBBE663409}" destId="{CD6E853C-6229-4A82-B6B6-F5D53686E54C}" srcOrd="0" destOrd="0" presId="urn:microsoft.com/office/officeart/2005/8/layout/hChevron3"/>
    <dgm:cxn modelId="{09F4AAD4-213B-494B-BDFD-301353F6D328}" type="presOf" srcId="{66D578DF-4756-4494-AD3E-837AF96F46D3}" destId="{544675E2-06D0-48BB-8287-D08AEB64F370}" srcOrd="0" destOrd="0" presId="urn:microsoft.com/office/officeart/2005/8/layout/hChevron3"/>
    <dgm:cxn modelId="{4E4B4039-CC8C-44C9-BC01-6BC98CA940A5}" type="presParOf" srcId="{CD6E853C-6229-4A82-B6B6-F5D53686E54C}" destId="{350C1120-31FD-4BC4-A2BF-503A8DE2D383}" srcOrd="0" destOrd="0" presId="urn:microsoft.com/office/officeart/2005/8/layout/hChevron3"/>
    <dgm:cxn modelId="{41966A99-340E-4A54-8C00-94BA318C82B1}" type="presParOf" srcId="{CD6E853C-6229-4A82-B6B6-F5D53686E54C}" destId="{B37D32DA-D3F1-474D-B25C-69574FA99377}" srcOrd="1" destOrd="0" presId="urn:microsoft.com/office/officeart/2005/8/layout/hChevron3"/>
    <dgm:cxn modelId="{D5632504-64C2-4602-A774-5FAB01C8CF76}" type="presParOf" srcId="{CD6E853C-6229-4A82-B6B6-F5D53686E54C}" destId="{16B0C9C8-381E-478C-9E07-5A880BD9D2B0}" srcOrd="2" destOrd="0" presId="urn:microsoft.com/office/officeart/2005/8/layout/hChevron3"/>
    <dgm:cxn modelId="{69748AAD-6700-4EE9-A675-7B0825A0ED6D}" type="presParOf" srcId="{CD6E853C-6229-4A82-B6B6-F5D53686E54C}" destId="{DF090DED-DFD8-4AD0-94F4-A93A52A3ABD4}" srcOrd="3" destOrd="0" presId="urn:microsoft.com/office/officeart/2005/8/layout/hChevron3"/>
    <dgm:cxn modelId="{FA629E5C-6D50-4714-86E2-7771DE6C6260}" type="presParOf" srcId="{CD6E853C-6229-4A82-B6B6-F5D53686E54C}" destId="{B684D860-61AD-4FC6-B4FC-81047BEFC75D}" srcOrd="4" destOrd="0" presId="urn:microsoft.com/office/officeart/2005/8/layout/hChevron3"/>
    <dgm:cxn modelId="{F255152F-40DE-438F-B043-7EBDDA1E679D}" type="presParOf" srcId="{CD6E853C-6229-4A82-B6B6-F5D53686E54C}" destId="{F39CB17F-48FC-4FAA-9E1E-A2C5D6837B3A}" srcOrd="5" destOrd="0" presId="urn:microsoft.com/office/officeart/2005/8/layout/hChevron3"/>
    <dgm:cxn modelId="{E54FA1F9-FE90-436B-B207-D2608382FD80}" type="presParOf" srcId="{CD6E853C-6229-4A82-B6B6-F5D53686E54C}" destId="{544675E2-06D0-48BB-8287-D08AEB64F370}" srcOrd="6"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9F865E-9E38-4479-BE2B-090A74532C0B}"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E777740-7A3F-4142-831E-7643C65EA0B0}">
      <dgm:prSet phldrT="[Text]" custT="1"/>
      <dgm:spPr>
        <a:solidFill>
          <a:srgbClr val="E01F42"/>
        </a:solidFill>
      </dgm:spPr>
      <dgm:t>
        <a:bodyPr/>
        <a:lstStyle/>
        <a:p>
          <a:r>
            <a:rPr lang="en-IN" sz="1600" dirty="0"/>
            <a:t>Customers</a:t>
          </a:r>
          <a:endParaRPr lang="en-US" sz="1600" dirty="0"/>
        </a:p>
      </dgm:t>
    </dgm:pt>
    <dgm:pt modelId="{DC1A41B4-5017-4241-B1B2-1A561419D857}" type="parTrans" cxnId="{5CB23A2F-334A-4357-AC3F-85CD81D0BFAE}">
      <dgm:prSet/>
      <dgm:spPr/>
      <dgm:t>
        <a:bodyPr/>
        <a:lstStyle/>
        <a:p>
          <a:endParaRPr lang="en-US"/>
        </a:p>
      </dgm:t>
    </dgm:pt>
    <dgm:pt modelId="{CA63DBC5-9A26-4880-86AC-B755A2652C3B}" type="sibTrans" cxnId="{5CB23A2F-334A-4357-AC3F-85CD81D0BFAE}">
      <dgm:prSet/>
      <dgm:spPr/>
      <dgm:t>
        <a:bodyPr/>
        <a:lstStyle/>
        <a:p>
          <a:endParaRPr lang="en-US"/>
        </a:p>
      </dgm:t>
    </dgm:pt>
    <dgm:pt modelId="{2A05C783-90D2-4FAF-8AF7-C75786A53759}">
      <dgm:prSet phldrT="[Text]" custT="1"/>
      <dgm:spPr>
        <a:solidFill>
          <a:srgbClr val="E01F42"/>
        </a:solidFill>
      </dgm:spPr>
      <dgm:t>
        <a:bodyPr/>
        <a:lstStyle/>
        <a:p>
          <a:r>
            <a:rPr lang="en-IN" sz="1600" dirty="0"/>
            <a:t>Students</a:t>
          </a:r>
          <a:endParaRPr lang="en-US" sz="1600" dirty="0"/>
        </a:p>
      </dgm:t>
    </dgm:pt>
    <dgm:pt modelId="{7D4AFE2A-9C84-4A3D-BFC2-852ADAEE91A3}" type="parTrans" cxnId="{CC83A851-B5CE-4334-9C4A-1C2436FAEBD4}">
      <dgm:prSet/>
      <dgm:spPr>
        <a:solidFill>
          <a:schemeClr val="tx1"/>
        </a:solidFill>
      </dgm:spPr>
      <dgm:t>
        <a:bodyPr/>
        <a:lstStyle/>
        <a:p>
          <a:endParaRPr lang="en-US" sz="1600"/>
        </a:p>
      </dgm:t>
    </dgm:pt>
    <dgm:pt modelId="{5E22BFA2-44E4-4221-9736-73131F9446A4}" type="sibTrans" cxnId="{CC83A851-B5CE-4334-9C4A-1C2436FAEBD4}">
      <dgm:prSet/>
      <dgm:spPr/>
      <dgm:t>
        <a:bodyPr/>
        <a:lstStyle/>
        <a:p>
          <a:endParaRPr lang="en-US"/>
        </a:p>
      </dgm:t>
    </dgm:pt>
    <dgm:pt modelId="{316EFFD5-9C45-448A-BA92-DEAAB0C4B9E6}">
      <dgm:prSet phldrT="[Text]" custT="1"/>
      <dgm:spPr>
        <a:solidFill>
          <a:srgbClr val="E01F42"/>
        </a:solidFill>
      </dgm:spPr>
      <dgm:t>
        <a:bodyPr/>
        <a:lstStyle/>
        <a:p>
          <a:r>
            <a:rPr lang="en-IN" sz="1600" dirty="0"/>
            <a:t>Institutional</a:t>
          </a:r>
          <a:endParaRPr lang="en-US" sz="1600" dirty="0"/>
        </a:p>
      </dgm:t>
    </dgm:pt>
    <dgm:pt modelId="{58A50F90-DB4F-42C7-A5A2-8F89CD3858C5}" type="parTrans" cxnId="{6A749319-192E-48F8-8B96-FBCF5B99D488}">
      <dgm:prSet/>
      <dgm:spPr/>
      <dgm:t>
        <a:bodyPr/>
        <a:lstStyle/>
        <a:p>
          <a:endParaRPr lang="en-US" sz="1600"/>
        </a:p>
      </dgm:t>
    </dgm:pt>
    <dgm:pt modelId="{0EAB47D6-F1D4-42F4-9681-204762FFBC7A}" type="sibTrans" cxnId="{6A749319-192E-48F8-8B96-FBCF5B99D488}">
      <dgm:prSet/>
      <dgm:spPr/>
      <dgm:t>
        <a:bodyPr/>
        <a:lstStyle/>
        <a:p>
          <a:endParaRPr lang="en-US"/>
        </a:p>
      </dgm:t>
    </dgm:pt>
    <dgm:pt modelId="{5332D95A-0BF2-4BDB-ADE5-60C5C2C21CBF}">
      <dgm:prSet phldrT="[Text]" custT="1"/>
      <dgm:spPr>
        <a:solidFill>
          <a:srgbClr val="E01F42"/>
        </a:solidFill>
      </dgm:spPr>
      <dgm:t>
        <a:bodyPr/>
        <a:lstStyle/>
        <a:p>
          <a:r>
            <a:rPr lang="en-IN" sz="1600" dirty="0"/>
            <a:t>Corporates</a:t>
          </a:r>
          <a:endParaRPr lang="en-US" sz="1600" dirty="0"/>
        </a:p>
      </dgm:t>
    </dgm:pt>
    <dgm:pt modelId="{7FEB43A0-6F39-4919-B1C2-A78DE573A429}" type="parTrans" cxnId="{2201B394-F0E2-40B4-BC35-1A570090A3C2}">
      <dgm:prSet/>
      <dgm:spPr>
        <a:solidFill>
          <a:schemeClr val="tx1"/>
        </a:solidFill>
      </dgm:spPr>
      <dgm:t>
        <a:bodyPr/>
        <a:lstStyle/>
        <a:p>
          <a:endParaRPr lang="en-US" sz="1600"/>
        </a:p>
      </dgm:t>
    </dgm:pt>
    <dgm:pt modelId="{B8DE457B-4A91-4B98-BD12-4EBF83A9BC9C}" type="sibTrans" cxnId="{2201B394-F0E2-40B4-BC35-1A570090A3C2}">
      <dgm:prSet/>
      <dgm:spPr/>
      <dgm:t>
        <a:bodyPr/>
        <a:lstStyle/>
        <a:p>
          <a:endParaRPr lang="en-US"/>
        </a:p>
      </dgm:t>
    </dgm:pt>
    <dgm:pt modelId="{8AEDD6B0-6FA1-4107-9753-8B6AC700516B}">
      <dgm:prSet custT="1"/>
      <dgm:spPr>
        <a:solidFill>
          <a:srgbClr val="E01F42"/>
        </a:solidFill>
      </dgm:spPr>
      <dgm:t>
        <a:bodyPr/>
        <a:lstStyle/>
        <a:p>
          <a:r>
            <a:rPr lang="en-IN" sz="1600" dirty="0"/>
            <a:t>Placement Guidance**</a:t>
          </a:r>
          <a:endParaRPr lang="en-US" sz="1600" dirty="0"/>
        </a:p>
      </dgm:t>
    </dgm:pt>
    <dgm:pt modelId="{99A65F56-CA3D-4776-8C0E-AEECC5B8141A}" type="parTrans" cxnId="{EA6C2BF1-0F24-4EC7-9A71-2AABE4D45D75}">
      <dgm:prSet/>
      <dgm:spPr>
        <a:solidFill>
          <a:schemeClr val="tx1"/>
        </a:solidFill>
      </dgm:spPr>
      <dgm:t>
        <a:bodyPr/>
        <a:lstStyle/>
        <a:p>
          <a:endParaRPr lang="en-US" sz="1600"/>
        </a:p>
      </dgm:t>
    </dgm:pt>
    <dgm:pt modelId="{A6C7DC0A-55A0-49FC-9E79-2836F51656A8}" type="sibTrans" cxnId="{EA6C2BF1-0F24-4EC7-9A71-2AABE4D45D75}">
      <dgm:prSet/>
      <dgm:spPr/>
      <dgm:t>
        <a:bodyPr/>
        <a:lstStyle/>
        <a:p>
          <a:endParaRPr lang="en-US"/>
        </a:p>
      </dgm:t>
    </dgm:pt>
    <dgm:pt modelId="{38C82AF9-CF2A-4043-A0A4-E9F36DAC11FC}">
      <dgm:prSet custT="1"/>
      <dgm:spPr>
        <a:solidFill>
          <a:srgbClr val="E01F42"/>
        </a:solidFill>
      </dgm:spPr>
      <dgm:t>
        <a:bodyPr/>
        <a:lstStyle/>
        <a:p>
          <a:r>
            <a:rPr lang="en-IN" sz="1600" dirty="0"/>
            <a:t>Student discussion forum**</a:t>
          </a:r>
          <a:endParaRPr lang="en-US" sz="1600" dirty="0"/>
        </a:p>
      </dgm:t>
    </dgm:pt>
    <dgm:pt modelId="{C86C2BD1-C674-4BA7-A9CC-BF41015C47DB}" type="parTrans" cxnId="{2260C5E7-F67F-4DF1-89A1-BAC44C4358BB}">
      <dgm:prSet/>
      <dgm:spPr>
        <a:solidFill>
          <a:schemeClr val="tx1"/>
        </a:solidFill>
      </dgm:spPr>
      <dgm:t>
        <a:bodyPr/>
        <a:lstStyle/>
        <a:p>
          <a:endParaRPr lang="en-US" sz="1600"/>
        </a:p>
      </dgm:t>
    </dgm:pt>
    <dgm:pt modelId="{3FDA6FF3-C01D-470C-B38E-AC9FE2A76181}" type="sibTrans" cxnId="{2260C5E7-F67F-4DF1-89A1-BAC44C4358BB}">
      <dgm:prSet/>
      <dgm:spPr/>
      <dgm:t>
        <a:bodyPr/>
        <a:lstStyle/>
        <a:p>
          <a:endParaRPr lang="en-US"/>
        </a:p>
      </dgm:t>
    </dgm:pt>
    <dgm:pt modelId="{E7DB0F9A-BD22-4D46-A746-1A11511CD107}">
      <dgm:prSet custT="1"/>
      <dgm:spPr>
        <a:solidFill>
          <a:srgbClr val="E01F42"/>
        </a:solidFill>
      </dgm:spPr>
      <dgm:t>
        <a:bodyPr/>
        <a:lstStyle/>
        <a:p>
          <a:r>
            <a:rPr lang="en-IN" sz="1600" dirty="0"/>
            <a:t>Business news vertical***</a:t>
          </a:r>
          <a:endParaRPr lang="en-US" sz="1600" dirty="0"/>
        </a:p>
      </dgm:t>
    </dgm:pt>
    <dgm:pt modelId="{F8F276B7-14E2-40D8-8192-4B6AE07C2A08}" type="parTrans" cxnId="{622DF55C-A94B-45D7-92AC-60EA22CE73E1}">
      <dgm:prSet/>
      <dgm:spPr>
        <a:solidFill>
          <a:schemeClr val="tx1"/>
        </a:solidFill>
      </dgm:spPr>
      <dgm:t>
        <a:bodyPr/>
        <a:lstStyle/>
        <a:p>
          <a:endParaRPr lang="en-US" sz="1600"/>
        </a:p>
      </dgm:t>
    </dgm:pt>
    <dgm:pt modelId="{79689E0B-FE36-4BD9-B00B-4C99B1FAFFE4}" type="sibTrans" cxnId="{622DF55C-A94B-45D7-92AC-60EA22CE73E1}">
      <dgm:prSet/>
      <dgm:spPr/>
      <dgm:t>
        <a:bodyPr/>
        <a:lstStyle/>
        <a:p>
          <a:endParaRPr lang="en-US"/>
        </a:p>
      </dgm:t>
    </dgm:pt>
    <dgm:pt modelId="{8860210B-4460-4BA8-8DE6-5CABB4BA7AB0}">
      <dgm:prSet/>
      <dgm:spPr>
        <a:solidFill>
          <a:srgbClr val="E01F42"/>
        </a:solidFill>
      </dgm:spPr>
      <dgm:t>
        <a:bodyPr/>
        <a:lstStyle/>
        <a:p>
          <a:r>
            <a:rPr lang="en-IN" dirty="0"/>
            <a:t>Certification packages**</a:t>
          </a:r>
          <a:endParaRPr lang="en-US" dirty="0"/>
        </a:p>
      </dgm:t>
    </dgm:pt>
    <dgm:pt modelId="{680BAA41-BAD5-4A1E-80BB-E40AC54B5CA9}" type="parTrans" cxnId="{7B6C8125-BECC-4036-888C-E2138A208B8C}">
      <dgm:prSet/>
      <dgm:spPr/>
      <dgm:t>
        <a:bodyPr/>
        <a:lstStyle/>
        <a:p>
          <a:endParaRPr lang="en-US"/>
        </a:p>
      </dgm:t>
    </dgm:pt>
    <dgm:pt modelId="{45BA3057-8C9C-4243-998A-DB570FA3E1D3}" type="sibTrans" cxnId="{7B6C8125-BECC-4036-888C-E2138A208B8C}">
      <dgm:prSet/>
      <dgm:spPr/>
      <dgm:t>
        <a:bodyPr/>
        <a:lstStyle/>
        <a:p>
          <a:endParaRPr lang="en-US"/>
        </a:p>
      </dgm:t>
    </dgm:pt>
    <dgm:pt modelId="{F74BF978-4402-4E45-879E-E42419552C1B}">
      <dgm:prSet/>
      <dgm:spPr>
        <a:solidFill>
          <a:srgbClr val="E01F42"/>
        </a:solidFill>
      </dgm:spPr>
      <dgm:t>
        <a:bodyPr/>
        <a:lstStyle/>
        <a:p>
          <a:r>
            <a:rPr lang="en-IN" dirty="0"/>
            <a:t>Career development outsourcing**</a:t>
          </a:r>
          <a:endParaRPr lang="en-US" dirty="0"/>
        </a:p>
      </dgm:t>
    </dgm:pt>
    <dgm:pt modelId="{7BD609A3-7B92-4F90-9C03-57A0C29C9BF1}" type="parTrans" cxnId="{F6F41F66-8E69-4C70-9F96-120E5DF8DE4D}">
      <dgm:prSet/>
      <dgm:spPr/>
      <dgm:t>
        <a:bodyPr/>
        <a:lstStyle/>
        <a:p>
          <a:endParaRPr lang="en-US"/>
        </a:p>
      </dgm:t>
    </dgm:pt>
    <dgm:pt modelId="{8260790A-0B02-4744-A2C4-79CA005F76CE}" type="sibTrans" cxnId="{F6F41F66-8E69-4C70-9F96-120E5DF8DE4D}">
      <dgm:prSet/>
      <dgm:spPr/>
      <dgm:t>
        <a:bodyPr/>
        <a:lstStyle/>
        <a:p>
          <a:endParaRPr lang="en-US"/>
        </a:p>
      </dgm:t>
    </dgm:pt>
    <dgm:pt modelId="{D3D5A3F8-7417-41C9-AC12-A669DFC53221}">
      <dgm:prSet/>
      <dgm:spPr>
        <a:solidFill>
          <a:srgbClr val="E01F42"/>
        </a:solidFill>
      </dgm:spPr>
      <dgm:t>
        <a:bodyPr/>
        <a:lstStyle/>
        <a:p>
          <a:r>
            <a:rPr lang="en-IN" dirty="0"/>
            <a:t>Corporate connect*</a:t>
          </a:r>
          <a:endParaRPr lang="en-US" dirty="0"/>
        </a:p>
      </dgm:t>
    </dgm:pt>
    <dgm:pt modelId="{D1F05AE6-116B-431D-A9BE-E3EC52EE9D21}" type="parTrans" cxnId="{4FE56412-A613-4110-BA3D-96C366CDF2CD}">
      <dgm:prSet/>
      <dgm:spPr>
        <a:solidFill>
          <a:schemeClr val="tx1"/>
        </a:solidFill>
      </dgm:spPr>
      <dgm:t>
        <a:bodyPr/>
        <a:lstStyle/>
        <a:p>
          <a:endParaRPr lang="en-US"/>
        </a:p>
      </dgm:t>
    </dgm:pt>
    <dgm:pt modelId="{FC02EA17-5403-4474-8A56-6F3BE16A6288}" type="sibTrans" cxnId="{4FE56412-A613-4110-BA3D-96C366CDF2CD}">
      <dgm:prSet/>
      <dgm:spPr/>
      <dgm:t>
        <a:bodyPr/>
        <a:lstStyle/>
        <a:p>
          <a:endParaRPr lang="en-US"/>
        </a:p>
      </dgm:t>
    </dgm:pt>
    <dgm:pt modelId="{B87CC03F-62BC-49BE-8F02-9DDF319FADA7}">
      <dgm:prSet/>
      <dgm:spPr>
        <a:solidFill>
          <a:srgbClr val="E01F42"/>
        </a:solidFill>
      </dgm:spPr>
      <dgm:t>
        <a:bodyPr/>
        <a:lstStyle/>
        <a:p>
          <a:r>
            <a:rPr lang="en-IN" dirty="0"/>
            <a:t>Best in the industry talent***</a:t>
          </a:r>
          <a:endParaRPr lang="en-US" dirty="0"/>
        </a:p>
      </dgm:t>
    </dgm:pt>
    <dgm:pt modelId="{E279D9F0-4F95-4CF5-B2EA-0ACC92CD4A68}" type="parTrans" cxnId="{F4CD0DF4-0A1D-443F-A3A3-A92FB54732FD}">
      <dgm:prSet/>
      <dgm:spPr/>
      <dgm:t>
        <a:bodyPr/>
        <a:lstStyle/>
        <a:p>
          <a:endParaRPr lang="en-US"/>
        </a:p>
      </dgm:t>
    </dgm:pt>
    <dgm:pt modelId="{99F6FEFD-679E-485B-8384-C2A741B798DC}" type="sibTrans" cxnId="{F4CD0DF4-0A1D-443F-A3A3-A92FB54732FD}">
      <dgm:prSet/>
      <dgm:spPr/>
      <dgm:t>
        <a:bodyPr/>
        <a:lstStyle/>
        <a:p>
          <a:endParaRPr lang="en-US"/>
        </a:p>
      </dgm:t>
    </dgm:pt>
    <dgm:pt modelId="{5B22F537-F74D-497F-9086-86F7BC42489D}">
      <dgm:prSet/>
      <dgm:spPr>
        <a:solidFill>
          <a:srgbClr val="E01F42"/>
        </a:solidFill>
      </dgm:spPr>
      <dgm:t>
        <a:bodyPr/>
        <a:lstStyle/>
        <a:p>
          <a:r>
            <a:rPr lang="en-IN" dirty="0"/>
            <a:t>Short term projects help***</a:t>
          </a:r>
          <a:endParaRPr lang="en-US" dirty="0"/>
        </a:p>
      </dgm:t>
    </dgm:pt>
    <dgm:pt modelId="{8C7C25BC-4529-42B3-944A-517DA66BBBB7}" type="parTrans" cxnId="{C055174F-7576-415D-AF57-8F3C8C9209BB}">
      <dgm:prSet/>
      <dgm:spPr>
        <a:solidFill>
          <a:schemeClr val="tx1"/>
        </a:solidFill>
      </dgm:spPr>
      <dgm:t>
        <a:bodyPr/>
        <a:lstStyle/>
        <a:p>
          <a:endParaRPr lang="en-US"/>
        </a:p>
      </dgm:t>
    </dgm:pt>
    <dgm:pt modelId="{6BCD01DC-78D8-4CD1-BD62-0AB4BB214FAA}" type="sibTrans" cxnId="{C055174F-7576-415D-AF57-8F3C8C9209BB}">
      <dgm:prSet/>
      <dgm:spPr/>
      <dgm:t>
        <a:bodyPr/>
        <a:lstStyle/>
        <a:p>
          <a:endParaRPr lang="en-US"/>
        </a:p>
      </dgm:t>
    </dgm:pt>
    <dgm:pt modelId="{DB5725AF-1EC5-4919-ACF6-C3CC78B0015C}" type="pres">
      <dgm:prSet presAssocID="{D09F865E-9E38-4479-BE2B-090A74532C0B}" presName="hierChild1" presStyleCnt="0">
        <dgm:presLayoutVars>
          <dgm:orgChart val="1"/>
          <dgm:chPref val="1"/>
          <dgm:dir/>
          <dgm:animOne val="branch"/>
          <dgm:animLvl val="lvl"/>
          <dgm:resizeHandles/>
        </dgm:presLayoutVars>
      </dgm:prSet>
      <dgm:spPr/>
    </dgm:pt>
    <dgm:pt modelId="{28BC20F1-D699-4C7C-87B5-0F8ACE50AA97}" type="pres">
      <dgm:prSet presAssocID="{6E777740-7A3F-4142-831E-7643C65EA0B0}" presName="hierRoot1" presStyleCnt="0">
        <dgm:presLayoutVars>
          <dgm:hierBranch val="init"/>
        </dgm:presLayoutVars>
      </dgm:prSet>
      <dgm:spPr/>
    </dgm:pt>
    <dgm:pt modelId="{C278C21F-15C6-4F5E-AFC2-D6104A297512}" type="pres">
      <dgm:prSet presAssocID="{6E777740-7A3F-4142-831E-7643C65EA0B0}" presName="rootComposite1" presStyleCnt="0"/>
      <dgm:spPr/>
    </dgm:pt>
    <dgm:pt modelId="{72F47C46-1649-45D2-B3B2-B689301494B9}" type="pres">
      <dgm:prSet presAssocID="{6E777740-7A3F-4142-831E-7643C65EA0B0}" presName="rootText1" presStyleLbl="node0" presStyleIdx="0" presStyleCnt="1" custScaleY="40120">
        <dgm:presLayoutVars>
          <dgm:chPref val="3"/>
        </dgm:presLayoutVars>
      </dgm:prSet>
      <dgm:spPr/>
    </dgm:pt>
    <dgm:pt modelId="{1D0E9158-B5D6-4CA1-9530-DE0C2641E997}" type="pres">
      <dgm:prSet presAssocID="{6E777740-7A3F-4142-831E-7643C65EA0B0}" presName="rootConnector1" presStyleLbl="node1" presStyleIdx="0" presStyleCnt="0"/>
      <dgm:spPr/>
    </dgm:pt>
    <dgm:pt modelId="{DF1324A8-F802-463A-B53B-6C0FFF44AD5B}" type="pres">
      <dgm:prSet presAssocID="{6E777740-7A3F-4142-831E-7643C65EA0B0}" presName="hierChild2" presStyleCnt="0"/>
      <dgm:spPr/>
    </dgm:pt>
    <dgm:pt modelId="{2128BCB4-900C-4F81-9C22-C9D228EE5768}" type="pres">
      <dgm:prSet presAssocID="{7D4AFE2A-9C84-4A3D-BFC2-852ADAEE91A3}" presName="Name37" presStyleLbl="parChTrans1D2" presStyleIdx="0" presStyleCnt="3" custSzY="120944"/>
      <dgm:spPr/>
    </dgm:pt>
    <dgm:pt modelId="{F7498D0C-1244-4DA9-A564-82C3D50E893A}" type="pres">
      <dgm:prSet presAssocID="{2A05C783-90D2-4FAF-8AF7-C75786A53759}" presName="hierRoot2" presStyleCnt="0">
        <dgm:presLayoutVars>
          <dgm:hierBranch val="init"/>
        </dgm:presLayoutVars>
      </dgm:prSet>
      <dgm:spPr/>
    </dgm:pt>
    <dgm:pt modelId="{3FAE7E52-4546-435D-8CE5-DCF71B8049F1}" type="pres">
      <dgm:prSet presAssocID="{2A05C783-90D2-4FAF-8AF7-C75786A53759}" presName="rootComposite" presStyleCnt="0"/>
      <dgm:spPr/>
    </dgm:pt>
    <dgm:pt modelId="{041F1680-A4E0-4CD0-9836-B0D47E085BB0}" type="pres">
      <dgm:prSet presAssocID="{2A05C783-90D2-4FAF-8AF7-C75786A53759}" presName="rootText" presStyleLbl="node2" presStyleIdx="0" presStyleCnt="3" custScaleY="40120">
        <dgm:presLayoutVars>
          <dgm:chPref val="3"/>
        </dgm:presLayoutVars>
      </dgm:prSet>
      <dgm:spPr/>
    </dgm:pt>
    <dgm:pt modelId="{31503BF9-9D05-429B-8D2A-5452339151D6}" type="pres">
      <dgm:prSet presAssocID="{2A05C783-90D2-4FAF-8AF7-C75786A53759}" presName="rootConnector" presStyleLbl="node2" presStyleIdx="0" presStyleCnt="3"/>
      <dgm:spPr/>
    </dgm:pt>
    <dgm:pt modelId="{F8C151EB-70BB-4A05-919A-8F90B0F1D307}" type="pres">
      <dgm:prSet presAssocID="{2A05C783-90D2-4FAF-8AF7-C75786A53759}" presName="hierChild4" presStyleCnt="0"/>
      <dgm:spPr/>
    </dgm:pt>
    <dgm:pt modelId="{878823C7-333D-4ED0-B6A9-9A728E94C447}" type="pres">
      <dgm:prSet presAssocID="{99A65F56-CA3D-4776-8C0E-AEECC5B8141A}" presName="Name37" presStyleLbl="parChTrans1D3" presStyleIdx="0" presStyleCnt="8"/>
      <dgm:spPr/>
    </dgm:pt>
    <dgm:pt modelId="{C2D9BA05-48B0-4BFB-AD1C-08F4F4E02588}" type="pres">
      <dgm:prSet presAssocID="{8AEDD6B0-6FA1-4107-9753-8B6AC700516B}" presName="hierRoot2" presStyleCnt="0">
        <dgm:presLayoutVars>
          <dgm:hierBranch val="init"/>
        </dgm:presLayoutVars>
      </dgm:prSet>
      <dgm:spPr/>
    </dgm:pt>
    <dgm:pt modelId="{8E979A4C-E97D-4C7F-B236-375DE93E0AB5}" type="pres">
      <dgm:prSet presAssocID="{8AEDD6B0-6FA1-4107-9753-8B6AC700516B}" presName="rootComposite" presStyleCnt="0"/>
      <dgm:spPr/>
    </dgm:pt>
    <dgm:pt modelId="{11D877DC-8B7B-4057-BF39-F2114C91074E}" type="pres">
      <dgm:prSet presAssocID="{8AEDD6B0-6FA1-4107-9753-8B6AC700516B}" presName="rootText" presStyleLbl="node3" presStyleIdx="0" presStyleCnt="8">
        <dgm:presLayoutVars>
          <dgm:chPref val="3"/>
        </dgm:presLayoutVars>
      </dgm:prSet>
      <dgm:spPr/>
    </dgm:pt>
    <dgm:pt modelId="{F2EE5FF9-39DB-4212-A4EC-5EE1B3F05CDB}" type="pres">
      <dgm:prSet presAssocID="{8AEDD6B0-6FA1-4107-9753-8B6AC700516B}" presName="rootConnector" presStyleLbl="node3" presStyleIdx="0" presStyleCnt="8"/>
      <dgm:spPr/>
    </dgm:pt>
    <dgm:pt modelId="{47F7F49A-FE24-4990-8793-1390D28E2BA2}" type="pres">
      <dgm:prSet presAssocID="{8AEDD6B0-6FA1-4107-9753-8B6AC700516B}" presName="hierChild4" presStyleCnt="0"/>
      <dgm:spPr/>
    </dgm:pt>
    <dgm:pt modelId="{495F9304-FC7B-4C01-AB4C-2E8D8685A861}" type="pres">
      <dgm:prSet presAssocID="{8AEDD6B0-6FA1-4107-9753-8B6AC700516B}" presName="hierChild5" presStyleCnt="0"/>
      <dgm:spPr/>
    </dgm:pt>
    <dgm:pt modelId="{FFE7F211-828B-4EB1-A257-3FF514B99EDD}" type="pres">
      <dgm:prSet presAssocID="{C86C2BD1-C674-4BA7-A9CC-BF41015C47DB}" presName="Name37" presStyleLbl="parChTrans1D3" presStyleIdx="1" presStyleCnt="8"/>
      <dgm:spPr/>
    </dgm:pt>
    <dgm:pt modelId="{7BDB7216-C155-4127-AE47-DDBA5862E081}" type="pres">
      <dgm:prSet presAssocID="{38C82AF9-CF2A-4043-A0A4-E9F36DAC11FC}" presName="hierRoot2" presStyleCnt="0">
        <dgm:presLayoutVars>
          <dgm:hierBranch val="init"/>
        </dgm:presLayoutVars>
      </dgm:prSet>
      <dgm:spPr/>
    </dgm:pt>
    <dgm:pt modelId="{8C733071-2572-4228-AD4C-B46F4F9CE6C3}" type="pres">
      <dgm:prSet presAssocID="{38C82AF9-CF2A-4043-A0A4-E9F36DAC11FC}" presName="rootComposite" presStyleCnt="0"/>
      <dgm:spPr/>
    </dgm:pt>
    <dgm:pt modelId="{71CF22D3-0ECC-4470-9B72-2C8D4E025A4A}" type="pres">
      <dgm:prSet presAssocID="{38C82AF9-CF2A-4043-A0A4-E9F36DAC11FC}" presName="rootText" presStyleLbl="node3" presStyleIdx="1" presStyleCnt="8">
        <dgm:presLayoutVars>
          <dgm:chPref val="3"/>
        </dgm:presLayoutVars>
      </dgm:prSet>
      <dgm:spPr/>
    </dgm:pt>
    <dgm:pt modelId="{03A8D06D-B5B4-4E5C-B19A-4CEB19445411}" type="pres">
      <dgm:prSet presAssocID="{38C82AF9-CF2A-4043-A0A4-E9F36DAC11FC}" presName="rootConnector" presStyleLbl="node3" presStyleIdx="1" presStyleCnt="8"/>
      <dgm:spPr/>
    </dgm:pt>
    <dgm:pt modelId="{AC64ED48-4DD3-4B63-98B6-EE266FCED03E}" type="pres">
      <dgm:prSet presAssocID="{38C82AF9-CF2A-4043-A0A4-E9F36DAC11FC}" presName="hierChild4" presStyleCnt="0"/>
      <dgm:spPr/>
    </dgm:pt>
    <dgm:pt modelId="{5A7CA61F-2C77-41ED-8E95-D74E7C6E7E14}" type="pres">
      <dgm:prSet presAssocID="{38C82AF9-CF2A-4043-A0A4-E9F36DAC11FC}" presName="hierChild5" presStyleCnt="0"/>
      <dgm:spPr/>
    </dgm:pt>
    <dgm:pt modelId="{4135ED16-F161-4DB8-B33D-562890EBD51A}" type="pres">
      <dgm:prSet presAssocID="{F8F276B7-14E2-40D8-8192-4B6AE07C2A08}" presName="Name37" presStyleLbl="parChTrans1D3" presStyleIdx="2" presStyleCnt="8"/>
      <dgm:spPr/>
    </dgm:pt>
    <dgm:pt modelId="{4A634586-AA27-4465-975B-0914AA102E25}" type="pres">
      <dgm:prSet presAssocID="{E7DB0F9A-BD22-4D46-A746-1A11511CD107}" presName="hierRoot2" presStyleCnt="0">
        <dgm:presLayoutVars>
          <dgm:hierBranch val="init"/>
        </dgm:presLayoutVars>
      </dgm:prSet>
      <dgm:spPr/>
    </dgm:pt>
    <dgm:pt modelId="{ADDFF32E-0570-47CD-982D-BD60814DDA08}" type="pres">
      <dgm:prSet presAssocID="{E7DB0F9A-BD22-4D46-A746-1A11511CD107}" presName="rootComposite" presStyleCnt="0"/>
      <dgm:spPr/>
    </dgm:pt>
    <dgm:pt modelId="{5D2F0405-4BD2-4A4F-9AE8-D7F386EFE409}" type="pres">
      <dgm:prSet presAssocID="{E7DB0F9A-BD22-4D46-A746-1A11511CD107}" presName="rootText" presStyleLbl="node3" presStyleIdx="2" presStyleCnt="8">
        <dgm:presLayoutVars>
          <dgm:chPref val="3"/>
        </dgm:presLayoutVars>
      </dgm:prSet>
      <dgm:spPr/>
    </dgm:pt>
    <dgm:pt modelId="{523FE2DF-7206-4B84-93A6-05438C907480}" type="pres">
      <dgm:prSet presAssocID="{E7DB0F9A-BD22-4D46-A746-1A11511CD107}" presName="rootConnector" presStyleLbl="node3" presStyleIdx="2" presStyleCnt="8"/>
      <dgm:spPr/>
    </dgm:pt>
    <dgm:pt modelId="{81FC54FC-4D08-434A-9F2E-A8AF6C5CE85C}" type="pres">
      <dgm:prSet presAssocID="{E7DB0F9A-BD22-4D46-A746-1A11511CD107}" presName="hierChild4" presStyleCnt="0"/>
      <dgm:spPr/>
    </dgm:pt>
    <dgm:pt modelId="{39EC1656-2EF1-4733-AA6B-AF309B23354E}" type="pres">
      <dgm:prSet presAssocID="{E7DB0F9A-BD22-4D46-A746-1A11511CD107}" presName="hierChild5" presStyleCnt="0"/>
      <dgm:spPr/>
    </dgm:pt>
    <dgm:pt modelId="{7399B9F6-ADD6-4B4F-AF9F-39BD221E76F3}" type="pres">
      <dgm:prSet presAssocID="{2A05C783-90D2-4FAF-8AF7-C75786A53759}" presName="hierChild5" presStyleCnt="0"/>
      <dgm:spPr/>
    </dgm:pt>
    <dgm:pt modelId="{A58E041A-FD8A-4A19-B451-EF1257CD7038}" type="pres">
      <dgm:prSet presAssocID="{58A50F90-DB4F-42C7-A5A2-8F89CD3858C5}" presName="Name37" presStyleLbl="parChTrans1D2" presStyleIdx="1" presStyleCnt="3" custSzY="120944"/>
      <dgm:spPr/>
    </dgm:pt>
    <dgm:pt modelId="{803A8269-87BA-4A8B-A5AC-A51D62359865}" type="pres">
      <dgm:prSet presAssocID="{316EFFD5-9C45-448A-BA92-DEAAB0C4B9E6}" presName="hierRoot2" presStyleCnt="0">
        <dgm:presLayoutVars>
          <dgm:hierBranch val="init"/>
        </dgm:presLayoutVars>
      </dgm:prSet>
      <dgm:spPr/>
    </dgm:pt>
    <dgm:pt modelId="{FB8E2DB7-AAAE-4CB4-85EB-55F60E282B00}" type="pres">
      <dgm:prSet presAssocID="{316EFFD5-9C45-448A-BA92-DEAAB0C4B9E6}" presName="rootComposite" presStyleCnt="0"/>
      <dgm:spPr/>
    </dgm:pt>
    <dgm:pt modelId="{12573B58-1CB7-4C6B-84F0-D6A0A80E4DAC}" type="pres">
      <dgm:prSet presAssocID="{316EFFD5-9C45-448A-BA92-DEAAB0C4B9E6}" presName="rootText" presStyleLbl="node2" presStyleIdx="1" presStyleCnt="3" custScaleY="40120">
        <dgm:presLayoutVars>
          <dgm:chPref val="3"/>
        </dgm:presLayoutVars>
      </dgm:prSet>
      <dgm:spPr/>
    </dgm:pt>
    <dgm:pt modelId="{03C302CC-B515-480D-A7C2-7534FCE4D839}" type="pres">
      <dgm:prSet presAssocID="{316EFFD5-9C45-448A-BA92-DEAAB0C4B9E6}" presName="rootConnector" presStyleLbl="node2" presStyleIdx="1" presStyleCnt="3"/>
      <dgm:spPr/>
    </dgm:pt>
    <dgm:pt modelId="{4618986F-49C4-4DFA-A9C4-6016A24ADF4B}" type="pres">
      <dgm:prSet presAssocID="{316EFFD5-9C45-448A-BA92-DEAAB0C4B9E6}" presName="hierChild4" presStyleCnt="0"/>
      <dgm:spPr/>
    </dgm:pt>
    <dgm:pt modelId="{95D17D22-14D7-4D38-93F0-CCEC82BAF650}" type="pres">
      <dgm:prSet presAssocID="{680BAA41-BAD5-4A1E-80BB-E40AC54B5CA9}" presName="Name37" presStyleLbl="parChTrans1D3" presStyleIdx="3" presStyleCnt="8"/>
      <dgm:spPr/>
    </dgm:pt>
    <dgm:pt modelId="{37CCB7E9-A8FF-448B-B4A1-CCC82A298381}" type="pres">
      <dgm:prSet presAssocID="{8860210B-4460-4BA8-8DE6-5CABB4BA7AB0}" presName="hierRoot2" presStyleCnt="0">
        <dgm:presLayoutVars>
          <dgm:hierBranch val="init"/>
        </dgm:presLayoutVars>
      </dgm:prSet>
      <dgm:spPr/>
    </dgm:pt>
    <dgm:pt modelId="{6C8980E9-B215-4A2C-AA78-666BCF01728F}" type="pres">
      <dgm:prSet presAssocID="{8860210B-4460-4BA8-8DE6-5CABB4BA7AB0}" presName="rootComposite" presStyleCnt="0"/>
      <dgm:spPr/>
    </dgm:pt>
    <dgm:pt modelId="{A220BFF0-8BE8-4F21-B9DE-8193E44B743D}" type="pres">
      <dgm:prSet presAssocID="{8860210B-4460-4BA8-8DE6-5CABB4BA7AB0}" presName="rootText" presStyleLbl="node3" presStyleIdx="3" presStyleCnt="8">
        <dgm:presLayoutVars>
          <dgm:chPref val="3"/>
        </dgm:presLayoutVars>
      </dgm:prSet>
      <dgm:spPr/>
    </dgm:pt>
    <dgm:pt modelId="{C8479F16-2D8B-4441-AE11-9E4FFC046015}" type="pres">
      <dgm:prSet presAssocID="{8860210B-4460-4BA8-8DE6-5CABB4BA7AB0}" presName="rootConnector" presStyleLbl="node3" presStyleIdx="3" presStyleCnt="8"/>
      <dgm:spPr/>
    </dgm:pt>
    <dgm:pt modelId="{7655DE7A-03FC-4278-B988-9159CB1C1F04}" type="pres">
      <dgm:prSet presAssocID="{8860210B-4460-4BA8-8DE6-5CABB4BA7AB0}" presName="hierChild4" presStyleCnt="0"/>
      <dgm:spPr/>
    </dgm:pt>
    <dgm:pt modelId="{94D130DE-4528-4C91-A9D2-5CF08F714F4B}" type="pres">
      <dgm:prSet presAssocID="{8860210B-4460-4BA8-8DE6-5CABB4BA7AB0}" presName="hierChild5" presStyleCnt="0"/>
      <dgm:spPr/>
    </dgm:pt>
    <dgm:pt modelId="{7DCC2CAA-8DC1-4E83-9F85-074C97FC54B0}" type="pres">
      <dgm:prSet presAssocID="{7BD609A3-7B92-4F90-9C03-57A0C29C9BF1}" presName="Name37" presStyleLbl="parChTrans1D3" presStyleIdx="4" presStyleCnt="8"/>
      <dgm:spPr/>
    </dgm:pt>
    <dgm:pt modelId="{BA9D1967-17AC-412E-A1F7-AAA6066AFDB6}" type="pres">
      <dgm:prSet presAssocID="{F74BF978-4402-4E45-879E-E42419552C1B}" presName="hierRoot2" presStyleCnt="0">
        <dgm:presLayoutVars>
          <dgm:hierBranch val="init"/>
        </dgm:presLayoutVars>
      </dgm:prSet>
      <dgm:spPr/>
    </dgm:pt>
    <dgm:pt modelId="{FC5E629A-99A4-4C8B-B5CA-199047499475}" type="pres">
      <dgm:prSet presAssocID="{F74BF978-4402-4E45-879E-E42419552C1B}" presName="rootComposite" presStyleCnt="0"/>
      <dgm:spPr/>
    </dgm:pt>
    <dgm:pt modelId="{253E5F61-8C83-4A89-A32F-66CD6E93F79A}" type="pres">
      <dgm:prSet presAssocID="{F74BF978-4402-4E45-879E-E42419552C1B}" presName="rootText" presStyleLbl="node3" presStyleIdx="4" presStyleCnt="8">
        <dgm:presLayoutVars>
          <dgm:chPref val="3"/>
        </dgm:presLayoutVars>
      </dgm:prSet>
      <dgm:spPr/>
    </dgm:pt>
    <dgm:pt modelId="{D4FD11E4-BFE5-43C9-8141-43186CC52EDF}" type="pres">
      <dgm:prSet presAssocID="{F74BF978-4402-4E45-879E-E42419552C1B}" presName="rootConnector" presStyleLbl="node3" presStyleIdx="4" presStyleCnt="8"/>
      <dgm:spPr/>
    </dgm:pt>
    <dgm:pt modelId="{EA18919C-D88F-49C4-9DD5-31BBD733B62F}" type="pres">
      <dgm:prSet presAssocID="{F74BF978-4402-4E45-879E-E42419552C1B}" presName="hierChild4" presStyleCnt="0"/>
      <dgm:spPr/>
    </dgm:pt>
    <dgm:pt modelId="{6054968D-878C-48B6-AB70-E3D5F58B3AF7}" type="pres">
      <dgm:prSet presAssocID="{F74BF978-4402-4E45-879E-E42419552C1B}" presName="hierChild5" presStyleCnt="0"/>
      <dgm:spPr/>
    </dgm:pt>
    <dgm:pt modelId="{013B933E-C098-44B0-90C0-567CA1623B48}" type="pres">
      <dgm:prSet presAssocID="{D1F05AE6-116B-431D-A9BE-E3EC52EE9D21}" presName="Name37" presStyleLbl="parChTrans1D3" presStyleIdx="5" presStyleCnt="8"/>
      <dgm:spPr/>
    </dgm:pt>
    <dgm:pt modelId="{81F686AB-309C-44AE-818B-68D9414A0E2F}" type="pres">
      <dgm:prSet presAssocID="{D3D5A3F8-7417-41C9-AC12-A669DFC53221}" presName="hierRoot2" presStyleCnt="0">
        <dgm:presLayoutVars>
          <dgm:hierBranch val="init"/>
        </dgm:presLayoutVars>
      </dgm:prSet>
      <dgm:spPr/>
    </dgm:pt>
    <dgm:pt modelId="{33AF23A1-1DBB-4BC8-80B9-8176041B797F}" type="pres">
      <dgm:prSet presAssocID="{D3D5A3F8-7417-41C9-AC12-A669DFC53221}" presName="rootComposite" presStyleCnt="0"/>
      <dgm:spPr/>
    </dgm:pt>
    <dgm:pt modelId="{3D31A79B-D0BC-4AEB-93F9-37ABD37CDE88}" type="pres">
      <dgm:prSet presAssocID="{D3D5A3F8-7417-41C9-AC12-A669DFC53221}" presName="rootText" presStyleLbl="node3" presStyleIdx="5" presStyleCnt="8">
        <dgm:presLayoutVars>
          <dgm:chPref val="3"/>
        </dgm:presLayoutVars>
      </dgm:prSet>
      <dgm:spPr/>
    </dgm:pt>
    <dgm:pt modelId="{C417C389-1565-4646-B665-87CDFCC94162}" type="pres">
      <dgm:prSet presAssocID="{D3D5A3F8-7417-41C9-AC12-A669DFC53221}" presName="rootConnector" presStyleLbl="node3" presStyleIdx="5" presStyleCnt="8"/>
      <dgm:spPr/>
    </dgm:pt>
    <dgm:pt modelId="{9FDB542B-1E57-4541-911F-5E65D395D49B}" type="pres">
      <dgm:prSet presAssocID="{D3D5A3F8-7417-41C9-AC12-A669DFC53221}" presName="hierChild4" presStyleCnt="0"/>
      <dgm:spPr/>
    </dgm:pt>
    <dgm:pt modelId="{24AC782F-1501-46E1-9361-06C12DC2CD3B}" type="pres">
      <dgm:prSet presAssocID="{D3D5A3F8-7417-41C9-AC12-A669DFC53221}" presName="hierChild5" presStyleCnt="0"/>
      <dgm:spPr/>
    </dgm:pt>
    <dgm:pt modelId="{38776C72-6C5E-4FFD-9AA9-8734CCD924E5}" type="pres">
      <dgm:prSet presAssocID="{316EFFD5-9C45-448A-BA92-DEAAB0C4B9E6}" presName="hierChild5" presStyleCnt="0"/>
      <dgm:spPr/>
    </dgm:pt>
    <dgm:pt modelId="{F3960283-DC7D-4E78-BCEE-86154FBF38C9}" type="pres">
      <dgm:prSet presAssocID="{7FEB43A0-6F39-4919-B1C2-A78DE573A429}" presName="Name37" presStyleLbl="parChTrans1D2" presStyleIdx="2" presStyleCnt="3" custSzY="120944"/>
      <dgm:spPr/>
    </dgm:pt>
    <dgm:pt modelId="{B7971D10-9F7B-4D91-9732-369D984D45DD}" type="pres">
      <dgm:prSet presAssocID="{5332D95A-0BF2-4BDB-ADE5-60C5C2C21CBF}" presName="hierRoot2" presStyleCnt="0">
        <dgm:presLayoutVars>
          <dgm:hierBranch val="init"/>
        </dgm:presLayoutVars>
      </dgm:prSet>
      <dgm:spPr/>
    </dgm:pt>
    <dgm:pt modelId="{202FB6D6-E2D6-4A33-93B3-25506F16F601}" type="pres">
      <dgm:prSet presAssocID="{5332D95A-0BF2-4BDB-ADE5-60C5C2C21CBF}" presName="rootComposite" presStyleCnt="0"/>
      <dgm:spPr/>
    </dgm:pt>
    <dgm:pt modelId="{DE8FE64F-0E01-40E0-A020-D22B2901894B}" type="pres">
      <dgm:prSet presAssocID="{5332D95A-0BF2-4BDB-ADE5-60C5C2C21CBF}" presName="rootText" presStyleLbl="node2" presStyleIdx="2" presStyleCnt="3" custScaleY="40120">
        <dgm:presLayoutVars>
          <dgm:chPref val="3"/>
        </dgm:presLayoutVars>
      </dgm:prSet>
      <dgm:spPr/>
    </dgm:pt>
    <dgm:pt modelId="{D9E714E4-292E-4DC6-AE00-F8FA82938E36}" type="pres">
      <dgm:prSet presAssocID="{5332D95A-0BF2-4BDB-ADE5-60C5C2C21CBF}" presName="rootConnector" presStyleLbl="node2" presStyleIdx="2" presStyleCnt="3"/>
      <dgm:spPr/>
    </dgm:pt>
    <dgm:pt modelId="{7296E365-F98C-4F69-9007-D389D52366AD}" type="pres">
      <dgm:prSet presAssocID="{5332D95A-0BF2-4BDB-ADE5-60C5C2C21CBF}" presName="hierChild4" presStyleCnt="0"/>
      <dgm:spPr/>
    </dgm:pt>
    <dgm:pt modelId="{E3625481-15B4-4826-8498-81CD30A27E9A}" type="pres">
      <dgm:prSet presAssocID="{E279D9F0-4F95-4CF5-B2EA-0ACC92CD4A68}" presName="Name37" presStyleLbl="parChTrans1D3" presStyleIdx="6" presStyleCnt="8"/>
      <dgm:spPr/>
    </dgm:pt>
    <dgm:pt modelId="{0FD95DBA-2F63-408A-AC49-6F22DCBF4B5B}" type="pres">
      <dgm:prSet presAssocID="{B87CC03F-62BC-49BE-8F02-9DDF319FADA7}" presName="hierRoot2" presStyleCnt="0">
        <dgm:presLayoutVars>
          <dgm:hierBranch val="init"/>
        </dgm:presLayoutVars>
      </dgm:prSet>
      <dgm:spPr/>
    </dgm:pt>
    <dgm:pt modelId="{5AB1DF0C-064B-47B1-B8FB-7D5F585FE4E5}" type="pres">
      <dgm:prSet presAssocID="{B87CC03F-62BC-49BE-8F02-9DDF319FADA7}" presName="rootComposite" presStyleCnt="0"/>
      <dgm:spPr/>
    </dgm:pt>
    <dgm:pt modelId="{AE8ECE71-E1C3-4E0F-A4D5-1DC466E27354}" type="pres">
      <dgm:prSet presAssocID="{B87CC03F-62BC-49BE-8F02-9DDF319FADA7}" presName="rootText" presStyleLbl="node3" presStyleIdx="6" presStyleCnt="8">
        <dgm:presLayoutVars>
          <dgm:chPref val="3"/>
        </dgm:presLayoutVars>
      </dgm:prSet>
      <dgm:spPr/>
    </dgm:pt>
    <dgm:pt modelId="{437C4729-6D83-4B26-A98B-0B318699AABB}" type="pres">
      <dgm:prSet presAssocID="{B87CC03F-62BC-49BE-8F02-9DDF319FADA7}" presName="rootConnector" presStyleLbl="node3" presStyleIdx="6" presStyleCnt="8"/>
      <dgm:spPr/>
    </dgm:pt>
    <dgm:pt modelId="{7730557D-3E16-43F9-B3B2-B8D7B301687B}" type="pres">
      <dgm:prSet presAssocID="{B87CC03F-62BC-49BE-8F02-9DDF319FADA7}" presName="hierChild4" presStyleCnt="0"/>
      <dgm:spPr/>
    </dgm:pt>
    <dgm:pt modelId="{43C3E496-9F7D-47DC-926E-A63281CD31F0}" type="pres">
      <dgm:prSet presAssocID="{B87CC03F-62BC-49BE-8F02-9DDF319FADA7}" presName="hierChild5" presStyleCnt="0"/>
      <dgm:spPr/>
    </dgm:pt>
    <dgm:pt modelId="{B8AA173F-6124-4280-AB07-EB746D462589}" type="pres">
      <dgm:prSet presAssocID="{8C7C25BC-4529-42B3-944A-517DA66BBBB7}" presName="Name37" presStyleLbl="parChTrans1D3" presStyleIdx="7" presStyleCnt="8"/>
      <dgm:spPr/>
    </dgm:pt>
    <dgm:pt modelId="{6E3E3A37-96CB-4487-9D0D-9859BD9B5676}" type="pres">
      <dgm:prSet presAssocID="{5B22F537-F74D-497F-9086-86F7BC42489D}" presName="hierRoot2" presStyleCnt="0">
        <dgm:presLayoutVars>
          <dgm:hierBranch val="init"/>
        </dgm:presLayoutVars>
      </dgm:prSet>
      <dgm:spPr/>
    </dgm:pt>
    <dgm:pt modelId="{020CFE67-1BDC-484E-B30E-6F2705714412}" type="pres">
      <dgm:prSet presAssocID="{5B22F537-F74D-497F-9086-86F7BC42489D}" presName="rootComposite" presStyleCnt="0"/>
      <dgm:spPr/>
    </dgm:pt>
    <dgm:pt modelId="{9352D88F-6738-455C-8707-B61C46732078}" type="pres">
      <dgm:prSet presAssocID="{5B22F537-F74D-497F-9086-86F7BC42489D}" presName="rootText" presStyleLbl="node3" presStyleIdx="7" presStyleCnt="8">
        <dgm:presLayoutVars>
          <dgm:chPref val="3"/>
        </dgm:presLayoutVars>
      </dgm:prSet>
      <dgm:spPr/>
    </dgm:pt>
    <dgm:pt modelId="{F1139AC6-8F8F-4167-9CA6-2577B41F2042}" type="pres">
      <dgm:prSet presAssocID="{5B22F537-F74D-497F-9086-86F7BC42489D}" presName="rootConnector" presStyleLbl="node3" presStyleIdx="7" presStyleCnt="8"/>
      <dgm:spPr/>
    </dgm:pt>
    <dgm:pt modelId="{D63D77DF-3CB8-4E1B-8019-90E9EF4EEF7F}" type="pres">
      <dgm:prSet presAssocID="{5B22F537-F74D-497F-9086-86F7BC42489D}" presName="hierChild4" presStyleCnt="0"/>
      <dgm:spPr/>
    </dgm:pt>
    <dgm:pt modelId="{044CB4CF-A74B-4B3A-8DB4-51865165515A}" type="pres">
      <dgm:prSet presAssocID="{5B22F537-F74D-497F-9086-86F7BC42489D}" presName="hierChild5" presStyleCnt="0"/>
      <dgm:spPr/>
    </dgm:pt>
    <dgm:pt modelId="{47AE797E-2782-45A0-A1AA-F8963844A1F0}" type="pres">
      <dgm:prSet presAssocID="{5332D95A-0BF2-4BDB-ADE5-60C5C2C21CBF}" presName="hierChild5" presStyleCnt="0"/>
      <dgm:spPr/>
    </dgm:pt>
    <dgm:pt modelId="{DE4590E1-B8B7-42FA-90B1-7669CE9397A8}" type="pres">
      <dgm:prSet presAssocID="{6E777740-7A3F-4142-831E-7643C65EA0B0}" presName="hierChild3" presStyleCnt="0"/>
      <dgm:spPr/>
    </dgm:pt>
  </dgm:ptLst>
  <dgm:cxnLst>
    <dgm:cxn modelId="{A3820311-46F5-42E7-BC40-BEA2C40B7854}" type="presOf" srcId="{58A50F90-DB4F-42C7-A5A2-8F89CD3858C5}" destId="{A58E041A-FD8A-4A19-B451-EF1257CD7038}" srcOrd="0" destOrd="0" presId="urn:microsoft.com/office/officeart/2005/8/layout/orgChart1"/>
    <dgm:cxn modelId="{4FE56412-A613-4110-BA3D-96C366CDF2CD}" srcId="{316EFFD5-9C45-448A-BA92-DEAAB0C4B9E6}" destId="{D3D5A3F8-7417-41C9-AC12-A669DFC53221}" srcOrd="2" destOrd="0" parTransId="{D1F05AE6-116B-431D-A9BE-E3EC52EE9D21}" sibTransId="{FC02EA17-5403-4474-8A56-6F3BE16A6288}"/>
    <dgm:cxn modelId="{63FA7E14-3EF5-4420-81E6-6F5A8A7F2A47}" type="presOf" srcId="{8AEDD6B0-6FA1-4107-9753-8B6AC700516B}" destId="{11D877DC-8B7B-4057-BF39-F2114C91074E}" srcOrd="0" destOrd="0" presId="urn:microsoft.com/office/officeart/2005/8/layout/orgChart1"/>
    <dgm:cxn modelId="{6A749319-192E-48F8-8B96-FBCF5B99D488}" srcId="{6E777740-7A3F-4142-831E-7643C65EA0B0}" destId="{316EFFD5-9C45-448A-BA92-DEAAB0C4B9E6}" srcOrd="1" destOrd="0" parTransId="{58A50F90-DB4F-42C7-A5A2-8F89CD3858C5}" sibTransId="{0EAB47D6-F1D4-42F4-9681-204762FFBC7A}"/>
    <dgm:cxn modelId="{74B74820-D51D-4464-9962-9D94EB3C1871}" type="presOf" srcId="{C86C2BD1-C674-4BA7-A9CC-BF41015C47DB}" destId="{FFE7F211-828B-4EB1-A257-3FF514B99EDD}" srcOrd="0" destOrd="0" presId="urn:microsoft.com/office/officeart/2005/8/layout/orgChart1"/>
    <dgm:cxn modelId="{7B6C8125-BECC-4036-888C-E2138A208B8C}" srcId="{316EFFD5-9C45-448A-BA92-DEAAB0C4B9E6}" destId="{8860210B-4460-4BA8-8DE6-5CABB4BA7AB0}" srcOrd="0" destOrd="0" parTransId="{680BAA41-BAD5-4A1E-80BB-E40AC54B5CA9}" sibTransId="{45BA3057-8C9C-4243-998A-DB570FA3E1D3}"/>
    <dgm:cxn modelId="{77ECCC26-6D59-404C-9147-41C31954150C}" type="presOf" srcId="{316EFFD5-9C45-448A-BA92-DEAAB0C4B9E6}" destId="{03C302CC-B515-480D-A7C2-7534FCE4D839}" srcOrd="1" destOrd="0" presId="urn:microsoft.com/office/officeart/2005/8/layout/orgChart1"/>
    <dgm:cxn modelId="{639E0D28-62E0-4181-99C5-53BA638B9D0B}" type="presOf" srcId="{7FEB43A0-6F39-4919-B1C2-A78DE573A429}" destId="{F3960283-DC7D-4E78-BCEE-86154FBF38C9}" srcOrd="0" destOrd="0" presId="urn:microsoft.com/office/officeart/2005/8/layout/orgChart1"/>
    <dgm:cxn modelId="{FF17A828-6155-45E6-90E2-6061E3D41756}" type="presOf" srcId="{8860210B-4460-4BA8-8DE6-5CABB4BA7AB0}" destId="{C8479F16-2D8B-4441-AE11-9E4FFC046015}" srcOrd="1" destOrd="0" presId="urn:microsoft.com/office/officeart/2005/8/layout/orgChart1"/>
    <dgm:cxn modelId="{C40DAB2A-2245-4CFE-BE06-2E581E905B3E}" type="presOf" srcId="{7D4AFE2A-9C84-4A3D-BFC2-852ADAEE91A3}" destId="{2128BCB4-900C-4F81-9C22-C9D228EE5768}" srcOrd="0" destOrd="0" presId="urn:microsoft.com/office/officeart/2005/8/layout/orgChart1"/>
    <dgm:cxn modelId="{7BAC982B-65D4-48AA-B4A9-2AF60169D7B0}" type="presOf" srcId="{2A05C783-90D2-4FAF-8AF7-C75786A53759}" destId="{041F1680-A4E0-4CD0-9836-B0D47E085BB0}" srcOrd="0" destOrd="0" presId="urn:microsoft.com/office/officeart/2005/8/layout/orgChart1"/>
    <dgm:cxn modelId="{5CB23A2F-334A-4357-AC3F-85CD81D0BFAE}" srcId="{D09F865E-9E38-4479-BE2B-090A74532C0B}" destId="{6E777740-7A3F-4142-831E-7643C65EA0B0}" srcOrd="0" destOrd="0" parTransId="{DC1A41B4-5017-4241-B1B2-1A561419D857}" sibTransId="{CA63DBC5-9A26-4880-86AC-B755A2652C3B}"/>
    <dgm:cxn modelId="{97698040-7C22-4D7A-B28F-E159A4A446D4}" type="presOf" srcId="{D3D5A3F8-7417-41C9-AC12-A669DFC53221}" destId="{C417C389-1565-4646-B665-87CDFCC94162}" srcOrd="1" destOrd="0" presId="urn:microsoft.com/office/officeart/2005/8/layout/orgChart1"/>
    <dgm:cxn modelId="{622DF55C-A94B-45D7-92AC-60EA22CE73E1}" srcId="{2A05C783-90D2-4FAF-8AF7-C75786A53759}" destId="{E7DB0F9A-BD22-4D46-A746-1A11511CD107}" srcOrd="2" destOrd="0" parTransId="{F8F276B7-14E2-40D8-8192-4B6AE07C2A08}" sibTransId="{79689E0B-FE36-4BD9-B00B-4C99B1FAFFE4}"/>
    <dgm:cxn modelId="{84FA5743-9B30-4A05-BC37-88400BA96577}" type="presOf" srcId="{E7DB0F9A-BD22-4D46-A746-1A11511CD107}" destId="{5D2F0405-4BD2-4A4F-9AE8-D7F386EFE409}" srcOrd="0" destOrd="0" presId="urn:microsoft.com/office/officeart/2005/8/layout/orgChart1"/>
    <dgm:cxn modelId="{92813344-C747-4B89-9E15-98E6D2292639}" type="presOf" srcId="{D09F865E-9E38-4479-BE2B-090A74532C0B}" destId="{DB5725AF-1EC5-4919-ACF6-C3CC78B0015C}" srcOrd="0" destOrd="0" presId="urn:microsoft.com/office/officeart/2005/8/layout/orgChart1"/>
    <dgm:cxn modelId="{F6F41F66-8E69-4C70-9F96-120E5DF8DE4D}" srcId="{316EFFD5-9C45-448A-BA92-DEAAB0C4B9E6}" destId="{F74BF978-4402-4E45-879E-E42419552C1B}" srcOrd="1" destOrd="0" parTransId="{7BD609A3-7B92-4F90-9C03-57A0C29C9BF1}" sibTransId="{8260790A-0B02-4744-A2C4-79CA005F76CE}"/>
    <dgm:cxn modelId="{6FD0264C-CAFE-4C41-BC03-68CB9F3F4627}" type="presOf" srcId="{6E777740-7A3F-4142-831E-7643C65EA0B0}" destId="{1D0E9158-B5D6-4CA1-9530-DE0C2641E997}" srcOrd="1" destOrd="0" presId="urn:microsoft.com/office/officeart/2005/8/layout/orgChart1"/>
    <dgm:cxn modelId="{65D59E4E-5055-4010-B053-E6611FAB467E}" type="presOf" srcId="{D1F05AE6-116B-431D-A9BE-E3EC52EE9D21}" destId="{013B933E-C098-44B0-90C0-567CA1623B48}" srcOrd="0" destOrd="0" presId="urn:microsoft.com/office/officeart/2005/8/layout/orgChart1"/>
    <dgm:cxn modelId="{C055174F-7576-415D-AF57-8F3C8C9209BB}" srcId="{5332D95A-0BF2-4BDB-ADE5-60C5C2C21CBF}" destId="{5B22F537-F74D-497F-9086-86F7BC42489D}" srcOrd="1" destOrd="0" parTransId="{8C7C25BC-4529-42B3-944A-517DA66BBBB7}" sibTransId="{6BCD01DC-78D8-4CD1-BD62-0AB4BB214FAA}"/>
    <dgm:cxn modelId="{CC83A851-B5CE-4334-9C4A-1C2436FAEBD4}" srcId="{6E777740-7A3F-4142-831E-7643C65EA0B0}" destId="{2A05C783-90D2-4FAF-8AF7-C75786A53759}" srcOrd="0" destOrd="0" parTransId="{7D4AFE2A-9C84-4A3D-BFC2-852ADAEE91A3}" sibTransId="{5E22BFA2-44E4-4221-9736-73131F9446A4}"/>
    <dgm:cxn modelId="{E26C6174-ACB9-4F76-9138-E00A45573D3A}" type="presOf" srcId="{5B22F537-F74D-497F-9086-86F7BC42489D}" destId="{F1139AC6-8F8F-4167-9CA6-2577B41F2042}" srcOrd="1" destOrd="0" presId="urn:microsoft.com/office/officeart/2005/8/layout/orgChart1"/>
    <dgm:cxn modelId="{B9B67E56-00E8-4B8C-AD76-624D4B7561C9}" type="presOf" srcId="{8AEDD6B0-6FA1-4107-9753-8B6AC700516B}" destId="{F2EE5FF9-39DB-4212-A4EC-5EE1B3F05CDB}" srcOrd="1" destOrd="0" presId="urn:microsoft.com/office/officeart/2005/8/layout/orgChart1"/>
    <dgm:cxn modelId="{5C85CF82-6024-48B8-9050-5076DFD98A5A}" type="presOf" srcId="{B87CC03F-62BC-49BE-8F02-9DDF319FADA7}" destId="{AE8ECE71-E1C3-4E0F-A4D5-1DC466E27354}" srcOrd="0" destOrd="0" presId="urn:microsoft.com/office/officeart/2005/8/layout/orgChart1"/>
    <dgm:cxn modelId="{79048685-22FF-4F6F-A16D-89BA6DF3E043}" type="presOf" srcId="{F74BF978-4402-4E45-879E-E42419552C1B}" destId="{253E5F61-8C83-4A89-A32F-66CD6E93F79A}" srcOrd="0" destOrd="0" presId="urn:microsoft.com/office/officeart/2005/8/layout/orgChart1"/>
    <dgm:cxn modelId="{91225687-E293-42A4-A092-56CA43885DFE}" type="presOf" srcId="{38C82AF9-CF2A-4043-A0A4-E9F36DAC11FC}" destId="{71CF22D3-0ECC-4470-9B72-2C8D4E025A4A}" srcOrd="0" destOrd="0" presId="urn:microsoft.com/office/officeart/2005/8/layout/orgChart1"/>
    <dgm:cxn modelId="{7D6BA489-41EE-46FC-BF00-967CE5319212}" type="presOf" srcId="{2A05C783-90D2-4FAF-8AF7-C75786A53759}" destId="{31503BF9-9D05-429B-8D2A-5452339151D6}" srcOrd="1" destOrd="0" presId="urn:microsoft.com/office/officeart/2005/8/layout/orgChart1"/>
    <dgm:cxn modelId="{9A1A4F91-0A11-4107-949C-AE094372D5A4}" type="presOf" srcId="{F74BF978-4402-4E45-879E-E42419552C1B}" destId="{D4FD11E4-BFE5-43C9-8141-43186CC52EDF}" srcOrd="1" destOrd="0" presId="urn:microsoft.com/office/officeart/2005/8/layout/orgChart1"/>
    <dgm:cxn modelId="{2201B394-F0E2-40B4-BC35-1A570090A3C2}" srcId="{6E777740-7A3F-4142-831E-7643C65EA0B0}" destId="{5332D95A-0BF2-4BDB-ADE5-60C5C2C21CBF}" srcOrd="2" destOrd="0" parTransId="{7FEB43A0-6F39-4919-B1C2-A78DE573A429}" sibTransId="{B8DE457B-4A91-4B98-BD12-4EBF83A9BC9C}"/>
    <dgm:cxn modelId="{2A28E099-A567-4A5D-8DD9-6B4791398CC2}" type="presOf" srcId="{7BD609A3-7B92-4F90-9C03-57A0C29C9BF1}" destId="{7DCC2CAA-8DC1-4E83-9F85-074C97FC54B0}" srcOrd="0" destOrd="0" presId="urn:microsoft.com/office/officeart/2005/8/layout/orgChart1"/>
    <dgm:cxn modelId="{875C289A-684C-485B-A0DC-4E9498C9E8B3}" type="presOf" srcId="{8C7C25BC-4529-42B3-944A-517DA66BBBB7}" destId="{B8AA173F-6124-4280-AB07-EB746D462589}" srcOrd="0" destOrd="0" presId="urn:microsoft.com/office/officeart/2005/8/layout/orgChart1"/>
    <dgm:cxn modelId="{F6C0129D-BCF3-4336-87A8-2395EE800B58}" type="presOf" srcId="{E279D9F0-4F95-4CF5-B2EA-0ACC92CD4A68}" destId="{E3625481-15B4-4826-8498-81CD30A27E9A}" srcOrd="0" destOrd="0" presId="urn:microsoft.com/office/officeart/2005/8/layout/orgChart1"/>
    <dgm:cxn modelId="{35BBC19D-AA4E-48FE-8D8A-33EF09BA6A3B}" type="presOf" srcId="{99A65F56-CA3D-4776-8C0E-AEECC5B8141A}" destId="{878823C7-333D-4ED0-B6A9-9A728E94C447}" srcOrd="0" destOrd="0" presId="urn:microsoft.com/office/officeart/2005/8/layout/orgChart1"/>
    <dgm:cxn modelId="{106579A6-F3CF-4531-AF34-3206E1B5AB5C}" type="presOf" srcId="{5332D95A-0BF2-4BDB-ADE5-60C5C2C21CBF}" destId="{D9E714E4-292E-4DC6-AE00-F8FA82938E36}" srcOrd="1" destOrd="0" presId="urn:microsoft.com/office/officeart/2005/8/layout/orgChart1"/>
    <dgm:cxn modelId="{24FEADBD-E49E-49C6-ACE7-F67469C3BD9F}" type="presOf" srcId="{E7DB0F9A-BD22-4D46-A746-1A11511CD107}" destId="{523FE2DF-7206-4B84-93A6-05438C907480}" srcOrd="1" destOrd="0" presId="urn:microsoft.com/office/officeart/2005/8/layout/orgChart1"/>
    <dgm:cxn modelId="{FF8B84CA-B886-418A-88FA-EA4766445C38}" type="presOf" srcId="{680BAA41-BAD5-4A1E-80BB-E40AC54B5CA9}" destId="{95D17D22-14D7-4D38-93F0-CCEC82BAF650}" srcOrd="0" destOrd="0" presId="urn:microsoft.com/office/officeart/2005/8/layout/orgChart1"/>
    <dgm:cxn modelId="{17B8B5D1-2169-4F49-AEE7-A1C2A0AC5D38}" type="presOf" srcId="{F8F276B7-14E2-40D8-8192-4B6AE07C2A08}" destId="{4135ED16-F161-4DB8-B33D-562890EBD51A}" srcOrd="0" destOrd="0" presId="urn:microsoft.com/office/officeart/2005/8/layout/orgChart1"/>
    <dgm:cxn modelId="{0FDE88DB-E0E9-4C8C-AF25-B39706645122}" type="presOf" srcId="{D3D5A3F8-7417-41C9-AC12-A669DFC53221}" destId="{3D31A79B-D0BC-4AEB-93F9-37ABD37CDE88}" srcOrd="0" destOrd="0" presId="urn:microsoft.com/office/officeart/2005/8/layout/orgChart1"/>
    <dgm:cxn modelId="{92D1B0DC-F400-421F-89A3-ADA374DAAA1A}" type="presOf" srcId="{B87CC03F-62BC-49BE-8F02-9DDF319FADA7}" destId="{437C4729-6D83-4B26-A98B-0B318699AABB}" srcOrd="1" destOrd="0" presId="urn:microsoft.com/office/officeart/2005/8/layout/orgChart1"/>
    <dgm:cxn modelId="{E9EBCBE2-E837-4528-8D67-41BC728DDC49}" type="presOf" srcId="{8860210B-4460-4BA8-8DE6-5CABB4BA7AB0}" destId="{A220BFF0-8BE8-4F21-B9DE-8193E44B743D}" srcOrd="0" destOrd="0" presId="urn:microsoft.com/office/officeart/2005/8/layout/orgChart1"/>
    <dgm:cxn modelId="{BD0EF9E2-4041-41CE-A32A-7F98FD149501}" type="presOf" srcId="{5B22F537-F74D-497F-9086-86F7BC42489D}" destId="{9352D88F-6738-455C-8707-B61C46732078}" srcOrd="0" destOrd="0" presId="urn:microsoft.com/office/officeart/2005/8/layout/orgChart1"/>
    <dgm:cxn modelId="{0ADB74E3-C33D-42E8-A538-C8FB024D8079}" type="presOf" srcId="{316EFFD5-9C45-448A-BA92-DEAAB0C4B9E6}" destId="{12573B58-1CB7-4C6B-84F0-D6A0A80E4DAC}" srcOrd="0" destOrd="0" presId="urn:microsoft.com/office/officeart/2005/8/layout/orgChart1"/>
    <dgm:cxn modelId="{2260C5E7-F67F-4DF1-89A1-BAC44C4358BB}" srcId="{2A05C783-90D2-4FAF-8AF7-C75786A53759}" destId="{38C82AF9-CF2A-4043-A0A4-E9F36DAC11FC}" srcOrd="1" destOrd="0" parTransId="{C86C2BD1-C674-4BA7-A9CC-BF41015C47DB}" sibTransId="{3FDA6FF3-C01D-470C-B38E-AC9FE2A76181}"/>
    <dgm:cxn modelId="{9F1F20EC-3656-4B7D-B40A-75E7F25302F0}" type="presOf" srcId="{38C82AF9-CF2A-4043-A0A4-E9F36DAC11FC}" destId="{03A8D06D-B5B4-4E5C-B19A-4CEB19445411}" srcOrd="1" destOrd="0" presId="urn:microsoft.com/office/officeart/2005/8/layout/orgChart1"/>
    <dgm:cxn modelId="{4B8A2DF0-008F-4519-8517-4638407E8F80}" type="presOf" srcId="{6E777740-7A3F-4142-831E-7643C65EA0B0}" destId="{72F47C46-1649-45D2-B3B2-B689301494B9}" srcOrd="0" destOrd="0" presId="urn:microsoft.com/office/officeart/2005/8/layout/orgChart1"/>
    <dgm:cxn modelId="{EA6C2BF1-0F24-4EC7-9A71-2AABE4D45D75}" srcId="{2A05C783-90D2-4FAF-8AF7-C75786A53759}" destId="{8AEDD6B0-6FA1-4107-9753-8B6AC700516B}" srcOrd="0" destOrd="0" parTransId="{99A65F56-CA3D-4776-8C0E-AEECC5B8141A}" sibTransId="{A6C7DC0A-55A0-49FC-9E79-2836F51656A8}"/>
    <dgm:cxn modelId="{D3A914F2-A123-4C5D-95FA-2F7092B56515}" type="presOf" srcId="{5332D95A-0BF2-4BDB-ADE5-60C5C2C21CBF}" destId="{DE8FE64F-0E01-40E0-A020-D22B2901894B}" srcOrd="0" destOrd="0" presId="urn:microsoft.com/office/officeart/2005/8/layout/orgChart1"/>
    <dgm:cxn modelId="{F4CD0DF4-0A1D-443F-A3A3-A92FB54732FD}" srcId="{5332D95A-0BF2-4BDB-ADE5-60C5C2C21CBF}" destId="{B87CC03F-62BC-49BE-8F02-9DDF319FADA7}" srcOrd="0" destOrd="0" parTransId="{E279D9F0-4F95-4CF5-B2EA-0ACC92CD4A68}" sibTransId="{99F6FEFD-679E-485B-8384-C2A741B798DC}"/>
    <dgm:cxn modelId="{AE65BE34-055A-4C0C-A817-DB82CDB38113}" type="presParOf" srcId="{DB5725AF-1EC5-4919-ACF6-C3CC78B0015C}" destId="{28BC20F1-D699-4C7C-87B5-0F8ACE50AA97}" srcOrd="0" destOrd="0" presId="urn:microsoft.com/office/officeart/2005/8/layout/orgChart1"/>
    <dgm:cxn modelId="{D6AEF340-F49C-4EC4-BBF2-4D77D697367C}" type="presParOf" srcId="{28BC20F1-D699-4C7C-87B5-0F8ACE50AA97}" destId="{C278C21F-15C6-4F5E-AFC2-D6104A297512}" srcOrd="0" destOrd="0" presId="urn:microsoft.com/office/officeart/2005/8/layout/orgChart1"/>
    <dgm:cxn modelId="{D42066B0-1F1F-4D0A-9D47-C15F65664231}" type="presParOf" srcId="{C278C21F-15C6-4F5E-AFC2-D6104A297512}" destId="{72F47C46-1649-45D2-B3B2-B689301494B9}" srcOrd="0" destOrd="0" presId="urn:microsoft.com/office/officeart/2005/8/layout/orgChart1"/>
    <dgm:cxn modelId="{E94F4F20-A8B6-476A-B929-8BD45FCCAFB2}" type="presParOf" srcId="{C278C21F-15C6-4F5E-AFC2-D6104A297512}" destId="{1D0E9158-B5D6-4CA1-9530-DE0C2641E997}" srcOrd="1" destOrd="0" presId="urn:microsoft.com/office/officeart/2005/8/layout/orgChart1"/>
    <dgm:cxn modelId="{166E8DC2-B905-4BF6-9961-BCC07D5DEB3F}" type="presParOf" srcId="{28BC20F1-D699-4C7C-87B5-0F8ACE50AA97}" destId="{DF1324A8-F802-463A-B53B-6C0FFF44AD5B}" srcOrd="1" destOrd="0" presId="urn:microsoft.com/office/officeart/2005/8/layout/orgChart1"/>
    <dgm:cxn modelId="{7AE9EA5D-8096-4F2C-9FEB-23872164F5DA}" type="presParOf" srcId="{DF1324A8-F802-463A-B53B-6C0FFF44AD5B}" destId="{2128BCB4-900C-4F81-9C22-C9D228EE5768}" srcOrd="0" destOrd="0" presId="urn:microsoft.com/office/officeart/2005/8/layout/orgChart1"/>
    <dgm:cxn modelId="{779892D0-344D-4914-9C59-ADCC875B5344}" type="presParOf" srcId="{DF1324A8-F802-463A-B53B-6C0FFF44AD5B}" destId="{F7498D0C-1244-4DA9-A564-82C3D50E893A}" srcOrd="1" destOrd="0" presId="urn:microsoft.com/office/officeart/2005/8/layout/orgChart1"/>
    <dgm:cxn modelId="{57A94EB1-157D-4300-8B31-B66E0DFCE677}" type="presParOf" srcId="{F7498D0C-1244-4DA9-A564-82C3D50E893A}" destId="{3FAE7E52-4546-435D-8CE5-DCF71B8049F1}" srcOrd="0" destOrd="0" presId="urn:microsoft.com/office/officeart/2005/8/layout/orgChart1"/>
    <dgm:cxn modelId="{9FE683B2-544A-4846-8645-55D35AC303EF}" type="presParOf" srcId="{3FAE7E52-4546-435D-8CE5-DCF71B8049F1}" destId="{041F1680-A4E0-4CD0-9836-B0D47E085BB0}" srcOrd="0" destOrd="0" presId="urn:microsoft.com/office/officeart/2005/8/layout/orgChart1"/>
    <dgm:cxn modelId="{E77D939E-0127-4A80-8B82-901E80DAAFF5}" type="presParOf" srcId="{3FAE7E52-4546-435D-8CE5-DCF71B8049F1}" destId="{31503BF9-9D05-429B-8D2A-5452339151D6}" srcOrd="1" destOrd="0" presId="urn:microsoft.com/office/officeart/2005/8/layout/orgChart1"/>
    <dgm:cxn modelId="{4168EC6D-FCCC-4DB8-94A0-68E4C8D49F18}" type="presParOf" srcId="{F7498D0C-1244-4DA9-A564-82C3D50E893A}" destId="{F8C151EB-70BB-4A05-919A-8F90B0F1D307}" srcOrd="1" destOrd="0" presId="urn:microsoft.com/office/officeart/2005/8/layout/orgChart1"/>
    <dgm:cxn modelId="{A1CADDD3-472C-421F-A638-7E4C0F0F688F}" type="presParOf" srcId="{F8C151EB-70BB-4A05-919A-8F90B0F1D307}" destId="{878823C7-333D-4ED0-B6A9-9A728E94C447}" srcOrd="0" destOrd="0" presId="urn:microsoft.com/office/officeart/2005/8/layout/orgChart1"/>
    <dgm:cxn modelId="{53AD3813-596A-48D0-9211-C11CC72B6F6A}" type="presParOf" srcId="{F8C151EB-70BB-4A05-919A-8F90B0F1D307}" destId="{C2D9BA05-48B0-4BFB-AD1C-08F4F4E02588}" srcOrd="1" destOrd="0" presId="urn:microsoft.com/office/officeart/2005/8/layout/orgChart1"/>
    <dgm:cxn modelId="{1B35F966-0A5C-441E-862A-39BD96CEE7B3}" type="presParOf" srcId="{C2D9BA05-48B0-4BFB-AD1C-08F4F4E02588}" destId="{8E979A4C-E97D-4C7F-B236-375DE93E0AB5}" srcOrd="0" destOrd="0" presId="urn:microsoft.com/office/officeart/2005/8/layout/orgChart1"/>
    <dgm:cxn modelId="{B661D89D-8729-49AC-83D1-509301C0170A}" type="presParOf" srcId="{8E979A4C-E97D-4C7F-B236-375DE93E0AB5}" destId="{11D877DC-8B7B-4057-BF39-F2114C91074E}" srcOrd="0" destOrd="0" presId="urn:microsoft.com/office/officeart/2005/8/layout/orgChart1"/>
    <dgm:cxn modelId="{CA3EB267-FA65-4E3B-B525-9C8E19310998}" type="presParOf" srcId="{8E979A4C-E97D-4C7F-B236-375DE93E0AB5}" destId="{F2EE5FF9-39DB-4212-A4EC-5EE1B3F05CDB}" srcOrd="1" destOrd="0" presId="urn:microsoft.com/office/officeart/2005/8/layout/orgChart1"/>
    <dgm:cxn modelId="{859527FA-E81A-4B13-AD50-88904B5BE334}" type="presParOf" srcId="{C2D9BA05-48B0-4BFB-AD1C-08F4F4E02588}" destId="{47F7F49A-FE24-4990-8793-1390D28E2BA2}" srcOrd="1" destOrd="0" presId="urn:microsoft.com/office/officeart/2005/8/layout/orgChart1"/>
    <dgm:cxn modelId="{B18DB38A-AB66-498B-9700-619FF253D3AF}" type="presParOf" srcId="{C2D9BA05-48B0-4BFB-AD1C-08F4F4E02588}" destId="{495F9304-FC7B-4C01-AB4C-2E8D8685A861}" srcOrd="2" destOrd="0" presId="urn:microsoft.com/office/officeart/2005/8/layout/orgChart1"/>
    <dgm:cxn modelId="{70CD1439-AB21-41BD-86DC-E7491B898801}" type="presParOf" srcId="{F8C151EB-70BB-4A05-919A-8F90B0F1D307}" destId="{FFE7F211-828B-4EB1-A257-3FF514B99EDD}" srcOrd="2" destOrd="0" presId="urn:microsoft.com/office/officeart/2005/8/layout/orgChart1"/>
    <dgm:cxn modelId="{9215F2C0-B5E0-4B6E-B19C-3FF275E4E647}" type="presParOf" srcId="{F8C151EB-70BB-4A05-919A-8F90B0F1D307}" destId="{7BDB7216-C155-4127-AE47-DDBA5862E081}" srcOrd="3" destOrd="0" presId="urn:microsoft.com/office/officeart/2005/8/layout/orgChart1"/>
    <dgm:cxn modelId="{826A84E4-19EC-4911-93A3-F5429F49DA31}" type="presParOf" srcId="{7BDB7216-C155-4127-AE47-DDBA5862E081}" destId="{8C733071-2572-4228-AD4C-B46F4F9CE6C3}" srcOrd="0" destOrd="0" presId="urn:microsoft.com/office/officeart/2005/8/layout/orgChart1"/>
    <dgm:cxn modelId="{E0C655A4-56DB-4EAF-9F01-E8306BDEF7AF}" type="presParOf" srcId="{8C733071-2572-4228-AD4C-B46F4F9CE6C3}" destId="{71CF22D3-0ECC-4470-9B72-2C8D4E025A4A}" srcOrd="0" destOrd="0" presId="urn:microsoft.com/office/officeart/2005/8/layout/orgChart1"/>
    <dgm:cxn modelId="{9AFA140F-5FD2-474D-B53F-DC525651CB10}" type="presParOf" srcId="{8C733071-2572-4228-AD4C-B46F4F9CE6C3}" destId="{03A8D06D-B5B4-4E5C-B19A-4CEB19445411}" srcOrd="1" destOrd="0" presId="urn:microsoft.com/office/officeart/2005/8/layout/orgChart1"/>
    <dgm:cxn modelId="{A893A1FD-FD40-4EAC-9B23-02B385171B94}" type="presParOf" srcId="{7BDB7216-C155-4127-AE47-DDBA5862E081}" destId="{AC64ED48-4DD3-4B63-98B6-EE266FCED03E}" srcOrd="1" destOrd="0" presId="urn:microsoft.com/office/officeart/2005/8/layout/orgChart1"/>
    <dgm:cxn modelId="{50C7D821-B5B9-4BDC-A0C4-1CE18F4F6307}" type="presParOf" srcId="{7BDB7216-C155-4127-AE47-DDBA5862E081}" destId="{5A7CA61F-2C77-41ED-8E95-D74E7C6E7E14}" srcOrd="2" destOrd="0" presId="urn:microsoft.com/office/officeart/2005/8/layout/orgChart1"/>
    <dgm:cxn modelId="{956191A3-E69B-445E-A9D8-FA147B1BE116}" type="presParOf" srcId="{F8C151EB-70BB-4A05-919A-8F90B0F1D307}" destId="{4135ED16-F161-4DB8-B33D-562890EBD51A}" srcOrd="4" destOrd="0" presId="urn:microsoft.com/office/officeart/2005/8/layout/orgChart1"/>
    <dgm:cxn modelId="{C3FA323D-ACFC-4DA6-9A11-22A05EF05CC4}" type="presParOf" srcId="{F8C151EB-70BB-4A05-919A-8F90B0F1D307}" destId="{4A634586-AA27-4465-975B-0914AA102E25}" srcOrd="5" destOrd="0" presId="urn:microsoft.com/office/officeart/2005/8/layout/orgChart1"/>
    <dgm:cxn modelId="{D6F56250-F529-4C16-8F9F-E1CED35ADD1D}" type="presParOf" srcId="{4A634586-AA27-4465-975B-0914AA102E25}" destId="{ADDFF32E-0570-47CD-982D-BD60814DDA08}" srcOrd="0" destOrd="0" presId="urn:microsoft.com/office/officeart/2005/8/layout/orgChart1"/>
    <dgm:cxn modelId="{90807D4C-E5C7-4248-B33E-B2DA7BFC7F50}" type="presParOf" srcId="{ADDFF32E-0570-47CD-982D-BD60814DDA08}" destId="{5D2F0405-4BD2-4A4F-9AE8-D7F386EFE409}" srcOrd="0" destOrd="0" presId="urn:microsoft.com/office/officeart/2005/8/layout/orgChart1"/>
    <dgm:cxn modelId="{19B1359E-32AA-4A24-94A8-FFD5A4A4FE5B}" type="presParOf" srcId="{ADDFF32E-0570-47CD-982D-BD60814DDA08}" destId="{523FE2DF-7206-4B84-93A6-05438C907480}" srcOrd="1" destOrd="0" presId="urn:microsoft.com/office/officeart/2005/8/layout/orgChart1"/>
    <dgm:cxn modelId="{1AF126B1-DFBA-42B5-959A-F508796CFE71}" type="presParOf" srcId="{4A634586-AA27-4465-975B-0914AA102E25}" destId="{81FC54FC-4D08-434A-9F2E-A8AF6C5CE85C}" srcOrd="1" destOrd="0" presId="urn:microsoft.com/office/officeart/2005/8/layout/orgChart1"/>
    <dgm:cxn modelId="{46958575-E890-429A-9FA9-B715EDBDDB83}" type="presParOf" srcId="{4A634586-AA27-4465-975B-0914AA102E25}" destId="{39EC1656-2EF1-4733-AA6B-AF309B23354E}" srcOrd="2" destOrd="0" presId="urn:microsoft.com/office/officeart/2005/8/layout/orgChart1"/>
    <dgm:cxn modelId="{9268FC91-E515-448A-88A1-9027200FAB5F}" type="presParOf" srcId="{F7498D0C-1244-4DA9-A564-82C3D50E893A}" destId="{7399B9F6-ADD6-4B4F-AF9F-39BD221E76F3}" srcOrd="2" destOrd="0" presId="urn:microsoft.com/office/officeart/2005/8/layout/orgChart1"/>
    <dgm:cxn modelId="{6C2A8BE8-4CAA-451D-BC3A-3E40524985A0}" type="presParOf" srcId="{DF1324A8-F802-463A-B53B-6C0FFF44AD5B}" destId="{A58E041A-FD8A-4A19-B451-EF1257CD7038}" srcOrd="2" destOrd="0" presId="urn:microsoft.com/office/officeart/2005/8/layout/orgChart1"/>
    <dgm:cxn modelId="{AAAEC2D4-A8DF-46F7-842B-FF3C31F09049}" type="presParOf" srcId="{DF1324A8-F802-463A-B53B-6C0FFF44AD5B}" destId="{803A8269-87BA-4A8B-A5AC-A51D62359865}" srcOrd="3" destOrd="0" presId="urn:microsoft.com/office/officeart/2005/8/layout/orgChart1"/>
    <dgm:cxn modelId="{2B5C7FBE-F690-4A59-BD4F-1A6DB1881283}" type="presParOf" srcId="{803A8269-87BA-4A8B-A5AC-A51D62359865}" destId="{FB8E2DB7-AAAE-4CB4-85EB-55F60E282B00}" srcOrd="0" destOrd="0" presId="urn:microsoft.com/office/officeart/2005/8/layout/orgChart1"/>
    <dgm:cxn modelId="{8D7AA8F0-A52F-4F06-924E-C9C520495743}" type="presParOf" srcId="{FB8E2DB7-AAAE-4CB4-85EB-55F60E282B00}" destId="{12573B58-1CB7-4C6B-84F0-D6A0A80E4DAC}" srcOrd="0" destOrd="0" presId="urn:microsoft.com/office/officeart/2005/8/layout/orgChart1"/>
    <dgm:cxn modelId="{73933D7E-E3AA-4007-84D8-477B04BA3299}" type="presParOf" srcId="{FB8E2DB7-AAAE-4CB4-85EB-55F60E282B00}" destId="{03C302CC-B515-480D-A7C2-7534FCE4D839}" srcOrd="1" destOrd="0" presId="urn:microsoft.com/office/officeart/2005/8/layout/orgChart1"/>
    <dgm:cxn modelId="{5F9E3F36-01D3-4B91-9955-542FBD20A6DB}" type="presParOf" srcId="{803A8269-87BA-4A8B-A5AC-A51D62359865}" destId="{4618986F-49C4-4DFA-A9C4-6016A24ADF4B}" srcOrd="1" destOrd="0" presId="urn:microsoft.com/office/officeart/2005/8/layout/orgChart1"/>
    <dgm:cxn modelId="{673AD11A-B213-43FE-87BA-E909BE307BA3}" type="presParOf" srcId="{4618986F-49C4-4DFA-A9C4-6016A24ADF4B}" destId="{95D17D22-14D7-4D38-93F0-CCEC82BAF650}" srcOrd="0" destOrd="0" presId="urn:microsoft.com/office/officeart/2005/8/layout/orgChart1"/>
    <dgm:cxn modelId="{115B6DD2-C1E9-4124-9A92-821D93C0C89C}" type="presParOf" srcId="{4618986F-49C4-4DFA-A9C4-6016A24ADF4B}" destId="{37CCB7E9-A8FF-448B-B4A1-CCC82A298381}" srcOrd="1" destOrd="0" presId="urn:microsoft.com/office/officeart/2005/8/layout/orgChart1"/>
    <dgm:cxn modelId="{133896A0-6922-4557-B42C-64332DB0F4C5}" type="presParOf" srcId="{37CCB7E9-A8FF-448B-B4A1-CCC82A298381}" destId="{6C8980E9-B215-4A2C-AA78-666BCF01728F}" srcOrd="0" destOrd="0" presId="urn:microsoft.com/office/officeart/2005/8/layout/orgChart1"/>
    <dgm:cxn modelId="{963CE27C-EB2D-4C85-A08E-6557200D57FE}" type="presParOf" srcId="{6C8980E9-B215-4A2C-AA78-666BCF01728F}" destId="{A220BFF0-8BE8-4F21-B9DE-8193E44B743D}" srcOrd="0" destOrd="0" presId="urn:microsoft.com/office/officeart/2005/8/layout/orgChart1"/>
    <dgm:cxn modelId="{A29D8395-6DFB-48D9-96FF-C9B144DF6D8B}" type="presParOf" srcId="{6C8980E9-B215-4A2C-AA78-666BCF01728F}" destId="{C8479F16-2D8B-4441-AE11-9E4FFC046015}" srcOrd="1" destOrd="0" presId="urn:microsoft.com/office/officeart/2005/8/layout/orgChart1"/>
    <dgm:cxn modelId="{7013E661-6F70-4D45-9DC0-E93B86705C92}" type="presParOf" srcId="{37CCB7E9-A8FF-448B-B4A1-CCC82A298381}" destId="{7655DE7A-03FC-4278-B988-9159CB1C1F04}" srcOrd="1" destOrd="0" presId="urn:microsoft.com/office/officeart/2005/8/layout/orgChart1"/>
    <dgm:cxn modelId="{BCD0EF05-1763-4E81-ACB3-1A1F2FF61424}" type="presParOf" srcId="{37CCB7E9-A8FF-448B-B4A1-CCC82A298381}" destId="{94D130DE-4528-4C91-A9D2-5CF08F714F4B}" srcOrd="2" destOrd="0" presId="urn:microsoft.com/office/officeart/2005/8/layout/orgChart1"/>
    <dgm:cxn modelId="{449BC8DD-378C-43C0-BBC0-D6AE3AFC01AC}" type="presParOf" srcId="{4618986F-49C4-4DFA-A9C4-6016A24ADF4B}" destId="{7DCC2CAA-8DC1-4E83-9F85-074C97FC54B0}" srcOrd="2" destOrd="0" presId="urn:microsoft.com/office/officeart/2005/8/layout/orgChart1"/>
    <dgm:cxn modelId="{3BB30F0B-6839-4E15-99FD-0BE71D5223BF}" type="presParOf" srcId="{4618986F-49C4-4DFA-A9C4-6016A24ADF4B}" destId="{BA9D1967-17AC-412E-A1F7-AAA6066AFDB6}" srcOrd="3" destOrd="0" presId="urn:microsoft.com/office/officeart/2005/8/layout/orgChart1"/>
    <dgm:cxn modelId="{AA5E4087-65AB-4CC4-8E6D-A05D9152B012}" type="presParOf" srcId="{BA9D1967-17AC-412E-A1F7-AAA6066AFDB6}" destId="{FC5E629A-99A4-4C8B-B5CA-199047499475}" srcOrd="0" destOrd="0" presId="urn:microsoft.com/office/officeart/2005/8/layout/orgChart1"/>
    <dgm:cxn modelId="{560CE28B-D849-4BB1-97E6-4215794860B0}" type="presParOf" srcId="{FC5E629A-99A4-4C8B-B5CA-199047499475}" destId="{253E5F61-8C83-4A89-A32F-66CD6E93F79A}" srcOrd="0" destOrd="0" presId="urn:microsoft.com/office/officeart/2005/8/layout/orgChart1"/>
    <dgm:cxn modelId="{1B638426-F1BF-4E5A-BD9D-40BF51C5340A}" type="presParOf" srcId="{FC5E629A-99A4-4C8B-B5CA-199047499475}" destId="{D4FD11E4-BFE5-43C9-8141-43186CC52EDF}" srcOrd="1" destOrd="0" presId="urn:microsoft.com/office/officeart/2005/8/layout/orgChart1"/>
    <dgm:cxn modelId="{55673A2A-B818-4FD0-A9D7-4E16E36D9D75}" type="presParOf" srcId="{BA9D1967-17AC-412E-A1F7-AAA6066AFDB6}" destId="{EA18919C-D88F-49C4-9DD5-31BBD733B62F}" srcOrd="1" destOrd="0" presId="urn:microsoft.com/office/officeart/2005/8/layout/orgChart1"/>
    <dgm:cxn modelId="{DEF488F0-E086-4CEE-B03B-9BD9D98AE130}" type="presParOf" srcId="{BA9D1967-17AC-412E-A1F7-AAA6066AFDB6}" destId="{6054968D-878C-48B6-AB70-E3D5F58B3AF7}" srcOrd="2" destOrd="0" presId="urn:microsoft.com/office/officeart/2005/8/layout/orgChart1"/>
    <dgm:cxn modelId="{421268EA-B30F-4F68-A766-544A079093DF}" type="presParOf" srcId="{4618986F-49C4-4DFA-A9C4-6016A24ADF4B}" destId="{013B933E-C098-44B0-90C0-567CA1623B48}" srcOrd="4" destOrd="0" presId="urn:microsoft.com/office/officeart/2005/8/layout/orgChart1"/>
    <dgm:cxn modelId="{8BE5BC2F-F087-45F9-8A16-F2893847FA76}" type="presParOf" srcId="{4618986F-49C4-4DFA-A9C4-6016A24ADF4B}" destId="{81F686AB-309C-44AE-818B-68D9414A0E2F}" srcOrd="5" destOrd="0" presId="urn:microsoft.com/office/officeart/2005/8/layout/orgChart1"/>
    <dgm:cxn modelId="{F9566895-DBBA-4F0D-88A6-8947275026DF}" type="presParOf" srcId="{81F686AB-309C-44AE-818B-68D9414A0E2F}" destId="{33AF23A1-1DBB-4BC8-80B9-8176041B797F}" srcOrd="0" destOrd="0" presId="urn:microsoft.com/office/officeart/2005/8/layout/orgChart1"/>
    <dgm:cxn modelId="{CC71F3E7-369A-4528-B802-16ABB1686B6F}" type="presParOf" srcId="{33AF23A1-1DBB-4BC8-80B9-8176041B797F}" destId="{3D31A79B-D0BC-4AEB-93F9-37ABD37CDE88}" srcOrd="0" destOrd="0" presId="urn:microsoft.com/office/officeart/2005/8/layout/orgChart1"/>
    <dgm:cxn modelId="{BCD4EAA3-2ACF-495E-8632-6FCD9439EBDD}" type="presParOf" srcId="{33AF23A1-1DBB-4BC8-80B9-8176041B797F}" destId="{C417C389-1565-4646-B665-87CDFCC94162}" srcOrd="1" destOrd="0" presId="urn:microsoft.com/office/officeart/2005/8/layout/orgChart1"/>
    <dgm:cxn modelId="{A61CA921-00C8-486D-AEFB-10B0413E0C9B}" type="presParOf" srcId="{81F686AB-309C-44AE-818B-68D9414A0E2F}" destId="{9FDB542B-1E57-4541-911F-5E65D395D49B}" srcOrd="1" destOrd="0" presId="urn:microsoft.com/office/officeart/2005/8/layout/orgChart1"/>
    <dgm:cxn modelId="{1E333678-326A-4CD7-B456-0BECEDC15262}" type="presParOf" srcId="{81F686AB-309C-44AE-818B-68D9414A0E2F}" destId="{24AC782F-1501-46E1-9361-06C12DC2CD3B}" srcOrd="2" destOrd="0" presId="urn:microsoft.com/office/officeart/2005/8/layout/orgChart1"/>
    <dgm:cxn modelId="{E0BE97B2-EF53-4987-A540-B6625B127EC0}" type="presParOf" srcId="{803A8269-87BA-4A8B-A5AC-A51D62359865}" destId="{38776C72-6C5E-4FFD-9AA9-8734CCD924E5}" srcOrd="2" destOrd="0" presId="urn:microsoft.com/office/officeart/2005/8/layout/orgChart1"/>
    <dgm:cxn modelId="{5645D5FF-AE91-4011-90DE-11E0D3673BF3}" type="presParOf" srcId="{DF1324A8-F802-463A-B53B-6C0FFF44AD5B}" destId="{F3960283-DC7D-4E78-BCEE-86154FBF38C9}" srcOrd="4" destOrd="0" presId="urn:microsoft.com/office/officeart/2005/8/layout/orgChart1"/>
    <dgm:cxn modelId="{40E36629-A5A0-42D9-9061-3759BD4F5FBA}" type="presParOf" srcId="{DF1324A8-F802-463A-B53B-6C0FFF44AD5B}" destId="{B7971D10-9F7B-4D91-9732-369D984D45DD}" srcOrd="5" destOrd="0" presId="urn:microsoft.com/office/officeart/2005/8/layout/orgChart1"/>
    <dgm:cxn modelId="{9CC0C8A0-D088-44B9-B6C2-B69871E98175}" type="presParOf" srcId="{B7971D10-9F7B-4D91-9732-369D984D45DD}" destId="{202FB6D6-E2D6-4A33-93B3-25506F16F601}" srcOrd="0" destOrd="0" presId="urn:microsoft.com/office/officeart/2005/8/layout/orgChart1"/>
    <dgm:cxn modelId="{092027D1-C497-4E3A-AD1D-424CE6887541}" type="presParOf" srcId="{202FB6D6-E2D6-4A33-93B3-25506F16F601}" destId="{DE8FE64F-0E01-40E0-A020-D22B2901894B}" srcOrd="0" destOrd="0" presId="urn:microsoft.com/office/officeart/2005/8/layout/orgChart1"/>
    <dgm:cxn modelId="{52FD29A4-16B8-4E6F-9D9C-3A093AF04AC0}" type="presParOf" srcId="{202FB6D6-E2D6-4A33-93B3-25506F16F601}" destId="{D9E714E4-292E-4DC6-AE00-F8FA82938E36}" srcOrd="1" destOrd="0" presId="urn:microsoft.com/office/officeart/2005/8/layout/orgChart1"/>
    <dgm:cxn modelId="{09FE2092-D6B3-4D88-9DBA-ABDFD005CF1F}" type="presParOf" srcId="{B7971D10-9F7B-4D91-9732-369D984D45DD}" destId="{7296E365-F98C-4F69-9007-D389D52366AD}" srcOrd="1" destOrd="0" presId="urn:microsoft.com/office/officeart/2005/8/layout/orgChart1"/>
    <dgm:cxn modelId="{C6E3E936-F845-4804-904F-1E73C7EAB005}" type="presParOf" srcId="{7296E365-F98C-4F69-9007-D389D52366AD}" destId="{E3625481-15B4-4826-8498-81CD30A27E9A}" srcOrd="0" destOrd="0" presId="urn:microsoft.com/office/officeart/2005/8/layout/orgChart1"/>
    <dgm:cxn modelId="{4B934F69-D1A6-4F2D-8C05-7BF37194C3B0}" type="presParOf" srcId="{7296E365-F98C-4F69-9007-D389D52366AD}" destId="{0FD95DBA-2F63-408A-AC49-6F22DCBF4B5B}" srcOrd="1" destOrd="0" presId="urn:microsoft.com/office/officeart/2005/8/layout/orgChart1"/>
    <dgm:cxn modelId="{BBD47E95-7E97-44A6-B9F8-F5845121AFD9}" type="presParOf" srcId="{0FD95DBA-2F63-408A-AC49-6F22DCBF4B5B}" destId="{5AB1DF0C-064B-47B1-B8FB-7D5F585FE4E5}" srcOrd="0" destOrd="0" presId="urn:microsoft.com/office/officeart/2005/8/layout/orgChart1"/>
    <dgm:cxn modelId="{5DF6B057-CD3A-4B1A-9D7A-C32370433045}" type="presParOf" srcId="{5AB1DF0C-064B-47B1-B8FB-7D5F585FE4E5}" destId="{AE8ECE71-E1C3-4E0F-A4D5-1DC466E27354}" srcOrd="0" destOrd="0" presId="urn:microsoft.com/office/officeart/2005/8/layout/orgChart1"/>
    <dgm:cxn modelId="{910956E6-5966-4B6C-B855-D943E10E4312}" type="presParOf" srcId="{5AB1DF0C-064B-47B1-B8FB-7D5F585FE4E5}" destId="{437C4729-6D83-4B26-A98B-0B318699AABB}" srcOrd="1" destOrd="0" presId="urn:microsoft.com/office/officeart/2005/8/layout/orgChart1"/>
    <dgm:cxn modelId="{FB77A3CE-AF31-4854-8E90-7AB8950272A5}" type="presParOf" srcId="{0FD95DBA-2F63-408A-AC49-6F22DCBF4B5B}" destId="{7730557D-3E16-43F9-B3B2-B8D7B301687B}" srcOrd="1" destOrd="0" presId="urn:microsoft.com/office/officeart/2005/8/layout/orgChart1"/>
    <dgm:cxn modelId="{FEF3B789-4180-4814-AC54-1CCC3B4A4813}" type="presParOf" srcId="{0FD95DBA-2F63-408A-AC49-6F22DCBF4B5B}" destId="{43C3E496-9F7D-47DC-926E-A63281CD31F0}" srcOrd="2" destOrd="0" presId="urn:microsoft.com/office/officeart/2005/8/layout/orgChart1"/>
    <dgm:cxn modelId="{F6D225E9-78BE-493B-A7D4-B9AFC0F02972}" type="presParOf" srcId="{7296E365-F98C-4F69-9007-D389D52366AD}" destId="{B8AA173F-6124-4280-AB07-EB746D462589}" srcOrd="2" destOrd="0" presId="urn:microsoft.com/office/officeart/2005/8/layout/orgChart1"/>
    <dgm:cxn modelId="{88C5E36D-B187-48A5-B69D-0A19C9120EC9}" type="presParOf" srcId="{7296E365-F98C-4F69-9007-D389D52366AD}" destId="{6E3E3A37-96CB-4487-9D0D-9859BD9B5676}" srcOrd="3" destOrd="0" presId="urn:microsoft.com/office/officeart/2005/8/layout/orgChart1"/>
    <dgm:cxn modelId="{B6C44686-65F9-4C50-BC99-1C628036041A}" type="presParOf" srcId="{6E3E3A37-96CB-4487-9D0D-9859BD9B5676}" destId="{020CFE67-1BDC-484E-B30E-6F2705714412}" srcOrd="0" destOrd="0" presId="urn:microsoft.com/office/officeart/2005/8/layout/orgChart1"/>
    <dgm:cxn modelId="{A31EC0D2-FBB5-4242-B0A1-B1035E372CBF}" type="presParOf" srcId="{020CFE67-1BDC-484E-B30E-6F2705714412}" destId="{9352D88F-6738-455C-8707-B61C46732078}" srcOrd="0" destOrd="0" presId="urn:microsoft.com/office/officeart/2005/8/layout/orgChart1"/>
    <dgm:cxn modelId="{0F700A88-383E-4A93-A9A6-5467AF07FAF9}" type="presParOf" srcId="{020CFE67-1BDC-484E-B30E-6F2705714412}" destId="{F1139AC6-8F8F-4167-9CA6-2577B41F2042}" srcOrd="1" destOrd="0" presId="urn:microsoft.com/office/officeart/2005/8/layout/orgChart1"/>
    <dgm:cxn modelId="{FD65E8F9-FE3D-4041-B4EA-B4B3D66A628A}" type="presParOf" srcId="{6E3E3A37-96CB-4487-9D0D-9859BD9B5676}" destId="{D63D77DF-3CB8-4E1B-8019-90E9EF4EEF7F}" srcOrd="1" destOrd="0" presId="urn:microsoft.com/office/officeart/2005/8/layout/orgChart1"/>
    <dgm:cxn modelId="{5AF74F4D-7ABB-43E5-8E39-74C8395131C9}" type="presParOf" srcId="{6E3E3A37-96CB-4487-9D0D-9859BD9B5676}" destId="{044CB4CF-A74B-4B3A-8DB4-51865165515A}" srcOrd="2" destOrd="0" presId="urn:microsoft.com/office/officeart/2005/8/layout/orgChart1"/>
    <dgm:cxn modelId="{EC707587-95A9-42A0-B819-70B3DAD96BA0}" type="presParOf" srcId="{B7971D10-9F7B-4D91-9732-369D984D45DD}" destId="{47AE797E-2782-45A0-A1AA-F8963844A1F0}" srcOrd="2" destOrd="0" presId="urn:microsoft.com/office/officeart/2005/8/layout/orgChart1"/>
    <dgm:cxn modelId="{E934B4EA-715B-4B83-95F8-83C402D23D8E}" type="presParOf" srcId="{28BC20F1-D699-4C7C-87B5-0F8ACE50AA97}" destId="{DE4590E1-B8B7-42FA-90B1-7669CE9397A8}"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0C1120-31FD-4BC4-A2BF-503A8DE2D383}">
      <dsp:nvSpPr>
        <dsp:cNvPr id="0" name=""/>
        <dsp:cNvSpPr/>
      </dsp:nvSpPr>
      <dsp:spPr>
        <a:xfrm>
          <a:off x="3363" y="0"/>
          <a:ext cx="4049571" cy="517125"/>
        </a:xfrm>
        <a:prstGeom prst="homePlate">
          <a:avLst/>
        </a:prstGeom>
        <a:solidFill>
          <a:srgbClr val="FF888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l" defTabSz="711200">
            <a:lnSpc>
              <a:spcPct val="90000"/>
            </a:lnSpc>
            <a:spcBef>
              <a:spcPct val="0"/>
            </a:spcBef>
            <a:spcAft>
              <a:spcPct val="35000"/>
            </a:spcAft>
            <a:buNone/>
          </a:pPr>
          <a:r>
            <a:rPr lang="en-IN" sz="1600" b="1" kern="1200" dirty="0"/>
            <a:t>Campus ambassador programs</a:t>
          </a:r>
          <a:endParaRPr lang="en-US" sz="1600" b="1" kern="1200" dirty="0"/>
        </a:p>
      </dsp:txBody>
      <dsp:txXfrm>
        <a:off x="3363" y="0"/>
        <a:ext cx="3920290" cy="517125"/>
      </dsp:txXfrm>
    </dsp:sp>
    <dsp:sp modelId="{16B0C9C8-381E-478C-9E07-5A880BD9D2B0}">
      <dsp:nvSpPr>
        <dsp:cNvPr id="0" name=""/>
        <dsp:cNvSpPr/>
      </dsp:nvSpPr>
      <dsp:spPr>
        <a:xfrm>
          <a:off x="3057306" y="0"/>
          <a:ext cx="3040701" cy="517125"/>
        </a:xfrm>
        <a:prstGeom prst="chevron">
          <a:avLst/>
        </a:prstGeom>
        <a:solidFill>
          <a:srgbClr val="FF888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l" defTabSz="711200">
            <a:lnSpc>
              <a:spcPct val="90000"/>
            </a:lnSpc>
            <a:spcBef>
              <a:spcPct val="0"/>
            </a:spcBef>
            <a:spcAft>
              <a:spcPct val="35000"/>
            </a:spcAft>
            <a:buNone/>
          </a:pPr>
          <a:r>
            <a:rPr lang="en-IN" sz="1600" b="1" kern="1200" dirty="0"/>
            <a:t> Referral Program</a:t>
          </a:r>
          <a:endParaRPr lang="en-US" sz="1600" b="1" kern="1200" dirty="0"/>
        </a:p>
      </dsp:txBody>
      <dsp:txXfrm>
        <a:off x="3315869" y="0"/>
        <a:ext cx="2523576" cy="517125"/>
      </dsp:txXfrm>
    </dsp:sp>
    <dsp:sp modelId="{B684D860-61AD-4FC6-B4FC-81047BEFC75D}">
      <dsp:nvSpPr>
        <dsp:cNvPr id="0" name=""/>
        <dsp:cNvSpPr/>
      </dsp:nvSpPr>
      <dsp:spPr>
        <a:xfrm>
          <a:off x="5102378" y="0"/>
          <a:ext cx="3063401" cy="517125"/>
        </a:xfrm>
        <a:prstGeom prst="chevron">
          <a:avLst/>
        </a:prstGeom>
        <a:solidFill>
          <a:srgbClr val="FF888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l" defTabSz="711200">
            <a:lnSpc>
              <a:spcPct val="90000"/>
            </a:lnSpc>
            <a:spcBef>
              <a:spcPct val="0"/>
            </a:spcBef>
            <a:spcAft>
              <a:spcPct val="35000"/>
            </a:spcAft>
            <a:buNone/>
          </a:pPr>
          <a:r>
            <a:rPr lang="en-IN" sz="1600" b="1" kern="1200" dirty="0"/>
            <a:t> Exclusive content</a:t>
          </a:r>
          <a:endParaRPr lang="en-US" sz="1600" b="1" kern="1200" dirty="0"/>
        </a:p>
      </dsp:txBody>
      <dsp:txXfrm>
        <a:off x="5360941" y="0"/>
        <a:ext cx="2546276" cy="517125"/>
      </dsp:txXfrm>
    </dsp:sp>
    <dsp:sp modelId="{544675E2-06D0-48BB-8287-D08AEB64F370}">
      <dsp:nvSpPr>
        <dsp:cNvPr id="0" name=""/>
        <dsp:cNvSpPr/>
      </dsp:nvSpPr>
      <dsp:spPr>
        <a:xfrm>
          <a:off x="7170150" y="0"/>
          <a:ext cx="4978145" cy="517125"/>
        </a:xfrm>
        <a:prstGeom prst="chevron">
          <a:avLst/>
        </a:prstGeom>
        <a:solidFill>
          <a:srgbClr val="FF888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l" defTabSz="711200">
            <a:lnSpc>
              <a:spcPct val="90000"/>
            </a:lnSpc>
            <a:spcBef>
              <a:spcPct val="0"/>
            </a:spcBef>
            <a:spcAft>
              <a:spcPct val="35000"/>
            </a:spcAft>
            <a:buNone/>
          </a:pPr>
          <a:r>
            <a:rPr lang="en-IN" sz="1600" b="1" kern="1200" dirty="0"/>
            <a:t>Redeemable rewards or app coins with B2B collab</a:t>
          </a:r>
          <a:r>
            <a:rPr lang="en-IN" sz="1600" b="1" kern="1200" baseline="30000" dirty="0"/>
            <a:t>4</a:t>
          </a:r>
          <a:endParaRPr lang="en-US" sz="1600" b="1" kern="1200" baseline="30000" dirty="0"/>
        </a:p>
      </dsp:txBody>
      <dsp:txXfrm>
        <a:off x="7428713" y="0"/>
        <a:ext cx="4461020" cy="5171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AA173F-6124-4280-AB07-EB746D462589}">
      <dsp:nvSpPr>
        <dsp:cNvPr id="0" name=""/>
        <dsp:cNvSpPr/>
      </dsp:nvSpPr>
      <dsp:spPr>
        <a:xfrm>
          <a:off x="3725345" y="755101"/>
          <a:ext cx="184897" cy="1442196"/>
        </a:xfrm>
        <a:custGeom>
          <a:avLst/>
          <a:gdLst/>
          <a:ahLst/>
          <a:cxnLst/>
          <a:rect l="0" t="0" r="0" b="0"/>
          <a:pathLst>
            <a:path>
              <a:moveTo>
                <a:pt x="0" y="0"/>
              </a:moveTo>
              <a:lnTo>
                <a:pt x="0" y="1442196"/>
              </a:lnTo>
              <a:lnTo>
                <a:pt x="184897" y="144219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625481-15B4-4826-8498-81CD30A27E9A}">
      <dsp:nvSpPr>
        <dsp:cNvPr id="0" name=""/>
        <dsp:cNvSpPr/>
      </dsp:nvSpPr>
      <dsp:spPr>
        <a:xfrm>
          <a:off x="3725345" y="755101"/>
          <a:ext cx="184897" cy="567017"/>
        </a:xfrm>
        <a:custGeom>
          <a:avLst/>
          <a:gdLst/>
          <a:ahLst/>
          <a:cxnLst/>
          <a:rect l="0" t="0" r="0" b="0"/>
          <a:pathLst>
            <a:path>
              <a:moveTo>
                <a:pt x="0" y="0"/>
              </a:moveTo>
              <a:lnTo>
                <a:pt x="0" y="567017"/>
              </a:lnTo>
              <a:lnTo>
                <a:pt x="184897" y="56701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960283-DC7D-4E78-BCEE-86154FBF38C9}">
      <dsp:nvSpPr>
        <dsp:cNvPr id="0" name=""/>
        <dsp:cNvSpPr/>
      </dsp:nvSpPr>
      <dsp:spPr>
        <a:xfrm>
          <a:off x="2726901" y="248976"/>
          <a:ext cx="1491502" cy="258855"/>
        </a:xfrm>
        <a:custGeom>
          <a:avLst/>
          <a:gdLst/>
          <a:ahLst/>
          <a:cxnLst/>
          <a:rect l="0" t="0" r="0" b="0"/>
          <a:pathLst>
            <a:path>
              <a:moveTo>
                <a:pt x="0" y="0"/>
              </a:moveTo>
              <a:lnTo>
                <a:pt x="0" y="129427"/>
              </a:lnTo>
              <a:lnTo>
                <a:pt x="1491502" y="129427"/>
              </a:lnTo>
              <a:lnTo>
                <a:pt x="1491502" y="25885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13B933E-C098-44B0-90C0-567CA1623B48}">
      <dsp:nvSpPr>
        <dsp:cNvPr id="0" name=""/>
        <dsp:cNvSpPr/>
      </dsp:nvSpPr>
      <dsp:spPr>
        <a:xfrm>
          <a:off x="2233842" y="755101"/>
          <a:ext cx="184897" cy="2317376"/>
        </a:xfrm>
        <a:custGeom>
          <a:avLst/>
          <a:gdLst/>
          <a:ahLst/>
          <a:cxnLst/>
          <a:rect l="0" t="0" r="0" b="0"/>
          <a:pathLst>
            <a:path>
              <a:moveTo>
                <a:pt x="0" y="0"/>
              </a:moveTo>
              <a:lnTo>
                <a:pt x="0" y="2317376"/>
              </a:lnTo>
              <a:lnTo>
                <a:pt x="184897" y="231737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CC2CAA-8DC1-4E83-9F85-074C97FC54B0}">
      <dsp:nvSpPr>
        <dsp:cNvPr id="0" name=""/>
        <dsp:cNvSpPr/>
      </dsp:nvSpPr>
      <dsp:spPr>
        <a:xfrm>
          <a:off x="2233842" y="755101"/>
          <a:ext cx="184897" cy="1442196"/>
        </a:xfrm>
        <a:custGeom>
          <a:avLst/>
          <a:gdLst/>
          <a:ahLst/>
          <a:cxnLst/>
          <a:rect l="0" t="0" r="0" b="0"/>
          <a:pathLst>
            <a:path>
              <a:moveTo>
                <a:pt x="0" y="0"/>
              </a:moveTo>
              <a:lnTo>
                <a:pt x="0" y="1442196"/>
              </a:lnTo>
              <a:lnTo>
                <a:pt x="184897" y="144219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5D17D22-14D7-4D38-93F0-CCEC82BAF650}">
      <dsp:nvSpPr>
        <dsp:cNvPr id="0" name=""/>
        <dsp:cNvSpPr/>
      </dsp:nvSpPr>
      <dsp:spPr>
        <a:xfrm>
          <a:off x="2233842" y="755101"/>
          <a:ext cx="184897" cy="567017"/>
        </a:xfrm>
        <a:custGeom>
          <a:avLst/>
          <a:gdLst/>
          <a:ahLst/>
          <a:cxnLst/>
          <a:rect l="0" t="0" r="0" b="0"/>
          <a:pathLst>
            <a:path>
              <a:moveTo>
                <a:pt x="0" y="0"/>
              </a:moveTo>
              <a:lnTo>
                <a:pt x="0" y="567017"/>
              </a:lnTo>
              <a:lnTo>
                <a:pt x="184897" y="56701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58E041A-FD8A-4A19-B451-EF1257CD7038}">
      <dsp:nvSpPr>
        <dsp:cNvPr id="0" name=""/>
        <dsp:cNvSpPr/>
      </dsp:nvSpPr>
      <dsp:spPr>
        <a:xfrm>
          <a:off x="2681181" y="248976"/>
          <a:ext cx="91440" cy="258855"/>
        </a:xfrm>
        <a:custGeom>
          <a:avLst/>
          <a:gdLst/>
          <a:ahLst/>
          <a:cxnLst/>
          <a:rect l="0" t="0" r="0" b="0"/>
          <a:pathLst>
            <a:path>
              <a:moveTo>
                <a:pt x="45720" y="0"/>
              </a:moveTo>
              <a:lnTo>
                <a:pt x="45720" y="25885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135ED16-F161-4DB8-B33D-562890EBD51A}">
      <dsp:nvSpPr>
        <dsp:cNvPr id="0" name=""/>
        <dsp:cNvSpPr/>
      </dsp:nvSpPr>
      <dsp:spPr>
        <a:xfrm>
          <a:off x="742340" y="755101"/>
          <a:ext cx="184897" cy="2317376"/>
        </a:xfrm>
        <a:custGeom>
          <a:avLst/>
          <a:gdLst/>
          <a:ahLst/>
          <a:cxnLst/>
          <a:rect l="0" t="0" r="0" b="0"/>
          <a:pathLst>
            <a:path>
              <a:moveTo>
                <a:pt x="0" y="0"/>
              </a:moveTo>
              <a:lnTo>
                <a:pt x="0" y="2317376"/>
              </a:lnTo>
              <a:lnTo>
                <a:pt x="184897" y="231737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E7F211-828B-4EB1-A257-3FF514B99EDD}">
      <dsp:nvSpPr>
        <dsp:cNvPr id="0" name=""/>
        <dsp:cNvSpPr/>
      </dsp:nvSpPr>
      <dsp:spPr>
        <a:xfrm>
          <a:off x="742340" y="755101"/>
          <a:ext cx="184897" cy="1442196"/>
        </a:xfrm>
        <a:custGeom>
          <a:avLst/>
          <a:gdLst/>
          <a:ahLst/>
          <a:cxnLst/>
          <a:rect l="0" t="0" r="0" b="0"/>
          <a:pathLst>
            <a:path>
              <a:moveTo>
                <a:pt x="0" y="0"/>
              </a:moveTo>
              <a:lnTo>
                <a:pt x="0" y="1442196"/>
              </a:lnTo>
              <a:lnTo>
                <a:pt x="184897" y="144219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78823C7-333D-4ED0-B6A9-9A728E94C447}">
      <dsp:nvSpPr>
        <dsp:cNvPr id="0" name=""/>
        <dsp:cNvSpPr/>
      </dsp:nvSpPr>
      <dsp:spPr>
        <a:xfrm>
          <a:off x="742340" y="755101"/>
          <a:ext cx="184897" cy="567017"/>
        </a:xfrm>
        <a:custGeom>
          <a:avLst/>
          <a:gdLst/>
          <a:ahLst/>
          <a:cxnLst/>
          <a:rect l="0" t="0" r="0" b="0"/>
          <a:pathLst>
            <a:path>
              <a:moveTo>
                <a:pt x="0" y="0"/>
              </a:moveTo>
              <a:lnTo>
                <a:pt x="0" y="567017"/>
              </a:lnTo>
              <a:lnTo>
                <a:pt x="184897" y="56701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128BCB4-900C-4F81-9C22-C9D228EE5768}">
      <dsp:nvSpPr>
        <dsp:cNvPr id="0" name=""/>
        <dsp:cNvSpPr/>
      </dsp:nvSpPr>
      <dsp:spPr>
        <a:xfrm>
          <a:off x="1235398" y="248976"/>
          <a:ext cx="1491502" cy="258855"/>
        </a:xfrm>
        <a:custGeom>
          <a:avLst/>
          <a:gdLst/>
          <a:ahLst/>
          <a:cxnLst/>
          <a:rect l="0" t="0" r="0" b="0"/>
          <a:pathLst>
            <a:path>
              <a:moveTo>
                <a:pt x="1491502" y="0"/>
              </a:moveTo>
              <a:lnTo>
                <a:pt x="1491502" y="129427"/>
              </a:lnTo>
              <a:lnTo>
                <a:pt x="0" y="129427"/>
              </a:lnTo>
              <a:lnTo>
                <a:pt x="0" y="25885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F47C46-1649-45D2-B3B2-B689301494B9}">
      <dsp:nvSpPr>
        <dsp:cNvPr id="0" name=""/>
        <dsp:cNvSpPr/>
      </dsp:nvSpPr>
      <dsp:spPr>
        <a:xfrm>
          <a:off x="2110578" y="1707"/>
          <a:ext cx="1232646" cy="247268"/>
        </a:xfrm>
        <a:prstGeom prst="rect">
          <a:avLst/>
        </a:prstGeom>
        <a:solidFill>
          <a:srgbClr val="E01F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kern="1200" dirty="0"/>
            <a:t>Customers</a:t>
          </a:r>
          <a:endParaRPr lang="en-US" sz="1600" kern="1200" dirty="0"/>
        </a:p>
      </dsp:txBody>
      <dsp:txXfrm>
        <a:off x="2110578" y="1707"/>
        <a:ext cx="1232646" cy="247268"/>
      </dsp:txXfrm>
    </dsp:sp>
    <dsp:sp modelId="{041F1680-A4E0-4CD0-9836-B0D47E085BB0}">
      <dsp:nvSpPr>
        <dsp:cNvPr id="0" name=""/>
        <dsp:cNvSpPr/>
      </dsp:nvSpPr>
      <dsp:spPr>
        <a:xfrm>
          <a:off x="619075" y="507832"/>
          <a:ext cx="1232646" cy="247268"/>
        </a:xfrm>
        <a:prstGeom prst="rect">
          <a:avLst/>
        </a:prstGeom>
        <a:solidFill>
          <a:srgbClr val="E01F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kern="1200" dirty="0"/>
            <a:t>Students</a:t>
          </a:r>
          <a:endParaRPr lang="en-US" sz="1600" kern="1200" dirty="0"/>
        </a:p>
      </dsp:txBody>
      <dsp:txXfrm>
        <a:off x="619075" y="507832"/>
        <a:ext cx="1232646" cy="247268"/>
      </dsp:txXfrm>
    </dsp:sp>
    <dsp:sp modelId="{11D877DC-8B7B-4057-BF39-F2114C91074E}">
      <dsp:nvSpPr>
        <dsp:cNvPr id="0" name=""/>
        <dsp:cNvSpPr/>
      </dsp:nvSpPr>
      <dsp:spPr>
        <a:xfrm>
          <a:off x="927237" y="1013957"/>
          <a:ext cx="1232646" cy="616323"/>
        </a:xfrm>
        <a:prstGeom prst="rect">
          <a:avLst/>
        </a:prstGeom>
        <a:solidFill>
          <a:srgbClr val="E01F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kern="1200" dirty="0"/>
            <a:t>Placement Guidance**</a:t>
          </a:r>
          <a:endParaRPr lang="en-US" sz="1600" kern="1200" dirty="0"/>
        </a:p>
      </dsp:txBody>
      <dsp:txXfrm>
        <a:off x="927237" y="1013957"/>
        <a:ext cx="1232646" cy="616323"/>
      </dsp:txXfrm>
    </dsp:sp>
    <dsp:sp modelId="{71CF22D3-0ECC-4470-9B72-2C8D4E025A4A}">
      <dsp:nvSpPr>
        <dsp:cNvPr id="0" name=""/>
        <dsp:cNvSpPr/>
      </dsp:nvSpPr>
      <dsp:spPr>
        <a:xfrm>
          <a:off x="927237" y="1889136"/>
          <a:ext cx="1232646" cy="616323"/>
        </a:xfrm>
        <a:prstGeom prst="rect">
          <a:avLst/>
        </a:prstGeom>
        <a:solidFill>
          <a:srgbClr val="E01F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kern="1200" dirty="0"/>
            <a:t>Student discussion forum**</a:t>
          </a:r>
          <a:endParaRPr lang="en-US" sz="1600" kern="1200" dirty="0"/>
        </a:p>
      </dsp:txBody>
      <dsp:txXfrm>
        <a:off x="927237" y="1889136"/>
        <a:ext cx="1232646" cy="616323"/>
      </dsp:txXfrm>
    </dsp:sp>
    <dsp:sp modelId="{5D2F0405-4BD2-4A4F-9AE8-D7F386EFE409}">
      <dsp:nvSpPr>
        <dsp:cNvPr id="0" name=""/>
        <dsp:cNvSpPr/>
      </dsp:nvSpPr>
      <dsp:spPr>
        <a:xfrm>
          <a:off x="927237" y="2764315"/>
          <a:ext cx="1232646" cy="616323"/>
        </a:xfrm>
        <a:prstGeom prst="rect">
          <a:avLst/>
        </a:prstGeom>
        <a:solidFill>
          <a:srgbClr val="E01F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kern="1200" dirty="0"/>
            <a:t>Business news vertical***</a:t>
          </a:r>
          <a:endParaRPr lang="en-US" sz="1600" kern="1200" dirty="0"/>
        </a:p>
      </dsp:txBody>
      <dsp:txXfrm>
        <a:off x="927237" y="2764315"/>
        <a:ext cx="1232646" cy="616323"/>
      </dsp:txXfrm>
    </dsp:sp>
    <dsp:sp modelId="{12573B58-1CB7-4C6B-84F0-D6A0A80E4DAC}">
      <dsp:nvSpPr>
        <dsp:cNvPr id="0" name=""/>
        <dsp:cNvSpPr/>
      </dsp:nvSpPr>
      <dsp:spPr>
        <a:xfrm>
          <a:off x="2110578" y="507832"/>
          <a:ext cx="1232646" cy="247268"/>
        </a:xfrm>
        <a:prstGeom prst="rect">
          <a:avLst/>
        </a:prstGeom>
        <a:solidFill>
          <a:srgbClr val="E01F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kern="1200" dirty="0"/>
            <a:t>Institutional</a:t>
          </a:r>
          <a:endParaRPr lang="en-US" sz="1600" kern="1200" dirty="0"/>
        </a:p>
      </dsp:txBody>
      <dsp:txXfrm>
        <a:off x="2110578" y="507832"/>
        <a:ext cx="1232646" cy="247268"/>
      </dsp:txXfrm>
    </dsp:sp>
    <dsp:sp modelId="{A220BFF0-8BE8-4F21-B9DE-8193E44B743D}">
      <dsp:nvSpPr>
        <dsp:cNvPr id="0" name=""/>
        <dsp:cNvSpPr/>
      </dsp:nvSpPr>
      <dsp:spPr>
        <a:xfrm>
          <a:off x="2418739" y="1013957"/>
          <a:ext cx="1232646" cy="616323"/>
        </a:xfrm>
        <a:prstGeom prst="rect">
          <a:avLst/>
        </a:prstGeom>
        <a:solidFill>
          <a:srgbClr val="E01F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kern="1200" dirty="0"/>
            <a:t>Certification packages**</a:t>
          </a:r>
          <a:endParaRPr lang="en-US" sz="1400" kern="1200" dirty="0"/>
        </a:p>
      </dsp:txBody>
      <dsp:txXfrm>
        <a:off x="2418739" y="1013957"/>
        <a:ext cx="1232646" cy="616323"/>
      </dsp:txXfrm>
    </dsp:sp>
    <dsp:sp modelId="{253E5F61-8C83-4A89-A32F-66CD6E93F79A}">
      <dsp:nvSpPr>
        <dsp:cNvPr id="0" name=""/>
        <dsp:cNvSpPr/>
      </dsp:nvSpPr>
      <dsp:spPr>
        <a:xfrm>
          <a:off x="2418739" y="1889136"/>
          <a:ext cx="1232646" cy="616323"/>
        </a:xfrm>
        <a:prstGeom prst="rect">
          <a:avLst/>
        </a:prstGeom>
        <a:solidFill>
          <a:srgbClr val="E01F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kern="1200" dirty="0"/>
            <a:t>Career development outsourcing**</a:t>
          </a:r>
          <a:endParaRPr lang="en-US" sz="1400" kern="1200" dirty="0"/>
        </a:p>
      </dsp:txBody>
      <dsp:txXfrm>
        <a:off x="2418739" y="1889136"/>
        <a:ext cx="1232646" cy="616323"/>
      </dsp:txXfrm>
    </dsp:sp>
    <dsp:sp modelId="{3D31A79B-D0BC-4AEB-93F9-37ABD37CDE88}">
      <dsp:nvSpPr>
        <dsp:cNvPr id="0" name=""/>
        <dsp:cNvSpPr/>
      </dsp:nvSpPr>
      <dsp:spPr>
        <a:xfrm>
          <a:off x="2418739" y="2764315"/>
          <a:ext cx="1232646" cy="616323"/>
        </a:xfrm>
        <a:prstGeom prst="rect">
          <a:avLst/>
        </a:prstGeom>
        <a:solidFill>
          <a:srgbClr val="E01F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kern="1200" dirty="0"/>
            <a:t>Corporate connect*</a:t>
          </a:r>
          <a:endParaRPr lang="en-US" sz="1400" kern="1200" dirty="0"/>
        </a:p>
      </dsp:txBody>
      <dsp:txXfrm>
        <a:off x="2418739" y="2764315"/>
        <a:ext cx="1232646" cy="616323"/>
      </dsp:txXfrm>
    </dsp:sp>
    <dsp:sp modelId="{DE8FE64F-0E01-40E0-A020-D22B2901894B}">
      <dsp:nvSpPr>
        <dsp:cNvPr id="0" name=""/>
        <dsp:cNvSpPr/>
      </dsp:nvSpPr>
      <dsp:spPr>
        <a:xfrm>
          <a:off x="3602080" y="507832"/>
          <a:ext cx="1232646" cy="247268"/>
        </a:xfrm>
        <a:prstGeom prst="rect">
          <a:avLst/>
        </a:prstGeom>
        <a:solidFill>
          <a:srgbClr val="E01F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kern="1200" dirty="0"/>
            <a:t>Corporates</a:t>
          </a:r>
          <a:endParaRPr lang="en-US" sz="1600" kern="1200" dirty="0"/>
        </a:p>
      </dsp:txBody>
      <dsp:txXfrm>
        <a:off x="3602080" y="507832"/>
        <a:ext cx="1232646" cy="247268"/>
      </dsp:txXfrm>
    </dsp:sp>
    <dsp:sp modelId="{AE8ECE71-E1C3-4E0F-A4D5-1DC466E27354}">
      <dsp:nvSpPr>
        <dsp:cNvPr id="0" name=""/>
        <dsp:cNvSpPr/>
      </dsp:nvSpPr>
      <dsp:spPr>
        <a:xfrm>
          <a:off x="3910242" y="1013957"/>
          <a:ext cx="1232646" cy="616323"/>
        </a:xfrm>
        <a:prstGeom prst="rect">
          <a:avLst/>
        </a:prstGeom>
        <a:solidFill>
          <a:srgbClr val="E01F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kern="1200" dirty="0"/>
            <a:t>Best in the industry talent***</a:t>
          </a:r>
          <a:endParaRPr lang="en-US" sz="1400" kern="1200" dirty="0"/>
        </a:p>
      </dsp:txBody>
      <dsp:txXfrm>
        <a:off x="3910242" y="1013957"/>
        <a:ext cx="1232646" cy="616323"/>
      </dsp:txXfrm>
    </dsp:sp>
    <dsp:sp modelId="{9352D88F-6738-455C-8707-B61C46732078}">
      <dsp:nvSpPr>
        <dsp:cNvPr id="0" name=""/>
        <dsp:cNvSpPr/>
      </dsp:nvSpPr>
      <dsp:spPr>
        <a:xfrm>
          <a:off x="3910242" y="1889136"/>
          <a:ext cx="1232646" cy="616323"/>
        </a:xfrm>
        <a:prstGeom prst="rect">
          <a:avLst/>
        </a:prstGeom>
        <a:solidFill>
          <a:srgbClr val="E01F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kern="1200" dirty="0"/>
            <a:t>Short term projects help***</a:t>
          </a:r>
          <a:endParaRPr lang="en-US" sz="1400" kern="1200" dirty="0"/>
        </a:p>
      </dsp:txBody>
      <dsp:txXfrm>
        <a:off x="3910242" y="1889136"/>
        <a:ext cx="1232646" cy="616323"/>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8E4B2B-6F38-419A-83F3-154DF14E3239}" type="datetimeFigureOut">
              <a:rPr lang="en-IN" smtClean="0"/>
              <a:t>03-09-2022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6E3E35-DAD5-45B1-8698-5C0112E5C838}" type="slidenum">
              <a:rPr lang="en-IN" smtClean="0"/>
              <a:t>‹#›</a:t>
            </a:fld>
            <a:endParaRPr lang="en-IN"/>
          </a:p>
        </p:txBody>
      </p:sp>
    </p:spTree>
    <p:extLst>
      <p:ext uri="{BB962C8B-B14F-4D97-AF65-F5344CB8AC3E}">
        <p14:creationId xmlns:p14="http://schemas.microsoft.com/office/powerpoint/2010/main" val="2806137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C6E3E35-DAD5-45B1-8698-5C0112E5C838}" type="slidenum">
              <a:rPr lang="en-IN" smtClean="0"/>
              <a:t>1</a:t>
            </a:fld>
            <a:endParaRPr lang="en-IN"/>
          </a:p>
        </p:txBody>
      </p:sp>
    </p:spTree>
    <p:extLst>
      <p:ext uri="{BB962C8B-B14F-4D97-AF65-F5344CB8AC3E}">
        <p14:creationId xmlns:p14="http://schemas.microsoft.com/office/powerpoint/2010/main" val="2264584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2662518"/>
            <a:ext cx="12192000" cy="931678"/>
          </a:xfrm>
          <a:prstGeom prst="rect">
            <a:avLst/>
          </a:prstGeom>
        </p:spPr>
        <p:txBody>
          <a:bodyPr anchor="b"/>
          <a:lstStyle>
            <a:lvl1pPr algn="ctr">
              <a:defRPr sz="6000" b="1">
                <a:solidFill>
                  <a:srgbClr val="0070C0"/>
                </a:solidFill>
              </a:defRPr>
            </a:lvl1pPr>
          </a:lstStyle>
          <a:p>
            <a:r>
              <a:rPr lang="en-IN" dirty="0"/>
              <a:t>YUGMA</a:t>
            </a:r>
          </a:p>
        </p:txBody>
      </p:sp>
    </p:spTree>
    <p:extLst>
      <p:ext uri="{BB962C8B-B14F-4D97-AF65-F5344CB8AC3E}">
        <p14:creationId xmlns:p14="http://schemas.microsoft.com/office/powerpoint/2010/main" val="3305866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06071" y="212726"/>
            <a:ext cx="8650942" cy="558240"/>
          </a:xfrm>
          <a:prstGeom prst="rect">
            <a:avLst/>
          </a:prstGeom>
        </p:spPr>
        <p:txBody>
          <a:bodyPr/>
          <a:lstStyle>
            <a:lvl1pPr algn="ctr">
              <a:defRPr sz="3600">
                <a:solidFill>
                  <a:srgbClr val="0070C0"/>
                </a:solidFill>
              </a:defRPr>
            </a:lvl1pPr>
          </a:lstStyle>
          <a:p>
            <a:r>
              <a:rPr lang="en-US" dirty="0"/>
              <a:t>Click to edit Master title style</a:t>
            </a:r>
            <a:endParaRPr lang="en-IN" dirty="0"/>
          </a:p>
        </p:txBody>
      </p:sp>
      <p:sp>
        <p:nvSpPr>
          <p:cNvPr id="3" name="Content Placeholder 2"/>
          <p:cNvSpPr>
            <a:spLocks noGrp="1"/>
          </p:cNvSpPr>
          <p:nvPr>
            <p:ph idx="1"/>
          </p:nvPr>
        </p:nvSpPr>
        <p:spPr>
          <a:xfrm>
            <a:off x="215153" y="1156447"/>
            <a:ext cx="11698941" cy="5378823"/>
          </a:xfrm>
          <a:prstGeom prst="rect">
            <a:avLst/>
          </a:prstGeom>
        </p:spPr>
        <p:txBody>
          <a:bodyPr/>
          <a:lstStyle>
            <a:lvl1pPr>
              <a:defRPr sz="1800"/>
            </a:lvl1pPr>
            <a:lvl2pPr>
              <a:defRPr sz="1800"/>
            </a:lvl2pPr>
            <a:lvl3pPr>
              <a:defRPr sz="1800"/>
            </a:lvl3pPr>
            <a:lvl4pPr>
              <a:defRPr sz="1800"/>
            </a:lvl4pPr>
            <a:lvl5pPr>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cxnSp>
        <p:nvCxnSpPr>
          <p:cNvPr id="8" name="Straight Connector 7"/>
          <p:cNvCxnSpPr/>
          <p:nvPr userDrawn="1"/>
        </p:nvCxnSpPr>
        <p:spPr>
          <a:xfrm flipV="1">
            <a:off x="0" y="896471"/>
            <a:ext cx="12192000" cy="44823"/>
          </a:xfrm>
          <a:prstGeom prst="line">
            <a:avLst/>
          </a:prstGeom>
        </p:spPr>
        <p:style>
          <a:lnRef idx="1">
            <a:schemeClr val="accent3"/>
          </a:lnRef>
          <a:fillRef idx="0">
            <a:schemeClr val="accent3"/>
          </a:fillRef>
          <a:effectRef idx="0">
            <a:schemeClr val="accent3"/>
          </a:effectRef>
          <a:fontRef idx="minor">
            <a:schemeClr val="tx1"/>
          </a:fontRef>
        </p:style>
      </p:cxnSp>
      <p:sp>
        <p:nvSpPr>
          <p:cNvPr id="9" name="Slide Number Placeholder 15"/>
          <p:cNvSpPr>
            <a:spLocks noGrp="1"/>
          </p:cNvSpPr>
          <p:nvPr>
            <p:ph type="sldNum" sz="quarter" idx="4"/>
          </p:nvPr>
        </p:nvSpPr>
        <p:spPr>
          <a:xfrm>
            <a:off x="4764741" y="6590141"/>
            <a:ext cx="2743200" cy="268400"/>
          </a:xfrm>
          <a:prstGeom prst="rect">
            <a:avLst/>
          </a:prstGeom>
        </p:spPr>
        <p:txBody>
          <a:bodyPr vert="horz" lIns="91440" tIns="45720" rIns="91440" bIns="45720" rtlCol="0" anchor="ctr"/>
          <a:lstStyle>
            <a:lvl1pPr algn="ctr">
              <a:defRPr sz="1200">
                <a:solidFill>
                  <a:schemeClr val="tx1">
                    <a:tint val="75000"/>
                  </a:schemeClr>
                </a:solidFill>
              </a:defRPr>
            </a:lvl1pPr>
          </a:lstStyle>
          <a:p>
            <a:fld id="{2D2D9D99-8454-442A-B0DD-EF173ADD60D6}" type="slidenum">
              <a:rPr lang="en-IN" smtClean="0"/>
              <a:pPr/>
              <a:t>‹#›</a:t>
            </a:fld>
            <a:endParaRPr lang="en-IN"/>
          </a:p>
        </p:txBody>
      </p:sp>
    </p:spTree>
    <p:extLst>
      <p:ext uri="{BB962C8B-B14F-4D97-AF65-F5344CB8AC3E}">
        <p14:creationId xmlns:p14="http://schemas.microsoft.com/office/powerpoint/2010/main" val="17445753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hyperlink" Target="https://yugmaonline.vansskilling.co.in/" TargetMode="Externa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4"/>
          <a:stretch>
            <a:fillRect/>
          </a:stretch>
        </p:blipFill>
        <p:spPr>
          <a:xfrm>
            <a:off x="219357" y="190311"/>
            <a:ext cx="1106228" cy="442491"/>
          </a:xfrm>
          <a:prstGeom prst="rect">
            <a:avLst/>
          </a:prstGeom>
        </p:spPr>
      </p:pic>
      <p:sp>
        <p:nvSpPr>
          <p:cNvPr id="13" name="TextBox 12"/>
          <p:cNvSpPr txBox="1"/>
          <p:nvPr userDrawn="1"/>
        </p:nvSpPr>
        <p:spPr>
          <a:xfrm>
            <a:off x="0" y="6589600"/>
            <a:ext cx="3263153" cy="276999"/>
          </a:xfrm>
          <a:prstGeom prst="rect">
            <a:avLst/>
          </a:prstGeom>
          <a:noFill/>
        </p:spPr>
        <p:txBody>
          <a:bodyPr wrap="square" rtlCol="0">
            <a:spAutoFit/>
          </a:bodyPr>
          <a:lstStyle/>
          <a:p>
            <a:r>
              <a:rPr lang="en-US" sz="1200" dirty="0"/>
              <a:t>PROPRIETARY &amp; CONFIDENTIAL</a:t>
            </a:r>
            <a:endParaRPr lang="en-IN" sz="1200" dirty="0"/>
          </a:p>
        </p:txBody>
      </p:sp>
      <p:sp>
        <p:nvSpPr>
          <p:cNvPr id="14" name="Rectangle 13">
            <a:hlinkClick r:id="rId5"/>
          </p:cNvPr>
          <p:cNvSpPr/>
          <p:nvPr userDrawn="1"/>
        </p:nvSpPr>
        <p:spPr>
          <a:xfrm>
            <a:off x="11359692" y="6599106"/>
            <a:ext cx="750526" cy="276999"/>
          </a:xfrm>
          <a:prstGeom prst="rect">
            <a:avLst/>
          </a:prstGeom>
        </p:spPr>
        <p:txBody>
          <a:bodyPr wrap="none">
            <a:spAutoFit/>
          </a:bodyPr>
          <a:lstStyle/>
          <a:p>
            <a:r>
              <a:rPr lang="en-IN" sz="1200" dirty="0">
                <a:solidFill>
                  <a:srgbClr val="0070C0"/>
                </a:solidFill>
              </a:rPr>
              <a:t>yugma.ai</a:t>
            </a:r>
          </a:p>
        </p:txBody>
      </p:sp>
      <p:sp>
        <p:nvSpPr>
          <p:cNvPr id="16" name="Slide Number Placeholder 15"/>
          <p:cNvSpPr>
            <a:spLocks noGrp="1"/>
          </p:cNvSpPr>
          <p:nvPr>
            <p:ph type="sldNum" sz="quarter" idx="4"/>
          </p:nvPr>
        </p:nvSpPr>
        <p:spPr>
          <a:xfrm>
            <a:off x="4764741" y="6599106"/>
            <a:ext cx="2743200" cy="268400"/>
          </a:xfrm>
          <a:prstGeom prst="rect">
            <a:avLst/>
          </a:prstGeom>
        </p:spPr>
        <p:txBody>
          <a:bodyPr vert="horz" lIns="91440" tIns="45720" rIns="91440" bIns="45720" rtlCol="0" anchor="ctr"/>
          <a:lstStyle>
            <a:lvl1pPr algn="ctr">
              <a:defRPr sz="1200">
                <a:solidFill>
                  <a:schemeClr val="tx1">
                    <a:tint val="75000"/>
                  </a:schemeClr>
                </a:solidFill>
              </a:defRPr>
            </a:lvl1pPr>
          </a:lstStyle>
          <a:p>
            <a:fld id="{2D2D9D99-8454-442A-B0DD-EF173ADD60D6}" type="slidenum">
              <a:rPr lang="en-IN" smtClean="0"/>
              <a:pPr/>
              <a:t>‹#›</a:t>
            </a:fld>
            <a:endParaRPr lang="en-IN"/>
          </a:p>
        </p:txBody>
      </p:sp>
      <p:pic>
        <p:nvPicPr>
          <p:cNvPr id="9" name="Picture 8">
            <a:extLst>
              <a:ext uri="{FF2B5EF4-FFF2-40B4-BE49-F238E27FC236}">
                <a16:creationId xmlns:a16="http://schemas.microsoft.com/office/drawing/2014/main" id="{06F44229-691F-7502-5C49-368E37D647DC}"/>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a:stretch/>
        </p:blipFill>
        <p:spPr>
          <a:xfrm>
            <a:off x="10086615" y="56462"/>
            <a:ext cx="2023603" cy="704889"/>
          </a:xfrm>
          <a:prstGeom prst="rect">
            <a:avLst/>
          </a:prstGeom>
        </p:spPr>
      </p:pic>
    </p:spTree>
    <p:extLst>
      <p:ext uri="{BB962C8B-B14F-4D97-AF65-F5344CB8AC3E}">
        <p14:creationId xmlns:p14="http://schemas.microsoft.com/office/powerpoint/2010/main" val="1463050039"/>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svg"/><Relationship Id="rId18" Type="http://schemas.openxmlformats.org/officeDocument/2006/relationships/image" Target="../media/image23.png"/><Relationship Id="rId3" Type="http://schemas.openxmlformats.org/officeDocument/2006/relationships/image" Target="../media/image10.png"/><Relationship Id="rId7" Type="http://schemas.openxmlformats.org/officeDocument/2006/relationships/image" Target="../media/image14.svg"/><Relationship Id="rId12" Type="http://schemas.openxmlformats.org/officeDocument/2006/relationships/image" Target="../media/image19.png"/><Relationship Id="rId17" Type="http://schemas.openxmlformats.org/officeDocument/2006/relationships/hyperlink" Target="https://docs.google.com/forms/d/e/1FAIpQLSfqSrGWiRRspTzfKByfqnFKmNC4pUFoksIQvLAVa0mnxiCh6g/viewform" TargetMode="External"/><Relationship Id="rId2" Type="http://schemas.openxmlformats.org/officeDocument/2006/relationships/image" Target="../media/image9.png"/><Relationship Id="rId16" Type="http://schemas.openxmlformats.org/officeDocument/2006/relationships/chart" Target="../charts/chart1.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12.png"/><Relationship Id="rId15" Type="http://schemas.openxmlformats.org/officeDocument/2006/relationships/image" Target="../media/image22.svg"/><Relationship Id="rId10" Type="http://schemas.openxmlformats.org/officeDocument/2006/relationships/image" Target="../media/image17.png"/><Relationship Id="rId4" Type="http://schemas.openxmlformats.org/officeDocument/2006/relationships/image" Target="../media/image11.jpeg"/><Relationship Id="rId9" Type="http://schemas.openxmlformats.org/officeDocument/2006/relationships/image" Target="../media/image16.svg"/><Relationship Id="rId14" Type="http://schemas.openxmlformats.org/officeDocument/2006/relationships/image" Target="../media/image21.png"/></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29.png"/><Relationship Id="rId7" Type="http://schemas.openxmlformats.org/officeDocument/2006/relationships/diagramLayout" Target="../diagrams/layout1.xml"/><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diagramData" Target="../diagrams/data1.xml"/><Relationship Id="rId11" Type="http://schemas.openxmlformats.org/officeDocument/2006/relationships/hyperlink" Target="https://docs.google.com/document/d/1t2rxobonsuG7CDIYWFAinlj_7b11MjJp4xUUY4ho4Xc/edit" TargetMode="External"/><Relationship Id="rId5" Type="http://schemas.openxmlformats.org/officeDocument/2006/relationships/image" Target="../media/image31.png"/><Relationship Id="rId10" Type="http://schemas.microsoft.com/office/2007/relationships/diagramDrawing" Target="../diagrams/drawing1.xml"/><Relationship Id="rId4" Type="http://schemas.openxmlformats.org/officeDocument/2006/relationships/image" Target="../media/image30.png"/><Relationship Id="rId9" Type="http://schemas.openxmlformats.org/officeDocument/2006/relationships/diagramColors" Target="../diagrams/colors1.xml"/></Relationships>
</file>

<file path=ppt/slides/_rels/slide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hyperlink" Target="https://docs.google.com/document/d/1t2rxobonsuG7CDIYWFAinlj_7b11MjJp4xUUY4ho4Xc/edit" TargetMode="External"/><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0.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8.png"/><Relationship Id="rId3" Type="http://schemas.openxmlformats.org/officeDocument/2006/relationships/image" Target="../media/image48.png"/><Relationship Id="rId7" Type="http://schemas.openxmlformats.org/officeDocument/2006/relationships/image" Target="../media/image52.png"/><Relationship Id="rId12" Type="http://schemas.openxmlformats.org/officeDocument/2006/relationships/image" Target="../media/image57.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1.png"/><Relationship Id="rId11" Type="http://schemas.openxmlformats.org/officeDocument/2006/relationships/image" Target="../media/image56.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 Id="rId14" Type="http://schemas.openxmlformats.org/officeDocument/2006/relationships/image" Target="../media/image59.png"/></Relationships>
</file>

<file path=ppt/slides/_rels/slide1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584" y="2491711"/>
            <a:ext cx="12192000" cy="931678"/>
          </a:xfrm>
        </p:spPr>
        <p:txBody>
          <a:bodyPr>
            <a:normAutofit/>
          </a:bodyPr>
          <a:lstStyle/>
          <a:p>
            <a:r>
              <a:rPr lang="en-IN" sz="5000" dirty="0"/>
              <a:t>YUGMA App GTM STRATEGY : ROUND 2</a:t>
            </a:r>
          </a:p>
        </p:txBody>
      </p:sp>
      <p:sp>
        <p:nvSpPr>
          <p:cNvPr id="6" name="TextBox 5">
            <a:extLst>
              <a:ext uri="{FF2B5EF4-FFF2-40B4-BE49-F238E27FC236}">
                <a16:creationId xmlns:a16="http://schemas.microsoft.com/office/drawing/2014/main" id="{4FE3F95E-ACC1-4BB0-BF56-9854A944EAA2}"/>
              </a:ext>
            </a:extLst>
          </p:cNvPr>
          <p:cNvSpPr txBox="1"/>
          <p:nvPr/>
        </p:nvSpPr>
        <p:spPr>
          <a:xfrm>
            <a:off x="7233920" y="3873365"/>
            <a:ext cx="4642253" cy="2537618"/>
          </a:xfrm>
          <a:prstGeom prst="rect">
            <a:avLst/>
          </a:prstGeom>
          <a:noFill/>
        </p:spPr>
        <p:txBody>
          <a:bodyPr wrap="square" rtlCol="0">
            <a:spAutoFit/>
          </a:bodyPr>
          <a:lstStyle/>
          <a:p>
            <a:pPr algn="r">
              <a:lnSpc>
                <a:spcPct val="150000"/>
              </a:lnSpc>
            </a:pPr>
            <a:r>
              <a:rPr lang="en-US" sz="2800" b="1" dirty="0">
                <a:solidFill>
                  <a:srgbClr val="C00000"/>
                </a:solidFill>
              </a:rPr>
              <a:t>Team Sorted</a:t>
            </a:r>
          </a:p>
          <a:p>
            <a:pPr algn="r">
              <a:lnSpc>
                <a:spcPct val="150000"/>
              </a:lnSpc>
            </a:pPr>
            <a:r>
              <a:rPr lang="en-US" sz="2000" b="1" dirty="0">
                <a:solidFill>
                  <a:srgbClr val="C00000"/>
                </a:solidFill>
              </a:rPr>
              <a:t>Mohit Kiradoo</a:t>
            </a:r>
          </a:p>
          <a:p>
            <a:pPr algn="r">
              <a:lnSpc>
                <a:spcPct val="150000"/>
              </a:lnSpc>
            </a:pPr>
            <a:r>
              <a:rPr lang="en-US" sz="2000" b="1" dirty="0">
                <a:solidFill>
                  <a:srgbClr val="C00000"/>
                </a:solidFill>
              </a:rPr>
              <a:t>Kajal Gupta</a:t>
            </a:r>
          </a:p>
          <a:p>
            <a:pPr algn="r">
              <a:lnSpc>
                <a:spcPct val="150000"/>
              </a:lnSpc>
            </a:pPr>
            <a:r>
              <a:rPr lang="en-US" sz="2000" b="1" dirty="0">
                <a:solidFill>
                  <a:srgbClr val="C00000"/>
                </a:solidFill>
              </a:rPr>
              <a:t>T. A. Pai Management Institute (TAPMI)</a:t>
            </a:r>
          </a:p>
          <a:p>
            <a:pPr algn="r">
              <a:lnSpc>
                <a:spcPct val="150000"/>
              </a:lnSpc>
            </a:pPr>
            <a:r>
              <a:rPr lang="en-US" sz="2000" b="1" dirty="0">
                <a:solidFill>
                  <a:srgbClr val="C00000"/>
                </a:solidFill>
              </a:rPr>
              <a:t>PGDM: 2021-23</a:t>
            </a:r>
          </a:p>
        </p:txBody>
      </p:sp>
    </p:spTree>
    <p:extLst>
      <p:ext uri="{BB962C8B-B14F-4D97-AF65-F5344CB8AC3E}">
        <p14:creationId xmlns:p14="http://schemas.microsoft.com/office/powerpoint/2010/main" val="1123118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sz="3200" dirty="0"/>
              <a:t>Understanding of the case</a:t>
            </a:r>
          </a:p>
        </p:txBody>
      </p:sp>
      <p:sp>
        <p:nvSpPr>
          <p:cNvPr id="4" name="Slide Number Placeholder 3"/>
          <p:cNvSpPr>
            <a:spLocks noGrp="1"/>
          </p:cNvSpPr>
          <p:nvPr>
            <p:ph type="sldNum" sz="quarter" idx="4"/>
          </p:nvPr>
        </p:nvSpPr>
        <p:spPr/>
        <p:txBody>
          <a:bodyPr/>
          <a:lstStyle/>
          <a:p>
            <a:fld id="{2D2D9D99-8454-442A-B0DD-EF173ADD60D6}" type="slidenum">
              <a:rPr lang="en-IN" smtClean="0"/>
              <a:pPr/>
              <a:t>2</a:t>
            </a:fld>
            <a:endParaRPr lang="en-IN"/>
          </a:p>
        </p:txBody>
      </p:sp>
      <p:sp>
        <p:nvSpPr>
          <p:cNvPr id="167" name="TextBox 166">
            <a:extLst>
              <a:ext uri="{FF2B5EF4-FFF2-40B4-BE49-F238E27FC236}">
                <a16:creationId xmlns:a16="http://schemas.microsoft.com/office/drawing/2014/main" id="{7B84E9A0-8ED3-25EF-7FC2-758FD05C0B7F}"/>
              </a:ext>
            </a:extLst>
          </p:cNvPr>
          <p:cNvSpPr txBox="1"/>
          <p:nvPr/>
        </p:nvSpPr>
        <p:spPr>
          <a:xfrm>
            <a:off x="79743" y="1239520"/>
            <a:ext cx="3907465" cy="5222240"/>
          </a:xfrm>
          <a:prstGeom prst="rect">
            <a:avLst/>
          </a:prstGeom>
          <a:noFill/>
          <a:ln>
            <a:solidFill>
              <a:schemeClr val="tx1"/>
            </a:solidFill>
            <a:prstDash val="lgDash"/>
          </a:ln>
        </p:spPr>
        <p:txBody>
          <a:bodyPr wrap="square" rtlCol="0">
            <a:spAutoFit/>
          </a:bodyPr>
          <a:lstStyle/>
          <a:p>
            <a:endParaRPr lang="en-US" dirty="0"/>
          </a:p>
        </p:txBody>
      </p:sp>
      <p:sp>
        <p:nvSpPr>
          <p:cNvPr id="166" name="Rectangle: Rounded Corners 165">
            <a:extLst>
              <a:ext uri="{FF2B5EF4-FFF2-40B4-BE49-F238E27FC236}">
                <a16:creationId xmlns:a16="http://schemas.microsoft.com/office/drawing/2014/main" id="{398D43D5-440F-3C76-D98A-6349605A1AA4}"/>
              </a:ext>
            </a:extLst>
          </p:cNvPr>
          <p:cNvSpPr/>
          <p:nvPr/>
        </p:nvSpPr>
        <p:spPr>
          <a:xfrm>
            <a:off x="1297673" y="1087120"/>
            <a:ext cx="1473200" cy="304800"/>
          </a:xfrm>
          <a:prstGeom prst="roundRect">
            <a:avLst/>
          </a:prstGeom>
          <a:solidFill>
            <a:srgbClr val="DF19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Relevance</a:t>
            </a:r>
            <a:endParaRPr lang="en-US" sz="1600" dirty="0"/>
          </a:p>
        </p:txBody>
      </p:sp>
      <p:grpSp>
        <p:nvGrpSpPr>
          <p:cNvPr id="219" name="Group 218">
            <a:extLst>
              <a:ext uri="{FF2B5EF4-FFF2-40B4-BE49-F238E27FC236}">
                <a16:creationId xmlns:a16="http://schemas.microsoft.com/office/drawing/2014/main" id="{A510F910-9742-2F13-2F71-0B4638B74807}"/>
              </a:ext>
            </a:extLst>
          </p:cNvPr>
          <p:cNvGrpSpPr/>
          <p:nvPr/>
        </p:nvGrpSpPr>
        <p:grpSpPr>
          <a:xfrm>
            <a:off x="254884" y="2391270"/>
            <a:ext cx="3557182" cy="1815882"/>
            <a:chOff x="355600" y="2250118"/>
            <a:chExt cx="3200400" cy="1815882"/>
          </a:xfrm>
        </p:grpSpPr>
        <p:sp>
          <p:nvSpPr>
            <p:cNvPr id="181" name="TextBox 180">
              <a:extLst>
                <a:ext uri="{FF2B5EF4-FFF2-40B4-BE49-F238E27FC236}">
                  <a16:creationId xmlns:a16="http://schemas.microsoft.com/office/drawing/2014/main" id="{D471B71A-F90E-E704-FFB5-C43C69BBB28B}"/>
                </a:ext>
              </a:extLst>
            </p:cNvPr>
            <p:cNvSpPr txBox="1"/>
            <p:nvPr/>
          </p:nvSpPr>
          <p:spPr>
            <a:xfrm>
              <a:off x="355600" y="2250118"/>
              <a:ext cx="3200400" cy="1815882"/>
            </a:xfrm>
            <a:prstGeom prst="rect">
              <a:avLst/>
            </a:prstGeom>
            <a:noFill/>
            <a:ln>
              <a:solidFill>
                <a:schemeClr val="tx1"/>
              </a:solidFill>
              <a:prstDash val="dash"/>
            </a:ln>
          </p:spPr>
          <p:txBody>
            <a:bodyPr wrap="square" rtlCol="0">
              <a:spAutoFit/>
            </a:bodyPr>
            <a:lstStyle/>
            <a:p>
              <a:r>
                <a:rPr lang="en-IN" sz="1600" dirty="0"/>
                <a:t>              Additional practical learning</a:t>
              </a:r>
            </a:p>
            <a:p>
              <a:r>
                <a:rPr lang="en-IN" sz="1600" dirty="0"/>
                <a:t>              Gamified engagements</a:t>
              </a:r>
            </a:p>
            <a:p>
              <a:r>
                <a:rPr lang="en-IN" sz="1600" dirty="0"/>
                <a:t>              Business challenges</a:t>
              </a:r>
            </a:p>
            <a:p>
              <a:r>
                <a:rPr lang="en-IN" sz="1600" dirty="0"/>
                <a:t>              PPO/PPI opportunities </a:t>
              </a:r>
            </a:p>
            <a:p>
              <a:r>
                <a:rPr lang="en-IN" sz="1600" dirty="0"/>
                <a:t>              Live Project opportunities</a:t>
              </a:r>
            </a:p>
            <a:p>
              <a:r>
                <a:rPr lang="en-IN" sz="1600" dirty="0"/>
                <a:t>              Industry expert advices</a:t>
              </a:r>
            </a:p>
            <a:p>
              <a:r>
                <a:rPr lang="en-IN" sz="1600" dirty="0"/>
                <a:t>              Placement preparations</a:t>
              </a:r>
            </a:p>
          </p:txBody>
        </p:sp>
        <p:grpSp>
          <p:nvGrpSpPr>
            <p:cNvPr id="184" name="Group 183">
              <a:extLst>
                <a:ext uri="{FF2B5EF4-FFF2-40B4-BE49-F238E27FC236}">
                  <a16:creationId xmlns:a16="http://schemas.microsoft.com/office/drawing/2014/main" id="{C4DAD11D-B3D3-ACE2-603C-39EB9F52D89B}"/>
                </a:ext>
              </a:extLst>
            </p:cNvPr>
            <p:cNvGrpSpPr/>
            <p:nvPr/>
          </p:nvGrpSpPr>
          <p:grpSpPr>
            <a:xfrm>
              <a:off x="436880" y="2430629"/>
              <a:ext cx="495359" cy="119532"/>
              <a:chOff x="728921" y="3069515"/>
              <a:chExt cx="1554300" cy="315825"/>
            </a:xfrm>
          </p:grpSpPr>
          <p:sp>
            <p:nvSpPr>
              <p:cNvPr id="182" name="Google Shape;1230;p51">
                <a:extLst>
                  <a:ext uri="{FF2B5EF4-FFF2-40B4-BE49-F238E27FC236}">
                    <a16:creationId xmlns:a16="http://schemas.microsoft.com/office/drawing/2014/main" id="{C6423EFB-8973-0BCF-AEE4-ACAC42D90D63}"/>
                  </a:ext>
                </a:extLst>
              </p:cNvPr>
              <p:cNvSpPr/>
              <p:nvPr/>
            </p:nvSpPr>
            <p:spPr>
              <a:xfrm>
                <a:off x="728921" y="3069515"/>
                <a:ext cx="1554300" cy="315825"/>
              </a:xfrm>
              <a:prstGeom prst="roundRect">
                <a:avLst>
                  <a:gd name="adj" fmla="val 16667"/>
                </a:avLst>
              </a:prstGeom>
              <a:solidFill>
                <a:srgbClr val="FFCC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231;p51">
                <a:extLst>
                  <a:ext uri="{FF2B5EF4-FFF2-40B4-BE49-F238E27FC236}">
                    <a16:creationId xmlns:a16="http://schemas.microsoft.com/office/drawing/2014/main" id="{F7AC0087-E92A-821A-5DA9-7D80050ECC77}"/>
                  </a:ext>
                </a:extLst>
              </p:cNvPr>
              <p:cNvSpPr/>
              <p:nvPr/>
            </p:nvSpPr>
            <p:spPr>
              <a:xfrm>
                <a:off x="728940" y="3069516"/>
                <a:ext cx="932635" cy="315824"/>
              </a:xfrm>
              <a:prstGeom prst="roundRect">
                <a:avLst>
                  <a:gd name="adj" fmla="val 16667"/>
                </a:avLst>
              </a:prstGeom>
              <a:solidFill>
                <a:srgbClr val="DF19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85" name="Group 184">
              <a:extLst>
                <a:ext uri="{FF2B5EF4-FFF2-40B4-BE49-F238E27FC236}">
                  <a16:creationId xmlns:a16="http://schemas.microsoft.com/office/drawing/2014/main" id="{DA4E3937-7E41-48D3-A13A-65B4F289D9BF}"/>
                </a:ext>
              </a:extLst>
            </p:cNvPr>
            <p:cNvGrpSpPr/>
            <p:nvPr/>
          </p:nvGrpSpPr>
          <p:grpSpPr>
            <a:xfrm>
              <a:off x="436880" y="2663115"/>
              <a:ext cx="495359" cy="119532"/>
              <a:chOff x="728921" y="3069515"/>
              <a:chExt cx="1554300" cy="315825"/>
            </a:xfrm>
          </p:grpSpPr>
          <p:sp>
            <p:nvSpPr>
              <p:cNvPr id="186" name="Google Shape;1230;p51">
                <a:extLst>
                  <a:ext uri="{FF2B5EF4-FFF2-40B4-BE49-F238E27FC236}">
                    <a16:creationId xmlns:a16="http://schemas.microsoft.com/office/drawing/2014/main" id="{2C4048E2-454C-C791-2864-2735A7EEFF0B}"/>
                  </a:ext>
                </a:extLst>
              </p:cNvPr>
              <p:cNvSpPr/>
              <p:nvPr/>
            </p:nvSpPr>
            <p:spPr>
              <a:xfrm>
                <a:off x="728921" y="3069515"/>
                <a:ext cx="1554300" cy="315825"/>
              </a:xfrm>
              <a:prstGeom prst="roundRect">
                <a:avLst>
                  <a:gd name="adj" fmla="val 16667"/>
                </a:avLst>
              </a:prstGeom>
              <a:solidFill>
                <a:srgbClr val="FFCC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231;p51">
                <a:extLst>
                  <a:ext uri="{FF2B5EF4-FFF2-40B4-BE49-F238E27FC236}">
                    <a16:creationId xmlns:a16="http://schemas.microsoft.com/office/drawing/2014/main" id="{CEDED33E-E1B9-B121-1B10-EFB5203BF282}"/>
                  </a:ext>
                </a:extLst>
              </p:cNvPr>
              <p:cNvSpPr/>
              <p:nvPr/>
            </p:nvSpPr>
            <p:spPr>
              <a:xfrm>
                <a:off x="728940" y="3069516"/>
                <a:ext cx="932635" cy="315824"/>
              </a:xfrm>
              <a:prstGeom prst="roundRect">
                <a:avLst>
                  <a:gd name="adj" fmla="val 16667"/>
                </a:avLst>
              </a:prstGeom>
              <a:solidFill>
                <a:srgbClr val="DF19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roup 202">
              <a:extLst>
                <a:ext uri="{FF2B5EF4-FFF2-40B4-BE49-F238E27FC236}">
                  <a16:creationId xmlns:a16="http://schemas.microsoft.com/office/drawing/2014/main" id="{C375229F-1759-FA28-AAAF-635C3B43205D}"/>
                </a:ext>
              </a:extLst>
            </p:cNvPr>
            <p:cNvGrpSpPr/>
            <p:nvPr/>
          </p:nvGrpSpPr>
          <p:grpSpPr>
            <a:xfrm>
              <a:off x="436879" y="2909343"/>
              <a:ext cx="495359" cy="126466"/>
              <a:chOff x="728921" y="3069515"/>
              <a:chExt cx="1554300" cy="334146"/>
            </a:xfrm>
          </p:grpSpPr>
          <p:sp>
            <p:nvSpPr>
              <p:cNvPr id="204" name="Google Shape;1230;p51">
                <a:extLst>
                  <a:ext uri="{FF2B5EF4-FFF2-40B4-BE49-F238E27FC236}">
                    <a16:creationId xmlns:a16="http://schemas.microsoft.com/office/drawing/2014/main" id="{61CFD379-073F-3559-AB45-4632FF39A25B}"/>
                  </a:ext>
                </a:extLst>
              </p:cNvPr>
              <p:cNvSpPr/>
              <p:nvPr/>
            </p:nvSpPr>
            <p:spPr>
              <a:xfrm>
                <a:off x="728921" y="3069515"/>
                <a:ext cx="1554300" cy="315825"/>
              </a:xfrm>
              <a:prstGeom prst="roundRect">
                <a:avLst>
                  <a:gd name="adj" fmla="val 16667"/>
                </a:avLst>
              </a:prstGeom>
              <a:solidFill>
                <a:srgbClr val="FFCC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1231;p51">
                <a:extLst>
                  <a:ext uri="{FF2B5EF4-FFF2-40B4-BE49-F238E27FC236}">
                    <a16:creationId xmlns:a16="http://schemas.microsoft.com/office/drawing/2014/main" id="{ACBA56FA-8B42-D3FA-17FD-F02EA7ABC3FB}"/>
                  </a:ext>
                </a:extLst>
              </p:cNvPr>
              <p:cNvSpPr/>
              <p:nvPr/>
            </p:nvSpPr>
            <p:spPr>
              <a:xfrm>
                <a:off x="728940" y="3069517"/>
                <a:ext cx="1159593" cy="334144"/>
              </a:xfrm>
              <a:prstGeom prst="roundRect">
                <a:avLst>
                  <a:gd name="adj" fmla="val 16667"/>
                </a:avLst>
              </a:prstGeom>
              <a:solidFill>
                <a:srgbClr val="DF19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 name="Group 205">
              <a:extLst>
                <a:ext uri="{FF2B5EF4-FFF2-40B4-BE49-F238E27FC236}">
                  <a16:creationId xmlns:a16="http://schemas.microsoft.com/office/drawing/2014/main" id="{12E7A302-44B3-1D73-B7D1-3744774D1333}"/>
                </a:ext>
              </a:extLst>
            </p:cNvPr>
            <p:cNvGrpSpPr/>
            <p:nvPr/>
          </p:nvGrpSpPr>
          <p:grpSpPr>
            <a:xfrm>
              <a:off x="436878" y="3155571"/>
              <a:ext cx="495359" cy="119532"/>
              <a:chOff x="728921" y="3069515"/>
              <a:chExt cx="1554300" cy="315825"/>
            </a:xfrm>
          </p:grpSpPr>
          <p:sp>
            <p:nvSpPr>
              <p:cNvPr id="207" name="Google Shape;1230;p51">
                <a:extLst>
                  <a:ext uri="{FF2B5EF4-FFF2-40B4-BE49-F238E27FC236}">
                    <a16:creationId xmlns:a16="http://schemas.microsoft.com/office/drawing/2014/main" id="{DB24EBF7-1517-82F3-40EF-D36F582E508E}"/>
                  </a:ext>
                </a:extLst>
              </p:cNvPr>
              <p:cNvSpPr/>
              <p:nvPr/>
            </p:nvSpPr>
            <p:spPr>
              <a:xfrm>
                <a:off x="728921" y="3069515"/>
                <a:ext cx="1554300" cy="315825"/>
              </a:xfrm>
              <a:prstGeom prst="roundRect">
                <a:avLst>
                  <a:gd name="adj" fmla="val 16667"/>
                </a:avLst>
              </a:prstGeom>
              <a:solidFill>
                <a:srgbClr val="FFCC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1231;p51">
                <a:extLst>
                  <a:ext uri="{FF2B5EF4-FFF2-40B4-BE49-F238E27FC236}">
                    <a16:creationId xmlns:a16="http://schemas.microsoft.com/office/drawing/2014/main" id="{AC8B4DF5-1A70-2304-6E73-73FA1664CB3B}"/>
                  </a:ext>
                </a:extLst>
              </p:cNvPr>
              <p:cNvSpPr/>
              <p:nvPr/>
            </p:nvSpPr>
            <p:spPr>
              <a:xfrm>
                <a:off x="728940" y="3069515"/>
                <a:ext cx="1318993" cy="315825"/>
              </a:xfrm>
              <a:prstGeom prst="roundRect">
                <a:avLst>
                  <a:gd name="adj" fmla="val 16667"/>
                </a:avLst>
              </a:prstGeom>
              <a:solidFill>
                <a:srgbClr val="DF19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09" name="Group 208">
              <a:extLst>
                <a:ext uri="{FF2B5EF4-FFF2-40B4-BE49-F238E27FC236}">
                  <a16:creationId xmlns:a16="http://schemas.microsoft.com/office/drawing/2014/main" id="{B648F587-4530-F4C1-0186-537C708E5707}"/>
                </a:ext>
              </a:extLst>
            </p:cNvPr>
            <p:cNvGrpSpPr/>
            <p:nvPr/>
          </p:nvGrpSpPr>
          <p:grpSpPr>
            <a:xfrm>
              <a:off x="436877" y="3401799"/>
              <a:ext cx="495359" cy="119532"/>
              <a:chOff x="728921" y="3069515"/>
              <a:chExt cx="1554300" cy="315825"/>
            </a:xfrm>
          </p:grpSpPr>
          <p:sp>
            <p:nvSpPr>
              <p:cNvPr id="210" name="Google Shape;1230;p51">
                <a:extLst>
                  <a:ext uri="{FF2B5EF4-FFF2-40B4-BE49-F238E27FC236}">
                    <a16:creationId xmlns:a16="http://schemas.microsoft.com/office/drawing/2014/main" id="{841132E5-60D3-3AF0-B9BF-E70476CE747A}"/>
                  </a:ext>
                </a:extLst>
              </p:cNvPr>
              <p:cNvSpPr/>
              <p:nvPr/>
            </p:nvSpPr>
            <p:spPr>
              <a:xfrm>
                <a:off x="728921" y="3069515"/>
                <a:ext cx="1554300" cy="315825"/>
              </a:xfrm>
              <a:prstGeom prst="roundRect">
                <a:avLst>
                  <a:gd name="adj" fmla="val 16667"/>
                </a:avLst>
              </a:prstGeom>
              <a:solidFill>
                <a:srgbClr val="FFCC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1231;p51">
                <a:extLst>
                  <a:ext uri="{FF2B5EF4-FFF2-40B4-BE49-F238E27FC236}">
                    <a16:creationId xmlns:a16="http://schemas.microsoft.com/office/drawing/2014/main" id="{AA550C88-6F0A-2DE6-41ED-C7F725D38D30}"/>
                  </a:ext>
                </a:extLst>
              </p:cNvPr>
              <p:cNvSpPr/>
              <p:nvPr/>
            </p:nvSpPr>
            <p:spPr>
              <a:xfrm>
                <a:off x="728940" y="3069515"/>
                <a:ext cx="1318993" cy="297837"/>
              </a:xfrm>
              <a:prstGeom prst="roundRect">
                <a:avLst>
                  <a:gd name="adj" fmla="val 16667"/>
                </a:avLst>
              </a:prstGeom>
              <a:solidFill>
                <a:srgbClr val="DF19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12" name="Group 211">
              <a:extLst>
                <a:ext uri="{FF2B5EF4-FFF2-40B4-BE49-F238E27FC236}">
                  <a16:creationId xmlns:a16="http://schemas.microsoft.com/office/drawing/2014/main" id="{ABFEFDDC-FC6A-0380-0274-087684E4B505}"/>
                </a:ext>
              </a:extLst>
            </p:cNvPr>
            <p:cNvGrpSpPr/>
            <p:nvPr/>
          </p:nvGrpSpPr>
          <p:grpSpPr>
            <a:xfrm>
              <a:off x="436876" y="3648025"/>
              <a:ext cx="495359" cy="119533"/>
              <a:chOff x="728921" y="3069512"/>
              <a:chExt cx="1554300" cy="315828"/>
            </a:xfrm>
          </p:grpSpPr>
          <p:sp>
            <p:nvSpPr>
              <p:cNvPr id="213" name="Google Shape;1230;p51">
                <a:extLst>
                  <a:ext uri="{FF2B5EF4-FFF2-40B4-BE49-F238E27FC236}">
                    <a16:creationId xmlns:a16="http://schemas.microsoft.com/office/drawing/2014/main" id="{9D4A054E-2ED8-E26E-8EC0-1131B7A744B3}"/>
                  </a:ext>
                </a:extLst>
              </p:cNvPr>
              <p:cNvSpPr/>
              <p:nvPr/>
            </p:nvSpPr>
            <p:spPr>
              <a:xfrm>
                <a:off x="728921" y="3069515"/>
                <a:ext cx="1554300" cy="315825"/>
              </a:xfrm>
              <a:prstGeom prst="roundRect">
                <a:avLst>
                  <a:gd name="adj" fmla="val 16667"/>
                </a:avLst>
              </a:prstGeom>
              <a:solidFill>
                <a:srgbClr val="FFCC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1231;p51">
                <a:extLst>
                  <a:ext uri="{FF2B5EF4-FFF2-40B4-BE49-F238E27FC236}">
                    <a16:creationId xmlns:a16="http://schemas.microsoft.com/office/drawing/2014/main" id="{FEBB0B50-F049-0486-F9AB-E90E3732D4DA}"/>
                  </a:ext>
                </a:extLst>
              </p:cNvPr>
              <p:cNvSpPr/>
              <p:nvPr/>
            </p:nvSpPr>
            <p:spPr>
              <a:xfrm>
                <a:off x="728944" y="3069512"/>
                <a:ext cx="932633" cy="315817"/>
              </a:xfrm>
              <a:prstGeom prst="roundRect">
                <a:avLst>
                  <a:gd name="adj" fmla="val 16667"/>
                </a:avLst>
              </a:prstGeom>
              <a:solidFill>
                <a:srgbClr val="DF19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15" name="Group 214">
              <a:extLst>
                <a:ext uri="{FF2B5EF4-FFF2-40B4-BE49-F238E27FC236}">
                  <a16:creationId xmlns:a16="http://schemas.microsoft.com/office/drawing/2014/main" id="{ED2D963A-837E-2E50-96F0-EA69C11DB4E5}"/>
                </a:ext>
              </a:extLst>
            </p:cNvPr>
            <p:cNvGrpSpPr/>
            <p:nvPr/>
          </p:nvGrpSpPr>
          <p:grpSpPr>
            <a:xfrm>
              <a:off x="436875" y="3894255"/>
              <a:ext cx="495359" cy="119532"/>
              <a:chOff x="728921" y="3069515"/>
              <a:chExt cx="1554300" cy="315825"/>
            </a:xfrm>
          </p:grpSpPr>
          <p:sp>
            <p:nvSpPr>
              <p:cNvPr id="216" name="Google Shape;1230;p51">
                <a:extLst>
                  <a:ext uri="{FF2B5EF4-FFF2-40B4-BE49-F238E27FC236}">
                    <a16:creationId xmlns:a16="http://schemas.microsoft.com/office/drawing/2014/main" id="{B1E725E7-9864-6252-660D-59E0428A2EAB}"/>
                  </a:ext>
                </a:extLst>
              </p:cNvPr>
              <p:cNvSpPr/>
              <p:nvPr/>
            </p:nvSpPr>
            <p:spPr>
              <a:xfrm>
                <a:off x="728921" y="3069515"/>
                <a:ext cx="1554300" cy="315825"/>
              </a:xfrm>
              <a:prstGeom prst="roundRect">
                <a:avLst>
                  <a:gd name="adj" fmla="val 16667"/>
                </a:avLst>
              </a:prstGeom>
              <a:solidFill>
                <a:srgbClr val="FFCC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1231;p51">
                <a:extLst>
                  <a:ext uri="{FF2B5EF4-FFF2-40B4-BE49-F238E27FC236}">
                    <a16:creationId xmlns:a16="http://schemas.microsoft.com/office/drawing/2014/main" id="{D45B2FCB-FDA8-D416-96BC-0721254DD387}"/>
                  </a:ext>
                </a:extLst>
              </p:cNvPr>
              <p:cNvSpPr/>
              <p:nvPr/>
            </p:nvSpPr>
            <p:spPr>
              <a:xfrm>
                <a:off x="728940" y="3069515"/>
                <a:ext cx="1554281" cy="315825"/>
              </a:xfrm>
              <a:prstGeom prst="roundRect">
                <a:avLst>
                  <a:gd name="adj" fmla="val 16667"/>
                </a:avLst>
              </a:prstGeom>
              <a:solidFill>
                <a:srgbClr val="DF19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18" name="TextBox 217">
            <a:extLst>
              <a:ext uri="{FF2B5EF4-FFF2-40B4-BE49-F238E27FC236}">
                <a16:creationId xmlns:a16="http://schemas.microsoft.com/office/drawing/2014/main" id="{A39B3AE2-06A9-7682-C59A-7590AC3FE405}"/>
              </a:ext>
            </a:extLst>
          </p:cNvPr>
          <p:cNvSpPr txBox="1"/>
          <p:nvPr/>
        </p:nvSpPr>
        <p:spPr>
          <a:xfrm>
            <a:off x="1021015" y="1444598"/>
            <a:ext cx="2849230" cy="830997"/>
          </a:xfrm>
          <a:prstGeom prst="rect">
            <a:avLst/>
          </a:prstGeom>
          <a:noFill/>
        </p:spPr>
        <p:txBody>
          <a:bodyPr wrap="square" rtlCol="0">
            <a:spAutoFit/>
          </a:bodyPr>
          <a:lstStyle/>
          <a:p>
            <a:pPr algn="just"/>
            <a:r>
              <a:rPr lang="en-IN" sz="1600" b="1" dirty="0"/>
              <a:t>Current needs of management students which makes the idea relevant for them</a:t>
            </a:r>
            <a:endParaRPr lang="en-US" sz="1600" b="1" dirty="0"/>
          </a:p>
        </p:txBody>
      </p:sp>
      <p:sp>
        <p:nvSpPr>
          <p:cNvPr id="222" name="TextBox 221">
            <a:extLst>
              <a:ext uri="{FF2B5EF4-FFF2-40B4-BE49-F238E27FC236}">
                <a16:creationId xmlns:a16="http://schemas.microsoft.com/office/drawing/2014/main" id="{E8139FD0-B3D2-25EE-82A4-CA308AFC2462}"/>
              </a:ext>
            </a:extLst>
          </p:cNvPr>
          <p:cNvSpPr txBox="1"/>
          <p:nvPr/>
        </p:nvSpPr>
        <p:spPr>
          <a:xfrm>
            <a:off x="4143327" y="1239520"/>
            <a:ext cx="3907465" cy="5222240"/>
          </a:xfrm>
          <a:prstGeom prst="rect">
            <a:avLst/>
          </a:prstGeom>
          <a:noFill/>
          <a:ln>
            <a:solidFill>
              <a:schemeClr val="tx1"/>
            </a:solidFill>
            <a:prstDash val="lgDash"/>
          </a:ln>
        </p:spPr>
        <p:txBody>
          <a:bodyPr wrap="square" rtlCol="0">
            <a:spAutoFit/>
          </a:bodyPr>
          <a:lstStyle/>
          <a:p>
            <a:endParaRPr lang="en-US" dirty="0"/>
          </a:p>
        </p:txBody>
      </p:sp>
      <p:sp>
        <p:nvSpPr>
          <p:cNvPr id="223" name="TextBox 222">
            <a:extLst>
              <a:ext uri="{FF2B5EF4-FFF2-40B4-BE49-F238E27FC236}">
                <a16:creationId xmlns:a16="http://schemas.microsoft.com/office/drawing/2014/main" id="{80E57DA6-13DE-592F-43B4-FB12503F00C0}"/>
              </a:ext>
            </a:extLst>
          </p:cNvPr>
          <p:cNvSpPr txBox="1"/>
          <p:nvPr/>
        </p:nvSpPr>
        <p:spPr>
          <a:xfrm>
            <a:off x="8203278" y="1237821"/>
            <a:ext cx="3907465" cy="5222240"/>
          </a:xfrm>
          <a:prstGeom prst="rect">
            <a:avLst/>
          </a:prstGeom>
          <a:noFill/>
          <a:ln>
            <a:solidFill>
              <a:schemeClr val="tx1"/>
            </a:solidFill>
            <a:prstDash val="lgDash"/>
          </a:ln>
        </p:spPr>
        <p:txBody>
          <a:bodyPr wrap="square" rtlCol="0">
            <a:spAutoFit/>
          </a:bodyPr>
          <a:lstStyle/>
          <a:p>
            <a:endParaRPr lang="en-US" dirty="0"/>
          </a:p>
        </p:txBody>
      </p:sp>
      <p:pic>
        <p:nvPicPr>
          <p:cNvPr id="2052" name="Picture 4" descr="Students ">
            <a:extLst>
              <a:ext uri="{FF2B5EF4-FFF2-40B4-BE49-F238E27FC236}">
                <a16:creationId xmlns:a16="http://schemas.microsoft.com/office/drawing/2014/main" id="{39016721-515C-0CBC-3CB7-7B28E0DFBC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862" y="1528207"/>
            <a:ext cx="696997" cy="69699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Team ">
            <a:extLst>
              <a:ext uri="{FF2B5EF4-FFF2-40B4-BE49-F238E27FC236}">
                <a16:creationId xmlns:a16="http://schemas.microsoft.com/office/drawing/2014/main" id="{5820DB25-1983-CA53-12B5-2F6E3FDC2D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971" y="4360285"/>
            <a:ext cx="688207" cy="688207"/>
          </a:xfrm>
          <a:prstGeom prst="rect">
            <a:avLst/>
          </a:prstGeom>
          <a:noFill/>
          <a:extLst>
            <a:ext uri="{909E8E84-426E-40DD-AFC4-6F175D3DCCD1}">
              <a14:hiddenFill xmlns:a14="http://schemas.microsoft.com/office/drawing/2010/main">
                <a:solidFill>
                  <a:srgbClr val="FFFFFF"/>
                </a:solidFill>
              </a14:hiddenFill>
            </a:ext>
          </a:extLst>
        </p:spPr>
      </p:pic>
      <p:sp>
        <p:nvSpPr>
          <p:cNvPr id="224" name="TextBox 223">
            <a:extLst>
              <a:ext uri="{FF2B5EF4-FFF2-40B4-BE49-F238E27FC236}">
                <a16:creationId xmlns:a16="http://schemas.microsoft.com/office/drawing/2014/main" id="{E61B044D-02A4-2F14-6559-5B33C1F932C7}"/>
              </a:ext>
            </a:extLst>
          </p:cNvPr>
          <p:cNvSpPr txBox="1"/>
          <p:nvPr/>
        </p:nvSpPr>
        <p:spPr>
          <a:xfrm>
            <a:off x="1021015" y="4322827"/>
            <a:ext cx="2849230" cy="830997"/>
          </a:xfrm>
          <a:prstGeom prst="rect">
            <a:avLst/>
          </a:prstGeom>
          <a:noFill/>
        </p:spPr>
        <p:txBody>
          <a:bodyPr wrap="square" rtlCol="0">
            <a:spAutoFit/>
          </a:bodyPr>
          <a:lstStyle/>
          <a:p>
            <a:pPr algn="just"/>
            <a:r>
              <a:rPr lang="en-IN" sz="1600" b="1" dirty="0"/>
              <a:t>Current needs of corporates and professionals which makes the idea relevant for them too</a:t>
            </a:r>
            <a:endParaRPr lang="en-US" sz="1600" b="1" dirty="0"/>
          </a:p>
        </p:txBody>
      </p:sp>
      <p:grpSp>
        <p:nvGrpSpPr>
          <p:cNvPr id="225" name="Group 224">
            <a:extLst>
              <a:ext uri="{FF2B5EF4-FFF2-40B4-BE49-F238E27FC236}">
                <a16:creationId xmlns:a16="http://schemas.microsoft.com/office/drawing/2014/main" id="{521C161B-0B59-B010-D184-EDD01CA0E657}"/>
              </a:ext>
            </a:extLst>
          </p:cNvPr>
          <p:cNvGrpSpPr/>
          <p:nvPr/>
        </p:nvGrpSpPr>
        <p:grpSpPr>
          <a:xfrm>
            <a:off x="254884" y="5201625"/>
            <a:ext cx="3557182" cy="1077218"/>
            <a:chOff x="355600" y="2250118"/>
            <a:chExt cx="3200400" cy="1077218"/>
          </a:xfrm>
        </p:grpSpPr>
        <p:sp>
          <p:nvSpPr>
            <p:cNvPr id="226" name="TextBox 225">
              <a:extLst>
                <a:ext uri="{FF2B5EF4-FFF2-40B4-BE49-F238E27FC236}">
                  <a16:creationId xmlns:a16="http://schemas.microsoft.com/office/drawing/2014/main" id="{A1CCBC79-3E22-8E6B-1AE2-2EDA9C1E1144}"/>
                </a:ext>
              </a:extLst>
            </p:cNvPr>
            <p:cNvSpPr txBox="1"/>
            <p:nvPr/>
          </p:nvSpPr>
          <p:spPr>
            <a:xfrm>
              <a:off x="355600" y="2250118"/>
              <a:ext cx="3200400" cy="1077218"/>
            </a:xfrm>
            <a:prstGeom prst="rect">
              <a:avLst/>
            </a:prstGeom>
            <a:noFill/>
            <a:ln>
              <a:solidFill>
                <a:schemeClr val="tx1"/>
              </a:solidFill>
              <a:prstDash val="dash"/>
            </a:ln>
          </p:spPr>
          <p:txBody>
            <a:bodyPr wrap="square" rtlCol="0">
              <a:spAutoFit/>
            </a:bodyPr>
            <a:lstStyle/>
            <a:p>
              <a:r>
                <a:rPr lang="en-IN" sz="1600" dirty="0"/>
                <a:t>              Pool of talent at one place</a:t>
              </a:r>
            </a:p>
            <a:p>
              <a:r>
                <a:rPr lang="en-IN" sz="1600" dirty="0"/>
                <a:t>              Platform for hiring challenges</a:t>
              </a:r>
            </a:p>
            <a:p>
              <a:r>
                <a:rPr lang="en-IN" sz="1600" dirty="0"/>
                <a:t>              Student community</a:t>
              </a:r>
            </a:p>
            <a:p>
              <a:r>
                <a:rPr lang="en-IN" sz="1600" dirty="0"/>
                <a:t>              B-School reach &amp; engagements</a:t>
              </a:r>
            </a:p>
          </p:txBody>
        </p:sp>
        <p:grpSp>
          <p:nvGrpSpPr>
            <p:cNvPr id="227" name="Group 226">
              <a:extLst>
                <a:ext uri="{FF2B5EF4-FFF2-40B4-BE49-F238E27FC236}">
                  <a16:creationId xmlns:a16="http://schemas.microsoft.com/office/drawing/2014/main" id="{5E2CBD24-55D8-7B94-290E-8DCE872E4A80}"/>
                </a:ext>
              </a:extLst>
            </p:cNvPr>
            <p:cNvGrpSpPr/>
            <p:nvPr/>
          </p:nvGrpSpPr>
          <p:grpSpPr>
            <a:xfrm>
              <a:off x="436880" y="2373915"/>
              <a:ext cx="495359" cy="119532"/>
              <a:chOff x="728921" y="2919691"/>
              <a:chExt cx="1554300" cy="315827"/>
            </a:xfrm>
          </p:grpSpPr>
          <p:sp>
            <p:nvSpPr>
              <p:cNvPr id="246" name="Google Shape;1230;p51">
                <a:extLst>
                  <a:ext uri="{FF2B5EF4-FFF2-40B4-BE49-F238E27FC236}">
                    <a16:creationId xmlns:a16="http://schemas.microsoft.com/office/drawing/2014/main" id="{2991C732-EF0C-ECC0-5567-83AB3D54F2D8}"/>
                  </a:ext>
                </a:extLst>
              </p:cNvPr>
              <p:cNvSpPr/>
              <p:nvPr/>
            </p:nvSpPr>
            <p:spPr>
              <a:xfrm>
                <a:off x="728921" y="2919691"/>
                <a:ext cx="1554300" cy="315826"/>
              </a:xfrm>
              <a:prstGeom prst="roundRect">
                <a:avLst>
                  <a:gd name="adj" fmla="val 16667"/>
                </a:avLst>
              </a:prstGeom>
              <a:solidFill>
                <a:srgbClr val="FFCC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1231;p51">
                <a:extLst>
                  <a:ext uri="{FF2B5EF4-FFF2-40B4-BE49-F238E27FC236}">
                    <a16:creationId xmlns:a16="http://schemas.microsoft.com/office/drawing/2014/main" id="{C3833201-936D-243B-5277-E4ABB84D8009}"/>
                  </a:ext>
                </a:extLst>
              </p:cNvPr>
              <p:cNvSpPr/>
              <p:nvPr/>
            </p:nvSpPr>
            <p:spPr>
              <a:xfrm>
                <a:off x="728941" y="2919694"/>
                <a:ext cx="1318985" cy="315824"/>
              </a:xfrm>
              <a:prstGeom prst="roundRect">
                <a:avLst>
                  <a:gd name="adj" fmla="val 16667"/>
                </a:avLst>
              </a:prstGeom>
              <a:solidFill>
                <a:srgbClr val="DF19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28" name="Group 227">
              <a:extLst>
                <a:ext uri="{FF2B5EF4-FFF2-40B4-BE49-F238E27FC236}">
                  <a16:creationId xmlns:a16="http://schemas.microsoft.com/office/drawing/2014/main" id="{EE7A02B5-AED4-364F-3FB9-0AB48E5466DF}"/>
                </a:ext>
              </a:extLst>
            </p:cNvPr>
            <p:cNvGrpSpPr/>
            <p:nvPr/>
          </p:nvGrpSpPr>
          <p:grpSpPr>
            <a:xfrm>
              <a:off x="436880" y="2606400"/>
              <a:ext cx="495359" cy="119543"/>
              <a:chOff x="728921" y="2919691"/>
              <a:chExt cx="1554300" cy="315856"/>
            </a:xfrm>
          </p:grpSpPr>
          <p:sp>
            <p:nvSpPr>
              <p:cNvPr id="244" name="Google Shape;1230;p51">
                <a:extLst>
                  <a:ext uri="{FF2B5EF4-FFF2-40B4-BE49-F238E27FC236}">
                    <a16:creationId xmlns:a16="http://schemas.microsoft.com/office/drawing/2014/main" id="{32B808C2-0EE8-3041-81FC-FD009DB61FF9}"/>
                  </a:ext>
                </a:extLst>
              </p:cNvPr>
              <p:cNvSpPr/>
              <p:nvPr/>
            </p:nvSpPr>
            <p:spPr>
              <a:xfrm>
                <a:off x="728921" y="2919719"/>
                <a:ext cx="1554300" cy="315828"/>
              </a:xfrm>
              <a:prstGeom prst="roundRect">
                <a:avLst>
                  <a:gd name="adj" fmla="val 16667"/>
                </a:avLst>
              </a:prstGeom>
              <a:solidFill>
                <a:srgbClr val="FFCC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1231;p51">
                <a:extLst>
                  <a:ext uri="{FF2B5EF4-FFF2-40B4-BE49-F238E27FC236}">
                    <a16:creationId xmlns:a16="http://schemas.microsoft.com/office/drawing/2014/main" id="{4DE7E47E-2FE9-1FD8-1C3D-9516D5BF5DA1}"/>
                  </a:ext>
                </a:extLst>
              </p:cNvPr>
              <p:cNvSpPr/>
              <p:nvPr/>
            </p:nvSpPr>
            <p:spPr>
              <a:xfrm>
                <a:off x="728941" y="2919691"/>
                <a:ext cx="1159589" cy="315824"/>
              </a:xfrm>
              <a:prstGeom prst="roundRect">
                <a:avLst>
                  <a:gd name="adj" fmla="val 16667"/>
                </a:avLst>
              </a:prstGeom>
              <a:solidFill>
                <a:srgbClr val="DF19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 name="Group 228">
              <a:extLst>
                <a:ext uri="{FF2B5EF4-FFF2-40B4-BE49-F238E27FC236}">
                  <a16:creationId xmlns:a16="http://schemas.microsoft.com/office/drawing/2014/main" id="{C9B5FDC6-F585-453F-27C0-2D214A78E6FA}"/>
                </a:ext>
              </a:extLst>
            </p:cNvPr>
            <p:cNvGrpSpPr/>
            <p:nvPr/>
          </p:nvGrpSpPr>
          <p:grpSpPr>
            <a:xfrm>
              <a:off x="436879" y="2852636"/>
              <a:ext cx="495359" cy="137282"/>
              <a:chOff x="728921" y="2919694"/>
              <a:chExt cx="1554300" cy="362724"/>
            </a:xfrm>
          </p:grpSpPr>
          <p:sp>
            <p:nvSpPr>
              <p:cNvPr id="242" name="Google Shape;1230;p51">
                <a:extLst>
                  <a:ext uri="{FF2B5EF4-FFF2-40B4-BE49-F238E27FC236}">
                    <a16:creationId xmlns:a16="http://schemas.microsoft.com/office/drawing/2014/main" id="{589FDCA2-5C92-0ED9-97E0-16BD6490D81C}"/>
                  </a:ext>
                </a:extLst>
              </p:cNvPr>
              <p:cNvSpPr/>
              <p:nvPr/>
            </p:nvSpPr>
            <p:spPr>
              <a:xfrm>
                <a:off x="728921" y="2919694"/>
                <a:ext cx="1554300" cy="315824"/>
              </a:xfrm>
              <a:prstGeom prst="roundRect">
                <a:avLst>
                  <a:gd name="adj" fmla="val 16667"/>
                </a:avLst>
              </a:prstGeom>
              <a:solidFill>
                <a:srgbClr val="FFCC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1231;p51">
                <a:extLst>
                  <a:ext uri="{FF2B5EF4-FFF2-40B4-BE49-F238E27FC236}">
                    <a16:creationId xmlns:a16="http://schemas.microsoft.com/office/drawing/2014/main" id="{7AF02AFF-3626-97DC-2883-9F3FD3A22668}"/>
                  </a:ext>
                </a:extLst>
              </p:cNvPr>
              <p:cNvSpPr/>
              <p:nvPr/>
            </p:nvSpPr>
            <p:spPr>
              <a:xfrm>
                <a:off x="728941" y="2919702"/>
                <a:ext cx="932627" cy="362716"/>
              </a:xfrm>
              <a:prstGeom prst="roundRect">
                <a:avLst>
                  <a:gd name="adj" fmla="val 16667"/>
                </a:avLst>
              </a:prstGeom>
              <a:solidFill>
                <a:srgbClr val="DF19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0" name="Group 229">
              <a:extLst>
                <a:ext uri="{FF2B5EF4-FFF2-40B4-BE49-F238E27FC236}">
                  <a16:creationId xmlns:a16="http://schemas.microsoft.com/office/drawing/2014/main" id="{D178B465-A4FD-6DB7-28D0-DBA9A33D36AB}"/>
                </a:ext>
              </a:extLst>
            </p:cNvPr>
            <p:cNvGrpSpPr/>
            <p:nvPr/>
          </p:nvGrpSpPr>
          <p:grpSpPr>
            <a:xfrm>
              <a:off x="436878" y="3098856"/>
              <a:ext cx="495359" cy="119543"/>
              <a:chOff x="728921" y="2919691"/>
              <a:chExt cx="1554300" cy="315856"/>
            </a:xfrm>
          </p:grpSpPr>
          <p:sp>
            <p:nvSpPr>
              <p:cNvPr id="240" name="Google Shape;1230;p51">
                <a:extLst>
                  <a:ext uri="{FF2B5EF4-FFF2-40B4-BE49-F238E27FC236}">
                    <a16:creationId xmlns:a16="http://schemas.microsoft.com/office/drawing/2014/main" id="{B587AC96-5C1F-D788-7C7E-E2DC84F37F87}"/>
                  </a:ext>
                </a:extLst>
              </p:cNvPr>
              <p:cNvSpPr/>
              <p:nvPr/>
            </p:nvSpPr>
            <p:spPr>
              <a:xfrm>
                <a:off x="728921" y="2919719"/>
                <a:ext cx="1554300" cy="315828"/>
              </a:xfrm>
              <a:prstGeom prst="roundRect">
                <a:avLst>
                  <a:gd name="adj" fmla="val 16667"/>
                </a:avLst>
              </a:prstGeom>
              <a:solidFill>
                <a:srgbClr val="FFCC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1231;p51">
                <a:extLst>
                  <a:ext uri="{FF2B5EF4-FFF2-40B4-BE49-F238E27FC236}">
                    <a16:creationId xmlns:a16="http://schemas.microsoft.com/office/drawing/2014/main" id="{BC6470F2-F50C-9DC5-2857-DE3AA945FBDB}"/>
                  </a:ext>
                </a:extLst>
              </p:cNvPr>
              <p:cNvSpPr/>
              <p:nvPr/>
            </p:nvSpPr>
            <p:spPr>
              <a:xfrm>
                <a:off x="728941" y="2919691"/>
                <a:ext cx="1159595" cy="315827"/>
              </a:xfrm>
              <a:prstGeom prst="roundRect">
                <a:avLst>
                  <a:gd name="adj" fmla="val 16667"/>
                </a:avLst>
              </a:prstGeom>
              <a:solidFill>
                <a:srgbClr val="DF19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248" name="Rectangle: Rounded Corners 247">
            <a:extLst>
              <a:ext uri="{FF2B5EF4-FFF2-40B4-BE49-F238E27FC236}">
                <a16:creationId xmlns:a16="http://schemas.microsoft.com/office/drawing/2014/main" id="{20C41055-AAB7-36B6-C2A5-00E7912A604D}"/>
              </a:ext>
            </a:extLst>
          </p:cNvPr>
          <p:cNvSpPr/>
          <p:nvPr/>
        </p:nvSpPr>
        <p:spPr>
          <a:xfrm>
            <a:off x="5399741" y="1087120"/>
            <a:ext cx="1473200" cy="304800"/>
          </a:xfrm>
          <a:prstGeom prst="roundRect">
            <a:avLst/>
          </a:prstGeom>
          <a:solidFill>
            <a:srgbClr val="DF19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Attractiveness</a:t>
            </a:r>
            <a:endParaRPr lang="en-US" sz="1600" dirty="0"/>
          </a:p>
        </p:txBody>
      </p:sp>
      <p:pic>
        <p:nvPicPr>
          <p:cNvPr id="2056" name="Picture 8" descr="Growth ">
            <a:extLst>
              <a:ext uri="{FF2B5EF4-FFF2-40B4-BE49-F238E27FC236}">
                <a16:creationId xmlns:a16="http://schemas.microsoft.com/office/drawing/2014/main" id="{BC2CB35E-73AD-B86C-F749-6C8242B552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6670" y="1661664"/>
            <a:ext cx="578943" cy="578943"/>
          </a:xfrm>
          <a:prstGeom prst="rect">
            <a:avLst/>
          </a:prstGeom>
          <a:noFill/>
          <a:extLst>
            <a:ext uri="{909E8E84-426E-40DD-AFC4-6F175D3DCCD1}">
              <a14:hiddenFill xmlns:a14="http://schemas.microsoft.com/office/drawing/2010/main">
                <a:solidFill>
                  <a:srgbClr val="FFFFFF"/>
                </a:solidFill>
              </a14:hiddenFill>
            </a:ext>
          </a:extLst>
        </p:spPr>
      </p:pic>
      <p:sp>
        <p:nvSpPr>
          <p:cNvPr id="249" name="TextBox 248">
            <a:extLst>
              <a:ext uri="{FF2B5EF4-FFF2-40B4-BE49-F238E27FC236}">
                <a16:creationId xmlns:a16="http://schemas.microsoft.com/office/drawing/2014/main" id="{88F0F527-8BA8-065B-C2CA-3A8A2834D86E}"/>
              </a:ext>
            </a:extLst>
          </p:cNvPr>
          <p:cNvSpPr txBox="1"/>
          <p:nvPr/>
        </p:nvSpPr>
        <p:spPr>
          <a:xfrm>
            <a:off x="4880642" y="1544320"/>
            <a:ext cx="3061879" cy="4852610"/>
          </a:xfrm>
          <a:prstGeom prst="rect">
            <a:avLst/>
          </a:prstGeom>
          <a:noFill/>
        </p:spPr>
        <p:txBody>
          <a:bodyPr wrap="square" rtlCol="0">
            <a:spAutoFit/>
          </a:bodyPr>
          <a:lstStyle/>
          <a:p>
            <a:pPr algn="just"/>
            <a:r>
              <a:rPr lang="en-IN" sz="1600" b="1" dirty="0"/>
              <a:t>Growing number </a:t>
            </a:r>
            <a:r>
              <a:rPr lang="en-IN" sz="1600" dirty="0"/>
              <a:t>of management students in India currently </a:t>
            </a:r>
            <a:r>
              <a:rPr lang="en-IN" sz="1600" b="1" dirty="0"/>
              <a:t>5.97 Lakhs</a:t>
            </a:r>
            <a:r>
              <a:rPr lang="en-IN" sz="1600" b="1" baseline="30000" dirty="0"/>
              <a:t>1</a:t>
            </a:r>
          </a:p>
          <a:p>
            <a:pPr algn="just"/>
            <a:endParaRPr lang="en-IN" sz="1600" b="1" baseline="30000" dirty="0"/>
          </a:p>
          <a:p>
            <a:pPr algn="just"/>
            <a:endParaRPr lang="en-IN" sz="1600" b="1" baseline="30000" dirty="0"/>
          </a:p>
          <a:p>
            <a:pPr algn="just"/>
            <a:r>
              <a:rPr lang="en-US" sz="1600" b="1" dirty="0"/>
              <a:t>Fragmented Market </a:t>
            </a:r>
            <a:r>
              <a:rPr lang="en-US" sz="1600" dirty="0"/>
              <a:t>since the industry is not yet defined and maximum players are trying to achieve product market fit</a:t>
            </a:r>
          </a:p>
          <a:p>
            <a:pPr algn="just"/>
            <a:endParaRPr lang="en-IN" sz="1600" b="1" dirty="0"/>
          </a:p>
          <a:p>
            <a:pPr algn="just"/>
            <a:r>
              <a:rPr lang="en-IN" sz="1600" b="1" dirty="0"/>
              <a:t>Unexplored market </a:t>
            </a:r>
            <a:r>
              <a:rPr lang="en-IN" sz="1600" dirty="0"/>
              <a:t>of tier 2 and tier 3 B-Schools as well as </a:t>
            </a:r>
            <a:r>
              <a:rPr lang="en-IN" sz="1600" b="1" dirty="0"/>
              <a:t>BBA/BMS institutes </a:t>
            </a:r>
            <a:r>
              <a:rPr lang="en-IN" sz="1600" dirty="0"/>
              <a:t>in terms of services offerings, penetration</a:t>
            </a:r>
          </a:p>
          <a:p>
            <a:pPr algn="just"/>
            <a:endParaRPr lang="en-IN" sz="1600" b="1" dirty="0"/>
          </a:p>
          <a:p>
            <a:pPr algn="just"/>
            <a:r>
              <a:rPr lang="en-IN" sz="1600" b="1" dirty="0"/>
              <a:t>Community Driven </a:t>
            </a:r>
            <a:r>
              <a:rPr lang="en-IN" sz="1600" dirty="0"/>
              <a:t>platforms are the new trend where students come together and have a </a:t>
            </a:r>
            <a:r>
              <a:rPr lang="en-IN" sz="1600" b="1" dirty="0"/>
              <a:t>peer-to-peer learning at an inter-b-school level</a:t>
            </a:r>
            <a:endParaRPr lang="en-US" sz="1600" b="1" dirty="0"/>
          </a:p>
        </p:txBody>
      </p:sp>
      <p:pic>
        <p:nvPicPr>
          <p:cNvPr id="2058" name="Picture 10" descr="Tumor ">
            <a:extLst>
              <a:ext uri="{FF2B5EF4-FFF2-40B4-BE49-F238E27FC236}">
                <a16:creationId xmlns:a16="http://schemas.microsoft.com/office/drawing/2014/main" id="{7A1E4034-BD3B-BB0E-AF3D-E0EB100009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50948" y="2698326"/>
            <a:ext cx="578943" cy="578943"/>
          </a:xfrm>
          <a:prstGeom prst="rect">
            <a:avLst/>
          </a:prstGeom>
          <a:noFill/>
          <a:extLst>
            <a:ext uri="{909E8E84-426E-40DD-AFC4-6F175D3DCCD1}">
              <a14:hiddenFill xmlns:a14="http://schemas.microsoft.com/office/drawing/2010/main">
                <a:solidFill>
                  <a:srgbClr val="FFFFFF"/>
                </a:solidFill>
              </a14:hiddenFill>
            </a:ext>
          </a:extLst>
        </p:spPr>
      </p:pic>
      <p:sp>
        <p:nvSpPr>
          <p:cNvPr id="2197" name="Rectangle: Rounded Corners 2196">
            <a:extLst>
              <a:ext uri="{FF2B5EF4-FFF2-40B4-BE49-F238E27FC236}">
                <a16:creationId xmlns:a16="http://schemas.microsoft.com/office/drawing/2014/main" id="{ACDF021C-458F-2DC3-9B7A-BE23A0DCCCB1}"/>
              </a:ext>
            </a:extLst>
          </p:cNvPr>
          <p:cNvSpPr/>
          <p:nvPr/>
        </p:nvSpPr>
        <p:spPr>
          <a:xfrm>
            <a:off x="8304028" y="1637409"/>
            <a:ext cx="3721395" cy="2368670"/>
          </a:xfrm>
          <a:prstGeom prst="roundRect">
            <a:avLst/>
          </a:pr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sz="1600" dirty="0">
              <a:solidFill>
                <a:schemeClr val="tx1"/>
              </a:solidFill>
            </a:endParaRPr>
          </a:p>
          <a:p>
            <a:pPr marL="342900" indent="-342900">
              <a:buFont typeface="+mj-lt"/>
              <a:buAutoNum type="arabicPeriod"/>
            </a:pPr>
            <a:r>
              <a:rPr lang="en-IN" sz="1600" dirty="0">
                <a:solidFill>
                  <a:schemeClr val="tx1"/>
                </a:solidFill>
              </a:rPr>
              <a:t>Placement preparation workshops</a:t>
            </a:r>
          </a:p>
          <a:p>
            <a:pPr marL="342900" indent="-342900">
              <a:buFont typeface="+mj-lt"/>
              <a:buAutoNum type="arabicPeriod"/>
            </a:pPr>
            <a:r>
              <a:rPr lang="en-IN" sz="1600" dirty="0">
                <a:solidFill>
                  <a:schemeClr val="tx1"/>
                </a:solidFill>
              </a:rPr>
              <a:t>Hiring challenges commissions</a:t>
            </a:r>
          </a:p>
          <a:p>
            <a:pPr marL="342900" indent="-342900">
              <a:buFont typeface="+mj-lt"/>
              <a:buAutoNum type="arabicPeriod"/>
            </a:pPr>
            <a:r>
              <a:rPr lang="en-IN" sz="1600" dirty="0">
                <a:solidFill>
                  <a:schemeClr val="tx1"/>
                </a:solidFill>
              </a:rPr>
              <a:t>Advertisement and promotions</a:t>
            </a:r>
          </a:p>
          <a:p>
            <a:pPr marL="342900" indent="-342900">
              <a:buFont typeface="+mj-lt"/>
              <a:buAutoNum type="arabicPeriod"/>
            </a:pPr>
            <a:r>
              <a:rPr lang="en-IN" sz="1600" dirty="0">
                <a:solidFill>
                  <a:schemeClr val="tx1"/>
                </a:solidFill>
              </a:rPr>
              <a:t>Mentorship bootcamp fee and commissions</a:t>
            </a:r>
          </a:p>
          <a:p>
            <a:pPr marL="342900" indent="-342900">
              <a:buFont typeface="+mj-lt"/>
              <a:buAutoNum type="arabicPeriod"/>
            </a:pPr>
            <a:r>
              <a:rPr lang="en-IN" sz="1600" dirty="0">
                <a:solidFill>
                  <a:schemeClr val="tx1"/>
                </a:solidFill>
              </a:rPr>
              <a:t>YouTube ad revenue</a:t>
            </a:r>
          </a:p>
          <a:p>
            <a:pPr marL="342900" indent="-342900">
              <a:buFont typeface="+mj-lt"/>
              <a:buAutoNum type="arabicPeriod"/>
            </a:pPr>
            <a:r>
              <a:rPr lang="en-IN" sz="1600" dirty="0">
                <a:solidFill>
                  <a:schemeClr val="tx1"/>
                </a:solidFill>
              </a:rPr>
              <a:t>Premium membership fee</a:t>
            </a:r>
          </a:p>
          <a:p>
            <a:pPr marL="342900" indent="-342900">
              <a:buFont typeface="+mj-lt"/>
              <a:buAutoNum type="arabicPeriod"/>
            </a:pPr>
            <a:endParaRPr lang="en-IN" sz="1600" dirty="0">
              <a:solidFill>
                <a:schemeClr val="tx1"/>
              </a:solidFill>
            </a:endParaRPr>
          </a:p>
        </p:txBody>
      </p:sp>
      <p:pic>
        <p:nvPicPr>
          <p:cNvPr id="2060" name="Picture 12" descr="Telescope ">
            <a:extLst>
              <a:ext uri="{FF2B5EF4-FFF2-40B4-BE49-F238E27FC236}">
                <a16:creationId xmlns:a16="http://schemas.microsoft.com/office/drawing/2014/main" id="{15451025-D614-25CB-6F45-0394E79316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8447" y="3908706"/>
            <a:ext cx="578943" cy="578943"/>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Partners ">
            <a:extLst>
              <a:ext uri="{FF2B5EF4-FFF2-40B4-BE49-F238E27FC236}">
                <a16:creationId xmlns:a16="http://schemas.microsoft.com/office/drawing/2014/main" id="{ECF30DA2-0326-8E14-1A66-4F49A9BF6CE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68446" y="5106161"/>
            <a:ext cx="578943" cy="578943"/>
          </a:xfrm>
          <a:prstGeom prst="rect">
            <a:avLst/>
          </a:prstGeom>
          <a:noFill/>
          <a:extLst>
            <a:ext uri="{909E8E84-426E-40DD-AFC4-6F175D3DCCD1}">
              <a14:hiddenFill xmlns:a14="http://schemas.microsoft.com/office/drawing/2010/main">
                <a:solidFill>
                  <a:srgbClr val="FFFFFF"/>
                </a:solidFill>
              </a14:hiddenFill>
            </a:ext>
          </a:extLst>
        </p:spPr>
      </p:pic>
      <p:sp>
        <p:nvSpPr>
          <p:cNvPr id="250" name="Rectangle: Rounded Corners 249">
            <a:extLst>
              <a:ext uri="{FF2B5EF4-FFF2-40B4-BE49-F238E27FC236}">
                <a16:creationId xmlns:a16="http://schemas.microsoft.com/office/drawing/2014/main" id="{1B1FB3DC-8D05-7A02-4EEF-2B60E6239218}"/>
              </a:ext>
            </a:extLst>
          </p:cNvPr>
          <p:cNvSpPr/>
          <p:nvPr/>
        </p:nvSpPr>
        <p:spPr>
          <a:xfrm>
            <a:off x="9094097" y="1087120"/>
            <a:ext cx="2125831" cy="304800"/>
          </a:xfrm>
          <a:prstGeom prst="roundRect">
            <a:avLst/>
          </a:prstGeom>
          <a:solidFill>
            <a:srgbClr val="DF19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Commercial Feasibility</a:t>
            </a:r>
            <a:endParaRPr lang="en-US" sz="1600" dirty="0"/>
          </a:p>
        </p:txBody>
      </p:sp>
      <p:sp>
        <p:nvSpPr>
          <p:cNvPr id="2199" name="Rectangle: Rounded Corners 2198">
            <a:extLst>
              <a:ext uri="{FF2B5EF4-FFF2-40B4-BE49-F238E27FC236}">
                <a16:creationId xmlns:a16="http://schemas.microsoft.com/office/drawing/2014/main" id="{787618B0-4954-1F1F-B5FD-DC039DC9A824}"/>
              </a:ext>
            </a:extLst>
          </p:cNvPr>
          <p:cNvSpPr/>
          <p:nvPr/>
        </p:nvSpPr>
        <p:spPr>
          <a:xfrm>
            <a:off x="8296314" y="4300475"/>
            <a:ext cx="3721395" cy="2096456"/>
          </a:xfrm>
          <a:prstGeom prst="roundRect">
            <a:avLst/>
          </a:pr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sz="1600" dirty="0">
              <a:solidFill>
                <a:schemeClr val="tx1"/>
              </a:solidFill>
            </a:endParaRPr>
          </a:p>
          <a:p>
            <a:r>
              <a:rPr lang="en-IN" sz="1600" b="1" dirty="0">
                <a:solidFill>
                  <a:schemeClr val="tx1"/>
                </a:solidFill>
              </a:rPr>
              <a:t>The major challenges faced by the benchmarked companies in terms of monetization are:</a:t>
            </a:r>
          </a:p>
          <a:p>
            <a:pPr marL="342900" indent="-342900">
              <a:buFont typeface="+mj-lt"/>
              <a:buAutoNum type="arabicPeriod"/>
            </a:pPr>
            <a:r>
              <a:rPr lang="en-IN" sz="1600" dirty="0">
                <a:solidFill>
                  <a:schemeClr val="tx1"/>
                </a:solidFill>
              </a:rPr>
              <a:t>Only 2% of the userbase subscribe for the pro membership</a:t>
            </a:r>
          </a:p>
          <a:p>
            <a:pPr marL="342900" indent="-342900">
              <a:buFont typeface="+mj-lt"/>
              <a:buAutoNum type="arabicPeriod"/>
            </a:pPr>
            <a:r>
              <a:rPr lang="en-IN" sz="1600" dirty="0">
                <a:solidFill>
                  <a:schemeClr val="tx1"/>
                </a:solidFill>
              </a:rPr>
              <a:t>It takes a lot of time and loyalty building to introduce paid services</a:t>
            </a:r>
          </a:p>
          <a:p>
            <a:pPr marL="342900" indent="-342900">
              <a:buFont typeface="+mj-lt"/>
              <a:buAutoNum type="arabicPeriod"/>
            </a:pPr>
            <a:endParaRPr lang="en-IN" sz="1600" dirty="0">
              <a:solidFill>
                <a:schemeClr val="tx1"/>
              </a:solidFill>
            </a:endParaRPr>
          </a:p>
        </p:txBody>
      </p:sp>
      <p:sp>
        <p:nvSpPr>
          <p:cNvPr id="2195" name="Rectangle: Rounded Corners 2194">
            <a:extLst>
              <a:ext uri="{FF2B5EF4-FFF2-40B4-BE49-F238E27FC236}">
                <a16:creationId xmlns:a16="http://schemas.microsoft.com/office/drawing/2014/main" id="{049A352F-0E19-64C2-D9FD-E0CCA7EBD794}"/>
              </a:ext>
            </a:extLst>
          </p:cNvPr>
          <p:cNvSpPr/>
          <p:nvPr/>
        </p:nvSpPr>
        <p:spPr>
          <a:xfrm>
            <a:off x="8608328" y="1497475"/>
            <a:ext cx="2215400" cy="304800"/>
          </a:xfrm>
          <a:prstGeom prst="roundRect">
            <a:avLst/>
          </a:prstGeom>
          <a:solidFill>
            <a:srgbClr val="DF19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Major Revenue Streams</a:t>
            </a:r>
            <a:endParaRPr lang="en-US" sz="1600" dirty="0"/>
          </a:p>
        </p:txBody>
      </p:sp>
      <p:sp>
        <p:nvSpPr>
          <p:cNvPr id="2198" name="Rectangle: Rounded Corners 2197">
            <a:extLst>
              <a:ext uri="{FF2B5EF4-FFF2-40B4-BE49-F238E27FC236}">
                <a16:creationId xmlns:a16="http://schemas.microsoft.com/office/drawing/2014/main" id="{A48FCC05-9018-0703-3F57-642282D70DCF}"/>
              </a:ext>
            </a:extLst>
          </p:cNvPr>
          <p:cNvSpPr/>
          <p:nvPr/>
        </p:nvSpPr>
        <p:spPr>
          <a:xfrm>
            <a:off x="8608328" y="4152699"/>
            <a:ext cx="2215400" cy="304800"/>
          </a:xfrm>
          <a:prstGeom prst="roundRect">
            <a:avLst/>
          </a:prstGeom>
          <a:solidFill>
            <a:srgbClr val="DF19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Potential Challenges</a:t>
            </a:r>
            <a:endParaRPr lang="en-US" sz="1600" dirty="0"/>
          </a:p>
        </p:txBody>
      </p:sp>
    </p:spTree>
    <p:extLst>
      <p:ext uri="{BB962C8B-B14F-4D97-AF65-F5344CB8AC3E}">
        <p14:creationId xmlns:p14="http://schemas.microsoft.com/office/powerpoint/2010/main" val="576775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Essential components of an app for MBA students</a:t>
            </a:r>
            <a:endParaRPr lang="en-IN" sz="3200" dirty="0"/>
          </a:p>
        </p:txBody>
      </p:sp>
      <p:sp>
        <p:nvSpPr>
          <p:cNvPr id="4" name="Slide Number Placeholder 3"/>
          <p:cNvSpPr>
            <a:spLocks noGrp="1"/>
          </p:cNvSpPr>
          <p:nvPr>
            <p:ph type="sldNum" sz="quarter" idx="4"/>
          </p:nvPr>
        </p:nvSpPr>
        <p:spPr/>
        <p:txBody>
          <a:bodyPr/>
          <a:lstStyle/>
          <a:p>
            <a:fld id="{2D2D9D99-8454-442A-B0DD-EF173ADD60D6}" type="slidenum">
              <a:rPr lang="en-IN" smtClean="0"/>
              <a:pPr/>
              <a:t>3</a:t>
            </a:fld>
            <a:endParaRPr lang="en-IN"/>
          </a:p>
        </p:txBody>
      </p:sp>
      <p:sp>
        <p:nvSpPr>
          <p:cNvPr id="3" name="Rectangle: Rounded Corners 2">
            <a:extLst>
              <a:ext uri="{FF2B5EF4-FFF2-40B4-BE49-F238E27FC236}">
                <a16:creationId xmlns:a16="http://schemas.microsoft.com/office/drawing/2014/main" id="{4592B9F4-386B-63EC-D3BB-B70717289E55}"/>
              </a:ext>
            </a:extLst>
          </p:cNvPr>
          <p:cNvSpPr/>
          <p:nvPr/>
        </p:nvSpPr>
        <p:spPr>
          <a:xfrm>
            <a:off x="121920" y="1166607"/>
            <a:ext cx="264160" cy="1637553"/>
          </a:xfrm>
          <a:prstGeom prst="roundRect">
            <a:avLst/>
          </a:prstGeom>
          <a:solidFill>
            <a:srgbClr val="DD203F"/>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1600" b="1" dirty="0"/>
              <a:t>Primary research</a:t>
            </a:r>
            <a:endParaRPr lang="en-US" sz="1600" b="1" dirty="0"/>
          </a:p>
        </p:txBody>
      </p:sp>
      <p:cxnSp>
        <p:nvCxnSpPr>
          <p:cNvPr id="7" name="Straight Connector 6">
            <a:extLst>
              <a:ext uri="{FF2B5EF4-FFF2-40B4-BE49-F238E27FC236}">
                <a16:creationId xmlns:a16="http://schemas.microsoft.com/office/drawing/2014/main" id="{A152A32C-48BA-6EC3-042B-008997857176}"/>
              </a:ext>
            </a:extLst>
          </p:cNvPr>
          <p:cNvCxnSpPr>
            <a:cxnSpLocks/>
          </p:cNvCxnSpPr>
          <p:nvPr/>
        </p:nvCxnSpPr>
        <p:spPr>
          <a:xfrm>
            <a:off x="495522" y="3060252"/>
            <a:ext cx="11534509"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5D41C5C9-55D6-6A49-1C4C-2B66970311C1}"/>
              </a:ext>
            </a:extLst>
          </p:cNvPr>
          <p:cNvSpPr/>
          <p:nvPr/>
        </p:nvSpPr>
        <p:spPr>
          <a:xfrm>
            <a:off x="3846008" y="1131047"/>
            <a:ext cx="8285032" cy="1708671"/>
          </a:xfrm>
          <a:prstGeom prst="rect">
            <a:avLst/>
          </a:pr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E9DD06B1-2F12-6E0C-CAD9-DCFE7FB72E3C}"/>
              </a:ext>
            </a:extLst>
          </p:cNvPr>
          <p:cNvSpPr/>
          <p:nvPr/>
        </p:nvSpPr>
        <p:spPr>
          <a:xfrm>
            <a:off x="553271" y="1065007"/>
            <a:ext cx="3139440" cy="1810272"/>
          </a:xfrm>
          <a:custGeom>
            <a:avLst/>
            <a:gdLst>
              <a:gd name="connsiteX0" fmla="*/ 0 w 3139440"/>
              <a:gd name="connsiteY0" fmla="*/ 301718 h 1810272"/>
              <a:gd name="connsiteX1" fmla="*/ 301718 w 3139440"/>
              <a:gd name="connsiteY1" fmla="*/ 0 h 1810272"/>
              <a:gd name="connsiteX2" fmla="*/ 783559 w 3139440"/>
              <a:gd name="connsiteY2" fmla="*/ 0 h 1810272"/>
              <a:gd name="connsiteX3" fmla="*/ 1290760 w 3139440"/>
              <a:gd name="connsiteY3" fmla="*/ 0 h 1810272"/>
              <a:gd name="connsiteX4" fmla="*/ 1772600 w 3139440"/>
              <a:gd name="connsiteY4" fmla="*/ 0 h 1810272"/>
              <a:gd name="connsiteX5" fmla="*/ 2330521 w 3139440"/>
              <a:gd name="connsiteY5" fmla="*/ 0 h 1810272"/>
              <a:gd name="connsiteX6" fmla="*/ 2837722 w 3139440"/>
              <a:gd name="connsiteY6" fmla="*/ 0 h 1810272"/>
              <a:gd name="connsiteX7" fmla="*/ 3139440 w 3139440"/>
              <a:gd name="connsiteY7" fmla="*/ 301718 h 1810272"/>
              <a:gd name="connsiteX8" fmla="*/ 3139440 w 3139440"/>
              <a:gd name="connsiteY8" fmla="*/ 679860 h 1810272"/>
              <a:gd name="connsiteX9" fmla="*/ 3139440 w 3139440"/>
              <a:gd name="connsiteY9" fmla="*/ 1070070 h 1810272"/>
              <a:gd name="connsiteX10" fmla="*/ 3139440 w 3139440"/>
              <a:gd name="connsiteY10" fmla="*/ 1508554 h 1810272"/>
              <a:gd name="connsiteX11" fmla="*/ 2837722 w 3139440"/>
              <a:gd name="connsiteY11" fmla="*/ 1810272 h 1810272"/>
              <a:gd name="connsiteX12" fmla="*/ 2305161 w 3139440"/>
              <a:gd name="connsiteY12" fmla="*/ 1810272 h 1810272"/>
              <a:gd name="connsiteX13" fmla="*/ 1874040 w 3139440"/>
              <a:gd name="connsiteY13" fmla="*/ 1810272 h 1810272"/>
              <a:gd name="connsiteX14" fmla="*/ 1442920 w 3139440"/>
              <a:gd name="connsiteY14" fmla="*/ 1810272 h 1810272"/>
              <a:gd name="connsiteX15" fmla="*/ 935719 w 3139440"/>
              <a:gd name="connsiteY15" fmla="*/ 1810272 h 1810272"/>
              <a:gd name="connsiteX16" fmla="*/ 301718 w 3139440"/>
              <a:gd name="connsiteY16" fmla="*/ 1810272 h 1810272"/>
              <a:gd name="connsiteX17" fmla="*/ 0 w 3139440"/>
              <a:gd name="connsiteY17" fmla="*/ 1508554 h 1810272"/>
              <a:gd name="connsiteX18" fmla="*/ 0 w 3139440"/>
              <a:gd name="connsiteY18" fmla="*/ 1082139 h 1810272"/>
              <a:gd name="connsiteX19" fmla="*/ 0 w 3139440"/>
              <a:gd name="connsiteY19" fmla="*/ 691928 h 1810272"/>
              <a:gd name="connsiteX20" fmla="*/ 0 w 3139440"/>
              <a:gd name="connsiteY20" fmla="*/ 301718 h 1810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139440" h="1810272" extrusionOk="0">
                <a:moveTo>
                  <a:pt x="0" y="301718"/>
                </a:moveTo>
                <a:cubicBezTo>
                  <a:pt x="-41163" y="157112"/>
                  <a:pt x="137356" y="-4346"/>
                  <a:pt x="301718" y="0"/>
                </a:cubicBezTo>
                <a:cubicBezTo>
                  <a:pt x="505039" y="-18785"/>
                  <a:pt x="653530" y="27772"/>
                  <a:pt x="783559" y="0"/>
                </a:cubicBezTo>
                <a:cubicBezTo>
                  <a:pt x="913588" y="-27772"/>
                  <a:pt x="1044052" y="44904"/>
                  <a:pt x="1290760" y="0"/>
                </a:cubicBezTo>
                <a:cubicBezTo>
                  <a:pt x="1537468" y="-44904"/>
                  <a:pt x="1648141" y="7685"/>
                  <a:pt x="1772600" y="0"/>
                </a:cubicBezTo>
                <a:cubicBezTo>
                  <a:pt x="1897059" y="-7685"/>
                  <a:pt x="2194760" y="2425"/>
                  <a:pt x="2330521" y="0"/>
                </a:cubicBezTo>
                <a:cubicBezTo>
                  <a:pt x="2466282" y="-2425"/>
                  <a:pt x="2680079" y="9364"/>
                  <a:pt x="2837722" y="0"/>
                </a:cubicBezTo>
                <a:cubicBezTo>
                  <a:pt x="3008586" y="6959"/>
                  <a:pt x="3127533" y="183104"/>
                  <a:pt x="3139440" y="301718"/>
                </a:cubicBezTo>
                <a:cubicBezTo>
                  <a:pt x="3152976" y="430461"/>
                  <a:pt x="3096947" y="584314"/>
                  <a:pt x="3139440" y="679860"/>
                </a:cubicBezTo>
                <a:cubicBezTo>
                  <a:pt x="3181933" y="775406"/>
                  <a:pt x="3113947" y="975006"/>
                  <a:pt x="3139440" y="1070070"/>
                </a:cubicBezTo>
                <a:cubicBezTo>
                  <a:pt x="3164933" y="1165134"/>
                  <a:pt x="3115167" y="1353954"/>
                  <a:pt x="3139440" y="1508554"/>
                </a:cubicBezTo>
                <a:cubicBezTo>
                  <a:pt x="3139002" y="1697668"/>
                  <a:pt x="3018222" y="1796371"/>
                  <a:pt x="2837722" y="1810272"/>
                </a:cubicBezTo>
                <a:cubicBezTo>
                  <a:pt x="2713176" y="1812330"/>
                  <a:pt x="2420281" y="1762312"/>
                  <a:pt x="2305161" y="1810272"/>
                </a:cubicBezTo>
                <a:cubicBezTo>
                  <a:pt x="2190041" y="1858232"/>
                  <a:pt x="2051884" y="1794296"/>
                  <a:pt x="1874040" y="1810272"/>
                </a:cubicBezTo>
                <a:cubicBezTo>
                  <a:pt x="1696196" y="1826248"/>
                  <a:pt x="1631251" y="1806465"/>
                  <a:pt x="1442920" y="1810272"/>
                </a:cubicBezTo>
                <a:cubicBezTo>
                  <a:pt x="1254589" y="1814079"/>
                  <a:pt x="1108102" y="1796142"/>
                  <a:pt x="935719" y="1810272"/>
                </a:cubicBezTo>
                <a:cubicBezTo>
                  <a:pt x="763336" y="1824402"/>
                  <a:pt x="531454" y="1749598"/>
                  <a:pt x="301718" y="1810272"/>
                </a:cubicBezTo>
                <a:cubicBezTo>
                  <a:pt x="135805" y="1800977"/>
                  <a:pt x="-6213" y="1679889"/>
                  <a:pt x="0" y="1508554"/>
                </a:cubicBezTo>
                <a:cubicBezTo>
                  <a:pt x="-38710" y="1335837"/>
                  <a:pt x="44969" y="1179336"/>
                  <a:pt x="0" y="1082139"/>
                </a:cubicBezTo>
                <a:cubicBezTo>
                  <a:pt x="-44969" y="984943"/>
                  <a:pt x="34945" y="856239"/>
                  <a:pt x="0" y="691928"/>
                </a:cubicBezTo>
                <a:cubicBezTo>
                  <a:pt x="-34945" y="527617"/>
                  <a:pt x="22019" y="406073"/>
                  <a:pt x="0" y="301718"/>
                </a:cubicBezTo>
                <a:close/>
              </a:path>
            </a:pathLst>
          </a:custGeom>
          <a:noFill/>
          <a:ln>
            <a:solidFill>
              <a:schemeClr val="tx1"/>
            </a:solidFill>
            <a:extLst>
              <a:ext uri="{C807C97D-BFC1-408E-A445-0C87EB9F89A2}">
                <ask:lineSketchStyleProps xmlns:ask="http://schemas.microsoft.com/office/drawing/2018/sketchyshapes" sd="1509695631">
                  <a:prstGeom prst="round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sz="1600" dirty="0">
                <a:solidFill>
                  <a:schemeClr val="tx1"/>
                </a:solidFill>
              </a:rPr>
              <a:t>Sample size: </a:t>
            </a:r>
            <a:r>
              <a:rPr lang="en-IN" sz="1600" b="1" dirty="0">
                <a:solidFill>
                  <a:schemeClr val="tx1"/>
                </a:solidFill>
              </a:rPr>
              <a:t>198 (71% M, 29% F)</a:t>
            </a:r>
          </a:p>
          <a:p>
            <a:r>
              <a:rPr lang="en-US" sz="1600" dirty="0">
                <a:solidFill>
                  <a:schemeClr val="tx1"/>
                </a:solidFill>
              </a:rPr>
              <a:t>Tier 1 B-Schools: </a:t>
            </a:r>
            <a:r>
              <a:rPr lang="en-US" sz="1600" b="1" dirty="0">
                <a:solidFill>
                  <a:schemeClr val="tx1"/>
                </a:solidFill>
              </a:rPr>
              <a:t>3</a:t>
            </a:r>
          </a:p>
          <a:p>
            <a:r>
              <a:rPr lang="en-US" sz="1600" dirty="0">
                <a:solidFill>
                  <a:schemeClr val="tx1"/>
                </a:solidFill>
              </a:rPr>
              <a:t>Tier 2 B-Schools: </a:t>
            </a:r>
            <a:r>
              <a:rPr lang="en-US" sz="1600" b="1" dirty="0">
                <a:solidFill>
                  <a:schemeClr val="tx1"/>
                </a:solidFill>
              </a:rPr>
              <a:t>8</a:t>
            </a:r>
          </a:p>
          <a:p>
            <a:r>
              <a:rPr lang="en-US" sz="1600" dirty="0">
                <a:solidFill>
                  <a:schemeClr val="tx1"/>
                </a:solidFill>
              </a:rPr>
              <a:t>Tier 3 B-Schools: </a:t>
            </a:r>
            <a:r>
              <a:rPr lang="en-US" sz="1600" b="1" dirty="0">
                <a:solidFill>
                  <a:schemeClr val="tx1"/>
                </a:solidFill>
              </a:rPr>
              <a:t>4</a:t>
            </a:r>
          </a:p>
          <a:p>
            <a:r>
              <a:rPr lang="en-US" sz="1600" dirty="0">
                <a:solidFill>
                  <a:schemeClr val="tx1"/>
                </a:solidFill>
              </a:rPr>
              <a:t>Other Attributes: 42% </a:t>
            </a:r>
          </a:p>
          <a:p>
            <a:r>
              <a:rPr lang="en-US" sz="1600" dirty="0">
                <a:solidFill>
                  <a:schemeClr val="tx1"/>
                </a:solidFill>
              </a:rPr>
              <a:t>Freshers  &amp; 65% 1</a:t>
            </a:r>
            <a:r>
              <a:rPr lang="en-US" sz="1600" baseline="30000" dirty="0">
                <a:solidFill>
                  <a:schemeClr val="tx1"/>
                </a:solidFill>
              </a:rPr>
              <a:t>st</a:t>
            </a:r>
            <a:r>
              <a:rPr lang="en-US" sz="1600" dirty="0">
                <a:solidFill>
                  <a:schemeClr val="tx1"/>
                </a:solidFill>
              </a:rPr>
              <a:t> Years.</a:t>
            </a:r>
          </a:p>
        </p:txBody>
      </p:sp>
      <p:sp>
        <p:nvSpPr>
          <p:cNvPr id="9" name="Rectangle: Rounded Corners 8">
            <a:extLst>
              <a:ext uri="{FF2B5EF4-FFF2-40B4-BE49-F238E27FC236}">
                <a16:creationId xmlns:a16="http://schemas.microsoft.com/office/drawing/2014/main" id="{FC15CAE9-518C-4CB7-12D5-9F447D690E0A}"/>
              </a:ext>
            </a:extLst>
          </p:cNvPr>
          <p:cNvSpPr/>
          <p:nvPr/>
        </p:nvSpPr>
        <p:spPr>
          <a:xfrm rot="5400000">
            <a:off x="7825962" y="297425"/>
            <a:ext cx="264160" cy="1637553"/>
          </a:xfrm>
          <a:prstGeom prst="roundRect">
            <a:avLst/>
          </a:prstGeom>
          <a:solidFill>
            <a:srgbClr val="DD203F"/>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1600" b="1" dirty="0"/>
              <a:t>Process</a:t>
            </a:r>
            <a:endParaRPr lang="en-US" sz="1600" b="1" dirty="0"/>
          </a:p>
        </p:txBody>
      </p:sp>
      <p:pic>
        <p:nvPicPr>
          <p:cNvPr id="1026" name="Picture 2" descr="Indian Institute of Management Ahmedabad">
            <a:extLst>
              <a:ext uri="{FF2B5EF4-FFF2-40B4-BE49-F238E27FC236}">
                <a16:creationId xmlns:a16="http://schemas.microsoft.com/office/drawing/2014/main" id="{84A1573A-305E-3DA8-EF75-964715B7B40C}"/>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90417"/>
          <a:stretch/>
        </p:blipFill>
        <p:spPr bwMode="auto">
          <a:xfrm>
            <a:off x="2458686" y="1612257"/>
            <a:ext cx="450469" cy="4683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APMI">
            <a:extLst>
              <a:ext uri="{FF2B5EF4-FFF2-40B4-BE49-F238E27FC236}">
                <a16:creationId xmlns:a16="http://schemas.microsoft.com/office/drawing/2014/main" id="{448368BF-62EA-6164-DF91-4096322B370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7333" t="13193"/>
          <a:stretch/>
        </p:blipFill>
        <p:spPr bwMode="auto">
          <a:xfrm>
            <a:off x="2986142" y="1437391"/>
            <a:ext cx="505758" cy="81813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ICFAI Business School Hyderabad - Wikipedia">
            <a:extLst>
              <a:ext uri="{FF2B5EF4-FFF2-40B4-BE49-F238E27FC236}">
                <a16:creationId xmlns:a16="http://schemas.microsoft.com/office/drawing/2014/main" id="{8F5F644B-0705-DBDF-F3EA-6238C43EC42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72098" y="2168700"/>
            <a:ext cx="619802" cy="337885"/>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A3F283D3-3198-316E-E132-6364DE4DBEDC}"/>
              </a:ext>
            </a:extLst>
          </p:cNvPr>
          <p:cNvSpPr txBox="1"/>
          <p:nvPr/>
        </p:nvSpPr>
        <p:spPr>
          <a:xfrm>
            <a:off x="5915882" y="1418933"/>
            <a:ext cx="4084320" cy="1323439"/>
          </a:xfrm>
          <a:prstGeom prst="rect">
            <a:avLst/>
          </a:prstGeom>
          <a:noFill/>
          <a:ln>
            <a:solidFill>
              <a:schemeClr val="tx1"/>
            </a:solidFill>
            <a:prstDash val="dash"/>
          </a:ln>
        </p:spPr>
        <p:txBody>
          <a:bodyPr wrap="square" rtlCol="0">
            <a:spAutoFit/>
          </a:bodyPr>
          <a:lstStyle/>
          <a:p>
            <a:r>
              <a:rPr lang="en-IN" sz="1600" i="1" dirty="0"/>
              <a:t>Identification of factors:</a:t>
            </a:r>
          </a:p>
          <a:p>
            <a:r>
              <a:rPr lang="en-US" sz="1600" b="1" dirty="0"/>
              <a:t>Hygiene factors:</a:t>
            </a:r>
            <a:r>
              <a:rPr lang="en-US" sz="1600" dirty="0"/>
              <a:t> UI, UX, App size, App speed</a:t>
            </a:r>
          </a:p>
          <a:p>
            <a:r>
              <a:rPr lang="en-US" sz="1600" b="1" dirty="0"/>
              <a:t>Delighting factors</a:t>
            </a:r>
            <a:r>
              <a:rPr lang="en-US" sz="1600" dirty="0"/>
              <a:t>: App Color, Image resolution</a:t>
            </a:r>
          </a:p>
          <a:p>
            <a:r>
              <a:rPr lang="en-US" sz="1600" b="1" dirty="0"/>
              <a:t>Offerings:</a:t>
            </a:r>
            <a:r>
              <a:rPr lang="en-US" sz="1600" dirty="0"/>
              <a:t> Frequently used services, most important offerings, Missing offerings </a:t>
            </a:r>
            <a:endParaRPr lang="en-IN" sz="1600" dirty="0"/>
          </a:p>
        </p:txBody>
      </p:sp>
      <p:sp>
        <p:nvSpPr>
          <p:cNvPr id="17" name="TextBox 16">
            <a:extLst>
              <a:ext uri="{FF2B5EF4-FFF2-40B4-BE49-F238E27FC236}">
                <a16:creationId xmlns:a16="http://schemas.microsoft.com/office/drawing/2014/main" id="{269DB729-1D75-1CCA-0970-A2483A1A16B1}"/>
              </a:ext>
            </a:extLst>
          </p:cNvPr>
          <p:cNvSpPr txBox="1"/>
          <p:nvPr/>
        </p:nvSpPr>
        <p:spPr>
          <a:xfrm>
            <a:off x="3976290" y="1418934"/>
            <a:ext cx="1576900" cy="1323439"/>
          </a:xfrm>
          <a:prstGeom prst="rect">
            <a:avLst/>
          </a:prstGeom>
          <a:noFill/>
          <a:ln>
            <a:solidFill>
              <a:schemeClr val="tx1"/>
            </a:solidFill>
            <a:prstDash val="dash"/>
          </a:ln>
        </p:spPr>
        <p:txBody>
          <a:bodyPr wrap="square" rtlCol="0">
            <a:spAutoFit/>
          </a:bodyPr>
          <a:lstStyle/>
          <a:p>
            <a:pPr algn="ctr"/>
            <a:r>
              <a:rPr lang="en-IN" sz="1600" b="1" dirty="0"/>
              <a:t>Benchmark</a:t>
            </a:r>
          </a:p>
          <a:p>
            <a:endParaRPr lang="en-IN" sz="1600" dirty="0"/>
          </a:p>
          <a:p>
            <a:pPr algn="ctr"/>
            <a:endParaRPr lang="en-IN" sz="1600" dirty="0"/>
          </a:p>
          <a:p>
            <a:pPr algn="ctr"/>
            <a:endParaRPr lang="en-IN" sz="1600" dirty="0"/>
          </a:p>
          <a:p>
            <a:pPr algn="ctr"/>
            <a:r>
              <a:rPr lang="en-IN" sz="1600" dirty="0"/>
              <a:t>(market leader)</a:t>
            </a:r>
          </a:p>
        </p:txBody>
      </p:sp>
      <p:pic>
        <p:nvPicPr>
          <p:cNvPr id="18" name="Picture 12" descr="Branding Guidelines on how to use Unstop brand // Unstop (formerly  Dare2Compete)">
            <a:extLst>
              <a:ext uri="{FF2B5EF4-FFF2-40B4-BE49-F238E27FC236}">
                <a16:creationId xmlns:a16="http://schemas.microsoft.com/office/drawing/2014/main" id="{84D6F36C-1778-CE31-1563-59E334272A7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35452" y="1846433"/>
            <a:ext cx="1258577" cy="468442"/>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20" name="Straight Arrow Connector 19">
            <a:extLst>
              <a:ext uri="{FF2B5EF4-FFF2-40B4-BE49-F238E27FC236}">
                <a16:creationId xmlns:a16="http://schemas.microsoft.com/office/drawing/2014/main" id="{F720F4B5-1B74-142C-0F54-FFFC55B907C2}"/>
              </a:ext>
            </a:extLst>
          </p:cNvPr>
          <p:cNvCxnSpPr>
            <a:stCxn id="17" idx="3"/>
            <a:endCxn id="16" idx="1"/>
          </p:cNvCxnSpPr>
          <p:nvPr/>
        </p:nvCxnSpPr>
        <p:spPr>
          <a:xfrm flipV="1">
            <a:off x="5553190" y="2080653"/>
            <a:ext cx="362692"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374168B-5FF2-3F11-0401-9EF548D2F609}"/>
              </a:ext>
            </a:extLst>
          </p:cNvPr>
          <p:cNvSpPr txBox="1"/>
          <p:nvPr/>
        </p:nvSpPr>
        <p:spPr>
          <a:xfrm>
            <a:off x="10362894" y="1418933"/>
            <a:ext cx="1667137" cy="1323439"/>
          </a:xfrm>
          <a:prstGeom prst="rect">
            <a:avLst/>
          </a:prstGeom>
          <a:noFill/>
          <a:ln>
            <a:solidFill>
              <a:schemeClr val="tx1"/>
            </a:solidFill>
            <a:prstDash val="dash"/>
          </a:ln>
        </p:spPr>
        <p:txBody>
          <a:bodyPr wrap="square" rtlCol="0">
            <a:spAutoFit/>
          </a:bodyPr>
          <a:lstStyle/>
          <a:p>
            <a:pPr algn="ctr"/>
            <a:r>
              <a:rPr lang="en-IN" sz="1600" b="1" dirty="0"/>
              <a:t>Questionnaire</a:t>
            </a:r>
          </a:p>
          <a:p>
            <a:pPr marL="342900" indent="-342900">
              <a:buFont typeface="+mj-lt"/>
              <a:buAutoNum type="arabicPeriod"/>
            </a:pPr>
            <a:r>
              <a:rPr lang="en-IN" sz="1600" i="1" dirty="0"/>
              <a:t>Why app?</a:t>
            </a:r>
          </a:p>
          <a:p>
            <a:pPr marL="342900" indent="-342900">
              <a:buFont typeface="+mj-lt"/>
              <a:buAutoNum type="arabicPeriod"/>
            </a:pPr>
            <a:r>
              <a:rPr lang="en-IN" sz="1600" i="1" dirty="0"/>
              <a:t>Time spent?</a:t>
            </a:r>
          </a:p>
          <a:p>
            <a:pPr marL="342900" indent="-342900">
              <a:buFont typeface="+mj-lt"/>
              <a:buAutoNum type="arabicPeriod"/>
            </a:pPr>
            <a:r>
              <a:rPr lang="en-IN" sz="1600" i="1" dirty="0"/>
              <a:t>Features?</a:t>
            </a:r>
          </a:p>
          <a:p>
            <a:pPr marL="342900" indent="-342900">
              <a:buFont typeface="+mj-lt"/>
              <a:buAutoNum type="arabicPeriod"/>
            </a:pPr>
            <a:r>
              <a:rPr lang="en-IN" sz="1600" i="1" dirty="0"/>
              <a:t>Benefits? Etc.</a:t>
            </a:r>
            <a:endParaRPr lang="en-US" sz="1600" i="1" dirty="0"/>
          </a:p>
        </p:txBody>
      </p:sp>
      <p:cxnSp>
        <p:nvCxnSpPr>
          <p:cNvPr id="23" name="Straight Arrow Connector 22">
            <a:extLst>
              <a:ext uri="{FF2B5EF4-FFF2-40B4-BE49-F238E27FC236}">
                <a16:creationId xmlns:a16="http://schemas.microsoft.com/office/drawing/2014/main" id="{1C529E0A-05F6-94AA-11D5-C183B3F907CE}"/>
              </a:ext>
            </a:extLst>
          </p:cNvPr>
          <p:cNvCxnSpPr/>
          <p:nvPr/>
        </p:nvCxnSpPr>
        <p:spPr>
          <a:xfrm flipV="1">
            <a:off x="10000202" y="2080651"/>
            <a:ext cx="362692"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6B3AC166-C2DD-BAC4-E25F-DA6E08A6DEDF}"/>
              </a:ext>
            </a:extLst>
          </p:cNvPr>
          <p:cNvSpPr/>
          <p:nvPr/>
        </p:nvSpPr>
        <p:spPr>
          <a:xfrm>
            <a:off x="121920" y="3786882"/>
            <a:ext cx="243840" cy="987312"/>
          </a:xfrm>
          <a:prstGeom prst="roundRect">
            <a:avLst/>
          </a:prstGeom>
          <a:solidFill>
            <a:srgbClr val="DD203F"/>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1600" b="1" dirty="0"/>
              <a:t>Results</a:t>
            </a:r>
            <a:endParaRPr lang="en-US" sz="1600" b="1" dirty="0"/>
          </a:p>
        </p:txBody>
      </p:sp>
      <p:cxnSp>
        <p:nvCxnSpPr>
          <p:cNvPr id="26" name="Straight Arrow Connector 25">
            <a:extLst>
              <a:ext uri="{FF2B5EF4-FFF2-40B4-BE49-F238E27FC236}">
                <a16:creationId xmlns:a16="http://schemas.microsoft.com/office/drawing/2014/main" id="{23D8D217-30CF-6592-7E99-8E801D648789}"/>
              </a:ext>
            </a:extLst>
          </p:cNvPr>
          <p:cNvCxnSpPr>
            <a:stCxn id="3" idx="2"/>
            <a:endCxn id="24" idx="0"/>
          </p:cNvCxnSpPr>
          <p:nvPr/>
        </p:nvCxnSpPr>
        <p:spPr>
          <a:xfrm flipH="1">
            <a:off x="243840" y="2804160"/>
            <a:ext cx="10160" cy="9827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Rectangle: Rounded Corners 62">
            <a:extLst>
              <a:ext uri="{FF2B5EF4-FFF2-40B4-BE49-F238E27FC236}">
                <a16:creationId xmlns:a16="http://schemas.microsoft.com/office/drawing/2014/main" id="{6B115463-BE80-7D35-7CAB-968FC28CBBF1}"/>
              </a:ext>
            </a:extLst>
          </p:cNvPr>
          <p:cNvSpPr/>
          <p:nvPr/>
        </p:nvSpPr>
        <p:spPr>
          <a:xfrm>
            <a:off x="553272" y="3224906"/>
            <a:ext cx="1615366" cy="226149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 name="TextBox 1023">
            <a:extLst>
              <a:ext uri="{FF2B5EF4-FFF2-40B4-BE49-F238E27FC236}">
                <a16:creationId xmlns:a16="http://schemas.microsoft.com/office/drawing/2014/main" id="{06F9013E-CCF9-01AF-1C09-851B78E0E96B}"/>
              </a:ext>
            </a:extLst>
          </p:cNvPr>
          <p:cNvSpPr txBox="1"/>
          <p:nvPr/>
        </p:nvSpPr>
        <p:spPr>
          <a:xfrm>
            <a:off x="619760" y="3448328"/>
            <a:ext cx="2092960" cy="338554"/>
          </a:xfrm>
          <a:prstGeom prst="rect">
            <a:avLst/>
          </a:prstGeom>
          <a:noFill/>
        </p:spPr>
        <p:txBody>
          <a:bodyPr wrap="square" rtlCol="0">
            <a:spAutoFit/>
          </a:bodyPr>
          <a:lstStyle/>
          <a:p>
            <a:r>
              <a:rPr lang="en-IN" sz="1600" b="1" dirty="0"/>
              <a:t>Rankings:</a:t>
            </a:r>
          </a:p>
        </p:txBody>
      </p:sp>
      <p:pic>
        <p:nvPicPr>
          <p:cNvPr id="1027" name="Graphic 1026" descr="Badge 1 with solid fill">
            <a:extLst>
              <a:ext uri="{FF2B5EF4-FFF2-40B4-BE49-F238E27FC236}">
                <a16:creationId xmlns:a16="http://schemas.microsoft.com/office/drawing/2014/main" id="{0D0D610F-FFF8-C6EB-5378-6B601AC2406C}"/>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0240" y="3886203"/>
            <a:ext cx="277081" cy="277081"/>
          </a:xfrm>
          <a:prstGeom prst="rect">
            <a:avLst/>
          </a:prstGeom>
        </p:spPr>
      </p:pic>
      <p:sp>
        <p:nvSpPr>
          <p:cNvPr id="1029" name="TextBox 1028">
            <a:extLst>
              <a:ext uri="{FF2B5EF4-FFF2-40B4-BE49-F238E27FC236}">
                <a16:creationId xmlns:a16="http://schemas.microsoft.com/office/drawing/2014/main" id="{996BCD67-9924-5E43-71C1-B7AC60030609}"/>
              </a:ext>
            </a:extLst>
          </p:cNvPr>
          <p:cNvSpPr txBox="1"/>
          <p:nvPr/>
        </p:nvSpPr>
        <p:spPr>
          <a:xfrm>
            <a:off x="962781" y="3852230"/>
            <a:ext cx="2092960" cy="338554"/>
          </a:xfrm>
          <a:prstGeom prst="rect">
            <a:avLst/>
          </a:prstGeom>
          <a:noFill/>
        </p:spPr>
        <p:txBody>
          <a:bodyPr wrap="square" rtlCol="0">
            <a:spAutoFit/>
          </a:bodyPr>
          <a:lstStyle/>
          <a:p>
            <a:r>
              <a:rPr lang="en-IN" sz="1600" dirty="0"/>
              <a:t>UI/UX</a:t>
            </a:r>
            <a:r>
              <a:rPr lang="en-IN" sz="1600" b="1" dirty="0"/>
              <a:t> </a:t>
            </a:r>
          </a:p>
        </p:txBody>
      </p:sp>
      <p:pic>
        <p:nvPicPr>
          <p:cNvPr id="1031" name="Graphic 1030" descr="Badge with solid fill">
            <a:extLst>
              <a:ext uri="{FF2B5EF4-FFF2-40B4-BE49-F238E27FC236}">
                <a16:creationId xmlns:a16="http://schemas.microsoft.com/office/drawing/2014/main" id="{59C9C91B-16C4-86EA-470F-156353DFC6C8}"/>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0755" y="4181801"/>
            <a:ext cx="277081" cy="277081"/>
          </a:xfrm>
          <a:prstGeom prst="rect">
            <a:avLst/>
          </a:prstGeom>
        </p:spPr>
      </p:pic>
      <p:pic>
        <p:nvPicPr>
          <p:cNvPr id="1033" name="Graphic 1032" descr="Badge 5 with solid fill">
            <a:extLst>
              <a:ext uri="{FF2B5EF4-FFF2-40B4-BE49-F238E27FC236}">
                <a16:creationId xmlns:a16="http://schemas.microsoft.com/office/drawing/2014/main" id="{49D3C632-5801-351F-77C9-9338A4B0F09F}"/>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0239" y="5068595"/>
            <a:ext cx="277081" cy="277081"/>
          </a:xfrm>
          <a:prstGeom prst="rect">
            <a:avLst/>
          </a:prstGeom>
        </p:spPr>
      </p:pic>
      <p:pic>
        <p:nvPicPr>
          <p:cNvPr id="1035" name="Graphic 1034" descr="Badge 4 with solid fill">
            <a:extLst>
              <a:ext uri="{FF2B5EF4-FFF2-40B4-BE49-F238E27FC236}">
                <a16:creationId xmlns:a16="http://schemas.microsoft.com/office/drawing/2014/main" id="{3B02C94C-AC53-F264-6EFC-6397F8BF28D4}"/>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0240" y="4768360"/>
            <a:ext cx="277080" cy="277080"/>
          </a:xfrm>
          <a:prstGeom prst="rect">
            <a:avLst/>
          </a:prstGeom>
        </p:spPr>
      </p:pic>
      <p:pic>
        <p:nvPicPr>
          <p:cNvPr id="1037" name="Graphic 1036" descr="Badge 3 with solid fill">
            <a:extLst>
              <a:ext uri="{FF2B5EF4-FFF2-40B4-BE49-F238E27FC236}">
                <a16:creationId xmlns:a16="http://schemas.microsoft.com/office/drawing/2014/main" id="{CE15BC34-A874-E5FF-B825-71BC6584DD0F}"/>
              </a:ext>
            </a:extLst>
          </p:cNvPr>
          <p:cNvPicPr>
            <a:picLocks noChangeAspect="1"/>
          </p:cNvPicPr>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50239" y="4477399"/>
            <a:ext cx="277081" cy="277081"/>
          </a:xfrm>
          <a:prstGeom prst="rect">
            <a:avLst/>
          </a:prstGeom>
        </p:spPr>
      </p:pic>
      <p:sp>
        <p:nvSpPr>
          <p:cNvPr id="1039" name="TextBox 1038">
            <a:extLst>
              <a:ext uri="{FF2B5EF4-FFF2-40B4-BE49-F238E27FC236}">
                <a16:creationId xmlns:a16="http://schemas.microsoft.com/office/drawing/2014/main" id="{2460456F-DB0A-5D31-540C-658CB5CFE857}"/>
              </a:ext>
            </a:extLst>
          </p:cNvPr>
          <p:cNvSpPr txBox="1"/>
          <p:nvPr/>
        </p:nvSpPr>
        <p:spPr>
          <a:xfrm>
            <a:off x="962781" y="4151064"/>
            <a:ext cx="2092960" cy="338554"/>
          </a:xfrm>
          <a:prstGeom prst="rect">
            <a:avLst/>
          </a:prstGeom>
          <a:noFill/>
        </p:spPr>
        <p:txBody>
          <a:bodyPr wrap="square" rtlCol="0">
            <a:spAutoFit/>
          </a:bodyPr>
          <a:lstStyle/>
          <a:p>
            <a:r>
              <a:rPr lang="en-IN" sz="1600" dirty="0"/>
              <a:t>App Size</a:t>
            </a:r>
            <a:endParaRPr lang="en-IN" sz="1600" b="1" dirty="0"/>
          </a:p>
        </p:txBody>
      </p:sp>
      <p:sp>
        <p:nvSpPr>
          <p:cNvPr id="1040" name="TextBox 1039">
            <a:extLst>
              <a:ext uri="{FF2B5EF4-FFF2-40B4-BE49-F238E27FC236}">
                <a16:creationId xmlns:a16="http://schemas.microsoft.com/office/drawing/2014/main" id="{CDEBFAF7-4288-E2F9-6439-81ACE0427626}"/>
              </a:ext>
            </a:extLst>
          </p:cNvPr>
          <p:cNvSpPr txBox="1"/>
          <p:nvPr/>
        </p:nvSpPr>
        <p:spPr>
          <a:xfrm>
            <a:off x="962781" y="4449898"/>
            <a:ext cx="2092960" cy="338554"/>
          </a:xfrm>
          <a:prstGeom prst="rect">
            <a:avLst/>
          </a:prstGeom>
          <a:noFill/>
        </p:spPr>
        <p:txBody>
          <a:bodyPr wrap="square" rtlCol="0">
            <a:spAutoFit/>
          </a:bodyPr>
          <a:lstStyle/>
          <a:p>
            <a:r>
              <a:rPr lang="en-IN" sz="1600" dirty="0"/>
              <a:t>Security</a:t>
            </a:r>
            <a:endParaRPr lang="en-IN" sz="1600" b="1" dirty="0"/>
          </a:p>
        </p:txBody>
      </p:sp>
      <p:sp>
        <p:nvSpPr>
          <p:cNvPr id="1041" name="TextBox 1040">
            <a:extLst>
              <a:ext uri="{FF2B5EF4-FFF2-40B4-BE49-F238E27FC236}">
                <a16:creationId xmlns:a16="http://schemas.microsoft.com/office/drawing/2014/main" id="{F33AB8FF-5803-6B9B-6B01-452E368A601F}"/>
              </a:ext>
            </a:extLst>
          </p:cNvPr>
          <p:cNvSpPr txBox="1"/>
          <p:nvPr/>
        </p:nvSpPr>
        <p:spPr>
          <a:xfrm>
            <a:off x="962781" y="4748732"/>
            <a:ext cx="2092960" cy="338554"/>
          </a:xfrm>
          <a:prstGeom prst="rect">
            <a:avLst/>
          </a:prstGeom>
          <a:noFill/>
        </p:spPr>
        <p:txBody>
          <a:bodyPr wrap="square" rtlCol="0">
            <a:spAutoFit/>
          </a:bodyPr>
          <a:lstStyle/>
          <a:p>
            <a:r>
              <a:rPr lang="en-IN" sz="1600" dirty="0"/>
              <a:t>App Speed</a:t>
            </a:r>
            <a:endParaRPr lang="en-IN" sz="1600" b="1" dirty="0"/>
          </a:p>
        </p:txBody>
      </p:sp>
      <p:sp>
        <p:nvSpPr>
          <p:cNvPr id="1042" name="TextBox 1041">
            <a:extLst>
              <a:ext uri="{FF2B5EF4-FFF2-40B4-BE49-F238E27FC236}">
                <a16:creationId xmlns:a16="http://schemas.microsoft.com/office/drawing/2014/main" id="{9BB656BD-1261-2FCB-1BC7-A47D06F0A077}"/>
              </a:ext>
            </a:extLst>
          </p:cNvPr>
          <p:cNvSpPr txBox="1"/>
          <p:nvPr/>
        </p:nvSpPr>
        <p:spPr>
          <a:xfrm>
            <a:off x="962781" y="5047566"/>
            <a:ext cx="2092960" cy="338554"/>
          </a:xfrm>
          <a:prstGeom prst="rect">
            <a:avLst/>
          </a:prstGeom>
          <a:noFill/>
        </p:spPr>
        <p:txBody>
          <a:bodyPr wrap="square" rtlCol="0">
            <a:spAutoFit/>
          </a:bodyPr>
          <a:lstStyle/>
          <a:p>
            <a:r>
              <a:rPr lang="en-IN" sz="1600" dirty="0"/>
              <a:t>App Colour</a:t>
            </a:r>
          </a:p>
        </p:txBody>
      </p:sp>
      <p:graphicFrame>
        <p:nvGraphicFramePr>
          <p:cNvPr id="1048" name="Chart 1047">
            <a:extLst>
              <a:ext uri="{FF2B5EF4-FFF2-40B4-BE49-F238E27FC236}">
                <a16:creationId xmlns:a16="http://schemas.microsoft.com/office/drawing/2014/main" id="{0B654498-DF16-19AE-91FE-96C6CA7EA683}"/>
              </a:ext>
            </a:extLst>
          </p:cNvPr>
          <p:cNvGraphicFramePr/>
          <p:nvPr>
            <p:extLst>
              <p:ext uri="{D42A27DB-BD31-4B8C-83A1-F6EECF244321}">
                <p14:modId xmlns:p14="http://schemas.microsoft.com/office/powerpoint/2010/main" val="2193303862"/>
              </p:ext>
            </p:extLst>
          </p:nvPr>
        </p:nvGraphicFramePr>
        <p:xfrm>
          <a:off x="2356150" y="3224906"/>
          <a:ext cx="9602336" cy="3234694"/>
        </p:xfrm>
        <a:graphic>
          <a:graphicData uri="http://schemas.openxmlformats.org/drawingml/2006/chart">
            <c:chart xmlns:c="http://schemas.openxmlformats.org/drawingml/2006/chart" xmlns:r="http://schemas.openxmlformats.org/officeDocument/2006/relationships" r:id="rId16"/>
          </a:graphicData>
        </a:graphic>
      </p:graphicFrame>
      <p:sp>
        <p:nvSpPr>
          <p:cNvPr id="1054" name="Rectangle: Rounded Corners 1053">
            <a:extLst>
              <a:ext uri="{FF2B5EF4-FFF2-40B4-BE49-F238E27FC236}">
                <a16:creationId xmlns:a16="http://schemas.microsoft.com/office/drawing/2014/main" id="{0FF07CC3-62DE-181F-E3B7-92E5C959D166}"/>
              </a:ext>
            </a:extLst>
          </p:cNvPr>
          <p:cNvSpPr/>
          <p:nvPr/>
        </p:nvSpPr>
        <p:spPr>
          <a:xfrm>
            <a:off x="121920" y="5577840"/>
            <a:ext cx="2046717" cy="8817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solidFill>
                <a:hlinkClick r:id="rId17"/>
              </a:rPr>
              <a:t>             Questionnaire</a:t>
            </a:r>
            <a:r>
              <a:rPr lang="en-IN" sz="1600" dirty="0">
                <a:solidFill>
                  <a:schemeClr val="tx1"/>
                </a:solidFill>
              </a:rPr>
              <a:t> </a:t>
            </a:r>
            <a:endParaRPr lang="en-US" sz="1600" dirty="0">
              <a:solidFill>
                <a:schemeClr val="tx1"/>
              </a:solidFill>
            </a:endParaRPr>
          </a:p>
        </p:txBody>
      </p:sp>
      <p:pic>
        <p:nvPicPr>
          <p:cNvPr id="1055" name="Picture 16">
            <a:extLst>
              <a:ext uri="{FF2B5EF4-FFF2-40B4-BE49-F238E27FC236}">
                <a16:creationId xmlns:a16="http://schemas.microsoft.com/office/drawing/2014/main" id="{1FECDA63-60FF-2F1B-D21F-01EB770ED3BE}"/>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21119" y="5708124"/>
            <a:ext cx="548806" cy="621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78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Compelling factors to download the app</a:t>
            </a:r>
            <a:endParaRPr lang="en-IN" sz="3200" dirty="0"/>
          </a:p>
        </p:txBody>
      </p:sp>
      <p:sp>
        <p:nvSpPr>
          <p:cNvPr id="4" name="Slide Number Placeholder 3"/>
          <p:cNvSpPr>
            <a:spLocks noGrp="1"/>
          </p:cNvSpPr>
          <p:nvPr>
            <p:ph type="sldNum" sz="quarter" idx="4"/>
          </p:nvPr>
        </p:nvSpPr>
        <p:spPr/>
        <p:txBody>
          <a:bodyPr/>
          <a:lstStyle/>
          <a:p>
            <a:fld id="{2D2D9D99-8454-442A-B0DD-EF173ADD60D6}" type="slidenum">
              <a:rPr lang="en-IN" smtClean="0"/>
              <a:pPr/>
              <a:t>4</a:t>
            </a:fld>
            <a:endParaRPr lang="en-IN"/>
          </a:p>
        </p:txBody>
      </p:sp>
      <p:grpSp>
        <p:nvGrpSpPr>
          <p:cNvPr id="13" name="Group 12">
            <a:extLst>
              <a:ext uri="{FF2B5EF4-FFF2-40B4-BE49-F238E27FC236}">
                <a16:creationId xmlns:a16="http://schemas.microsoft.com/office/drawing/2014/main" id="{16E9E489-64E7-1A26-17E0-F5A3880F4CA9}"/>
              </a:ext>
            </a:extLst>
          </p:cNvPr>
          <p:cNvGrpSpPr/>
          <p:nvPr/>
        </p:nvGrpSpPr>
        <p:grpSpPr>
          <a:xfrm>
            <a:off x="309880" y="1443962"/>
            <a:ext cx="11572240" cy="5146179"/>
            <a:chOff x="294640" y="993576"/>
            <a:chExt cx="11572240" cy="5146179"/>
          </a:xfrm>
        </p:grpSpPr>
        <p:sp>
          <p:nvSpPr>
            <p:cNvPr id="3" name="TextBox 2">
              <a:extLst>
                <a:ext uri="{FF2B5EF4-FFF2-40B4-BE49-F238E27FC236}">
                  <a16:creationId xmlns:a16="http://schemas.microsoft.com/office/drawing/2014/main" id="{4E359F8C-07E1-6D9D-049F-DCC6590164E2}"/>
                </a:ext>
              </a:extLst>
            </p:cNvPr>
            <p:cNvSpPr txBox="1"/>
            <p:nvPr/>
          </p:nvSpPr>
          <p:spPr>
            <a:xfrm>
              <a:off x="294640" y="1615440"/>
              <a:ext cx="2763520" cy="3785652"/>
            </a:xfrm>
            <a:prstGeom prst="rect">
              <a:avLst/>
            </a:prstGeom>
            <a:noFill/>
            <a:ln>
              <a:solidFill>
                <a:schemeClr val="tx1"/>
              </a:solidFill>
              <a:prstDash val="dash"/>
            </a:ln>
          </p:spPr>
          <p:txBody>
            <a:bodyPr wrap="square" rtlCol="0">
              <a:spAutoFit/>
            </a:bodyPr>
            <a:lstStyle/>
            <a:p>
              <a:pPr algn="just"/>
              <a:r>
                <a:rPr lang="en-US" sz="1600" dirty="0">
                  <a:effectLst/>
                  <a:latin typeface="Calibri" panose="020F0502020204030204" pitchFamily="34" charset="0"/>
                  <a:ea typeface="Calibri" panose="020F0502020204030204" pitchFamily="34" charset="0"/>
                  <a:cs typeface="Times New Roman" panose="02020603050405020304" pitchFamily="18" charset="0"/>
                </a:rPr>
                <a:t>Mohit is from a tier 2 college and has a knack of solving cases but is:</a:t>
              </a:r>
            </a:p>
            <a:p>
              <a:pPr algn="just"/>
              <a:r>
                <a:rPr lang="en-US" sz="1600" dirty="0">
                  <a:effectLst/>
                  <a:latin typeface="Calibri" panose="020F0502020204030204" pitchFamily="34" charset="0"/>
                  <a:ea typeface="Calibri" panose="020F0502020204030204" pitchFamily="34" charset="0"/>
                  <a:cs typeface="Times New Roman" panose="02020603050405020304" pitchFamily="18" charset="0"/>
                </a:rPr>
                <a:t> </a:t>
              </a:r>
            </a:p>
            <a:p>
              <a:pPr marL="342900" lvl="0" indent="-342900" algn="just">
                <a:buFont typeface="Symbol" panose="05050102010706020507" pitchFamily="18" charset="2"/>
                <a:buChar char=""/>
              </a:pPr>
              <a:r>
                <a:rPr lang="en-US" sz="1600" dirty="0">
                  <a:effectLst/>
                  <a:latin typeface="Calibri" panose="020F0502020204030204" pitchFamily="34" charset="0"/>
                  <a:ea typeface="Calibri" panose="020F0502020204030204" pitchFamily="34" charset="0"/>
                  <a:cs typeface="Times New Roman" panose="02020603050405020304" pitchFamily="18" charset="0"/>
                </a:rPr>
                <a:t>Having very </a:t>
              </a:r>
              <a:r>
                <a:rPr lang="en-US" sz="1600" b="1" dirty="0">
                  <a:effectLst/>
                  <a:latin typeface="Calibri" panose="020F0502020204030204" pitchFamily="34" charset="0"/>
                  <a:ea typeface="Calibri" panose="020F0502020204030204" pitchFamily="34" charset="0"/>
                  <a:cs typeface="Times New Roman" panose="02020603050405020304" pitchFamily="18" charset="0"/>
                </a:rPr>
                <a:t>less case competition opportunities </a:t>
              </a:r>
            </a:p>
            <a:p>
              <a:pPr marL="342900" lvl="0" indent="-342900" algn="just">
                <a:buFont typeface="Symbol" panose="05050102010706020507" pitchFamily="18" charset="2"/>
                <a:buChar char=""/>
              </a:pPr>
              <a:r>
                <a:rPr lang="en-US" sz="1600" dirty="0">
                  <a:effectLst/>
                  <a:latin typeface="Calibri" panose="020F0502020204030204" pitchFamily="34" charset="0"/>
                  <a:ea typeface="Calibri" panose="020F0502020204030204" pitchFamily="34" charset="0"/>
                  <a:cs typeface="Times New Roman" panose="02020603050405020304" pitchFamily="18" charset="0"/>
                </a:rPr>
                <a:t>Unaware of the </a:t>
              </a:r>
              <a:r>
                <a:rPr lang="en-US" sz="1600" b="1" dirty="0">
                  <a:effectLst/>
                  <a:latin typeface="Calibri" panose="020F0502020204030204" pitchFamily="34" charset="0"/>
                  <a:ea typeface="Calibri" panose="020F0502020204030204" pitchFamily="34" charset="0"/>
                  <a:cs typeface="Times New Roman" panose="02020603050405020304" pitchFamily="18" charset="0"/>
                </a:rPr>
                <a:t>upcoming case competitions</a:t>
              </a:r>
            </a:p>
            <a:p>
              <a:pPr marL="342900" lvl="0" indent="-342900" algn="just">
                <a:buFont typeface="Symbol" panose="05050102010706020507" pitchFamily="18" charset="2"/>
                <a:buChar char=""/>
              </a:pPr>
              <a:r>
                <a:rPr lang="en-US" sz="1600" dirty="0">
                  <a:effectLst/>
                  <a:latin typeface="Calibri" panose="020F0502020204030204" pitchFamily="34" charset="0"/>
                  <a:ea typeface="Calibri" panose="020F0502020204030204" pitchFamily="34" charset="0"/>
                  <a:cs typeface="Times New Roman" panose="02020603050405020304" pitchFamily="18" charset="0"/>
                </a:rPr>
                <a:t>Unaware of what approach to take for case studies</a:t>
              </a:r>
            </a:p>
            <a:p>
              <a:pPr marL="342900" lvl="0" indent="-342900" algn="just">
                <a:buFont typeface="Symbol" panose="05050102010706020507" pitchFamily="18" charset="2"/>
                <a:buChar char=""/>
              </a:pPr>
              <a:r>
                <a:rPr lang="en-US" sz="1600" dirty="0">
                  <a:effectLst/>
                  <a:latin typeface="Calibri" panose="020F0502020204030204" pitchFamily="34" charset="0"/>
                  <a:ea typeface="Calibri" panose="020F0502020204030204" pitchFamily="34" charset="0"/>
                  <a:cs typeface="Times New Roman" panose="02020603050405020304" pitchFamily="18" charset="0"/>
                </a:rPr>
                <a:t>No </a:t>
              </a:r>
              <a:r>
                <a:rPr lang="en-US" sz="1600" b="1" dirty="0">
                  <a:effectLst/>
                  <a:latin typeface="Calibri" panose="020F0502020204030204" pitchFamily="34" charset="0"/>
                  <a:ea typeface="Calibri" panose="020F0502020204030204" pitchFamily="34" charset="0"/>
                  <a:cs typeface="Times New Roman" panose="02020603050405020304" pitchFamily="18" charset="0"/>
                </a:rPr>
                <a:t>proper guidance or mentorship </a:t>
              </a:r>
              <a:r>
                <a:rPr lang="en-US" sz="1600" dirty="0">
                  <a:effectLst/>
                  <a:latin typeface="Calibri" panose="020F0502020204030204" pitchFamily="34" charset="0"/>
                  <a:ea typeface="Calibri" panose="020F0502020204030204" pitchFamily="34" charset="0"/>
                  <a:cs typeface="Times New Roman" panose="02020603050405020304" pitchFamily="18" charset="0"/>
                </a:rPr>
                <a:t>on case studies and clearance of quizzes</a:t>
              </a:r>
            </a:p>
          </p:txBody>
        </p:sp>
        <p:sp>
          <p:nvSpPr>
            <p:cNvPr id="6" name="TextBox 5">
              <a:extLst>
                <a:ext uri="{FF2B5EF4-FFF2-40B4-BE49-F238E27FC236}">
                  <a16:creationId xmlns:a16="http://schemas.microsoft.com/office/drawing/2014/main" id="{97DF9674-6718-8CFC-EAF4-D2D707395FAF}"/>
                </a:ext>
              </a:extLst>
            </p:cNvPr>
            <p:cNvSpPr txBox="1"/>
            <p:nvPr/>
          </p:nvSpPr>
          <p:spPr>
            <a:xfrm>
              <a:off x="3230880" y="1615440"/>
              <a:ext cx="2763520" cy="4524315"/>
            </a:xfrm>
            <a:prstGeom prst="rect">
              <a:avLst/>
            </a:prstGeom>
            <a:noFill/>
            <a:ln>
              <a:solidFill>
                <a:schemeClr val="tx1"/>
              </a:solidFill>
              <a:prstDash val="dash"/>
            </a:ln>
          </p:spPr>
          <p:txBody>
            <a:bodyPr wrap="square" rtlCol="0">
              <a:spAutoFit/>
            </a:bodyPr>
            <a:lstStyle/>
            <a:p>
              <a:pPr algn="just"/>
              <a:r>
                <a:rPr lang="en-US" sz="1600" dirty="0">
                  <a:effectLst/>
                  <a:latin typeface="Calibri" panose="020F0502020204030204" pitchFamily="34" charset="0"/>
                  <a:ea typeface="Calibri" panose="020F0502020204030204" pitchFamily="34" charset="0"/>
                  <a:cs typeface="Times New Roman" panose="02020603050405020304" pitchFamily="18" charset="0"/>
                </a:rPr>
                <a:t>Devesh is from a tier 2 college who wants to expand its network thus is :</a:t>
              </a:r>
            </a:p>
            <a:p>
              <a:pPr algn="just"/>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buFont typeface="Symbol" panose="05050102010706020507" pitchFamily="18" charset="2"/>
                <a:buChar char=""/>
              </a:pPr>
              <a:r>
                <a:rPr lang="en-US" sz="1600" dirty="0">
                  <a:effectLst/>
                  <a:latin typeface="Calibri" panose="020F0502020204030204" pitchFamily="34" charset="0"/>
                  <a:ea typeface="Calibri" panose="020F0502020204030204" pitchFamily="34" charset="0"/>
                  <a:cs typeface="Times New Roman" panose="02020603050405020304" pitchFamily="18" charset="0"/>
                </a:rPr>
                <a:t>Looking for a </a:t>
              </a:r>
              <a:r>
                <a:rPr lang="en-US" sz="1600" b="1" dirty="0">
                  <a:effectLst/>
                  <a:latin typeface="Calibri" panose="020F0502020204030204" pitchFamily="34" charset="0"/>
                  <a:ea typeface="Calibri" panose="020F0502020204030204" pitchFamily="34" charset="0"/>
                  <a:cs typeface="Times New Roman" panose="02020603050405020304" pitchFamily="18" charset="0"/>
                </a:rPr>
                <a:t>platform for interacting with students </a:t>
              </a:r>
              <a:r>
                <a:rPr lang="en-US" sz="1600" dirty="0">
                  <a:effectLst/>
                  <a:latin typeface="Calibri" panose="020F0502020204030204" pitchFamily="34" charset="0"/>
                  <a:ea typeface="Calibri" panose="020F0502020204030204" pitchFamily="34" charset="0"/>
                  <a:cs typeface="Times New Roman" panose="02020603050405020304" pitchFamily="18" charset="0"/>
                </a:rPr>
                <a:t>from other colleges</a:t>
              </a:r>
            </a:p>
            <a:p>
              <a:pPr marL="342900" lvl="0" indent="-342900" algn="just">
                <a:buFont typeface="Symbol" panose="05050102010706020507" pitchFamily="18" charset="2"/>
                <a:buChar char=""/>
              </a:pPr>
              <a:r>
                <a:rPr lang="en-US" sz="1600" dirty="0">
                  <a:effectLst/>
                  <a:latin typeface="Calibri" panose="020F0502020204030204" pitchFamily="34" charset="0"/>
                  <a:ea typeface="Calibri" panose="020F0502020204030204" pitchFamily="34" charset="0"/>
                  <a:cs typeface="Times New Roman" panose="02020603050405020304" pitchFamily="18" charset="0"/>
                </a:rPr>
                <a:t>Looking for a </a:t>
              </a:r>
              <a:r>
                <a:rPr lang="en-US" sz="1600" b="1" dirty="0">
                  <a:effectLst/>
                  <a:latin typeface="Calibri" panose="020F0502020204030204" pitchFamily="34" charset="0"/>
                  <a:ea typeface="Calibri" panose="020F0502020204030204" pitchFamily="34" charset="0"/>
                  <a:cs typeface="Times New Roman" panose="02020603050405020304" pitchFamily="18" charset="0"/>
                </a:rPr>
                <a:t>community/forum to discuss </a:t>
              </a:r>
              <a:r>
                <a:rPr lang="en-US" sz="1600" dirty="0">
                  <a:effectLst/>
                  <a:latin typeface="Calibri" panose="020F0502020204030204" pitchFamily="34" charset="0"/>
                  <a:ea typeface="Calibri" panose="020F0502020204030204" pitchFamily="34" charset="0"/>
                  <a:cs typeface="Times New Roman" panose="02020603050405020304" pitchFamily="18" charset="0"/>
                </a:rPr>
                <a:t>on various topics such as Product management, analytics etc.</a:t>
              </a:r>
            </a:p>
            <a:p>
              <a:pPr marL="342900" lvl="0" indent="-342900" algn="just">
                <a:buFont typeface="Symbol" panose="05050102010706020507" pitchFamily="18" charset="2"/>
                <a:buChar char=""/>
              </a:pPr>
              <a:r>
                <a:rPr lang="en-US" sz="1600" dirty="0">
                  <a:effectLst/>
                  <a:latin typeface="Calibri" panose="020F0502020204030204" pitchFamily="34" charset="0"/>
                  <a:ea typeface="Calibri" panose="020F0502020204030204" pitchFamily="34" charset="0"/>
                  <a:cs typeface="Times New Roman" panose="02020603050405020304" pitchFamily="18" charset="0"/>
                </a:rPr>
                <a:t>Looking for a </a:t>
              </a:r>
              <a:r>
                <a:rPr lang="en-US" sz="1600" b="1" dirty="0">
                  <a:effectLst/>
                  <a:latin typeface="Calibri" panose="020F0502020204030204" pitchFamily="34" charset="0"/>
                  <a:ea typeface="Calibri" panose="020F0502020204030204" pitchFamily="34" charset="0"/>
                  <a:cs typeface="Times New Roman" panose="02020603050405020304" pitchFamily="18" charset="0"/>
                </a:rPr>
                <a:t>platform</a:t>
              </a:r>
              <a:r>
                <a:rPr lang="en-US" sz="1600" dirty="0">
                  <a:effectLst/>
                  <a:latin typeface="Calibri" panose="020F0502020204030204" pitchFamily="34" charset="0"/>
                  <a:ea typeface="Calibri" panose="020F0502020204030204" pitchFamily="34" charset="0"/>
                  <a:cs typeface="Times New Roman" panose="02020603050405020304" pitchFamily="18" charset="0"/>
                </a:rPr>
                <a:t> where he can read articles, news about the stock markets and exchange views</a:t>
              </a:r>
            </a:p>
          </p:txBody>
        </p:sp>
        <p:sp>
          <p:nvSpPr>
            <p:cNvPr id="7" name="TextBox 6">
              <a:extLst>
                <a:ext uri="{FF2B5EF4-FFF2-40B4-BE49-F238E27FC236}">
                  <a16:creationId xmlns:a16="http://schemas.microsoft.com/office/drawing/2014/main" id="{F1199252-C724-5072-0953-02F39FFC3CEA}"/>
                </a:ext>
              </a:extLst>
            </p:cNvPr>
            <p:cNvSpPr txBox="1"/>
            <p:nvPr/>
          </p:nvSpPr>
          <p:spPr>
            <a:xfrm>
              <a:off x="6167120" y="1615439"/>
              <a:ext cx="2763520" cy="3539430"/>
            </a:xfrm>
            <a:prstGeom prst="rect">
              <a:avLst/>
            </a:prstGeom>
            <a:noFill/>
            <a:ln>
              <a:solidFill>
                <a:schemeClr val="tx1"/>
              </a:solidFill>
              <a:prstDash val="dash"/>
            </a:ln>
          </p:spPr>
          <p:txBody>
            <a:bodyPr wrap="square" rtlCol="0">
              <a:spAutoFit/>
            </a:bodyPr>
            <a:lstStyle/>
            <a:p>
              <a:pPr algn="just"/>
              <a:r>
                <a:rPr lang="en-US" sz="1600" dirty="0">
                  <a:effectLst/>
                  <a:latin typeface="Calibri" panose="020F0502020204030204" pitchFamily="34" charset="0"/>
                  <a:ea typeface="Calibri" panose="020F0502020204030204" pitchFamily="34" charset="0"/>
                  <a:cs typeface="Times New Roman" panose="02020603050405020304" pitchFamily="18" charset="0"/>
                </a:rPr>
                <a:t>Kajal from a tier 3 college is an avid information seeker &amp; thus is looking for a platform for:</a:t>
              </a:r>
            </a:p>
            <a:p>
              <a:pPr algn="just"/>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buFont typeface="Symbol" panose="05050102010706020507" pitchFamily="18" charset="2"/>
                <a:buChar char=""/>
              </a:pPr>
              <a:r>
                <a:rPr lang="en-US" sz="1600" b="1" dirty="0">
                  <a:effectLst/>
                  <a:latin typeface="Calibri" panose="020F0502020204030204" pitchFamily="34" charset="0"/>
                  <a:ea typeface="Calibri" panose="020F0502020204030204" pitchFamily="34" charset="0"/>
                  <a:cs typeface="Times New Roman" panose="02020603050405020304" pitchFamily="18" charset="0"/>
                </a:rPr>
                <a:t>Informative sessions </a:t>
              </a:r>
              <a:r>
                <a:rPr lang="en-US" sz="1600" dirty="0">
                  <a:effectLst/>
                  <a:latin typeface="Calibri" panose="020F0502020204030204" pitchFamily="34" charset="0"/>
                  <a:ea typeface="Calibri" panose="020F0502020204030204" pitchFamily="34" charset="0"/>
                  <a:cs typeface="Times New Roman" panose="02020603050405020304" pitchFamily="18" charset="0"/>
                </a:rPr>
                <a:t>could be provided by CEOs/CXOs etc. about the latest market trend</a:t>
              </a:r>
            </a:p>
            <a:p>
              <a:pPr marL="342900" lvl="0" indent="-342900" algn="just">
                <a:buFont typeface="Symbol" panose="05050102010706020507" pitchFamily="18" charset="2"/>
                <a:buChar char=""/>
              </a:pPr>
              <a:r>
                <a:rPr lang="en-US" sz="1600" b="1" dirty="0">
                  <a:effectLst/>
                  <a:latin typeface="Calibri" panose="020F0502020204030204" pitchFamily="34" charset="0"/>
                  <a:ea typeface="Calibri" panose="020F0502020204030204" pitchFamily="34" charset="0"/>
                  <a:cs typeface="Times New Roman" panose="02020603050405020304" pitchFamily="18" charset="0"/>
                </a:rPr>
                <a:t>Placement/Internship prep sessions </a:t>
              </a:r>
              <a:r>
                <a:rPr lang="en-US" sz="1600" dirty="0">
                  <a:effectLst/>
                  <a:latin typeface="Calibri" panose="020F0502020204030204" pitchFamily="34" charset="0"/>
                  <a:ea typeface="Calibri" panose="020F0502020204030204" pitchFamily="34" charset="0"/>
                  <a:cs typeface="Times New Roman" panose="02020603050405020304" pitchFamily="18" charset="0"/>
                </a:rPr>
                <a:t>on Interviews, guesstimates, group discussions etc.</a:t>
              </a:r>
            </a:p>
            <a:p>
              <a:pPr marL="342900" lvl="0" indent="-342900" algn="just">
                <a:buFont typeface="Symbol" panose="05050102010706020507" pitchFamily="18" charset="2"/>
                <a:buChar char=""/>
              </a:pPr>
              <a:r>
                <a:rPr lang="en-US" sz="1600" b="1" dirty="0">
                  <a:effectLst/>
                  <a:latin typeface="Calibri" panose="020F0502020204030204" pitchFamily="34" charset="0"/>
                  <a:ea typeface="Calibri" panose="020F0502020204030204" pitchFamily="34" charset="0"/>
                  <a:cs typeface="Times New Roman" panose="02020603050405020304" pitchFamily="18" charset="0"/>
                </a:rPr>
                <a:t>Counselling session </a:t>
              </a:r>
              <a:r>
                <a:rPr lang="en-US" sz="1600" dirty="0">
                  <a:effectLst/>
                  <a:latin typeface="Calibri" panose="020F0502020204030204" pitchFamily="34" charset="0"/>
                  <a:ea typeface="Calibri" panose="020F0502020204030204" pitchFamily="34" charset="0"/>
                  <a:cs typeface="Times New Roman" panose="02020603050405020304" pitchFamily="18" charset="0"/>
                </a:rPr>
                <a:t>on which domain to get into.</a:t>
              </a:r>
            </a:p>
          </p:txBody>
        </p:sp>
        <p:sp>
          <p:nvSpPr>
            <p:cNvPr id="8" name="TextBox 7">
              <a:extLst>
                <a:ext uri="{FF2B5EF4-FFF2-40B4-BE49-F238E27FC236}">
                  <a16:creationId xmlns:a16="http://schemas.microsoft.com/office/drawing/2014/main" id="{2B1F04FB-C337-69D1-867E-851B7C079A94}"/>
                </a:ext>
              </a:extLst>
            </p:cNvPr>
            <p:cNvSpPr txBox="1"/>
            <p:nvPr/>
          </p:nvSpPr>
          <p:spPr>
            <a:xfrm>
              <a:off x="9103360" y="1615438"/>
              <a:ext cx="2763520" cy="3539430"/>
            </a:xfrm>
            <a:prstGeom prst="rect">
              <a:avLst/>
            </a:prstGeom>
            <a:noFill/>
            <a:ln>
              <a:solidFill>
                <a:schemeClr val="tx1"/>
              </a:solidFill>
              <a:prstDash val="dash"/>
            </a:ln>
          </p:spPr>
          <p:txBody>
            <a:bodyPr wrap="square" rtlCol="0">
              <a:spAutoFit/>
            </a:bodyPr>
            <a:lstStyle/>
            <a:p>
              <a:pPr algn="just"/>
              <a:r>
                <a:rPr lang="en-US" sz="1600" dirty="0">
                  <a:effectLst/>
                  <a:latin typeface="Calibri" panose="020F0502020204030204" pitchFamily="34" charset="0"/>
                  <a:ea typeface="Calibri" panose="020F0502020204030204" pitchFamily="34" charset="0"/>
                  <a:cs typeface="Times New Roman" panose="02020603050405020304" pitchFamily="18" charset="0"/>
                </a:rPr>
                <a:t>Yash is constantly looking for opportunities to enhance his knowledge gather experience</a:t>
              </a:r>
            </a:p>
            <a:p>
              <a:pPr algn="just"/>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buFont typeface="Symbol" panose="05050102010706020507" pitchFamily="18" charset="2"/>
                <a:buChar char=""/>
              </a:pPr>
              <a:r>
                <a:rPr lang="en-US" sz="1600" dirty="0">
                  <a:effectLst/>
                  <a:latin typeface="Calibri" panose="020F0502020204030204" pitchFamily="34" charset="0"/>
                  <a:ea typeface="Calibri" panose="020F0502020204030204" pitchFamily="34" charset="0"/>
                  <a:cs typeface="Times New Roman" panose="02020603050405020304" pitchFamily="18" charset="0"/>
                </a:rPr>
                <a:t>Placements, internships, live projects, various competitions, research etc.</a:t>
              </a:r>
            </a:p>
            <a:p>
              <a:pPr marL="342900" lvl="0" indent="-342900" algn="just">
                <a:buFont typeface="Symbol" panose="05050102010706020507" pitchFamily="18" charset="2"/>
                <a:buChar char=""/>
              </a:pPr>
              <a:r>
                <a:rPr lang="en-US" sz="1600" b="1" dirty="0">
                  <a:effectLst/>
                  <a:latin typeface="Calibri" panose="020F0502020204030204" pitchFamily="34" charset="0"/>
                  <a:ea typeface="Calibri" panose="020F0502020204030204" pitchFamily="34" charset="0"/>
                  <a:cs typeface="Times New Roman" panose="02020603050405020304" pitchFamily="18" charset="0"/>
                </a:rPr>
                <a:t>Certifications</a:t>
              </a:r>
              <a:r>
                <a:rPr lang="en-US" sz="1600" dirty="0">
                  <a:effectLst/>
                  <a:latin typeface="Calibri" panose="020F0502020204030204" pitchFamily="34" charset="0"/>
                  <a:ea typeface="Calibri" panose="020F0502020204030204" pitchFamily="34" charset="0"/>
                  <a:cs typeface="Times New Roman" panose="02020603050405020304" pitchFamily="18" charset="0"/>
                </a:rPr>
                <a:t> on multiple topics such as consultation etc. and a hands-on experience along with that.</a:t>
              </a:r>
            </a:p>
            <a:p>
              <a:pPr algn="just"/>
              <a:r>
                <a:rPr lang="en-US" sz="16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9" name="Rectangle: Rounded Corners 8">
              <a:extLst>
                <a:ext uri="{FF2B5EF4-FFF2-40B4-BE49-F238E27FC236}">
                  <a16:creationId xmlns:a16="http://schemas.microsoft.com/office/drawing/2014/main" id="{3F549056-1FA3-BA2C-626A-9F360FCB31C7}"/>
                </a:ext>
              </a:extLst>
            </p:cNvPr>
            <p:cNvSpPr/>
            <p:nvPr/>
          </p:nvSpPr>
          <p:spPr>
            <a:xfrm>
              <a:off x="1143000" y="1304508"/>
              <a:ext cx="1762760" cy="310930"/>
            </a:xfrm>
            <a:prstGeom prst="roundRect">
              <a:avLst/>
            </a:prstGeom>
            <a:solidFill>
              <a:srgbClr val="DF19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Case Enthusiast</a:t>
              </a:r>
              <a:endParaRPr lang="en-US" sz="1600" dirty="0"/>
            </a:p>
          </p:txBody>
        </p:sp>
        <p:sp>
          <p:nvSpPr>
            <p:cNvPr id="10" name="Rectangle: Rounded Corners 9">
              <a:extLst>
                <a:ext uri="{FF2B5EF4-FFF2-40B4-BE49-F238E27FC236}">
                  <a16:creationId xmlns:a16="http://schemas.microsoft.com/office/drawing/2014/main" id="{A1F6A4D6-C38F-714B-806D-C8169605A8F8}"/>
                </a:ext>
              </a:extLst>
            </p:cNvPr>
            <p:cNvSpPr/>
            <p:nvPr/>
          </p:nvSpPr>
          <p:spPr>
            <a:xfrm>
              <a:off x="4068782" y="1304508"/>
              <a:ext cx="1762760" cy="310930"/>
            </a:xfrm>
            <a:prstGeom prst="roundRect">
              <a:avLst/>
            </a:prstGeom>
            <a:solidFill>
              <a:srgbClr val="DF19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Networking geek</a:t>
              </a:r>
              <a:endParaRPr lang="en-US" sz="1600" dirty="0"/>
            </a:p>
          </p:txBody>
        </p:sp>
        <p:sp>
          <p:nvSpPr>
            <p:cNvPr id="11" name="Rectangle: Rounded Corners 10">
              <a:extLst>
                <a:ext uri="{FF2B5EF4-FFF2-40B4-BE49-F238E27FC236}">
                  <a16:creationId xmlns:a16="http://schemas.microsoft.com/office/drawing/2014/main" id="{FD15E09F-B0EB-5E06-7DE6-9F294F550545}"/>
                </a:ext>
              </a:extLst>
            </p:cNvPr>
            <p:cNvSpPr/>
            <p:nvPr/>
          </p:nvSpPr>
          <p:spPr>
            <a:xfrm>
              <a:off x="6994564" y="1304508"/>
              <a:ext cx="1837166" cy="310930"/>
            </a:xfrm>
            <a:prstGeom prst="roundRect">
              <a:avLst/>
            </a:prstGeom>
            <a:solidFill>
              <a:srgbClr val="DF19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Information Digger</a:t>
              </a:r>
              <a:endParaRPr lang="en-US" sz="1600" dirty="0"/>
            </a:p>
          </p:txBody>
        </p:sp>
        <p:sp>
          <p:nvSpPr>
            <p:cNvPr id="12" name="Rectangle: Rounded Corners 11">
              <a:extLst>
                <a:ext uri="{FF2B5EF4-FFF2-40B4-BE49-F238E27FC236}">
                  <a16:creationId xmlns:a16="http://schemas.microsoft.com/office/drawing/2014/main" id="{CF0AE5E8-3992-A0B0-AE66-EC43FDFD4A38}"/>
                </a:ext>
              </a:extLst>
            </p:cNvPr>
            <p:cNvSpPr/>
            <p:nvPr/>
          </p:nvSpPr>
          <p:spPr>
            <a:xfrm>
              <a:off x="9950825" y="1298376"/>
              <a:ext cx="1837166" cy="310930"/>
            </a:xfrm>
            <a:prstGeom prst="roundRect">
              <a:avLst/>
            </a:prstGeom>
            <a:solidFill>
              <a:srgbClr val="DF19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Opportunity Seeker</a:t>
              </a:r>
              <a:endParaRPr lang="en-US" sz="1600" dirty="0"/>
            </a:p>
          </p:txBody>
        </p:sp>
        <p:pic>
          <p:nvPicPr>
            <p:cNvPr id="2050" name="Picture 2" descr="Enthusiast ">
              <a:extLst>
                <a:ext uri="{FF2B5EF4-FFF2-40B4-BE49-F238E27FC236}">
                  <a16:creationId xmlns:a16="http://schemas.microsoft.com/office/drawing/2014/main" id="{F89E59B5-0CF0-76B6-3A4A-86068AB2E7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711" y="993576"/>
              <a:ext cx="609600" cy="6096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Geek ">
              <a:extLst>
                <a:ext uri="{FF2B5EF4-FFF2-40B4-BE49-F238E27FC236}">
                  <a16:creationId xmlns:a16="http://schemas.microsoft.com/office/drawing/2014/main" id="{A1CEC808-10CF-159E-2C1A-661AD0B5E9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6324" y="1005838"/>
              <a:ext cx="609600" cy="6096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nformation ">
              <a:extLst>
                <a:ext uri="{FF2B5EF4-FFF2-40B4-BE49-F238E27FC236}">
                  <a16:creationId xmlns:a16="http://schemas.microsoft.com/office/drawing/2014/main" id="{A6FC239A-3519-1895-5D45-D0E13A747D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9417" y="1005838"/>
              <a:ext cx="609600" cy="6096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Binocular ">
              <a:extLst>
                <a:ext uri="{FF2B5EF4-FFF2-40B4-BE49-F238E27FC236}">
                  <a16:creationId xmlns:a16="http://schemas.microsoft.com/office/drawing/2014/main" id="{283E8A2E-F8C2-3A23-07B5-7CD1262F1F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78068" y="993576"/>
              <a:ext cx="609600" cy="609600"/>
            </a:xfrm>
            <a:prstGeom prst="rect">
              <a:avLst/>
            </a:prstGeom>
            <a:noFill/>
            <a:extLst>
              <a:ext uri="{909E8E84-426E-40DD-AFC4-6F175D3DCCD1}">
                <a14:hiddenFill xmlns:a14="http://schemas.microsoft.com/office/drawing/2010/main">
                  <a:solidFill>
                    <a:srgbClr val="FFFFFF"/>
                  </a:solidFill>
                </a14:hiddenFill>
              </a:ext>
            </a:extLst>
          </p:spPr>
        </p:pic>
      </p:grpSp>
      <p:sp>
        <p:nvSpPr>
          <p:cNvPr id="14" name="TextBox 13">
            <a:extLst>
              <a:ext uri="{FF2B5EF4-FFF2-40B4-BE49-F238E27FC236}">
                <a16:creationId xmlns:a16="http://schemas.microsoft.com/office/drawing/2014/main" id="{BB0CFA3B-DD02-872B-9077-6B2D0EF3C037}"/>
              </a:ext>
            </a:extLst>
          </p:cNvPr>
          <p:cNvSpPr txBox="1"/>
          <p:nvPr/>
        </p:nvSpPr>
        <p:spPr>
          <a:xfrm>
            <a:off x="0" y="913838"/>
            <a:ext cx="12232341" cy="339674"/>
          </a:xfrm>
          <a:prstGeom prst="rect">
            <a:avLst/>
          </a:prstGeom>
          <a:solidFill>
            <a:srgbClr val="DF1939"/>
          </a:solidFill>
        </p:spPr>
        <p:txBody>
          <a:bodyPr wrap="square" rtlCol="0">
            <a:spAutoFit/>
          </a:bodyPr>
          <a:lstStyle/>
          <a:p>
            <a:pPr algn="ctr"/>
            <a:r>
              <a:rPr lang="en-IN" sz="1600" b="1" dirty="0">
                <a:solidFill>
                  <a:schemeClr val="bg1"/>
                </a:solidFill>
              </a:rPr>
              <a:t>User persona and their unmet needs (As per the primary research, community discussions and personal experience)</a:t>
            </a:r>
            <a:endParaRPr lang="en-US" sz="1600" b="1" dirty="0">
              <a:solidFill>
                <a:schemeClr val="bg1"/>
              </a:solidFill>
            </a:endParaRPr>
          </a:p>
        </p:txBody>
      </p:sp>
    </p:spTree>
    <p:extLst>
      <p:ext uri="{BB962C8B-B14F-4D97-AF65-F5344CB8AC3E}">
        <p14:creationId xmlns:p14="http://schemas.microsoft.com/office/powerpoint/2010/main" val="4000286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Compelling factors to download the app</a:t>
            </a:r>
            <a:endParaRPr lang="en-IN" sz="3200" dirty="0"/>
          </a:p>
        </p:txBody>
      </p:sp>
      <p:sp>
        <p:nvSpPr>
          <p:cNvPr id="4" name="Slide Number Placeholder 3"/>
          <p:cNvSpPr>
            <a:spLocks noGrp="1"/>
          </p:cNvSpPr>
          <p:nvPr>
            <p:ph type="sldNum" sz="quarter" idx="4"/>
          </p:nvPr>
        </p:nvSpPr>
        <p:spPr/>
        <p:txBody>
          <a:bodyPr/>
          <a:lstStyle/>
          <a:p>
            <a:fld id="{2D2D9D99-8454-442A-B0DD-EF173ADD60D6}" type="slidenum">
              <a:rPr lang="en-IN" smtClean="0"/>
              <a:pPr/>
              <a:t>5</a:t>
            </a:fld>
            <a:endParaRPr lang="en-IN"/>
          </a:p>
        </p:txBody>
      </p:sp>
      <p:sp>
        <p:nvSpPr>
          <p:cNvPr id="7" name="TextBox 6">
            <a:extLst>
              <a:ext uri="{FF2B5EF4-FFF2-40B4-BE49-F238E27FC236}">
                <a16:creationId xmlns:a16="http://schemas.microsoft.com/office/drawing/2014/main" id="{CCFA0DB7-04BD-AB65-6AEA-6C2AB4FF93BC}"/>
              </a:ext>
            </a:extLst>
          </p:cNvPr>
          <p:cNvSpPr txBox="1"/>
          <p:nvPr/>
        </p:nvSpPr>
        <p:spPr>
          <a:xfrm>
            <a:off x="1" y="913838"/>
            <a:ext cx="12192000" cy="338554"/>
          </a:xfrm>
          <a:prstGeom prst="rect">
            <a:avLst/>
          </a:prstGeom>
          <a:solidFill>
            <a:srgbClr val="DF1939"/>
          </a:solidFill>
        </p:spPr>
        <p:txBody>
          <a:bodyPr wrap="square" rtlCol="0">
            <a:spAutoFit/>
          </a:bodyPr>
          <a:lstStyle/>
          <a:p>
            <a:pPr algn="ctr"/>
            <a:r>
              <a:rPr lang="en-US" sz="16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To cater to the unmet needs of the students, YUGMA can segregate its app into 4 sections</a:t>
            </a:r>
            <a:endParaRPr lang="en-US" sz="1400" b="1" dirty="0">
              <a:solidFill>
                <a:schemeClr val="bg1"/>
              </a:solidFill>
            </a:endParaRPr>
          </a:p>
        </p:txBody>
      </p:sp>
      <p:sp>
        <p:nvSpPr>
          <p:cNvPr id="9" name="TextBox 8">
            <a:extLst>
              <a:ext uri="{FF2B5EF4-FFF2-40B4-BE49-F238E27FC236}">
                <a16:creationId xmlns:a16="http://schemas.microsoft.com/office/drawing/2014/main" id="{76466E7E-64A2-41FD-15FF-9539A1D2449B}"/>
              </a:ext>
            </a:extLst>
          </p:cNvPr>
          <p:cNvSpPr txBox="1"/>
          <p:nvPr/>
        </p:nvSpPr>
        <p:spPr>
          <a:xfrm>
            <a:off x="289560" y="1702480"/>
            <a:ext cx="2763520" cy="3046988"/>
          </a:xfrm>
          <a:prstGeom prst="rect">
            <a:avLst/>
          </a:prstGeom>
          <a:noFill/>
          <a:ln>
            <a:solidFill>
              <a:schemeClr val="tx1"/>
            </a:solidFill>
            <a:prstDash val="dash"/>
          </a:ln>
        </p:spPr>
        <p:txBody>
          <a:bodyPr wrap="square" rtlCol="0">
            <a:spAutoFit/>
          </a:bodyPr>
          <a:lstStyle/>
          <a:p>
            <a:pPr marL="342900" lvl="0" indent="-342900" algn="just">
              <a:buFont typeface="Symbol" panose="05050102010706020507" pitchFamily="18" charset="2"/>
              <a:buChar char=""/>
            </a:pPr>
            <a:r>
              <a:rPr lang="en-US" sz="1600" b="1" dirty="0">
                <a:effectLst/>
                <a:latin typeface="Calibri" panose="020F0502020204030204" pitchFamily="34" charset="0"/>
                <a:ea typeface="Calibri" panose="020F0502020204030204" pitchFamily="34" charset="0"/>
                <a:cs typeface="Times New Roman" panose="02020603050405020304" pitchFamily="18" charset="0"/>
              </a:rPr>
              <a:t>Conduct Sessions</a:t>
            </a:r>
            <a:r>
              <a:rPr lang="en-US" sz="1600" b="1" dirty="0">
                <a:latin typeface="Calibri" panose="020F0502020204030204" pitchFamily="34" charset="0"/>
                <a:ea typeface="Calibri" panose="020F0502020204030204" pitchFamily="34" charset="0"/>
                <a:cs typeface="Times New Roman" panose="02020603050405020304" pitchFamily="18" charset="0"/>
              </a:rPr>
              <a:t> or </a:t>
            </a:r>
            <a:r>
              <a:rPr lang="en-US" sz="1600" b="1" dirty="0">
                <a:effectLst/>
                <a:latin typeface="Calibri" panose="020F0502020204030204" pitchFamily="34" charset="0"/>
                <a:ea typeface="Calibri" panose="020F0502020204030204" pitchFamily="34" charset="0"/>
                <a:cs typeface="Times New Roman" panose="02020603050405020304" pitchFamily="18" charset="0"/>
              </a:rPr>
              <a:t>Webinars </a:t>
            </a:r>
            <a:r>
              <a:rPr lang="en-US" sz="1600" dirty="0">
                <a:effectLst/>
                <a:latin typeface="Calibri" panose="020F0502020204030204" pitchFamily="34" charset="0"/>
                <a:ea typeface="Calibri" panose="020F0502020204030204" pitchFamily="34" charset="0"/>
                <a:cs typeface="Times New Roman" panose="02020603050405020304" pitchFamily="18" charset="0"/>
              </a:rPr>
              <a:t>by the previous winners of multiple competitions for the students for proper guidance </a:t>
            </a:r>
          </a:p>
          <a:p>
            <a:pPr marL="342900" lvl="0" indent="-342900" algn="just">
              <a:buFont typeface="Symbol" panose="05050102010706020507" pitchFamily="18" charset="2"/>
              <a:buChar char=""/>
            </a:pPr>
            <a:r>
              <a:rPr lang="en-US" sz="1600" dirty="0">
                <a:effectLst/>
                <a:latin typeface="Calibri" panose="020F0502020204030204" pitchFamily="34" charset="0"/>
                <a:ea typeface="Calibri" panose="020F0502020204030204" pitchFamily="34" charset="0"/>
                <a:cs typeface="Times New Roman" panose="02020603050405020304" pitchFamily="18" charset="0"/>
              </a:rPr>
              <a:t>Share the </a:t>
            </a:r>
            <a:r>
              <a:rPr lang="en-US" sz="1600" b="1" dirty="0">
                <a:effectLst/>
                <a:latin typeface="Calibri" panose="020F0502020204030204" pitchFamily="34" charset="0"/>
                <a:ea typeface="Calibri" panose="020F0502020204030204" pitchFamily="34" charset="0"/>
                <a:cs typeface="Times New Roman" panose="02020603050405020304" pitchFamily="18" charset="0"/>
              </a:rPr>
              <a:t>PPTs of the previous case winners </a:t>
            </a:r>
            <a:r>
              <a:rPr lang="en-US" sz="1600" dirty="0">
                <a:effectLst/>
                <a:latin typeface="Calibri" panose="020F0502020204030204" pitchFamily="34" charset="0"/>
                <a:ea typeface="Calibri" panose="020F0502020204030204" pitchFamily="34" charset="0"/>
                <a:cs typeface="Times New Roman" panose="02020603050405020304" pitchFamily="18" charset="0"/>
              </a:rPr>
              <a:t>on the platform for better approach towards the cases</a:t>
            </a:r>
          </a:p>
          <a:p>
            <a:pPr marL="342900" lvl="0" indent="-342900" algn="just">
              <a:buFont typeface="Symbol" panose="05050102010706020507" pitchFamily="18" charset="2"/>
              <a:buChar char=""/>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4EC59D86-CC57-5616-30FA-EF20132C833D}"/>
              </a:ext>
            </a:extLst>
          </p:cNvPr>
          <p:cNvSpPr/>
          <p:nvPr/>
        </p:nvSpPr>
        <p:spPr>
          <a:xfrm>
            <a:off x="1010920" y="1391548"/>
            <a:ext cx="2042160" cy="310932"/>
          </a:xfrm>
          <a:prstGeom prst="roundRect">
            <a:avLst/>
          </a:prstGeom>
          <a:solidFill>
            <a:srgbClr val="DF19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Competition training</a:t>
            </a:r>
            <a:endParaRPr lang="en-US" sz="1600" dirty="0"/>
          </a:p>
        </p:txBody>
      </p:sp>
      <p:sp>
        <p:nvSpPr>
          <p:cNvPr id="11" name="TextBox 10">
            <a:extLst>
              <a:ext uri="{FF2B5EF4-FFF2-40B4-BE49-F238E27FC236}">
                <a16:creationId xmlns:a16="http://schemas.microsoft.com/office/drawing/2014/main" id="{53955E7B-86C0-391E-C9F2-E9739B63BBF5}"/>
              </a:ext>
            </a:extLst>
          </p:cNvPr>
          <p:cNvSpPr txBox="1"/>
          <p:nvPr/>
        </p:nvSpPr>
        <p:spPr>
          <a:xfrm>
            <a:off x="3225800" y="1702480"/>
            <a:ext cx="2763520" cy="3046988"/>
          </a:xfrm>
          <a:prstGeom prst="rect">
            <a:avLst/>
          </a:prstGeom>
          <a:noFill/>
          <a:ln>
            <a:solidFill>
              <a:schemeClr val="tx1"/>
            </a:solidFill>
            <a:prstDash val="dash"/>
          </a:ln>
        </p:spPr>
        <p:txBody>
          <a:bodyPr wrap="square" rtlCol="0">
            <a:spAutoFit/>
          </a:bodyPr>
          <a:lstStyle/>
          <a:p>
            <a:pPr marL="342900" lvl="0" indent="-342900" algn="just">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F</a:t>
            </a:r>
            <a:r>
              <a:rPr lang="en-US" sz="1600" dirty="0">
                <a:effectLst/>
                <a:latin typeface="Calibri" panose="020F0502020204030204" pitchFamily="34" charset="0"/>
                <a:ea typeface="Calibri" panose="020F0502020204030204" pitchFamily="34" charset="0"/>
                <a:cs typeface="Times New Roman" panose="02020603050405020304" pitchFamily="18" charset="0"/>
              </a:rPr>
              <a:t>orum feature in the app</a:t>
            </a:r>
          </a:p>
          <a:p>
            <a:pPr marL="342900" lvl="0" indent="-342900" algn="just">
              <a:buFont typeface="Symbol" panose="05050102010706020507" pitchFamily="18" charset="2"/>
              <a:buChar char=""/>
            </a:pPr>
            <a:r>
              <a:rPr lang="en-US" sz="1600" dirty="0">
                <a:effectLst/>
                <a:latin typeface="Calibri" panose="020F0502020204030204" pitchFamily="34" charset="0"/>
                <a:ea typeface="Calibri" panose="020F0502020204030204" pitchFamily="34" charset="0"/>
                <a:cs typeface="Times New Roman" panose="02020603050405020304" pitchFamily="18" charset="0"/>
              </a:rPr>
              <a:t>From the dropdowns of Forum list, students can choose the forum in which they want to have a discussion</a:t>
            </a:r>
          </a:p>
          <a:p>
            <a:pPr marL="342900" lvl="0" indent="-342900" algn="just">
              <a:buFont typeface="Symbol" panose="05050102010706020507" pitchFamily="18" charset="2"/>
              <a:buChar char=""/>
            </a:pPr>
            <a:r>
              <a:rPr lang="en-US" sz="1600" dirty="0">
                <a:effectLst/>
                <a:latin typeface="Calibri" panose="020F0502020204030204" pitchFamily="34" charset="0"/>
                <a:ea typeface="Calibri" panose="020F0502020204030204" pitchFamily="34" charset="0"/>
                <a:cs typeface="Times New Roman" panose="02020603050405020304" pitchFamily="18" charset="0"/>
              </a:rPr>
              <a:t>Provide </a:t>
            </a:r>
            <a:r>
              <a:rPr lang="en-US" sz="1600" b="1" dirty="0">
                <a:effectLst/>
                <a:latin typeface="Calibri" panose="020F0502020204030204" pitchFamily="34" charset="0"/>
                <a:ea typeface="Calibri" panose="020F0502020204030204" pitchFamily="34" charset="0"/>
                <a:cs typeface="Times New Roman" panose="02020603050405020304" pitchFamily="18" charset="0"/>
              </a:rPr>
              <a:t>push notifications </a:t>
            </a:r>
            <a:r>
              <a:rPr lang="en-US" sz="1600" dirty="0">
                <a:effectLst/>
                <a:latin typeface="Calibri" panose="020F0502020204030204" pitchFamily="34" charset="0"/>
                <a:ea typeface="Calibri" panose="020F0502020204030204" pitchFamily="34" charset="0"/>
                <a:cs typeface="Times New Roman" panose="02020603050405020304" pitchFamily="18" charset="0"/>
              </a:rPr>
              <a:t>to the registered students about the latest happenings in the business domain and the tech industry</a:t>
            </a:r>
          </a:p>
        </p:txBody>
      </p:sp>
      <p:sp>
        <p:nvSpPr>
          <p:cNvPr id="12" name="Rectangle: Rounded Corners 11">
            <a:extLst>
              <a:ext uri="{FF2B5EF4-FFF2-40B4-BE49-F238E27FC236}">
                <a16:creationId xmlns:a16="http://schemas.microsoft.com/office/drawing/2014/main" id="{48A96C24-5297-06DF-FD7F-0D38888DD3A6}"/>
              </a:ext>
            </a:extLst>
          </p:cNvPr>
          <p:cNvSpPr/>
          <p:nvPr/>
        </p:nvSpPr>
        <p:spPr>
          <a:xfrm>
            <a:off x="3947160" y="1391548"/>
            <a:ext cx="2042160" cy="310932"/>
          </a:xfrm>
          <a:prstGeom prst="roundRect">
            <a:avLst/>
          </a:prstGeom>
          <a:solidFill>
            <a:srgbClr val="DF19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Forum</a:t>
            </a:r>
            <a:endParaRPr lang="en-US" sz="1600" dirty="0"/>
          </a:p>
        </p:txBody>
      </p:sp>
      <p:sp>
        <p:nvSpPr>
          <p:cNvPr id="13" name="TextBox 12">
            <a:extLst>
              <a:ext uri="{FF2B5EF4-FFF2-40B4-BE49-F238E27FC236}">
                <a16:creationId xmlns:a16="http://schemas.microsoft.com/office/drawing/2014/main" id="{05D4DECA-5B0E-1AC8-D872-6ECAD6F0B919}"/>
              </a:ext>
            </a:extLst>
          </p:cNvPr>
          <p:cNvSpPr txBox="1"/>
          <p:nvPr/>
        </p:nvSpPr>
        <p:spPr>
          <a:xfrm>
            <a:off x="6162040" y="1702480"/>
            <a:ext cx="2763520" cy="3046988"/>
          </a:xfrm>
          <a:prstGeom prst="rect">
            <a:avLst/>
          </a:prstGeom>
          <a:noFill/>
          <a:ln>
            <a:solidFill>
              <a:schemeClr val="tx1"/>
            </a:solidFill>
            <a:prstDash val="dash"/>
          </a:ln>
        </p:spPr>
        <p:txBody>
          <a:bodyPr wrap="square" rtlCol="0">
            <a:spAutoFit/>
          </a:bodyPr>
          <a:lstStyle/>
          <a:p>
            <a:pPr marL="342900" lvl="0" indent="-342900" algn="just">
              <a:buFont typeface="Symbol" panose="05050102010706020507" pitchFamily="18" charset="2"/>
              <a:buChar char=""/>
            </a:pPr>
            <a:r>
              <a:rPr lang="en-US" sz="1600" b="1" dirty="0">
                <a:latin typeface="Calibri" panose="020F0502020204030204" pitchFamily="34" charset="0"/>
                <a:ea typeface="Calibri" panose="020F0502020204030204" pitchFamily="34" charset="0"/>
                <a:cs typeface="Times New Roman" panose="02020603050405020304" pitchFamily="18" charset="0"/>
              </a:rPr>
              <a:t>Mentorship sessions</a:t>
            </a:r>
            <a:r>
              <a:rPr lang="en-US" sz="1600" b="1" dirty="0">
                <a:effectLst/>
                <a:latin typeface="Calibri" panose="020F0502020204030204" pitchFamily="34" charset="0"/>
                <a:ea typeface="Calibri" panose="020F0502020204030204" pitchFamily="34" charset="0"/>
                <a:cs typeface="Times New Roman" panose="02020603050405020304" pitchFamily="18" charset="0"/>
              </a:rPr>
              <a:t> </a:t>
            </a:r>
            <a:r>
              <a:rPr lang="en-US" sz="1600" dirty="0">
                <a:effectLst/>
                <a:latin typeface="Calibri" panose="020F0502020204030204" pitchFamily="34" charset="0"/>
                <a:ea typeface="Calibri" panose="020F0502020204030204" pitchFamily="34" charset="0"/>
                <a:cs typeface="Times New Roman" panose="02020603050405020304" pitchFamily="18" charset="0"/>
              </a:rPr>
              <a:t>by top leaders on the latest trends in the industry  </a:t>
            </a:r>
          </a:p>
          <a:p>
            <a:pPr marL="342900" lvl="0" indent="-342900" algn="just">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M</a:t>
            </a:r>
            <a:r>
              <a:rPr lang="en-US" sz="1600" dirty="0">
                <a:effectLst/>
                <a:latin typeface="Calibri" panose="020F0502020204030204" pitchFamily="34" charset="0"/>
                <a:ea typeface="Calibri" panose="020F0502020204030204" pitchFamily="34" charset="0"/>
                <a:cs typeface="Times New Roman" panose="02020603050405020304" pitchFamily="18" charset="0"/>
              </a:rPr>
              <a:t>entorships sessions by the experts on Placement/Internship prep</a:t>
            </a:r>
          </a:p>
          <a:p>
            <a:pPr marL="342900" lvl="0" indent="-342900" algn="just">
              <a:buFont typeface="Symbol" panose="05050102010706020507" pitchFamily="18" charset="2"/>
              <a:buChar char=""/>
            </a:pPr>
            <a:r>
              <a:rPr lang="en-US" sz="1600" b="1" dirty="0">
                <a:effectLst/>
                <a:latin typeface="Calibri" panose="020F0502020204030204" pitchFamily="34" charset="0"/>
                <a:ea typeface="Calibri" panose="020F0502020204030204" pitchFamily="34" charset="0"/>
                <a:cs typeface="Times New Roman" panose="02020603050405020304" pitchFamily="18" charset="0"/>
              </a:rPr>
              <a:t>Counselling sessions </a:t>
            </a:r>
            <a:r>
              <a:rPr lang="en-US" sz="1600" dirty="0">
                <a:effectLst/>
                <a:latin typeface="Calibri" panose="020F0502020204030204" pitchFamily="34" charset="0"/>
                <a:ea typeface="Calibri" panose="020F0502020204030204" pitchFamily="34" charset="0"/>
                <a:cs typeface="Times New Roman" panose="02020603050405020304" pitchFamily="18" charset="0"/>
              </a:rPr>
              <a:t>wherein students can get clarity about which domain to get into(marketing/finance etc.)</a:t>
            </a:r>
          </a:p>
        </p:txBody>
      </p:sp>
      <p:sp>
        <p:nvSpPr>
          <p:cNvPr id="14" name="Rectangle: Rounded Corners 13">
            <a:extLst>
              <a:ext uri="{FF2B5EF4-FFF2-40B4-BE49-F238E27FC236}">
                <a16:creationId xmlns:a16="http://schemas.microsoft.com/office/drawing/2014/main" id="{9648A241-E725-95CB-4AF8-E40DF88A0312}"/>
              </a:ext>
            </a:extLst>
          </p:cNvPr>
          <p:cNvSpPr/>
          <p:nvPr/>
        </p:nvSpPr>
        <p:spPr>
          <a:xfrm>
            <a:off x="6883400" y="1391548"/>
            <a:ext cx="2042160" cy="310932"/>
          </a:xfrm>
          <a:prstGeom prst="roundRect">
            <a:avLst/>
          </a:prstGeom>
          <a:solidFill>
            <a:srgbClr val="DF19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Mentorship Programs</a:t>
            </a:r>
            <a:endParaRPr lang="en-US" sz="1600" dirty="0"/>
          </a:p>
        </p:txBody>
      </p:sp>
      <p:sp>
        <p:nvSpPr>
          <p:cNvPr id="15" name="TextBox 14">
            <a:extLst>
              <a:ext uri="{FF2B5EF4-FFF2-40B4-BE49-F238E27FC236}">
                <a16:creationId xmlns:a16="http://schemas.microsoft.com/office/drawing/2014/main" id="{D49383DD-DF6E-E682-A6E1-4A936BC2469B}"/>
              </a:ext>
            </a:extLst>
          </p:cNvPr>
          <p:cNvSpPr txBox="1"/>
          <p:nvPr/>
        </p:nvSpPr>
        <p:spPr>
          <a:xfrm>
            <a:off x="9098280" y="1702480"/>
            <a:ext cx="2763520" cy="3046988"/>
          </a:xfrm>
          <a:prstGeom prst="rect">
            <a:avLst/>
          </a:prstGeom>
          <a:noFill/>
          <a:ln>
            <a:solidFill>
              <a:schemeClr val="tx1"/>
            </a:solidFill>
            <a:prstDash val="dash"/>
          </a:ln>
        </p:spPr>
        <p:txBody>
          <a:bodyPr wrap="square" rtlCol="0">
            <a:spAutoFit/>
          </a:bodyPr>
          <a:lstStyle/>
          <a:p>
            <a:pPr marL="342900" lvl="0" indent="-342900" algn="just">
              <a:buFont typeface="Symbol" panose="05050102010706020507" pitchFamily="18" charset="2"/>
              <a:buChar char=""/>
            </a:pPr>
            <a:r>
              <a:rPr lang="en-US" sz="1600" b="1" dirty="0">
                <a:effectLst/>
                <a:latin typeface="Calibri" panose="020F0502020204030204" pitchFamily="34" charset="0"/>
                <a:ea typeface="Calibri" panose="020F0502020204030204" pitchFamily="34" charset="0"/>
                <a:cs typeface="Times New Roman" panose="02020603050405020304" pitchFamily="18" charset="0"/>
              </a:rPr>
              <a:t>Conduct</a:t>
            </a:r>
            <a:r>
              <a:rPr lang="en-US" sz="1600" dirty="0">
                <a:effectLst/>
                <a:latin typeface="Calibri" panose="020F0502020204030204" pitchFamily="34" charset="0"/>
                <a:ea typeface="Calibri" panose="020F0502020204030204" pitchFamily="34" charset="0"/>
                <a:cs typeface="Times New Roman" panose="02020603050405020304" pitchFamily="18" charset="0"/>
              </a:rPr>
              <a:t> </a:t>
            </a:r>
            <a:r>
              <a:rPr lang="en-US" sz="1600" b="1" dirty="0">
                <a:effectLst/>
                <a:latin typeface="Calibri" panose="020F0502020204030204" pitchFamily="34" charset="0"/>
                <a:ea typeface="Calibri" panose="020F0502020204030204" pitchFamily="34" charset="0"/>
                <a:cs typeface="Times New Roman" panose="02020603050405020304" pitchFamily="18" charset="0"/>
              </a:rPr>
              <a:t>certification courses </a:t>
            </a:r>
            <a:r>
              <a:rPr lang="en-US" sz="1600" dirty="0">
                <a:effectLst/>
                <a:latin typeface="Calibri" panose="020F0502020204030204" pitchFamily="34" charset="0"/>
                <a:ea typeface="Calibri" panose="020F0502020204030204" pitchFamily="34" charset="0"/>
                <a:cs typeface="Times New Roman" panose="02020603050405020304" pitchFamily="18" charset="0"/>
              </a:rPr>
              <a:t>followed by relevant Live Projects for hands-on experience </a:t>
            </a:r>
          </a:p>
          <a:p>
            <a:pPr marL="342900" lvl="0" indent="-342900" algn="just">
              <a:buFont typeface="Symbol" panose="05050102010706020507" pitchFamily="18" charset="2"/>
              <a:buChar char=""/>
            </a:pPr>
            <a:r>
              <a:rPr lang="en-US" sz="1600" b="1" dirty="0">
                <a:latin typeface="Calibri" panose="020F0502020204030204" pitchFamily="34" charset="0"/>
                <a:ea typeface="Calibri" panose="020F0502020204030204" pitchFamily="34" charset="0"/>
                <a:cs typeface="Times New Roman" panose="02020603050405020304" pitchFamily="18" charset="0"/>
              </a:rPr>
              <a:t>Case challenges </a:t>
            </a:r>
            <a:r>
              <a:rPr lang="en-US" sz="1600" dirty="0">
                <a:latin typeface="Calibri" panose="020F0502020204030204" pitchFamily="34" charset="0"/>
                <a:ea typeface="Calibri" panose="020F0502020204030204" pitchFamily="34" charset="0"/>
                <a:cs typeface="Times New Roman" panose="02020603050405020304" pitchFamily="18" charset="0"/>
              </a:rPr>
              <a:t>for solving real life business problems in different domains such as (Product management, Supply chain simulations or Financial modelling challenges</a:t>
            </a:r>
          </a:p>
          <a:p>
            <a:pPr lvl="0" algn="just"/>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Rectangle: Rounded Corners 15">
            <a:extLst>
              <a:ext uri="{FF2B5EF4-FFF2-40B4-BE49-F238E27FC236}">
                <a16:creationId xmlns:a16="http://schemas.microsoft.com/office/drawing/2014/main" id="{8B941DA9-E690-2100-D106-C30B684C26FC}"/>
              </a:ext>
            </a:extLst>
          </p:cNvPr>
          <p:cNvSpPr/>
          <p:nvPr/>
        </p:nvSpPr>
        <p:spPr>
          <a:xfrm>
            <a:off x="9819640" y="1391548"/>
            <a:ext cx="2042160" cy="310932"/>
          </a:xfrm>
          <a:prstGeom prst="roundRect">
            <a:avLst/>
          </a:prstGeom>
          <a:solidFill>
            <a:srgbClr val="DF19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Live Projects</a:t>
            </a:r>
            <a:endParaRPr lang="en-US" sz="1600" dirty="0"/>
          </a:p>
        </p:txBody>
      </p:sp>
      <p:pic>
        <p:nvPicPr>
          <p:cNvPr id="3074" name="Picture 2" descr="Analysis ">
            <a:extLst>
              <a:ext uri="{FF2B5EF4-FFF2-40B4-BE49-F238E27FC236}">
                <a16:creationId xmlns:a16="http://schemas.microsoft.com/office/drawing/2014/main" id="{8F5A2D9F-AE0B-F924-5CEC-011F134FC26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7584" y="1311864"/>
            <a:ext cx="390616" cy="39061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hat ">
            <a:extLst>
              <a:ext uri="{FF2B5EF4-FFF2-40B4-BE49-F238E27FC236}">
                <a16:creationId xmlns:a16="http://schemas.microsoft.com/office/drawing/2014/main" id="{7CCC522E-7718-E46B-CCFA-24F50C688B0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91172" y="1282128"/>
            <a:ext cx="390616" cy="39061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Discussion ">
            <a:extLst>
              <a:ext uri="{FF2B5EF4-FFF2-40B4-BE49-F238E27FC236}">
                <a16:creationId xmlns:a16="http://schemas.microsoft.com/office/drawing/2014/main" id="{1130AF75-A576-A7A8-7987-EDC94C44360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29680" y="1311864"/>
            <a:ext cx="390616" cy="390616"/>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Project ">
            <a:extLst>
              <a:ext uri="{FF2B5EF4-FFF2-40B4-BE49-F238E27FC236}">
                <a16:creationId xmlns:a16="http://schemas.microsoft.com/office/drawing/2014/main" id="{EF1FA716-1288-886F-DB80-C971B0B9EC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56304" y="1311864"/>
            <a:ext cx="390616" cy="390616"/>
          </a:xfrm>
          <a:prstGeom prst="rect">
            <a:avLst/>
          </a:prstGeom>
          <a:noFill/>
          <a:extLst>
            <a:ext uri="{909E8E84-426E-40DD-AFC4-6F175D3DCCD1}">
              <a14:hiddenFill xmlns:a14="http://schemas.microsoft.com/office/drawing/2010/main">
                <a:solidFill>
                  <a:srgbClr val="FFFFFF"/>
                </a:solidFill>
              </a14:hiddenFill>
            </a:ext>
          </a:extLst>
        </p:spPr>
      </p:pic>
      <p:sp>
        <p:nvSpPr>
          <p:cNvPr id="59" name="TextBox 58">
            <a:extLst>
              <a:ext uri="{FF2B5EF4-FFF2-40B4-BE49-F238E27FC236}">
                <a16:creationId xmlns:a16="http://schemas.microsoft.com/office/drawing/2014/main" id="{EF439AFC-886B-B61B-37A2-C8EDF8FBA00E}"/>
              </a:ext>
            </a:extLst>
          </p:cNvPr>
          <p:cNvSpPr txBox="1"/>
          <p:nvPr/>
        </p:nvSpPr>
        <p:spPr>
          <a:xfrm>
            <a:off x="-9615" y="4861002"/>
            <a:ext cx="12201616" cy="338554"/>
          </a:xfrm>
          <a:prstGeom prst="rect">
            <a:avLst/>
          </a:prstGeom>
          <a:solidFill>
            <a:srgbClr val="DF1939"/>
          </a:solidFill>
        </p:spPr>
        <p:txBody>
          <a:bodyPr wrap="square" rtlCol="0">
            <a:spAutoFit/>
          </a:bodyPr>
          <a:lstStyle/>
          <a:p>
            <a:pPr algn="ctr"/>
            <a:r>
              <a:rPr lang="en-US" sz="16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Strategic communication to increase app downloads</a:t>
            </a:r>
            <a:endParaRPr lang="en-US" sz="1400" b="1" dirty="0">
              <a:solidFill>
                <a:schemeClr val="bg1"/>
              </a:solidFill>
            </a:endParaRPr>
          </a:p>
        </p:txBody>
      </p:sp>
      <p:graphicFrame>
        <p:nvGraphicFramePr>
          <p:cNvPr id="60" name="Diagram 59">
            <a:extLst>
              <a:ext uri="{FF2B5EF4-FFF2-40B4-BE49-F238E27FC236}">
                <a16:creationId xmlns:a16="http://schemas.microsoft.com/office/drawing/2014/main" id="{E1EFAAAB-6A62-FAB5-F2FD-74CB1D4A5989}"/>
              </a:ext>
            </a:extLst>
          </p:cNvPr>
          <p:cNvGraphicFramePr/>
          <p:nvPr>
            <p:extLst>
              <p:ext uri="{D42A27DB-BD31-4B8C-83A1-F6EECF244321}">
                <p14:modId xmlns:p14="http://schemas.microsoft.com/office/powerpoint/2010/main" val="1205717562"/>
              </p:ext>
            </p:extLst>
          </p:nvPr>
        </p:nvGraphicFramePr>
        <p:xfrm>
          <a:off x="40341" y="5251436"/>
          <a:ext cx="12151659" cy="51712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61" name="TextBox 60">
            <a:extLst>
              <a:ext uri="{FF2B5EF4-FFF2-40B4-BE49-F238E27FC236}">
                <a16:creationId xmlns:a16="http://schemas.microsoft.com/office/drawing/2014/main" id="{BE3D1389-207A-0FF1-DD8C-4B783C5311E9}"/>
              </a:ext>
            </a:extLst>
          </p:cNvPr>
          <p:cNvSpPr txBox="1"/>
          <p:nvPr/>
        </p:nvSpPr>
        <p:spPr>
          <a:xfrm>
            <a:off x="40341" y="5837062"/>
            <a:ext cx="3012739" cy="584775"/>
          </a:xfrm>
          <a:prstGeom prst="rect">
            <a:avLst/>
          </a:prstGeom>
          <a:noFill/>
          <a:ln>
            <a:solidFill>
              <a:schemeClr val="tx1"/>
            </a:solidFill>
            <a:prstDash val="dash"/>
          </a:ln>
        </p:spPr>
        <p:txBody>
          <a:bodyPr wrap="square" rtlCol="0">
            <a:spAutoFit/>
          </a:bodyPr>
          <a:lstStyle/>
          <a:p>
            <a:pPr algn="just"/>
            <a:r>
              <a:rPr lang="en-IN" sz="1600" dirty="0"/>
              <a:t>Promotes app downloads in their campus and outside</a:t>
            </a:r>
            <a:endParaRPr lang="en-US" sz="1600" dirty="0"/>
          </a:p>
        </p:txBody>
      </p:sp>
      <p:sp>
        <p:nvSpPr>
          <p:cNvPr id="62" name="TextBox 61">
            <a:extLst>
              <a:ext uri="{FF2B5EF4-FFF2-40B4-BE49-F238E27FC236}">
                <a16:creationId xmlns:a16="http://schemas.microsoft.com/office/drawing/2014/main" id="{3B4118C8-B080-0091-EC39-4A95131DD294}"/>
              </a:ext>
            </a:extLst>
          </p:cNvPr>
          <p:cNvSpPr txBox="1"/>
          <p:nvPr/>
        </p:nvSpPr>
        <p:spPr>
          <a:xfrm>
            <a:off x="3149301" y="5841395"/>
            <a:ext cx="2144059" cy="584775"/>
          </a:xfrm>
          <a:prstGeom prst="rect">
            <a:avLst/>
          </a:prstGeom>
          <a:noFill/>
          <a:ln>
            <a:solidFill>
              <a:schemeClr val="tx1"/>
            </a:solidFill>
            <a:prstDash val="dash"/>
          </a:ln>
        </p:spPr>
        <p:txBody>
          <a:bodyPr wrap="square" rtlCol="0">
            <a:spAutoFit/>
          </a:bodyPr>
          <a:lstStyle/>
          <a:p>
            <a:pPr algn="just"/>
            <a:r>
              <a:rPr lang="en-IN" sz="1600" dirty="0"/>
              <a:t>Refer a friend and earn rewards/coins/cash</a:t>
            </a:r>
            <a:endParaRPr lang="en-US" sz="1600" dirty="0"/>
          </a:p>
        </p:txBody>
      </p:sp>
      <p:sp>
        <p:nvSpPr>
          <p:cNvPr id="63" name="TextBox 62">
            <a:extLst>
              <a:ext uri="{FF2B5EF4-FFF2-40B4-BE49-F238E27FC236}">
                <a16:creationId xmlns:a16="http://schemas.microsoft.com/office/drawing/2014/main" id="{945743FA-7148-8A74-AA19-F741F283140A}"/>
              </a:ext>
            </a:extLst>
          </p:cNvPr>
          <p:cNvSpPr txBox="1"/>
          <p:nvPr/>
        </p:nvSpPr>
        <p:spPr>
          <a:xfrm>
            <a:off x="5389581" y="5837061"/>
            <a:ext cx="1935779" cy="584775"/>
          </a:xfrm>
          <a:prstGeom prst="rect">
            <a:avLst/>
          </a:prstGeom>
          <a:noFill/>
          <a:ln>
            <a:solidFill>
              <a:schemeClr val="tx1"/>
            </a:solidFill>
            <a:prstDash val="dash"/>
          </a:ln>
        </p:spPr>
        <p:txBody>
          <a:bodyPr wrap="square" rtlCol="0">
            <a:spAutoFit/>
          </a:bodyPr>
          <a:lstStyle/>
          <a:p>
            <a:pPr algn="just"/>
            <a:r>
              <a:rPr lang="en-IN" sz="1600" dirty="0"/>
              <a:t>Most in-demand content only on app</a:t>
            </a:r>
            <a:endParaRPr lang="en-US" sz="1600" dirty="0"/>
          </a:p>
        </p:txBody>
      </p:sp>
      <p:sp>
        <p:nvSpPr>
          <p:cNvPr id="3072" name="TextBox 3071">
            <a:extLst>
              <a:ext uri="{FF2B5EF4-FFF2-40B4-BE49-F238E27FC236}">
                <a16:creationId xmlns:a16="http://schemas.microsoft.com/office/drawing/2014/main" id="{7FCFA2EE-82A0-AC21-C146-161F043C61EF}"/>
              </a:ext>
            </a:extLst>
          </p:cNvPr>
          <p:cNvSpPr txBox="1"/>
          <p:nvPr/>
        </p:nvSpPr>
        <p:spPr>
          <a:xfrm>
            <a:off x="7421581" y="5831317"/>
            <a:ext cx="4567219" cy="584775"/>
          </a:xfrm>
          <a:prstGeom prst="rect">
            <a:avLst/>
          </a:prstGeom>
          <a:noFill/>
          <a:ln>
            <a:solidFill>
              <a:schemeClr val="tx1"/>
            </a:solidFill>
            <a:prstDash val="dash"/>
          </a:ln>
        </p:spPr>
        <p:txBody>
          <a:bodyPr wrap="square" rtlCol="0">
            <a:spAutoFit/>
          </a:bodyPr>
          <a:lstStyle/>
          <a:p>
            <a:pPr algn="just"/>
            <a:r>
              <a:rPr lang="en-IN" sz="1600" dirty="0"/>
              <a:t>B2B collaborations with new start-ups for their sales promotions ( Ex – </a:t>
            </a:r>
            <a:r>
              <a:rPr lang="en-IN" sz="1600" dirty="0">
                <a:hlinkClick r:id="rId11"/>
              </a:rPr>
              <a:t>Appendix</a:t>
            </a:r>
            <a:r>
              <a:rPr lang="en-IN" sz="1600" dirty="0"/>
              <a:t>)</a:t>
            </a:r>
            <a:endParaRPr lang="en-US" sz="1600" dirty="0"/>
          </a:p>
        </p:txBody>
      </p:sp>
    </p:spTree>
    <p:extLst>
      <p:ext uri="{BB962C8B-B14F-4D97-AF65-F5344CB8AC3E}">
        <p14:creationId xmlns:p14="http://schemas.microsoft.com/office/powerpoint/2010/main" val="1086731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a:t>Competition Analysis </a:t>
            </a:r>
          </a:p>
        </p:txBody>
      </p:sp>
      <p:sp>
        <p:nvSpPr>
          <p:cNvPr id="4" name="Slide Number Placeholder 3"/>
          <p:cNvSpPr>
            <a:spLocks noGrp="1"/>
          </p:cNvSpPr>
          <p:nvPr>
            <p:ph type="sldNum" sz="quarter" idx="4"/>
          </p:nvPr>
        </p:nvSpPr>
        <p:spPr/>
        <p:txBody>
          <a:bodyPr/>
          <a:lstStyle/>
          <a:p>
            <a:fld id="{2D2D9D99-8454-442A-B0DD-EF173ADD60D6}" type="slidenum">
              <a:rPr lang="en-IN" smtClean="0"/>
              <a:pPr/>
              <a:t>6</a:t>
            </a:fld>
            <a:endParaRPr lang="en-IN"/>
          </a:p>
        </p:txBody>
      </p:sp>
      <p:graphicFrame>
        <p:nvGraphicFramePr>
          <p:cNvPr id="3" name="Table 5">
            <a:extLst>
              <a:ext uri="{FF2B5EF4-FFF2-40B4-BE49-F238E27FC236}">
                <a16:creationId xmlns:a16="http://schemas.microsoft.com/office/drawing/2014/main" id="{AEAE1F64-70FC-408A-214F-34D836E2B98D}"/>
              </a:ext>
            </a:extLst>
          </p:cNvPr>
          <p:cNvGraphicFramePr>
            <a:graphicFrameLocks noGrp="1"/>
          </p:cNvGraphicFramePr>
          <p:nvPr>
            <p:extLst>
              <p:ext uri="{D42A27DB-BD31-4B8C-83A1-F6EECF244321}">
                <p14:modId xmlns:p14="http://schemas.microsoft.com/office/powerpoint/2010/main" val="1392671967"/>
              </p:ext>
            </p:extLst>
          </p:nvPr>
        </p:nvGraphicFramePr>
        <p:xfrm>
          <a:off x="4460240" y="983826"/>
          <a:ext cx="7599684" cy="4965755"/>
        </p:xfrm>
        <a:graphic>
          <a:graphicData uri="http://schemas.openxmlformats.org/drawingml/2006/table">
            <a:tbl>
              <a:tblPr firstRow="1" bandRow="1">
                <a:tableStyleId>{5C22544A-7EE6-4342-B048-85BDC9FD1C3A}</a:tableStyleId>
              </a:tblPr>
              <a:tblGrid>
                <a:gridCol w="1574800">
                  <a:extLst>
                    <a:ext uri="{9D8B030D-6E8A-4147-A177-3AD203B41FA5}">
                      <a16:colId xmlns:a16="http://schemas.microsoft.com/office/drawing/2014/main" val="4017081439"/>
                    </a:ext>
                  </a:extLst>
                </a:gridCol>
                <a:gridCol w="3048000">
                  <a:extLst>
                    <a:ext uri="{9D8B030D-6E8A-4147-A177-3AD203B41FA5}">
                      <a16:colId xmlns:a16="http://schemas.microsoft.com/office/drawing/2014/main" val="643247044"/>
                    </a:ext>
                  </a:extLst>
                </a:gridCol>
                <a:gridCol w="2976884">
                  <a:extLst>
                    <a:ext uri="{9D8B030D-6E8A-4147-A177-3AD203B41FA5}">
                      <a16:colId xmlns:a16="http://schemas.microsoft.com/office/drawing/2014/main" val="289740336"/>
                    </a:ext>
                  </a:extLst>
                </a:gridCol>
              </a:tblGrid>
              <a:tr h="424235">
                <a:tc>
                  <a:txBody>
                    <a:bodyPr/>
                    <a:lstStyle/>
                    <a:p>
                      <a:pPr algn="just"/>
                      <a:r>
                        <a:rPr lang="en-IN" sz="1600" dirty="0"/>
                        <a:t>Player</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1939"/>
                    </a:solidFill>
                  </a:tcPr>
                </a:tc>
                <a:tc>
                  <a:txBody>
                    <a:bodyPr/>
                    <a:lstStyle/>
                    <a:p>
                      <a:pPr algn="just"/>
                      <a:r>
                        <a:rPr lang="en-IN" sz="1600" dirty="0"/>
                        <a:t>Strengths</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1939"/>
                    </a:solidFill>
                  </a:tcPr>
                </a:tc>
                <a:tc>
                  <a:txBody>
                    <a:bodyPr/>
                    <a:lstStyle/>
                    <a:p>
                      <a:pPr algn="just"/>
                      <a:r>
                        <a:rPr lang="en-IN" sz="1600" dirty="0"/>
                        <a:t>Weaknesses</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1939"/>
                    </a:solidFill>
                  </a:tcPr>
                </a:tc>
                <a:extLst>
                  <a:ext uri="{0D108BD9-81ED-4DB2-BD59-A6C34878D82A}">
                    <a16:rowId xmlns:a16="http://schemas.microsoft.com/office/drawing/2014/main" val="223038338"/>
                  </a:ext>
                </a:extLst>
              </a:tr>
              <a:tr h="424235">
                <a:tc>
                  <a:txBody>
                    <a:bodyPr/>
                    <a:lstStyle/>
                    <a:p>
                      <a:pPr algn="just"/>
                      <a:r>
                        <a:rPr lang="en-IN" sz="1600" dirty="0"/>
                        <a:t>Unstop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B"/>
                    </a:solidFill>
                  </a:tcPr>
                </a:tc>
                <a:tc>
                  <a:txBody>
                    <a:bodyPr/>
                    <a:lstStyle/>
                    <a:p>
                      <a:pPr algn="l"/>
                      <a:r>
                        <a:rPr lang="en-IN" sz="1600" dirty="0"/>
                        <a:t>Huge popularity, UI/UX, Corporate connections, Gamified challenges</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B"/>
                    </a:solidFill>
                  </a:tcPr>
                </a:tc>
                <a:tc>
                  <a:txBody>
                    <a:bodyPr/>
                    <a:lstStyle/>
                    <a:p>
                      <a:pPr algn="l"/>
                      <a:r>
                        <a:rPr lang="en-IN" sz="1600" dirty="0"/>
                        <a:t>90% traffic is only for case competitions, no community, </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B"/>
                    </a:solidFill>
                  </a:tcPr>
                </a:tc>
                <a:extLst>
                  <a:ext uri="{0D108BD9-81ED-4DB2-BD59-A6C34878D82A}">
                    <a16:rowId xmlns:a16="http://schemas.microsoft.com/office/drawing/2014/main" val="1831308681"/>
                  </a:ext>
                </a:extLst>
              </a:tr>
              <a:tr h="424235">
                <a:tc>
                  <a:txBody>
                    <a:bodyPr/>
                    <a:lstStyle/>
                    <a:p>
                      <a:pPr algn="just"/>
                      <a:r>
                        <a:rPr lang="en-IN" sz="1600" dirty="0"/>
                        <a:t>Inside IIM</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IN" sz="1600" dirty="0"/>
                        <a:t>Huge popularity among aspirants, YouTube videos, Konversations Café, B-School reviews</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IN" sz="1600" dirty="0"/>
                        <a:t>Traffic is low as students mostly prefer it during pre-MBA and post CAT/XAT phase (hardly 4 months)</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6447489"/>
                  </a:ext>
                </a:extLst>
              </a:tr>
              <a:tr h="424235">
                <a:tc>
                  <a:txBody>
                    <a:bodyPr/>
                    <a:lstStyle/>
                    <a:p>
                      <a:pPr algn="just"/>
                      <a:r>
                        <a:rPr lang="en-IN" sz="1600" dirty="0"/>
                        <a:t>Btribe</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B"/>
                    </a:solidFill>
                  </a:tcPr>
                </a:tc>
                <a:tc>
                  <a:txBody>
                    <a:bodyPr/>
                    <a:lstStyle/>
                    <a:p>
                      <a:pPr algn="l"/>
                      <a:r>
                        <a:rPr lang="en-IN" sz="1600" dirty="0"/>
                        <a:t>Huge Brand loyalty for parent company, High monetization (Avg. Workshop cost Rs 3000) </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B"/>
                    </a:solidFill>
                  </a:tcPr>
                </a:tc>
                <a:tc>
                  <a:txBody>
                    <a:bodyPr/>
                    <a:lstStyle/>
                    <a:p>
                      <a:pPr algn="l"/>
                      <a:r>
                        <a:rPr lang="en-IN" sz="1600" dirty="0"/>
                        <a:t>Less awareness, Only career counselling and how to ace competitions workshops</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B"/>
                    </a:solidFill>
                  </a:tcPr>
                </a:tc>
                <a:extLst>
                  <a:ext uri="{0D108BD9-81ED-4DB2-BD59-A6C34878D82A}">
                    <a16:rowId xmlns:a16="http://schemas.microsoft.com/office/drawing/2014/main" val="2393114429"/>
                  </a:ext>
                </a:extLst>
              </a:tr>
              <a:tr h="424235">
                <a:tc>
                  <a:txBody>
                    <a:bodyPr/>
                    <a:lstStyle/>
                    <a:p>
                      <a:pPr algn="just"/>
                      <a:r>
                        <a:rPr lang="en-IN" sz="1600" dirty="0"/>
                        <a:t>Sociocharge</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IN" sz="1600" dirty="0"/>
                        <a:t>Unique idea of a community-first platform</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IN" sz="1600" dirty="0"/>
                        <a:t>Less awareness, Very small user base, UI/UX</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2323127"/>
                  </a:ext>
                </a:extLst>
              </a:tr>
              <a:tr h="424235">
                <a:tc>
                  <a:txBody>
                    <a:bodyPr/>
                    <a:lstStyle/>
                    <a:p>
                      <a:pPr algn="just"/>
                      <a:r>
                        <a:rPr lang="en-IN" sz="1600" dirty="0"/>
                        <a:t>Grad Partners</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B"/>
                    </a:solidFill>
                  </a:tcPr>
                </a:tc>
                <a:tc>
                  <a:txBody>
                    <a:bodyPr/>
                    <a:lstStyle/>
                    <a:p>
                      <a:pPr algn="l"/>
                      <a:r>
                        <a:rPr lang="en-IN" sz="1600" dirty="0"/>
                        <a:t>Workshop &amp; Events, Community, AceTheCase</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B"/>
                    </a:solidFill>
                  </a:tcPr>
                </a:tc>
                <a:tc>
                  <a:txBody>
                    <a:bodyPr/>
                    <a:lstStyle/>
                    <a:p>
                      <a:pPr algn="l"/>
                      <a:r>
                        <a:rPr lang="en-IN" sz="1600" dirty="0"/>
                        <a:t>Fewer competitions hosted, Lesser college penetration</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B"/>
                    </a:solidFill>
                  </a:tcPr>
                </a:tc>
                <a:extLst>
                  <a:ext uri="{0D108BD9-81ED-4DB2-BD59-A6C34878D82A}">
                    <a16:rowId xmlns:a16="http://schemas.microsoft.com/office/drawing/2014/main" val="1452629199"/>
                  </a:ext>
                </a:extLst>
              </a:tr>
              <a:tr h="424235">
                <a:tc>
                  <a:txBody>
                    <a:bodyPr/>
                    <a:lstStyle/>
                    <a:p>
                      <a:pPr algn="just"/>
                      <a:r>
                        <a:rPr lang="en-IN" sz="1600" dirty="0"/>
                        <a:t>Navkiran</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IN" sz="1600" dirty="0"/>
                        <a:t>Placement Bootcamps, Student community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IN" sz="1600" dirty="0"/>
                        <a:t>No competitions hosting, No corporate connect</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35258691"/>
                  </a:ext>
                </a:extLst>
              </a:tr>
              <a:tr h="424235">
                <a:tc>
                  <a:txBody>
                    <a:bodyPr/>
                    <a:lstStyle/>
                    <a:p>
                      <a:pPr algn="just"/>
                      <a:r>
                        <a:rPr lang="en-IN" sz="1600" dirty="0"/>
                        <a:t>MBA Exchange (Global)</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B"/>
                    </a:solidFill>
                  </a:tcPr>
                </a:tc>
                <a:tc>
                  <a:txBody>
                    <a:bodyPr/>
                    <a:lstStyle/>
                    <a:p>
                      <a:pPr algn="l"/>
                      <a:r>
                        <a:rPr lang="en-IN" sz="1600" dirty="0"/>
                        <a:t>International Exposure, International Case Competitions</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B"/>
                    </a:solidFill>
                  </a:tcPr>
                </a:tc>
                <a:tc>
                  <a:txBody>
                    <a:bodyPr/>
                    <a:lstStyle/>
                    <a:p>
                      <a:pPr algn="l"/>
                      <a:r>
                        <a:rPr lang="en-IN" sz="1600" dirty="0"/>
                        <a:t>Less awareness, No collaboration with Indian companies</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B"/>
                    </a:solidFill>
                  </a:tcPr>
                </a:tc>
                <a:extLst>
                  <a:ext uri="{0D108BD9-81ED-4DB2-BD59-A6C34878D82A}">
                    <a16:rowId xmlns:a16="http://schemas.microsoft.com/office/drawing/2014/main" val="3562246005"/>
                  </a:ext>
                </a:extLst>
              </a:tr>
            </a:tbl>
          </a:graphicData>
        </a:graphic>
      </p:graphicFrame>
      <p:sp>
        <p:nvSpPr>
          <p:cNvPr id="6" name="Rectangle: Rounded Corners 5">
            <a:extLst>
              <a:ext uri="{FF2B5EF4-FFF2-40B4-BE49-F238E27FC236}">
                <a16:creationId xmlns:a16="http://schemas.microsoft.com/office/drawing/2014/main" id="{74AF3980-83DF-03CC-38AB-B5397EE55B18}"/>
              </a:ext>
            </a:extLst>
          </p:cNvPr>
          <p:cNvSpPr/>
          <p:nvPr/>
        </p:nvSpPr>
        <p:spPr>
          <a:xfrm>
            <a:off x="121920" y="995680"/>
            <a:ext cx="4226560" cy="2677553"/>
          </a:xfrm>
          <a:prstGeom prst="roundRect">
            <a:avLst/>
          </a:pr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342900" indent="-342900" algn="just">
              <a:buFont typeface="+mj-lt"/>
              <a:buAutoNum type="arabicPeriod"/>
            </a:pPr>
            <a:endParaRPr lang="en-IN" sz="1600" dirty="0">
              <a:solidFill>
                <a:schemeClr val="tx1"/>
              </a:solidFill>
            </a:endParaRPr>
          </a:p>
          <a:p>
            <a:pPr marL="342900" indent="-342900" algn="just">
              <a:buFont typeface="+mj-lt"/>
              <a:buAutoNum type="arabicPeriod"/>
            </a:pPr>
            <a:endParaRPr lang="en-IN" sz="1600" dirty="0">
              <a:solidFill>
                <a:schemeClr val="tx1"/>
              </a:solidFill>
            </a:endParaRPr>
          </a:p>
          <a:p>
            <a:pPr marL="342900" indent="-342900" algn="just">
              <a:buFont typeface="+mj-lt"/>
              <a:buAutoNum type="arabicPeriod"/>
            </a:pPr>
            <a:r>
              <a:rPr lang="en-IN" sz="1600" dirty="0">
                <a:solidFill>
                  <a:schemeClr val="tx1"/>
                </a:solidFill>
              </a:rPr>
              <a:t>Industry specific mentorship programs (Ex – PM, FMCG, Consulting)</a:t>
            </a:r>
          </a:p>
          <a:p>
            <a:pPr marL="342900" indent="-342900" algn="just">
              <a:buFont typeface="+mj-lt"/>
              <a:buAutoNum type="arabicPeriod"/>
            </a:pPr>
            <a:r>
              <a:rPr lang="en-IN" sz="1600" dirty="0">
                <a:solidFill>
                  <a:schemeClr val="tx1"/>
                </a:solidFill>
              </a:rPr>
              <a:t>Freemium model (Ex – Limited free content and exclusive paid content)</a:t>
            </a:r>
          </a:p>
          <a:p>
            <a:pPr marL="342900" indent="-342900" algn="just">
              <a:buFont typeface="+mj-lt"/>
              <a:buAutoNum type="arabicPeriod"/>
            </a:pPr>
            <a:r>
              <a:rPr lang="en-IN" sz="1600" dirty="0">
                <a:solidFill>
                  <a:schemeClr val="tx1"/>
                </a:solidFill>
              </a:rPr>
              <a:t>Community based mentorship programs (Ex – Peer to peer learning)</a:t>
            </a:r>
          </a:p>
          <a:p>
            <a:pPr marL="342900" indent="-342900" algn="just">
              <a:buFont typeface="+mj-lt"/>
              <a:buAutoNum type="arabicPeriod"/>
            </a:pPr>
            <a:r>
              <a:rPr lang="en-IN" sz="1600" dirty="0">
                <a:solidFill>
                  <a:schemeClr val="tx1"/>
                </a:solidFill>
              </a:rPr>
              <a:t>Case competitions mentorship (Ex – How to ACE xyz competitions)</a:t>
            </a:r>
            <a:endParaRPr lang="en-US" sz="1600" dirty="0">
              <a:solidFill>
                <a:schemeClr val="tx1"/>
              </a:solidFill>
            </a:endParaRPr>
          </a:p>
        </p:txBody>
      </p:sp>
      <p:sp>
        <p:nvSpPr>
          <p:cNvPr id="26" name="AutoShape 8" descr="Unstop Logo">
            <a:extLst>
              <a:ext uri="{FF2B5EF4-FFF2-40B4-BE49-F238E27FC236}">
                <a16:creationId xmlns:a16="http://schemas.microsoft.com/office/drawing/2014/main" id="{8C425E85-2497-586A-7108-E3533F39089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6" name="Picture 12" descr="Branding Guidelines on how to use Unstop brand // Unstop (formerly  Dare2Compete)">
            <a:extLst>
              <a:ext uri="{FF2B5EF4-FFF2-40B4-BE49-F238E27FC236}">
                <a16:creationId xmlns:a16="http://schemas.microsoft.com/office/drawing/2014/main" id="{1AF3DFC1-8F5F-E47E-BAB0-9D4FA38E23E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1078" y="4877750"/>
            <a:ext cx="857161" cy="319035"/>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1038" name="Picture 14" descr="NavKiran">
            <a:extLst>
              <a:ext uri="{FF2B5EF4-FFF2-40B4-BE49-F238E27FC236}">
                <a16:creationId xmlns:a16="http://schemas.microsoft.com/office/drawing/2014/main" id="{C4A92A96-589D-69F8-2D75-264C4FA1E5C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2137" y="5456263"/>
            <a:ext cx="635041" cy="599095"/>
          </a:xfrm>
          <a:prstGeom prst="rect">
            <a:avLst/>
          </a:prstGeom>
          <a:noFill/>
          <a:effectLst/>
          <a:extLst>
            <a:ext uri="{909E8E84-426E-40DD-AFC4-6F175D3DCCD1}">
              <a14:hiddenFill xmlns:a14="http://schemas.microsoft.com/office/drawing/2010/main">
                <a:solidFill>
                  <a:srgbClr val="FFFFFF"/>
                </a:solidFill>
              </a14:hiddenFill>
            </a:ext>
          </a:extLst>
        </p:spPr>
      </p:pic>
      <p:sp>
        <p:nvSpPr>
          <p:cNvPr id="37" name="Rectangle: Rounded Corners 36">
            <a:extLst>
              <a:ext uri="{FF2B5EF4-FFF2-40B4-BE49-F238E27FC236}">
                <a16:creationId xmlns:a16="http://schemas.microsoft.com/office/drawing/2014/main" id="{B14C931E-9C8A-7590-38B0-F22B34B4AC96}"/>
              </a:ext>
            </a:extLst>
          </p:cNvPr>
          <p:cNvSpPr/>
          <p:nvPr/>
        </p:nvSpPr>
        <p:spPr>
          <a:xfrm>
            <a:off x="121920" y="3789984"/>
            <a:ext cx="4226560" cy="2373261"/>
          </a:xfrm>
          <a:prstGeom prst="roundRect">
            <a:avLst/>
          </a:pr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600" b="1" dirty="0">
              <a:solidFill>
                <a:schemeClr val="tx1"/>
              </a:solidFill>
            </a:endParaRPr>
          </a:p>
        </p:txBody>
      </p:sp>
      <p:sp>
        <p:nvSpPr>
          <p:cNvPr id="41" name="TextBox 40">
            <a:extLst>
              <a:ext uri="{FF2B5EF4-FFF2-40B4-BE49-F238E27FC236}">
                <a16:creationId xmlns:a16="http://schemas.microsoft.com/office/drawing/2014/main" id="{BCF9C2F8-4E06-8D8C-383F-2D75F8B4A919}"/>
              </a:ext>
            </a:extLst>
          </p:cNvPr>
          <p:cNvSpPr txBox="1"/>
          <p:nvPr/>
        </p:nvSpPr>
        <p:spPr>
          <a:xfrm>
            <a:off x="1269999" y="4744881"/>
            <a:ext cx="2905761" cy="584775"/>
          </a:xfrm>
          <a:prstGeom prst="rect">
            <a:avLst/>
          </a:prstGeom>
          <a:noFill/>
          <a:ln>
            <a:solidFill>
              <a:schemeClr val="tx1"/>
            </a:solidFill>
            <a:prstDash val="lgDash"/>
          </a:ln>
        </p:spPr>
        <p:txBody>
          <a:bodyPr wrap="square">
            <a:spAutoFit/>
          </a:bodyPr>
          <a:lstStyle/>
          <a:p>
            <a:r>
              <a:rPr lang="en-IN" sz="1600" dirty="0"/>
              <a:t>If </a:t>
            </a:r>
            <a:r>
              <a:rPr lang="en-IN" sz="1600" b="1" dirty="0"/>
              <a:t>Case Competitions </a:t>
            </a:r>
            <a:r>
              <a:rPr lang="en-IN" sz="1600" dirty="0"/>
              <a:t>are the primary focus to drive traffic</a:t>
            </a:r>
            <a:endParaRPr lang="en-US" sz="1600" dirty="0"/>
          </a:p>
        </p:txBody>
      </p:sp>
      <p:sp>
        <p:nvSpPr>
          <p:cNvPr id="43" name="TextBox 42">
            <a:extLst>
              <a:ext uri="{FF2B5EF4-FFF2-40B4-BE49-F238E27FC236}">
                <a16:creationId xmlns:a16="http://schemas.microsoft.com/office/drawing/2014/main" id="{A40F166D-3E94-692C-F7BA-CE8F54A8EA00}"/>
              </a:ext>
            </a:extLst>
          </p:cNvPr>
          <p:cNvSpPr txBox="1"/>
          <p:nvPr/>
        </p:nvSpPr>
        <p:spPr>
          <a:xfrm>
            <a:off x="1264919" y="5446103"/>
            <a:ext cx="2904787" cy="584775"/>
          </a:xfrm>
          <a:prstGeom prst="rect">
            <a:avLst/>
          </a:prstGeom>
          <a:noFill/>
          <a:ln>
            <a:solidFill>
              <a:schemeClr val="tx1"/>
            </a:solidFill>
            <a:prstDash val="lgDash"/>
          </a:ln>
        </p:spPr>
        <p:txBody>
          <a:bodyPr wrap="square">
            <a:spAutoFit/>
          </a:bodyPr>
          <a:lstStyle/>
          <a:p>
            <a:r>
              <a:rPr lang="en-IN" sz="1600" dirty="0"/>
              <a:t>If </a:t>
            </a:r>
            <a:r>
              <a:rPr lang="en-IN" sz="1600" b="1" dirty="0"/>
              <a:t>Workshops and Mentorship Programs </a:t>
            </a:r>
            <a:r>
              <a:rPr lang="en-IN" sz="1600" dirty="0"/>
              <a:t>are the primary focus</a:t>
            </a:r>
            <a:endParaRPr lang="en-US" sz="1600" dirty="0"/>
          </a:p>
        </p:txBody>
      </p:sp>
      <p:sp>
        <p:nvSpPr>
          <p:cNvPr id="49" name="TextBox 48">
            <a:extLst>
              <a:ext uri="{FF2B5EF4-FFF2-40B4-BE49-F238E27FC236}">
                <a16:creationId xmlns:a16="http://schemas.microsoft.com/office/drawing/2014/main" id="{9B9972C1-A0FC-FACB-A790-923328EEF309}"/>
              </a:ext>
            </a:extLst>
          </p:cNvPr>
          <p:cNvSpPr txBox="1"/>
          <p:nvPr/>
        </p:nvSpPr>
        <p:spPr>
          <a:xfrm>
            <a:off x="0" y="6240653"/>
            <a:ext cx="12192000" cy="338554"/>
          </a:xfrm>
          <a:prstGeom prst="rect">
            <a:avLst/>
          </a:prstGeom>
          <a:solidFill>
            <a:srgbClr val="DF1939"/>
          </a:solidFill>
        </p:spPr>
        <p:txBody>
          <a:bodyPr wrap="square" rtlCol="0">
            <a:spAutoFit/>
          </a:bodyPr>
          <a:lstStyle/>
          <a:p>
            <a:pPr algn="ctr"/>
            <a:r>
              <a:rPr lang="en-IN" sz="1600" b="1" dirty="0">
                <a:solidFill>
                  <a:schemeClr val="bg1"/>
                </a:solidFill>
              </a:rPr>
              <a:t>The key strengths of YUGMA to disrupt the market should be excellent UI/UX, deep institute penetration, lively community &amp; engagements</a:t>
            </a:r>
            <a:endParaRPr lang="en-US" sz="1600" b="1" dirty="0">
              <a:solidFill>
                <a:schemeClr val="bg1"/>
              </a:solidFill>
            </a:endParaRPr>
          </a:p>
        </p:txBody>
      </p:sp>
      <p:sp>
        <p:nvSpPr>
          <p:cNvPr id="50" name="TextBox 49">
            <a:extLst>
              <a:ext uri="{FF2B5EF4-FFF2-40B4-BE49-F238E27FC236}">
                <a16:creationId xmlns:a16="http://schemas.microsoft.com/office/drawing/2014/main" id="{083C55B8-F798-227E-8E56-1BF15E32DB51}"/>
              </a:ext>
            </a:extLst>
          </p:cNvPr>
          <p:cNvSpPr txBox="1"/>
          <p:nvPr/>
        </p:nvSpPr>
        <p:spPr>
          <a:xfrm>
            <a:off x="177800" y="3953911"/>
            <a:ext cx="4226560" cy="830997"/>
          </a:xfrm>
          <a:prstGeom prst="rect">
            <a:avLst/>
          </a:prstGeom>
          <a:noFill/>
        </p:spPr>
        <p:txBody>
          <a:bodyPr wrap="square" rtlCol="0">
            <a:spAutoFit/>
          </a:bodyPr>
          <a:lstStyle/>
          <a:p>
            <a:r>
              <a:rPr lang="en-IN" sz="1600" b="1" dirty="0">
                <a:solidFill>
                  <a:schemeClr val="tx1"/>
                </a:solidFill>
              </a:rPr>
              <a:t>We have identified 2 companies as benchmark for YUGMA based on certain assumptions:</a:t>
            </a:r>
            <a:endParaRPr lang="en-US" sz="1600" b="1" dirty="0">
              <a:solidFill>
                <a:schemeClr val="tx1"/>
              </a:solidFill>
            </a:endParaRPr>
          </a:p>
          <a:p>
            <a:endParaRPr lang="en-US" sz="1600" dirty="0"/>
          </a:p>
        </p:txBody>
      </p:sp>
      <p:sp>
        <p:nvSpPr>
          <p:cNvPr id="52" name="TextBox 51">
            <a:extLst>
              <a:ext uri="{FF2B5EF4-FFF2-40B4-BE49-F238E27FC236}">
                <a16:creationId xmlns:a16="http://schemas.microsoft.com/office/drawing/2014/main" id="{C9F072ED-5771-7BAB-385B-1EC22FE092A2}"/>
              </a:ext>
            </a:extLst>
          </p:cNvPr>
          <p:cNvSpPr txBox="1"/>
          <p:nvPr/>
        </p:nvSpPr>
        <p:spPr>
          <a:xfrm>
            <a:off x="48260" y="1223382"/>
            <a:ext cx="4373879" cy="338554"/>
          </a:xfrm>
          <a:prstGeom prst="rect">
            <a:avLst/>
          </a:prstGeom>
          <a:noFill/>
        </p:spPr>
        <p:txBody>
          <a:bodyPr wrap="square">
            <a:spAutoFit/>
          </a:bodyPr>
          <a:lstStyle/>
          <a:p>
            <a:pPr algn="ctr"/>
            <a:r>
              <a:rPr lang="en-IN" sz="1600" b="1" dirty="0">
                <a:solidFill>
                  <a:schemeClr val="tx1"/>
                </a:solidFill>
              </a:rPr>
              <a:t>Key trends in mentoring management students</a:t>
            </a:r>
          </a:p>
        </p:txBody>
      </p:sp>
    </p:spTree>
    <p:extLst>
      <p:ext uri="{BB962C8B-B14F-4D97-AF65-F5344CB8AC3E}">
        <p14:creationId xmlns:p14="http://schemas.microsoft.com/office/powerpoint/2010/main" val="409896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a:t>Business Model </a:t>
            </a:r>
          </a:p>
        </p:txBody>
      </p:sp>
      <p:sp>
        <p:nvSpPr>
          <p:cNvPr id="4" name="Slide Number Placeholder 3"/>
          <p:cNvSpPr>
            <a:spLocks noGrp="1"/>
          </p:cNvSpPr>
          <p:nvPr>
            <p:ph type="sldNum" sz="quarter" idx="4"/>
          </p:nvPr>
        </p:nvSpPr>
        <p:spPr/>
        <p:txBody>
          <a:bodyPr/>
          <a:lstStyle/>
          <a:p>
            <a:fld id="{2D2D9D99-8454-442A-B0DD-EF173ADD60D6}" type="slidenum">
              <a:rPr lang="en-IN" smtClean="0"/>
              <a:pPr/>
              <a:t>7</a:t>
            </a:fld>
            <a:endParaRPr lang="en-IN"/>
          </a:p>
        </p:txBody>
      </p:sp>
      <p:sp>
        <p:nvSpPr>
          <p:cNvPr id="3" name="Rectangle: Rounded Corners 2">
            <a:extLst>
              <a:ext uri="{FF2B5EF4-FFF2-40B4-BE49-F238E27FC236}">
                <a16:creationId xmlns:a16="http://schemas.microsoft.com/office/drawing/2014/main" id="{541AE3D7-BE14-7877-3950-C008EDADDCDD}"/>
              </a:ext>
            </a:extLst>
          </p:cNvPr>
          <p:cNvSpPr/>
          <p:nvPr/>
        </p:nvSpPr>
        <p:spPr>
          <a:xfrm>
            <a:off x="1351280" y="904240"/>
            <a:ext cx="10840720" cy="338554"/>
          </a:xfrm>
          <a:prstGeom prst="roundRect">
            <a:avLst/>
          </a:prstGeom>
          <a:solidFill>
            <a:srgbClr val="E01F4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a:t>Business Goal(s): </a:t>
            </a:r>
            <a:r>
              <a:rPr lang="en-US" sz="1600" b="1" dirty="0">
                <a:solidFill>
                  <a:schemeClr val="bg1"/>
                </a:solidFill>
                <a:ea typeface="Lato" panose="020F0502020204030203" pitchFamily="34" charset="0"/>
                <a:cs typeface="Lato" panose="020F0502020204030203" pitchFamily="34" charset="0"/>
              </a:rPr>
              <a:t>YUGMA a</a:t>
            </a:r>
            <a:r>
              <a:rPr lang="en-US" sz="1600" b="1" i="0" dirty="0">
                <a:solidFill>
                  <a:schemeClr val="bg1"/>
                </a:solidFill>
                <a:effectLst/>
                <a:ea typeface="Lato" panose="020F0502020204030203" pitchFamily="34" charset="0"/>
                <a:cs typeface="Lato" panose="020F0502020204030203" pitchFamily="34" charset="0"/>
              </a:rPr>
              <a:t>spire to enhance collaboration between Organizations and B-Schools, across geographies. </a:t>
            </a:r>
            <a:endParaRPr lang="en-US" sz="1600" b="1" dirty="0">
              <a:solidFill>
                <a:schemeClr val="bg1"/>
              </a:solidFill>
              <a:ea typeface="Lato" panose="020F0502020204030203" pitchFamily="34" charset="0"/>
              <a:cs typeface="Lato" panose="020F0502020204030203" pitchFamily="34" charset="0"/>
            </a:endParaRPr>
          </a:p>
        </p:txBody>
      </p:sp>
      <p:sp>
        <p:nvSpPr>
          <p:cNvPr id="7" name="Rectangle: Rounded Corners 6">
            <a:extLst>
              <a:ext uri="{FF2B5EF4-FFF2-40B4-BE49-F238E27FC236}">
                <a16:creationId xmlns:a16="http://schemas.microsoft.com/office/drawing/2014/main" id="{57C281A4-3615-6733-7E5F-063901CD181A}"/>
              </a:ext>
            </a:extLst>
          </p:cNvPr>
          <p:cNvSpPr/>
          <p:nvPr/>
        </p:nvSpPr>
        <p:spPr>
          <a:xfrm>
            <a:off x="1" y="904240"/>
            <a:ext cx="1351280" cy="338554"/>
          </a:xfrm>
          <a:prstGeom prst="roundRect">
            <a:avLst/>
          </a:prstGeom>
          <a:solidFill>
            <a:srgbClr val="FFCCC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tx1"/>
                </a:solidFill>
              </a:rPr>
              <a:t>Current State</a:t>
            </a:r>
            <a:endParaRPr lang="en-US" sz="1600" b="1" dirty="0">
              <a:solidFill>
                <a:schemeClr val="tx1"/>
              </a:solidFill>
            </a:endParaRPr>
          </a:p>
        </p:txBody>
      </p:sp>
      <p:sp>
        <p:nvSpPr>
          <p:cNvPr id="8" name="TextBox 7">
            <a:extLst>
              <a:ext uri="{FF2B5EF4-FFF2-40B4-BE49-F238E27FC236}">
                <a16:creationId xmlns:a16="http://schemas.microsoft.com/office/drawing/2014/main" id="{735C3386-B11A-C2B6-ADE9-6D1429314AB0}"/>
              </a:ext>
            </a:extLst>
          </p:cNvPr>
          <p:cNvSpPr txBox="1"/>
          <p:nvPr/>
        </p:nvSpPr>
        <p:spPr>
          <a:xfrm>
            <a:off x="91440" y="1303754"/>
            <a:ext cx="4094480" cy="338554"/>
          </a:xfrm>
          <a:prstGeom prst="rect">
            <a:avLst/>
          </a:prstGeom>
          <a:noFill/>
        </p:spPr>
        <p:txBody>
          <a:bodyPr wrap="square" rtlCol="0">
            <a:spAutoFit/>
          </a:bodyPr>
          <a:lstStyle/>
          <a:p>
            <a:r>
              <a:rPr lang="en-IN" sz="1600" b="1" dirty="0"/>
              <a:t>Offerings: (yugma.ai)</a:t>
            </a:r>
          </a:p>
        </p:txBody>
      </p:sp>
      <p:pic>
        <p:nvPicPr>
          <p:cNvPr id="2050" name="Picture 2">
            <a:extLst>
              <a:ext uri="{FF2B5EF4-FFF2-40B4-BE49-F238E27FC236}">
                <a16:creationId xmlns:a16="http://schemas.microsoft.com/office/drawing/2014/main" id="{D608921C-263C-2162-3875-960D4711C55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760" y="1896308"/>
            <a:ext cx="345440" cy="34544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1385D62-D864-0F0C-0FA7-0A8997D16BEE}"/>
              </a:ext>
            </a:extLst>
          </p:cNvPr>
          <p:cNvSpPr txBox="1"/>
          <p:nvPr/>
        </p:nvSpPr>
        <p:spPr>
          <a:xfrm>
            <a:off x="502920" y="1933843"/>
            <a:ext cx="1696720" cy="338554"/>
          </a:xfrm>
          <a:prstGeom prst="rect">
            <a:avLst/>
          </a:prstGeom>
          <a:noFill/>
        </p:spPr>
        <p:txBody>
          <a:bodyPr wrap="square" rtlCol="0">
            <a:spAutoFit/>
          </a:bodyPr>
          <a:lstStyle/>
          <a:p>
            <a:r>
              <a:rPr lang="en-IN" sz="1600" dirty="0"/>
              <a:t>competitions</a:t>
            </a:r>
            <a:endParaRPr lang="en-US" sz="1600" dirty="0"/>
          </a:p>
        </p:txBody>
      </p:sp>
      <p:sp>
        <p:nvSpPr>
          <p:cNvPr id="11" name="TextBox 10">
            <a:extLst>
              <a:ext uri="{FF2B5EF4-FFF2-40B4-BE49-F238E27FC236}">
                <a16:creationId xmlns:a16="http://schemas.microsoft.com/office/drawing/2014/main" id="{E3FE677C-B224-1AE1-E389-E4AB6DE14FA5}"/>
              </a:ext>
            </a:extLst>
          </p:cNvPr>
          <p:cNvSpPr txBox="1"/>
          <p:nvPr/>
        </p:nvSpPr>
        <p:spPr>
          <a:xfrm>
            <a:off x="91440" y="1534160"/>
            <a:ext cx="1696720" cy="338554"/>
          </a:xfrm>
          <a:prstGeom prst="rect">
            <a:avLst/>
          </a:prstGeom>
          <a:noFill/>
        </p:spPr>
        <p:txBody>
          <a:bodyPr wrap="square" rtlCol="0">
            <a:spAutoFit/>
          </a:bodyPr>
          <a:lstStyle/>
          <a:p>
            <a:r>
              <a:rPr lang="en-IN" sz="1600" i="1" dirty="0"/>
              <a:t>For students</a:t>
            </a:r>
            <a:endParaRPr lang="en-US" sz="1600" i="1" dirty="0"/>
          </a:p>
        </p:txBody>
      </p:sp>
      <p:pic>
        <p:nvPicPr>
          <p:cNvPr id="2052" name="Picture 4" descr="Tools ">
            <a:extLst>
              <a:ext uri="{FF2B5EF4-FFF2-40B4-BE49-F238E27FC236}">
                <a16:creationId xmlns:a16="http://schemas.microsoft.com/office/drawing/2014/main" id="{B4DDF61A-A6EC-99F6-CAE2-974675031EF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760" y="2320092"/>
            <a:ext cx="345440" cy="34544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0BB6F30D-88BE-4E8D-2B07-126636695A48}"/>
              </a:ext>
            </a:extLst>
          </p:cNvPr>
          <p:cNvSpPr txBox="1"/>
          <p:nvPr/>
        </p:nvSpPr>
        <p:spPr>
          <a:xfrm>
            <a:off x="502920" y="2342302"/>
            <a:ext cx="1696720" cy="338554"/>
          </a:xfrm>
          <a:prstGeom prst="rect">
            <a:avLst/>
          </a:prstGeom>
          <a:noFill/>
        </p:spPr>
        <p:txBody>
          <a:bodyPr wrap="square" rtlCol="0">
            <a:spAutoFit/>
          </a:bodyPr>
          <a:lstStyle/>
          <a:p>
            <a:r>
              <a:rPr lang="en-IN" sz="1600" dirty="0"/>
              <a:t>Upskilling</a:t>
            </a:r>
            <a:endParaRPr lang="en-US" sz="1600" dirty="0"/>
          </a:p>
        </p:txBody>
      </p:sp>
      <p:pic>
        <p:nvPicPr>
          <p:cNvPr id="2054" name="Picture 6" descr="Help ">
            <a:extLst>
              <a:ext uri="{FF2B5EF4-FFF2-40B4-BE49-F238E27FC236}">
                <a16:creationId xmlns:a16="http://schemas.microsoft.com/office/drawing/2014/main" id="{37AFCF0D-80C0-09F3-6CA9-6F7F0A9FB95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760" y="2743876"/>
            <a:ext cx="345440" cy="34544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68CA8BD-BD60-89E5-3396-7CE3DA441FD7}"/>
              </a:ext>
            </a:extLst>
          </p:cNvPr>
          <p:cNvSpPr txBox="1"/>
          <p:nvPr/>
        </p:nvSpPr>
        <p:spPr>
          <a:xfrm>
            <a:off x="502920" y="2750762"/>
            <a:ext cx="1696720" cy="338554"/>
          </a:xfrm>
          <a:prstGeom prst="rect">
            <a:avLst/>
          </a:prstGeom>
          <a:noFill/>
        </p:spPr>
        <p:txBody>
          <a:bodyPr wrap="square" rtlCol="0">
            <a:spAutoFit/>
          </a:bodyPr>
          <a:lstStyle/>
          <a:p>
            <a:r>
              <a:rPr lang="en-IN" sz="1600" dirty="0"/>
              <a:t>Mentorship</a:t>
            </a:r>
            <a:endParaRPr lang="en-US" sz="1600" dirty="0"/>
          </a:p>
        </p:txBody>
      </p:sp>
      <p:pic>
        <p:nvPicPr>
          <p:cNvPr id="2056" name="Picture 8" descr="Clipboard ">
            <a:extLst>
              <a:ext uri="{FF2B5EF4-FFF2-40B4-BE49-F238E27FC236}">
                <a16:creationId xmlns:a16="http://schemas.microsoft.com/office/drawing/2014/main" id="{7E438190-86D3-7E10-4061-2B55A2EF19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1760" y="3167660"/>
            <a:ext cx="345440" cy="345440"/>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D09375-AB1F-4C43-5E92-CBB00DBB9B4A}"/>
              </a:ext>
            </a:extLst>
          </p:cNvPr>
          <p:cNvSpPr txBox="1"/>
          <p:nvPr/>
        </p:nvSpPr>
        <p:spPr>
          <a:xfrm>
            <a:off x="502920" y="3159222"/>
            <a:ext cx="1696720" cy="338554"/>
          </a:xfrm>
          <a:prstGeom prst="rect">
            <a:avLst/>
          </a:prstGeom>
          <a:noFill/>
        </p:spPr>
        <p:txBody>
          <a:bodyPr wrap="square" rtlCol="0">
            <a:spAutoFit/>
          </a:bodyPr>
          <a:lstStyle/>
          <a:p>
            <a:r>
              <a:rPr lang="en-IN" sz="1600" dirty="0"/>
              <a:t>Assessments</a:t>
            </a:r>
            <a:endParaRPr lang="en-US" sz="1600" dirty="0"/>
          </a:p>
        </p:txBody>
      </p:sp>
      <p:pic>
        <p:nvPicPr>
          <p:cNvPr id="2058" name="Picture 10" descr="Suitcase ">
            <a:extLst>
              <a:ext uri="{FF2B5EF4-FFF2-40B4-BE49-F238E27FC236}">
                <a16:creationId xmlns:a16="http://schemas.microsoft.com/office/drawing/2014/main" id="{1C4E1DF0-1BB8-F071-8C93-5C0B753331B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1760" y="3591444"/>
            <a:ext cx="345440" cy="34544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2DB192DC-9514-45E5-C3F9-471591C455B8}"/>
              </a:ext>
            </a:extLst>
          </p:cNvPr>
          <p:cNvSpPr txBox="1"/>
          <p:nvPr/>
        </p:nvSpPr>
        <p:spPr>
          <a:xfrm>
            <a:off x="502920" y="3567682"/>
            <a:ext cx="1696720" cy="338554"/>
          </a:xfrm>
          <a:prstGeom prst="rect">
            <a:avLst/>
          </a:prstGeom>
          <a:noFill/>
        </p:spPr>
        <p:txBody>
          <a:bodyPr wrap="square" rtlCol="0">
            <a:spAutoFit/>
          </a:bodyPr>
          <a:lstStyle/>
          <a:p>
            <a:r>
              <a:rPr lang="en-IN" sz="1600" dirty="0"/>
              <a:t>Placements</a:t>
            </a:r>
            <a:endParaRPr lang="en-US" sz="1600" dirty="0"/>
          </a:p>
        </p:txBody>
      </p:sp>
      <p:sp>
        <p:nvSpPr>
          <p:cNvPr id="17" name="TextBox 16">
            <a:extLst>
              <a:ext uri="{FF2B5EF4-FFF2-40B4-BE49-F238E27FC236}">
                <a16:creationId xmlns:a16="http://schemas.microsoft.com/office/drawing/2014/main" id="{3D0609B0-64DB-EAFA-B1F8-E3B5CB5FEF4F}"/>
              </a:ext>
            </a:extLst>
          </p:cNvPr>
          <p:cNvSpPr txBox="1"/>
          <p:nvPr/>
        </p:nvSpPr>
        <p:spPr>
          <a:xfrm>
            <a:off x="502920" y="3976142"/>
            <a:ext cx="1696720" cy="338554"/>
          </a:xfrm>
          <a:prstGeom prst="rect">
            <a:avLst/>
          </a:prstGeom>
          <a:noFill/>
        </p:spPr>
        <p:txBody>
          <a:bodyPr wrap="square" rtlCol="0">
            <a:spAutoFit/>
          </a:bodyPr>
          <a:lstStyle/>
          <a:p>
            <a:r>
              <a:rPr lang="en-IN" sz="1600" dirty="0"/>
              <a:t>Articles</a:t>
            </a:r>
            <a:endParaRPr lang="en-US" sz="1600" dirty="0"/>
          </a:p>
        </p:txBody>
      </p:sp>
      <p:pic>
        <p:nvPicPr>
          <p:cNvPr id="2060" name="Picture 12" descr="Application ">
            <a:extLst>
              <a:ext uri="{FF2B5EF4-FFF2-40B4-BE49-F238E27FC236}">
                <a16:creationId xmlns:a16="http://schemas.microsoft.com/office/drawing/2014/main" id="{849BCCB7-841B-18DE-C258-C63A9BFFAB3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1760" y="4015228"/>
            <a:ext cx="345440" cy="345440"/>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9FBDCB7C-17A8-26B2-853B-FCBFE3D4F6E8}"/>
              </a:ext>
            </a:extLst>
          </p:cNvPr>
          <p:cNvSpPr txBox="1"/>
          <p:nvPr/>
        </p:nvSpPr>
        <p:spPr>
          <a:xfrm>
            <a:off x="91440" y="4446976"/>
            <a:ext cx="2174240" cy="338554"/>
          </a:xfrm>
          <a:prstGeom prst="rect">
            <a:avLst/>
          </a:prstGeom>
          <a:noFill/>
        </p:spPr>
        <p:txBody>
          <a:bodyPr wrap="square" rtlCol="0">
            <a:spAutoFit/>
          </a:bodyPr>
          <a:lstStyle/>
          <a:p>
            <a:r>
              <a:rPr lang="en-IN" sz="1600" i="1" dirty="0"/>
              <a:t>For institutions/mentors</a:t>
            </a:r>
            <a:endParaRPr lang="en-US" sz="1600" i="1" dirty="0"/>
          </a:p>
        </p:txBody>
      </p:sp>
      <p:sp>
        <p:nvSpPr>
          <p:cNvPr id="19" name="TextBox 18">
            <a:extLst>
              <a:ext uri="{FF2B5EF4-FFF2-40B4-BE49-F238E27FC236}">
                <a16:creationId xmlns:a16="http://schemas.microsoft.com/office/drawing/2014/main" id="{D9E1FEF8-B4A7-7B36-3AB3-134CDE0DDC0C}"/>
              </a:ext>
            </a:extLst>
          </p:cNvPr>
          <p:cNvSpPr txBox="1"/>
          <p:nvPr/>
        </p:nvSpPr>
        <p:spPr>
          <a:xfrm>
            <a:off x="502920" y="4821516"/>
            <a:ext cx="2060686" cy="338554"/>
          </a:xfrm>
          <a:prstGeom prst="rect">
            <a:avLst/>
          </a:prstGeom>
          <a:noFill/>
        </p:spPr>
        <p:txBody>
          <a:bodyPr wrap="square" rtlCol="0">
            <a:spAutoFit/>
          </a:bodyPr>
          <a:lstStyle/>
          <a:p>
            <a:r>
              <a:rPr lang="en-IN" sz="1600" dirty="0"/>
              <a:t>Live masterclass</a:t>
            </a:r>
            <a:endParaRPr lang="en-US" sz="1600" dirty="0"/>
          </a:p>
        </p:txBody>
      </p:sp>
      <p:pic>
        <p:nvPicPr>
          <p:cNvPr id="2062" name="Picture 14" descr="Teacher ">
            <a:extLst>
              <a:ext uri="{FF2B5EF4-FFF2-40B4-BE49-F238E27FC236}">
                <a16:creationId xmlns:a16="http://schemas.microsoft.com/office/drawing/2014/main" id="{019964D7-F0B8-A566-E28D-73213F8E80E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11760" y="4850616"/>
            <a:ext cx="345440" cy="34544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Database ">
            <a:extLst>
              <a:ext uri="{FF2B5EF4-FFF2-40B4-BE49-F238E27FC236}">
                <a16:creationId xmlns:a16="http://schemas.microsoft.com/office/drawing/2014/main" id="{671CDD6B-18FB-D478-0220-878B3F52BED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11760" y="5261142"/>
            <a:ext cx="345440" cy="3454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CDBA25B-96FC-1A43-83EA-82825AE4AC51}"/>
              </a:ext>
            </a:extLst>
          </p:cNvPr>
          <p:cNvSpPr txBox="1"/>
          <p:nvPr/>
        </p:nvSpPr>
        <p:spPr>
          <a:xfrm>
            <a:off x="502920" y="5255118"/>
            <a:ext cx="2060686" cy="338554"/>
          </a:xfrm>
          <a:prstGeom prst="rect">
            <a:avLst/>
          </a:prstGeom>
          <a:noFill/>
        </p:spPr>
        <p:txBody>
          <a:bodyPr wrap="square" rtlCol="0">
            <a:spAutoFit/>
          </a:bodyPr>
          <a:lstStyle/>
          <a:p>
            <a:r>
              <a:rPr lang="en-IN" sz="1600" dirty="0"/>
              <a:t>Host competitions</a:t>
            </a:r>
            <a:endParaRPr lang="en-US" sz="1600" dirty="0"/>
          </a:p>
        </p:txBody>
      </p:sp>
      <p:pic>
        <p:nvPicPr>
          <p:cNvPr id="2066" name="Picture 18" descr="Job search ">
            <a:extLst>
              <a:ext uri="{FF2B5EF4-FFF2-40B4-BE49-F238E27FC236}">
                <a16:creationId xmlns:a16="http://schemas.microsoft.com/office/drawing/2014/main" id="{6D3B2D37-3D29-5911-9B2A-8D1B18B5E096}"/>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11760" y="5671668"/>
            <a:ext cx="345440" cy="34544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9EF29B23-5602-C4A6-67FE-9C4BF6FB7AFF}"/>
              </a:ext>
            </a:extLst>
          </p:cNvPr>
          <p:cNvSpPr txBox="1"/>
          <p:nvPr/>
        </p:nvSpPr>
        <p:spPr>
          <a:xfrm>
            <a:off x="502920" y="5690787"/>
            <a:ext cx="2060686" cy="338554"/>
          </a:xfrm>
          <a:prstGeom prst="rect">
            <a:avLst/>
          </a:prstGeom>
          <a:noFill/>
        </p:spPr>
        <p:txBody>
          <a:bodyPr wrap="square" rtlCol="0">
            <a:spAutoFit/>
          </a:bodyPr>
          <a:lstStyle/>
          <a:p>
            <a:r>
              <a:rPr lang="en-IN" sz="1600" dirty="0"/>
              <a:t>Host jobs/projects</a:t>
            </a:r>
            <a:endParaRPr lang="en-US" sz="1600" dirty="0"/>
          </a:p>
        </p:txBody>
      </p:sp>
      <p:sp>
        <p:nvSpPr>
          <p:cNvPr id="6" name="Rectangle 5">
            <a:extLst>
              <a:ext uri="{FF2B5EF4-FFF2-40B4-BE49-F238E27FC236}">
                <a16:creationId xmlns:a16="http://schemas.microsoft.com/office/drawing/2014/main" id="{21099722-E464-568B-F1C6-FF56F3E7CD67}"/>
              </a:ext>
            </a:extLst>
          </p:cNvPr>
          <p:cNvSpPr/>
          <p:nvPr/>
        </p:nvSpPr>
        <p:spPr>
          <a:xfrm>
            <a:off x="60960" y="1303754"/>
            <a:ext cx="2204720" cy="4846035"/>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E24D0462-691D-BF69-0D0F-B91D99561E8E}"/>
              </a:ext>
            </a:extLst>
          </p:cNvPr>
          <p:cNvCxnSpPr>
            <a:cxnSpLocks/>
          </p:cNvCxnSpPr>
          <p:nvPr/>
        </p:nvCxnSpPr>
        <p:spPr>
          <a:xfrm>
            <a:off x="2265680" y="1767840"/>
            <a:ext cx="2979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20FE1A97-8B86-7C22-36BC-8C5A13F58A6F}"/>
              </a:ext>
            </a:extLst>
          </p:cNvPr>
          <p:cNvSpPr/>
          <p:nvPr/>
        </p:nvSpPr>
        <p:spPr>
          <a:xfrm>
            <a:off x="2563606" y="1303754"/>
            <a:ext cx="9536954" cy="482270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sz="1600" b="1" u="sng" dirty="0">
                <a:solidFill>
                  <a:schemeClr val="tx1"/>
                </a:solidFill>
              </a:rPr>
              <a:t>As-Is analysis of the current offerings, website structure, app features etc.</a:t>
            </a:r>
          </a:p>
          <a:p>
            <a:r>
              <a:rPr lang="en-IN" sz="1600" b="1" u="sng" dirty="0">
                <a:solidFill>
                  <a:schemeClr val="tx1"/>
                </a:solidFill>
              </a:rPr>
              <a:t> </a:t>
            </a:r>
          </a:p>
          <a:p>
            <a:endParaRPr lang="en-US" sz="1600" dirty="0">
              <a:solidFill>
                <a:schemeClr val="tx1"/>
              </a:solidFill>
            </a:endParaRPr>
          </a:p>
        </p:txBody>
      </p:sp>
      <p:graphicFrame>
        <p:nvGraphicFramePr>
          <p:cNvPr id="23" name="Table 23">
            <a:extLst>
              <a:ext uri="{FF2B5EF4-FFF2-40B4-BE49-F238E27FC236}">
                <a16:creationId xmlns:a16="http://schemas.microsoft.com/office/drawing/2014/main" id="{F92FAE32-95AE-AE89-77B1-854DC0EDA621}"/>
              </a:ext>
            </a:extLst>
          </p:cNvPr>
          <p:cNvGraphicFramePr>
            <a:graphicFrameLocks noGrp="1"/>
          </p:cNvGraphicFramePr>
          <p:nvPr>
            <p:extLst>
              <p:ext uri="{D42A27DB-BD31-4B8C-83A1-F6EECF244321}">
                <p14:modId xmlns:p14="http://schemas.microsoft.com/office/powerpoint/2010/main" val="1381043081"/>
              </p:ext>
            </p:extLst>
          </p:nvPr>
        </p:nvGraphicFramePr>
        <p:xfrm>
          <a:off x="2668643" y="1683869"/>
          <a:ext cx="9326880" cy="4322928"/>
        </p:xfrm>
        <a:graphic>
          <a:graphicData uri="http://schemas.openxmlformats.org/drawingml/2006/table">
            <a:tbl>
              <a:tblPr firstRow="1" bandRow="1">
                <a:tableStyleId>{5C22544A-7EE6-4342-B048-85BDC9FD1C3A}</a:tableStyleId>
              </a:tblPr>
              <a:tblGrid>
                <a:gridCol w="1510554">
                  <a:extLst>
                    <a:ext uri="{9D8B030D-6E8A-4147-A177-3AD203B41FA5}">
                      <a16:colId xmlns:a16="http://schemas.microsoft.com/office/drawing/2014/main" val="88946547"/>
                    </a:ext>
                  </a:extLst>
                </a:gridCol>
                <a:gridCol w="2614406">
                  <a:extLst>
                    <a:ext uri="{9D8B030D-6E8A-4147-A177-3AD203B41FA5}">
                      <a16:colId xmlns:a16="http://schemas.microsoft.com/office/drawing/2014/main" val="3924283829"/>
                    </a:ext>
                  </a:extLst>
                </a:gridCol>
                <a:gridCol w="1920240">
                  <a:extLst>
                    <a:ext uri="{9D8B030D-6E8A-4147-A177-3AD203B41FA5}">
                      <a16:colId xmlns:a16="http://schemas.microsoft.com/office/drawing/2014/main" val="1457875705"/>
                    </a:ext>
                  </a:extLst>
                </a:gridCol>
                <a:gridCol w="1960880">
                  <a:extLst>
                    <a:ext uri="{9D8B030D-6E8A-4147-A177-3AD203B41FA5}">
                      <a16:colId xmlns:a16="http://schemas.microsoft.com/office/drawing/2014/main" val="664600578"/>
                    </a:ext>
                  </a:extLst>
                </a:gridCol>
                <a:gridCol w="1320800">
                  <a:extLst>
                    <a:ext uri="{9D8B030D-6E8A-4147-A177-3AD203B41FA5}">
                      <a16:colId xmlns:a16="http://schemas.microsoft.com/office/drawing/2014/main" val="847898681"/>
                    </a:ext>
                  </a:extLst>
                </a:gridCol>
              </a:tblGrid>
              <a:tr h="360528">
                <a:tc>
                  <a:txBody>
                    <a:bodyPr/>
                    <a:lstStyle/>
                    <a:p>
                      <a:r>
                        <a:rPr lang="en-IN" sz="1600" dirty="0"/>
                        <a:t>Element</a:t>
                      </a:r>
                      <a:endParaRPr lang="en-US" sz="1600" dirty="0"/>
                    </a:p>
                  </a:txBody>
                  <a:tcPr>
                    <a:solidFill>
                      <a:srgbClr val="E01F42"/>
                    </a:solidFill>
                  </a:tcPr>
                </a:tc>
                <a:tc>
                  <a:txBody>
                    <a:bodyPr/>
                    <a:lstStyle/>
                    <a:p>
                      <a:r>
                        <a:rPr lang="en-IN" sz="1600" dirty="0"/>
                        <a:t>Current state</a:t>
                      </a:r>
                      <a:endParaRPr lang="en-US" sz="1600" dirty="0"/>
                    </a:p>
                  </a:txBody>
                  <a:tcPr>
                    <a:solidFill>
                      <a:srgbClr val="E01F42"/>
                    </a:solidFill>
                  </a:tcPr>
                </a:tc>
                <a:tc>
                  <a:txBody>
                    <a:bodyPr/>
                    <a:lstStyle/>
                    <a:p>
                      <a:r>
                        <a:rPr lang="en-IN" sz="1600" dirty="0"/>
                        <a:t>Importance</a:t>
                      </a:r>
                      <a:endParaRPr lang="en-US" sz="1600" dirty="0"/>
                    </a:p>
                  </a:txBody>
                  <a:tcPr>
                    <a:solidFill>
                      <a:srgbClr val="E01F42"/>
                    </a:solidFill>
                  </a:tcPr>
                </a:tc>
                <a:tc>
                  <a:txBody>
                    <a:bodyPr/>
                    <a:lstStyle/>
                    <a:p>
                      <a:r>
                        <a:rPr lang="en-IN" sz="1600" dirty="0"/>
                        <a:t>Outcome</a:t>
                      </a:r>
                      <a:endParaRPr lang="en-US" sz="1600" dirty="0"/>
                    </a:p>
                  </a:txBody>
                  <a:tcPr>
                    <a:solidFill>
                      <a:srgbClr val="E01F42"/>
                    </a:solidFill>
                  </a:tcPr>
                </a:tc>
                <a:tc>
                  <a:txBody>
                    <a:bodyPr/>
                    <a:lstStyle/>
                    <a:p>
                      <a:r>
                        <a:rPr lang="en-IN" sz="1600" dirty="0"/>
                        <a:t>Benchmark</a:t>
                      </a:r>
                      <a:endParaRPr lang="en-US" sz="1600" dirty="0"/>
                    </a:p>
                  </a:txBody>
                  <a:tcPr>
                    <a:solidFill>
                      <a:srgbClr val="E01F42"/>
                    </a:solidFill>
                  </a:tcPr>
                </a:tc>
                <a:extLst>
                  <a:ext uri="{0D108BD9-81ED-4DB2-BD59-A6C34878D82A}">
                    <a16:rowId xmlns:a16="http://schemas.microsoft.com/office/drawing/2014/main" val="951968937"/>
                  </a:ext>
                </a:extLst>
              </a:tr>
              <a:tr h="571369">
                <a:tc>
                  <a:txBody>
                    <a:bodyPr/>
                    <a:lstStyle/>
                    <a:p>
                      <a:r>
                        <a:rPr lang="en-IN" sz="1600" dirty="0"/>
                        <a:t>Competitions</a:t>
                      </a:r>
                      <a:endParaRPr lang="en-US" sz="1600" dirty="0"/>
                    </a:p>
                  </a:txBody>
                  <a:tcPr>
                    <a:solidFill>
                      <a:srgbClr val="FFCCCB"/>
                    </a:solidFill>
                  </a:tcPr>
                </a:tc>
                <a:tc>
                  <a:txBody>
                    <a:bodyPr/>
                    <a:lstStyle/>
                    <a:p>
                      <a:r>
                        <a:rPr lang="en-IN" sz="1600" dirty="0"/>
                        <a:t>10-12 till date</a:t>
                      </a:r>
                      <a:endParaRPr lang="en-US" sz="1600" dirty="0"/>
                    </a:p>
                  </a:txBody>
                  <a:tcPr>
                    <a:solidFill>
                      <a:srgbClr val="FFCCCB"/>
                    </a:solidFill>
                  </a:tcPr>
                </a:tc>
                <a:tc>
                  <a:txBody>
                    <a:bodyPr/>
                    <a:lstStyle/>
                    <a:p>
                      <a:r>
                        <a:rPr lang="en-IN" sz="1600" dirty="0"/>
                        <a:t>Preferred by 98% of the users</a:t>
                      </a:r>
                      <a:endParaRPr lang="en-US" sz="1600" dirty="0"/>
                    </a:p>
                  </a:txBody>
                  <a:tcPr>
                    <a:solidFill>
                      <a:srgbClr val="FFCCCB"/>
                    </a:solidFill>
                  </a:tcPr>
                </a:tc>
                <a:tc>
                  <a:txBody>
                    <a:bodyPr/>
                    <a:lstStyle/>
                    <a:p>
                      <a:r>
                        <a:rPr lang="en-IN" sz="1600" dirty="0"/>
                        <a:t>Less awareness</a:t>
                      </a:r>
                      <a:endParaRPr lang="en-US" sz="1600" dirty="0"/>
                    </a:p>
                  </a:txBody>
                  <a:tcPr>
                    <a:solidFill>
                      <a:srgbClr val="FFCCCB"/>
                    </a:solidFill>
                  </a:tcPr>
                </a:tc>
                <a:tc>
                  <a:txBody>
                    <a:bodyPr/>
                    <a:lstStyle/>
                    <a:p>
                      <a:r>
                        <a:rPr lang="en-IN" sz="1600" dirty="0"/>
                        <a:t>Unstop</a:t>
                      </a:r>
                      <a:endParaRPr lang="en-US" sz="1600" dirty="0"/>
                    </a:p>
                  </a:txBody>
                  <a:tcPr>
                    <a:solidFill>
                      <a:srgbClr val="FFCCCB"/>
                    </a:solidFill>
                  </a:tcPr>
                </a:tc>
                <a:extLst>
                  <a:ext uri="{0D108BD9-81ED-4DB2-BD59-A6C34878D82A}">
                    <a16:rowId xmlns:a16="http://schemas.microsoft.com/office/drawing/2014/main" val="3243857735"/>
                  </a:ext>
                </a:extLst>
              </a:tr>
              <a:tr h="571369">
                <a:tc>
                  <a:txBody>
                    <a:bodyPr/>
                    <a:lstStyle/>
                    <a:p>
                      <a:r>
                        <a:rPr lang="en-IN" sz="1600" dirty="0"/>
                        <a:t>Upskilling</a:t>
                      </a:r>
                      <a:endParaRPr lang="en-US" sz="1600" dirty="0"/>
                    </a:p>
                  </a:txBody>
                  <a:tcPr>
                    <a:solidFill>
                      <a:srgbClr val="FF8886"/>
                    </a:solidFill>
                  </a:tcPr>
                </a:tc>
                <a:tc>
                  <a:txBody>
                    <a:bodyPr/>
                    <a:lstStyle/>
                    <a:p>
                      <a:r>
                        <a:rPr lang="en-IN" sz="1600" dirty="0"/>
                        <a:t>Masterclass are not getting played</a:t>
                      </a:r>
                      <a:r>
                        <a:rPr lang="en-IN" sz="1600" strike="noStrike" baseline="30000" dirty="0"/>
                        <a:t>1</a:t>
                      </a:r>
                      <a:endParaRPr lang="en-US" sz="1600" strike="noStrike" baseline="30000" dirty="0"/>
                    </a:p>
                  </a:txBody>
                  <a:tcPr>
                    <a:solidFill>
                      <a:srgbClr val="FF8886"/>
                    </a:solidFill>
                  </a:tcPr>
                </a:tc>
                <a:tc>
                  <a:txBody>
                    <a:bodyPr/>
                    <a:lstStyle/>
                    <a:p>
                      <a:r>
                        <a:rPr lang="en-IN" sz="1600" dirty="0"/>
                        <a:t>Preferred by 44% of the users</a:t>
                      </a:r>
                      <a:endParaRPr lang="en-US" sz="1600" dirty="0"/>
                    </a:p>
                  </a:txBody>
                  <a:tcPr>
                    <a:solidFill>
                      <a:srgbClr val="FF8886"/>
                    </a:solidFill>
                  </a:tcPr>
                </a:tc>
                <a:tc>
                  <a:txBody>
                    <a:bodyPr/>
                    <a:lstStyle/>
                    <a:p>
                      <a:r>
                        <a:rPr lang="en-IN" sz="1600" dirty="0"/>
                        <a:t>User dissatisfaction </a:t>
                      </a:r>
                      <a:endParaRPr lang="en-US" sz="1600" dirty="0"/>
                    </a:p>
                  </a:txBody>
                  <a:tcPr>
                    <a:solidFill>
                      <a:srgbClr val="FF8886"/>
                    </a:solidFill>
                  </a:tcPr>
                </a:tc>
                <a:tc>
                  <a:txBody>
                    <a:bodyPr/>
                    <a:lstStyle/>
                    <a:p>
                      <a:r>
                        <a:rPr lang="en-IN" sz="1600" dirty="0"/>
                        <a:t>Navkiran</a:t>
                      </a:r>
                      <a:endParaRPr lang="en-US" sz="1600" dirty="0"/>
                    </a:p>
                  </a:txBody>
                  <a:tcPr>
                    <a:solidFill>
                      <a:srgbClr val="FF8886"/>
                    </a:solidFill>
                  </a:tcPr>
                </a:tc>
                <a:extLst>
                  <a:ext uri="{0D108BD9-81ED-4DB2-BD59-A6C34878D82A}">
                    <a16:rowId xmlns:a16="http://schemas.microsoft.com/office/drawing/2014/main" val="2604993399"/>
                  </a:ext>
                </a:extLst>
              </a:tr>
              <a:tr h="571369">
                <a:tc>
                  <a:txBody>
                    <a:bodyPr/>
                    <a:lstStyle/>
                    <a:p>
                      <a:r>
                        <a:rPr lang="en-IN" sz="1600" dirty="0"/>
                        <a:t>Assessments</a:t>
                      </a:r>
                      <a:endParaRPr lang="en-US" sz="1600" dirty="0"/>
                    </a:p>
                  </a:txBody>
                  <a:tcPr>
                    <a:solidFill>
                      <a:srgbClr val="FFCCCB"/>
                    </a:solidFill>
                  </a:tcPr>
                </a:tc>
                <a:tc>
                  <a:txBody>
                    <a:bodyPr/>
                    <a:lstStyle/>
                    <a:p>
                      <a:r>
                        <a:rPr lang="en-IN" sz="1600" dirty="0"/>
                        <a:t>Only 1</a:t>
                      </a:r>
                      <a:r>
                        <a:rPr lang="en-IN" sz="1600" baseline="30000" dirty="0"/>
                        <a:t>2</a:t>
                      </a:r>
                      <a:endParaRPr lang="en-US" sz="1600" baseline="30000" dirty="0"/>
                    </a:p>
                  </a:txBody>
                  <a:tcPr>
                    <a:solidFill>
                      <a:srgbClr val="FFCCCB"/>
                    </a:solidFill>
                  </a:tcPr>
                </a:tc>
                <a:tc>
                  <a:txBody>
                    <a:bodyPr/>
                    <a:lstStyle/>
                    <a:p>
                      <a:r>
                        <a:rPr lang="en-IN" sz="1600" dirty="0"/>
                        <a:t>Preferred by 25% of the users</a:t>
                      </a:r>
                      <a:endParaRPr lang="en-US" sz="1600" dirty="0"/>
                    </a:p>
                  </a:txBody>
                  <a:tcPr>
                    <a:solidFill>
                      <a:srgbClr val="FFCCCB"/>
                    </a:solidFill>
                  </a:tcPr>
                </a:tc>
                <a:tc>
                  <a:txBody>
                    <a:bodyPr/>
                    <a:lstStyle/>
                    <a:p>
                      <a:r>
                        <a:rPr lang="en-IN" sz="1600" dirty="0"/>
                        <a:t>User dissatisfaction </a:t>
                      </a:r>
                      <a:endParaRPr lang="en-US" sz="1600" dirty="0"/>
                    </a:p>
                  </a:txBody>
                  <a:tcPr>
                    <a:solidFill>
                      <a:srgbClr val="FFCCCB"/>
                    </a:solidFill>
                  </a:tcPr>
                </a:tc>
                <a:tc>
                  <a:txBody>
                    <a:bodyPr/>
                    <a:lstStyle/>
                    <a:p>
                      <a:r>
                        <a:rPr lang="en-IN" sz="1600" dirty="0"/>
                        <a:t>Unstop Pro (Paid version)</a:t>
                      </a:r>
                      <a:endParaRPr lang="en-US" sz="1600" dirty="0"/>
                    </a:p>
                  </a:txBody>
                  <a:tcPr>
                    <a:solidFill>
                      <a:srgbClr val="FFCCCB"/>
                    </a:solidFill>
                  </a:tcPr>
                </a:tc>
                <a:extLst>
                  <a:ext uri="{0D108BD9-81ED-4DB2-BD59-A6C34878D82A}">
                    <a16:rowId xmlns:a16="http://schemas.microsoft.com/office/drawing/2014/main" val="3991516482"/>
                  </a:ext>
                </a:extLst>
              </a:tr>
              <a:tr h="571369">
                <a:tc>
                  <a:txBody>
                    <a:bodyPr/>
                    <a:lstStyle/>
                    <a:p>
                      <a:r>
                        <a:rPr lang="en-IN" sz="1600" dirty="0"/>
                        <a:t>Placements</a:t>
                      </a:r>
                      <a:endParaRPr lang="en-US" sz="1600" dirty="0"/>
                    </a:p>
                  </a:txBody>
                  <a:tcPr>
                    <a:solidFill>
                      <a:srgbClr val="FF8886"/>
                    </a:solidFill>
                  </a:tcPr>
                </a:tc>
                <a:tc>
                  <a:txBody>
                    <a:bodyPr/>
                    <a:lstStyle/>
                    <a:p>
                      <a:r>
                        <a:rPr lang="en-IN" sz="1600" dirty="0"/>
                        <a:t>Very few</a:t>
                      </a:r>
                      <a:endParaRPr lang="en-US" sz="1600" dirty="0"/>
                    </a:p>
                  </a:txBody>
                  <a:tcPr>
                    <a:solidFill>
                      <a:srgbClr val="FF8886"/>
                    </a:solidFill>
                  </a:tcPr>
                </a:tc>
                <a:tc>
                  <a:txBody>
                    <a:bodyPr/>
                    <a:lstStyle/>
                    <a:p>
                      <a:r>
                        <a:rPr lang="en-IN" sz="1600" dirty="0"/>
                        <a:t>Preferred by 85% of the users</a:t>
                      </a:r>
                      <a:endParaRPr lang="en-US" sz="1600" dirty="0"/>
                    </a:p>
                  </a:txBody>
                  <a:tcPr>
                    <a:solidFill>
                      <a:srgbClr val="FF8886"/>
                    </a:solidFill>
                  </a:tcPr>
                </a:tc>
                <a:tc>
                  <a:txBody>
                    <a:bodyPr/>
                    <a:lstStyle/>
                    <a:p>
                      <a:r>
                        <a:rPr lang="en-IN" sz="1600" dirty="0"/>
                        <a:t>Bad Brand image &amp; corporate connect</a:t>
                      </a:r>
                      <a:endParaRPr lang="en-US" sz="1600" dirty="0"/>
                    </a:p>
                  </a:txBody>
                  <a:tcPr>
                    <a:solidFill>
                      <a:srgbClr val="FF8886"/>
                    </a:solidFill>
                  </a:tcPr>
                </a:tc>
                <a:tc>
                  <a:txBody>
                    <a:bodyPr/>
                    <a:lstStyle/>
                    <a:p>
                      <a:r>
                        <a:rPr lang="en-IN" sz="1600" dirty="0"/>
                        <a:t>Unstop Pro</a:t>
                      </a:r>
                      <a:endParaRPr lang="en-US" sz="1600" dirty="0"/>
                    </a:p>
                  </a:txBody>
                  <a:tcPr>
                    <a:solidFill>
                      <a:srgbClr val="FF8886"/>
                    </a:solidFill>
                  </a:tcPr>
                </a:tc>
                <a:extLst>
                  <a:ext uri="{0D108BD9-81ED-4DB2-BD59-A6C34878D82A}">
                    <a16:rowId xmlns:a16="http://schemas.microsoft.com/office/drawing/2014/main" val="3986795688"/>
                  </a:ext>
                </a:extLst>
              </a:tr>
              <a:tr h="1052521">
                <a:tc>
                  <a:txBody>
                    <a:bodyPr/>
                    <a:lstStyle/>
                    <a:p>
                      <a:r>
                        <a:rPr lang="en-IN" sz="1600" dirty="0"/>
                        <a:t>Website SEO</a:t>
                      </a:r>
                      <a:endParaRPr lang="en-US" sz="1600" dirty="0"/>
                    </a:p>
                  </a:txBody>
                  <a:tcPr>
                    <a:solidFill>
                      <a:srgbClr val="FFCCCB"/>
                    </a:solidFill>
                  </a:tcPr>
                </a:tc>
                <a:tc>
                  <a:txBody>
                    <a:bodyPr/>
                    <a:lstStyle/>
                    <a:p>
                      <a:r>
                        <a:rPr lang="en-IN" sz="1600" dirty="0"/>
                        <a:t>Poor. There are two websites, and the static website appears on google search</a:t>
                      </a:r>
                      <a:r>
                        <a:rPr lang="en-IN" sz="1600" baseline="30000" dirty="0"/>
                        <a:t>3</a:t>
                      </a:r>
                      <a:endParaRPr lang="en-US" sz="1600" baseline="30000" dirty="0"/>
                    </a:p>
                  </a:txBody>
                  <a:tcPr>
                    <a:solidFill>
                      <a:srgbClr val="FFCCCB"/>
                    </a:solidFill>
                  </a:tcPr>
                </a:tc>
                <a:tc>
                  <a:txBody>
                    <a:bodyPr/>
                    <a:lstStyle/>
                    <a:p>
                      <a:r>
                        <a:rPr lang="en-IN" sz="1600" dirty="0"/>
                        <a:t>Is a major attribute for organic search ranking with relevant keywords</a:t>
                      </a:r>
                      <a:endParaRPr lang="en-US" sz="1600" dirty="0"/>
                    </a:p>
                  </a:txBody>
                  <a:tcPr>
                    <a:solidFill>
                      <a:srgbClr val="FFCCCB"/>
                    </a:solidFill>
                  </a:tcPr>
                </a:tc>
                <a:tc>
                  <a:txBody>
                    <a:bodyPr/>
                    <a:lstStyle/>
                    <a:p>
                      <a:r>
                        <a:rPr lang="en-IN" sz="1600" dirty="0"/>
                        <a:t>Less organic reach, less awareness</a:t>
                      </a:r>
                      <a:endParaRPr lang="en-US" sz="1600" dirty="0"/>
                    </a:p>
                  </a:txBody>
                  <a:tcPr>
                    <a:solidFill>
                      <a:srgbClr val="FFCCCB"/>
                    </a:solidFill>
                  </a:tcPr>
                </a:tc>
                <a:tc>
                  <a:txBody>
                    <a:bodyPr/>
                    <a:lstStyle/>
                    <a:p>
                      <a:r>
                        <a:rPr lang="en-IN" sz="1600" dirty="0"/>
                        <a:t>Unstop (Ranks top with majority keywords)</a:t>
                      </a:r>
                      <a:endParaRPr lang="en-US" sz="1600" dirty="0"/>
                    </a:p>
                  </a:txBody>
                  <a:tcPr>
                    <a:solidFill>
                      <a:srgbClr val="FFCCCB"/>
                    </a:solidFill>
                  </a:tcPr>
                </a:tc>
                <a:extLst>
                  <a:ext uri="{0D108BD9-81ED-4DB2-BD59-A6C34878D82A}">
                    <a16:rowId xmlns:a16="http://schemas.microsoft.com/office/drawing/2014/main" val="2198698837"/>
                  </a:ext>
                </a:extLst>
              </a:tr>
              <a:tr h="571369">
                <a:tc>
                  <a:txBody>
                    <a:bodyPr/>
                    <a:lstStyle/>
                    <a:p>
                      <a:r>
                        <a:rPr lang="en-IN" sz="1600" dirty="0"/>
                        <a:t>App UI/UX</a:t>
                      </a:r>
                      <a:endParaRPr lang="en-US" sz="1600" dirty="0"/>
                    </a:p>
                  </a:txBody>
                  <a:tcPr>
                    <a:solidFill>
                      <a:srgbClr val="FF8886"/>
                    </a:solidFill>
                  </a:tcPr>
                </a:tc>
                <a:tc>
                  <a:txBody>
                    <a:bodyPr/>
                    <a:lstStyle/>
                    <a:p>
                      <a:r>
                        <a:rPr lang="en-IN" sz="1600" baseline="0" dirty="0"/>
                        <a:t>Poor</a:t>
                      </a:r>
                      <a:endParaRPr lang="en-US" sz="1600" baseline="0" dirty="0"/>
                    </a:p>
                  </a:txBody>
                  <a:tcPr>
                    <a:solidFill>
                      <a:srgbClr val="FF8886"/>
                    </a:solidFill>
                  </a:tcPr>
                </a:tc>
                <a:tc>
                  <a:txBody>
                    <a:bodyPr/>
                    <a:lstStyle/>
                    <a:p>
                      <a:r>
                        <a:rPr lang="en-IN" sz="1600" dirty="0"/>
                        <a:t>Rank 1 attribute</a:t>
                      </a:r>
                      <a:endParaRPr lang="en-US" sz="1600" dirty="0"/>
                    </a:p>
                  </a:txBody>
                  <a:tcPr>
                    <a:solidFill>
                      <a:srgbClr val="FF8886"/>
                    </a:solidFill>
                  </a:tcPr>
                </a:tc>
                <a:tc>
                  <a:txBody>
                    <a:bodyPr/>
                    <a:lstStyle/>
                    <a:p>
                      <a:r>
                        <a:rPr lang="en-IN" sz="1600" dirty="0"/>
                        <a:t>Dissatisfaction, early uninstalls</a:t>
                      </a:r>
                      <a:endParaRPr lang="en-US" sz="1600" dirty="0"/>
                    </a:p>
                  </a:txBody>
                  <a:tcPr>
                    <a:solidFill>
                      <a:srgbClr val="FF8886"/>
                    </a:solidFill>
                  </a:tcPr>
                </a:tc>
                <a:tc>
                  <a:txBody>
                    <a:bodyPr/>
                    <a:lstStyle/>
                    <a:p>
                      <a:r>
                        <a:rPr lang="en-IN" sz="1600" dirty="0"/>
                        <a:t>Unstop</a:t>
                      </a:r>
                      <a:endParaRPr lang="en-US" sz="1600" dirty="0"/>
                    </a:p>
                  </a:txBody>
                  <a:tcPr>
                    <a:solidFill>
                      <a:srgbClr val="FF8886"/>
                    </a:solidFill>
                  </a:tcPr>
                </a:tc>
                <a:extLst>
                  <a:ext uri="{0D108BD9-81ED-4DB2-BD59-A6C34878D82A}">
                    <a16:rowId xmlns:a16="http://schemas.microsoft.com/office/drawing/2014/main" val="4100440936"/>
                  </a:ext>
                </a:extLst>
              </a:tr>
            </a:tbl>
          </a:graphicData>
        </a:graphic>
      </p:graphicFrame>
      <p:sp>
        <p:nvSpPr>
          <p:cNvPr id="30" name="TextBox 29">
            <a:extLst>
              <a:ext uri="{FF2B5EF4-FFF2-40B4-BE49-F238E27FC236}">
                <a16:creationId xmlns:a16="http://schemas.microsoft.com/office/drawing/2014/main" id="{05A56A8C-9AF2-4B14-4F82-A054E68F69FE}"/>
              </a:ext>
            </a:extLst>
          </p:cNvPr>
          <p:cNvSpPr txBox="1"/>
          <p:nvPr/>
        </p:nvSpPr>
        <p:spPr>
          <a:xfrm>
            <a:off x="0" y="6240653"/>
            <a:ext cx="12192000" cy="338554"/>
          </a:xfrm>
          <a:prstGeom prst="rect">
            <a:avLst/>
          </a:prstGeom>
          <a:solidFill>
            <a:srgbClr val="DF1939"/>
          </a:solidFill>
        </p:spPr>
        <p:txBody>
          <a:bodyPr wrap="square" rtlCol="0">
            <a:spAutoFit/>
          </a:bodyPr>
          <a:lstStyle/>
          <a:p>
            <a:pPr algn="ctr"/>
            <a:r>
              <a:rPr lang="en-IN" sz="1600" b="1" dirty="0">
                <a:solidFill>
                  <a:schemeClr val="bg1"/>
                </a:solidFill>
              </a:rPr>
              <a:t>To suggest any new business model, we must ensure the internal factors such as Supply side, UI/UX, Website and Business goals to be sorted</a:t>
            </a:r>
            <a:endParaRPr lang="en-US" sz="1600" b="1" dirty="0">
              <a:solidFill>
                <a:schemeClr val="bg1"/>
              </a:solidFill>
            </a:endParaRPr>
          </a:p>
        </p:txBody>
      </p:sp>
      <p:sp>
        <p:nvSpPr>
          <p:cNvPr id="33" name="Rectangle: Rounded Corners 32">
            <a:hlinkClick r:id="rId11"/>
            <a:extLst>
              <a:ext uri="{FF2B5EF4-FFF2-40B4-BE49-F238E27FC236}">
                <a16:creationId xmlns:a16="http://schemas.microsoft.com/office/drawing/2014/main" id="{AB603175-CB30-D762-97CE-AD1CA0F96977}"/>
              </a:ext>
            </a:extLst>
          </p:cNvPr>
          <p:cNvSpPr/>
          <p:nvPr/>
        </p:nvSpPr>
        <p:spPr>
          <a:xfrm>
            <a:off x="11199009" y="5987162"/>
            <a:ext cx="830431" cy="208059"/>
          </a:xfrm>
          <a:prstGeom prst="roundRect">
            <a:avLst/>
          </a:prstGeom>
          <a:solidFill>
            <a:srgbClr val="FFCCCB"/>
          </a:solidFill>
          <a:effectLst>
            <a:glow rad="101600">
              <a:schemeClr val="tx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solidFill>
                  <a:schemeClr val="tx1"/>
                </a:solidFill>
              </a:rPr>
              <a:t>Appendix</a:t>
            </a:r>
            <a:endParaRPr lang="en-US" sz="1100" b="1" dirty="0">
              <a:solidFill>
                <a:schemeClr val="tx1"/>
              </a:solidFill>
            </a:endParaRPr>
          </a:p>
        </p:txBody>
      </p:sp>
    </p:spTree>
    <p:extLst>
      <p:ext uri="{BB962C8B-B14F-4D97-AF65-F5344CB8AC3E}">
        <p14:creationId xmlns:p14="http://schemas.microsoft.com/office/powerpoint/2010/main" val="2294655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a:t>Business Model (Continued) </a:t>
            </a:r>
          </a:p>
        </p:txBody>
      </p:sp>
      <p:sp>
        <p:nvSpPr>
          <p:cNvPr id="4" name="Slide Number Placeholder 3"/>
          <p:cNvSpPr>
            <a:spLocks noGrp="1"/>
          </p:cNvSpPr>
          <p:nvPr>
            <p:ph type="sldNum" sz="quarter" idx="4"/>
          </p:nvPr>
        </p:nvSpPr>
        <p:spPr/>
        <p:txBody>
          <a:bodyPr/>
          <a:lstStyle/>
          <a:p>
            <a:fld id="{2D2D9D99-8454-442A-B0DD-EF173ADD60D6}" type="slidenum">
              <a:rPr lang="en-IN" smtClean="0"/>
              <a:pPr/>
              <a:t>8</a:t>
            </a:fld>
            <a:endParaRPr lang="en-IN"/>
          </a:p>
        </p:txBody>
      </p:sp>
      <p:sp>
        <p:nvSpPr>
          <p:cNvPr id="5" name="Rectangle: Rounded Corners 4">
            <a:extLst>
              <a:ext uri="{FF2B5EF4-FFF2-40B4-BE49-F238E27FC236}">
                <a16:creationId xmlns:a16="http://schemas.microsoft.com/office/drawing/2014/main" id="{D818C532-5611-DE78-D2D7-ED11976C843A}"/>
              </a:ext>
            </a:extLst>
          </p:cNvPr>
          <p:cNvSpPr/>
          <p:nvPr/>
        </p:nvSpPr>
        <p:spPr>
          <a:xfrm>
            <a:off x="1645920" y="904240"/>
            <a:ext cx="10546080" cy="338554"/>
          </a:xfrm>
          <a:prstGeom prst="roundRect">
            <a:avLst/>
          </a:prstGeom>
          <a:solidFill>
            <a:srgbClr val="E01F4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a:t>What’s New?: 1) Offerings that serve the unmet need, 2) Clear Value Proposition, 3) Community, 4) Corporate connect</a:t>
            </a:r>
            <a:endParaRPr lang="en-US" sz="1600" b="1" dirty="0">
              <a:solidFill>
                <a:schemeClr val="bg1"/>
              </a:solidFill>
              <a:ea typeface="Lato" panose="020F0502020204030203" pitchFamily="34" charset="0"/>
              <a:cs typeface="Lato" panose="020F0502020204030203" pitchFamily="34" charset="0"/>
            </a:endParaRPr>
          </a:p>
        </p:txBody>
      </p:sp>
      <p:sp>
        <p:nvSpPr>
          <p:cNvPr id="6" name="Rectangle: Rounded Corners 5">
            <a:extLst>
              <a:ext uri="{FF2B5EF4-FFF2-40B4-BE49-F238E27FC236}">
                <a16:creationId xmlns:a16="http://schemas.microsoft.com/office/drawing/2014/main" id="{3ED2C361-84E1-E210-F66D-C414B886C139}"/>
              </a:ext>
            </a:extLst>
          </p:cNvPr>
          <p:cNvSpPr/>
          <p:nvPr/>
        </p:nvSpPr>
        <p:spPr>
          <a:xfrm>
            <a:off x="0" y="904240"/>
            <a:ext cx="1645919" cy="338554"/>
          </a:xfrm>
          <a:prstGeom prst="roundRect">
            <a:avLst/>
          </a:prstGeom>
          <a:solidFill>
            <a:srgbClr val="FFCCC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tx1"/>
                </a:solidFill>
              </a:rPr>
              <a:t>Proposed Model</a:t>
            </a:r>
            <a:endParaRPr lang="en-US" sz="1600" b="1" dirty="0">
              <a:solidFill>
                <a:schemeClr val="tx1"/>
              </a:solidFill>
            </a:endParaRPr>
          </a:p>
        </p:txBody>
      </p:sp>
      <p:sp>
        <p:nvSpPr>
          <p:cNvPr id="9" name="Oval 8">
            <a:extLst>
              <a:ext uri="{FF2B5EF4-FFF2-40B4-BE49-F238E27FC236}">
                <a16:creationId xmlns:a16="http://schemas.microsoft.com/office/drawing/2014/main" id="{02BE1E81-30C0-0C61-4175-7F06973EA975}"/>
              </a:ext>
            </a:extLst>
          </p:cNvPr>
          <p:cNvSpPr/>
          <p:nvPr/>
        </p:nvSpPr>
        <p:spPr>
          <a:xfrm>
            <a:off x="224612" y="1654779"/>
            <a:ext cx="1032159" cy="4844477"/>
          </a:xfrm>
          <a:prstGeom prst="ellipse">
            <a:avLst/>
          </a:prstGeom>
          <a:solidFill>
            <a:srgbClr val="E01F42"/>
          </a:solid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90AC405A-F60C-C383-ED8A-0337795CF3E9}"/>
              </a:ext>
            </a:extLst>
          </p:cNvPr>
          <p:cNvSpPr/>
          <p:nvPr/>
        </p:nvSpPr>
        <p:spPr>
          <a:xfrm>
            <a:off x="369451" y="3014400"/>
            <a:ext cx="742480" cy="3484856"/>
          </a:xfrm>
          <a:prstGeom prst="ellipse">
            <a:avLst/>
          </a:prstGeom>
          <a:solidFill>
            <a:srgbClr val="FF8886"/>
          </a:solid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4E15A319-46E7-0975-59D0-542E89FB897F}"/>
              </a:ext>
            </a:extLst>
          </p:cNvPr>
          <p:cNvSpPr/>
          <p:nvPr/>
        </p:nvSpPr>
        <p:spPr>
          <a:xfrm>
            <a:off x="529759" y="4519223"/>
            <a:ext cx="421864" cy="1980033"/>
          </a:xfrm>
          <a:prstGeom prst="ellipse">
            <a:avLst/>
          </a:prstGeom>
          <a:solidFill>
            <a:srgbClr val="FFCCCB"/>
          </a:solid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A01C564-12DD-91D2-7922-043756633623}"/>
              </a:ext>
            </a:extLst>
          </p:cNvPr>
          <p:cNvSpPr txBox="1"/>
          <p:nvPr/>
        </p:nvSpPr>
        <p:spPr>
          <a:xfrm>
            <a:off x="1382486" y="1415243"/>
            <a:ext cx="4510314" cy="338554"/>
          </a:xfrm>
          <a:prstGeom prst="rect">
            <a:avLst/>
          </a:prstGeom>
          <a:noFill/>
        </p:spPr>
        <p:txBody>
          <a:bodyPr wrap="square" rtlCol="0">
            <a:spAutoFit/>
          </a:bodyPr>
          <a:lstStyle/>
          <a:p>
            <a:pPr algn="ctr"/>
            <a:r>
              <a:rPr lang="en-IN" sz="1600" b="1" u="sng" dirty="0"/>
              <a:t>The Golden Circle of the proposed business model</a:t>
            </a:r>
            <a:endParaRPr lang="en-US" sz="1600" b="1" u="sng" dirty="0"/>
          </a:p>
        </p:txBody>
      </p:sp>
      <p:sp>
        <p:nvSpPr>
          <p:cNvPr id="13" name="Rectangle 12">
            <a:extLst>
              <a:ext uri="{FF2B5EF4-FFF2-40B4-BE49-F238E27FC236}">
                <a16:creationId xmlns:a16="http://schemas.microsoft.com/office/drawing/2014/main" id="{379AC747-E648-0126-34B7-E81F5A07D2EC}"/>
              </a:ext>
            </a:extLst>
          </p:cNvPr>
          <p:cNvSpPr/>
          <p:nvPr/>
        </p:nvSpPr>
        <p:spPr>
          <a:xfrm>
            <a:off x="87086" y="1376068"/>
            <a:ext cx="6008914" cy="5236558"/>
          </a:xfrm>
          <a:prstGeom prst="rect">
            <a:avLst/>
          </a:prstGeom>
          <a:noFill/>
          <a:ln w="9525">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C7E733ED-EB52-5E1C-3E57-537E8DBA3A63}"/>
              </a:ext>
            </a:extLst>
          </p:cNvPr>
          <p:cNvSpPr txBox="1"/>
          <p:nvPr/>
        </p:nvSpPr>
        <p:spPr>
          <a:xfrm>
            <a:off x="424677" y="2307765"/>
            <a:ext cx="687253" cy="307777"/>
          </a:xfrm>
          <a:prstGeom prst="rect">
            <a:avLst/>
          </a:prstGeom>
          <a:noFill/>
        </p:spPr>
        <p:txBody>
          <a:bodyPr wrap="square" rtlCol="0">
            <a:spAutoFit/>
          </a:bodyPr>
          <a:lstStyle/>
          <a:p>
            <a:pPr algn="ctr"/>
            <a:r>
              <a:rPr lang="en-IN" sz="1400" b="1" dirty="0">
                <a:solidFill>
                  <a:schemeClr val="bg1"/>
                </a:solidFill>
              </a:rPr>
              <a:t>What?</a:t>
            </a:r>
            <a:endParaRPr lang="en-US" sz="1400" b="1" dirty="0">
              <a:solidFill>
                <a:schemeClr val="bg1"/>
              </a:solidFill>
            </a:endParaRPr>
          </a:p>
        </p:txBody>
      </p:sp>
      <p:sp>
        <p:nvSpPr>
          <p:cNvPr id="21" name="TextBox 20">
            <a:extLst>
              <a:ext uri="{FF2B5EF4-FFF2-40B4-BE49-F238E27FC236}">
                <a16:creationId xmlns:a16="http://schemas.microsoft.com/office/drawing/2014/main" id="{1A22B350-064B-05A0-6214-D595E0D8CEAC}"/>
              </a:ext>
            </a:extLst>
          </p:cNvPr>
          <p:cNvSpPr txBox="1"/>
          <p:nvPr/>
        </p:nvSpPr>
        <p:spPr>
          <a:xfrm>
            <a:off x="397064" y="3848198"/>
            <a:ext cx="687253" cy="307777"/>
          </a:xfrm>
          <a:prstGeom prst="rect">
            <a:avLst/>
          </a:prstGeom>
          <a:noFill/>
        </p:spPr>
        <p:txBody>
          <a:bodyPr wrap="square" rtlCol="0">
            <a:spAutoFit/>
          </a:bodyPr>
          <a:lstStyle/>
          <a:p>
            <a:pPr algn="ctr"/>
            <a:r>
              <a:rPr lang="en-IN" sz="1400" b="1" dirty="0">
                <a:solidFill>
                  <a:schemeClr val="bg1"/>
                </a:solidFill>
              </a:rPr>
              <a:t>How?</a:t>
            </a:r>
            <a:endParaRPr lang="en-US" sz="1400" b="1" dirty="0">
              <a:solidFill>
                <a:schemeClr val="bg1"/>
              </a:solidFill>
            </a:endParaRPr>
          </a:p>
        </p:txBody>
      </p:sp>
      <p:sp>
        <p:nvSpPr>
          <p:cNvPr id="22" name="TextBox 21">
            <a:extLst>
              <a:ext uri="{FF2B5EF4-FFF2-40B4-BE49-F238E27FC236}">
                <a16:creationId xmlns:a16="http://schemas.microsoft.com/office/drawing/2014/main" id="{1E134630-AC96-153E-2540-77ECE7F1CB8C}"/>
              </a:ext>
            </a:extLst>
          </p:cNvPr>
          <p:cNvSpPr txBox="1"/>
          <p:nvPr/>
        </p:nvSpPr>
        <p:spPr>
          <a:xfrm>
            <a:off x="404357" y="5529760"/>
            <a:ext cx="687253" cy="276999"/>
          </a:xfrm>
          <a:prstGeom prst="rect">
            <a:avLst/>
          </a:prstGeom>
          <a:noFill/>
        </p:spPr>
        <p:txBody>
          <a:bodyPr wrap="square" rtlCol="0">
            <a:spAutoFit/>
          </a:bodyPr>
          <a:lstStyle/>
          <a:p>
            <a:pPr algn="ctr"/>
            <a:r>
              <a:rPr lang="en-IN" sz="1200" b="1" dirty="0"/>
              <a:t>Why?</a:t>
            </a:r>
            <a:endParaRPr lang="en-US" sz="1200" b="1" dirty="0"/>
          </a:p>
        </p:txBody>
      </p:sp>
      <p:sp>
        <p:nvSpPr>
          <p:cNvPr id="26" name="TextBox 25">
            <a:extLst>
              <a:ext uri="{FF2B5EF4-FFF2-40B4-BE49-F238E27FC236}">
                <a16:creationId xmlns:a16="http://schemas.microsoft.com/office/drawing/2014/main" id="{6CA1DDED-D228-6836-520F-B142703313EE}"/>
              </a:ext>
            </a:extLst>
          </p:cNvPr>
          <p:cNvSpPr txBox="1"/>
          <p:nvPr/>
        </p:nvSpPr>
        <p:spPr>
          <a:xfrm>
            <a:off x="1394297" y="1814042"/>
            <a:ext cx="4622088" cy="1323439"/>
          </a:xfrm>
          <a:prstGeom prst="rect">
            <a:avLst/>
          </a:prstGeom>
          <a:noFill/>
          <a:ln>
            <a:solidFill>
              <a:schemeClr val="tx1"/>
            </a:solidFill>
            <a:prstDash val="dash"/>
          </a:ln>
        </p:spPr>
        <p:txBody>
          <a:bodyPr wrap="square" rtlCol="0">
            <a:spAutoFit/>
          </a:bodyPr>
          <a:lstStyle/>
          <a:p>
            <a:pPr algn="just"/>
            <a:r>
              <a:rPr lang="en-IN" sz="1600" dirty="0"/>
              <a:t>A </a:t>
            </a:r>
            <a:r>
              <a:rPr lang="en-IN" sz="1600" b="1" dirty="0"/>
              <a:t>Certification and mentorship </a:t>
            </a:r>
            <a:r>
              <a:rPr lang="en-IN" sz="1600" dirty="0"/>
              <a:t>platform that provides industry ready certification from the CXO level executives of different industries followed by </a:t>
            </a:r>
            <a:r>
              <a:rPr lang="en-IN" sz="1600" b="1" dirty="0"/>
              <a:t>a Live Project </a:t>
            </a:r>
            <a:r>
              <a:rPr lang="en-IN" sz="1600" dirty="0"/>
              <a:t>to practically apply the learnings and add value to the achieved certification in resume.</a:t>
            </a:r>
            <a:endParaRPr lang="en-US" sz="1600" dirty="0"/>
          </a:p>
        </p:txBody>
      </p:sp>
      <p:sp>
        <p:nvSpPr>
          <p:cNvPr id="29" name="TextBox 28">
            <a:extLst>
              <a:ext uri="{FF2B5EF4-FFF2-40B4-BE49-F238E27FC236}">
                <a16:creationId xmlns:a16="http://schemas.microsoft.com/office/drawing/2014/main" id="{93383CD4-B5F7-25BA-D382-592BF440D1EB}"/>
              </a:ext>
            </a:extLst>
          </p:cNvPr>
          <p:cNvSpPr txBox="1"/>
          <p:nvPr/>
        </p:nvSpPr>
        <p:spPr>
          <a:xfrm>
            <a:off x="1382486" y="3246567"/>
            <a:ext cx="4633898" cy="1815882"/>
          </a:xfrm>
          <a:prstGeom prst="rect">
            <a:avLst/>
          </a:prstGeom>
          <a:noFill/>
          <a:ln>
            <a:solidFill>
              <a:schemeClr val="tx1"/>
            </a:solidFill>
            <a:prstDash val="dash"/>
          </a:ln>
        </p:spPr>
        <p:txBody>
          <a:bodyPr wrap="square" rtlCol="0">
            <a:spAutoFit/>
          </a:bodyPr>
          <a:lstStyle/>
          <a:p>
            <a:pPr algn="just"/>
            <a:r>
              <a:rPr lang="en-IN" sz="1600" dirty="0"/>
              <a:t>By providing </a:t>
            </a:r>
            <a:r>
              <a:rPr lang="en-IN" sz="1600" b="1" dirty="0"/>
              <a:t>most sought-after certifications </a:t>
            </a:r>
            <a:r>
              <a:rPr lang="en-IN" sz="1600" dirty="0"/>
              <a:t>by management students (Ex – </a:t>
            </a:r>
            <a:r>
              <a:rPr lang="en-IN" sz="1600" b="1" dirty="0"/>
              <a:t>Digital marketing, Financial modelling, HR analytics, Consulting 101 etc </a:t>
            </a:r>
            <a:r>
              <a:rPr lang="en-IN" sz="1600" dirty="0"/>
              <a:t>and collaborating with the clients of Vmentor.ai to float </a:t>
            </a:r>
            <a:r>
              <a:rPr lang="en-IN" sz="1600" b="1" dirty="0"/>
              <a:t>Live Projects relevant to the certification </a:t>
            </a:r>
            <a:r>
              <a:rPr lang="en-IN" sz="1600" dirty="0"/>
              <a:t>(Ex – Digital marketing strategy for ABC limited (1 month LP), Financial Modelling of XYZ Ltd (2-month LP)</a:t>
            </a:r>
            <a:endParaRPr lang="en-US" sz="1600" dirty="0"/>
          </a:p>
        </p:txBody>
      </p:sp>
      <p:sp>
        <p:nvSpPr>
          <p:cNvPr id="30" name="TextBox 29">
            <a:extLst>
              <a:ext uri="{FF2B5EF4-FFF2-40B4-BE49-F238E27FC236}">
                <a16:creationId xmlns:a16="http://schemas.microsoft.com/office/drawing/2014/main" id="{D6E94DA9-EF27-C883-4163-F0B414375FA9}"/>
              </a:ext>
            </a:extLst>
          </p:cNvPr>
          <p:cNvSpPr txBox="1"/>
          <p:nvPr/>
        </p:nvSpPr>
        <p:spPr>
          <a:xfrm>
            <a:off x="1382486" y="5175818"/>
            <a:ext cx="4633898" cy="1323439"/>
          </a:xfrm>
          <a:prstGeom prst="rect">
            <a:avLst/>
          </a:prstGeom>
          <a:noFill/>
          <a:ln>
            <a:solidFill>
              <a:schemeClr val="tx1"/>
            </a:solidFill>
            <a:prstDash val="dash"/>
          </a:ln>
        </p:spPr>
        <p:txBody>
          <a:bodyPr wrap="square" rtlCol="0">
            <a:spAutoFit/>
          </a:bodyPr>
          <a:lstStyle/>
          <a:p>
            <a:pPr algn="just"/>
            <a:r>
              <a:rPr lang="en-IN" sz="1600" dirty="0"/>
              <a:t>Majority of the certification platforms such as </a:t>
            </a:r>
            <a:r>
              <a:rPr lang="en-IN" sz="1600" b="1" dirty="0"/>
              <a:t>Coursera, Udemy etc does not provide India specific content </a:t>
            </a:r>
            <a:r>
              <a:rPr lang="en-IN" sz="1600" dirty="0"/>
              <a:t>plus the certification is of no use if there’s no practical application and it’s the </a:t>
            </a:r>
            <a:r>
              <a:rPr lang="en-IN" sz="1600" b="1" dirty="0"/>
              <a:t>biggest unmet need of the management students as of now</a:t>
            </a:r>
            <a:endParaRPr lang="en-US" sz="1600" b="1" dirty="0"/>
          </a:p>
        </p:txBody>
      </p:sp>
      <p:cxnSp>
        <p:nvCxnSpPr>
          <p:cNvPr id="32" name="Straight Arrow Connector 31">
            <a:extLst>
              <a:ext uri="{FF2B5EF4-FFF2-40B4-BE49-F238E27FC236}">
                <a16:creationId xmlns:a16="http://schemas.microsoft.com/office/drawing/2014/main" id="{D67934FB-5FD6-ADF4-C4D3-2B689B2DDAA4}"/>
              </a:ext>
            </a:extLst>
          </p:cNvPr>
          <p:cNvCxnSpPr/>
          <p:nvPr/>
        </p:nvCxnSpPr>
        <p:spPr>
          <a:xfrm>
            <a:off x="6096000" y="2040859"/>
            <a:ext cx="3759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78B99445-1329-4FE2-A6A8-3F8CBD1B972E}"/>
              </a:ext>
            </a:extLst>
          </p:cNvPr>
          <p:cNvSpPr/>
          <p:nvPr/>
        </p:nvSpPr>
        <p:spPr>
          <a:xfrm>
            <a:off x="6471920" y="1376068"/>
            <a:ext cx="5632994" cy="13944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1600" dirty="0">
                <a:solidFill>
                  <a:schemeClr val="tx1"/>
                </a:solidFill>
              </a:rPr>
              <a:t>We propose a </a:t>
            </a:r>
            <a:r>
              <a:rPr lang="en-IN" sz="1600" b="1" dirty="0">
                <a:solidFill>
                  <a:schemeClr val="tx1"/>
                </a:solidFill>
              </a:rPr>
              <a:t>FREE-MIUM</a:t>
            </a:r>
            <a:r>
              <a:rPr lang="en-IN" sz="1600" dirty="0">
                <a:solidFill>
                  <a:schemeClr val="tx1"/>
                </a:solidFill>
              </a:rPr>
              <a:t> monetization plan for the given model </a:t>
            </a:r>
            <a:endParaRPr lang="en-US" sz="1600" dirty="0">
              <a:solidFill>
                <a:schemeClr val="tx1"/>
              </a:solidFill>
            </a:endParaRPr>
          </a:p>
        </p:txBody>
      </p:sp>
      <p:cxnSp>
        <p:nvCxnSpPr>
          <p:cNvPr id="37" name="Straight Arrow Connector 36">
            <a:extLst>
              <a:ext uri="{FF2B5EF4-FFF2-40B4-BE49-F238E27FC236}">
                <a16:creationId xmlns:a16="http://schemas.microsoft.com/office/drawing/2014/main" id="{B96BE2B5-0C77-D377-4224-709052EE06BE}"/>
              </a:ext>
            </a:extLst>
          </p:cNvPr>
          <p:cNvCxnSpPr>
            <a:cxnSpLocks/>
            <a:endCxn id="38" idx="0"/>
          </p:cNvCxnSpPr>
          <p:nvPr/>
        </p:nvCxnSpPr>
        <p:spPr>
          <a:xfrm flipH="1">
            <a:off x="7843520" y="1654779"/>
            <a:ext cx="71120" cy="2451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Rectangle: Rounded Corners 37">
            <a:extLst>
              <a:ext uri="{FF2B5EF4-FFF2-40B4-BE49-F238E27FC236}">
                <a16:creationId xmlns:a16="http://schemas.microsoft.com/office/drawing/2014/main" id="{D9BF8EDA-19FF-86E6-8810-3B10FDFAE83E}"/>
              </a:ext>
            </a:extLst>
          </p:cNvPr>
          <p:cNvSpPr/>
          <p:nvPr/>
        </p:nvSpPr>
        <p:spPr>
          <a:xfrm>
            <a:off x="6593840" y="1899920"/>
            <a:ext cx="2499360" cy="806506"/>
          </a:xfrm>
          <a:prstGeom prst="roundRect">
            <a:avLst/>
          </a:prstGeom>
          <a:solidFill>
            <a:srgbClr val="E01F4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dirty="0"/>
              <a:t>Free basic certifications, masterclasses to onboard new users on the platform</a:t>
            </a:r>
            <a:endParaRPr lang="en-US" sz="1600" dirty="0"/>
          </a:p>
        </p:txBody>
      </p:sp>
      <p:sp>
        <p:nvSpPr>
          <p:cNvPr id="42" name="Rectangle: Rounded Corners 41">
            <a:extLst>
              <a:ext uri="{FF2B5EF4-FFF2-40B4-BE49-F238E27FC236}">
                <a16:creationId xmlns:a16="http://schemas.microsoft.com/office/drawing/2014/main" id="{6D425143-2EEF-8BC4-2A22-CFB082E79B79}"/>
              </a:ext>
            </a:extLst>
          </p:cNvPr>
          <p:cNvSpPr/>
          <p:nvPr/>
        </p:nvSpPr>
        <p:spPr>
          <a:xfrm>
            <a:off x="9215120" y="1911827"/>
            <a:ext cx="2752268" cy="794599"/>
          </a:xfrm>
          <a:prstGeom prst="roundRect">
            <a:avLst/>
          </a:prstGeom>
          <a:solidFill>
            <a:srgbClr val="E01F4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dirty="0"/>
              <a:t>Paid (Nominal cost) CXO level certifications bundled with relevant Live Projects</a:t>
            </a:r>
            <a:endParaRPr lang="en-US" sz="1600" dirty="0"/>
          </a:p>
        </p:txBody>
      </p:sp>
      <p:cxnSp>
        <p:nvCxnSpPr>
          <p:cNvPr id="40" name="Straight Arrow Connector 39">
            <a:extLst>
              <a:ext uri="{FF2B5EF4-FFF2-40B4-BE49-F238E27FC236}">
                <a16:creationId xmlns:a16="http://schemas.microsoft.com/office/drawing/2014/main" id="{904657D8-7040-D716-8582-E391D11EE22B}"/>
              </a:ext>
            </a:extLst>
          </p:cNvPr>
          <p:cNvCxnSpPr>
            <a:cxnSpLocks/>
          </p:cNvCxnSpPr>
          <p:nvPr/>
        </p:nvCxnSpPr>
        <p:spPr>
          <a:xfrm>
            <a:off x="8642614" y="1654779"/>
            <a:ext cx="1822186" cy="2100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7C1B1E9F-8166-CDB5-1DF4-DF619FC0F690}"/>
              </a:ext>
            </a:extLst>
          </p:cNvPr>
          <p:cNvCxnSpPr>
            <a:cxnSpLocks/>
          </p:cNvCxnSpPr>
          <p:nvPr/>
        </p:nvCxnSpPr>
        <p:spPr>
          <a:xfrm>
            <a:off x="9154160" y="2770484"/>
            <a:ext cx="0" cy="4119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58" name="Diagram 57">
            <a:extLst>
              <a:ext uri="{FF2B5EF4-FFF2-40B4-BE49-F238E27FC236}">
                <a16:creationId xmlns:a16="http://schemas.microsoft.com/office/drawing/2014/main" id="{8525AA56-8DBC-83DD-6A59-5B141EF12383}"/>
              </a:ext>
            </a:extLst>
          </p:cNvPr>
          <p:cNvGraphicFramePr/>
          <p:nvPr>
            <p:extLst>
              <p:ext uri="{D42A27DB-BD31-4B8C-83A1-F6EECF244321}">
                <p14:modId xmlns:p14="http://schemas.microsoft.com/office/powerpoint/2010/main" val="3815032585"/>
              </p:ext>
            </p:extLst>
          </p:nvPr>
        </p:nvGraphicFramePr>
        <p:xfrm>
          <a:off x="6430035" y="3273353"/>
          <a:ext cx="5761965" cy="3382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9" name="Rectangle: Rounded Corners 58">
            <a:extLst>
              <a:ext uri="{FF2B5EF4-FFF2-40B4-BE49-F238E27FC236}">
                <a16:creationId xmlns:a16="http://schemas.microsoft.com/office/drawing/2014/main" id="{C103C262-29BC-277F-8172-9BBAB5D9FEE6}"/>
              </a:ext>
            </a:extLst>
          </p:cNvPr>
          <p:cNvSpPr/>
          <p:nvPr/>
        </p:nvSpPr>
        <p:spPr>
          <a:xfrm rot="16200000">
            <a:off x="5130652" y="5025965"/>
            <a:ext cx="2816488" cy="335251"/>
          </a:xfrm>
          <a:prstGeom prst="roundRect">
            <a:avLst/>
          </a:prstGeom>
          <a:solidFill>
            <a:srgbClr val="FFCCC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tx1"/>
                </a:solidFill>
              </a:rPr>
              <a:t>Other offerings and their need</a:t>
            </a:r>
            <a:endParaRPr lang="en-US" sz="1600" b="1" dirty="0">
              <a:solidFill>
                <a:schemeClr val="tx1"/>
              </a:solidFill>
            </a:endParaRPr>
          </a:p>
        </p:txBody>
      </p:sp>
      <p:sp>
        <p:nvSpPr>
          <p:cNvPr id="60" name="TextBox 59">
            <a:extLst>
              <a:ext uri="{FF2B5EF4-FFF2-40B4-BE49-F238E27FC236}">
                <a16:creationId xmlns:a16="http://schemas.microsoft.com/office/drawing/2014/main" id="{BA13DC64-1725-4BF3-84E1-72C2336D4BC6}"/>
              </a:ext>
            </a:extLst>
          </p:cNvPr>
          <p:cNvSpPr txBox="1"/>
          <p:nvPr/>
        </p:nvSpPr>
        <p:spPr>
          <a:xfrm>
            <a:off x="10703218" y="6099146"/>
            <a:ext cx="1918045" cy="261610"/>
          </a:xfrm>
          <a:prstGeom prst="rect">
            <a:avLst/>
          </a:prstGeom>
          <a:noFill/>
        </p:spPr>
        <p:txBody>
          <a:bodyPr wrap="square" rtlCol="0">
            <a:spAutoFit/>
          </a:bodyPr>
          <a:lstStyle/>
          <a:p>
            <a:r>
              <a:rPr lang="en-IN" sz="1100" dirty="0"/>
              <a:t>*        High need</a:t>
            </a:r>
          </a:p>
        </p:txBody>
      </p:sp>
      <p:sp>
        <p:nvSpPr>
          <p:cNvPr id="61" name="TextBox 60">
            <a:extLst>
              <a:ext uri="{FF2B5EF4-FFF2-40B4-BE49-F238E27FC236}">
                <a16:creationId xmlns:a16="http://schemas.microsoft.com/office/drawing/2014/main" id="{B9FF04F3-F2EF-A3C6-18F9-5A1EBB37F5AB}"/>
              </a:ext>
            </a:extLst>
          </p:cNvPr>
          <p:cNvSpPr txBox="1"/>
          <p:nvPr/>
        </p:nvSpPr>
        <p:spPr>
          <a:xfrm>
            <a:off x="10703218" y="6245838"/>
            <a:ext cx="1918045" cy="276999"/>
          </a:xfrm>
          <a:prstGeom prst="rect">
            <a:avLst/>
          </a:prstGeom>
          <a:noFill/>
        </p:spPr>
        <p:txBody>
          <a:bodyPr wrap="square" rtlCol="0">
            <a:spAutoFit/>
          </a:bodyPr>
          <a:lstStyle/>
          <a:p>
            <a:r>
              <a:rPr lang="en-IN" sz="1200" dirty="0"/>
              <a:t>**     Moderate need</a:t>
            </a:r>
          </a:p>
        </p:txBody>
      </p:sp>
      <p:sp>
        <p:nvSpPr>
          <p:cNvPr id="62" name="TextBox 61">
            <a:extLst>
              <a:ext uri="{FF2B5EF4-FFF2-40B4-BE49-F238E27FC236}">
                <a16:creationId xmlns:a16="http://schemas.microsoft.com/office/drawing/2014/main" id="{9762A323-E348-6EF2-52F2-81A6A44EC9B5}"/>
              </a:ext>
            </a:extLst>
          </p:cNvPr>
          <p:cNvSpPr txBox="1"/>
          <p:nvPr/>
        </p:nvSpPr>
        <p:spPr>
          <a:xfrm>
            <a:off x="10694039" y="6360756"/>
            <a:ext cx="1918045" cy="276999"/>
          </a:xfrm>
          <a:prstGeom prst="rect">
            <a:avLst/>
          </a:prstGeom>
          <a:noFill/>
        </p:spPr>
        <p:txBody>
          <a:bodyPr wrap="square" rtlCol="0">
            <a:spAutoFit/>
          </a:bodyPr>
          <a:lstStyle/>
          <a:p>
            <a:r>
              <a:rPr lang="en-IN" sz="1200" dirty="0"/>
              <a:t>***   Low need</a:t>
            </a:r>
            <a:endParaRPr lang="en-US" sz="1200" dirty="0"/>
          </a:p>
        </p:txBody>
      </p:sp>
    </p:spTree>
    <p:extLst>
      <p:ext uri="{BB962C8B-B14F-4D97-AF65-F5344CB8AC3E}">
        <p14:creationId xmlns:p14="http://schemas.microsoft.com/office/powerpoint/2010/main" val="72310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a:t>Go to Market Plan </a:t>
            </a:r>
          </a:p>
        </p:txBody>
      </p:sp>
      <p:sp>
        <p:nvSpPr>
          <p:cNvPr id="4" name="Slide Number Placeholder 3"/>
          <p:cNvSpPr>
            <a:spLocks noGrp="1"/>
          </p:cNvSpPr>
          <p:nvPr>
            <p:ph type="sldNum" sz="quarter" idx="4"/>
          </p:nvPr>
        </p:nvSpPr>
        <p:spPr/>
        <p:txBody>
          <a:bodyPr/>
          <a:lstStyle/>
          <a:p>
            <a:fld id="{2D2D9D99-8454-442A-B0DD-EF173ADD60D6}" type="slidenum">
              <a:rPr lang="en-IN" smtClean="0"/>
              <a:pPr/>
              <a:t>9</a:t>
            </a:fld>
            <a:endParaRPr lang="en-IN"/>
          </a:p>
        </p:txBody>
      </p:sp>
      <p:cxnSp>
        <p:nvCxnSpPr>
          <p:cNvPr id="6" name="Straight Connector 5">
            <a:extLst>
              <a:ext uri="{FF2B5EF4-FFF2-40B4-BE49-F238E27FC236}">
                <a16:creationId xmlns:a16="http://schemas.microsoft.com/office/drawing/2014/main" id="{4232734F-7050-9A42-C39B-C2130875F967}"/>
              </a:ext>
            </a:extLst>
          </p:cNvPr>
          <p:cNvCxnSpPr>
            <a:cxnSpLocks/>
          </p:cNvCxnSpPr>
          <p:nvPr/>
        </p:nvCxnSpPr>
        <p:spPr>
          <a:xfrm>
            <a:off x="162560" y="1819076"/>
            <a:ext cx="11551920" cy="0"/>
          </a:xfrm>
          <a:prstGeom prst="line">
            <a:avLst/>
          </a:prstGeom>
          <a:ln>
            <a:solidFill>
              <a:schemeClr val="tx1"/>
            </a:solidFill>
            <a:prstDash val="lgDashDot"/>
          </a:ln>
        </p:spPr>
        <p:style>
          <a:lnRef idx="1">
            <a:schemeClr val="accent1"/>
          </a:lnRef>
          <a:fillRef idx="0">
            <a:schemeClr val="accent1"/>
          </a:fillRef>
          <a:effectRef idx="0">
            <a:schemeClr val="accent1"/>
          </a:effectRef>
          <a:fontRef idx="minor">
            <a:schemeClr val="tx1"/>
          </a:fontRef>
        </p:style>
      </p:cxnSp>
      <p:pic>
        <p:nvPicPr>
          <p:cNvPr id="1026" name="Picture 2" descr="Woman ">
            <a:extLst>
              <a:ext uri="{FF2B5EF4-FFF2-40B4-BE49-F238E27FC236}">
                <a16:creationId xmlns:a16="http://schemas.microsoft.com/office/drawing/2014/main" id="{33FB08C9-28AB-04EB-7C90-4C34810868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23794"/>
            <a:ext cx="756917" cy="756917"/>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44B53C7E-E7A0-6086-761C-6008E2AC6E70}"/>
              </a:ext>
            </a:extLst>
          </p:cNvPr>
          <p:cNvSpPr txBox="1"/>
          <p:nvPr/>
        </p:nvSpPr>
        <p:spPr>
          <a:xfrm>
            <a:off x="4406600" y="956467"/>
            <a:ext cx="2849883" cy="338554"/>
          </a:xfrm>
          <a:prstGeom prst="rect">
            <a:avLst/>
          </a:prstGeom>
          <a:noFill/>
        </p:spPr>
        <p:txBody>
          <a:bodyPr wrap="square" rtlCol="0">
            <a:spAutoFit/>
          </a:bodyPr>
          <a:lstStyle/>
          <a:p>
            <a:pPr algn="ctr"/>
            <a:r>
              <a:rPr lang="en-IN" sz="1600" b="1" dirty="0"/>
              <a:t>Journey of an MBA student</a:t>
            </a:r>
            <a:endParaRPr lang="en-US" sz="1600" b="1" dirty="0"/>
          </a:p>
        </p:txBody>
      </p:sp>
      <p:sp>
        <p:nvSpPr>
          <p:cNvPr id="23" name="TextBox 22">
            <a:extLst>
              <a:ext uri="{FF2B5EF4-FFF2-40B4-BE49-F238E27FC236}">
                <a16:creationId xmlns:a16="http://schemas.microsoft.com/office/drawing/2014/main" id="{B6D686FE-9547-EC2F-CBBD-2F178DA3B16C}"/>
              </a:ext>
            </a:extLst>
          </p:cNvPr>
          <p:cNvSpPr txBox="1"/>
          <p:nvPr/>
        </p:nvSpPr>
        <p:spPr>
          <a:xfrm>
            <a:off x="58417" y="1788197"/>
            <a:ext cx="1625600" cy="338554"/>
          </a:xfrm>
          <a:prstGeom prst="rect">
            <a:avLst/>
          </a:prstGeom>
          <a:noFill/>
        </p:spPr>
        <p:txBody>
          <a:bodyPr wrap="square" rtlCol="0">
            <a:spAutoFit/>
          </a:bodyPr>
          <a:lstStyle/>
          <a:p>
            <a:pPr algn="ctr"/>
            <a:r>
              <a:rPr lang="en-IN" sz="1600" dirty="0"/>
              <a:t>Entrance Exams</a:t>
            </a:r>
            <a:endParaRPr lang="en-US" sz="1600" dirty="0"/>
          </a:p>
        </p:txBody>
      </p:sp>
      <p:pic>
        <p:nvPicPr>
          <p:cNvPr id="1028" name="Picture 4" descr="Test ">
            <a:extLst>
              <a:ext uri="{FF2B5EF4-FFF2-40B4-BE49-F238E27FC236}">
                <a16:creationId xmlns:a16="http://schemas.microsoft.com/office/drawing/2014/main" id="{5FD41832-E428-A4FD-3B80-0051D2019D2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0877" y="1427517"/>
            <a:ext cx="360680" cy="36068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nstitute ">
            <a:extLst>
              <a:ext uri="{FF2B5EF4-FFF2-40B4-BE49-F238E27FC236}">
                <a16:creationId xmlns:a16="http://schemas.microsoft.com/office/drawing/2014/main" id="{CD0289B8-308E-0F6A-1733-D7DFD0705CD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71318" y="1431227"/>
            <a:ext cx="360680" cy="360680"/>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D47D7BB4-87E4-6061-7D53-E18845AD52A1}"/>
              </a:ext>
            </a:extLst>
          </p:cNvPr>
          <p:cNvSpPr txBox="1"/>
          <p:nvPr/>
        </p:nvSpPr>
        <p:spPr>
          <a:xfrm>
            <a:off x="2198219" y="1788197"/>
            <a:ext cx="1625600" cy="338554"/>
          </a:xfrm>
          <a:prstGeom prst="rect">
            <a:avLst/>
          </a:prstGeom>
          <a:noFill/>
        </p:spPr>
        <p:txBody>
          <a:bodyPr wrap="square" rtlCol="0">
            <a:spAutoFit/>
          </a:bodyPr>
          <a:lstStyle/>
          <a:p>
            <a:pPr algn="ctr"/>
            <a:r>
              <a:rPr lang="en-IN" sz="1600" dirty="0"/>
              <a:t>Admissions</a:t>
            </a:r>
            <a:endParaRPr lang="en-US" sz="1600" dirty="0"/>
          </a:p>
        </p:txBody>
      </p:sp>
      <p:sp>
        <p:nvSpPr>
          <p:cNvPr id="25" name="Left Brace 24">
            <a:extLst>
              <a:ext uri="{FF2B5EF4-FFF2-40B4-BE49-F238E27FC236}">
                <a16:creationId xmlns:a16="http://schemas.microsoft.com/office/drawing/2014/main" id="{3C8E4DAE-73E6-ACDA-D68E-8D5438399887}"/>
              </a:ext>
            </a:extLst>
          </p:cNvPr>
          <p:cNvSpPr/>
          <p:nvPr/>
        </p:nvSpPr>
        <p:spPr>
          <a:xfrm rot="16200000">
            <a:off x="1911763" y="1173379"/>
            <a:ext cx="161431" cy="2037081"/>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6" name="TextBox 25">
            <a:extLst>
              <a:ext uri="{FF2B5EF4-FFF2-40B4-BE49-F238E27FC236}">
                <a16:creationId xmlns:a16="http://schemas.microsoft.com/office/drawing/2014/main" id="{91F18A33-FC29-5432-EB97-7E44D56EC58F}"/>
              </a:ext>
            </a:extLst>
          </p:cNvPr>
          <p:cNvSpPr txBox="1"/>
          <p:nvPr/>
        </p:nvSpPr>
        <p:spPr>
          <a:xfrm>
            <a:off x="1179678" y="2263643"/>
            <a:ext cx="1625600" cy="338554"/>
          </a:xfrm>
          <a:prstGeom prst="rect">
            <a:avLst/>
          </a:prstGeom>
          <a:noFill/>
        </p:spPr>
        <p:txBody>
          <a:bodyPr wrap="square" rtlCol="0">
            <a:spAutoFit/>
          </a:bodyPr>
          <a:lstStyle/>
          <a:p>
            <a:pPr algn="ctr"/>
            <a:r>
              <a:rPr lang="en-IN" sz="1600" dirty="0"/>
              <a:t>Journey</a:t>
            </a:r>
            <a:endParaRPr lang="en-US" sz="1600" dirty="0"/>
          </a:p>
        </p:txBody>
      </p:sp>
      <p:pic>
        <p:nvPicPr>
          <p:cNvPr id="1032" name="Picture 8" descr="Id card ">
            <a:extLst>
              <a:ext uri="{FF2B5EF4-FFF2-40B4-BE49-F238E27FC236}">
                <a16:creationId xmlns:a16="http://schemas.microsoft.com/office/drawing/2014/main" id="{F3F7B5B6-FDF1-77C8-A60B-AE3DDC21479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76143" y="1427517"/>
            <a:ext cx="360680" cy="36068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38D2E0FF-62D1-2225-8853-278D442AD66B}"/>
              </a:ext>
            </a:extLst>
          </p:cNvPr>
          <p:cNvSpPr txBox="1"/>
          <p:nvPr/>
        </p:nvSpPr>
        <p:spPr>
          <a:xfrm>
            <a:off x="6103882" y="1780711"/>
            <a:ext cx="2305202" cy="338554"/>
          </a:xfrm>
          <a:prstGeom prst="rect">
            <a:avLst/>
          </a:prstGeom>
          <a:noFill/>
        </p:spPr>
        <p:txBody>
          <a:bodyPr wrap="square" rtlCol="0">
            <a:spAutoFit/>
          </a:bodyPr>
          <a:lstStyle/>
          <a:p>
            <a:pPr algn="ctr"/>
            <a:r>
              <a:rPr lang="en-IN" sz="1600" dirty="0"/>
              <a:t>Summer Internships</a:t>
            </a:r>
            <a:endParaRPr lang="en-US" sz="1600" dirty="0"/>
          </a:p>
        </p:txBody>
      </p:sp>
      <p:sp>
        <p:nvSpPr>
          <p:cNvPr id="28" name="Left Brace 27">
            <a:extLst>
              <a:ext uri="{FF2B5EF4-FFF2-40B4-BE49-F238E27FC236}">
                <a16:creationId xmlns:a16="http://schemas.microsoft.com/office/drawing/2014/main" id="{F9076042-30B6-AD82-D101-B33D33EEEA29}"/>
              </a:ext>
            </a:extLst>
          </p:cNvPr>
          <p:cNvSpPr/>
          <p:nvPr/>
        </p:nvSpPr>
        <p:spPr>
          <a:xfrm rot="16200000">
            <a:off x="5118286" y="125428"/>
            <a:ext cx="152422" cy="4123973"/>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9" name="TextBox 28">
            <a:extLst>
              <a:ext uri="{FF2B5EF4-FFF2-40B4-BE49-F238E27FC236}">
                <a16:creationId xmlns:a16="http://schemas.microsoft.com/office/drawing/2014/main" id="{ECD5686B-A703-6BCC-3F87-C8951C31AA99}"/>
              </a:ext>
            </a:extLst>
          </p:cNvPr>
          <p:cNvSpPr txBox="1"/>
          <p:nvPr/>
        </p:nvSpPr>
        <p:spPr>
          <a:xfrm>
            <a:off x="2737145" y="2240250"/>
            <a:ext cx="4914703" cy="338554"/>
          </a:xfrm>
          <a:prstGeom prst="rect">
            <a:avLst/>
          </a:prstGeom>
          <a:noFill/>
        </p:spPr>
        <p:txBody>
          <a:bodyPr wrap="square" rtlCol="0">
            <a:spAutoFit/>
          </a:bodyPr>
          <a:lstStyle/>
          <a:p>
            <a:pPr algn="ctr"/>
            <a:r>
              <a:rPr lang="en-IN" sz="1600" dirty="0"/>
              <a:t>Case competitions, certifications, Live Projects Etc.</a:t>
            </a:r>
            <a:endParaRPr lang="en-US" sz="1600" dirty="0"/>
          </a:p>
        </p:txBody>
      </p:sp>
      <p:pic>
        <p:nvPicPr>
          <p:cNvPr id="1034" name="Picture 10" descr="Suitcase ">
            <a:extLst>
              <a:ext uri="{FF2B5EF4-FFF2-40B4-BE49-F238E27FC236}">
                <a16:creationId xmlns:a16="http://schemas.microsoft.com/office/drawing/2014/main" id="{069D985C-196D-A0BC-8353-FE6DD3CB492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320783" y="1446467"/>
            <a:ext cx="360680" cy="360680"/>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8874FFD1-1B95-42B2-9A56-3EB5028BB825}"/>
              </a:ext>
            </a:extLst>
          </p:cNvPr>
          <p:cNvSpPr txBox="1"/>
          <p:nvPr/>
        </p:nvSpPr>
        <p:spPr>
          <a:xfrm>
            <a:off x="10348522" y="1795863"/>
            <a:ext cx="2305202" cy="338554"/>
          </a:xfrm>
          <a:prstGeom prst="rect">
            <a:avLst/>
          </a:prstGeom>
          <a:noFill/>
        </p:spPr>
        <p:txBody>
          <a:bodyPr wrap="square" rtlCol="0">
            <a:spAutoFit/>
          </a:bodyPr>
          <a:lstStyle/>
          <a:p>
            <a:pPr algn="ctr"/>
            <a:r>
              <a:rPr lang="en-IN" sz="1600" dirty="0"/>
              <a:t>Placement</a:t>
            </a:r>
            <a:endParaRPr lang="en-US" sz="1600" dirty="0"/>
          </a:p>
        </p:txBody>
      </p:sp>
      <p:sp>
        <p:nvSpPr>
          <p:cNvPr id="32" name="TextBox 31">
            <a:extLst>
              <a:ext uri="{FF2B5EF4-FFF2-40B4-BE49-F238E27FC236}">
                <a16:creationId xmlns:a16="http://schemas.microsoft.com/office/drawing/2014/main" id="{E28E22F7-BBAB-7A83-C976-7F471C4AE187}"/>
              </a:ext>
            </a:extLst>
          </p:cNvPr>
          <p:cNvSpPr txBox="1"/>
          <p:nvPr/>
        </p:nvSpPr>
        <p:spPr>
          <a:xfrm>
            <a:off x="6740129" y="2240250"/>
            <a:ext cx="5998112" cy="338554"/>
          </a:xfrm>
          <a:prstGeom prst="rect">
            <a:avLst/>
          </a:prstGeom>
          <a:noFill/>
        </p:spPr>
        <p:txBody>
          <a:bodyPr wrap="square" rtlCol="0">
            <a:spAutoFit/>
          </a:bodyPr>
          <a:lstStyle/>
          <a:p>
            <a:pPr algn="ctr"/>
            <a:r>
              <a:rPr lang="en-IN" sz="1600" dirty="0"/>
              <a:t>Placement preparation, Resume building, mentorship</a:t>
            </a:r>
            <a:endParaRPr lang="en-US" sz="1600" dirty="0"/>
          </a:p>
        </p:txBody>
      </p:sp>
      <p:sp>
        <p:nvSpPr>
          <p:cNvPr id="33" name="Left Brace 32">
            <a:extLst>
              <a:ext uri="{FF2B5EF4-FFF2-40B4-BE49-F238E27FC236}">
                <a16:creationId xmlns:a16="http://schemas.microsoft.com/office/drawing/2014/main" id="{A96BEB03-FE4A-7F19-9D03-DF5E958E2ADE}"/>
              </a:ext>
            </a:extLst>
          </p:cNvPr>
          <p:cNvSpPr/>
          <p:nvPr/>
        </p:nvSpPr>
        <p:spPr>
          <a:xfrm rot="16200000">
            <a:off x="9363751" y="134903"/>
            <a:ext cx="152422" cy="4123973"/>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4" name="Rectangle: Rounded Corners 33">
            <a:extLst>
              <a:ext uri="{FF2B5EF4-FFF2-40B4-BE49-F238E27FC236}">
                <a16:creationId xmlns:a16="http://schemas.microsoft.com/office/drawing/2014/main" id="{1AEB1033-5E1A-A3A0-C5B7-9696134B7660}"/>
              </a:ext>
            </a:extLst>
          </p:cNvPr>
          <p:cNvSpPr/>
          <p:nvPr/>
        </p:nvSpPr>
        <p:spPr>
          <a:xfrm>
            <a:off x="90846" y="2272635"/>
            <a:ext cx="285813" cy="2559955"/>
          </a:xfrm>
          <a:prstGeom prst="roundRect">
            <a:avLst/>
          </a:prstGeom>
          <a:solidFill>
            <a:srgbClr val="DF213A"/>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1600" b="1" dirty="0"/>
              <a:t>Journey mapping by YUGMA </a:t>
            </a:r>
            <a:endParaRPr lang="en-US" sz="1600" b="1" dirty="0"/>
          </a:p>
        </p:txBody>
      </p:sp>
      <p:cxnSp>
        <p:nvCxnSpPr>
          <p:cNvPr id="36" name="Straight Arrow Connector 35">
            <a:extLst>
              <a:ext uri="{FF2B5EF4-FFF2-40B4-BE49-F238E27FC236}">
                <a16:creationId xmlns:a16="http://schemas.microsoft.com/office/drawing/2014/main" id="{CE509393-680E-218E-39E7-826AD4DCB471}"/>
              </a:ext>
            </a:extLst>
          </p:cNvPr>
          <p:cNvCxnSpPr>
            <a:cxnSpLocks/>
          </p:cNvCxnSpPr>
          <p:nvPr/>
        </p:nvCxnSpPr>
        <p:spPr>
          <a:xfrm>
            <a:off x="665477" y="2126751"/>
            <a:ext cx="0" cy="19191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6CE92A25-0184-BAFC-1714-3BFE2F01018F}"/>
              </a:ext>
            </a:extLst>
          </p:cNvPr>
          <p:cNvSpPr txBox="1"/>
          <p:nvPr/>
        </p:nvSpPr>
        <p:spPr>
          <a:xfrm>
            <a:off x="516449" y="4197262"/>
            <a:ext cx="3151309" cy="584775"/>
          </a:xfrm>
          <a:prstGeom prst="rect">
            <a:avLst/>
          </a:prstGeom>
          <a:noFill/>
          <a:ln>
            <a:solidFill>
              <a:schemeClr val="tx1"/>
            </a:solidFill>
            <a:prstDash val="dash"/>
          </a:ln>
        </p:spPr>
        <p:txBody>
          <a:bodyPr wrap="square" rtlCol="0">
            <a:spAutoFit/>
          </a:bodyPr>
          <a:lstStyle/>
          <a:p>
            <a:r>
              <a:rPr lang="en-IN" sz="1600" dirty="0"/>
              <a:t>Catching the </a:t>
            </a:r>
            <a:r>
              <a:rPr lang="en-IN" sz="1600" b="1" dirty="0"/>
              <a:t>early birds </a:t>
            </a:r>
            <a:r>
              <a:rPr lang="en-IN" sz="1600" dirty="0"/>
              <a:t>with informative videos and tips etc</a:t>
            </a:r>
          </a:p>
        </p:txBody>
      </p:sp>
      <p:cxnSp>
        <p:nvCxnSpPr>
          <p:cNvPr id="39" name="Straight Arrow Connector 38">
            <a:extLst>
              <a:ext uri="{FF2B5EF4-FFF2-40B4-BE49-F238E27FC236}">
                <a16:creationId xmlns:a16="http://schemas.microsoft.com/office/drawing/2014/main" id="{42E8C7A7-607B-5B75-E554-1C1DCDBD499F}"/>
              </a:ext>
            </a:extLst>
          </p:cNvPr>
          <p:cNvCxnSpPr>
            <a:cxnSpLocks/>
          </p:cNvCxnSpPr>
          <p:nvPr/>
        </p:nvCxnSpPr>
        <p:spPr>
          <a:xfrm>
            <a:off x="1985005" y="2636498"/>
            <a:ext cx="0" cy="2306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D00BB26-579E-4C33-2129-6EC67B22B394}"/>
              </a:ext>
            </a:extLst>
          </p:cNvPr>
          <p:cNvSpPr txBox="1"/>
          <p:nvPr/>
        </p:nvSpPr>
        <p:spPr>
          <a:xfrm>
            <a:off x="893863" y="2968645"/>
            <a:ext cx="2773895" cy="1077218"/>
          </a:xfrm>
          <a:prstGeom prst="rect">
            <a:avLst/>
          </a:prstGeom>
          <a:noFill/>
          <a:ln>
            <a:solidFill>
              <a:schemeClr val="tx1"/>
            </a:solidFill>
            <a:prstDash val="dash"/>
          </a:ln>
        </p:spPr>
        <p:txBody>
          <a:bodyPr wrap="square" rtlCol="0">
            <a:spAutoFit/>
          </a:bodyPr>
          <a:lstStyle/>
          <a:p>
            <a:r>
              <a:rPr lang="en-IN" sz="1600" dirty="0"/>
              <a:t>Helping in </a:t>
            </a:r>
            <a:r>
              <a:rPr lang="en-IN" sz="1600" b="1" dirty="0"/>
              <a:t>the journey of college selection</a:t>
            </a:r>
            <a:r>
              <a:rPr lang="en-IN" sz="1600" dirty="0"/>
              <a:t> with relevant articles, information, basic pre-MBA certifications</a:t>
            </a:r>
            <a:endParaRPr lang="en-US" sz="1600" dirty="0"/>
          </a:p>
        </p:txBody>
      </p:sp>
      <p:cxnSp>
        <p:nvCxnSpPr>
          <p:cNvPr id="44" name="Straight Arrow Connector 43">
            <a:extLst>
              <a:ext uri="{FF2B5EF4-FFF2-40B4-BE49-F238E27FC236}">
                <a16:creationId xmlns:a16="http://schemas.microsoft.com/office/drawing/2014/main" id="{6C0D34A8-3BD5-ADEE-9839-F1982D894F7F}"/>
              </a:ext>
            </a:extLst>
          </p:cNvPr>
          <p:cNvCxnSpPr>
            <a:cxnSpLocks/>
          </p:cNvCxnSpPr>
          <p:nvPr/>
        </p:nvCxnSpPr>
        <p:spPr>
          <a:xfrm>
            <a:off x="5196837" y="2578804"/>
            <a:ext cx="0" cy="2883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F3F77160-C463-F4DE-281B-44AEA42FB7CB}"/>
              </a:ext>
            </a:extLst>
          </p:cNvPr>
          <p:cNvSpPr txBox="1"/>
          <p:nvPr/>
        </p:nvSpPr>
        <p:spPr>
          <a:xfrm>
            <a:off x="3807548" y="2968645"/>
            <a:ext cx="3844295" cy="1815882"/>
          </a:xfrm>
          <a:prstGeom prst="rect">
            <a:avLst/>
          </a:prstGeom>
          <a:noFill/>
          <a:ln>
            <a:solidFill>
              <a:schemeClr val="tx1"/>
            </a:solidFill>
            <a:prstDash val="dash"/>
          </a:ln>
        </p:spPr>
        <p:txBody>
          <a:bodyPr wrap="square" rtlCol="0">
            <a:spAutoFit/>
          </a:bodyPr>
          <a:lstStyle/>
          <a:p>
            <a:r>
              <a:rPr lang="en-IN" sz="1600" dirty="0"/>
              <a:t>Case competition masterclass, General management certifications, Live Projects, Internship readiness program, resume building sessions, business news articles &amp; videos, domain specific knowledge sharing, community building programs, campus ambassador programs</a:t>
            </a:r>
            <a:endParaRPr lang="en-US" sz="1600" dirty="0"/>
          </a:p>
        </p:txBody>
      </p:sp>
      <p:cxnSp>
        <p:nvCxnSpPr>
          <p:cNvPr id="47" name="Straight Arrow Connector 46">
            <a:extLst>
              <a:ext uri="{FF2B5EF4-FFF2-40B4-BE49-F238E27FC236}">
                <a16:creationId xmlns:a16="http://schemas.microsoft.com/office/drawing/2014/main" id="{3049220D-013B-FB99-854A-0B64EB7C87DA}"/>
              </a:ext>
            </a:extLst>
          </p:cNvPr>
          <p:cNvCxnSpPr>
            <a:cxnSpLocks/>
          </p:cNvCxnSpPr>
          <p:nvPr/>
        </p:nvCxnSpPr>
        <p:spPr>
          <a:xfrm>
            <a:off x="9439962" y="2558599"/>
            <a:ext cx="0" cy="2883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77019C14-6F46-7FD0-D2FB-0D4A683C11BB}"/>
              </a:ext>
            </a:extLst>
          </p:cNvPr>
          <p:cNvSpPr txBox="1"/>
          <p:nvPr/>
        </p:nvSpPr>
        <p:spPr>
          <a:xfrm>
            <a:off x="7791633" y="2968645"/>
            <a:ext cx="4309521" cy="1815882"/>
          </a:xfrm>
          <a:prstGeom prst="rect">
            <a:avLst/>
          </a:prstGeom>
          <a:noFill/>
          <a:ln>
            <a:solidFill>
              <a:schemeClr val="tx1"/>
            </a:solidFill>
            <a:prstDash val="dash"/>
          </a:ln>
        </p:spPr>
        <p:txBody>
          <a:bodyPr wrap="square" rtlCol="0">
            <a:spAutoFit/>
          </a:bodyPr>
          <a:lstStyle/>
          <a:p>
            <a:r>
              <a:rPr lang="en-IN" sz="1600" dirty="0"/>
              <a:t>SIP presentation masterclass, Post SIP resume building, Pre-placement certifications, Career guidance workshops, Field specific roles guidance (Ex – Product manager in Fintech, ASM in FMCG)</a:t>
            </a:r>
            <a:r>
              <a:rPr lang="en-US" sz="1600" dirty="0"/>
              <a:t>, pre-placement resume building, pre-placement live projects, Placement mock interviews, placement mock tests and quizzes</a:t>
            </a:r>
            <a:endParaRPr lang="en-IN" sz="1600" dirty="0"/>
          </a:p>
        </p:txBody>
      </p:sp>
      <p:cxnSp>
        <p:nvCxnSpPr>
          <p:cNvPr id="51" name="Straight Connector 50">
            <a:extLst>
              <a:ext uri="{FF2B5EF4-FFF2-40B4-BE49-F238E27FC236}">
                <a16:creationId xmlns:a16="http://schemas.microsoft.com/office/drawing/2014/main" id="{349A8D0F-5AB4-B7E2-A4E5-5D8B8D687B21}"/>
              </a:ext>
            </a:extLst>
          </p:cNvPr>
          <p:cNvCxnSpPr>
            <a:cxnSpLocks/>
          </p:cNvCxnSpPr>
          <p:nvPr/>
        </p:nvCxnSpPr>
        <p:spPr>
          <a:xfrm>
            <a:off x="376659" y="4917876"/>
            <a:ext cx="11551920" cy="0"/>
          </a:xfrm>
          <a:prstGeom prst="line">
            <a:avLst/>
          </a:prstGeom>
          <a:ln w="28575">
            <a:solidFill>
              <a:schemeClr val="tx1"/>
            </a:solidFill>
            <a:prstDash val="lgDashDot"/>
          </a:ln>
        </p:spPr>
        <p:style>
          <a:lnRef idx="1">
            <a:schemeClr val="accent1"/>
          </a:lnRef>
          <a:fillRef idx="0">
            <a:schemeClr val="accent1"/>
          </a:fillRef>
          <a:effectRef idx="0">
            <a:schemeClr val="accent1"/>
          </a:effectRef>
          <a:fontRef idx="minor">
            <a:schemeClr val="tx1"/>
          </a:fontRef>
        </p:style>
      </p:cxnSp>
      <p:grpSp>
        <p:nvGrpSpPr>
          <p:cNvPr id="52" name="Google Shape;520;p24">
            <a:extLst>
              <a:ext uri="{FF2B5EF4-FFF2-40B4-BE49-F238E27FC236}">
                <a16:creationId xmlns:a16="http://schemas.microsoft.com/office/drawing/2014/main" id="{35C33861-86FF-93BB-C8A4-99781FA0F8C3}"/>
              </a:ext>
            </a:extLst>
          </p:cNvPr>
          <p:cNvGrpSpPr/>
          <p:nvPr/>
        </p:nvGrpSpPr>
        <p:grpSpPr>
          <a:xfrm>
            <a:off x="0" y="6078897"/>
            <a:ext cx="12192000" cy="497803"/>
            <a:chOff x="0" y="3354801"/>
            <a:chExt cx="8433454" cy="1058032"/>
          </a:xfrm>
        </p:grpSpPr>
        <p:sp>
          <p:nvSpPr>
            <p:cNvPr id="53" name="Google Shape;521;p24">
              <a:extLst>
                <a:ext uri="{FF2B5EF4-FFF2-40B4-BE49-F238E27FC236}">
                  <a16:creationId xmlns:a16="http://schemas.microsoft.com/office/drawing/2014/main" id="{EFBF302B-F676-A562-B90E-452DDDF3EE87}"/>
                </a:ext>
              </a:extLst>
            </p:cNvPr>
            <p:cNvSpPr/>
            <p:nvPr/>
          </p:nvSpPr>
          <p:spPr>
            <a:xfrm>
              <a:off x="0" y="3483450"/>
              <a:ext cx="8433454" cy="801090"/>
            </a:xfrm>
            <a:custGeom>
              <a:avLst/>
              <a:gdLst/>
              <a:ahLst/>
              <a:cxnLst/>
              <a:rect l="l" t="t" r="r" b="b"/>
              <a:pathLst>
                <a:path w="273547" h="35267" extrusionOk="0">
                  <a:moveTo>
                    <a:pt x="1" y="1"/>
                  </a:moveTo>
                  <a:lnTo>
                    <a:pt x="1" y="35267"/>
                  </a:lnTo>
                  <a:lnTo>
                    <a:pt x="258962" y="35267"/>
                  </a:lnTo>
                  <a:lnTo>
                    <a:pt x="273547" y="17598"/>
                  </a:lnTo>
                  <a:lnTo>
                    <a:pt x="2589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22;p24">
              <a:extLst>
                <a:ext uri="{FF2B5EF4-FFF2-40B4-BE49-F238E27FC236}">
                  <a16:creationId xmlns:a16="http://schemas.microsoft.com/office/drawing/2014/main" id="{0864E018-FC1E-BC56-2453-C5E2F3540C4D}"/>
                </a:ext>
              </a:extLst>
            </p:cNvPr>
            <p:cNvSpPr/>
            <p:nvPr/>
          </p:nvSpPr>
          <p:spPr>
            <a:xfrm>
              <a:off x="1480" y="3354801"/>
              <a:ext cx="7990427" cy="98409"/>
            </a:xfrm>
            <a:custGeom>
              <a:avLst/>
              <a:gdLst/>
              <a:ahLst/>
              <a:cxnLst/>
              <a:rect l="l" t="t" r="r" b="b"/>
              <a:pathLst>
                <a:path w="259177" h="3192" extrusionOk="0">
                  <a:moveTo>
                    <a:pt x="1" y="0"/>
                  </a:moveTo>
                  <a:lnTo>
                    <a:pt x="1" y="3191"/>
                  </a:lnTo>
                  <a:lnTo>
                    <a:pt x="259176" y="3191"/>
                  </a:lnTo>
                  <a:lnTo>
                    <a:pt x="2591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23;p24">
              <a:extLst>
                <a:ext uri="{FF2B5EF4-FFF2-40B4-BE49-F238E27FC236}">
                  <a16:creationId xmlns:a16="http://schemas.microsoft.com/office/drawing/2014/main" id="{82DD9CDF-CF58-9A93-B965-CDC80EC359BD}"/>
                </a:ext>
              </a:extLst>
            </p:cNvPr>
            <p:cNvSpPr/>
            <p:nvPr/>
          </p:nvSpPr>
          <p:spPr>
            <a:xfrm>
              <a:off x="1480" y="4314794"/>
              <a:ext cx="7990427" cy="98039"/>
            </a:xfrm>
            <a:custGeom>
              <a:avLst/>
              <a:gdLst/>
              <a:ahLst/>
              <a:cxnLst/>
              <a:rect l="l" t="t" r="r" b="b"/>
              <a:pathLst>
                <a:path w="259177" h="3180" extrusionOk="0">
                  <a:moveTo>
                    <a:pt x="1" y="1"/>
                  </a:moveTo>
                  <a:lnTo>
                    <a:pt x="1" y="3180"/>
                  </a:lnTo>
                  <a:lnTo>
                    <a:pt x="259176" y="3180"/>
                  </a:lnTo>
                  <a:lnTo>
                    <a:pt x="2591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 name="Google Shape;524;p24">
              <a:extLst>
                <a:ext uri="{FF2B5EF4-FFF2-40B4-BE49-F238E27FC236}">
                  <a16:creationId xmlns:a16="http://schemas.microsoft.com/office/drawing/2014/main" id="{6A50F924-849D-9427-AFA8-98F7E2FB55D0}"/>
                </a:ext>
              </a:extLst>
            </p:cNvPr>
            <p:cNvGrpSpPr/>
            <p:nvPr/>
          </p:nvGrpSpPr>
          <p:grpSpPr>
            <a:xfrm>
              <a:off x="346902" y="3857188"/>
              <a:ext cx="7740127" cy="53613"/>
              <a:chOff x="346902" y="3236710"/>
              <a:chExt cx="7740127" cy="53613"/>
            </a:xfrm>
          </p:grpSpPr>
          <p:sp>
            <p:nvSpPr>
              <p:cNvPr id="57" name="Google Shape;525;p24">
                <a:extLst>
                  <a:ext uri="{FF2B5EF4-FFF2-40B4-BE49-F238E27FC236}">
                    <a16:creationId xmlns:a16="http://schemas.microsoft.com/office/drawing/2014/main" id="{0AAB3B2A-7AD0-5DA5-42F2-B07CF16B814D}"/>
                  </a:ext>
                </a:extLst>
              </p:cNvPr>
              <p:cNvSpPr/>
              <p:nvPr/>
            </p:nvSpPr>
            <p:spPr>
              <a:xfrm>
                <a:off x="3300753" y="3236710"/>
                <a:ext cx="355347" cy="53613"/>
              </a:xfrm>
              <a:custGeom>
                <a:avLst/>
                <a:gdLst/>
                <a:ahLst/>
                <a:cxnLst/>
                <a:rect l="l" t="t" r="r" b="b"/>
                <a:pathLst>
                  <a:path w="11526" h="1739" extrusionOk="0">
                    <a:moveTo>
                      <a:pt x="0" y="0"/>
                    </a:moveTo>
                    <a:lnTo>
                      <a:pt x="0" y="1739"/>
                    </a:lnTo>
                    <a:lnTo>
                      <a:pt x="11526" y="1739"/>
                    </a:lnTo>
                    <a:lnTo>
                      <a:pt x="1152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26;p24">
                <a:extLst>
                  <a:ext uri="{FF2B5EF4-FFF2-40B4-BE49-F238E27FC236}">
                    <a16:creationId xmlns:a16="http://schemas.microsoft.com/office/drawing/2014/main" id="{A5DF2747-3F57-69A4-46D3-1FC395BAB4B4}"/>
                  </a:ext>
                </a:extLst>
              </p:cNvPr>
              <p:cNvSpPr/>
              <p:nvPr/>
            </p:nvSpPr>
            <p:spPr>
              <a:xfrm>
                <a:off x="4039293" y="3236710"/>
                <a:ext cx="354977" cy="53613"/>
              </a:xfrm>
              <a:custGeom>
                <a:avLst/>
                <a:gdLst/>
                <a:ahLst/>
                <a:cxnLst/>
                <a:rect l="l" t="t" r="r" b="b"/>
                <a:pathLst>
                  <a:path w="11514" h="1739" extrusionOk="0">
                    <a:moveTo>
                      <a:pt x="1" y="0"/>
                    </a:moveTo>
                    <a:lnTo>
                      <a:pt x="1" y="1739"/>
                    </a:lnTo>
                    <a:lnTo>
                      <a:pt x="11514" y="1739"/>
                    </a:lnTo>
                    <a:lnTo>
                      <a:pt x="115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27;p24">
                <a:extLst>
                  <a:ext uri="{FF2B5EF4-FFF2-40B4-BE49-F238E27FC236}">
                    <a16:creationId xmlns:a16="http://schemas.microsoft.com/office/drawing/2014/main" id="{F587D78D-30D8-2894-D279-7F931D040C26}"/>
                  </a:ext>
                </a:extLst>
              </p:cNvPr>
              <p:cNvSpPr/>
              <p:nvPr/>
            </p:nvSpPr>
            <p:spPr>
              <a:xfrm>
                <a:off x="4777863" y="3236710"/>
                <a:ext cx="354977" cy="53613"/>
              </a:xfrm>
              <a:custGeom>
                <a:avLst/>
                <a:gdLst/>
                <a:ahLst/>
                <a:cxnLst/>
                <a:rect l="l" t="t" r="r" b="b"/>
                <a:pathLst>
                  <a:path w="11514" h="1739" extrusionOk="0">
                    <a:moveTo>
                      <a:pt x="0" y="0"/>
                    </a:moveTo>
                    <a:lnTo>
                      <a:pt x="0" y="1739"/>
                    </a:lnTo>
                    <a:lnTo>
                      <a:pt x="11513" y="1739"/>
                    </a:lnTo>
                    <a:lnTo>
                      <a:pt x="115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528;p24">
                <a:extLst>
                  <a:ext uri="{FF2B5EF4-FFF2-40B4-BE49-F238E27FC236}">
                    <a16:creationId xmlns:a16="http://schemas.microsoft.com/office/drawing/2014/main" id="{5864870D-B544-5D69-E241-F711530DACE2}"/>
                  </a:ext>
                </a:extLst>
              </p:cNvPr>
              <p:cNvSpPr/>
              <p:nvPr/>
            </p:nvSpPr>
            <p:spPr>
              <a:xfrm>
                <a:off x="5516403" y="3236710"/>
                <a:ext cx="354977" cy="53613"/>
              </a:xfrm>
              <a:custGeom>
                <a:avLst/>
                <a:gdLst/>
                <a:ahLst/>
                <a:cxnLst/>
                <a:rect l="l" t="t" r="r" b="b"/>
                <a:pathLst>
                  <a:path w="11514" h="1739" extrusionOk="0">
                    <a:moveTo>
                      <a:pt x="0" y="0"/>
                    </a:moveTo>
                    <a:lnTo>
                      <a:pt x="0" y="1739"/>
                    </a:lnTo>
                    <a:lnTo>
                      <a:pt x="11514" y="1739"/>
                    </a:lnTo>
                    <a:lnTo>
                      <a:pt x="115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529;p24">
                <a:extLst>
                  <a:ext uri="{FF2B5EF4-FFF2-40B4-BE49-F238E27FC236}">
                    <a16:creationId xmlns:a16="http://schemas.microsoft.com/office/drawing/2014/main" id="{44CC1964-1208-FD55-9B30-4F63BE335E90}"/>
                  </a:ext>
                </a:extLst>
              </p:cNvPr>
              <p:cNvSpPr/>
              <p:nvPr/>
            </p:nvSpPr>
            <p:spPr>
              <a:xfrm>
                <a:off x="6254943" y="3236710"/>
                <a:ext cx="355007" cy="53613"/>
              </a:xfrm>
              <a:custGeom>
                <a:avLst/>
                <a:gdLst/>
                <a:ahLst/>
                <a:cxnLst/>
                <a:rect l="l" t="t" r="r" b="b"/>
                <a:pathLst>
                  <a:path w="11515" h="1739" extrusionOk="0">
                    <a:moveTo>
                      <a:pt x="1" y="0"/>
                    </a:moveTo>
                    <a:lnTo>
                      <a:pt x="1" y="1739"/>
                    </a:lnTo>
                    <a:lnTo>
                      <a:pt x="11514" y="1739"/>
                    </a:lnTo>
                    <a:lnTo>
                      <a:pt x="115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530;p24">
                <a:extLst>
                  <a:ext uri="{FF2B5EF4-FFF2-40B4-BE49-F238E27FC236}">
                    <a16:creationId xmlns:a16="http://schemas.microsoft.com/office/drawing/2014/main" id="{10B7E82A-7507-B6F5-303A-DBBC67DFE842}"/>
                  </a:ext>
                </a:extLst>
              </p:cNvPr>
              <p:cNvSpPr/>
              <p:nvPr/>
            </p:nvSpPr>
            <p:spPr>
              <a:xfrm>
                <a:off x="6993513" y="3236710"/>
                <a:ext cx="354977" cy="53613"/>
              </a:xfrm>
              <a:custGeom>
                <a:avLst/>
                <a:gdLst/>
                <a:ahLst/>
                <a:cxnLst/>
                <a:rect l="l" t="t" r="r" b="b"/>
                <a:pathLst>
                  <a:path w="11514" h="1739" extrusionOk="0">
                    <a:moveTo>
                      <a:pt x="0" y="0"/>
                    </a:moveTo>
                    <a:lnTo>
                      <a:pt x="0" y="1739"/>
                    </a:lnTo>
                    <a:lnTo>
                      <a:pt x="11514" y="1739"/>
                    </a:lnTo>
                    <a:lnTo>
                      <a:pt x="115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531;p24">
                <a:extLst>
                  <a:ext uri="{FF2B5EF4-FFF2-40B4-BE49-F238E27FC236}">
                    <a16:creationId xmlns:a16="http://schemas.microsoft.com/office/drawing/2014/main" id="{1906E640-CFD6-FA7C-8DFE-8CE0267656BF}"/>
                  </a:ext>
                </a:extLst>
              </p:cNvPr>
              <p:cNvSpPr/>
              <p:nvPr/>
            </p:nvSpPr>
            <p:spPr>
              <a:xfrm>
                <a:off x="7732053" y="3236710"/>
                <a:ext cx="354977" cy="53613"/>
              </a:xfrm>
              <a:custGeom>
                <a:avLst/>
                <a:gdLst/>
                <a:ahLst/>
                <a:cxnLst/>
                <a:rect l="l" t="t" r="r" b="b"/>
                <a:pathLst>
                  <a:path w="11514" h="1739" extrusionOk="0">
                    <a:moveTo>
                      <a:pt x="1" y="0"/>
                    </a:moveTo>
                    <a:lnTo>
                      <a:pt x="1" y="1739"/>
                    </a:lnTo>
                    <a:lnTo>
                      <a:pt x="11514" y="1739"/>
                    </a:lnTo>
                    <a:lnTo>
                      <a:pt x="115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532;p24">
                <a:extLst>
                  <a:ext uri="{FF2B5EF4-FFF2-40B4-BE49-F238E27FC236}">
                    <a16:creationId xmlns:a16="http://schemas.microsoft.com/office/drawing/2014/main" id="{55B1707D-A853-F2B3-C160-C418CA87D414}"/>
                  </a:ext>
                </a:extLst>
              </p:cNvPr>
              <p:cNvSpPr/>
              <p:nvPr/>
            </p:nvSpPr>
            <p:spPr>
              <a:xfrm>
                <a:off x="346902" y="3236710"/>
                <a:ext cx="355007" cy="53613"/>
              </a:xfrm>
              <a:custGeom>
                <a:avLst/>
                <a:gdLst/>
                <a:ahLst/>
                <a:cxnLst/>
                <a:rect l="l" t="t" r="r" b="b"/>
                <a:pathLst>
                  <a:path w="11515" h="1739" extrusionOk="0">
                    <a:moveTo>
                      <a:pt x="1" y="0"/>
                    </a:moveTo>
                    <a:lnTo>
                      <a:pt x="1" y="1739"/>
                    </a:lnTo>
                    <a:lnTo>
                      <a:pt x="11514" y="1739"/>
                    </a:lnTo>
                    <a:lnTo>
                      <a:pt x="115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533;p24">
                <a:extLst>
                  <a:ext uri="{FF2B5EF4-FFF2-40B4-BE49-F238E27FC236}">
                    <a16:creationId xmlns:a16="http://schemas.microsoft.com/office/drawing/2014/main" id="{F04F3095-3C27-202C-2966-748E096642F7}"/>
                  </a:ext>
                </a:extLst>
              </p:cNvPr>
              <p:cNvSpPr/>
              <p:nvPr/>
            </p:nvSpPr>
            <p:spPr>
              <a:xfrm>
                <a:off x="1085103" y="3236710"/>
                <a:ext cx="355347" cy="53613"/>
              </a:xfrm>
              <a:custGeom>
                <a:avLst/>
                <a:gdLst/>
                <a:ahLst/>
                <a:cxnLst/>
                <a:rect l="l" t="t" r="r" b="b"/>
                <a:pathLst>
                  <a:path w="11526" h="1739" extrusionOk="0">
                    <a:moveTo>
                      <a:pt x="0" y="0"/>
                    </a:moveTo>
                    <a:lnTo>
                      <a:pt x="0" y="1739"/>
                    </a:lnTo>
                    <a:lnTo>
                      <a:pt x="11525" y="1739"/>
                    </a:lnTo>
                    <a:lnTo>
                      <a:pt x="1152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534;p24">
                <a:extLst>
                  <a:ext uri="{FF2B5EF4-FFF2-40B4-BE49-F238E27FC236}">
                    <a16:creationId xmlns:a16="http://schemas.microsoft.com/office/drawing/2014/main" id="{BF4AF790-8DAD-151F-5E23-7301B3E9CF95}"/>
                  </a:ext>
                </a:extLst>
              </p:cNvPr>
              <p:cNvSpPr/>
              <p:nvPr/>
            </p:nvSpPr>
            <p:spPr>
              <a:xfrm>
                <a:off x="1823643" y="3236710"/>
                <a:ext cx="355347" cy="53613"/>
              </a:xfrm>
              <a:custGeom>
                <a:avLst/>
                <a:gdLst/>
                <a:ahLst/>
                <a:cxnLst/>
                <a:rect l="l" t="t" r="r" b="b"/>
                <a:pathLst>
                  <a:path w="11526" h="1739" extrusionOk="0">
                    <a:moveTo>
                      <a:pt x="1" y="0"/>
                    </a:moveTo>
                    <a:lnTo>
                      <a:pt x="1" y="1739"/>
                    </a:lnTo>
                    <a:lnTo>
                      <a:pt x="11526" y="1739"/>
                    </a:lnTo>
                    <a:lnTo>
                      <a:pt x="1152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535;p24">
                <a:extLst>
                  <a:ext uri="{FF2B5EF4-FFF2-40B4-BE49-F238E27FC236}">
                    <a16:creationId xmlns:a16="http://schemas.microsoft.com/office/drawing/2014/main" id="{7BB118D7-FA62-97AE-1820-E143DE998254}"/>
                  </a:ext>
                </a:extLst>
              </p:cNvPr>
              <p:cNvSpPr/>
              <p:nvPr/>
            </p:nvSpPr>
            <p:spPr>
              <a:xfrm>
                <a:off x="2562183" y="3236710"/>
                <a:ext cx="355377" cy="53613"/>
              </a:xfrm>
              <a:custGeom>
                <a:avLst/>
                <a:gdLst/>
                <a:ahLst/>
                <a:cxnLst/>
                <a:rect l="l" t="t" r="r" b="b"/>
                <a:pathLst>
                  <a:path w="11527" h="1739" extrusionOk="0">
                    <a:moveTo>
                      <a:pt x="1" y="0"/>
                    </a:moveTo>
                    <a:lnTo>
                      <a:pt x="1" y="1739"/>
                    </a:lnTo>
                    <a:lnTo>
                      <a:pt x="11526" y="1739"/>
                    </a:lnTo>
                    <a:lnTo>
                      <a:pt x="1152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39" name="Group 1038">
            <a:extLst>
              <a:ext uri="{FF2B5EF4-FFF2-40B4-BE49-F238E27FC236}">
                <a16:creationId xmlns:a16="http://schemas.microsoft.com/office/drawing/2014/main" id="{00D515D0-15F8-1806-202C-FB9C0200EEDD}"/>
              </a:ext>
            </a:extLst>
          </p:cNvPr>
          <p:cNvGrpSpPr/>
          <p:nvPr/>
        </p:nvGrpSpPr>
        <p:grpSpPr>
          <a:xfrm>
            <a:off x="675638" y="5684530"/>
            <a:ext cx="567656" cy="455628"/>
            <a:chOff x="675637" y="5591178"/>
            <a:chExt cx="683961" cy="548980"/>
          </a:xfrm>
        </p:grpSpPr>
        <p:sp>
          <p:nvSpPr>
            <p:cNvPr id="1037" name="Google Shape;549;p24">
              <a:extLst>
                <a:ext uri="{FF2B5EF4-FFF2-40B4-BE49-F238E27FC236}">
                  <a16:creationId xmlns:a16="http://schemas.microsoft.com/office/drawing/2014/main" id="{CDEC9518-1BB2-00D6-BFB4-28B7245B60E0}"/>
                </a:ext>
              </a:extLst>
            </p:cNvPr>
            <p:cNvSpPr/>
            <p:nvPr/>
          </p:nvSpPr>
          <p:spPr>
            <a:xfrm>
              <a:off x="850792" y="5591178"/>
              <a:ext cx="325330" cy="548980"/>
            </a:xfrm>
            <a:custGeom>
              <a:avLst/>
              <a:gdLst/>
              <a:ahLst/>
              <a:cxnLst/>
              <a:rect l="l" t="t" r="r" b="b"/>
              <a:pathLst>
                <a:path w="19658" h="33172" extrusionOk="0">
                  <a:moveTo>
                    <a:pt x="9835" y="1"/>
                  </a:moveTo>
                  <a:cubicBezTo>
                    <a:pt x="4406" y="1"/>
                    <a:pt x="1" y="4394"/>
                    <a:pt x="1" y="9823"/>
                  </a:cubicBezTo>
                  <a:cubicBezTo>
                    <a:pt x="1" y="14598"/>
                    <a:pt x="3394" y="18610"/>
                    <a:pt x="7906" y="19503"/>
                  </a:cubicBezTo>
                  <a:lnTo>
                    <a:pt x="9407" y="33172"/>
                  </a:lnTo>
                  <a:lnTo>
                    <a:pt x="10252" y="33172"/>
                  </a:lnTo>
                  <a:lnTo>
                    <a:pt x="11752" y="19503"/>
                  </a:lnTo>
                  <a:cubicBezTo>
                    <a:pt x="16265" y="18610"/>
                    <a:pt x="19658" y="14598"/>
                    <a:pt x="19658" y="9823"/>
                  </a:cubicBezTo>
                  <a:cubicBezTo>
                    <a:pt x="19658" y="4394"/>
                    <a:pt x="15253" y="1"/>
                    <a:pt x="9835" y="1"/>
                  </a:cubicBezTo>
                  <a:close/>
                </a:path>
              </a:pathLst>
            </a:custGeom>
            <a:solidFill>
              <a:schemeClr val="accent1"/>
            </a:solidFill>
            <a:ln>
              <a:noFill/>
            </a:ln>
          </p:spPr>
          <p:txBody>
            <a:bodyPr spcFirstLastPara="1" wrap="square" lIns="91425" tIns="137150" rIns="91425" bIns="91425" anchor="t" anchorCtr="0">
              <a:noAutofit/>
            </a:bodyPr>
            <a:lstStyle/>
            <a:p>
              <a:pPr marL="0" lvl="0" indent="0" algn="ctr" rtl="0">
                <a:spcBef>
                  <a:spcPts val="0"/>
                </a:spcBef>
                <a:spcAft>
                  <a:spcPts val="0"/>
                </a:spcAft>
                <a:buNone/>
              </a:pPr>
              <a:endParaRPr sz="1050" b="1" dirty="0">
                <a:solidFill>
                  <a:srgbClr val="FFFFFF"/>
                </a:solidFill>
                <a:latin typeface="+mj-lt"/>
                <a:ea typeface="Fira Sans Extra Condensed"/>
                <a:cs typeface="Fira Sans Extra Condensed"/>
                <a:sym typeface="Fira Sans Extra Condensed"/>
              </a:endParaRPr>
            </a:p>
          </p:txBody>
        </p:sp>
        <p:sp>
          <p:nvSpPr>
            <p:cNvPr id="1038" name="TextBox 1037">
              <a:extLst>
                <a:ext uri="{FF2B5EF4-FFF2-40B4-BE49-F238E27FC236}">
                  <a16:creationId xmlns:a16="http://schemas.microsoft.com/office/drawing/2014/main" id="{632101B9-85CE-B72C-96C1-B9DF4D5ACF10}"/>
                </a:ext>
              </a:extLst>
            </p:cNvPr>
            <p:cNvSpPr txBox="1"/>
            <p:nvPr/>
          </p:nvSpPr>
          <p:spPr>
            <a:xfrm>
              <a:off x="675637" y="5608218"/>
              <a:ext cx="683961" cy="333752"/>
            </a:xfrm>
            <a:prstGeom prst="rect">
              <a:avLst/>
            </a:prstGeom>
            <a:noFill/>
          </p:spPr>
          <p:txBody>
            <a:bodyPr wrap="square" rtlCol="0">
              <a:spAutoFit/>
            </a:bodyPr>
            <a:lstStyle/>
            <a:p>
              <a:pPr algn="ctr"/>
              <a:r>
                <a:rPr lang="en-IN" sz="1200" b="1" dirty="0">
                  <a:solidFill>
                    <a:schemeClr val="bg1"/>
                  </a:solidFill>
                </a:rPr>
                <a:t>01</a:t>
              </a:r>
              <a:endParaRPr lang="en-US" sz="1200" b="1" dirty="0">
                <a:solidFill>
                  <a:schemeClr val="bg1"/>
                </a:solidFill>
              </a:endParaRPr>
            </a:p>
          </p:txBody>
        </p:sp>
      </p:grpSp>
      <p:sp>
        <p:nvSpPr>
          <p:cNvPr id="1040" name="TextBox 1039">
            <a:extLst>
              <a:ext uri="{FF2B5EF4-FFF2-40B4-BE49-F238E27FC236}">
                <a16:creationId xmlns:a16="http://schemas.microsoft.com/office/drawing/2014/main" id="{84BC64F5-E149-CB5E-3F87-E11737F61A5F}"/>
              </a:ext>
            </a:extLst>
          </p:cNvPr>
          <p:cNvSpPr txBox="1"/>
          <p:nvPr/>
        </p:nvSpPr>
        <p:spPr>
          <a:xfrm>
            <a:off x="29352" y="5039710"/>
            <a:ext cx="2053065" cy="584775"/>
          </a:xfrm>
          <a:prstGeom prst="rect">
            <a:avLst/>
          </a:prstGeom>
          <a:noFill/>
          <a:ln>
            <a:solidFill>
              <a:schemeClr val="tx1"/>
            </a:solidFill>
            <a:prstDash val="dash"/>
          </a:ln>
        </p:spPr>
        <p:txBody>
          <a:bodyPr wrap="square" rtlCol="0">
            <a:spAutoFit/>
          </a:bodyPr>
          <a:lstStyle/>
          <a:p>
            <a:r>
              <a:rPr lang="en-IN" sz="1600" dirty="0"/>
              <a:t>Product revamp with new offerings and USP</a:t>
            </a:r>
            <a:endParaRPr lang="en-US" sz="1600" dirty="0"/>
          </a:p>
        </p:txBody>
      </p:sp>
      <p:grpSp>
        <p:nvGrpSpPr>
          <p:cNvPr id="1041" name="Group 1040">
            <a:extLst>
              <a:ext uri="{FF2B5EF4-FFF2-40B4-BE49-F238E27FC236}">
                <a16:creationId xmlns:a16="http://schemas.microsoft.com/office/drawing/2014/main" id="{28582318-3BB4-E2D2-DD9E-F80BDFBA761E}"/>
              </a:ext>
            </a:extLst>
          </p:cNvPr>
          <p:cNvGrpSpPr/>
          <p:nvPr/>
        </p:nvGrpSpPr>
        <p:grpSpPr>
          <a:xfrm>
            <a:off x="2866275" y="5684530"/>
            <a:ext cx="567656" cy="455628"/>
            <a:chOff x="675637" y="5591178"/>
            <a:chExt cx="683961" cy="548980"/>
          </a:xfrm>
        </p:grpSpPr>
        <p:sp>
          <p:nvSpPr>
            <p:cNvPr id="1042" name="Google Shape;549;p24">
              <a:extLst>
                <a:ext uri="{FF2B5EF4-FFF2-40B4-BE49-F238E27FC236}">
                  <a16:creationId xmlns:a16="http://schemas.microsoft.com/office/drawing/2014/main" id="{C719EC87-D61D-D900-E4EF-32C52D3B4844}"/>
                </a:ext>
              </a:extLst>
            </p:cNvPr>
            <p:cNvSpPr/>
            <p:nvPr/>
          </p:nvSpPr>
          <p:spPr>
            <a:xfrm>
              <a:off x="850792" y="5591178"/>
              <a:ext cx="325330" cy="548980"/>
            </a:xfrm>
            <a:custGeom>
              <a:avLst/>
              <a:gdLst/>
              <a:ahLst/>
              <a:cxnLst/>
              <a:rect l="l" t="t" r="r" b="b"/>
              <a:pathLst>
                <a:path w="19658" h="33172" extrusionOk="0">
                  <a:moveTo>
                    <a:pt x="9835" y="1"/>
                  </a:moveTo>
                  <a:cubicBezTo>
                    <a:pt x="4406" y="1"/>
                    <a:pt x="1" y="4394"/>
                    <a:pt x="1" y="9823"/>
                  </a:cubicBezTo>
                  <a:cubicBezTo>
                    <a:pt x="1" y="14598"/>
                    <a:pt x="3394" y="18610"/>
                    <a:pt x="7906" y="19503"/>
                  </a:cubicBezTo>
                  <a:lnTo>
                    <a:pt x="9407" y="33172"/>
                  </a:lnTo>
                  <a:lnTo>
                    <a:pt x="10252" y="33172"/>
                  </a:lnTo>
                  <a:lnTo>
                    <a:pt x="11752" y="19503"/>
                  </a:lnTo>
                  <a:cubicBezTo>
                    <a:pt x="16265" y="18610"/>
                    <a:pt x="19658" y="14598"/>
                    <a:pt x="19658" y="9823"/>
                  </a:cubicBezTo>
                  <a:cubicBezTo>
                    <a:pt x="19658" y="4394"/>
                    <a:pt x="15253" y="1"/>
                    <a:pt x="9835" y="1"/>
                  </a:cubicBezTo>
                  <a:close/>
                </a:path>
              </a:pathLst>
            </a:custGeom>
            <a:solidFill>
              <a:schemeClr val="accent1"/>
            </a:solidFill>
            <a:ln>
              <a:noFill/>
            </a:ln>
          </p:spPr>
          <p:txBody>
            <a:bodyPr spcFirstLastPara="1" wrap="square" lIns="91425" tIns="137150" rIns="91425" bIns="91425" anchor="t" anchorCtr="0">
              <a:noAutofit/>
            </a:bodyPr>
            <a:lstStyle/>
            <a:p>
              <a:pPr marL="0" lvl="0" indent="0" algn="ctr" rtl="0">
                <a:spcBef>
                  <a:spcPts val="0"/>
                </a:spcBef>
                <a:spcAft>
                  <a:spcPts val="0"/>
                </a:spcAft>
                <a:buNone/>
              </a:pPr>
              <a:endParaRPr sz="1050" b="1" dirty="0">
                <a:solidFill>
                  <a:srgbClr val="FFFFFF"/>
                </a:solidFill>
                <a:latin typeface="+mj-lt"/>
                <a:ea typeface="Fira Sans Extra Condensed"/>
                <a:cs typeface="Fira Sans Extra Condensed"/>
                <a:sym typeface="Fira Sans Extra Condensed"/>
              </a:endParaRPr>
            </a:p>
          </p:txBody>
        </p:sp>
        <p:sp>
          <p:nvSpPr>
            <p:cNvPr id="1043" name="TextBox 1042">
              <a:extLst>
                <a:ext uri="{FF2B5EF4-FFF2-40B4-BE49-F238E27FC236}">
                  <a16:creationId xmlns:a16="http://schemas.microsoft.com/office/drawing/2014/main" id="{D295E7F5-7195-DC14-935C-CB5A98436B3B}"/>
                </a:ext>
              </a:extLst>
            </p:cNvPr>
            <p:cNvSpPr txBox="1"/>
            <p:nvPr/>
          </p:nvSpPr>
          <p:spPr>
            <a:xfrm>
              <a:off x="675637" y="5608218"/>
              <a:ext cx="683961" cy="333752"/>
            </a:xfrm>
            <a:prstGeom prst="rect">
              <a:avLst/>
            </a:prstGeom>
            <a:noFill/>
          </p:spPr>
          <p:txBody>
            <a:bodyPr wrap="square" rtlCol="0">
              <a:spAutoFit/>
            </a:bodyPr>
            <a:lstStyle/>
            <a:p>
              <a:pPr algn="ctr"/>
              <a:r>
                <a:rPr lang="en-IN" sz="1200" b="1" dirty="0">
                  <a:solidFill>
                    <a:schemeClr val="bg1"/>
                  </a:solidFill>
                </a:rPr>
                <a:t>02</a:t>
              </a:r>
              <a:endParaRPr lang="en-US" sz="1200" b="1" dirty="0">
                <a:solidFill>
                  <a:schemeClr val="bg1"/>
                </a:solidFill>
              </a:endParaRPr>
            </a:p>
          </p:txBody>
        </p:sp>
      </p:grpSp>
      <p:grpSp>
        <p:nvGrpSpPr>
          <p:cNvPr id="1044" name="Group 1043">
            <a:extLst>
              <a:ext uri="{FF2B5EF4-FFF2-40B4-BE49-F238E27FC236}">
                <a16:creationId xmlns:a16="http://schemas.microsoft.com/office/drawing/2014/main" id="{E900C44F-D072-2426-E692-1261A1C05EE7}"/>
              </a:ext>
            </a:extLst>
          </p:cNvPr>
          <p:cNvGrpSpPr/>
          <p:nvPr/>
        </p:nvGrpSpPr>
        <p:grpSpPr>
          <a:xfrm>
            <a:off x="4910668" y="5700756"/>
            <a:ext cx="567656" cy="455628"/>
            <a:chOff x="675637" y="5591178"/>
            <a:chExt cx="683961" cy="548980"/>
          </a:xfrm>
        </p:grpSpPr>
        <p:sp>
          <p:nvSpPr>
            <p:cNvPr id="1045" name="Google Shape;549;p24">
              <a:extLst>
                <a:ext uri="{FF2B5EF4-FFF2-40B4-BE49-F238E27FC236}">
                  <a16:creationId xmlns:a16="http://schemas.microsoft.com/office/drawing/2014/main" id="{E9E3C8F9-49CF-F974-9043-CF574BA1EC9B}"/>
                </a:ext>
              </a:extLst>
            </p:cNvPr>
            <p:cNvSpPr/>
            <p:nvPr/>
          </p:nvSpPr>
          <p:spPr>
            <a:xfrm>
              <a:off x="850792" y="5591178"/>
              <a:ext cx="325330" cy="548980"/>
            </a:xfrm>
            <a:custGeom>
              <a:avLst/>
              <a:gdLst/>
              <a:ahLst/>
              <a:cxnLst/>
              <a:rect l="l" t="t" r="r" b="b"/>
              <a:pathLst>
                <a:path w="19658" h="33172" extrusionOk="0">
                  <a:moveTo>
                    <a:pt x="9835" y="1"/>
                  </a:moveTo>
                  <a:cubicBezTo>
                    <a:pt x="4406" y="1"/>
                    <a:pt x="1" y="4394"/>
                    <a:pt x="1" y="9823"/>
                  </a:cubicBezTo>
                  <a:cubicBezTo>
                    <a:pt x="1" y="14598"/>
                    <a:pt x="3394" y="18610"/>
                    <a:pt x="7906" y="19503"/>
                  </a:cubicBezTo>
                  <a:lnTo>
                    <a:pt x="9407" y="33172"/>
                  </a:lnTo>
                  <a:lnTo>
                    <a:pt x="10252" y="33172"/>
                  </a:lnTo>
                  <a:lnTo>
                    <a:pt x="11752" y="19503"/>
                  </a:lnTo>
                  <a:cubicBezTo>
                    <a:pt x="16265" y="18610"/>
                    <a:pt x="19658" y="14598"/>
                    <a:pt x="19658" y="9823"/>
                  </a:cubicBezTo>
                  <a:cubicBezTo>
                    <a:pt x="19658" y="4394"/>
                    <a:pt x="15253" y="1"/>
                    <a:pt x="9835" y="1"/>
                  </a:cubicBezTo>
                  <a:close/>
                </a:path>
              </a:pathLst>
            </a:custGeom>
            <a:solidFill>
              <a:schemeClr val="accent1"/>
            </a:solidFill>
            <a:ln>
              <a:noFill/>
            </a:ln>
          </p:spPr>
          <p:txBody>
            <a:bodyPr spcFirstLastPara="1" wrap="square" lIns="91425" tIns="137150" rIns="91425" bIns="91425" anchor="t" anchorCtr="0">
              <a:noAutofit/>
            </a:bodyPr>
            <a:lstStyle/>
            <a:p>
              <a:pPr marL="0" lvl="0" indent="0" algn="ctr" rtl="0">
                <a:spcBef>
                  <a:spcPts val="0"/>
                </a:spcBef>
                <a:spcAft>
                  <a:spcPts val="0"/>
                </a:spcAft>
                <a:buNone/>
              </a:pPr>
              <a:endParaRPr sz="1050" b="1" dirty="0">
                <a:solidFill>
                  <a:srgbClr val="FFFFFF"/>
                </a:solidFill>
                <a:latin typeface="+mj-lt"/>
                <a:ea typeface="Fira Sans Extra Condensed"/>
                <a:cs typeface="Fira Sans Extra Condensed"/>
                <a:sym typeface="Fira Sans Extra Condensed"/>
              </a:endParaRPr>
            </a:p>
          </p:txBody>
        </p:sp>
        <p:sp>
          <p:nvSpPr>
            <p:cNvPr id="1046" name="TextBox 1045">
              <a:extLst>
                <a:ext uri="{FF2B5EF4-FFF2-40B4-BE49-F238E27FC236}">
                  <a16:creationId xmlns:a16="http://schemas.microsoft.com/office/drawing/2014/main" id="{3CF25155-A48B-53D9-F6BC-1D5FA8D1824C}"/>
                </a:ext>
              </a:extLst>
            </p:cNvPr>
            <p:cNvSpPr txBox="1"/>
            <p:nvPr/>
          </p:nvSpPr>
          <p:spPr>
            <a:xfrm>
              <a:off x="675637" y="5608218"/>
              <a:ext cx="683961" cy="333752"/>
            </a:xfrm>
            <a:prstGeom prst="rect">
              <a:avLst/>
            </a:prstGeom>
            <a:noFill/>
          </p:spPr>
          <p:txBody>
            <a:bodyPr wrap="square" rtlCol="0">
              <a:spAutoFit/>
            </a:bodyPr>
            <a:lstStyle/>
            <a:p>
              <a:pPr algn="ctr"/>
              <a:r>
                <a:rPr lang="en-IN" sz="1200" b="1" dirty="0">
                  <a:solidFill>
                    <a:schemeClr val="bg1"/>
                  </a:solidFill>
                </a:rPr>
                <a:t>03</a:t>
              </a:r>
              <a:endParaRPr lang="en-US" sz="1200" b="1" dirty="0">
                <a:solidFill>
                  <a:schemeClr val="bg1"/>
                </a:solidFill>
              </a:endParaRPr>
            </a:p>
          </p:txBody>
        </p:sp>
      </p:grpSp>
      <p:grpSp>
        <p:nvGrpSpPr>
          <p:cNvPr id="1047" name="Group 1046">
            <a:extLst>
              <a:ext uri="{FF2B5EF4-FFF2-40B4-BE49-F238E27FC236}">
                <a16:creationId xmlns:a16="http://schemas.microsoft.com/office/drawing/2014/main" id="{46A03F7E-8D98-22A7-E7E3-DCD79305F2E2}"/>
              </a:ext>
            </a:extLst>
          </p:cNvPr>
          <p:cNvGrpSpPr/>
          <p:nvPr/>
        </p:nvGrpSpPr>
        <p:grpSpPr>
          <a:xfrm>
            <a:off x="6955061" y="5716982"/>
            <a:ext cx="567656" cy="455628"/>
            <a:chOff x="675637" y="5591178"/>
            <a:chExt cx="683961" cy="548980"/>
          </a:xfrm>
        </p:grpSpPr>
        <p:sp>
          <p:nvSpPr>
            <p:cNvPr id="1048" name="Google Shape;549;p24">
              <a:extLst>
                <a:ext uri="{FF2B5EF4-FFF2-40B4-BE49-F238E27FC236}">
                  <a16:creationId xmlns:a16="http://schemas.microsoft.com/office/drawing/2014/main" id="{3840D120-818F-75E6-CA53-64CD8AA67080}"/>
                </a:ext>
              </a:extLst>
            </p:cNvPr>
            <p:cNvSpPr/>
            <p:nvPr/>
          </p:nvSpPr>
          <p:spPr>
            <a:xfrm>
              <a:off x="850792" y="5591178"/>
              <a:ext cx="325330" cy="548980"/>
            </a:xfrm>
            <a:custGeom>
              <a:avLst/>
              <a:gdLst/>
              <a:ahLst/>
              <a:cxnLst/>
              <a:rect l="l" t="t" r="r" b="b"/>
              <a:pathLst>
                <a:path w="19658" h="33172" extrusionOk="0">
                  <a:moveTo>
                    <a:pt x="9835" y="1"/>
                  </a:moveTo>
                  <a:cubicBezTo>
                    <a:pt x="4406" y="1"/>
                    <a:pt x="1" y="4394"/>
                    <a:pt x="1" y="9823"/>
                  </a:cubicBezTo>
                  <a:cubicBezTo>
                    <a:pt x="1" y="14598"/>
                    <a:pt x="3394" y="18610"/>
                    <a:pt x="7906" y="19503"/>
                  </a:cubicBezTo>
                  <a:lnTo>
                    <a:pt x="9407" y="33172"/>
                  </a:lnTo>
                  <a:lnTo>
                    <a:pt x="10252" y="33172"/>
                  </a:lnTo>
                  <a:lnTo>
                    <a:pt x="11752" y="19503"/>
                  </a:lnTo>
                  <a:cubicBezTo>
                    <a:pt x="16265" y="18610"/>
                    <a:pt x="19658" y="14598"/>
                    <a:pt x="19658" y="9823"/>
                  </a:cubicBezTo>
                  <a:cubicBezTo>
                    <a:pt x="19658" y="4394"/>
                    <a:pt x="15253" y="1"/>
                    <a:pt x="9835" y="1"/>
                  </a:cubicBezTo>
                  <a:close/>
                </a:path>
              </a:pathLst>
            </a:custGeom>
            <a:solidFill>
              <a:schemeClr val="accent1"/>
            </a:solidFill>
            <a:ln>
              <a:noFill/>
            </a:ln>
          </p:spPr>
          <p:txBody>
            <a:bodyPr spcFirstLastPara="1" wrap="square" lIns="91425" tIns="137150" rIns="91425" bIns="91425" anchor="t" anchorCtr="0">
              <a:noAutofit/>
            </a:bodyPr>
            <a:lstStyle/>
            <a:p>
              <a:pPr marL="0" lvl="0" indent="0" algn="ctr" rtl="0">
                <a:spcBef>
                  <a:spcPts val="0"/>
                </a:spcBef>
                <a:spcAft>
                  <a:spcPts val="0"/>
                </a:spcAft>
                <a:buNone/>
              </a:pPr>
              <a:endParaRPr sz="1050" b="1" dirty="0">
                <a:solidFill>
                  <a:srgbClr val="FFFFFF"/>
                </a:solidFill>
                <a:latin typeface="+mj-lt"/>
                <a:ea typeface="Fira Sans Extra Condensed"/>
                <a:cs typeface="Fira Sans Extra Condensed"/>
                <a:sym typeface="Fira Sans Extra Condensed"/>
              </a:endParaRPr>
            </a:p>
          </p:txBody>
        </p:sp>
        <p:sp>
          <p:nvSpPr>
            <p:cNvPr id="1049" name="TextBox 1048">
              <a:extLst>
                <a:ext uri="{FF2B5EF4-FFF2-40B4-BE49-F238E27FC236}">
                  <a16:creationId xmlns:a16="http://schemas.microsoft.com/office/drawing/2014/main" id="{0D412ACD-4A5C-786E-376F-B0BCAC12AF8B}"/>
                </a:ext>
              </a:extLst>
            </p:cNvPr>
            <p:cNvSpPr txBox="1"/>
            <p:nvPr/>
          </p:nvSpPr>
          <p:spPr>
            <a:xfrm>
              <a:off x="675637" y="5608218"/>
              <a:ext cx="683961" cy="333752"/>
            </a:xfrm>
            <a:prstGeom prst="rect">
              <a:avLst/>
            </a:prstGeom>
            <a:noFill/>
          </p:spPr>
          <p:txBody>
            <a:bodyPr wrap="square" rtlCol="0">
              <a:spAutoFit/>
            </a:bodyPr>
            <a:lstStyle/>
            <a:p>
              <a:pPr algn="ctr"/>
              <a:r>
                <a:rPr lang="en-IN" sz="1200" b="1" dirty="0">
                  <a:solidFill>
                    <a:schemeClr val="bg1"/>
                  </a:solidFill>
                </a:rPr>
                <a:t>04</a:t>
              </a:r>
              <a:endParaRPr lang="en-US" sz="1200" b="1" dirty="0">
                <a:solidFill>
                  <a:schemeClr val="bg1"/>
                </a:solidFill>
              </a:endParaRPr>
            </a:p>
          </p:txBody>
        </p:sp>
      </p:grpSp>
      <p:grpSp>
        <p:nvGrpSpPr>
          <p:cNvPr id="1050" name="Group 1049">
            <a:extLst>
              <a:ext uri="{FF2B5EF4-FFF2-40B4-BE49-F238E27FC236}">
                <a16:creationId xmlns:a16="http://schemas.microsoft.com/office/drawing/2014/main" id="{83085D0D-2796-5C60-9B1C-290936D6AE08}"/>
              </a:ext>
            </a:extLst>
          </p:cNvPr>
          <p:cNvGrpSpPr/>
          <p:nvPr/>
        </p:nvGrpSpPr>
        <p:grpSpPr>
          <a:xfrm>
            <a:off x="8999454" y="5733208"/>
            <a:ext cx="567656" cy="455628"/>
            <a:chOff x="675637" y="5591178"/>
            <a:chExt cx="683961" cy="548980"/>
          </a:xfrm>
        </p:grpSpPr>
        <p:sp>
          <p:nvSpPr>
            <p:cNvPr id="1051" name="Google Shape;549;p24">
              <a:extLst>
                <a:ext uri="{FF2B5EF4-FFF2-40B4-BE49-F238E27FC236}">
                  <a16:creationId xmlns:a16="http://schemas.microsoft.com/office/drawing/2014/main" id="{F1F808C8-4C9E-F9EA-D4C9-518D7EF09310}"/>
                </a:ext>
              </a:extLst>
            </p:cNvPr>
            <p:cNvSpPr/>
            <p:nvPr/>
          </p:nvSpPr>
          <p:spPr>
            <a:xfrm>
              <a:off x="850792" y="5591178"/>
              <a:ext cx="325330" cy="548980"/>
            </a:xfrm>
            <a:custGeom>
              <a:avLst/>
              <a:gdLst/>
              <a:ahLst/>
              <a:cxnLst/>
              <a:rect l="l" t="t" r="r" b="b"/>
              <a:pathLst>
                <a:path w="19658" h="33172" extrusionOk="0">
                  <a:moveTo>
                    <a:pt x="9835" y="1"/>
                  </a:moveTo>
                  <a:cubicBezTo>
                    <a:pt x="4406" y="1"/>
                    <a:pt x="1" y="4394"/>
                    <a:pt x="1" y="9823"/>
                  </a:cubicBezTo>
                  <a:cubicBezTo>
                    <a:pt x="1" y="14598"/>
                    <a:pt x="3394" y="18610"/>
                    <a:pt x="7906" y="19503"/>
                  </a:cubicBezTo>
                  <a:lnTo>
                    <a:pt x="9407" y="33172"/>
                  </a:lnTo>
                  <a:lnTo>
                    <a:pt x="10252" y="33172"/>
                  </a:lnTo>
                  <a:lnTo>
                    <a:pt x="11752" y="19503"/>
                  </a:lnTo>
                  <a:cubicBezTo>
                    <a:pt x="16265" y="18610"/>
                    <a:pt x="19658" y="14598"/>
                    <a:pt x="19658" y="9823"/>
                  </a:cubicBezTo>
                  <a:cubicBezTo>
                    <a:pt x="19658" y="4394"/>
                    <a:pt x="15253" y="1"/>
                    <a:pt x="9835" y="1"/>
                  </a:cubicBezTo>
                  <a:close/>
                </a:path>
              </a:pathLst>
            </a:custGeom>
            <a:solidFill>
              <a:schemeClr val="accent1"/>
            </a:solidFill>
            <a:ln>
              <a:noFill/>
            </a:ln>
          </p:spPr>
          <p:txBody>
            <a:bodyPr spcFirstLastPara="1" wrap="square" lIns="91425" tIns="137150" rIns="91425" bIns="91425" anchor="t" anchorCtr="0">
              <a:noAutofit/>
            </a:bodyPr>
            <a:lstStyle/>
            <a:p>
              <a:pPr marL="0" lvl="0" indent="0" algn="ctr" rtl="0">
                <a:spcBef>
                  <a:spcPts val="0"/>
                </a:spcBef>
                <a:spcAft>
                  <a:spcPts val="0"/>
                </a:spcAft>
                <a:buNone/>
              </a:pPr>
              <a:endParaRPr sz="1050" b="1" dirty="0">
                <a:solidFill>
                  <a:srgbClr val="FFFFFF"/>
                </a:solidFill>
                <a:latin typeface="+mj-lt"/>
                <a:ea typeface="Fira Sans Extra Condensed"/>
                <a:cs typeface="Fira Sans Extra Condensed"/>
                <a:sym typeface="Fira Sans Extra Condensed"/>
              </a:endParaRPr>
            </a:p>
          </p:txBody>
        </p:sp>
        <p:sp>
          <p:nvSpPr>
            <p:cNvPr id="1052" name="TextBox 1051">
              <a:extLst>
                <a:ext uri="{FF2B5EF4-FFF2-40B4-BE49-F238E27FC236}">
                  <a16:creationId xmlns:a16="http://schemas.microsoft.com/office/drawing/2014/main" id="{05D186B3-4C17-5CF8-4D3F-6E9A6C53E04C}"/>
                </a:ext>
              </a:extLst>
            </p:cNvPr>
            <p:cNvSpPr txBox="1"/>
            <p:nvPr/>
          </p:nvSpPr>
          <p:spPr>
            <a:xfrm>
              <a:off x="675637" y="5608218"/>
              <a:ext cx="683961" cy="333752"/>
            </a:xfrm>
            <a:prstGeom prst="rect">
              <a:avLst/>
            </a:prstGeom>
            <a:noFill/>
          </p:spPr>
          <p:txBody>
            <a:bodyPr wrap="square" rtlCol="0">
              <a:spAutoFit/>
            </a:bodyPr>
            <a:lstStyle/>
            <a:p>
              <a:pPr algn="ctr"/>
              <a:r>
                <a:rPr lang="en-IN" sz="1200" b="1" dirty="0">
                  <a:solidFill>
                    <a:schemeClr val="bg1"/>
                  </a:solidFill>
                </a:rPr>
                <a:t>05</a:t>
              </a:r>
              <a:endParaRPr lang="en-US" sz="1200" b="1" dirty="0">
                <a:solidFill>
                  <a:schemeClr val="bg1"/>
                </a:solidFill>
              </a:endParaRPr>
            </a:p>
          </p:txBody>
        </p:sp>
      </p:grpSp>
      <p:grpSp>
        <p:nvGrpSpPr>
          <p:cNvPr id="1053" name="Group 1052">
            <a:extLst>
              <a:ext uri="{FF2B5EF4-FFF2-40B4-BE49-F238E27FC236}">
                <a16:creationId xmlns:a16="http://schemas.microsoft.com/office/drawing/2014/main" id="{A6E7D052-0911-31AE-7F72-343B5D818F63}"/>
              </a:ext>
            </a:extLst>
          </p:cNvPr>
          <p:cNvGrpSpPr/>
          <p:nvPr/>
        </p:nvGrpSpPr>
        <p:grpSpPr>
          <a:xfrm>
            <a:off x="11043847" y="5749434"/>
            <a:ext cx="567656" cy="455628"/>
            <a:chOff x="675637" y="5591178"/>
            <a:chExt cx="683961" cy="548980"/>
          </a:xfrm>
        </p:grpSpPr>
        <p:sp>
          <p:nvSpPr>
            <p:cNvPr id="1054" name="Google Shape;549;p24">
              <a:extLst>
                <a:ext uri="{FF2B5EF4-FFF2-40B4-BE49-F238E27FC236}">
                  <a16:creationId xmlns:a16="http://schemas.microsoft.com/office/drawing/2014/main" id="{0808264B-1FE8-F43A-B0A4-071B46679A22}"/>
                </a:ext>
              </a:extLst>
            </p:cNvPr>
            <p:cNvSpPr/>
            <p:nvPr/>
          </p:nvSpPr>
          <p:spPr>
            <a:xfrm>
              <a:off x="850792" y="5591178"/>
              <a:ext cx="325330" cy="548980"/>
            </a:xfrm>
            <a:custGeom>
              <a:avLst/>
              <a:gdLst/>
              <a:ahLst/>
              <a:cxnLst/>
              <a:rect l="l" t="t" r="r" b="b"/>
              <a:pathLst>
                <a:path w="19658" h="33172" extrusionOk="0">
                  <a:moveTo>
                    <a:pt x="9835" y="1"/>
                  </a:moveTo>
                  <a:cubicBezTo>
                    <a:pt x="4406" y="1"/>
                    <a:pt x="1" y="4394"/>
                    <a:pt x="1" y="9823"/>
                  </a:cubicBezTo>
                  <a:cubicBezTo>
                    <a:pt x="1" y="14598"/>
                    <a:pt x="3394" y="18610"/>
                    <a:pt x="7906" y="19503"/>
                  </a:cubicBezTo>
                  <a:lnTo>
                    <a:pt x="9407" y="33172"/>
                  </a:lnTo>
                  <a:lnTo>
                    <a:pt x="10252" y="33172"/>
                  </a:lnTo>
                  <a:lnTo>
                    <a:pt x="11752" y="19503"/>
                  </a:lnTo>
                  <a:cubicBezTo>
                    <a:pt x="16265" y="18610"/>
                    <a:pt x="19658" y="14598"/>
                    <a:pt x="19658" y="9823"/>
                  </a:cubicBezTo>
                  <a:cubicBezTo>
                    <a:pt x="19658" y="4394"/>
                    <a:pt x="15253" y="1"/>
                    <a:pt x="9835" y="1"/>
                  </a:cubicBezTo>
                  <a:close/>
                </a:path>
              </a:pathLst>
            </a:custGeom>
            <a:solidFill>
              <a:schemeClr val="accent1"/>
            </a:solidFill>
            <a:ln>
              <a:noFill/>
            </a:ln>
          </p:spPr>
          <p:txBody>
            <a:bodyPr spcFirstLastPara="1" wrap="square" lIns="91425" tIns="137150" rIns="91425" bIns="91425" anchor="t" anchorCtr="0">
              <a:noAutofit/>
            </a:bodyPr>
            <a:lstStyle/>
            <a:p>
              <a:pPr marL="0" lvl="0" indent="0" algn="ctr" rtl="0">
                <a:spcBef>
                  <a:spcPts val="0"/>
                </a:spcBef>
                <a:spcAft>
                  <a:spcPts val="0"/>
                </a:spcAft>
                <a:buNone/>
              </a:pPr>
              <a:endParaRPr sz="1050" b="1" dirty="0">
                <a:solidFill>
                  <a:srgbClr val="FFFFFF"/>
                </a:solidFill>
                <a:latin typeface="+mj-lt"/>
                <a:ea typeface="Fira Sans Extra Condensed"/>
                <a:cs typeface="Fira Sans Extra Condensed"/>
                <a:sym typeface="Fira Sans Extra Condensed"/>
              </a:endParaRPr>
            </a:p>
          </p:txBody>
        </p:sp>
        <p:sp>
          <p:nvSpPr>
            <p:cNvPr id="1055" name="TextBox 1054">
              <a:extLst>
                <a:ext uri="{FF2B5EF4-FFF2-40B4-BE49-F238E27FC236}">
                  <a16:creationId xmlns:a16="http://schemas.microsoft.com/office/drawing/2014/main" id="{EBA5BFDD-56B1-7DD1-5C79-1C45DA0EF110}"/>
                </a:ext>
              </a:extLst>
            </p:cNvPr>
            <p:cNvSpPr txBox="1"/>
            <p:nvPr/>
          </p:nvSpPr>
          <p:spPr>
            <a:xfrm>
              <a:off x="675637" y="5608218"/>
              <a:ext cx="683961" cy="333752"/>
            </a:xfrm>
            <a:prstGeom prst="rect">
              <a:avLst/>
            </a:prstGeom>
            <a:noFill/>
          </p:spPr>
          <p:txBody>
            <a:bodyPr wrap="square" rtlCol="0">
              <a:spAutoFit/>
            </a:bodyPr>
            <a:lstStyle/>
            <a:p>
              <a:pPr algn="ctr"/>
              <a:r>
                <a:rPr lang="en-IN" sz="1200" b="1" dirty="0">
                  <a:solidFill>
                    <a:schemeClr val="bg1"/>
                  </a:solidFill>
                </a:rPr>
                <a:t>06</a:t>
              </a:r>
              <a:endParaRPr lang="en-US" sz="1200" b="1" dirty="0">
                <a:solidFill>
                  <a:schemeClr val="bg1"/>
                </a:solidFill>
              </a:endParaRPr>
            </a:p>
          </p:txBody>
        </p:sp>
      </p:grpSp>
      <p:sp>
        <p:nvSpPr>
          <p:cNvPr id="1056" name="TextBox 1055">
            <a:extLst>
              <a:ext uri="{FF2B5EF4-FFF2-40B4-BE49-F238E27FC236}">
                <a16:creationId xmlns:a16="http://schemas.microsoft.com/office/drawing/2014/main" id="{9D793E26-362C-F382-1FAC-C8B42B73EE92}"/>
              </a:ext>
            </a:extLst>
          </p:cNvPr>
          <p:cNvSpPr txBox="1"/>
          <p:nvPr/>
        </p:nvSpPr>
        <p:spPr>
          <a:xfrm>
            <a:off x="2162223" y="5039710"/>
            <a:ext cx="2053065" cy="584775"/>
          </a:xfrm>
          <a:prstGeom prst="rect">
            <a:avLst/>
          </a:prstGeom>
          <a:noFill/>
          <a:ln>
            <a:solidFill>
              <a:schemeClr val="tx1"/>
            </a:solidFill>
            <a:prstDash val="dash"/>
          </a:ln>
        </p:spPr>
        <p:txBody>
          <a:bodyPr wrap="square" rtlCol="0">
            <a:spAutoFit/>
          </a:bodyPr>
          <a:lstStyle/>
          <a:p>
            <a:r>
              <a:rPr lang="en-IN" sz="1600" dirty="0"/>
              <a:t>Alpha testing within the organization</a:t>
            </a:r>
            <a:endParaRPr lang="en-US" sz="1600" dirty="0"/>
          </a:p>
        </p:txBody>
      </p:sp>
      <p:sp>
        <p:nvSpPr>
          <p:cNvPr id="1057" name="TextBox 1056">
            <a:extLst>
              <a:ext uri="{FF2B5EF4-FFF2-40B4-BE49-F238E27FC236}">
                <a16:creationId xmlns:a16="http://schemas.microsoft.com/office/drawing/2014/main" id="{935D9C8C-3311-F256-9411-3FA207C9A17D}"/>
              </a:ext>
            </a:extLst>
          </p:cNvPr>
          <p:cNvSpPr txBox="1"/>
          <p:nvPr/>
        </p:nvSpPr>
        <p:spPr>
          <a:xfrm>
            <a:off x="4295094" y="5039710"/>
            <a:ext cx="2053065" cy="584775"/>
          </a:xfrm>
          <a:prstGeom prst="rect">
            <a:avLst/>
          </a:prstGeom>
          <a:noFill/>
          <a:ln>
            <a:solidFill>
              <a:schemeClr val="tx1"/>
            </a:solidFill>
            <a:prstDash val="dash"/>
          </a:ln>
        </p:spPr>
        <p:txBody>
          <a:bodyPr wrap="square" rtlCol="0">
            <a:spAutoFit/>
          </a:bodyPr>
          <a:lstStyle/>
          <a:p>
            <a:r>
              <a:rPr lang="en-IN" sz="1600" dirty="0"/>
              <a:t>Beta testing with a selected group</a:t>
            </a:r>
            <a:endParaRPr lang="en-US" sz="1600" dirty="0"/>
          </a:p>
        </p:txBody>
      </p:sp>
      <p:sp>
        <p:nvSpPr>
          <p:cNvPr id="1058" name="TextBox 1057">
            <a:extLst>
              <a:ext uri="{FF2B5EF4-FFF2-40B4-BE49-F238E27FC236}">
                <a16:creationId xmlns:a16="http://schemas.microsoft.com/office/drawing/2014/main" id="{98CC7054-659C-1AF1-4E93-B5EDE975AA27}"/>
              </a:ext>
            </a:extLst>
          </p:cNvPr>
          <p:cNvSpPr txBox="1"/>
          <p:nvPr/>
        </p:nvSpPr>
        <p:spPr>
          <a:xfrm>
            <a:off x="6427965" y="5039710"/>
            <a:ext cx="2053065" cy="584775"/>
          </a:xfrm>
          <a:prstGeom prst="rect">
            <a:avLst/>
          </a:prstGeom>
          <a:noFill/>
          <a:ln>
            <a:solidFill>
              <a:schemeClr val="tx1"/>
            </a:solidFill>
            <a:prstDash val="dash"/>
          </a:ln>
        </p:spPr>
        <p:txBody>
          <a:bodyPr wrap="square" rtlCol="0">
            <a:spAutoFit/>
          </a:bodyPr>
          <a:lstStyle/>
          <a:p>
            <a:r>
              <a:rPr lang="en-IN" sz="1600" dirty="0"/>
              <a:t>Implementation of feedback received</a:t>
            </a:r>
            <a:endParaRPr lang="en-US" sz="1600" dirty="0"/>
          </a:p>
        </p:txBody>
      </p:sp>
      <p:sp>
        <p:nvSpPr>
          <p:cNvPr id="1059" name="TextBox 1058">
            <a:extLst>
              <a:ext uri="{FF2B5EF4-FFF2-40B4-BE49-F238E27FC236}">
                <a16:creationId xmlns:a16="http://schemas.microsoft.com/office/drawing/2014/main" id="{02E4B0AB-2680-CAE0-7470-263527A891CF}"/>
              </a:ext>
            </a:extLst>
          </p:cNvPr>
          <p:cNvSpPr txBox="1"/>
          <p:nvPr/>
        </p:nvSpPr>
        <p:spPr>
          <a:xfrm>
            <a:off x="8560836" y="5039710"/>
            <a:ext cx="2053065" cy="584775"/>
          </a:xfrm>
          <a:prstGeom prst="rect">
            <a:avLst/>
          </a:prstGeom>
          <a:noFill/>
          <a:ln>
            <a:solidFill>
              <a:schemeClr val="tx1"/>
            </a:solidFill>
            <a:prstDash val="dash"/>
          </a:ln>
        </p:spPr>
        <p:txBody>
          <a:bodyPr wrap="square" rtlCol="0">
            <a:spAutoFit/>
          </a:bodyPr>
          <a:lstStyle/>
          <a:p>
            <a:r>
              <a:rPr lang="en-IN" sz="1600" dirty="0"/>
              <a:t>Market launch of new app and website </a:t>
            </a:r>
            <a:endParaRPr lang="en-US" sz="1600" dirty="0"/>
          </a:p>
        </p:txBody>
      </p:sp>
      <p:sp>
        <p:nvSpPr>
          <p:cNvPr id="1060" name="TextBox 1059">
            <a:extLst>
              <a:ext uri="{FF2B5EF4-FFF2-40B4-BE49-F238E27FC236}">
                <a16:creationId xmlns:a16="http://schemas.microsoft.com/office/drawing/2014/main" id="{4E64F18E-4D4F-3160-7D6D-268957FE6985}"/>
              </a:ext>
            </a:extLst>
          </p:cNvPr>
          <p:cNvSpPr txBox="1"/>
          <p:nvPr/>
        </p:nvSpPr>
        <p:spPr>
          <a:xfrm>
            <a:off x="10693707" y="5039710"/>
            <a:ext cx="1407447" cy="584775"/>
          </a:xfrm>
          <a:prstGeom prst="rect">
            <a:avLst/>
          </a:prstGeom>
          <a:noFill/>
          <a:ln>
            <a:solidFill>
              <a:schemeClr val="tx1"/>
            </a:solidFill>
            <a:prstDash val="dash"/>
          </a:ln>
        </p:spPr>
        <p:txBody>
          <a:bodyPr wrap="square" rtlCol="0">
            <a:spAutoFit/>
          </a:bodyPr>
          <a:lstStyle/>
          <a:p>
            <a:r>
              <a:rPr lang="en-IN" sz="1600" dirty="0"/>
              <a:t>Promotions, Events &amp; PR</a:t>
            </a:r>
            <a:endParaRPr lang="en-US" sz="1600" dirty="0"/>
          </a:p>
        </p:txBody>
      </p:sp>
      <p:sp>
        <p:nvSpPr>
          <p:cNvPr id="1061" name="Rectangle: Rounded Corners 1060">
            <a:extLst>
              <a:ext uri="{FF2B5EF4-FFF2-40B4-BE49-F238E27FC236}">
                <a16:creationId xmlns:a16="http://schemas.microsoft.com/office/drawing/2014/main" id="{4A7D3793-5560-4C34-2AF5-3E5910217CD1}"/>
              </a:ext>
            </a:extLst>
          </p:cNvPr>
          <p:cNvSpPr/>
          <p:nvPr/>
        </p:nvSpPr>
        <p:spPr>
          <a:xfrm rot="5400000">
            <a:off x="5812552" y="5040721"/>
            <a:ext cx="285813" cy="2559955"/>
          </a:xfrm>
          <a:prstGeom prst="roundRect">
            <a:avLst/>
          </a:prstGeom>
          <a:solidFill>
            <a:srgbClr val="DF213A"/>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1600" b="1" dirty="0"/>
              <a:t>New product journey</a:t>
            </a:r>
            <a:endParaRPr lang="en-US" sz="1600" b="1" dirty="0"/>
          </a:p>
        </p:txBody>
      </p:sp>
    </p:spTree>
    <p:extLst>
      <p:ext uri="{BB962C8B-B14F-4D97-AF65-F5344CB8AC3E}">
        <p14:creationId xmlns:p14="http://schemas.microsoft.com/office/powerpoint/2010/main" val="3437264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24E81480-A6DA-6E92-61BE-E30F28BC1224}"/>
              </a:ext>
            </a:extLst>
          </p:cNvPr>
          <p:cNvSpPr/>
          <p:nvPr/>
        </p:nvSpPr>
        <p:spPr>
          <a:xfrm>
            <a:off x="0" y="2569000"/>
            <a:ext cx="12192000" cy="629920"/>
          </a:xfrm>
          <a:prstGeom prst="rect">
            <a:avLst/>
          </a:prstGeom>
          <a:solidFill>
            <a:srgbClr val="FFCCCB"/>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020EC914-1E40-9D2D-2BC9-D67375E487A6}"/>
              </a:ext>
            </a:extLst>
          </p:cNvPr>
          <p:cNvSpPr/>
          <p:nvPr/>
        </p:nvSpPr>
        <p:spPr>
          <a:xfrm>
            <a:off x="0" y="3281680"/>
            <a:ext cx="12192000" cy="629920"/>
          </a:xfrm>
          <a:prstGeom prst="rect">
            <a:avLst/>
          </a:prstGeom>
          <a:solidFill>
            <a:srgbClr val="FFCCCB"/>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2A7CF127-2920-44F3-62E0-840A46EEFBB8}"/>
              </a:ext>
            </a:extLst>
          </p:cNvPr>
          <p:cNvSpPr/>
          <p:nvPr/>
        </p:nvSpPr>
        <p:spPr>
          <a:xfrm>
            <a:off x="0" y="3994360"/>
            <a:ext cx="12192000" cy="629920"/>
          </a:xfrm>
          <a:prstGeom prst="rect">
            <a:avLst/>
          </a:prstGeom>
          <a:solidFill>
            <a:srgbClr val="FFCCCB"/>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FBFCE1EB-5BE8-5950-7719-AFE16871156F}"/>
              </a:ext>
            </a:extLst>
          </p:cNvPr>
          <p:cNvSpPr/>
          <p:nvPr/>
        </p:nvSpPr>
        <p:spPr>
          <a:xfrm>
            <a:off x="0" y="4707040"/>
            <a:ext cx="12192000" cy="629920"/>
          </a:xfrm>
          <a:prstGeom prst="rect">
            <a:avLst/>
          </a:prstGeom>
          <a:solidFill>
            <a:srgbClr val="FFCCCB"/>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IN" sz="3200" dirty="0"/>
              <a:t>Go to Market Plan (Continued) </a:t>
            </a:r>
          </a:p>
        </p:txBody>
      </p:sp>
      <p:sp>
        <p:nvSpPr>
          <p:cNvPr id="4" name="Slide Number Placeholder 3"/>
          <p:cNvSpPr>
            <a:spLocks noGrp="1"/>
          </p:cNvSpPr>
          <p:nvPr>
            <p:ph type="sldNum" sz="quarter" idx="4"/>
          </p:nvPr>
        </p:nvSpPr>
        <p:spPr/>
        <p:txBody>
          <a:bodyPr/>
          <a:lstStyle/>
          <a:p>
            <a:fld id="{2D2D9D99-8454-442A-B0DD-EF173ADD60D6}" type="slidenum">
              <a:rPr lang="en-IN" smtClean="0"/>
              <a:pPr/>
              <a:t>10</a:t>
            </a:fld>
            <a:endParaRPr lang="en-IN"/>
          </a:p>
        </p:txBody>
      </p:sp>
      <p:grpSp>
        <p:nvGrpSpPr>
          <p:cNvPr id="23" name="Group 22">
            <a:extLst>
              <a:ext uri="{FF2B5EF4-FFF2-40B4-BE49-F238E27FC236}">
                <a16:creationId xmlns:a16="http://schemas.microsoft.com/office/drawing/2014/main" id="{0C5B313A-422B-395E-7DAD-930E982509E3}"/>
              </a:ext>
            </a:extLst>
          </p:cNvPr>
          <p:cNvGrpSpPr/>
          <p:nvPr/>
        </p:nvGrpSpPr>
        <p:grpSpPr>
          <a:xfrm>
            <a:off x="1666240" y="909507"/>
            <a:ext cx="10525760" cy="960960"/>
            <a:chOff x="833120" y="908480"/>
            <a:chExt cx="10525760" cy="960960"/>
          </a:xfrm>
        </p:grpSpPr>
        <p:sp>
          <p:nvSpPr>
            <p:cNvPr id="12" name="Arrow: Right 11">
              <a:extLst>
                <a:ext uri="{FF2B5EF4-FFF2-40B4-BE49-F238E27FC236}">
                  <a16:creationId xmlns:a16="http://schemas.microsoft.com/office/drawing/2014/main" id="{E39B6A91-531F-ED38-ACC0-C9D64C01D6B2}"/>
                </a:ext>
              </a:extLst>
            </p:cNvPr>
            <p:cNvSpPr/>
            <p:nvPr/>
          </p:nvSpPr>
          <p:spPr>
            <a:xfrm>
              <a:off x="833120" y="908480"/>
              <a:ext cx="10525760" cy="960960"/>
            </a:xfrm>
            <a:prstGeom prst="rightArrow">
              <a:avLst/>
            </a:prstGeom>
            <a:solidFill>
              <a:srgbClr val="FFCCC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5D01610B-BFD3-9C0C-E155-DB7847603A64}"/>
                </a:ext>
              </a:extLst>
            </p:cNvPr>
            <p:cNvSpPr/>
            <p:nvPr/>
          </p:nvSpPr>
          <p:spPr>
            <a:xfrm>
              <a:off x="1168400" y="1210320"/>
              <a:ext cx="2194560" cy="357280"/>
            </a:xfrm>
            <a:prstGeom prst="roundRect">
              <a:avLst/>
            </a:prstGeom>
            <a:solidFill>
              <a:srgbClr val="E12A3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Phase 1</a:t>
              </a:r>
              <a:endParaRPr lang="en-US" b="1" dirty="0"/>
            </a:p>
          </p:txBody>
        </p:sp>
        <p:sp>
          <p:nvSpPr>
            <p:cNvPr id="15" name="Rectangle: Rounded Corners 14">
              <a:extLst>
                <a:ext uri="{FF2B5EF4-FFF2-40B4-BE49-F238E27FC236}">
                  <a16:creationId xmlns:a16="http://schemas.microsoft.com/office/drawing/2014/main" id="{F3C64B88-8BB3-4B1F-88C7-B648EEE4E0BF}"/>
                </a:ext>
              </a:extLst>
            </p:cNvPr>
            <p:cNvSpPr/>
            <p:nvPr/>
          </p:nvSpPr>
          <p:spPr>
            <a:xfrm>
              <a:off x="4998720" y="1210320"/>
              <a:ext cx="2194560" cy="357280"/>
            </a:xfrm>
            <a:prstGeom prst="roundRect">
              <a:avLst/>
            </a:prstGeom>
            <a:solidFill>
              <a:srgbClr val="E12A3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Phase 2</a:t>
              </a:r>
              <a:endParaRPr lang="en-US" b="1" dirty="0"/>
            </a:p>
          </p:txBody>
        </p:sp>
        <p:sp>
          <p:nvSpPr>
            <p:cNvPr id="16" name="Rectangle: Rounded Corners 15">
              <a:extLst>
                <a:ext uri="{FF2B5EF4-FFF2-40B4-BE49-F238E27FC236}">
                  <a16:creationId xmlns:a16="http://schemas.microsoft.com/office/drawing/2014/main" id="{689CC8FD-EA29-F183-B20A-50AE278143D8}"/>
                </a:ext>
              </a:extLst>
            </p:cNvPr>
            <p:cNvSpPr/>
            <p:nvPr/>
          </p:nvSpPr>
          <p:spPr>
            <a:xfrm>
              <a:off x="8829040" y="1210320"/>
              <a:ext cx="2194560" cy="357280"/>
            </a:xfrm>
            <a:prstGeom prst="roundRect">
              <a:avLst/>
            </a:prstGeom>
            <a:solidFill>
              <a:srgbClr val="E12A3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Phase 3</a:t>
              </a:r>
              <a:endParaRPr lang="en-US" b="1" dirty="0"/>
            </a:p>
          </p:txBody>
        </p:sp>
      </p:grpSp>
      <p:sp>
        <p:nvSpPr>
          <p:cNvPr id="29" name="Rectangle 28">
            <a:extLst>
              <a:ext uri="{FF2B5EF4-FFF2-40B4-BE49-F238E27FC236}">
                <a16:creationId xmlns:a16="http://schemas.microsoft.com/office/drawing/2014/main" id="{E1B1EE01-8A57-BEF4-93C8-B7C8AE65EFF9}"/>
              </a:ext>
            </a:extLst>
          </p:cNvPr>
          <p:cNvSpPr/>
          <p:nvPr/>
        </p:nvSpPr>
        <p:spPr>
          <a:xfrm>
            <a:off x="0" y="1856320"/>
            <a:ext cx="12192000" cy="629920"/>
          </a:xfrm>
          <a:prstGeom prst="rect">
            <a:avLst/>
          </a:prstGeom>
          <a:solidFill>
            <a:srgbClr val="FFCCCB"/>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9569729E-692B-174A-DD39-4E5B7EA00533}"/>
              </a:ext>
            </a:extLst>
          </p:cNvPr>
          <p:cNvCxnSpPr>
            <a:cxnSpLocks/>
          </p:cNvCxnSpPr>
          <p:nvPr/>
        </p:nvCxnSpPr>
        <p:spPr>
          <a:xfrm>
            <a:off x="8696960" y="1696720"/>
            <a:ext cx="0" cy="364024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4A41ED7-7590-B6F6-BC7F-2DC55B0F68A8}"/>
              </a:ext>
            </a:extLst>
          </p:cNvPr>
          <p:cNvCxnSpPr>
            <a:cxnSpLocks/>
          </p:cNvCxnSpPr>
          <p:nvPr/>
        </p:nvCxnSpPr>
        <p:spPr>
          <a:xfrm>
            <a:off x="4836160" y="1696720"/>
            <a:ext cx="0" cy="364024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50047259-1A5E-4565-5B90-8B294EC91B98}"/>
              </a:ext>
            </a:extLst>
          </p:cNvPr>
          <p:cNvSpPr/>
          <p:nvPr/>
        </p:nvSpPr>
        <p:spPr>
          <a:xfrm>
            <a:off x="91441" y="2021840"/>
            <a:ext cx="1645906" cy="338554"/>
          </a:xfrm>
          <a:prstGeom prst="roundRect">
            <a:avLst/>
          </a:prstGeom>
          <a:solidFill>
            <a:srgbClr val="E12A3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a:t>Objective</a:t>
            </a:r>
            <a:endParaRPr lang="en-US" sz="1600" b="1" dirty="0"/>
          </a:p>
        </p:txBody>
      </p:sp>
      <p:sp>
        <p:nvSpPr>
          <p:cNvPr id="24" name="Rectangle: Rounded Corners 23">
            <a:extLst>
              <a:ext uri="{FF2B5EF4-FFF2-40B4-BE49-F238E27FC236}">
                <a16:creationId xmlns:a16="http://schemas.microsoft.com/office/drawing/2014/main" id="{9F5191F6-9398-4054-6CFD-8981F7226631}"/>
              </a:ext>
            </a:extLst>
          </p:cNvPr>
          <p:cNvSpPr/>
          <p:nvPr/>
        </p:nvSpPr>
        <p:spPr>
          <a:xfrm>
            <a:off x="91440" y="2733040"/>
            <a:ext cx="1645907" cy="309240"/>
          </a:xfrm>
          <a:prstGeom prst="roundRect">
            <a:avLst/>
          </a:prstGeom>
          <a:solidFill>
            <a:srgbClr val="E12A3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a:t>Communication</a:t>
            </a:r>
            <a:endParaRPr lang="en-US" sz="1600" b="1" dirty="0"/>
          </a:p>
        </p:txBody>
      </p:sp>
      <p:sp>
        <p:nvSpPr>
          <p:cNvPr id="25" name="Rectangle: Rounded Corners 24">
            <a:extLst>
              <a:ext uri="{FF2B5EF4-FFF2-40B4-BE49-F238E27FC236}">
                <a16:creationId xmlns:a16="http://schemas.microsoft.com/office/drawing/2014/main" id="{75ECB304-1657-13CE-1EC1-3CB978208F24}"/>
              </a:ext>
            </a:extLst>
          </p:cNvPr>
          <p:cNvSpPr/>
          <p:nvPr/>
        </p:nvSpPr>
        <p:spPr>
          <a:xfrm>
            <a:off x="91440" y="3444240"/>
            <a:ext cx="1645905" cy="309240"/>
          </a:xfrm>
          <a:prstGeom prst="roundRect">
            <a:avLst/>
          </a:prstGeom>
          <a:solidFill>
            <a:srgbClr val="E12A3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a:t>B2B Collab</a:t>
            </a:r>
            <a:endParaRPr lang="en-US" sz="1600" b="1" dirty="0"/>
          </a:p>
        </p:txBody>
      </p:sp>
      <p:sp>
        <p:nvSpPr>
          <p:cNvPr id="26" name="Rectangle: Rounded Corners 25">
            <a:extLst>
              <a:ext uri="{FF2B5EF4-FFF2-40B4-BE49-F238E27FC236}">
                <a16:creationId xmlns:a16="http://schemas.microsoft.com/office/drawing/2014/main" id="{D68E492F-0DBF-83E9-221A-F34F8E626615}"/>
              </a:ext>
            </a:extLst>
          </p:cNvPr>
          <p:cNvSpPr/>
          <p:nvPr/>
        </p:nvSpPr>
        <p:spPr>
          <a:xfrm>
            <a:off x="91440" y="4155440"/>
            <a:ext cx="1645903" cy="309240"/>
          </a:xfrm>
          <a:prstGeom prst="roundRect">
            <a:avLst/>
          </a:prstGeom>
          <a:solidFill>
            <a:srgbClr val="E12A3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a:t>Hurdles</a:t>
            </a:r>
            <a:endParaRPr lang="en-US" sz="1600" b="1" dirty="0"/>
          </a:p>
        </p:txBody>
      </p:sp>
      <p:sp>
        <p:nvSpPr>
          <p:cNvPr id="27" name="Rectangle: Rounded Corners 26">
            <a:extLst>
              <a:ext uri="{FF2B5EF4-FFF2-40B4-BE49-F238E27FC236}">
                <a16:creationId xmlns:a16="http://schemas.microsoft.com/office/drawing/2014/main" id="{2A7639AD-CC8E-EF88-1BD3-EFEDE0DC51B9}"/>
              </a:ext>
            </a:extLst>
          </p:cNvPr>
          <p:cNvSpPr/>
          <p:nvPr/>
        </p:nvSpPr>
        <p:spPr>
          <a:xfrm>
            <a:off x="91440" y="4866640"/>
            <a:ext cx="1645899" cy="304800"/>
          </a:xfrm>
          <a:prstGeom prst="roundRect">
            <a:avLst/>
          </a:prstGeom>
          <a:solidFill>
            <a:srgbClr val="E12A3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a:t>Solution</a:t>
            </a:r>
            <a:endParaRPr lang="en-US" sz="1600" b="1" dirty="0"/>
          </a:p>
        </p:txBody>
      </p:sp>
      <p:sp>
        <p:nvSpPr>
          <p:cNvPr id="40" name="TextBox 39">
            <a:extLst>
              <a:ext uri="{FF2B5EF4-FFF2-40B4-BE49-F238E27FC236}">
                <a16:creationId xmlns:a16="http://schemas.microsoft.com/office/drawing/2014/main" id="{841EB72C-E6C6-3212-4F4D-3E5763A61E95}"/>
              </a:ext>
            </a:extLst>
          </p:cNvPr>
          <p:cNvSpPr txBox="1"/>
          <p:nvPr/>
        </p:nvSpPr>
        <p:spPr>
          <a:xfrm>
            <a:off x="1555675" y="2021840"/>
            <a:ext cx="3086249" cy="338554"/>
          </a:xfrm>
          <a:prstGeom prst="rect">
            <a:avLst/>
          </a:prstGeom>
          <a:noFill/>
        </p:spPr>
        <p:txBody>
          <a:bodyPr wrap="square" rtlCol="0">
            <a:spAutoFit/>
          </a:bodyPr>
          <a:lstStyle/>
          <a:p>
            <a:pPr algn="ctr"/>
            <a:r>
              <a:rPr lang="en-IN" sz="1600" b="1" dirty="0"/>
              <a:t>New User Acquisitions</a:t>
            </a:r>
            <a:endParaRPr lang="en-US" sz="1600" b="1" dirty="0"/>
          </a:p>
        </p:txBody>
      </p:sp>
      <p:sp>
        <p:nvSpPr>
          <p:cNvPr id="41" name="TextBox 40">
            <a:extLst>
              <a:ext uri="{FF2B5EF4-FFF2-40B4-BE49-F238E27FC236}">
                <a16:creationId xmlns:a16="http://schemas.microsoft.com/office/drawing/2014/main" id="{D0537FAB-56FD-0180-E943-60FEC6E0D809}"/>
              </a:ext>
            </a:extLst>
          </p:cNvPr>
          <p:cNvSpPr txBox="1"/>
          <p:nvPr/>
        </p:nvSpPr>
        <p:spPr>
          <a:xfrm>
            <a:off x="5223436" y="2021840"/>
            <a:ext cx="3086249" cy="338554"/>
          </a:xfrm>
          <a:prstGeom prst="rect">
            <a:avLst/>
          </a:prstGeom>
          <a:noFill/>
        </p:spPr>
        <p:txBody>
          <a:bodyPr wrap="square" rtlCol="0">
            <a:spAutoFit/>
          </a:bodyPr>
          <a:lstStyle/>
          <a:p>
            <a:pPr algn="ctr"/>
            <a:r>
              <a:rPr lang="en-IN" sz="1600" b="1" dirty="0"/>
              <a:t>User engagement, delights</a:t>
            </a:r>
            <a:endParaRPr lang="en-US" sz="1600" b="1" dirty="0"/>
          </a:p>
        </p:txBody>
      </p:sp>
      <p:sp>
        <p:nvSpPr>
          <p:cNvPr id="42" name="TextBox 41">
            <a:extLst>
              <a:ext uri="{FF2B5EF4-FFF2-40B4-BE49-F238E27FC236}">
                <a16:creationId xmlns:a16="http://schemas.microsoft.com/office/drawing/2014/main" id="{7A527AEE-9E2F-8F16-3740-0C4E121AA455}"/>
              </a:ext>
            </a:extLst>
          </p:cNvPr>
          <p:cNvSpPr txBox="1"/>
          <p:nvPr/>
        </p:nvSpPr>
        <p:spPr>
          <a:xfrm>
            <a:off x="8901356" y="2009402"/>
            <a:ext cx="3086249" cy="338554"/>
          </a:xfrm>
          <a:prstGeom prst="rect">
            <a:avLst/>
          </a:prstGeom>
          <a:noFill/>
        </p:spPr>
        <p:txBody>
          <a:bodyPr wrap="square" rtlCol="0">
            <a:spAutoFit/>
          </a:bodyPr>
          <a:lstStyle/>
          <a:p>
            <a:pPr algn="ctr"/>
            <a:r>
              <a:rPr lang="en-IN" sz="1600" b="1" dirty="0"/>
              <a:t>User retention</a:t>
            </a:r>
            <a:endParaRPr lang="en-US" sz="1600" b="1" dirty="0"/>
          </a:p>
        </p:txBody>
      </p:sp>
      <p:grpSp>
        <p:nvGrpSpPr>
          <p:cNvPr id="53" name="Group 52">
            <a:extLst>
              <a:ext uri="{FF2B5EF4-FFF2-40B4-BE49-F238E27FC236}">
                <a16:creationId xmlns:a16="http://schemas.microsoft.com/office/drawing/2014/main" id="{132B8F17-EB96-459B-0E11-DD27B73EC880}"/>
              </a:ext>
            </a:extLst>
          </p:cNvPr>
          <p:cNvGrpSpPr/>
          <p:nvPr/>
        </p:nvGrpSpPr>
        <p:grpSpPr>
          <a:xfrm>
            <a:off x="2178074" y="2697900"/>
            <a:ext cx="1901150" cy="379520"/>
            <a:chOff x="2124622" y="2697900"/>
            <a:chExt cx="1901150" cy="379520"/>
          </a:xfrm>
        </p:grpSpPr>
        <p:pic>
          <p:nvPicPr>
            <p:cNvPr id="1026" name="Picture 2" descr="PR ">
              <a:extLst>
                <a:ext uri="{FF2B5EF4-FFF2-40B4-BE49-F238E27FC236}">
                  <a16:creationId xmlns:a16="http://schemas.microsoft.com/office/drawing/2014/main" id="{072CDE46-ED80-2C47-4E9A-B8947992D2A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4622" y="2697900"/>
              <a:ext cx="379520" cy="3795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nstagram ">
              <a:extLst>
                <a:ext uri="{FF2B5EF4-FFF2-40B4-BE49-F238E27FC236}">
                  <a16:creationId xmlns:a16="http://schemas.microsoft.com/office/drawing/2014/main" id="{220C5DF6-221A-9465-4401-EA98EDCC995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06938" y="2697900"/>
              <a:ext cx="379520" cy="37952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ds ">
              <a:extLst>
                <a:ext uri="{FF2B5EF4-FFF2-40B4-BE49-F238E27FC236}">
                  <a16:creationId xmlns:a16="http://schemas.microsoft.com/office/drawing/2014/main" id="{098ECDFA-D1A7-719A-09C3-00993BC94BE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24769" y="2697900"/>
              <a:ext cx="379520" cy="37952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Linkedin ">
              <a:extLst>
                <a:ext uri="{FF2B5EF4-FFF2-40B4-BE49-F238E27FC236}">
                  <a16:creationId xmlns:a16="http://schemas.microsoft.com/office/drawing/2014/main" id="{22B3A90C-2730-E4E7-40B3-F57633097C9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646253" y="2697901"/>
              <a:ext cx="379519" cy="3795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4" name="Group 53">
            <a:extLst>
              <a:ext uri="{FF2B5EF4-FFF2-40B4-BE49-F238E27FC236}">
                <a16:creationId xmlns:a16="http://schemas.microsoft.com/office/drawing/2014/main" id="{9FF12AE2-F284-E056-2851-D144C84D00B4}"/>
              </a:ext>
            </a:extLst>
          </p:cNvPr>
          <p:cNvGrpSpPr/>
          <p:nvPr/>
        </p:nvGrpSpPr>
        <p:grpSpPr>
          <a:xfrm>
            <a:off x="5695422" y="2653981"/>
            <a:ext cx="2142277" cy="454925"/>
            <a:chOff x="5454507" y="2656453"/>
            <a:chExt cx="2142277" cy="454925"/>
          </a:xfrm>
        </p:grpSpPr>
        <p:pic>
          <p:nvPicPr>
            <p:cNvPr id="1034" name="Picture 10" descr="Email ">
              <a:extLst>
                <a:ext uri="{FF2B5EF4-FFF2-40B4-BE49-F238E27FC236}">
                  <a16:creationId xmlns:a16="http://schemas.microsoft.com/office/drawing/2014/main" id="{05607E6A-F1D1-1634-C775-7DF31B3D15A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454507" y="2656453"/>
              <a:ext cx="420967" cy="42096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Notifications ">
              <a:extLst>
                <a:ext uri="{FF2B5EF4-FFF2-40B4-BE49-F238E27FC236}">
                  <a16:creationId xmlns:a16="http://schemas.microsoft.com/office/drawing/2014/main" id="{BE02FFFD-9617-C72C-9A54-82BAE65A9E1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069358" y="2707504"/>
              <a:ext cx="386782" cy="38678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Rewards ">
              <a:extLst>
                <a:ext uri="{FF2B5EF4-FFF2-40B4-BE49-F238E27FC236}">
                  <a16:creationId xmlns:a16="http://schemas.microsoft.com/office/drawing/2014/main" id="{7798BFF8-973F-3C61-FFEA-20EB6B29BD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566237" y="2690411"/>
              <a:ext cx="420967" cy="42096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Appreciation ">
              <a:extLst>
                <a:ext uri="{FF2B5EF4-FFF2-40B4-BE49-F238E27FC236}">
                  <a16:creationId xmlns:a16="http://schemas.microsoft.com/office/drawing/2014/main" id="{3C869D0B-415F-5085-FDC2-95D7D81CB308}"/>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175817" y="2690410"/>
              <a:ext cx="420967" cy="42096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5" name="Group 54">
            <a:extLst>
              <a:ext uri="{FF2B5EF4-FFF2-40B4-BE49-F238E27FC236}">
                <a16:creationId xmlns:a16="http://schemas.microsoft.com/office/drawing/2014/main" id="{EEE7376C-B472-6578-AFFE-2557852E2604}"/>
              </a:ext>
            </a:extLst>
          </p:cNvPr>
          <p:cNvGrpSpPr/>
          <p:nvPr/>
        </p:nvGrpSpPr>
        <p:grpSpPr>
          <a:xfrm>
            <a:off x="9390676" y="2667788"/>
            <a:ext cx="2107608" cy="424026"/>
            <a:chOff x="8988710" y="2668632"/>
            <a:chExt cx="2107608" cy="424026"/>
          </a:xfrm>
        </p:grpSpPr>
        <p:pic>
          <p:nvPicPr>
            <p:cNvPr id="1042" name="Picture 18" descr="Word of mouth ">
              <a:extLst>
                <a:ext uri="{FF2B5EF4-FFF2-40B4-BE49-F238E27FC236}">
                  <a16:creationId xmlns:a16="http://schemas.microsoft.com/office/drawing/2014/main" id="{13B83DC5-61C7-713A-D2B7-DF1D2666110D}"/>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988710" y="2668632"/>
              <a:ext cx="420799" cy="420799"/>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Quality control ">
              <a:extLst>
                <a:ext uri="{FF2B5EF4-FFF2-40B4-BE49-F238E27FC236}">
                  <a16:creationId xmlns:a16="http://schemas.microsoft.com/office/drawing/2014/main" id="{8CE5BB06-F9B5-9407-0A9A-702EF734C35B}"/>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9562648" y="2671860"/>
              <a:ext cx="420798" cy="420798"/>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Ui design ">
              <a:extLst>
                <a:ext uri="{FF2B5EF4-FFF2-40B4-BE49-F238E27FC236}">
                  <a16:creationId xmlns:a16="http://schemas.microsoft.com/office/drawing/2014/main" id="{D0F8E13A-8747-8465-7487-AFBC11F6A544}"/>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0159101" y="2668632"/>
              <a:ext cx="386782" cy="386782"/>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Gift ">
              <a:extLst>
                <a:ext uri="{FF2B5EF4-FFF2-40B4-BE49-F238E27FC236}">
                  <a16:creationId xmlns:a16="http://schemas.microsoft.com/office/drawing/2014/main" id="{1A279ACB-D695-756D-F6E3-60930EB80F06}"/>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0675520" y="2670600"/>
              <a:ext cx="420798" cy="420798"/>
            </a:xfrm>
            <a:prstGeom prst="rect">
              <a:avLst/>
            </a:prstGeom>
            <a:noFill/>
            <a:extLst>
              <a:ext uri="{909E8E84-426E-40DD-AFC4-6F175D3DCCD1}">
                <a14:hiddenFill xmlns:a14="http://schemas.microsoft.com/office/drawing/2010/main">
                  <a:solidFill>
                    <a:srgbClr val="FFFFFF"/>
                  </a:solidFill>
                </a14:hiddenFill>
              </a:ext>
            </a:extLst>
          </p:spPr>
        </p:pic>
      </p:grpSp>
      <p:sp>
        <p:nvSpPr>
          <p:cNvPr id="56" name="TextBox 55">
            <a:extLst>
              <a:ext uri="{FF2B5EF4-FFF2-40B4-BE49-F238E27FC236}">
                <a16:creationId xmlns:a16="http://schemas.microsoft.com/office/drawing/2014/main" id="{AE54B3BF-6879-CEF5-94F5-959D3449142B}"/>
              </a:ext>
            </a:extLst>
          </p:cNvPr>
          <p:cNvSpPr txBox="1"/>
          <p:nvPr/>
        </p:nvSpPr>
        <p:spPr>
          <a:xfrm>
            <a:off x="1555675" y="3444240"/>
            <a:ext cx="3086249" cy="338554"/>
          </a:xfrm>
          <a:prstGeom prst="rect">
            <a:avLst/>
          </a:prstGeom>
          <a:noFill/>
        </p:spPr>
        <p:txBody>
          <a:bodyPr wrap="square" rtlCol="0">
            <a:spAutoFit/>
          </a:bodyPr>
          <a:lstStyle/>
          <a:p>
            <a:pPr algn="ctr"/>
            <a:r>
              <a:rPr lang="en-IN" sz="1600" b="1" dirty="0"/>
              <a:t>Pitch Deck, Product Fit</a:t>
            </a:r>
            <a:endParaRPr lang="en-US" sz="1600" b="1" dirty="0"/>
          </a:p>
        </p:txBody>
      </p:sp>
      <p:sp>
        <p:nvSpPr>
          <p:cNvPr id="57" name="TextBox 56">
            <a:extLst>
              <a:ext uri="{FF2B5EF4-FFF2-40B4-BE49-F238E27FC236}">
                <a16:creationId xmlns:a16="http://schemas.microsoft.com/office/drawing/2014/main" id="{D4769E39-E6EA-E24E-CD22-9F23BFD76F12}"/>
              </a:ext>
            </a:extLst>
          </p:cNvPr>
          <p:cNvSpPr txBox="1"/>
          <p:nvPr/>
        </p:nvSpPr>
        <p:spPr>
          <a:xfrm>
            <a:off x="5264027" y="3444240"/>
            <a:ext cx="3086249" cy="338554"/>
          </a:xfrm>
          <a:prstGeom prst="rect">
            <a:avLst/>
          </a:prstGeom>
          <a:noFill/>
        </p:spPr>
        <p:txBody>
          <a:bodyPr wrap="square" rtlCol="0">
            <a:spAutoFit/>
          </a:bodyPr>
          <a:lstStyle/>
          <a:p>
            <a:pPr algn="ctr"/>
            <a:r>
              <a:rPr lang="en-IN" sz="1600" b="1" dirty="0"/>
              <a:t>Cold Emails, Events, Free Demo</a:t>
            </a:r>
            <a:endParaRPr lang="en-US" sz="1600" b="1" dirty="0"/>
          </a:p>
        </p:txBody>
      </p:sp>
      <p:sp>
        <p:nvSpPr>
          <p:cNvPr id="58" name="TextBox 57">
            <a:extLst>
              <a:ext uri="{FF2B5EF4-FFF2-40B4-BE49-F238E27FC236}">
                <a16:creationId xmlns:a16="http://schemas.microsoft.com/office/drawing/2014/main" id="{8424657A-BA04-7319-C3AA-FFF8C6C31748}"/>
              </a:ext>
            </a:extLst>
          </p:cNvPr>
          <p:cNvSpPr txBox="1"/>
          <p:nvPr/>
        </p:nvSpPr>
        <p:spPr>
          <a:xfrm>
            <a:off x="8901356" y="3429583"/>
            <a:ext cx="3086249" cy="338554"/>
          </a:xfrm>
          <a:prstGeom prst="rect">
            <a:avLst/>
          </a:prstGeom>
          <a:noFill/>
        </p:spPr>
        <p:txBody>
          <a:bodyPr wrap="square" rtlCol="0">
            <a:spAutoFit/>
          </a:bodyPr>
          <a:lstStyle/>
          <a:p>
            <a:pPr algn="ctr"/>
            <a:r>
              <a:rPr lang="en-IN" sz="1600" b="1" dirty="0"/>
              <a:t>Consistent Quality, Feedback</a:t>
            </a:r>
            <a:endParaRPr lang="en-US" sz="1600" b="1" dirty="0"/>
          </a:p>
        </p:txBody>
      </p:sp>
      <p:sp>
        <p:nvSpPr>
          <p:cNvPr id="63" name="TextBox 62">
            <a:extLst>
              <a:ext uri="{FF2B5EF4-FFF2-40B4-BE49-F238E27FC236}">
                <a16:creationId xmlns:a16="http://schemas.microsoft.com/office/drawing/2014/main" id="{982FA6A8-1234-C125-5AE7-B24C749D33D1}"/>
              </a:ext>
            </a:extLst>
          </p:cNvPr>
          <p:cNvSpPr txBox="1"/>
          <p:nvPr/>
        </p:nvSpPr>
        <p:spPr>
          <a:xfrm>
            <a:off x="1545516" y="4155440"/>
            <a:ext cx="3086249" cy="338554"/>
          </a:xfrm>
          <a:prstGeom prst="rect">
            <a:avLst/>
          </a:prstGeom>
          <a:noFill/>
        </p:spPr>
        <p:txBody>
          <a:bodyPr wrap="square" rtlCol="0">
            <a:spAutoFit/>
          </a:bodyPr>
          <a:lstStyle/>
          <a:p>
            <a:pPr algn="ctr"/>
            <a:r>
              <a:rPr lang="en-IN" sz="1600" b="1" dirty="0"/>
              <a:t>Product Market Fit</a:t>
            </a:r>
            <a:endParaRPr lang="en-US" sz="1600" b="1" dirty="0"/>
          </a:p>
        </p:txBody>
      </p:sp>
      <p:sp>
        <p:nvSpPr>
          <p:cNvPr id="1024" name="TextBox 1023">
            <a:extLst>
              <a:ext uri="{FF2B5EF4-FFF2-40B4-BE49-F238E27FC236}">
                <a16:creationId xmlns:a16="http://schemas.microsoft.com/office/drawing/2014/main" id="{21F1D3CD-2638-6FEF-4182-A0FF67F7F667}"/>
              </a:ext>
            </a:extLst>
          </p:cNvPr>
          <p:cNvSpPr txBox="1"/>
          <p:nvPr/>
        </p:nvSpPr>
        <p:spPr>
          <a:xfrm>
            <a:off x="5257850" y="4140043"/>
            <a:ext cx="3086249" cy="338554"/>
          </a:xfrm>
          <a:prstGeom prst="rect">
            <a:avLst/>
          </a:prstGeom>
          <a:noFill/>
        </p:spPr>
        <p:txBody>
          <a:bodyPr wrap="square" rtlCol="0">
            <a:spAutoFit/>
          </a:bodyPr>
          <a:lstStyle/>
          <a:p>
            <a:pPr algn="ctr"/>
            <a:r>
              <a:rPr lang="en-IN" sz="1600" b="1" dirty="0"/>
              <a:t>Supply-Demand Gap</a:t>
            </a:r>
            <a:endParaRPr lang="en-US" sz="1600" b="1" dirty="0"/>
          </a:p>
        </p:txBody>
      </p:sp>
      <p:sp>
        <p:nvSpPr>
          <p:cNvPr id="1025" name="TextBox 1024">
            <a:extLst>
              <a:ext uri="{FF2B5EF4-FFF2-40B4-BE49-F238E27FC236}">
                <a16:creationId xmlns:a16="http://schemas.microsoft.com/office/drawing/2014/main" id="{F0077528-9F8E-A426-8831-6013A9D05100}"/>
              </a:ext>
            </a:extLst>
          </p:cNvPr>
          <p:cNvSpPr txBox="1"/>
          <p:nvPr/>
        </p:nvSpPr>
        <p:spPr>
          <a:xfrm>
            <a:off x="8970184" y="4124646"/>
            <a:ext cx="3086249" cy="338554"/>
          </a:xfrm>
          <a:prstGeom prst="rect">
            <a:avLst/>
          </a:prstGeom>
          <a:noFill/>
        </p:spPr>
        <p:txBody>
          <a:bodyPr wrap="square" rtlCol="0">
            <a:spAutoFit/>
          </a:bodyPr>
          <a:lstStyle/>
          <a:p>
            <a:pPr algn="ctr"/>
            <a:r>
              <a:rPr lang="en-IN" sz="1600" b="1" dirty="0"/>
              <a:t>Change in industry trends</a:t>
            </a:r>
            <a:endParaRPr lang="en-US" sz="1600" b="1" dirty="0"/>
          </a:p>
        </p:txBody>
      </p:sp>
      <p:sp>
        <p:nvSpPr>
          <p:cNvPr id="1027" name="TextBox 1026">
            <a:extLst>
              <a:ext uri="{FF2B5EF4-FFF2-40B4-BE49-F238E27FC236}">
                <a16:creationId xmlns:a16="http://schemas.microsoft.com/office/drawing/2014/main" id="{2A04B648-2154-945E-2145-CC0253C1F03D}"/>
              </a:ext>
            </a:extLst>
          </p:cNvPr>
          <p:cNvSpPr txBox="1"/>
          <p:nvPr/>
        </p:nvSpPr>
        <p:spPr>
          <a:xfrm>
            <a:off x="1749903" y="4870509"/>
            <a:ext cx="3086249" cy="338554"/>
          </a:xfrm>
          <a:prstGeom prst="rect">
            <a:avLst/>
          </a:prstGeom>
          <a:noFill/>
        </p:spPr>
        <p:txBody>
          <a:bodyPr wrap="square" rtlCol="0">
            <a:spAutoFit/>
          </a:bodyPr>
          <a:lstStyle/>
          <a:p>
            <a:pPr algn="ctr"/>
            <a:r>
              <a:rPr lang="en-IN" sz="1600" b="1" dirty="0"/>
              <a:t>User feedback &amp; improvements</a:t>
            </a:r>
            <a:endParaRPr lang="en-US" sz="1600" b="1" dirty="0"/>
          </a:p>
        </p:txBody>
      </p:sp>
      <p:sp>
        <p:nvSpPr>
          <p:cNvPr id="1029" name="TextBox 1028">
            <a:extLst>
              <a:ext uri="{FF2B5EF4-FFF2-40B4-BE49-F238E27FC236}">
                <a16:creationId xmlns:a16="http://schemas.microsoft.com/office/drawing/2014/main" id="{A2914DF1-112D-1C41-4BFD-491B7557B5C8}"/>
              </a:ext>
            </a:extLst>
          </p:cNvPr>
          <p:cNvSpPr txBox="1"/>
          <p:nvPr/>
        </p:nvSpPr>
        <p:spPr>
          <a:xfrm>
            <a:off x="5232324" y="4843530"/>
            <a:ext cx="3086249" cy="338554"/>
          </a:xfrm>
          <a:prstGeom prst="rect">
            <a:avLst/>
          </a:prstGeom>
          <a:noFill/>
        </p:spPr>
        <p:txBody>
          <a:bodyPr wrap="square" rtlCol="0">
            <a:spAutoFit/>
          </a:bodyPr>
          <a:lstStyle/>
          <a:p>
            <a:pPr algn="ctr"/>
            <a:r>
              <a:rPr lang="en-IN" sz="1600" b="1" dirty="0"/>
              <a:t>Supply pipeline, BCP and forecast</a:t>
            </a:r>
            <a:endParaRPr lang="en-US" sz="1600" b="1" dirty="0"/>
          </a:p>
        </p:txBody>
      </p:sp>
      <p:sp>
        <p:nvSpPr>
          <p:cNvPr id="1031" name="TextBox 1030">
            <a:extLst>
              <a:ext uri="{FF2B5EF4-FFF2-40B4-BE49-F238E27FC236}">
                <a16:creationId xmlns:a16="http://schemas.microsoft.com/office/drawing/2014/main" id="{42706D22-74B6-B518-1995-780B4C1333DD}"/>
              </a:ext>
            </a:extLst>
          </p:cNvPr>
          <p:cNvSpPr txBox="1"/>
          <p:nvPr/>
        </p:nvSpPr>
        <p:spPr>
          <a:xfrm>
            <a:off x="9017942" y="4823210"/>
            <a:ext cx="3086249" cy="338554"/>
          </a:xfrm>
          <a:prstGeom prst="rect">
            <a:avLst/>
          </a:prstGeom>
          <a:noFill/>
        </p:spPr>
        <p:txBody>
          <a:bodyPr wrap="square" rtlCol="0">
            <a:spAutoFit/>
          </a:bodyPr>
          <a:lstStyle/>
          <a:p>
            <a:pPr algn="ctr"/>
            <a:r>
              <a:rPr lang="en-IN" sz="1600" b="1" dirty="0"/>
              <a:t>Pro-active approach </a:t>
            </a:r>
            <a:endParaRPr lang="en-US" sz="1600" b="1" dirty="0"/>
          </a:p>
        </p:txBody>
      </p:sp>
      <p:pic>
        <p:nvPicPr>
          <p:cNvPr id="1050" name="Picture 26" descr="Idea ">
            <a:extLst>
              <a:ext uri="{FF2B5EF4-FFF2-40B4-BE49-F238E27FC236}">
                <a16:creationId xmlns:a16="http://schemas.microsoft.com/office/drawing/2014/main" id="{5B1B3E89-7E2D-8E2F-D3DA-F331405B3D7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1941" y="5466019"/>
            <a:ext cx="550650" cy="550650"/>
          </a:xfrm>
          <a:prstGeom prst="rect">
            <a:avLst/>
          </a:prstGeom>
          <a:noFill/>
          <a:extLst>
            <a:ext uri="{909E8E84-426E-40DD-AFC4-6F175D3DCCD1}">
              <a14:hiddenFill xmlns:a14="http://schemas.microsoft.com/office/drawing/2010/main">
                <a:solidFill>
                  <a:srgbClr val="FFFFFF"/>
                </a:solidFill>
              </a14:hiddenFill>
            </a:ext>
          </a:extLst>
        </p:spPr>
      </p:pic>
      <p:sp>
        <p:nvSpPr>
          <p:cNvPr id="1043" name="Rectangle: Rounded Corners 1042">
            <a:extLst>
              <a:ext uri="{FF2B5EF4-FFF2-40B4-BE49-F238E27FC236}">
                <a16:creationId xmlns:a16="http://schemas.microsoft.com/office/drawing/2014/main" id="{315F21BE-CA18-DE5B-5F10-FA374798E66C}"/>
              </a:ext>
            </a:extLst>
          </p:cNvPr>
          <p:cNvSpPr/>
          <p:nvPr/>
        </p:nvSpPr>
        <p:spPr>
          <a:xfrm>
            <a:off x="274313" y="6168067"/>
            <a:ext cx="1645906" cy="338554"/>
          </a:xfrm>
          <a:prstGeom prst="roundRect">
            <a:avLst/>
          </a:prstGeom>
          <a:solidFill>
            <a:srgbClr val="E12A3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a:t>Important KPIs</a:t>
            </a:r>
            <a:endParaRPr lang="en-US" sz="1600" b="1" dirty="0"/>
          </a:p>
        </p:txBody>
      </p:sp>
      <p:sp>
        <p:nvSpPr>
          <p:cNvPr id="1045" name="TextBox 1044">
            <a:extLst>
              <a:ext uri="{FF2B5EF4-FFF2-40B4-BE49-F238E27FC236}">
                <a16:creationId xmlns:a16="http://schemas.microsoft.com/office/drawing/2014/main" id="{AA85BCB0-7C8D-258B-38F3-3270BB644107}"/>
              </a:ext>
            </a:extLst>
          </p:cNvPr>
          <p:cNvSpPr txBox="1"/>
          <p:nvPr/>
        </p:nvSpPr>
        <p:spPr>
          <a:xfrm>
            <a:off x="2188791" y="5466019"/>
            <a:ext cx="7201882" cy="1323439"/>
          </a:xfrm>
          <a:prstGeom prst="rect">
            <a:avLst/>
          </a:prstGeom>
          <a:noFill/>
          <a:ln>
            <a:solidFill>
              <a:schemeClr val="tx1"/>
            </a:solidFill>
            <a:prstDash val="lgDash"/>
          </a:ln>
        </p:spPr>
        <p:txBody>
          <a:bodyPr wrap="square" rtlCol="0">
            <a:spAutoFit/>
          </a:bodyPr>
          <a:lstStyle/>
          <a:p>
            <a:r>
              <a:rPr lang="en-IN" sz="1600" dirty="0"/>
              <a:t>MRR (Monthly Run Rate) = Avg. Revenue Per User X Number of Users</a:t>
            </a:r>
          </a:p>
          <a:p>
            <a:r>
              <a:rPr lang="en-IN" sz="1600" dirty="0"/>
              <a:t>Stickiness Ratio = DAU/MAU (DAU = Daily Active User. MAU = Monthly Active User</a:t>
            </a:r>
          </a:p>
          <a:p>
            <a:r>
              <a:rPr lang="en-IN" sz="1600" dirty="0"/>
              <a:t>CAC = Total spend on marketing and sales / Number of new users acquired</a:t>
            </a:r>
          </a:p>
          <a:p>
            <a:r>
              <a:rPr lang="en-IN" sz="1600" dirty="0"/>
              <a:t>LTV = Average user sale value X Average user lifespan</a:t>
            </a:r>
          </a:p>
          <a:p>
            <a:r>
              <a:rPr lang="en-IN" sz="1600" dirty="0"/>
              <a:t>User Churn Rate = (User lots in a period / Total users at the start of the period) X 100</a:t>
            </a:r>
            <a:endParaRPr lang="en-US" sz="1600" dirty="0"/>
          </a:p>
        </p:txBody>
      </p:sp>
      <p:sp>
        <p:nvSpPr>
          <p:cNvPr id="1052" name="TextBox 1051">
            <a:extLst>
              <a:ext uri="{FF2B5EF4-FFF2-40B4-BE49-F238E27FC236}">
                <a16:creationId xmlns:a16="http://schemas.microsoft.com/office/drawing/2014/main" id="{4BEC4D24-12FF-27DE-3405-2562EE291A12}"/>
              </a:ext>
            </a:extLst>
          </p:cNvPr>
          <p:cNvSpPr txBox="1"/>
          <p:nvPr/>
        </p:nvSpPr>
        <p:spPr>
          <a:xfrm>
            <a:off x="9517516" y="5460126"/>
            <a:ext cx="2586676" cy="1323439"/>
          </a:xfrm>
          <a:prstGeom prst="rect">
            <a:avLst/>
          </a:prstGeom>
          <a:noFill/>
          <a:ln>
            <a:solidFill>
              <a:schemeClr val="tx1"/>
            </a:solidFill>
            <a:prstDash val="lgDash"/>
          </a:ln>
        </p:spPr>
        <p:txBody>
          <a:bodyPr wrap="square" rtlCol="0">
            <a:spAutoFit/>
          </a:bodyPr>
          <a:lstStyle/>
          <a:p>
            <a:r>
              <a:rPr lang="en-IN" sz="1600" b="1" dirty="0"/>
              <a:t>Requirements:</a:t>
            </a:r>
          </a:p>
          <a:p>
            <a:pPr marL="342900" indent="-342900">
              <a:buFont typeface="+mj-lt"/>
              <a:buAutoNum type="arabicPeriod"/>
            </a:pPr>
            <a:r>
              <a:rPr lang="en-IN" sz="1600" dirty="0"/>
              <a:t>Product Manager</a:t>
            </a:r>
          </a:p>
          <a:p>
            <a:pPr marL="342900" indent="-342900">
              <a:buFont typeface="+mj-lt"/>
              <a:buAutoNum type="arabicPeriod"/>
            </a:pPr>
            <a:r>
              <a:rPr lang="en-IN" sz="1600" dirty="0"/>
              <a:t>Marketing Manager</a:t>
            </a:r>
          </a:p>
          <a:p>
            <a:pPr marL="342900" indent="-342900">
              <a:buFont typeface="+mj-lt"/>
              <a:buAutoNum type="arabicPeriod"/>
            </a:pPr>
            <a:r>
              <a:rPr lang="en-IN" sz="1600" dirty="0"/>
              <a:t>Business Development Executive</a:t>
            </a:r>
            <a:endParaRPr lang="en-US" sz="1600" dirty="0"/>
          </a:p>
        </p:txBody>
      </p:sp>
    </p:spTree>
    <p:extLst>
      <p:ext uri="{BB962C8B-B14F-4D97-AF65-F5344CB8AC3E}">
        <p14:creationId xmlns:p14="http://schemas.microsoft.com/office/powerpoint/2010/main" val="4093967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a:t>Why You?</a:t>
            </a:r>
          </a:p>
        </p:txBody>
      </p:sp>
      <p:sp>
        <p:nvSpPr>
          <p:cNvPr id="4" name="Slide Number Placeholder 3"/>
          <p:cNvSpPr>
            <a:spLocks noGrp="1"/>
          </p:cNvSpPr>
          <p:nvPr>
            <p:ph type="sldNum" sz="quarter" idx="4"/>
          </p:nvPr>
        </p:nvSpPr>
        <p:spPr/>
        <p:txBody>
          <a:bodyPr/>
          <a:lstStyle/>
          <a:p>
            <a:fld id="{2D2D9D99-8454-442A-B0DD-EF173ADD60D6}" type="slidenum">
              <a:rPr lang="en-IN" smtClean="0"/>
              <a:pPr/>
              <a:t>11</a:t>
            </a:fld>
            <a:endParaRPr lang="en-IN"/>
          </a:p>
        </p:txBody>
      </p:sp>
      <p:sp>
        <p:nvSpPr>
          <p:cNvPr id="5" name="Content Placeholder 1">
            <a:extLst>
              <a:ext uri="{FF2B5EF4-FFF2-40B4-BE49-F238E27FC236}">
                <a16:creationId xmlns:a16="http://schemas.microsoft.com/office/drawing/2014/main" id="{ECEA5EDD-B9D4-4845-A53E-43D603379F6C}"/>
              </a:ext>
            </a:extLst>
          </p:cNvPr>
          <p:cNvSpPr>
            <a:spLocks noGrp="1"/>
          </p:cNvSpPr>
          <p:nvPr>
            <p:ph idx="1"/>
          </p:nvPr>
        </p:nvSpPr>
        <p:spPr/>
        <p:txBody>
          <a:bodyPr/>
          <a:lstStyle/>
          <a:p>
            <a:pPr marL="0" indent="0">
              <a:buNone/>
            </a:pPr>
            <a:r>
              <a:rPr lang="en-US" sz="1800" b="1" i="0" u="none" strike="noStrike" kern="1200" dirty="0">
                <a:solidFill>
                  <a:srgbClr val="FFFFFF"/>
                </a:solidFill>
                <a:effectLst/>
                <a:latin typeface="Calibri" panose="020F0502020204030204" pitchFamily="34" charset="0"/>
              </a:rPr>
              <a:t>2 Months</a:t>
            </a:r>
            <a:endParaRPr lang="en-US" sz="1800" b="0" i="0" u="none" strike="noStrike" dirty="0">
              <a:effectLst/>
              <a:latin typeface="Arial" panose="020B0604020202020204" pitchFamily="34" charset="0"/>
            </a:endParaRPr>
          </a:p>
          <a:p>
            <a:pPr marL="0" indent="0">
              <a:buNone/>
            </a:pPr>
            <a:r>
              <a:rPr lang="en-US" sz="1800" b="1" i="0" u="none" strike="noStrike" kern="1200" dirty="0">
                <a:solidFill>
                  <a:srgbClr val="FFFFFF"/>
                </a:solidFill>
                <a:effectLst/>
                <a:latin typeface="Calibri" panose="020F0502020204030204" pitchFamily="34" charset="0"/>
              </a:rPr>
              <a:t>2 Months</a:t>
            </a:r>
            <a:endParaRPr lang="en-US" sz="1800" b="0" i="0" u="none" strike="noStrike" dirty="0">
              <a:effectLst/>
              <a:latin typeface="Arial" panose="020B0604020202020204" pitchFamily="34" charset="0"/>
            </a:endParaRPr>
          </a:p>
          <a:p>
            <a:pPr marL="0" indent="0">
              <a:buNone/>
            </a:pPr>
            <a:endParaRPr lang="en-US" dirty="0">
              <a:solidFill>
                <a:srgbClr val="02518E"/>
              </a:solidFill>
            </a:endParaRPr>
          </a:p>
        </p:txBody>
      </p:sp>
      <p:graphicFrame>
        <p:nvGraphicFramePr>
          <p:cNvPr id="7" name="Table 4">
            <a:extLst>
              <a:ext uri="{FF2B5EF4-FFF2-40B4-BE49-F238E27FC236}">
                <a16:creationId xmlns:a16="http://schemas.microsoft.com/office/drawing/2014/main" id="{9A9BAB4B-C2BE-104A-9A22-631510BCEA08}"/>
              </a:ext>
            </a:extLst>
          </p:cNvPr>
          <p:cNvGraphicFramePr>
            <a:graphicFrameLocks noGrp="1"/>
          </p:cNvGraphicFramePr>
          <p:nvPr>
            <p:extLst>
              <p:ext uri="{D42A27DB-BD31-4B8C-83A1-F6EECF244321}">
                <p14:modId xmlns:p14="http://schemas.microsoft.com/office/powerpoint/2010/main" val="2238327638"/>
              </p:ext>
            </p:extLst>
          </p:nvPr>
        </p:nvGraphicFramePr>
        <p:xfrm>
          <a:off x="7264275" y="4433991"/>
          <a:ext cx="4829238" cy="2194560"/>
        </p:xfrm>
        <a:graphic>
          <a:graphicData uri="http://schemas.openxmlformats.org/drawingml/2006/table">
            <a:tbl>
              <a:tblPr firstRow="1" bandRow="1">
                <a:tableStyleId>{5C22544A-7EE6-4342-B048-85BDC9FD1C3A}</a:tableStyleId>
              </a:tblPr>
              <a:tblGrid>
                <a:gridCol w="1609746">
                  <a:extLst>
                    <a:ext uri="{9D8B030D-6E8A-4147-A177-3AD203B41FA5}">
                      <a16:colId xmlns:a16="http://schemas.microsoft.com/office/drawing/2014/main" val="1459514193"/>
                    </a:ext>
                  </a:extLst>
                </a:gridCol>
                <a:gridCol w="1609746">
                  <a:extLst>
                    <a:ext uri="{9D8B030D-6E8A-4147-A177-3AD203B41FA5}">
                      <a16:colId xmlns:a16="http://schemas.microsoft.com/office/drawing/2014/main" val="814489510"/>
                    </a:ext>
                  </a:extLst>
                </a:gridCol>
                <a:gridCol w="1609746">
                  <a:extLst>
                    <a:ext uri="{9D8B030D-6E8A-4147-A177-3AD203B41FA5}">
                      <a16:colId xmlns:a16="http://schemas.microsoft.com/office/drawing/2014/main" val="3589232134"/>
                    </a:ext>
                  </a:extLst>
                </a:gridCol>
              </a:tblGrid>
              <a:tr h="347551">
                <a:tc>
                  <a:txBody>
                    <a:bodyPr/>
                    <a:lstStyle/>
                    <a:p>
                      <a:r>
                        <a:rPr lang="en-US" dirty="0"/>
                        <a:t>2 Months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1E24"/>
                    </a:solidFill>
                  </a:tcPr>
                </a:tc>
                <a:tc>
                  <a:txBody>
                    <a:bodyPr/>
                    <a:lstStyle/>
                    <a:p>
                      <a:r>
                        <a:rPr lang="en-US" dirty="0"/>
                        <a:t>4 Months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1E24"/>
                    </a:solidFill>
                  </a:tcPr>
                </a:tc>
                <a:tc>
                  <a:txBody>
                    <a:bodyPr/>
                    <a:lstStyle/>
                    <a:p>
                      <a:r>
                        <a:rPr lang="en-US" dirty="0"/>
                        <a:t>6 Months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1E24"/>
                    </a:solidFill>
                  </a:tcPr>
                </a:tc>
                <a:extLst>
                  <a:ext uri="{0D108BD9-81ED-4DB2-BD59-A6C34878D82A}">
                    <a16:rowId xmlns:a16="http://schemas.microsoft.com/office/drawing/2014/main" val="1313608289"/>
                  </a:ext>
                </a:extLst>
              </a:tr>
              <a:tr h="347551">
                <a:tc>
                  <a:txBody>
                    <a:bodyPr/>
                    <a:lstStyle/>
                    <a:p>
                      <a:endParaRPr lang="en-US" dirty="0">
                        <a:highlight>
                          <a:srgbClr val="FFFF00"/>
                        </a:highlight>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75000"/>
                      </a:schemeClr>
                    </a:solidFill>
                  </a:tcPr>
                </a:tc>
                <a:tc>
                  <a:txBody>
                    <a:bodyPr/>
                    <a:lstStyle/>
                    <a:p>
                      <a:endParaRPr 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14018118"/>
                  </a:ext>
                </a:extLst>
              </a:tr>
              <a:tr h="347551">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solidFill>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solidFill>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0489561"/>
                  </a:ext>
                </a:extLst>
              </a:tr>
              <a:tr h="347551">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911616914"/>
                  </a:ext>
                </a:extLst>
              </a:tr>
              <a:tr h="347551">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0000"/>
                    </a:solidFill>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592352057"/>
                  </a:ext>
                </a:extLst>
              </a:tr>
              <a:tr h="347551">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C4608"/>
                    </a:solidFill>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C4608"/>
                    </a:solidFill>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C4608"/>
                    </a:solidFill>
                  </a:tcPr>
                </a:tc>
                <a:extLst>
                  <a:ext uri="{0D108BD9-81ED-4DB2-BD59-A6C34878D82A}">
                    <a16:rowId xmlns:a16="http://schemas.microsoft.com/office/drawing/2014/main" val="2503632687"/>
                  </a:ext>
                </a:extLst>
              </a:tr>
            </a:tbl>
          </a:graphicData>
        </a:graphic>
      </p:graphicFrame>
      <p:grpSp>
        <p:nvGrpSpPr>
          <p:cNvPr id="15" name="Group 14">
            <a:extLst>
              <a:ext uri="{FF2B5EF4-FFF2-40B4-BE49-F238E27FC236}">
                <a16:creationId xmlns:a16="http://schemas.microsoft.com/office/drawing/2014/main" id="{09352CD5-F523-5969-2AAF-533E0F949C68}"/>
              </a:ext>
            </a:extLst>
          </p:cNvPr>
          <p:cNvGrpSpPr/>
          <p:nvPr/>
        </p:nvGrpSpPr>
        <p:grpSpPr>
          <a:xfrm>
            <a:off x="4671976" y="4741916"/>
            <a:ext cx="2633212" cy="1982425"/>
            <a:chOff x="984841" y="4552845"/>
            <a:chExt cx="2633212" cy="1982425"/>
          </a:xfrm>
        </p:grpSpPr>
        <p:grpSp>
          <p:nvGrpSpPr>
            <p:cNvPr id="8" name="Group 7">
              <a:extLst>
                <a:ext uri="{FF2B5EF4-FFF2-40B4-BE49-F238E27FC236}">
                  <a16:creationId xmlns:a16="http://schemas.microsoft.com/office/drawing/2014/main" id="{2FE53145-761A-9F95-65CC-4C58E740612A}"/>
                </a:ext>
              </a:extLst>
            </p:cNvPr>
            <p:cNvGrpSpPr/>
            <p:nvPr/>
          </p:nvGrpSpPr>
          <p:grpSpPr>
            <a:xfrm>
              <a:off x="1028393" y="4552845"/>
              <a:ext cx="2589660" cy="1982425"/>
              <a:chOff x="948880" y="4439983"/>
              <a:chExt cx="2589660" cy="1982425"/>
            </a:xfrm>
          </p:grpSpPr>
          <p:sp>
            <p:nvSpPr>
              <p:cNvPr id="9" name="TextBox 8">
                <a:extLst>
                  <a:ext uri="{FF2B5EF4-FFF2-40B4-BE49-F238E27FC236}">
                    <a16:creationId xmlns:a16="http://schemas.microsoft.com/office/drawing/2014/main" id="{E8185FA2-1BD3-F135-A50E-D1B539D0EFF9}"/>
                  </a:ext>
                </a:extLst>
              </p:cNvPr>
              <p:cNvSpPr txBox="1"/>
              <p:nvPr/>
            </p:nvSpPr>
            <p:spPr>
              <a:xfrm>
                <a:off x="1035983" y="4792969"/>
                <a:ext cx="2502557" cy="307777"/>
              </a:xfrm>
              <a:prstGeom prst="rect">
                <a:avLst/>
              </a:prstGeom>
              <a:noFill/>
            </p:spPr>
            <p:txBody>
              <a:bodyPr wrap="square" rtlCol="0">
                <a:spAutoFit/>
              </a:bodyPr>
              <a:lstStyle/>
              <a:p>
                <a:pPr algn="ctr"/>
                <a:r>
                  <a:rPr lang="en-US" sz="1400" dirty="0"/>
                  <a:t>Selecting Campus ambassadors</a:t>
                </a:r>
              </a:p>
            </p:txBody>
          </p:sp>
          <p:sp>
            <p:nvSpPr>
              <p:cNvPr id="10" name="TextBox 9">
                <a:extLst>
                  <a:ext uri="{FF2B5EF4-FFF2-40B4-BE49-F238E27FC236}">
                    <a16:creationId xmlns:a16="http://schemas.microsoft.com/office/drawing/2014/main" id="{A1C01DB2-D25E-413B-60C9-9DF682351022}"/>
                  </a:ext>
                </a:extLst>
              </p:cNvPr>
              <p:cNvSpPr txBox="1"/>
              <p:nvPr/>
            </p:nvSpPr>
            <p:spPr>
              <a:xfrm>
                <a:off x="1076897" y="4439983"/>
                <a:ext cx="2420731" cy="307777"/>
              </a:xfrm>
              <a:prstGeom prst="rect">
                <a:avLst/>
              </a:prstGeom>
              <a:noFill/>
            </p:spPr>
            <p:txBody>
              <a:bodyPr wrap="square" rtlCol="0">
                <a:spAutoFit/>
              </a:bodyPr>
              <a:lstStyle/>
              <a:p>
                <a:pPr algn="ctr"/>
                <a:r>
                  <a:rPr lang="en-US" sz="1400" dirty="0"/>
                  <a:t>Tier2 and Tier3 college tie ups</a:t>
                </a:r>
              </a:p>
            </p:txBody>
          </p:sp>
          <p:sp>
            <p:nvSpPr>
              <p:cNvPr id="11" name="TextBox 10">
                <a:extLst>
                  <a:ext uri="{FF2B5EF4-FFF2-40B4-BE49-F238E27FC236}">
                    <a16:creationId xmlns:a16="http://schemas.microsoft.com/office/drawing/2014/main" id="{5C79A166-86BD-92AB-2E10-C8E73FFD33D5}"/>
                  </a:ext>
                </a:extLst>
              </p:cNvPr>
              <p:cNvSpPr txBox="1"/>
              <p:nvPr/>
            </p:nvSpPr>
            <p:spPr>
              <a:xfrm>
                <a:off x="1035983" y="5508261"/>
                <a:ext cx="2502557" cy="523220"/>
              </a:xfrm>
              <a:prstGeom prst="rect">
                <a:avLst/>
              </a:prstGeom>
              <a:noFill/>
            </p:spPr>
            <p:txBody>
              <a:bodyPr wrap="square" rtlCol="0">
                <a:spAutoFit/>
              </a:bodyPr>
              <a:lstStyle/>
              <a:p>
                <a:pPr algn="ctr"/>
                <a:r>
                  <a:rPr lang="en-US" sz="1400" dirty="0"/>
                  <a:t>Connecting with top brands for Internships/LP</a:t>
                </a:r>
              </a:p>
            </p:txBody>
          </p:sp>
          <p:sp>
            <p:nvSpPr>
              <p:cNvPr id="12" name="TextBox 11">
                <a:extLst>
                  <a:ext uri="{FF2B5EF4-FFF2-40B4-BE49-F238E27FC236}">
                    <a16:creationId xmlns:a16="http://schemas.microsoft.com/office/drawing/2014/main" id="{35F893A8-BCA8-C16B-4C76-775841E6172F}"/>
                  </a:ext>
                </a:extLst>
              </p:cNvPr>
              <p:cNvSpPr txBox="1"/>
              <p:nvPr/>
            </p:nvSpPr>
            <p:spPr>
              <a:xfrm>
                <a:off x="948880" y="5899188"/>
                <a:ext cx="2589659" cy="523220"/>
              </a:xfrm>
              <a:prstGeom prst="rect">
                <a:avLst/>
              </a:prstGeom>
              <a:noFill/>
            </p:spPr>
            <p:txBody>
              <a:bodyPr wrap="square" rtlCol="0">
                <a:spAutoFit/>
              </a:bodyPr>
              <a:lstStyle/>
              <a:p>
                <a:pPr algn="ctr"/>
                <a:r>
                  <a:rPr lang="en-US" sz="1400" dirty="0"/>
                  <a:t>Connecting with Professionals for sessions</a:t>
                </a:r>
              </a:p>
            </p:txBody>
          </p:sp>
        </p:grpSp>
        <p:sp>
          <p:nvSpPr>
            <p:cNvPr id="14" name="TextBox 13">
              <a:extLst>
                <a:ext uri="{FF2B5EF4-FFF2-40B4-BE49-F238E27FC236}">
                  <a16:creationId xmlns:a16="http://schemas.microsoft.com/office/drawing/2014/main" id="{42F4ED60-E347-FC9C-C309-0A52BECE71A9}"/>
                </a:ext>
              </a:extLst>
            </p:cNvPr>
            <p:cNvSpPr txBox="1"/>
            <p:nvPr/>
          </p:nvSpPr>
          <p:spPr>
            <a:xfrm>
              <a:off x="984841" y="5213608"/>
              <a:ext cx="2633211" cy="523220"/>
            </a:xfrm>
            <a:prstGeom prst="rect">
              <a:avLst/>
            </a:prstGeom>
            <a:noFill/>
          </p:spPr>
          <p:txBody>
            <a:bodyPr wrap="square" rtlCol="0">
              <a:spAutoFit/>
            </a:bodyPr>
            <a:lstStyle/>
            <a:p>
              <a:pPr algn="ctr"/>
              <a:r>
                <a:rPr lang="en-US" sz="1400" dirty="0"/>
                <a:t>Spreading awareness amongst the students</a:t>
              </a:r>
            </a:p>
          </p:txBody>
        </p:sp>
      </p:grpSp>
      <p:sp>
        <p:nvSpPr>
          <p:cNvPr id="16" name="TextBox 15">
            <a:extLst>
              <a:ext uri="{FF2B5EF4-FFF2-40B4-BE49-F238E27FC236}">
                <a16:creationId xmlns:a16="http://schemas.microsoft.com/office/drawing/2014/main" id="{A0C6BE90-E72B-BEF3-9A0D-F751D744B470}"/>
              </a:ext>
            </a:extLst>
          </p:cNvPr>
          <p:cNvSpPr txBox="1"/>
          <p:nvPr/>
        </p:nvSpPr>
        <p:spPr>
          <a:xfrm>
            <a:off x="98487" y="1117240"/>
            <a:ext cx="4089199" cy="5418030"/>
          </a:xfrm>
          <a:prstGeom prst="rect">
            <a:avLst/>
          </a:prstGeom>
          <a:noFill/>
          <a:ln>
            <a:solidFill>
              <a:schemeClr val="tx1"/>
            </a:solidFill>
            <a:prstDash val="dash"/>
          </a:ln>
        </p:spPr>
        <p:txBody>
          <a:bodyPr wrap="square" rtlCol="0">
            <a:spAutoFit/>
          </a:bodyPr>
          <a:lstStyle/>
          <a:p>
            <a:pPr marL="342900" marR="0" lvl="0" indent="-342900" algn="l">
              <a:spcBef>
                <a:spcPts val="0"/>
              </a:spcBef>
              <a:spcAft>
                <a:spcPts val="0"/>
              </a:spcAft>
              <a:buFont typeface="Symbol" panose="05050102010706020507" pitchFamily="18" charset="2"/>
              <a:buChar char=""/>
            </a:pPr>
            <a:r>
              <a:rPr lang="en-US" sz="1600" dirty="0">
                <a:effectLst/>
                <a:latin typeface="Calibri" panose="020F0502020204030204" pitchFamily="34" charset="0"/>
                <a:ea typeface="Calibri" panose="020F0502020204030204" pitchFamily="34" charset="0"/>
                <a:cs typeface="Times New Roman" panose="02020603050405020304" pitchFamily="18" charset="0"/>
              </a:rPr>
              <a:t>Contact and collaborate with multiple </a:t>
            </a:r>
          </a:p>
          <a:p>
            <a:pPr marR="0" lvl="0" algn="l">
              <a:spcBef>
                <a:spcPts val="0"/>
              </a:spcBef>
              <a:spcAft>
                <a:spcPts val="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Tier 2 and Tier 3 colleges</a:t>
            </a:r>
          </a:p>
          <a:p>
            <a:pPr marL="342900" marR="0" lvl="0" indent="-342900" algn="l">
              <a:spcBef>
                <a:spcPts val="0"/>
              </a:spcBef>
              <a:spcAft>
                <a:spcPts val="0"/>
              </a:spcAft>
              <a:buFont typeface="Symbol" panose="05050102010706020507" pitchFamily="18" charset="2"/>
              <a:buChar char=""/>
            </a:pPr>
            <a:r>
              <a:rPr lang="en-US" sz="1600" dirty="0">
                <a:effectLst/>
                <a:latin typeface="Calibri" panose="020F0502020204030204" pitchFamily="34" charset="0"/>
                <a:ea typeface="Calibri" panose="020F0502020204030204" pitchFamily="34" charset="0"/>
                <a:cs typeface="Times New Roman" panose="02020603050405020304" pitchFamily="18" charset="0"/>
              </a:rPr>
              <a:t>Select campus ambassadors from those colleges</a:t>
            </a:r>
          </a:p>
          <a:p>
            <a:pPr marL="342900" marR="0" lvl="0" indent="-342900" algn="l">
              <a:spcBef>
                <a:spcPts val="0"/>
              </a:spcBef>
              <a:spcAft>
                <a:spcPts val="0"/>
              </a:spcAft>
              <a:buFont typeface="Symbol" panose="05050102010706020507" pitchFamily="18" charset="2"/>
              <a:buChar char=""/>
            </a:pPr>
            <a:r>
              <a:rPr lang="en-US" sz="1600" dirty="0">
                <a:effectLst/>
                <a:latin typeface="Calibri" panose="020F0502020204030204" pitchFamily="34" charset="0"/>
                <a:ea typeface="Calibri" panose="020F0502020204030204" pitchFamily="34" charset="0"/>
                <a:cs typeface="Times New Roman" panose="02020603050405020304" pitchFamily="18" charset="0"/>
              </a:rPr>
              <a:t>Provide them directions about the promotion of the app amongst the students </a:t>
            </a:r>
          </a:p>
          <a:p>
            <a:pPr marL="342900" marR="0" lvl="0" indent="-342900" algn="l">
              <a:spcBef>
                <a:spcPts val="0"/>
              </a:spcBef>
              <a:spcAft>
                <a:spcPts val="0"/>
              </a:spcAft>
              <a:buFont typeface="Symbol" panose="05050102010706020507" pitchFamily="18" charset="2"/>
              <a:buChar char=""/>
            </a:pPr>
            <a:r>
              <a:rPr lang="en-US" sz="1600" dirty="0">
                <a:effectLst/>
                <a:latin typeface="Calibri" panose="020F0502020204030204" pitchFamily="34" charset="0"/>
                <a:ea typeface="Calibri" panose="020F0502020204030204" pitchFamily="34" charset="0"/>
                <a:cs typeface="Times New Roman" panose="02020603050405020304" pitchFamily="18" charset="0"/>
              </a:rPr>
              <a:t>Keep them updated regarding the latest offerings and events getting hosted on YUGMA</a:t>
            </a:r>
          </a:p>
          <a:p>
            <a:pPr marL="342900" marR="0" lvl="0" indent="-342900" algn="l">
              <a:spcBef>
                <a:spcPts val="0"/>
              </a:spcBef>
              <a:spcAft>
                <a:spcPts val="0"/>
              </a:spcAft>
              <a:buFont typeface="Symbol" panose="05050102010706020507" pitchFamily="18" charset="2"/>
              <a:buChar char=""/>
            </a:pPr>
            <a:r>
              <a:rPr lang="en-US" sz="1600" dirty="0">
                <a:effectLst/>
                <a:latin typeface="Calibri" panose="020F0502020204030204" pitchFamily="34" charset="0"/>
                <a:ea typeface="Calibri" panose="020F0502020204030204" pitchFamily="34" charset="0"/>
                <a:cs typeface="Times New Roman" panose="02020603050405020304" pitchFamily="18" charset="0"/>
              </a:rPr>
              <a:t>Spread awareness about YUGMA app and its offerings in our colleges</a:t>
            </a:r>
          </a:p>
          <a:p>
            <a:pPr marL="342900" marR="0" lvl="0" indent="-342900" algn="l">
              <a:spcBef>
                <a:spcPts val="0"/>
              </a:spcBef>
              <a:spcAft>
                <a:spcPts val="0"/>
              </a:spcAft>
              <a:buFont typeface="Symbol" panose="05050102010706020507" pitchFamily="18" charset="2"/>
              <a:buChar char=""/>
            </a:pPr>
            <a:r>
              <a:rPr lang="en-US" sz="1600" dirty="0">
                <a:effectLst/>
                <a:latin typeface="Calibri" panose="020F0502020204030204" pitchFamily="34" charset="0"/>
                <a:ea typeface="Calibri" panose="020F0502020204030204" pitchFamily="34" charset="0"/>
                <a:cs typeface="Times New Roman" panose="02020603050405020304" pitchFamily="18" charset="0"/>
              </a:rPr>
              <a:t>Connect with top brands and companies to provide live project /Internship opportunities for students</a:t>
            </a:r>
          </a:p>
          <a:p>
            <a:pPr marL="342900" marR="0" lvl="0" indent="-342900" algn="l">
              <a:spcBef>
                <a:spcPts val="0"/>
              </a:spcBef>
              <a:spcAft>
                <a:spcPts val="0"/>
              </a:spcAft>
              <a:buFont typeface="Symbol" panose="05050102010706020507" pitchFamily="18" charset="2"/>
              <a:buChar char=""/>
            </a:pPr>
            <a:r>
              <a:rPr lang="en-US" sz="1600" dirty="0">
                <a:effectLst/>
                <a:latin typeface="Calibri" panose="020F0502020204030204" pitchFamily="34" charset="0"/>
                <a:ea typeface="Calibri" panose="020F0502020204030204" pitchFamily="34" charset="0"/>
                <a:cs typeface="Times New Roman" panose="02020603050405020304" pitchFamily="18" charset="0"/>
              </a:rPr>
              <a:t>Connect with top leaders from various domains to provide sessions to students on latest trends in the market</a:t>
            </a:r>
          </a:p>
          <a:p>
            <a:pPr marL="342900" marR="0" lvl="0" indent="-342900" algn="l">
              <a:spcBef>
                <a:spcPts val="0"/>
              </a:spcBef>
              <a:spcAft>
                <a:spcPts val="0"/>
              </a:spcAft>
              <a:buFont typeface="Symbol" panose="05050102010706020507" pitchFamily="18" charset="2"/>
              <a:buChar char=""/>
            </a:pPr>
            <a:r>
              <a:rPr lang="en-US" sz="1600" dirty="0">
                <a:effectLst/>
                <a:latin typeface="Calibri" panose="020F0502020204030204" pitchFamily="34" charset="0"/>
                <a:ea typeface="Calibri" panose="020F0502020204030204" pitchFamily="34" charset="0"/>
                <a:cs typeface="Times New Roman" panose="02020603050405020304" pitchFamily="18" charset="0"/>
              </a:rPr>
              <a:t>Connect with professionals to provide students with mentorship and placemen t prep sessions</a:t>
            </a:r>
          </a:p>
        </p:txBody>
      </p:sp>
      <p:sp>
        <p:nvSpPr>
          <p:cNvPr id="18" name="Rectangle: Rounded Corners 17">
            <a:extLst>
              <a:ext uri="{FF2B5EF4-FFF2-40B4-BE49-F238E27FC236}">
                <a16:creationId xmlns:a16="http://schemas.microsoft.com/office/drawing/2014/main" id="{21238044-29A9-1A98-BE0B-44C979CBF72F}"/>
              </a:ext>
            </a:extLst>
          </p:cNvPr>
          <p:cNvSpPr/>
          <p:nvPr/>
        </p:nvSpPr>
        <p:spPr>
          <a:xfrm>
            <a:off x="215153" y="967376"/>
            <a:ext cx="1630239" cy="242047"/>
          </a:xfrm>
          <a:prstGeom prst="roundRect">
            <a:avLst/>
          </a:prstGeom>
          <a:solidFill>
            <a:srgbClr val="DF19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effectLst/>
                <a:latin typeface="Calibri" panose="020F0502020204030204" pitchFamily="34" charset="0"/>
                <a:ea typeface="Calibri" panose="020F0502020204030204" pitchFamily="34" charset="0"/>
                <a:cs typeface="Times New Roman" panose="02020603050405020304" pitchFamily="18" charset="0"/>
              </a:rPr>
              <a:t>Implementation</a:t>
            </a:r>
            <a:endParaRPr lang="en-US" sz="1600" dirty="0"/>
          </a:p>
        </p:txBody>
      </p:sp>
      <p:sp>
        <p:nvSpPr>
          <p:cNvPr id="19" name="TextBox 18">
            <a:extLst>
              <a:ext uri="{FF2B5EF4-FFF2-40B4-BE49-F238E27FC236}">
                <a16:creationId xmlns:a16="http://schemas.microsoft.com/office/drawing/2014/main" id="{CD81916D-16E3-525A-89CB-E99556FC3883}"/>
              </a:ext>
            </a:extLst>
          </p:cNvPr>
          <p:cNvSpPr txBox="1"/>
          <p:nvPr/>
        </p:nvSpPr>
        <p:spPr>
          <a:xfrm>
            <a:off x="4518395" y="1101575"/>
            <a:ext cx="7553108" cy="3293209"/>
          </a:xfrm>
          <a:prstGeom prst="rect">
            <a:avLst/>
          </a:prstGeom>
          <a:noFill/>
          <a:ln>
            <a:solidFill>
              <a:schemeClr val="tx1"/>
            </a:solidFill>
            <a:prstDash val="dash"/>
          </a:ln>
        </p:spPr>
        <p:txBody>
          <a:bodyPr wrap="square" rtlCol="0">
            <a:spAutoFit/>
          </a:bodyPr>
          <a:lstStyle/>
          <a:p>
            <a:pPr marL="0" marR="0" algn="ctr">
              <a:spcBef>
                <a:spcPts val="0"/>
              </a:spcBef>
              <a:spcAft>
                <a:spcPts val="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We’ll follow the </a:t>
            </a:r>
            <a:r>
              <a:rPr lang="en-US" sz="1600" b="1" dirty="0">
                <a:effectLst/>
                <a:latin typeface="Calibri" panose="020F0502020204030204" pitchFamily="34" charset="0"/>
                <a:ea typeface="Calibri" panose="020F0502020204030204" pitchFamily="34" charset="0"/>
                <a:cs typeface="Times New Roman" panose="02020603050405020304" pitchFamily="18" charset="0"/>
              </a:rPr>
              <a:t>STAR</a:t>
            </a:r>
            <a:r>
              <a:rPr lang="en-US" sz="1600" dirty="0">
                <a:effectLst/>
                <a:latin typeface="Calibri" panose="020F0502020204030204" pitchFamily="34" charset="0"/>
                <a:ea typeface="Calibri" panose="020F0502020204030204" pitchFamily="34" charset="0"/>
                <a:cs typeface="Times New Roman" panose="02020603050405020304" pitchFamily="18" charset="0"/>
              </a:rPr>
              <a:t> approach</a:t>
            </a:r>
          </a:p>
          <a:p>
            <a:pPr marL="342900" marR="0" lvl="0" indent="-342900" algn="l">
              <a:spcBef>
                <a:spcPts val="0"/>
              </a:spcBef>
              <a:spcAft>
                <a:spcPts val="0"/>
              </a:spcAft>
              <a:buFont typeface="Symbol" panose="05050102010706020507" pitchFamily="18" charset="2"/>
              <a:buChar char=""/>
            </a:pPr>
            <a:r>
              <a:rPr lang="en-US" sz="1600" b="1" dirty="0">
                <a:effectLst/>
                <a:latin typeface="Calibri" panose="020F0502020204030204" pitchFamily="34" charset="0"/>
                <a:ea typeface="Calibri" panose="020F0502020204030204" pitchFamily="34" charset="0"/>
                <a:cs typeface="Times New Roman" panose="02020603050405020304" pitchFamily="18" charset="0"/>
              </a:rPr>
              <a:t>Situation</a:t>
            </a:r>
            <a:r>
              <a:rPr lang="en-US" sz="1600" dirty="0">
                <a:effectLst/>
                <a:latin typeface="Calibri" panose="020F0502020204030204" pitchFamily="34" charset="0"/>
                <a:ea typeface="Calibri" panose="020F0502020204030204" pitchFamily="34" charset="0"/>
                <a:cs typeface="Times New Roman" panose="02020603050405020304" pitchFamily="18" charset="0"/>
              </a:rPr>
              <a:t> : With the help of this case we have  gotten an idea about the situation at YUGMA in terms of the issues which it is facing</a:t>
            </a:r>
          </a:p>
          <a:p>
            <a:pPr marL="342900" marR="0" lvl="0" indent="-342900" algn="l">
              <a:spcBef>
                <a:spcPts val="0"/>
              </a:spcBef>
              <a:spcAft>
                <a:spcPts val="0"/>
              </a:spcAft>
              <a:buFont typeface="Symbol" panose="05050102010706020507" pitchFamily="18" charset="2"/>
              <a:buChar char=""/>
            </a:pPr>
            <a:r>
              <a:rPr lang="en-US" sz="1600" b="1" dirty="0">
                <a:effectLst/>
                <a:latin typeface="Calibri" panose="020F0502020204030204" pitchFamily="34" charset="0"/>
                <a:ea typeface="Calibri" panose="020F0502020204030204" pitchFamily="34" charset="0"/>
                <a:cs typeface="Times New Roman" panose="02020603050405020304" pitchFamily="18" charset="0"/>
              </a:rPr>
              <a:t>Task</a:t>
            </a:r>
            <a:r>
              <a:rPr lang="en-US" sz="1600" dirty="0">
                <a:effectLst/>
                <a:latin typeface="Calibri" panose="020F0502020204030204" pitchFamily="34" charset="0"/>
                <a:ea typeface="Calibri" panose="020F0502020204030204" pitchFamily="34" charset="0"/>
                <a:cs typeface="Times New Roman" panose="02020603050405020304" pitchFamily="18" charset="0"/>
              </a:rPr>
              <a:t> :  We are fast learners  and can work efficiently to make thinks work for YUGMA. To cater to those issues, we ha come up with multiple strategies to increase an overall userbase of YUGMA app. </a:t>
            </a:r>
          </a:p>
          <a:p>
            <a:pPr marL="342900" marR="0" lvl="0" indent="-342900" algn="l">
              <a:spcBef>
                <a:spcPts val="0"/>
              </a:spcBef>
              <a:spcAft>
                <a:spcPts val="0"/>
              </a:spcAft>
              <a:buFont typeface="Symbol" panose="05050102010706020507" pitchFamily="18" charset="2"/>
              <a:buChar char=""/>
            </a:pPr>
            <a:r>
              <a:rPr lang="en-US" sz="1600" b="1" dirty="0">
                <a:effectLst/>
                <a:latin typeface="Calibri" panose="020F0502020204030204" pitchFamily="34" charset="0"/>
                <a:ea typeface="Calibri" panose="020F0502020204030204" pitchFamily="34" charset="0"/>
                <a:cs typeface="Times New Roman" panose="02020603050405020304" pitchFamily="18" charset="0"/>
              </a:rPr>
              <a:t>Action</a:t>
            </a:r>
            <a:r>
              <a:rPr lang="en-US" sz="1600" dirty="0">
                <a:effectLst/>
                <a:latin typeface="Calibri" panose="020F0502020204030204" pitchFamily="34" charset="0"/>
                <a:ea typeface="Calibri" panose="020F0502020204030204" pitchFamily="34" charset="0"/>
                <a:cs typeface="Times New Roman" panose="02020603050405020304" pitchFamily="18" charset="0"/>
              </a:rPr>
              <a:t> :  With our unique vision and our innovative and creative approach, we can implement these strategies successfully. Also as YUGMA operates in a very competitive market, we believe our skills and knowledge will help in finding ways to beat the competition.</a:t>
            </a:r>
          </a:p>
          <a:p>
            <a:pPr marL="342900" marR="0" lvl="0" indent="-342900" algn="l">
              <a:spcBef>
                <a:spcPts val="0"/>
              </a:spcBef>
              <a:spcAft>
                <a:spcPts val="0"/>
              </a:spcAft>
              <a:buFont typeface="Symbol" panose="05050102010706020507" pitchFamily="18" charset="2"/>
              <a:buChar char=""/>
            </a:pPr>
            <a:r>
              <a:rPr lang="en-US" sz="1600" b="1" dirty="0">
                <a:effectLst/>
                <a:latin typeface="Calibri" panose="020F0502020204030204" pitchFamily="34" charset="0"/>
                <a:ea typeface="Calibri" panose="020F0502020204030204" pitchFamily="34" charset="0"/>
                <a:cs typeface="Times New Roman" panose="02020603050405020304" pitchFamily="18" charset="0"/>
              </a:rPr>
              <a:t>Result</a:t>
            </a:r>
            <a:r>
              <a:rPr lang="en-US" sz="1600" dirty="0">
                <a:effectLst/>
                <a:latin typeface="Calibri" panose="020F0502020204030204" pitchFamily="34" charset="0"/>
                <a:ea typeface="Calibri" panose="020F0502020204030204" pitchFamily="34" charset="0"/>
                <a:cs typeface="Times New Roman" panose="02020603050405020304" pitchFamily="18" charset="0"/>
              </a:rPr>
              <a:t> : This overall approach will in turn help in increasing the userbase of YUGMA, along with this It’ll help in increasing the profits and revenue of YUGMA</a:t>
            </a:r>
          </a:p>
          <a:p>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1" name="Rectangle: Rounded Corners 20">
            <a:extLst>
              <a:ext uri="{FF2B5EF4-FFF2-40B4-BE49-F238E27FC236}">
                <a16:creationId xmlns:a16="http://schemas.microsoft.com/office/drawing/2014/main" id="{EAE5455D-8BAF-8933-42DE-772C4F5E4D13}"/>
              </a:ext>
            </a:extLst>
          </p:cNvPr>
          <p:cNvSpPr/>
          <p:nvPr/>
        </p:nvSpPr>
        <p:spPr>
          <a:xfrm>
            <a:off x="4633829" y="988652"/>
            <a:ext cx="1630239" cy="242047"/>
          </a:xfrm>
          <a:prstGeom prst="roundRect">
            <a:avLst/>
          </a:prstGeom>
          <a:solidFill>
            <a:srgbClr val="DF19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effectLst/>
                <a:latin typeface="Calibri" panose="020F0502020204030204" pitchFamily="34" charset="0"/>
                <a:ea typeface="Calibri" panose="020F0502020204030204" pitchFamily="34" charset="0"/>
                <a:cs typeface="Times New Roman" panose="02020603050405020304" pitchFamily="18" charset="0"/>
              </a:rPr>
              <a:t>Our Contribution</a:t>
            </a:r>
            <a:endParaRPr lang="en-US" sz="1600" dirty="0"/>
          </a:p>
        </p:txBody>
      </p:sp>
      <p:grpSp>
        <p:nvGrpSpPr>
          <p:cNvPr id="24" name="Group 23">
            <a:extLst>
              <a:ext uri="{FF2B5EF4-FFF2-40B4-BE49-F238E27FC236}">
                <a16:creationId xmlns:a16="http://schemas.microsoft.com/office/drawing/2014/main" id="{6B88C558-C34E-08FF-6F6C-BC538F2A1B3E}"/>
              </a:ext>
            </a:extLst>
          </p:cNvPr>
          <p:cNvGrpSpPr/>
          <p:nvPr/>
        </p:nvGrpSpPr>
        <p:grpSpPr>
          <a:xfrm>
            <a:off x="4446841" y="4612470"/>
            <a:ext cx="293294" cy="1992027"/>
            <a:chOff x="4471446" y="4543243"/>
            <a:chExt cx="293294" cy="1992027"/>
          </a:xfrm>
        </p:grpSpPr>
        <p:sp>
          <p:nvSpPr>
            <p:cNvPr id="22" name="Rectangle: Rounded Corners 21">
              <a:extLst>
                <a:ext uri="{FF2B5EF4-FFF2-40B4-BE49-F238E27FC236}">
                  <a16:creationId xmlns:a16="http://schemas.microsoft.com/office/drawing/2014/main" id="{F2E36AC1-0605-A514-0E76-C2431977275A}"/>
                </a:ext>
              </a:extLst>
            </p:cNvPr>
            <p:cNvSpPr/>
            <p:nvPr/>
          </p:nvSpPr>
          <p:spPr>
            <a:xfrm rot="5400000">
              <a:off x="3622079" y="5392610"/>
              <a:ext cx="1992027" cy="293294"/>
            </a:xfrm>
            <a:prstGeom prst="roundRect">
              <a:avLst/>
            </a:prstGeom>
            <a:solidFill>
              <a:srgbClr val="DF19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3" name="TextBox 22">
              <a:extLst>
                <a:ext uri="{FF2B5EF4-FFF2-40B4-BE49-F238E27FC236}">
                  <a16:creationId xmlns:a16="http://schemas.microsoft.com/office/drawing/2014/main" id="{D748C2A4-D032-9CC8-1480-6DE80D7DEC31}"/>
                </a:ext>
              </a:extLst>
            </p:cNvPr>
            <p:cNvSpPr txBox="1"/>
            <p:nvPr/>
          </p:nvSpPr>
          <p:spPr>
            <a:xfrm>
              <a:off x="4484927" y="4603046"/>
              <a:ext cx="279813" cy="1815882"/>
            </a:xfrm>
            <a:prstGeom prst="rect">
              <a:avLst/>
            </a:prstGeom>
            <a:noFill/>
          </p:spPr>
          <p:txBody>
            <a:bodyPr wrap="square" rtlCol="0">
              <a:spAutoFit/>
            </a:bodyPr>
            <a:lstStyle/>
            <a:p>
              <a:pPr algn="ctr"/>
              <a:r>
                <a:rPr lang="en-US" sz="1600" dirty="0">
                  <a:solidFill>
                    <a:schemeClr val="bg1"/>
                  </a:solidFill>
                </a:rPr>
                <a:t>P</a:t>
              </a:r>
            </a:p>
            <a:p>
              <a:pPr algn="ctr"/>
              <a:endParaRPr lang="en-US" sz="1600" dirty="0">
                <a:solidFill>
                  <a:schemeClr val="bg1"/>
                </a:solidFill>
              </a:endParaRPr>
            </a:p>
            <a:p>
              <a:pPr algn="ctr"/>
              <a:r>
                <a:rPr lang="en-US" sz="1600" dirty="0">
                  <a:solidFill>
                    <a:schemeClr val="bg1"/>
                  </a:solidFill>
                </a:rPr>
                <a:t>L</a:t>
              </a:r>
            </a:p>
            <a:p>
              <a:pPr algn="ctr"/>
              <a:endParaRPr lang="en-US" sz="1600" dirty="0">
                <a:solidFill>
                  <a:schemeClr val="bg1"/>
                </a:solidFill>
              </a:endParaRPr>
            </a:p>
            <a:p>
              <a:pPr algn="ctr"/>
              <a:r>
                <a:rPr lang="en-US" sz="1600" dirty="0">
                  <a:solidFill>
                    <a:schemeClr val="bg1"/>
                  </a:solidFill>
                </a:rPr>
                <a:t>A</a:t>
              </a:r>
            </a:p>
            <a:p>
              <a:pPr algn="ctr"/>
              <a:endParaRPr lang="en-US" sz="1600" dirty="0">
                <a:solidFill>
                  <a:schemeClr val="bg1"/>
                </a:solidFill>
              </a:endParaRPr>
            </a:p>
            <a:p>
              <a:pPr algn="ctr"/>
              <a:r>
                <a:rPr lang="en-US" sz="1600" dirty="0">
                  <a:solidFill>
                    <a:schemeClr val="bg1"/>
                  </a:solidFill>
                </a:rPr>
                <a:t>N</a:t>
              </a:r>
            </a:p>
          </p:txBody>
        </p:sp>
      </p:grpSp>
      <p:pic>
        <p:nvPicPr>
          <p:cNvPr id="1026" name="Picture 2" descr="Testing ">
            <a:extLst>
              <a:ext uri="{FF2B5EF4-FFF2-40B4-BE49-F238E27FC236}">
                <a16:creationId xmlns:a16="http://schemas.microsoft.com/office/drawing/2014/main" id="{0C35ADC7-A14C-8058-D345-DA688C5D538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04477" y="985200"/>
            <a:ext cx="470055" cy="47005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144D0F6E-13A3-E4EF-8C3A-581B188F98C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84329" y="960135"/>
            <a:ext cx="495120" cy="495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920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a:t>Fun @ Work</a:t>
            </a:r>
          </a:p>
        </p:txBody>
      </p:sp>
      <p:sp>
        <p:nvSpPr>
          <p:cNvPr id="4" name="Slide Number Placeholder 3"/>
          <p:cNvSpPr>
            <a:spLocks noGrp="1"/>
          </p:cNvSpPr>
          <p:nvPr>
            <p:ph type="sldNum" sz="quarter" idx="4"/>
          </p:nvPr>
        </p:nvSpPr>
        <p:spPr/>
        <p:txBody>
          <a:bodyPr/>
          <a:lstStyle/>
          <a:p>
            <a:fld id="{2D2D9D99-8454-442A-B0DD-EF173ADD60D6}" type="slidenum">
              <a:rPr lang="en-IN" smtClean="0"/>
              <a:pPr/>
              <a:t>12</a:t>
            </a:fld>
            <a:endParaRPr lang="en-IN"/>
          </a:p>
        </p:txBody>
      </p:sp>
      <p:sp>
        <p:nvSpPr>
          <p:cNvPr id="5" name="Content Placeholder 1">
            <a:extLst>
              <a:ext uri="{FF2B5EF4-FFF2-40B4-BE49-F238E27FC236}">
                <a16:creationId xmlns:a16="http://schemas.microsoft.com/office/drawing/2014/main" id="{82332769-6EA9-4CBD-8763-26A2DA0F85B2}"/>
              </a:ext>
            </a:extLst>
          </p:cNvPr>
          <p:cNvSpPr>
            <a:spLocks noGrp="1"/>
          </p:cNvSpPr>
          <p:nvPr>
            <p:ph idx="1"/>
          </p:nvPr>
        </p:nvSpPr>
        <p:spPr>
          <a:xfrm>
            <a:off x="201145" y="1211318"/>
            <a:ext cx="11698941" cy="5378823"/>
          </a:xfrm>
        </p:spPr>
        <p:txBody>
          <a:bodyPr/>
          <a:lstStyle/>
          <a:p>
            <a:pPr marL="0" indent="0" algn="ctr">
              <a:buNone/>
            </a:pPr>
            <a:r>
              <a:rPr lang="en-US" dirty="0">
                <a:solidFill>
                  <a:srgbClr val="02518E"/>
                </a:solidFill>
              </a:rPr>
              <a:t>We would request you to attach a Photograph of your team at your working place</a:t>
            </a:r>
          </a:p>
          <a:p>
            <a:pPr marL="0" indent="0" algn="ctr">
              <a:buNone/>
            </a:pPr>
            <a:r>
              <a:rPr lang="en-US" dirty="0">
                <a:solidFill>
                  <a:srgbClr val="02518E"/>
                </a:solidFill>
              </a:rPr>
              <a:t>(Working place - Work from home or college)</a:t>
            </a:r>
          </a:p>
        </p:txBody>
      </p:sp>
      <p:pic>
        <p:nvPicPr>
          <p:cNvPr id="6" name="Picture 5" descr="A person wearing glasses and a suit&#10;&#10;Description automatically generated with medium confidence">
            <a:extLst>
              <a:ext uri="{FF2B5EF4-FFF2-40B4-BE49-F238E27FC236}">
                <a16:creationId xmlns:a16="http://schemas.microsoft.com/office/drawing/2014/main" id="{F9A03997-BF4C-8D0C-3406-BC5438BC9E7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73887" y="2193525"/>
            <a:ext cx="2571750" cy="3429000"/>
          </a:xfrm>
          <a:prstGeom prst="rect">
            <a:avLst/>
          </a:prstGeom>
        </p:spPr>
      </p:pic>
      <p:sp>
        <p:nvSpPr>
          <p:cNvPr id="9" name="TextBox 8">
            <a:extLst>
              <a:ext uri="{FF2B5EF4-FFF2-40B4-BE49-F238E27FC236}">
                <a16:creationId xmlns:a16="http://schemas.microsoft.com/office/drawing/2014/main" id="{6A5C5D09-EDF0-7150-A160-68298B3497DE}"/>
              </a:ext>
            </a:extLst>
          </p:cNvPr>
          <p:cNvSpPr txBox="1"/>
          <p:nvPr/>
        </p:nvSpPr>
        <p:spPr>
          <a:xfrm>
            <a:off x="5514676" y="5894231"/>
            <a:ext cx="1645780" cy="369332"/>
          </a:xfrm>
          <a:prstGeom prst="rect">
            <a:avLst/>
          </a:prstGeom>
          <a:noFill/>
        </p:spPr>
        <p:txBody>
          <a:bodyPr wrap="square" rtlCol="0">
            <a:spAutoFit/>
          </a:bodyPr>
          <a:lstStyle/>
          <a:p>
            <a:r>
              <a:rPr lang="en-US" b="1" dirty="0"/>
              <a:t>TEAM SORTED</a:t>
            </a:r>
          </a:p>
        </p:txBody>
      </p:sp>
      <p:pic>
        <p:nvPicPr>
          <p:cNvPr id="11" name="Picture 10">
            <a:extLst>
              <a:ext uri="{FF2B5EF4-FFF2-40B4-BE49-F238E27FC236}">
                <a16:creationId xmlns:a16="http://schemas.microsoft.com/office/drawing/2014/main" id="{3FA0A372-D9F0-24F8-CDBD-D6C527220F5F}"/>
              </a:ext>
            </a:extLst>
          </p:cNvPr>
          <p:cNvPicPr>
            <a:picLocks noChangeAspect="1"/>
          </p:cNvPicPr>
          <p:nvPr/>
        </p:nvPicPr>
        <p:blipFill>
          <a:blip r:embed="rId3"/>
          <a:stretch>
            <a:fillRect/>
          </a:stretch>
        </p:blipFill>
        <p:spPr>
          <a:xfrm>
            <a:off x="3594367" y="2186229"/>
            <a:ext cx="2743200" cy="3429000"/>
          </a:xfrm>
          <a:prstGeom prst="rect">
            <a:avLst/>
          </a:prstGeom>
        </p:spPr>
      </p:pic>
    </p:spTree>
    <p:extLst>
      <p:ext uri="{BB962C8B-B14F-4D97-AF65-F5344CB8AC3E}">
        <p14:creationId xmlns:p14="http://schemas.microsoft.com/office/powerpoint/2010/main" val="18658352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5761</TotalTime>
  <Words>2311</Words>
  <Application>Microsoft Office PowerPoint</Application>
  <PresentationFormat>Widescreen</PresentationFormat>
  <Paragraphs>355</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Symbol</vt:lpstr>
      <vt:lpstr>Office Theme</vt:lpstr>
      <vt:lpstr>YUGMA App GTM STRATEGY : ROUND 2</vt:lpstr>
      <vt:lpstr>Understanding of the case</vt:lpstr>
      <vt:lpstr>Essential components of an app for MBA students</vt:lpstr>
      <vt:lpstr>Compelling factors to download the app</vt:lpstr>
      <vt:lpstr>Compelling factors to download the app</vt:lpstr>
      <vt:lpstr>Competition Analysis </vt:lpstr>
      <vt:lpstr>Business Model </vt:lpstr>
      <vt:lpstr>Business Model (Continued) </vt:lpstr>
      <vt:lpstr>Go to Market Plan </vt:lpstr>
      <vt:lpstr>Go to Market Plan (Continued) </vt:lpstr>
      <vt:lpstr>Why You?</vt:lpstr>
      <vt:lpstr>Fun @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Mohit Kiradoo</cp:lastModifiedBy>
  <cp:revision>48</cp:revision>
  <dcterms:created xsi:type="dcterms:W3CDTF">2021-09-22T05:49:13Z</dcterms:created>
  <dcterms:modified xsi:type="dcterms:W3CDTF">2022-09-03T10:19:36Z</dcterms:modified>
</cp:coreProperties>
</file>