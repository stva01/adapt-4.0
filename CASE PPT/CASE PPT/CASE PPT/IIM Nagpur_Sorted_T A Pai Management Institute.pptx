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268" r:id="rId3"/>
    <p:sldId id="258" r:id="rId4"/>
    <p:sldId id="267" r:id="rId5"/>
    <p:sldId id="2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vesh Sinha" initials="DS" lastIdx="1" clrIdx="0">
    <p:extLst>
      <p:ext uri="{19B8F6BF-5375-455C-9EA6-DF929625EA0E}">
        <p15:presenceInfo xmlns:p15="http://schemas.microsoft.com/office/powerpoint/2012/main" userId="Devesh Sinh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91" autoAdjust="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83CA65-583B-4098-869D-8DBBF17C292A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6BBF33-287F-4A9B-9944-CACA446CC9EB}">
      <dgm:prSet phldrT="[Text]" custT="1"/>
      <dgm:spPr/>
      <dgm:t>
        <a:bodyPr/>
        <a:lstStyle/>
        <a:p>
          <a:r>
            <a:rPr lang="en-US" sz="1200" b="1" dirty="0"/>
            <a:t>Channels</a:t>
          </a:r>
        </a:p>
      </dgm:t>
    </dgm:pt>
    <dgm:pt modelId="{75265800-88FF-4413-9CBE-C09572E36AB5}" type="parTrans" cxnId="{7064964D-7CB5-492B-8F2D-94F51D6B2D07}">
      <dgm:prSet/>
      <dgm:spPr/>
      <dgm:t>
        <a:bodyPr/>
        <a:lstStyle/>
        <a:p>
          <a:endParaRPr lang="en-US" sz="1200"/>
        </a:p>
      </dgm:t>
    </dgm:pt>
    <dgm:pt modelId="{76600496-2528-45ED-BD49-D29F244C9650}" type="sibTrans" cxnId="{7064964D-7CB5-492B-8F2D-94F51D6B2D07}">
      <dgm:prSet/>
      <dgm:spPr/>
      <dgm:t>
        <a:bodyPr/>
        <a:lstStyle/>
        <a:p>
          <a:endParaRPr lang="en-US" sz="1200"/>
        </a:p>
      </dgm:t>
    </dgm:pt>
    <dgm:pt modelId="{8AF96FE6-7972-4DDD-921B-7BBD29F95876}">
      <dgm:prSet phldrT="[Text]" custT="1"/>
      <dgm:spPr/>
      <dgm:t>
        <a:bodyPr/>
        <a:lstStyle/>
        <a:p>
          <a:r>
            <a:rPr lang="en-US" sz="1200" dirty="0"/>
            <a:t>Emails</a:t>
          </a:r>
        </a:p>
      </dgm:t>
    </dgm:pt>
    <dgm:pt modelId="{A3FD181E-7195-4F5B-9AE8-C0B325B0FC20}" type="parTrans" cxnId="{FB395EEA-5A17-4EED-94B7-549C7D3EF576}">
      <dgm:prSet custT="1"/>
      <dgm:spPr/>
      <dgm:t>
        <a:bodyPr/>
        <a:lstStyle/>
        <a:p>
          <a:endParaRPr lang="en-US" sz="1200"/>
        </a:p>
      </dgm:t>
    </dgm:pt>
    <dgm:pt modelId="{B75E2A5D-D887-490C-A96F-0BCD1A10E6DE}" type="sibTrans" cxnId="{FB395EEA-5A17-4EED-94B7-549C7D3EF576}">
      <dgm:prSet/>
      <dgm:spPr/>
      <dgm:t>
        <a:bodyPr/>
        <a:lstStyle/>
        <a:p>
          <a:endParaRPr lang="en-US" sz="1200"/>
        </a:p>
      </dgm:t>
    </dgm:pt>
    <dgm:pt modelId="{04E82317-F62A-442F-B318-69D6BF277E29}">
      <dgm:prSet custT="1"/>
      <dgm:spPr/>
      <dgm:t>
        <a:bodyPr/>
        <a:lstStyle/>
        <a:p>
          <a:r>
            <a:rPr lang="en-US" sz="1200" dirty="0"/>
            <a:t>Host simulation games for competition</a:t>
          </a:r>
        </a:p>
      </dgm:t>
    </dgm:pt>
    <dgm:pt modelId="{7C957451-CCA8-433F-B650-1B8D2A4018F1}" type="parTrans" cxnId="{66CB52E3-4F44-40A9-B3B2-5B91B2A8FD1E}">
      <dgm:prSet custT="1"/>
      <dgm:spPr/>
      <dgm:t>
        <a:bodyPr/>
        <a:lstStyle/>
        <a:p>
          <a:endParaRPr lang="en-US" sz="1200"/>
        </a:p>
      </dgm:t>
    </dgm:pt>
    <dgm:pt modelId="{B381D290-54EA-4F7C-B9E0-2CEC02B25567}" type="sibTrans" cxnId="{66CB52E3-4F44-40A9-B3B2-5B91B2A8FD1E}">
      <dgm:prSet/>
      <dgm:spPr/>
      <dgm:t>
        <a:bodyPr/>
        <a:lstStyle/>
        <a:p>
          <a:endParaRPr lang="en-US" sz="1200"/>
        </a:p>
      </dgm:t>
    </dgm:pt>
    <dgm:pt modelId="{42C34BAA-9DB3-4A2C-8152-00B0D16C3339}">
      <dgm:prSet custT="1"/>
      <dgm:spPr/>
      <dgm:t>
        <a:bodyPr/>
        <a:lstStyle/>
        <a:p>
          <a:r>
            <a:rPr lang="en-US" sz="1200" dirty="0"/>
            <a:t>Social Media </a:t>
          </a:r>
        </a:p>
      </dgm:t>
    </dgm:pt>
    <dgm:pt modelId="{A51068CA-9E1A-48BC-97A8-B930E87DB02F}" type="parTrans" cxnId="{1B3D0E3A-B449-45AC-8584-5BFEA0FFE950}">
      <dgm:prSet custT="1"/>
      <dgm:spPr/>
      <dgm:t>
        <a:bodyPr/>
        <a:lstStyle/>
        <a:p>
          <a:endParaRPr lang="en-US" sz="1200"/>
        </a:p>
      </dgm:t>
    </dgm:pt>
    <dgm:pt modelId="{6F67EF18-BB10-44BB-99A5-8B98F4741E6D}" type="sibTrans" cxnId="{1B3D0E3A-B449-45AC-8584-5BFEA0FFE950}">
      <dgm:prSet/>
      <dgm:spPr/>
      <dgm:t>
        <a:bodyPr/>
        <a:lstStyle/>
        <a:p>
          <a:endParaRPr lang="en-US" sz="1200"/>
        </a:p>
      </dgm:t>
    </dgm:pt>
    <dgm:pt modelId="{9EAB6D88-EB21-4B82-BE13-7F2446EB6B82}">
      <dgm:prSet custT="1"/>
      <dgm:spPr/>
      <dgm:t>
        <a:bodyPr/>
        <a:lstStyle/>
        <a:p>
          <a:r>
            <a:rPr lang="en-US" sz="1200"/>
            <a:t>Customized college pages on D2C website</a:t>
          </a:r>
          <a:endParaRPr lang="en-US" sz="1200" dirty="0"/>
        </a:p>
      </dgm:t>
    </dgm:pt>
    <dgm:pt modelId="{C2528E0D-6FA2-44A1-849C-54AC500AEBB4}" type="parTrans" cxnId="{4DA2B6B5-02AE-4CD8-953A-152110FC4D64}">
      <dgm:prSet custT="1"/>
      <dgm:spPr/>
      <dgm:t>
        <a:bodyPr/>
        <a:lstStyle/>
        <a:p>
          <a:endParaRPr lang="en-US" sz="1200"/>
        </a:p>
      </dgm:t>
    </dgm:pt>
    <dgm:pt modelId="{5D8D3A1D-FF38-4653-8A90-BD928171F8E9}" type="sibTrans" cxnId="{4DA2B6B5-02AE-4CD8-953A-152110FC4D64}">
      <dgm:prSet/>
      <dgm:spPr/>
      <dgm:t>
        <a:bodyPr/>
        <a:lstStyle/>
        <a:p>
          <a:endParaRPr lang="en-US" sz="1200"/>
        </a:p>
      </dgm:t>
    </dgm:pt>
    <dgm:pt modelId="{DACE446F-EF78-47D3-B529-8A3BE515318A}" type="pres">
      <dgm:prSet presAssocID="{D883CA65-583B-4098-869D-8DBBF17C292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CB3BC20-B29A-4A85-9F60-067DB160F910}" type="pres">
      <dgm:prSet presAssocID="{2C6BBF33-287F-4A9B-9944-CACA446CC9EB}" presName="root1" presStyleCnt="0"/>
      <dgm:spPr/>
    </dgm:pt>
    <dgm:pt modelId="{9BD77450-930C-4626-962B-5BF0BD9FF649}" type="pres">
      <dgm:prSet presAssocID="{2C6BBF33-287F-4A9B-9944-CACA446CC9EB}" presName="LevelOneTextNode" presStyleLbl="node0" presStyleIdx="0" presStyleCnt="1">
        <dgm:presLayoutVars>
          <dgm:chPref val="3"/>
        </dgm:presLayoutVars>
      </dgm:prSet>
      <dgm:spPr/>
    </dgm:pt>
    <dgm:pt modelId="{CAB630F1-3058-4B76-9B92-E8F7C6797075}" type="pres">
      <dgm:prSet presAssocID="{2C6BBF33-287F-4A9B-9944-CACA446CC9EB}" presName="level2hierChild" presStyleCnt="0"/>
      <dgm:spPr/>
    </dgm:pt>
    <dgm:pt modelId="{901CBFFD-3372-42AF-8D75-5F6DEA87B9EA}" type="pres">
      <dgm:prSet presAssocID="{A3FD181E-7195-4F5B-9AE8-C0B325B0FC20}" presName="conn2-1" presStyleLbl="parChTrans1D2" presStyleIdx="0" presStyleCnt="4"/>
      <dgm:spPr/>
    </dgm:pt>
    <dgm:pt modelId="{EF14D786-AAF9-462C-8DE6-07814B7EA14F}" type="pres">
      <dgm:prSet presAssocID="{A3FD181E-7195-4F5B-9AE8-C0B325B0FC20}" presName="connTx" presStyleLbl="parChTrans1D2" presStyleIdx="0" presStyleCnt="4"/>
      <dgm:spPr/>
    </dgm:pt>
    <dgm:pt modelId="{DEFFB7EB-511E-4102-A038-190F598D95C1}" type="pres">
      <dgm:prSet presAssocID="{8AF96FE6-7972-4DDD-921B-7BBD29F95876}" presName="root2" presStyleCnt="0"/>
      <dgm:spPr/>
    </dgm:pt>
    <dgm:pt modelId="{B4A08935-79AB-4534-9FEE-DAD51BB964DE}" type="pres">
      <dgm:prSet presAssocID="{8AF96FE6-7972-4DDD-921B-7BBD29F95876}" presName="LevelTwoTextNode" presStyleLbl="node2" presStyleIdx="0" presStyleCnt="4" custScaleY="78286">
        <dgm:presLayoutVars>
          <dgm:chPref val="3"/>
        </dgm:presLayoutVars>
      </dgm:prSet>
      <dgm:spPr/>
    </dgm:pt>
    <dgm:pt modelId="{8EE7A2C6-82EE-41B3-ACC1-BCDBFA964C79}" type="pres">
      <dgm:prSet presAssocID="{8AF96FE6-7972-4DDD-921B-7BBD29F95876}" presName="level3hierChild" presStyleCnt="0"/>
      <dgm:spPr/>
    </dgm:pt>
    <dgm:pt modelId="{5F4069C4-3915-4752-AA45-EFE87DAE77F7}" type="pres">
      <dgm:prSet presAssocID="{7C957451-CCA8-433F-B650-1B8D2A4018F1}" presName="conn2-1" presStyleLbl="parChTrans1D2" presStyleIdx="1" presStyleCnt="4"/>
      <dgm:spPr/>
    </dgm:pt>
    <dgm:pt modelId="{BB2C2ED3-5FAE-422D-A982-55888024F54D}" type="pres">
      <dgm:prSet presAssocID="{7C957451-CCA8-433F-B650-1B8D2A4018F1}" presName="connTx" presStyleLbl="parChTrans1D2" presStyleIdx="1" presStyleCnt="4"/>
      <dgm:spPr/>
    </dgm:pt>
    <dgm:pt modelId="{297DF84E-46A8-4E5E-816E-725B73894FC2}" type="pres">
      <dgm:prSet presAssocID="{04E82317-F62A-442F-B318-69D6BF277E29}" presName="root2" presStyleCnt="0"/>
      <dgm:spPr/>
    </dgm:pt>
    <dgm:pt modelId="{1CD72CD3-2B8E-4081-8C2D-DAB76B94D325}" type="pres">
      <dgm:prSet presAssocID="{04E82317-F62A-442F-B318-69D6BF277E29}" presName="LevelTwoTextNode" presStyleLbl="node2" presStyleIdx="1" presStyleCnt="4">
        <dgm:presLayoutVars>
          <dgm:chPref val="3"/>
        </dgm:presLayoutVars>
      </dgm:prSet>
      <dgm:spPr/>
    </dgm:pt>
    <dgm:pt modelId="{A068B966-633A-4DB9-82A9-1302EE02430F}" type="pres">
      <dgm:prSet presAssocID="{04E82317-F62A-442F-B318-69D6BF277E29}" presName="level3hierChild" presStyleCnt="0"/>
      <dgm:spPr/>
    </dgm:pt>
    <dgm:pt modelId="{B2882266-A8E7-4EE8-B013-22F8DD38E57E}" type="pres">
      <dgm:prSet presAssocID="{C2528E0D-6FA2-44A1-849C-54AC500AEBB4}" presName="conn2-1" presStyleLbl="parChTrans1D2" presStyleIdx="2" presStyleCnt="4"/>
      <dgm:spPr/>
    </dgm:pt>
    <dgm:pt modelId="{44CA13D0-EA13-43CD-9240-51D865C64072}" type="pres">
      <dgm:prSet presAssocID="{C2528E0D-6FA2-44A1-849C-54AC500AEBB4}" presName="connTx" presStyleLbl="parChTrans1D2" presStyleIdx="2" presStyleCnt="4"/>
      <dgm:spPr/>
    </dgm:pt>
    <dgm:pt modelId="{8EF075F1-5808-46E5-AA5F-D32EEE731D62}" type="pres">
      <dgm:prSet presAssocID="{9EAB6D88-EB21-4B82-BE13-7F2446EB6B82}" presName="root2" presStyleCnt="0"/>
      <dgm:spPr/>
    </dgm:pt>
    <dgm:pt modelId="{FB655800-B72D-4D10-9A38-4C20C61B8752}" type="pres">
      <dgm:prSet presAssocID="{9EAB6D88-EB21-4B82-BE13-7F2446EB6B82}" presName="LevelTwoTextNode" presStyleLbl="node2" presStyleIdx="2" presStyleCnt="4">
        <dgm:presLayoutVars>
          <dgm:chPref val="3"/>
        </dgm:presLayoutVars>
      </dgm:prSet>
      <dgm:spPr/>
    </dgm:pt>
    <dgm:pt modelId="{2B411428-4BE4-4FC7-A4A1-D5290625CBC1}" type="pres">
      <dgm:prSet presAssocID="{9EAB6D88-EB21-4B82-BE13-7F2446EB6B82}" presName="level3hierChild" presStyleCnt="0"/>
      <dgm:spPr/>
    </dgm:pt>
    <dgm:pt modelId="{9FC91BF0-2DB6-41CD-ABEB-2EAF5CD0D6CB}" type="pres">
      <dgm:prSet presAssocID="{A51068CA-9E1A-48BC-97A8-B930E87DB02F}" presName="conn2-1" presStyleLbl="parChTrans1D2" presStyleIdx="3" presStyleCnt="4"/>
      <dgm:spPr/>
    </dgm:pt>
    <dgm:pt modelId="{7C791D66-DA20-4F38-BAE2-83F23BB6B757}" type="pres">
      <dgm:prSet presAssocID="{A51068CA-9E1A-48BC-97A8-B930E87DB02F}" presName="connTx" presStyleLbl="parChTrans1D2" presStyleIdx="3" presStyleCnt="4"/>
      <dgm:spPr/>
    </dgm:pt>
    <dgm:pt modelId="{16368D1F-3F36-4809-99B5-3BFBF83EB547}" type="pres">
      <dgm:prSet presAssocID="{42C34BAA-9DB3-4A2C-8152-00B0D16C3339}" presName="root2" presStyleCnt="0"/>
      <dgm:spPr/>
    </dgm:pt>
    <dgm:pt modelId="{EF39EF77-BE59-445C-9F6D-C7B025DE0579}" type="pres">
      <dgm:prSet presAssocID="{42C34BAA-9DB3-4A2C-8152-00B0D16C3339}" presName="LevelTwoTextNode" presStyleLbl="node2" presStyleIdx="3" presStyleCnt="4">
        <dgm:presLayoutVars>
          <dgm:chPref val="3"/>
        </dgm:presLayoutVars>
      </dgm:prSet>
      <dgm:spPr/>
    </dgm:pt>
    <dgm:pt modelId="{53EBA2C3-DADF-40C4-95DC-ECA54C2C63D2}" type="pres">
      <dgm:prSet presAssocID="{42C34BAA-9DB3-4A2C-8152-00B0D16C3339}" presName="level3hierChild" presStyleCnt="0"/>
      <dgm:spPr/>
    </dgm:pt>
  </dgm:ptLst>
  <dgm:cxnLst>
    <dgm:cxn modelId="{1B3D0E3A-B449-45AC-8584-5BFEA0FFE950}" srcId="{2C6BBF33-287F-4A9B-9944-CACA446CC9EB}" destId="{42C34BAA-9DB3-4A2C-8152-00B0D16C3339}" srcOrd="3" destOrd="0" parTransId="{A51068CA-9E1A-48BC-97A8-B930E87DB02F}" sibTransId="{6F67EF18-BB10-44BB-99A5-8B98F4741E6D}"/>
    <dgm:cxn modelId="{727B4F5B-A8B1-4FF3-B419-10D724FCDA29}" type="presOf" srcId="{A51068CA-9E1A-48BC-97A8-B930E87DB02F}" destId="{9FC91BF0-2DB6-41CD-ABEB-2EAF5CD0D6CB}" srcOrd="0" destOrd="0" presId="urn:microsoft.com/office/officeart/2005/8/layout/hierarchy2"/>
    <dgm:cxn modelId="{0872605C-C1C9-4C53-99DB-A310532939BD}" type="presOf" srcId="{7C957451-CCA8-433F-B650-1B8D2A4018F1}" destId="{5F4069C4-3915-4752-AA45-EFE87DAE77F7}" srcOrd="0" destOrd="0" presId="urn:microsoft.com/office/officeart/2005/8/layout/hierarchy2"/>
    <dgm:cxn modelId="{AB050E44-922C-4241-8243-B9D2F81E90C1}" type="presOf" srcId="{A3FD181E-7195-4F5B-9AE8-C0B325B0FC20}" destId="{901CBFFD-3372-42AF-8D75-5F6DEA87B9EA}" srcOrd="0" destOrd="0" presId="urn:microsoft.com/office/officeart/2005/8/layout/hierarchy2"/>
    <dgm:cxn modelId="{21BC3F68-2735-414A-BF5D-D6AD27FF436B}" type="presOf" srcId="{9EAB6D88-EB21-4B82-BE13-7F2446EB6B82}" destId="{FB655800-B72D-4D10-9A38-4C20C61B8752}" srcOrd="0" destOrd="0" presId="urn:microsoft.com/office/officeart/2005/8/layout/hierarchy2"/>
    <dgm:cxn modelId="{7064964D-7CB5-492B-8F2D-94F51D6B2D07}" srcId="{D883CA65-583B-4098-869D-8DBBF17C292A}" destId="{2C6BBF33-287F-4A9B-9944-CACA446CC9EB}" srcOrd="0" destOrd="0" parTransId="{75265800-88FF-4413-9CBE-C09572E36AB5}" sibTransId="{76600496-2528-45ED-BD49-D29F244C9650}"/>
    <dgm:cxn modelId="{9B16D66D-5F3F-455C-A31A-1B7DA9FB0508}" type="presOf" srcId="{C2528E0D-6FA2-44A1-849C-54AC500AEBB4}" destId="{44CA13D0-EA13-43CD-9240-51D865C64072}" srcOrd="1" destOrd="0" presId="urn:microsoft.com/office/officeart/2005/8/layout/hierarchy2"/>
    <dgm:cxn modelId="{4783E17D-ABF0-4B5E-AA83-438421A2EC8E}" type="presOf" srcId="{42C34BAA-9DB3-4A2C-8152-00B0D16C3339}" destId="{EF39EF77-BE59-445C-9F6D-C7B025DE0579}" srcOrd="0" destOrd="0" presId="urn:microsoft.com/office/officeart/2005/8/layout/hierarchy2"/>
    <dgm:cxn modelId="{317EA692-9DF5-4A84-BF1B-06A2203A7768}" type="presOf" srcId="{7C957451-CCA8-433F-B650-1B8D2A4018F1}" destId="{BB2C2ED3-5FAE-422D-A982-55888024F54D}" srcOrd="1" destOrd="0" presId="urn:microsoft.com/office/officeart/2005/8/layout/hierarchy2"/>
    <dgm:cxn modelId="{E9379C99-488B-45E3-B45E-F50209A5D6DD}" type="presOf" srcId="{2C6BBF33-287F-4A9B-9944-CACA446CC9EB}" destId="{9BD77450-930C-4626-962B-5BF0BD9FF649}" srcOrd="0" destOrd="0" presId="urn:microsoft.com/office/officeart/2005/8/layout/hierarchy2"/>
    <dgm:cxn modelId="{4DA2B6B5-02AE-4CD8-953A-152110FC4D64}" srcId="{2C6BBF33-287F-4A9B-9944-CACA446CC9EB}" destId="{9EAB6D88-EB21-4B82-BE13-7F2446EB6B82}" srcOrd="2" destOrd="0" parTransId="{C2528E0D-6FA2-44A1-849C-54AC500AEBB4}" sibTransId="{5D8D3A1D-FF38-4653-8A90-BD928171F8E9}"/>
    <dgm:cxn modelId="{BC139ABC-BD87-42BB-9F07-5546EEDCD4B7}" type="presOf" srcId="{A51068CA-9E1A-48BC-97A8-B930E87DB02F}" destId="{7C791D66-DA20-4F38-BAE2-83F23BB6B757}" srcOrd="1" destOrd="0" presId="urn:microsoft.com/office/officeart/2005/8/layout/hierarchy2"/>
    <dgm:cxn modelId="{3DEE39DA-DED2-4321-A950-928599B06D72}" type="presOf" srcId="{A3FD181E-7195-4F5B-9AE8-C0B325B0FC20}" destId="{EF14D786-AAF9-462C-8DE6-07814B7EA14F}" srcOrd="1" destOrd="0" presId="urn:microsoft.com/office/officeart/2005/8/layout/hierarchy2"/>
    <dgm:cxn modelId="{5A8EB0DA-6932-487D-9FDD-5DBC9FCC17EA}" type="presOf" srcId="{04E82317-F62A-442F-B318-69D6BF277E29}" destId="{1CD72CD3-2B8E-4081-8C2D-DAB76B94D325}" srcOrd="0" destOrd="0" presId="urn:microsoft.com/office/officeart/2005/8/layout/hierarchy2"/>
    <dgm:cxn modelId="{66CB52E3-4F44-40A9-B3B2-5B91B2A8FD1E}" srcId="{2C6BBF33-287F-4A9B-9944-CACA446CC9EB}" destId="{04E82317-F62A-442F-B318-69D6BF277E29}" srcOrd="1" destOrd="0" parTransId="{7C957451-CCA8-433F-B650-1B8D2A4018F1}" sibTransId="{B381D290-54EA-4F7C-B9E0-2CEC02B25567}"/>
    <dgm:cxn modelId="{70D528E9-E1D8-4830-BE37-43443A61C6D2}" type="presOf" srcId="{D883CA65-583B-4098-869D-8DBBF17C292A}" destId="{DACE446F-EF78-47D3-B529-8A3BE515318A}" srcOrd="0" destOrd="0" presId="urn:microsoft.com/office/officeart/2005/8/layout/hierarchy2"/>
    <dgm:cxn modelId="{FB395EEA-5A17-4EED-94B7-549C7D3EF576}" srcId="{2C6BBF33-287F-4A9B-9944-CACA446CC9EB}" destId="{8AF96FE6-7972-4DDD-921B-7BBD29F95876}" srcOrd="0" destOrd="0" parTransId="{A3FD181E-7195-4F5B-9AE8-C0B325B0FC20}" sibTransId="{B75E2A5D-D887-490C-A96F-0BCD1A10E6DE}"/>
    <dgm:cxn modelId="{D00242F5-85FA-4E3C-AE92-8F79B570CEAA}" type="presOf" srcId="{C2528E0D-6FA2-44A1-849C-54AC500AEBB4}" destId="{B2882266-A8E7-4EE8-B013-22F8DD38E57E}" srcOrd="0" destOrd="0" presId="urn:microsoft.com/office/officeart/2005/8/layout/hierarchy2"/>
    <dgm:cxn modelId="{58AF89F9-698F-4E3C-B3FB-063DF52A79CD}" type="presOf" srcId="{8AF96FE6-7972-4DDD-921B-7BBD29F95876}" destId="{B4A08935-79AB-4534-9FEE-DAD51BB964DE}" srcOrd="0" destOrd="0" presId="urn:microsoft.com/office/officeart/2005/8/layout/hierarchy2"/>
    <dgm:cxn modelId="{20C1DA9A-FDE6-4858-A6F3-4B156872FAAE}" type="presParOf" srcId="{DACE446F-EF78-47D3-B529-8A3BE515318A}" destId="{1CB3BC20-B29A-4A85-9F60-067DB160F910}" srcOrd="0" destOrd="0" presId="urn:microsoft.com/office/officeart/2005/8/layout/hierarchy2"/>
    <dgm:cxn modelId="{07ACE1F7-79A0-47A2-8E30-7EEB388F8D01}" type="presParOf" srcId="{1CB3BC20-B29A-4A85-9F60-067DB160F910}" destId="{9BD77450-930C-4626-962B-5BF0BD9FF649}" srcOrd="0" destOrd="0" presId="urn:microsoft.com/office/officeart/2005/8/layout/hierarchy2"/>
    <dgm:cxn modelId="{3B273ED1-D04D-4613-9989-BEDB9DE2E4CE}" type="presParOf" srcId="{1CB3BC20-B29A-4A85-9F60-067DB160F910}" destId="{CAB630F1-3058-4B76-9B92-E8F7C6797075}" srcOrd="1" destOrd="0" presId="urn:microsoft.com/office/officeart/2005/8/layout/hierarchy2"/>
    <dgm:cxn modelId="{04B80FCF-3328-48A9-89BE-F0B9384C39B8}" type="presParOf" srcId="{CAB630F1-3058-4B76-9B92-E8F7C6797075}" destId="{901CBFFD-3372-42AF-8D75-5F6DEA87B9EA}" srcOrd="0" destOrd="0" presId="urn:microsoft.com/office/officeart/2005/8/layout/hierarchy2"/>
    <dgm:cxn modelId="{696DE5CC-6B0D-4E9B-9D71-16403C5D5FA8}" type="presParOf" srcId="{901CBFFD-3372-42AF-8D75-5F6DEA87B9EA}" destId="{EF14D786-AAF9-462C-8DE6-07814B7EA14F}" srcOrd="0" destOrd="0" presId="urn:microsoft.com/office/officeart/2005/8/layout/hierarchy2"/>
    <dgm:cxn modelId="{EFDF106A-DAA8-4EAF-950E-0599E314EEE7}" type="presParOf" srcId="{CAB630F1-3058-4B76-9B92-E8F7C6797075}" destId="{DEFFB7EB-511E-4102-A038-190F598D95C1}" srcOrd="1" destOrd="0" presId="urn:microsoft.com/office/officeart/2005/8/layout/hierarchy2"/>
    <dgm:cxn modelId="{B0DF41DD-6075-4A8C-BE29-23FC377A96CB}" type="presParOf" srcId="{DEFFB7EB-511E-4102-A038-190F598D95C1}" destId="{B4A08935-79AB-4534-9FEE-DAD51BB964DE}" srcOrd="0" destOrd="0" presId="urn:microsoft.com/office/officeart/2005/8/layout/hierarchy2"/>
    <dgm:cxn modelId="{5DF9594F-90B9-48A5-9010-BF69344317EC}" type="presParOf" srcId="{DEFFB7EB-511E-4102-A038-190F598D95C1}" destId="{8EE7A2C6-82EE-41B3-ACC1-BCDBFA964C79}" srcOrd="1" destOrd="0" presId="urn:microsoft.com/office/officeart/2005/8/layout/hierarchy2"/>
    <dgm:cxn modelId="{BC66F909-C2B3-41C5-BEFD-316B45E55778}" type="presParOf" srcId="{CAB630F1-3058-4B76-9B92-E8F7C6797075}" destId="{5F4069C4-3915-4752-AA45-EFE87DAE77F7}" srcOrd="2" destOrd="0" presId="urn:microsoft.com/office/officeart/2005/8/layout/hierarchy2"/>
    <dgm:cxn modelId="{69796931-49D8-43DA-943C-2C2D88DCDCA6}" type="presParOf" srcId="{5F4069C4-3915-4752-AA45-EFE87DAE77F7}" destId="{BB2C2ED3-5FAE-422D-A982-55888024F54D}" srcOrd="0" destOrd="0" presId="urn:microsoft.com/office/officeart/2005/8/layout/hierarchy2"/>
    <dgm:cxn modelId="{B11DD206-9E0F-41AD-A15C-2B358A69151C}" type="presParOf" srcId="{CAB630F1-3058-4B76-9B92-E8F7C6797075}" destId="{297DF84E-46A8-4E5E-816E-725B73894FC2}" srcOrd="3" destOrd="0" presId="urn:microsoft.com/office/officeart/2005/8/layout/hierarchy2"/>
    <dgm:cxn modelId="{F265AC0A-8997-4C32-A08B-C994FC293EC9}" type="presParOf" srcId="{297DF84E-46A8-4E5E-816E-725B73894FC2}" destId="{1CD72CD3-2B8E-4081-8C2D-DAB76B94D325}" srcOrd="0" destOrd="0" presId="urn:microsoft.com/office/officeart/2005/8/layout/hierarchy2"/>
    <dgm:cxn modelId="{B85067FC-E913-4B96-BC07-6EEF1CEF10DD}" type="presParOf" srcId="{297DF84E-46A8-4E5E-816E-725B73894FC2}" destId="{A068B966-633A-4DB9-82A9-1302EE02430F}" srcOrd="1" destOrd="0" presId="urn:microsoft.com/office/officeart/2005/8/layout/hierarchy2"/>
    <dgm:cxn modelId="{DF427623-6EF9-4D3E-B85D-CA7A401C225F}" type="presParOf" srcId="{CAB630F1-3058-4B76-9B92-E8F7C6797075}" destId="{B2882266-A8E7-4EE8-B013-22F8DD38E57E}" srcOrd="4" destOrd="0" presId="urn:microsoft.com/office/officeart/2005/8/layout/hierarchy2"/>
    <dgm:cxn modelId="{FC21E0DD-C19B-4FBD-A3C6-071CBAE0E81E}" type="presParOf" srcId="{B2882266-A8E7-4EE8-B013-22F8DD38E57E}" destId="{44CA13D0-EA13-43CD-9240-51D865C64072}" srcOrd="0" destOrd="0" presId="urn:microsoft.com/office/officeart/2005/8/layout/hierarchy2"/>
    <dgm:cxn modelId="{CDBADD0C-07E1-4E01-8C51-64D4FF89D802}" type="presParOf" srcId="{CAB630F1-3058-4B76-9B92-E8F7C6797075}" destId="{8EF075F1-5808-46E5-AA5F-D32EEE731D62}" srcOrd="5" destOrd="0" presId="urn:microsoft.com/office/officeart/2005/8/layout/hierarchy2"/>
    <dgm:cxn modelId="{FB2726D6-3A28-4794-8F67-58629B8E3FA7}" type="presParOf" srcId="{8EF075F1-5808-46E5-AA5F-D32EEE731D62}" destId="{FB655800-B72D-4D10-9A38-4C20C61B8752}" srcOrd="0" destOrd="0" presId="urn:microsoft.com/office/officeart/2005/8/layout/hierarchy2"/>
    <dgm:cxn modelId="{C9B8A1E8-608D-4FAF-AB90-07E2BB42A287}" type="presParOf" srcId="{8EF075F1-5808-46E5-AA5F-D32EEE731D62}" destId="{2B411428-4BE4-4FC7-A4A1-D5290625CBC1}" srcOrd="1" destOrd="0" presId="urn:microsoft.com/office/officeart/2005/8/layout/hierarchy2"/>
    <dgm:cxn modelId="{50A78AF7-DF96-401F-99F0-6AEC10C30B23}" type="presParOf" srcId="{CAB630F1-3058-4B76-9B92-E8F7C6797075}" destId="{9FC91BF0-2DB6-41CD-ABEB-2EAF5CD0D6CB}" srcOrd="6" destOrd="0" presId="urn:microsoft.com/office/officeart/2005/8/layout/hierarchy2"/>
    <dgm:cxn modelId="{C3F0A693-BD3D-4CEE-943C-FE26332D77DF}" type="presParOf" srcId="{9FC91BF0-2DB6-41CD-ABEB-2EAF5CD0D6CB}" destId="{7C791D66-DA20-4F38-BAE2-83F23BB6B757}" srcOrd="0" destOrd="0" presId="urn:microsoft.com/office/officeart/2005/8/layout/hierarchy2"/>
    <dgm:cxn modelId="{89A9294C-BC00-45E8-8B6D-4CAF3942E51F}" type="presParOf" srcId="{CAB630F1-3058-4B76-9B92-E8F7C6797075}" destId="{16368D1F-3F36-4809-99B5-3BFBF83EB547}" srcOrd="7" destOrd="0" presId="urn:microsoft.com/office/officeart/2005/8/layout/hierarchy2"/>
    <dgm:cxn modelId="{0A55890D-2549-4412-9A06-D202770361B7}" type="presParOf" srcId="{16368D1F-3F36-4809-99B5-3BFBF83EB547}" destId="{EF39EF77-BE59-445C-9F6D-C7B025DE0579}" srcOrd="0" destOrd="0" presId="urn:microsoft.com/office/officeart/2005/8/layout/hierarchy2"/>
    <dgm:cxn modelId="{2B63ADF7-9B61-47E9-A409-79BFB66531C0}" type="presParOf" srcId="{16368D1F-3F36-4809-99B5-3BFBF83EB547}" destId="{53EBA2C3-DADF-40C4-95DC-ECA54C2C63D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82F055-2E98-4598-A2A8-B66A1E4BCC70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9A990D-C62B-4F52-9658-B0D560E9D8F7}">
      <dgm:prSet phldrT="[Text]" custT="1"/>
      <dgm:spPr/>
      <dgm:t>
        <a:bodyPr/>
        <a:lstStyle/>
        <a:p>
          <a:r>
            <a:rPr lang="en-US" sz="1800" b="1"/>
            <a:t>SWOT</a:t>
          </a:r>
          <a:endParaRPr lang="en-US" sz="1800" b="1" dirty="0"/>
        </a:p>
      </dgm:t>
    </dgm:pt>
    <dgm:pt modelId="{9506FC67-8233-4249-BBD9-4E17806947F0}" type="parTrans" cxnId="{2A407922-C028-4742-890E-BC30C42C2E06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4847032-C2D9-4C2B-A7E0-5C3605834811}" type="sibTrans" cxnId="{2A407922-C028-4742-890E-BC30C42C2E06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6408682-0F45-4436-B23F-CFDA55307EC4}">
      <dgm:prSet phldrT="[Text]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n-US" dirty="0">
            <a:solidFill>
              <a:schemeClr val="tx1"/>
            </a:solidFill>
          </a:endParaRPr>
        </a:p>
      </dgm:t>
    </dgm:pt>
    <dgm:pt modelId="{738C5506-5CF8-44F1-B0E3-936980D1722B}" type="parTrans" cxnId="{DCFE7E19-071E-480A-83F6-E0B1608755E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08D3558-1C87-4403-801C-B922F87844E1}" type="sibTrans" cxnId="{DCFE7E19-071E-480A-83F6-E0B1608755E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301D941-36AD-4336-B93B-325FF9798CA2}">
      <dgm:prSet phldrT="[Text]"/>
      <dgm:spPr/>
      <dgm:t>
        <a:bodyPr/>
        <a:lstStyle/>
        <a:p>
          <a:endParaRPr lang="en-US" dirty="0">
            <a:solidFill>
              <a:schemeClr val="tx1"/>
            </a:solidFill>
          </a:endParaRPr>
        </a:p>
      </dgm:t>
    </dgm:pt>
    <dgm:pt modelId="{A7911847-AC6E-4C25-AF00-FF41F00D49BC}" type="parTrans" cxnId="{3B9E59D9-BD94-4B43-9BAB-B6598073D62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D3E6BF3-225E-4AA5-9BB5-4DDCDFA283B1}" type="sibTrans" cxnId="{3B9E59D9-BD94-4B43-9BAB-B6598073D62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CB4708B-0E2F-4B22-884F-3101A15F3817}">
      <dgm:prSet phldrT="[Text]"/>
      <dgm:spPr/>
      <dgm:t>
        <a:bodyPr/>
        <a:lstStyle/>
        <a:p>
          <a:endParaRPr lang="en-US" dirty="0">
            <a:solidFill>
              <a:schemeClr val="tx1"/>
            </a:solidFill>
          </a:endParaRPr>
        </a:p>
      </dgm:t>
    </dgm:pt>
    <dgm:pt modelId="{350B33F0-8913-4CAD-90E4-4A4418664377}" type="parTrans" cxnId="{E3AEE7E8-BABF-41A6-BD24-55CBFAA3C7AF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5261EFA-5FDE-422D-AB2E-8E9781AC39A2}" type="sibTrans" cxnId="{E3AEE7E8-BABF-41A6-BD24-55CBFAA3C7AF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8B0A61B-0438-4529-9DC9-B7220143B6FD}">
      <dgm:prSet phldrT="[Text]"/>
      <dgm:spPr/>
      <dgm:t>
        <a:bodyPr/>
        <a:lstStyle/>
        <a:p>
          <a:endParaRPr lang="en-US" dirty="0">
            <a:solidFill>
              <a:schemeClr val="tx1"/>
            </a:solidFill>
          </a:endParaRPr>
        </a:p>
      </dgm:t>
    </dgm:pt>
    <dgm:pt modelId="{90F16669-9647-4152-8D67-B701803FB431}" type="parTrans" cxnId="{6C728D16-C174-44E9-A7CD-4A798550307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CBC2540-4252-4227-9A51-8053702A1CFD}" type="sibTrans" cxnId="{6C728D16-C174-44E9-A7CD-4A798550307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11DBB1B-61BF-4009-809F-5B2BB0FA5CFD}" type="pres">
      <dgm:prSet presAssocID="{5782F055-2E98-4598-A2A8-B66A1E4BCC70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607740C-9452-4A59-8D55-FFFD75061B2C}" type="pres">
      <dgm:prSet presAssocID="{5782F055-2E98-4598-A2A8-B66A1E4BCC70}" presName="matrix" presStyleCnt="0"/>
      <dgm:spPr/>
    </dgm:pt>
    <dgm:pt modelId="{A92B6176-45F6-4D42-B6EC-49E2B55CA819}" type="pres">
      <dgm:prSet presAssocID="{5782F055-2E98-4598-A2A8-B66A1E4BCC70}" presName="tile1" presStyleLbl="node1" presStyleIdx="0" presStyleCnt="4" custLinFactNeighborX="-21818" custLinFactNeighborY="-10250"/>
      <dgm:spPr/>
    </dgm:pt>
    <dgm:pt modelId="{6C437FA3-F665-4CB4-8CCB-B571463D084E}" type="pres">
      <dgm:prSet presAssocID="{5782F055-2E98-4598-A2A8-B66A1E4BCC70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F456942-9467-45F9-AEDE-B6F90D455BAA}" type="pres">
      <dgm:prSet presAssocID="{5782F055-2E98-4598-A2A8-B66A1E4BCC70}" presName="tile2" presStyleLbl="node1" presStyleIdx="1" presStyleCnt="4" custLinFactNeighborX="4665" custLinFactNeighborY="-529"/>
      <dgm:spPr/>
    </dgm:pt>
    <dgm:pt modelId="{A57BDBCB-AECB-4656-A8D2-9508CC8B58DE}" type="pres">
      <dgm:prSet presAssocID="{5782F055-2E98-4598-A2A8-B66A1E4BCC70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CE65359-2BC1-40AD-A1A0-3BC194E09B84}" type="pres">
      <dgm:prSet presAssocID="{5782F055-2E98-4598-A2A8-B66A1E4BCC70}" presName="tile3" presStyleLbl="node1" presStyleIdx="2" presStyleCnt="4" custLinFactNeighborX="-2907" custLinFactNeighborY="660"/>
      <dgm:spPr/>
    </dgm:pt>
    <dgm:pt modelId="{96851428-DC73-4883-B34C-4CDB445E88D0}" type="pres">
      <dgm:prSet presAssocID="{5782F055-2E98-4598-A2A8-B66A1E4BCC70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ADE77BB-3B6D-4506-91C2-61686D0C8ACA}" type="pres">
      <dgm:prSet presAssocID="{5782F055-2E98-4598-A2A8-B66A1E4BCC70}" presName="tile4" presStyleLbl="node1" presStyleIdx="3" presStyleCnt="4"/>
      <dgm:spPr/>
    </dgm:pt>
    <dgm:pt modelId="{155032ED-BCB9-41DB-8BE1-3240BBBD1326}" type="pres">
      <dgm:prSet presAssocID="{5782F055-2E98-4598-A2A8-B66A1E4BCC70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27F33B8F-8216-4342-9BC2-60BE4AFFBB92}" type="pres">
      <dgm:prSet presAssocID="{5782F055-2E98-4598-A2A8-B66A1E4BCC70}" presName="centerTile" presStyleLbl="fgShp" presStyleIdx="0" presStyleCnt="1" custScaleX="74070" custScaleY="68635">
        <dgm:presLayoutVars>
          <dgm:chMax val="0"/>
          <dgm:chPref val="0"/>
        </dgm:presLayoutVars>
      </dgm:prSet>
      <dgm:spPr/>
    </dgm:pt>
  </dgm:ptLst>
  <dgm:cxnLst>
    <dgm:cxn modelId="{5544A10A-8B1F-4994-9803-B47E381BA175}" type="presOf" srcId="{379A990D-C62B-4F52-9658-B0D560E9D8F7}" destId="{27F33B8F-8216-4342-9BC2-60BE4AFFBB92}" srcOrd="0" destOrd="0" presId="urn:microsoft.com/office/officeart/2005/8/layout/matrix1"/>
    <dgm:cxn modelId="{AD355516-E8BF-4B1E-B934-A16CD122ED88}" type="presOf" srcId="{28B0A61B-0438-4529-9DC9-B7220143B6FD}" destId="{155032ED-BCB9-41DB-8BE1-3240BBBD1326}" srcOrd="1" destOrd="0" presId="urn:microsoft.com/office/officeart/2005/8/layout/matrix1"/>
    <dgm:cxn modelId="{6C728D16-C174-44E9-A7CD-4A7985503071}" srcId="{379A990D-C62B-4F52-9658-B0D560E9D8F7}" destId="{28B0A61B-0438-4529-9DC9-B7220143B6FD}" srcOrd="3" destOrd="0" parTransId="{90F16669-9647-4152-8D67-B701803FB431}" sibTransId="{CCBC2540-4252-4227-9A51-8053702A1CFD}"/>
    <dgm:cxn modelId="{DCFE7E19-071E-480A-83F6-E0B1608755E0}" srcId="{379A990D-C62B-4F52-9658-B0D560E9D8F7}" destId="{46408682-0F45-4436-B23F-CFDA55307EC4}" srcOrd="0" destOrd="0" parTransId="{738C5506-5CF8-44F1-B0E3-936980D1722B}" sibTransId="{408D3558-1C87-4403-801C-B922F87844E1}"/>
    <dgm:cxn modelId="{2A407922-C028-4742-890E-BC30C42C2E06}" srcId="{5782F055-2E98-4598-A2A8-B66A1E4BCC70}" destId="{379A990D-C62B-4F52-9658-B0D560E9D8F7}" srcOrd="0" destOrd="0" parTransId="{9506FC67-8233-4249-BBD9-4E17806947F0}" sibTransId="{14847032-C2D9-4C2B-A7E0-5C3605834811}"/>
    <dgm:cxn modelId="{BDBA455D-7BA9-4143-A871-DCB9443B5DA8}" type="presOf" srcId="{5782F055-2E98-4598-A2A8-B66A1E4BCC70}" destId="{211DBB1B-61BF-4009-809F-5B2BB0FA5CFD}" srcOrd="0" destOrd="0" presId="urn:microsoft.com/office/officeart/2005/8/layout/matrix1"/>
    <dgm:cxn modelId="{86A26A50-1E56-4C5B-8B89-B32A72FF1419}" type="presOf" srcId="{FCB4708B-0E2F-4B22-884F-3101A15F3817}" destId="{0CE65359-2BC1-40AD-A1A0-3BC194E09B84}" srcOrd="0" destOrd="0" presId="urn:microsoft.com/office/officeart/2005/8/layout/matrix1"/>
    <dgm:cxn modelId="{019DEB83-C59F-4298-8395-C67960A497DF}" type="presOf" srcId="{FCB4708B-0E2F-4B22-884F-3101A15F3817}" destId="{96851428-DC73-4883-B34C-4CDB445E88D0}" srcOrd="1" destOrd="0" presId="urn:microsoft.com/office/officeart/2005/8/layout/matrix1"/>
    <dgm:cxn modelId="{FA1485B0-40E0-46EF-A3DA-34FFF6E9289C}" type="presOf" srcId="{46408682-0F45-4436-B23F-CFDA55307EC4}" destId="{6C437FA3-F665-4CB4-8CCB-B571463D084E}" srcOrd="1" destOrd="0" presId="urn:microsoft.com/office/officeart/2005/8/layout/matrix1"/>
    <dgm:cxn modelId="{C8534FBB-6138-4F74-8560-98920D33F73B}" type="presOf" srcId="{B301D941-36AD-4336-B93B-325FF9798CA2}" destId="{A57BDBCB-AECB-4656-A8D2-9508CC8B58DE}" srcOrd="1" destOrd="0" presId="urn:microsoft.com/office/officeart/2005/8/layout/matrix1"/>
    <dgm:cxn modelId="{07C77AD6-3229-4844-9EB9-F3A50955C1DB}" type="presOf" srcId="{28B0A61B-0438-4529-9DC9-B7220143B6FD}" destId="{5ADE77BB-3B6D-4506-91C2-61686D0C8ACA}" srcOrd="0" destOrd="0" presId="urn:microsoft.com/office/officeart/2005/8/layout/matrix1"/>
    <dgm:cxn modelId="{3B9E59D9-BD94-4B43-9BAB-B6598073D62A}" srcId="{379A990D-C62B-4F52-9658-B0D560E9D8F7}" destId="{B301D941-36AD-4336-B93B-325FF9798CA2}" srcOrd="1" destOrd="0" parTransId="{A7911847-AC6E-4C25-AF00-FF41F00D49BC}" sibTransId="{ED3E6BF3-225E-4AA5-9BB5-4DDCDFA283B1}"/>
    <dgm:cxn modelId="{AD2193E8-1072-4175-A5DE-B88C3F53C6BA}" type="presOf" srcId="{B301D941-36AD-4336-B93B-325FF9798CA2}" destId="{8F456942-9467-45F9-AEDE-B6F90D455BAA}" srcOrd="0" destOrd="0" presId="urn:microsoft.com/office/officeart/2005/8/layout/matrix1"/>
    <dgm:cxn modelId="{E3AEE7E8-BABF-41A6-BD24-55CBFAA3C7AF}" srcId="{379A990D-C62B-4F52-9658-B0D560E9D8F7}" destId="{FCB4708B-0E2F-4B22-884F-3101A15F3817}" srcOrd="2" destOrd="0" parTransId="{350B33F0-8913-4CAD-90E4-4A4418664377}" sibTransId="{95261EFA-5FDE-422D-AB2E-8E9781AC39A2}"/>
    <dgm:cxn modelId="{985F0AF0-E7CA-4DF2-AF53-2E64CB4EEE6D}" type="presOf" srcId="{46408682-0F45-4436-B23F-CFDA55307EC4}" destId="{A92B6176-45F6-4D42-B6EC-49E2B55CA819}" srcOrd="0" destOrd="0" presId="urn:microsoft.com/office/officeart/2005/8/layout/matrix1"/>
    <dgm:cxn modelId="{E078C946-D5C0-494E-8A51-47F54D04E235}" type="presParOf" srcId="{211DBB1B-61BF-4009-809F-5B2BB0FA5CFD}" destId="{E607740C-9452-4A59-8D55-FFFD75061B2C}" srcOrd="0" destOrd="0" presId="urn:microsoft.com/office/officeart/2005/8/layout/matrix1"/>
    <dgm:cxn modelId="{905D21AF-13F4-4A15-8F12-9DBA400E8479}" type="presParOf" srcId="{E607740C-9452-4A59-8D55-FFFD75061B2C}" destId="{A92B6176-45F6-4D42-B6EC-49E2B55CA819}" srcOrd="0" destOrd="0" presId="urn:microsoft.com/office/officeart/2005/8/layout/matrix1"/>
    <dgm:cxn modelId="{79063BA5-7EF8-4CAA-A7CF-2A906BC16077}" type="presParOf" srcId="{E607740C-9452-4A59-8D55-FFFD75061B2C}" destId="{6C437FA3-F665-4CB4-8CCB-B571463D084E}" srcOrd="1" destOrd="0" presId="urn:microsoft.com/office/officeart/2005/8/layout/matrix1"/>
    <dgm:cxn modelId="{5315CE2D-A5AF-48C8-ACF9-D2A0CF5ECB92}" type="presParOf" srcId="{E607740C-9452-4A59-8D55-FFFD75061B2C}" destId="{8F456942-9467-45F9-AEDE-B6F90D455BAA}" srcOrd="2" destOrd="0" presId="urn:microsoft.com/office/officeart/2005/8/layout/matrix1"/>
    <dgm:cxn modelId="{0BBFB929-93DB-416F-9876-7DDB7CA8CFDB}" type="presParOf" srcId="{E607740C-9452-4A59-8D55-FFFD75061B2C}" destId="{A57BDBCB-AECB-4656-A8D2-9508CC8B58DE}" srcOrd="3" destOrd="0" presId="urn:microsoft.com/office/officeart/2005/8/layout/matrix1"/>
    <dgm:cxn modelId="{7FD8A3EF-46D0-43AD-B744-ECAC906F914A}" type="presParOf" srcId="{E607740C-9452-4A59-8D55-FFFD75061B2C}" destId="{0CE65359-2BC1-40AD-A1A0-3BC194E09B84}" srcOrd="4" destOrd="0" presId="urn:microsoft.com/office/officeart/2005/8/layout/matrix1"/>
    <dgm:cxn modelId="{D2EA5BD7-12B0-4E04-B9BB-5E68E42C1E9B}" type="presParOf" srcId="{E607740C-9452-4A59-8D55-FFFD75061B2C}" destId="{96851428-DC73-4883-B34C-4CDB445E88D0}" srcOrd="5" destOrd="0" presId="urn:microsoft.com/office/officeart/2005/8/layout/matrix1"/>
    <dgm:cxn modelId="{FC2791E6-AD4D-48D0-9A54-BA521058894D}" type="presParOf" srcId="{E607740C-9452-4A59-8D55-FFFD75061B2C}" destId="{5ADE77BB-3B6D-4506-91C2-61686D0C8ACA}" srcOrd="6" destOrd="0" presId="urn:microsoft.com/office/officeart/2005/8/layout/matrix1"/>
    <dgm:cxn modelId="{73355EA9-0BFF-407E-A15E-7B45D3184847}" type="presParOf" srcId="{E607740C-9452-4A59-8D55-FFFD75061B2C}" destId="{155032ED-BCB9-41DB-8BE1-3240BBBD1326}" srcOrd="7" destOrd="0" presId="urn:microsoft.com/office/officeart/2005/8/layout/matrix1"/>
    <dgm:cxn modelId="{9D6CF16C-6182-40E4-B5BD-7F04966EBB37}" type="presParOf" srcId="{211DBB1B-61BF-4009-809F-5B2BB0FA5CFD}" destId="{27F33B8F-8216-4342-9BC2-60BE4AFFBB92}" srcOrd="1" destOrd="0" presId="urn:microsoft.com/office/officeart/2005/8/layout/matrix1"/>
  </dgm:cxnLst>
  <dgm:bg>
    <a:noFill/>
    <a:effectLst/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0F1E51-2C28-4717-AC2B-4BD582CE7264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A1E8F41-8BF0-427E-98EB-BFC17BA5642A}">
      <dgm:prSet phldrT="[Text]" custT="1"/>
      <dgm:spPr/>
      <dgm:t>
        <a:bodyPr/>
        <a:lstStyle/>
        <a:p>
          <a:r>
            <a:rPr lang="en-GB" sz="1200" dirty="0"/>
            <a:t>Large user database</a:t>
          </a:r>
          <a:endParaRPr lang="en-IN" sz="1200" dirty="0"/>
        </a:p>
      </dgm:t>
    </dgm:pt>
    <dgm:pt modelId="{58A5E444-A80D-4036-BD05-496DF1E6F5BC}" type="parTrans" cxnId="{062BC14A-97E4-4720-A676-8523B06749A4}">
      <dgm:prSet/>
      <dgm:spPr/>
      <dgm:t>
        <a:bodyPr/>
        <a:lstStyle/>
        <a:p>
          <a:endParaRPr lang="en-IN" sz="1200"/>
        </a:p>
      </dgm:t>
    </dgm:pt>
    <dgm:pt modelId="{B8EF50DB-2426-4328-A6D1-D3791E5499DF}" type="sibTrans" cxnId="{062BC14A-97E4-4720-A676-8523B06749A4}">
      <dgm:prSet/>
      <dgm:spPr/>
      <dgm:t>
        <a:bodyPr/>
        <a:lstStyle/>
        <a:p>
          <a:endParaRPr lang="en-IN" sz="1200"/>
        </a:p>
      </dgm:t>
    </dgm:pt>
    <dgm:pt modelId="{F1944DC9-5749-488A-9062-91882C08ED3A}">
      <dgm:prSet phldrT="[Text]" custT="1"/>
      <dgm:spPr/>
      <dgm:t>
        <a:bodyPr/>
        <a:lstStyle/>
        <a:p>
          <a:r>
            <a:rPr lang="en-GB" sz="1200" dirty="0"/>
            <a:t>Student and corporate community</a:t>
          </a:r>
          <a:endParaRPr lang="en-IN" sz="1200" dirty="0"/>
        </a:p>
      </dgm:t>
    </dgm:pt>
    <dgm:pt modelId="{4E3656D3-FDD9-45FC-A231-49F023D9E753}" type="parTrans" cxnId="{00C3D7A7-960A-4F76-BE6B-B08BA4F95E40}">
      <dgm:prSet/>
      <dgm:spPr/>
      <dgm:t>
        <a:bodyPr/>
        <a:lstStyle/>
        <a:p>
          <a:endParaRPr lang="en-IN" sz="1200"/>
        </a:p>
      </dgm:t>
    </dgm:pt>
    <dgm:pt modelId="{AD44D484-F680-49EF-8AC9-DC2647FC45FC}" type="sibTrans" cxnId="{00C3D7A7-960A-4F76-BE6B-B08BA4F95E40}">
      <dgm:prSet/>
      <dgm:spPr/>
      <dgm:t>
        <a:bodyPr/>
        <a:lstStyle/>
        <a:p>
          <a:endParaRPr lang="en-IN" sz="1200"/>
        </a:p>
      </dgm:t>
    </dgm:pt>
    <dgm:pt modelId="{DCD42ED5-D90C-485D-B30B-1FB60D494DAF}">
      <dgm:prSet phldrT="[Text]" custT="1"/>
      <dgm:spPr/>
      <dgm:t>
        <a:bodyPr/>
        <a:lstStyle/>
        <a:p>
          <a:r>
            <a:rPr lang="en-GB" sz="1200" dirty="0"/>
            <a:t>User friendly platform</a:t>
          </a:r>
          <a:endParaRPr lang="en-IN" sz="1200" dirty="0"/>
        </a:p>
      </dgm:t>
    </dgm:pt>
    <dgm:pt modelId="{B5C470C3-9625-4767-8EBE-8BC2B646B698}" type="parTrans" cxnId="{1BFC2D66-6F43-48B8-91E1-141FEDAA7CEB}">
      <dgm:prSet/>
      <dgm:spPr/>
      <dgm:t>
        <a:bodyPr/>
        <a:lstStyle/>
        <a:p>
          <a:endParaRPr lang="en-IN" sz="1200"/>
        </a:p>
      </dgm:t>
    </dgm:pt>
    <dgm:pt modelId="{7D3C33B1-B647-4232-A3AF-436048375497}" type="sibTrans" cxnId="{1BFC2D66-6F43-48B8-91E1-141FEDAA7CEB}">
      <dgm:prSet/>
      <dgm:spPr/>
      <dgm:t>
        <a:bodyPr/>
        <a:lstStyle/>
        <a:p>
          <a:endParaRPr lang="en-IN" sz="1200"/>
        </a:p>
      </dgm:t>
    </dgm:pt>
    <dgm:pt modelId="{106B5EC2-D11B-4A1C-8FD5-7270A2ABA1CB}">
      <dgm:prSet phldrT="[Text]" custT="1"/>
      <dgm:spPr/>
      <dgm:t>
        <a:bodyPr/>
        <a:lstStyle/>
        <a:p>
          <a:r>
            <a:rPr lang="en-GB" sz="1200" dirty="0"/>
            <a:t>Low CAC</a:t>
          </a:r>
          <a:endParaRPr lang="en-IN" sz="1200" dirty="0"/>
        </a:p>
      </dgm:t>
    </dgm:pt>
    <dgm:pt modelId="{F2066CD3-923F-4914-BC73-95829AE74F70}" type="parTrans" cxnId="{D7BD41F3-67BC-42D8-8350-766761A5DFBB}">
      <dgm:prSet/>
      <dgm:spPr/>
      <dgm:t>
        <a:bodyPr/>
        <a:lstStyle/>
        <a:p>
          <a:endParaRPr lang="en-IN" sz="1200"/>
        </a:p>
      </dgm:t>
    </dgm:pt>
    <dgm:pt modelId="{B8BF7B5A-0733-47E8-AA5A-726F41333AC7}" type="sibTrans" cxnId="{D7BD41F3-67BC-42D8-8350-766761A5DFBB}">
      <dgm:prSet/>
      <dgm:spPr/>
      <dgm:t>
        <a:bodyPr/>
        <a:lstStyle/>
        <a:p>
          <a:endParaRPr lang="en-IN" sz="1200"/>
        </a:p>
      </dgm:t>
    </dgm:pt>
    <dgm:pt modelId="{150FFD7D-E93A-46D6-B700-237F9824426B}">
      <dgm:prSet phldrT="[Text]" custT="1"/>
      <dgm:spPr/>
      <dgm:t>
        <a:bodyPr/>
        <a:lstStyle/>
        <a:p>
          <a:r>
            <a:rPr lang="en-GB" sz="1200" dirty="0"/>
            <a:t>One stop platform</a:t>
          </a:r>
          <a:endParaRPr lang="en-IN" sz="1200" dirty="0"/>
        </a:p>
      </dgm:t>
    </dgm:pt>
    <dgm:pt modelId="{AE56E902-4D1B-4552-84C8-C1F1A312348C}" type="parTrans" cxnId="{A2944CE4-0CDE-447B-ACAC-6807F1A2AA28}">
      <dgm:prSet/>
      <dgm:spPr/>
      <dgm:t>
        <a:bodyPr/>
        <a:lstStyle/>
        <a:p>
          <a:endParaRPr lang="en-IN" sz="1200"/>
        </a:p>
      </dgm:t>
    </dgm:pt>
    <dgm:pt modelId="{D0827DBD-5B1E-4090-8C18-E0351CC49640}" type="sibTrans" cxnId="{A2944CE4-0CDE-447B-ACAC-6807F1A2AA28}">
      <dgm:prSet/>
      <dgm:spPr/>
      <dgm:t>
        <a:bodyPr/>
        <a:lstStyle/>
        <a:p>
          <a:endParaRPr lang="en-IN" sz="1200"/>
        </a:p>
      </dgm:t>
    </dgm:pt>
    <dgm:pt modelId="{167BF846-F7BC-4EA8-B9D8-5781D43253B2}" type="pres">
      <dgm:prSet presAssocID="{E30F1E51-2C28-4717-AC2B-4BD582CE7264}" presName="cycle" presStyleCnt="0">
        <dgm:presLayoutVars>
          <dgm:dir/>
          <dgm:resizeHandles val="exact"/>
        </dgm:presLayoutVars>
      </dgm:prSet>
      <dgm:spPr/>
    </dgm:pt>
    <dgm:pt modelId="{A4920B58-B3F0-401E-BE0A-ABD628B5A529}" type="pres">
      <dgm:prSet presAssocID="{7A1E8F41-8BF0-427E-98EB-BFC17BA5642A}" presName="node" presStyleLbl="node1" presStyleIdx="0" presStyleCnt="5" custRadScaleRad="99602" custRadScaleInc="-18997">
        <dgm:presLayoutVars>
          <dgm:bulletEnabled val="1"/>
        </dgm:presLayoutVars>
      </dgm:prSet>
      <dgm:spPr/>
    </dgm:pt>
    <dgm:pt modelId="{A6D33C09-0345-4243-BDCC-42A2B8897513}" type="pres">
      <dgm:prSet presAssocID="{7A1E8F41-8BF0-427E-98EB-BFC17BA5642A}" presName="spNode" presStyleCnt="0"/>
      <dgm:spPr/>
    </dgm:pt>
    <dgm:pt modelId="{BF087E56-EE02-4924-A0A4-7CC7F05E7141}" type="pres">
      <dgm:prSet presAssocID="{B8EF50DB-2426-4328-A6D1-D3791E5499DF}" presName="sibTrans" presStyleLbl="sibTrans1D1" presStyleIdx="0" presStyleCnt="5"/>
      <dgm:spPr/>
    </dgm:pt>
    <dgm:pt modelId="{33781712-F06A-41BF-9375-E76F1119039E}" type="pres">
      <dgm:prSet presAssocID="{F1944DC9-5749-488A-9062-91882C08ED3A}" presName="node" presStyleLbl="node1" presStyleIdx="1" presStyleCnt="5">
        <dgm:presLayoutVars>
          <dgm:bulletEnabled val="1"/>
        </dgm:presLayoutVars>
      </dgm:prSet>
      <dgm:spPr/>
    </dgm:pt>
    <dgm:pt modelId="{CE5D773C-E11D-477F-81A6-2D6C3BF9386D}" type="pres">
      <dgm:prSet presAssocID="{F1944DC9-5749-488A-9062-91882C08ED3A}" presName="spNode" presStyleCnt="0"/>
      <dgm:spPr/>
    </dgm:pt>
    <dgm:pt modelId="{9D989A91-44F2-44D0-9E36-3693EB95A96E}" type="pres">
      <dgm:prSet presAssocID="{AD44D484-F680-49EF-8AC9-DC2647FC45FC}" presName="sibTrans" presStyleLbl="sibTrans1D1" presStyleIdx="1" presStyleCnt="5"/>
      <dgm:spPr/>
    </dgm:pt>
    <dgm:pt modelId="{F4DFD154-324C-493A-8B14-C5C311BAFB63}" type="pres">
      <dgm:prSet presAssocID="{DCD42ED5-D90C-485D-B30B-1FB60D494DAF}" presName="node" presStyleLbl="node1" presStyleIdx="2" presStyleCnt="5">
        <dgm:presLayoutVars>
          <dgm:bulletEnabled val="1"/>
        </dgm:presLayoutVars>
      </dgm:prSet>
      <dgm:spPr/>
    </dgm:pt>
    <dgm:pt modelId="{F1C93665-FFED-405E-A022-9B18E2C5006A}" type="pres">
      <dgm:prSet presAssocID="{DCD42ED5-D90C-485D-B30B-1FB60D494DAF}" presName="spNode" presStyleCnt="0"/>
      <dgm:spPr/>
    </dgm:pt>
    <dgm:pt modelId="{C2396D7C-7145-452D-BDC3-EC69312E05B3}" type="pres">
      <dgm:prSet presAssocID="{7D3C33B1-B647-4232-A3AF-436048375497}" presName="sibTrans" presStyleLbl="sibTrans1D1" presStyleIdx="2" presStyleCnt="5"/>
      <dgm:spPr/>
    </dgm:pt>
    <dgm:pt modelId="{B2F30FA5-1A12-44D1-9D9F-A3452EA967CE}" type="pres">
      <dgm:prSet presAssocID="{106B5EC2-D11B-4A1C-8FD5-7270A2ABA1CB}" presName="node" presStyleLbl="node1" presStyleIdx="3" presStyleCnt="5">
        <dgm:presLayoutVars>
          <dgm:bulletEnabled val="1"/>
        </dgm:presLayoutVars>
      </dgm:prSet>
      <dgm:spPr/>
    </dgm:pt>
    <dgm:pt modelId="{FF92442E-03EE-4DDB-B1CE-571478342BFE}" type="pres">
      <dgm:prSet presAssocID="{106B5EC2-D11B-4A1C-8FD5-7270A2ABA1CB}" presName="spNode" presStyleCnt="0"/>
      <dgm:spPr/>
    </dgm:pt>
    <dgm:pt modelId="{F70412E3-8CE3-4671-995E-BFA354F74446}" type="pres">
      <dgm:prSet presAssocID="{B8BF7B5A-0733-47E8-AA5A-726F41333AC7}" presName="sibTrans" presStyleLbl="sibTrans1D1" presStyleIdx="3" presStyleCnt="5"/>
      <dgm:spPr/>
    </dgm:pt>
    <dgm:pt modelId="{17717BE5-C855-4B33-B0A7-0AE225F4FC5A}" type="pres">
      <dgm:prSet presAssocID="{150FFD7D-E93A-46D6-B700-237F9824426B}" presName="node" presStyleLbl="node1" presStyleIdx="4" presStyleCnt="5">
        <dgm:presLayoutVars>
          <dgm:bulletEnabled val="1"/>
        </dgm:presLayoutVars>
      </dgm:prSet>
      <dgm:spPr/>
    </dgm:pt>
    <dgm:pt modelId="{497A87F8-7B3A-41C5-B30F-A76302669333}" type="pres">
      <dgm:prSet presAssocID="{150FFD7D-E93A-46D6-B700-237F9824426B}" presName="spNode" presStyleCnt="0"/>
      <dgm:spPr/>
    </dgm:pt>
    <dgm:pt modelId="{C27D685B-4ACB-4A4B-80B4-1E50A51525E2}" type="pres">
      <dgm:prSet presAssocID="{D0827DBD-5B1E-4090-8C18-E0351CC49640}" presName="sibTrans" presStyleLbl="sibTrans1D1" presStyleIdx="4" presStyleCnt="5"/>
      <dgm:spPr/>
    </dgm:pt>
  </dgm:ptLst>
  <dgm:cxnLst>
    <dgm:cxn modelId="{1CE65316-9668-4B62-BAB1-43EFBC3ADFF9}" type="presOf" srcId="{AD44D484-F680-49EF-8AC9-DC2647FC45FC}" destId="{9D989A91-44F2-44D0-9E36-3693EB95A96E}" srcOrd="0" destOrd="0" presId="urn:microsoft.com/office/officeart/2005/8/layout/cycle6"/>
    <dgm:cxn modelId="{7E78B621-4981-44C3-8034-6E252A97C872}" type="presOf" srcId="{F1944DC9-5749-488A-9062-91882C08ED3A}" destId="{33781712-F06A-41BF-9375-E76F1119039E}" srcOrd="0" destOrd="0" presId="urn:microsoft.com/office/officeart/2005/8/layout/cycle6"/>
    <dgm:cxn modelId="{C9847B24-7346-4AA6-8C6D-0C096A720A34}" type="presOf" srcId="{DCD42ED5-D90C-485D-B30B-1FB60D494DAF}" destId="{F4DFD154-324C-493A-8B14-C5C311BAFB63}" srcOrd="0" destOrd="0" presId="urn:microsoft.com/office/officeart/2005/8/layout/cycle6"/>
    <dgm:cxn modelId="{07DD9C3A-EE5F-46A1-A22D-AE3E71181848}" type="presOf" srcId="{D0827DBD-5B1E-4090-8C18-E0351CC49640}" destId="{C27D685B-4ACB-4A4B-80B4-1E50A51525E2}" srcOrd="0" destOrd="0" presId="urn:microsoft.com/office/officeart/2005/8/layout/cycle6"/>
    <dgm:cxn modelId="{4E5A3465-1AF7-417C-8C6C-AD239C5EE92E}" type="presOf" srcId="{7D3C33B1-B647-4232-A3AF-436048375497}" destId="{C2396D7C-7145-452D-BDC3-EC69312E05B3}" srcOrd="0" destOrd="0" presId="urn:microsoft.com/office/officeart/2005/8/layout/cycle6"/>
    <dgm:cxn modelId="{4B171446-6CA0-4FB1-8322-6B72C4CCD208}" type="presOf" srcId="{106B5EC2-D11B-4A1C-8FD5-7270A2ABA1CB}" destId="{B2F30FA5-1A12-44D1-9D9F-A3452EA967CE}" srcOrd="0" destOrd="0" presId="urn:microsoft.com/office/officeart/2005/8/layout/cycle6"/>
    <dgm:cxn modelId="{1BFC2D66-6F43-48B8-91E1-141FEDAA7CEB}" srcId="{E30F1E51-2C28-4717-AC2B-4BD582CE7264}" destId="{DCD42ED5-D90C-485D-B30B-1FB60D494DAF}" srcOrd="2" destOrd="0" parTransId="{B5C470C3-9625-4767-8EBE-8BC2B646B698}" sibTransId="{7D3C33B1-B647-4232-A3AF-436048375497}"/>
    <dgm:cxn modelId="{1B951C49-BCB9-462F-9C65-99B3AAF06E48}" type="presOf" srcId="{150FFD7D-E93A-46D6-B700-237F9824426B}" destId="{17717BE5-C855-4B33-B0A7-0AE225F4FC5A}" srcOrd="0" destOrd="0" presId="urn:microsoft.com/office/officeart/2005/8/layout/cycle6"/>
    <dgm:cxn modelId="{062BC14A-97E4-4720-A676-8523B06749A4}" srcId="{E30F1E51-2C28-4717-AC2B-4BD582CE7264}" destId="{7A1E8F41-8BF0-427E-98EB-BFC17BA5642A}" srcOrd="0" destOrd="0" parTransId="{58A5E444-A80D-4036-BD05-496DF1E6F5BC}" sibTransId="{B8EF50DB-2426-4328-A6D1-D3791E5499DF}"/>
    <dgm:cxn modelId="{147A3B6E-288E-43FA-AAA8-23FB5782A20E}" type="presOf" srcId="{E30F1E51-2C28-4717-AC2B-4BD582CE7264}" destId="{167BF846-F7BC-4EA8-B9D8-5781D43253B2}" srcOrd="0" destOrd="0" presId="urn:microsoft.com/office/officeart/2005/8/layout/cycle6"/>
    <dgm:cxn modelId="{C02C289A-0680-4786-B4B5-F8358BCD010A}" type="presOf" srcId="{B8BF7B5A-0733-47E8-AA5A-726F41333AC7}" destId="{F70412E3-8CE3-4671-995E-BFA354F74446}" srcOrd="0" destOrd="0" presId="urn:microsoft.com/office/officeart/2005/8/layout/cycle6"/>
    <dgm:cxn modelId="{00C3D7A7-960A-4F76-BE6B-B08BA4F95E40}" srcId="{E30F1E51-2C28-4717-AC2B-4BD582CE7264}" destId="{F1944DC9-5749-488A-9062-91882C08ED3A}" srcOrd="1" destOrd="0" parTransId="{4E3656D3-FDD9-45FC-A231-49F023D9E753}" sibTransId="{AD44D484-F680-49EF-8AC9-DC2647FC45FC}"/>
    <dgm:cxn modelId="{9BC7C6C9-FE7C-40D7-A2AD-121EFB078644}" type="presOf" srcId="{7A1E8F41-8BF0-427E-98EB-BFC17BA5642A}" destId="{A4920B58-B3F0-401E-BE0A-ABD628B5A529}" srcOrd="0" destOrd="0" presId="urn:microsoft.com/office/officeart/2005/8/layout/cycle6"/>
    <dgm:cxn modelId="{A2944CE4-0CDE-447B-ACAC-6807F1A2AA28}" srcId="{E30F1E51-2C28-4717-AC2B-4BD582CE7264}" destId="{150FFD7D-E93A-46D6-B700-237F9824426B}" srcOrd="4" destOrd="0" parTransId="{AE56E902-4D1B-4552-84C8-C1F1A312348C}" sibTransId="{D0827DBD-5B1E-4090-8C18-E0351CC49640}"/>
    <dgm:cxn modelId="{F0E9DAE9-CBBA-467A-BB5A-3A20BBA40B50}" type="presOf" srcId="{B8EF50DB-2426-4328-A6D1-D3791E5499DF}" destId="{BF087E56-EE02-4924-A0A4-7CC7F05E7141}" srcOrd="0" destOrd="0" presId="urn:microsoft.com/office/officeart/2005/8/layout/cycle6"/>
    <dgm:cxn modelId="{D7BD41F3-67BC-42D8-8350-766761A5DFBB}" srcId="{E30F1E51-2C28-4717-AC2B-4BD582CE7264}" destId="{106B5EC2-D11B-4A1C-8FD5-7270A2ABA1CB}" srcOrd="3" destOrd="0" parTransId="{F2066CD3-923F-4914-BC73-95829AE74F70}" sibTransId="{B8BF7B5A-0733-47E8-AA5A-726F41333AC7}"/>
    <dgm:cxn modelId="{B16FF544-93B0-4D19-B3E8-A0C19F37C0E0}" type="presParOf" srcId="{167BF846-F7BC-4EA8-B9D8-5781D43253B2}" destId="{A4920B58-B3F0-401E-BE0A-ABD628B5A529}" srcOrd="0" destOrd="0" presId="urn:microsoft.com/office/officeart/2005/8/layout/cycle6"/>
    <dgm:cxn modelId="{2DE56116-501F-43B3-88D2-6B06BFED8687}" type="presParOf" srcId="{167BF846-F7BC-4EA8-B9D8-5781D43253B2}" destId="{A6D33C09-0345-4243-BDCC-42A2B8897513}" srcOrd="1" destOrd="0" presId="urn:microsoft.com/office/officeart/2005/8/layout/cycle6"/>
    <dgm:cxn modelId="{26C381E1-1136-4D5B-B115-0D470D61A850}" type="presParOf" srcId="{167BF846-F7BC-4EA8-B9D8-5781D43253B2}" destId="{BF087E56-EE02-4924-A0A4-7CC7F05E7141}" srcOrd="2" destOrd="0" presId="urn:microsoft.com/office/officeart/2005/8/layout/cycle6"/>
    <dgm:cxn modelId="{82131ACB-4CC7-4F96-8621-5493235F53FD}" type="presParOf" srcId="{167BF846-F7BC-4EA8-B9D8-5781D43253B2}" destId="{33781712-F06A-41BF-9375-E76F1119039E}" srcOrd="3" destOrd="0" presId="urn:microsoft.com/office/officeart/2005/8/layout/cycle6"/>
    <dgm:cxn modelId="{57B0B3A8-9023-476A-8BE9-552BAE9B014B}" type="presParOf" srcId="{167BF846-F7BC-4EA8-B9D8-5781D43253B2}" destId="{CE5D773C-E11D-477F-81A6-2D6C3BF9386D}" srcOrd="4" destOrd="0" presId="urn:microsoft.com/office/officeart/2005/8/layout/cycle6"/>
    <dgm:cxn modelId="{EB3D0086-7005-4BB5-B202-4D0E7B5859C1}" type="presParOf" srcId="{167BF846-F7BC-4EA8-B9D8-5781D43253B2}" destId="{9D989A91-44F2-44D0-9E36-3693EB95A96E}" srcOrd="5" destOrd="0" presId="urn:microsoft.com/office/officeart/2005/8/layout/cycle6"/>
    <dgm:cxn modelId="{ADA193F2-EEDB-4888-BA38-5F445E1E2F87}" type="presParOf" srcId="{167BF846-F7BC-4EA8-B9D8-5781D43253B2}" destId="{F4DFD154-324C-493A-8B14-C5C311BAFB63}" srcOrd="6" destOrd="0" presId="urn:microsoft.com/office/officeart/2005/8/layout/cycle6"/>
    <dgm:cxn modelId="{28DFDDCD-8558-405E-9822-FE1E5755B57A}" type="presParOf" srcId="{167BF846-F7BC-4EA8-B9D8-5781D43253B2}" destId="{F1C93665-FFED-405E-A022-9B18E2C5006A}" srcOrd="7" destOrd="0" presId="urn:microsoft.com/office/officeart/2005/8/layout/cycle6"/>
    <dgm:cxn modelId="{497ECC20-8FF4-4527-9D6C-93AED967BE40}" type="presParOf" srcId="{167BF846-F7BC-4EA8-B9D8-5781D43253B2}" destId="{C2396D7C-7145-452D-BDC3-EC69312E05B3}" srcOrd="8" destOrd="0" presId="urn:microsoft.com/office/officeart/2005/8/layout/cycle6"/>
    <dgm:cxn modelId="{A28BCBD1-A459-47E2-B341-09884BB55A9D}" type="presParOf" srcId="{167BF846-F7BC-4EA8-B9D8-5781D43253B2}" destId="{B2F30FA5-1A12-44D1-9D9F-A3452EA967CE}" srcOrd="9" destOrd="0" presId="urn:microsoft.com/office/officeart/2005/8/layout/cycle6"/>
    <dgm:cxn modelId="{4D962AFC-B5F1-41EF-ADB3-A527BA4E0BE8}" type="presParOf" srcId="{167BF846-F7BC-4EA8-B9D8-5781D43253B2}" destId="{FF92442E-03EE-4DDB-B1CE-571478342BFE}" srcOrd="10" destOrd="0" presId="urn:microsoft.com/office/officeart/2005/8/layout/cycle6"/>
    <dgm:cxn modelId="{FB8ABF24-E9D6-41A7-BD9D-057A31FEDD4A}" type="presParOf" srcId="{167BF846-F7BC-4EA8-B9D8-5781D43253B2}" destId="{F70412E3-8CE3-4671-995E-BFA354F74446}" srcOrd="11" destOrd="0" presId="urn:microsoft.com/office/officeart/2005/8/layout/cycle6"/>
    <dgm:cxn modelId="{2F6FD934-4884-4C53-B6A9-9667A4E4499C}" type="presParOf" srcId="{167BF846-F7BC-4EA8-B9D8-5781D43253B2}" destId="{17717BE5-C855-4B33-B0A7-0AE225F4FC5A}" srcOrd="12" destOrd="0" presId="urn:microsoft.com/office/officeart/2005/8/layout/cycle6"/>
    <dgm:cxn modelId="{E44BAE25-2745-4C14-A38B-0C4FFEAA8BE3}" type="presParOf" srcId="{167BF846-F7BC-4EA8-B9D8-5781D43253B2}" destId="{497A87F8-7B3A-41C5-B30F-A76302669333}" srcOrd="13" destOrd="0" presId="urn:microsoft.com/office/officeart/2005/8/layout/cycle6"/>
    <dgm:cxn modelId="{03B40C02-054C-4BAB-A2BA-5F97E64A1534}" type="presParOf" srcId="{167BF846-F7BC-4EA8-B9D8-5781D43253B2}" destId="{C27D685B-4ACB-4A4B-80B4-1E50A51525E2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D77450-930C-4626-962B-5BF0BD9FF649}">
      <dsp:nvSpPr>
        <dsp:cNvPr id="0" name=""/>
        <dsp:cNvSpPr/>
      </dsp:nvSpPr>
      <dsp:spPr>
        <a:xfrm>
          <a:off x="1558" y="1511700"/>
          <a:ext cx="1302663" cy="6513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Channels</a:t>
          </a:r>
        </a:p>
      </dsp:txBody>
      <dsp:txXfrm>
        <a:off x="20635" y="1530777"/>
        <a:ext cx="1264509" cy="613177"/>
      </dsp:txXfrm>
    </dsp:sp>
    <dsp:sp modelId="{901CBFFD-3372-42AF-8D75-5F6DEA87B9EA}">
      <dsp:nvSpPr>
        <dsp:cNvPr id="0" name=""/>
        <dsp:cNvSpPr/>
      </dsp:nvSpPr>
      <dsp:spPr>
        <a:xfrm rot="17692822">
          <a:off x="945508" y="1259640"/>
          <a:ext cx="1238494" cy="31904"/>
        </a:xfrm>
        <a:custGeom>
          <a:avLst/>
          <a:gdLst/>
          <a:ahLst/>
          <a:cxnLst/>
          <a:rect l="0" t="0" r="0" b="0"/>
          <a:pathLst>
            <a:path>
              <a:moveTo>
                <a:pt x="0" y="15952"/>
              </a:moveTo>
              <a:lnTo>
                <a:pt x="1238494" y="159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533793" y="1244629"/>
        <a:ext cx="61924" cy="61924"/>
      </dsp:txXfrm>
    </dsp:sp>
    <dsp:sp modelId="{B4A08935-79AB-4534-9FEE-DAD51BB964DE}">
      <dsp:nvSpPr>
        <dsp:cNvPr id="0" name=""/>
        <dsp:cNvSpPr/>
      </dsp:nvSpPr>
      <dsp:spPr>
        <a:xfrm>
          <a:off x="1825288" y="458867"/>
          <a:ext cx="1302663" cy="5099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Emails</a:t>
          </a:r>
        </a:p>
      </dsp:txBody>
      <dsp:txXfrm>
        <a:off x="1840222" y="473801"/>
        <a:ext cx="1272795" cy="480033"/>
      </dsp:txXfrm>
    </dsp:sp>
    <dsp:sp modelId="{5F4069C4-3915-4752-AA45-EFE87DAE77F7}">
      <dsp:nvSpPr>
        <dsp:cNvPr id="0" name=""/>
        <dsp:cNvSpPr/>
      </dsp:nvSpPr>
      <dsp:spPr>
        <a:xfrm rot="19169241">
          <a:off x="1222067" y="1598798"/>
          <a:ext cx="685375" cy="31904"/>
        </a:xfrm>
        <a:custGeom>
          <a:avLst/>
          <a:gdLst/>
          <a:ahLst/>
          <a:cxnLst/>
          <a:rect l="0" t="0" r="0" b="0"/>
          <a:pathLst>
            <a:path>
              <a:moveTo>
                <a:pt x="0" y="15952"/>
              </a:moveTo>
              <a:lnTo>
                <a:pt x="685375" y="159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547621" y="1597616"/>
        <a:ext cx="34268" cy="34268"/>
      </dsp:txXfrm>
    </dsp:sp>
    <dsp:sp modelId="{1CD72CD3-2B8E-4081-8C2D-DAB76B94D325}">
      <dsp:nvSpPr>
        <dsp:cNvPr id="0" name=""/>
        <dsp:cNvSpPr/>
      </dsp:nvSpPr>
      <dsp:spPr>
        <a:xfrm>
          <a:off x="1825288" y="1066469"/>
          <a:ext cx="1302663" cy="6513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Host simulation games for competition</a:t>
          </a:r>
        </a:p>
      </dsp:txBody>
      <dsp:txXfrm>
        <a:off x="1844365" y="1085546"/>
        <a:ext cx="1264509" cy="613177"/>
      </dsp:txXfrm>
    </dsp:sp>
    <dsp:sp modelId="{B2882266-A8E7-4EE8-B013-22F8DD38E57E}">
      <dsp:nvSpPr>
        <dsp:cNvPr id="0" name=""/>
        <dsp:cNvSpPr/>
      </dsp:nvSpPr>
      <dsp:spPr>
        <a:xfrm rot="1814627">
          <a:off x="1263174" y="1973314"/>
          <a:ext cx="603161" cy="31904"/>
        </a:xfrm>
        <a:custGeom>
          <a:avLst/>
          <a:gdLst/>
          <a:ahLst/>
          <a:cxnLst/>
          <a:rect l="0" t="0" r="0" b="0"/>
          <a:pathLst>
            <a:path>
              <a:moveTo>
                <a:pt x="0" y="15952"/>
              </a:moveTo>
              <a:lnTo>
                <a:pt x="603161" y="159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549676" y="1974187"/>
        <a:ext cx="30158" cy="30158"/>
      </dsp:txXfrm>
    </dsp:sp>
    <dsp:sp modelId="{FB655800-B72D-4D10-9A38-4C20C61B8752}">
      <dsp:nvSpPr>
        <dsp:cNvPr id="0" name=""/>
        <dsp:cNvSpPr/>
      </dsp:nvSpPr>
      <dsp:spPr>
        <a:xfrm>
          <a:off x="1825288" y="1815500"/>
          <a:ext cx="1302663" cy="6513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Customized college pages on D2C website</a:t>
          </a:r>
          <a:endParaRPr lang="en-US" sz="1200" kern="1200" dirty="0"/>
        </a:p>
      </dsp:txBody>
      <dsp:txXfrm>
        <a:off x="1844365" y="1834577"/>
        <a:ext cx="1264509" cy="613177"/>
      </dsp:txXfrm>
    </dsp:sp>
    <dsp:sp modelId="{9FC91BF0-2DB6-41CD-ABEB-2EAF5CD0D6CB}">
      <dsp:nvSpPr>
        <dsp:cNvPr id="0" name=""/>
        <dsp:cNvSpPr/>
      </dsp:nvSpPr>
      <dsp:spPr>
        <a:xfrm rot="3820102">
          <a:off x="977395" y="2347830"/>
          <a:ext cx="1174719" cy="31904"/>
        </a:xfrm>
        <a:custGeom>
          <a:avLst/>
          <a:gdLst/>
          <a:ahLst/>
          <a:cxnLst/>
          <a:rect l="0" t="0" r="0" b="0"/>
          <a:pathLst>
            <a:path>
              <a:moveTo>
                <a:pt x="0" y="15952"/>
              </a:moveTo>
              <a:lnTo>
                <a:pt x="1174719" y="159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535387" y="2334414"/>
        <a:ext cx="58735" cy="58735"/>
      </dsp:txXfrm>
    </dsp:sp>
    <dsp:sp modelId="{EF39EF77-BE59-445C-9F6D-C7B025DE0579}">
      <dsp:nvSpPr>
        <dsp:cNvPr id="0" name=""/>
        <dsp:cNvSpPr/>
      </dsp:nvSpPr>
      <dsp:spPr>
        <a:xfrm>
          <a:off x="1825288" y="2564532"/>
          <a:ext cx="1302663" cy="6513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Social Media </a:t>
          </a:r>
        </a:p>
      </dsp:txBody>
      <dsp:txXfrm>
        <a:off x="1844365" y="2583609"/>
        <a:ext cx="1264509" cy="6131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2B6176-45F6-4D42-B6EC-49E2B55CA819}">
      <dsp:nvSpPr>
        <dsp:cNvPr id="0" name=""/>
        <dsp:cNvSpPr/>
      </dsp:nvSpPr>
      <dsp:spPr>
        <a:xfrm rot="16200000">
          <a:off x="241529" y="-241529"/>
          <a:ext cx="1585587" cy="2068646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4200" kern="1200" dirty="0">
            <a:solidFill>
              <a:schemeClr val="tx1"/>
            </a:solidFill>
          </a:endParaRPr>
        </a:p>
      </dsp:txBody>
      <dsp:txXfrm rot="5400000">
        <a:off x="-1" y="1"/>
        <a:ext cx="2068646" cy="1189190"/>
      </dsp:txXfrm>
    </dsp:sp>
    <dsp:sp modelId="{8F456942-9467-45F9-AEDE-B6F90D455BAA}">
      <dsp:nvSpPr>
        <dsp:cNvPr id="0" name=""/>
        <dsp:cNvSpPr/>
      </dsp:nvSpPr>
      <dsp:spPr>
        <a:xfrm>
          <a:off x="2068646" y="0"/>
          <a:ext cx="2068646" cy="1585587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200" kern="1200" dirty="0">
            <a:solidFill>
              <a:schemeClr val="tx1"/>
            </a:solidFill>
          </a:endParaRPr>
        </a:p>
      </dsp:txBody>
      <dsp:txXfrm>
        <a:off x="2068646" y="0"/>
        <a:ext cx="2068646" cy="1189190"/>
      </dsp:txXfrm>
    </dsp:sp>
    <dsp:sp modelId="{0CE65359-2BC1-40AD-A1A0-3BC194E09B84}">
      <dsp:nvSpPr>
        <dsp:cNvPr id="0" name=""/>
        <dsp:cNvSpPr/>
      </dsp:nvSpPr>
      <dsp:spPr>
        <a:xfrm rot="10800000">
          <a:off x="0" y="1585587"/>
          <a:ext cx="2068646" cy="1585587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200" kern="1200" dirty="0">
            <a:solidFill>
              <a:schemeClr val="tx1"/>
            </a:solidFill>
          </a:endParaRPr>
        </a:p>
      </dsp:txBody>
      <dsp:txXfrm rot="10800000">
        <a:off x="0" y="1981984"/>
        <a:ext cx="2068646" cy="1189190"/>
      </dsp:txXfrm>
    </dsp:sp>
    <dsp:sp modelId="{5ADE77BB-3B6D-4506-91C2-61686D0C8ACA}">
      <dsp:nvSpPr>
        <dsp:cNvPr id="0" name=""/>
        <dsp:cNvSpPr/>
      </dsp:nvSpPr>
      <dsp:spPr>
        <a:xfrm rot="5400000">
          <a:off x="2310176" y="1344058"/>
          <a:ext cx="1585587" cy="2068646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200" kern="1200" dirty="0">
            <a:solidFill>
              <a:schemeClr val="tx1"/>
            </a:solidFill>
          </a:endParaRPr>
        </a:p>
      </dsp:txBody>
      <dsp:txXfrm rot="-5400000">
        <a:off x="2068646" y="1981984"/>
        <a:ext cx="2068646" cy="1189190"/>
      </dsp:txXfrm>
    </dsp:sp>
    <dsp:sp modelId="{27F33B8F-8216-4342-9BC2-60BE4AFFBB92}">
      <dsp:nvSpPr>
        <dsp:cNvPr id="0" name=""/>
        <dsp:cNvSpPr/>
      </dsp:nvSpPr>
      <dsp:spPr>
        <a:xfrm>
          <a:off x="1608972" y="1313520"/>
          <a:ext cx="919347" cy="544133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SWOT</a:t>
          </a:r>
          <a:endParaRPr lang="en-US" sz="1800" b="1" kern="1200" dirty="0"/>
        </a:p>
      </dsp:txBody>
      <dsp:txXfrm>
        <a:off x="1635534" y="1340082"/>
        <a:ext cx="866223" cy="4910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20B58-B3F0-401E-BE0A-ABD628B5A529}">
      <dsp:nvSpPr>
        <dsp:cNvPr id="0" name=""/>
        <dsp:cNvSpPr/>
      </dsp:nvSpPr>
      <dsp:spPr>
        <a:xfrm>
          <a:off x="1703177" y="9848"/>
          <a:ext cx="1036777" cy="6739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Large user database</a:t>
          </a:r>
          <a:endParaRPr lang="en-IN" sz="1200" kern="1200" dirty="0"/>
        </a:p>
      </dsp:txBody>
      <dsp:txXfrm>
        <a:off x="1736074" y="42745"/>
        <a:ext cx="970983" cy="608111"/>
      </dsp:txXfrm>
    </dsp:sp>
    <dsp:sp modelId="{BF087E56-EE02-4924-A0A4-7CC7F05E7141}">
      <dsp:nvSpPr>
        <dsp:cNvPr id="0" name=""/>
        <dsp:cNvSpPr/>
      </dsp:nvSpPr>
      <dsp:spPr>
        <a:xfrm>
          <a:off x="986227" y="344384"/>
          <a:ext cx="2693717" cy="2693717"/>
        </a:xfrm>
        <a:custGeom>
          <a:avLst/>
          <a:gdLst/>
          <a:ahLst/>
          <a:cxnLst/>
          <a:rect l="0" t="0" r="0" b="0"/>
          <a:pathLst>
            <a:path>
              <a:moveTo>
                <a:pt x="1762090" y="65604"/>
              </a:moveTo>
              <a:arcTo wR="1346858" hR="1346858" stAng="17277395" swAng="223800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81712-F06A-41BF-9375-E76F1119039E}">
      <dsp:nvSpPr>
        <dsp:cNvPr id="0" name=""/>
        <dsp:cNvSpPr/>
      </dsp:nvSpPr>
      <dsp:spPr>
        <a:xfrm>
          <a:off x="3090752" y="930899"/>
          <a:ext cx="1036777" cy="6739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Student and corporate community</a:t>
          </a:r>
          <a:endParaRPr lang="en-IN" sz="1200" kern="1200" dirty="0"/>
        </a:p>
      </dsp:txBody>
      <dsp:txXfrm>
        <a:off x="3123649" y="963796"/>
        <a:ext cx="970983" cy="608111"/>
      </dsp:txXfrm>
    </dsp:sp>
    <dsp:sp modelId="{9D989A91-44F2-44D0-9E36-3693EB95A96E}">
      <dsp:nvSpPr>
        <dsp:cNvPr id="0" name=""/>
        <dsp:cNvSpPr/>
      </dsp:nvSpPr>
      <dsp:spPr>
        <a:xfrm>
          <a:off x="981344" y="337196"/>
          <a:ext cx="2693717" cy="2693717"/>
        </a:xfrm>
        <a:custGeom>
          <a:avLst/>
          <a:gdLst/>
          <a:ahLst/>
          <a:cxnLst/>
          <a:rect l="0" t="0" r="0" b="0"/>
          <a:pathLst>
            <a:path>
              <a:moveTo>
                <a:pt x="2691863" y="1276220"/>
              </a:moveTo>
              <a:arcTo wR="1346858" hR="1346858" stAng="21419620" swAng="2196903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DFD154-324C-493A-8B14-C5C311BAFB63}">
      <dsp:nvSpPr>
        <dsp:cNvPr id="0" name=""/>
        <dsp:cNvSpPr/>
      </dsp:nvSpPr>
      <dsp:spPr>
        <a:xfrm>
          <a:off x="2601477" y="2436733"/>
          <a:ext cx="1036777" cy="6739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User friendly platform</a:t>
          </a:r>
          <a:endParaRPr lang="en-IN" sz="1200" kern="1200" dirty="0"/>
        </a:p>
      </dsp:txBody>
      <dsp:txXfrm>
        <a:off x="2634374" y="2469630"/>
        <a:ext cx="970983" cy="608111"/>
      </dsp:txXfrm>
    </dsp:sp>
    <dsp:sp modelId="{C2396D7C-7145-452D-BDC3-EC69312E05B3}">
      <dsp:nvSpPr>
        <dsp:cNvPr id="0" name=""/>
        <dsp:cNvSpPr/>
      </dsp:nvSpPr>
      <dsp:spPr>
        <a:xfrm>
          <a:off x="981344" y="337196"/>
          <a:ext cx="2693717" cy="2693717"/>
        </a:xfrm>
        <a:custGeom>
          <a:avLst/>
          <a:gdLst/>
          <a:ahLst/>
          <a:cxnLst/>
          <a:rect l="0" t="0" r="0" b="0"/>
          <a:pathLst>
            <a:path>
              <a:moveTo>
                <a:pt x="1614779" y="2666800"/>
              </a:moveTo>
              <a:arcTo wR="1346858" hR="1346858" stAng="4711562" swAng="137687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F30FA5-1A12-44D1-9D9F-A3452EA967CE}">
      <dsp:nvSpPr>
        <dsp:cNvPr id="0" name=""/>
        <dsp:cNvSpPr/>
      </dsp:nvSpPr>
      <dsp:spPr>
        <a:xfrm>
          <a:off x="1018150" y="2436733"/>
          <a:ext cx="1036777" cy="6739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Low CAC</a:t>
          </a:r>
          <a:endParaRPr lang="en-IN" sz="1200" kern="1200" dirty="0"/>
        </a:p>
      </dsp:txBody>
      <dsp:txXfrm>
        <a:off x="1051047" y="2469630"/>
        <a:ext cx="970983" cy="608111"/>
      </dsp:txXfrm>
    </dsp:sp>
    <dsp:sp modelId="{F70412E3-8CE3-4671-995E-BFA354F74446}">
      <dsp:nvSpPr>
        <dsp:cNvPr id="0" name=""/>
        <dsp:cNvSpPr/>
      </dsp:nvSpPr>
      <dsp:spPr>
        <a:xfrm>
          <a:off x="981344" y="337196"/>
          <a:ext cx="2693717" cy="2693717"/>
        </a:xfrm>
        <a:custGeom>
          <a:avLst/>
          <a:gdLst/>
          <a:ahLst/>
          <a:cxnLst/>
          <a:rect l="0" t="0" r="0" b="0"/>
          <a:pathLst>
            <a:path>
              <a:moveTo>
                <a:pt x="225144" y="2092369"/>
              </a:moveTo>
              <a:arcTo wR="1346858" hR="1346858" stAng="8783477" swAng="2196903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717BE5-C855-4B33-B0A7-0AE225F4FC5A}">
      <dsp:nvSpPr>
        <dsp:cNvPr id="0" name=""/>
        <dsp:cNvSpPr/>
      </dsp:nvSpPr>
      <dsp:spPr>
        <a:xfrm>
          <a:off x="528875" y="930899"/>
          <a:ext cx="1036777" cy="6739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One stop platform</a:t>
          </a:r>
          <a:endParaRPr lang="en-IN" sz="1200" kern="1200" dirty="0"/>
        </a:p>
      </dsp:txBody>
      <dsp:txXfrm>
        <a:off x="561772" y="963796"/>
        <a:ext cx="970983" cy="608111"/>
      </dsp:txXfrm>
    </dsp:sp>
    <dsp:sp modelId="{C27D685B-4ACB-4A4B-80B4-1E50A51525E2}">
      <dsp:nvSpPr>
        <dsp:cNvPr id="0" name=""/>
        <dsp:cNvSpPr/>
      </dsp:nvSpPr>
      <dsp:spPr>
        <a:xfrm>
          <a:off x="974961" y="346572"/>
          <a:ext cx="2693717" cy="2693717"/>
        </a:xfrm>
        <a:custGeom>
          <a:avLst/>
          <a:gdLst/>
          <a:ahLst/>
          <a:cxnLst/>
          <a:rect l="0" t="0" r="0" b="0"/>
          <a:pathLst>
            <a:path>
              <a:moveTo>
                <a:pt x="240370" y="578931"/>
              </a:moveTo>
              <a:arcTo wR="1346858" hR="1346858" stAng="12885690" swAng="165697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B4828-3B8E-4DC3-9E62-085EBC97B19D}" type="datetimeFigureOut">
              <a:rPr lang="en-IN" smtClean="0"/>
              <a:t>08-01-2022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5F5BF-11AB-41E6-917F-7FF11608F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023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11643-F5FD-4881-9CD3-216E5F7406C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14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5F5BF-11AB-41E6-917F-7FF11608F11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717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5D45-02A5-4981-9289-16D66AE89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8D2EDD-52D0-4C17-98EB-2DAFF75A9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82FCB-AC0C-48F3-B242-D4919A819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E1C4D-2B37-4751-8829-C9DA26551D0F}" type="datetimeFigureOut">
              <a:rPr lang="en-IN" smtClean="0"/>
              <a:t>08-01-2022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5780-2EAC-4C56-A907-0FB3EC12D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5C6D-0568-48BE-9247-477C618C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6AAE-42F2-43C2-BF39-D3EB3695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04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73AF-B8E7-4316-8ABB-C3B33AEE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66BDA-C231-46A8-AA8C-6C9972C20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3325B-4A63-4F66-BF27-18713B35B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E1C4D-2B37-4751-8829-C9DA26551D0F}" type="datetimeFigureOut">
              <a:rPr lang="en-IN" smtClean="0"/>
              <a:t>08-01-2022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E3387-2A45-46D4-BDC9-85CFCF4A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9C0ED-D7A1-46B7-909A-F1862D26C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6AAE-42F2-43C2-BF39-D3EB3695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139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BD60-9FC8-43E0-BA6A-06BFBF323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6173C-0A68-402D-AB9C-61B9A7E4D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34C99-CFF1-4A4D-A2BE-3DD12D7F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E1C4D-2B37-4751-8829-C9DA26551D0F}" type="datetimeFigureOut">
              <a:rPr lang="en-IN" smtClean="0"/>
              <a:t>08-01-2022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34630-D7B3-4E51-A49C-FECADE988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B9AD6-1060-490A-BD46-5DE76899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6AAE-42F2-43C2-BF39-D3EB3695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88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586B6-28C5-4143-8399-76A9F1FD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E192F-ED21-4F57-BEBB-A73E9EA2F1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6139D-E23F-44C9-A31F-AD1BCADBE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B0F2B-453A-429C-893B-7D09CCF55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E1C4D-2B37-4751-8829-C9DA26551D0F}" type="datetimeFigureOut">
              <a:rPr lang="en-IN" smtClean="0"/>
              <a:t>08-01-2022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A3C7C-EE55-4B23-B6CC-02ADFDB5F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D1C52-9181-4EE8-B2C8-D904762F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6AAE-42F2-43C2-BF39-D3EB3695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350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C5B97-11B2-4286-8591-689BD2CC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9148C-495E-4E8D-ADD9-EAE1DDD89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7DE90-5A77-493F-9E1B-21515F539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D8525E-215F-4367-9CB6-39C9C9A1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A71049-65A5-47BF-9BA4-9655E1641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29C61D-8982-4884-B680-7BD003361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E1C4D-2B37-4751-8829-C9DA26551D0F}" type="datetimeFigureOut">
              <a:rPr lang="en-IN" smtClean="0"/>
              <a:t>08-01-2022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7C0C4-4BBB-4B63-AA1F-8A10A7C33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B0A69A-C80C-4A51-937C-0FD6B8C0A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6AAE-42F2-43C2-BF39-D3EB3695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826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74AF7-C7CB-4819-8773-5C16CCA7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97284-FE16-450D-9A87-57BBC3F49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E1C4D-2B37-4751-8829-C9DA26551D0F}" type="datetimeFigureOut">
              <a:rPr lang="en-IN" smtClean="0"/>
              <a:t>08-01-2022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C3983-755F-4C16-A6D4-428F5F8F7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64836-32E7-4B2B-B589-33F7BC1D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6AAE-42F2-43C2-BF39-D3EB3695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2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E6E99D-6DDD-4DE5-B632-BA84B3BBA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E1C4D-2B37-4751-8829-C9DA26551D0F}" type="datetimeFigureOut">
              <a:rPr lang="en-IN" smtClean="0"/>
              <a:t>08-01-2022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F4F053-3FA1-41E4-AD6C-10404959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8810A-DD95-4321-A27C-521D46F62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6AAE-42F2-43C2-BF39-D3EB3695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18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250A-96A7-45DF-8577-E190E2BC5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0F2B-EAC4-40C1-BA0E-D2DF3BC8C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35FE0-E348-4817-8FDF-5B8A5A77E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2ACA8-3093-4419-AE5A-B4D15BEF0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E1C4D-2B37-4751-8829-C9DA26551D0F}" type="datetimeFigureOut">
              <a:rPr lang="en-IN" smtClean="0"/>
              <a:t>08-01-2022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69A84-3387-4E18-BD33-75F9F0525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8388D-3A2D-4B8F-B8FA-5EEF18E77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6AAE-42F2-43C2-BF39-D3EB3695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965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12A6-A78A-45A6-9950-BD100FA8E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B96F4B-C82E-44F7-BA77-46DD6C5F21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0EB02-B55B-4B0A-A5EC-083D077A0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49D22-D5CD-42D8-8C34-04824867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E1C4D-2B37-4751-8829-C9DA26551D0F}" type="datetimeFigureOut">
              <a:rPr lang="en-IN" smtClean="0"/>
              <a:t>08-01-2022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C59ED-67E9-4461-86DB-987213EC9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00EB0-0B50-4B02-BD8A-07F76D93A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6AAE-42F2-43C2-BF39-D3EB3695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83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D3C3A-C60F-4581-AA7E-0637684D1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24002F-A4F4-40E4-B36B-9B9678C7F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FB2B3-57E1-4BF3-9CA4-C9C84D2E0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E1C4D-2B37-4751-8829-C9DA26551D0F}" type="datetimeFigureOut">
              <a:rPr lang="en-IN" smtClean="0"/>
              <a:t>08-01-2022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4DB12-C605-45B9-A030-E9AC38468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74B6F-C4EB-4762-B4BD-A5D237AF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6AAE-42F2-43C2-BF39-D3EB3695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96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BBEA17-3829-42A2-901C-9EF5775EAF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D8CC7-B7BC-43AD-8CE2-A3C8B11D5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F544-5008-4E3A-8C82-48C622D6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E1C4D-2B37-4751-8829-C9DA26551D0F}" type="datetimeFigureOut">
              <a:rPr lang="en-IN" smtClean="0"/>
              <a:t>08-01-2022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37AEC-C1CD-4F3F-84D1-6D8E8CB6C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A3C18-BDD4-4966-97E6-518E32196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56AAE-42F2-43C2-BF39-D3EB3695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896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2BBEFB-AEE6-4AEB-B55F-717D807F9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4AE92-04A6-4A42-ADFB-B8F4E1AA9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41303-CCC3-458F-B5A6-BEEDE6B170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E1C4D-2B37-4751-8829-C9DA26551D0F}" type="datetimeFigureOut">
              <a:rPr lang="en-IN" smtClean="0"/>
              <a:t>08-01-2022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1040E-8FC2-45EF-9CD8-B773D6E49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326A7-1F71-4925-9160-A08B96B69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56AAE-42F2-43C2-BF39-D3EB3695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11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image" Target="../media/image5.png"/><Relationship Id="rId3" Type="http://schemas.openxmlformats.org/officeDocument/2006/relationships/diagramData" Target="../diagrams/data1.xml"/><Relationship Id="rId21" Type="http://schemas.openxmlformats.org/officeDocument/2006/relationships/image" Target="../media/image8.png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6" Type="http://schemas.openxmlformats.org/officeDocument/2006/relationships/diagramColors" Target="../diagrams/colors3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23" Type="http://schemas.openxmlformats.org/officeDocument/2006/relationships/image" Target="../media/image10.png"/><Relationship Id="rId10" Type="http://schemas.openxmlformats.org/officeDocument/2006/relationships/diagramQuickStyle" Target="../diagrams/quickStyle2.xml"/><Relationship Id="rId19" Type="http://schemas.openxmlformats.org/officeDocument/2006/relationships/image" Target="../media/image6.svg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sv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3039E7-1F94-4787-A276-94CB5732F18D}"/>
              </a:ext>
            </a:extLst>
          </p:cNvPr>
          <p:cNvSpPr/>
          <p:nvPr/>
        </p:nvSpPr>
        <p:spPr>
          <a:xfrm>
            <a:off x="2942893" y="1857703"/>
            <a:ext cx="6306207" cy="3142593"/>
          </a:xfrm>
          <a:prstGeom prst="roundRect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F0192A-AF3A-4016-B0A6-63B3F8804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4568" y="740084"/>
            <a:ext cx="7721939" cy="702147"/>
          </a:xfrm>
        </p:spPr>
        <p:txBody>
          <a:bodyPr>
            <a:normAutofit/>
          </a:bodyPr>
          <a:lstStyle/>
          <a:p>
            <a:r>
              <a:rPr lang="en-IN" sz="4000" dirty="0"/>
              <a:t>Entrée-preneurship 4.0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0D9F52-1D01-4B64-8CCF-8A5DDD992D49}"/>
              </a:ext>
            </a:extLst>
          </p:cNvPr>
          <p:cNvGrpSpPr/>
          <p:nvPr/>
        </p:nvGrpSpPr>
        <p:grpSpPr>
          <a:xfrm>
            <a:off x="3942833" y="2946483"/>
            <a:ext cx="4306336" cy="1114105"/>
            <a:chOff x="3942835" y="3323229"/>
            <a:chExt cx="4306336" cy="1114105"/>
          </a:xfrm>
        </p:grpSpPr>
        <p:pic>
          <p:nvPicPr>
            <p:cNvPr id="7" name="Picture 6" descr="A person with long hair wearing glasses&#10;&#10;Description automatically generated with low confidence">
              <a:extLst>
                <a:ext uri="{FF2B5EF4-FFF2-40B4-BE49-F238E27FC236}">
                  <a16:creationId xmlns:a16="http://schemas.microsoft.com/office/drawing/2014/main" id="{578628A2-CCAF-47E7-9EC9-F6741946A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55111" y="3323229"/>
              <a:ext cx="940858" cy="111410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 descr="A person in a suit and tie&#10;&#10;Description automatically generated">
              <a:extLst>
                <a:ext uri="{FF2B5EF4-FFF2-40B4-BE49-F238E27FC236}">
                  <a16:creationId xmlns:a16="http://schemas.microsoft.com/office/drawing/2014/main" id="{2941C996-0A7A-42E2-AD3D-350F6CB44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2835" y="3323229"/>
              <a:ext cx="940858" cy="111410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Picture 10" descr="A person wearing glasses and a suit&#10;&#10;Description automatically generated with medium confidence">
              <a:extLst>
                <a:ext uri="{FF2B5EF4-FFF2-40B4-BE49-F238E27FC236}">
                  <a16:creationId xmlns:a16="http://schemas.microsoft.com/office/drawing/2014/main" id="{A034D660-8DD3-4114-8E08-A7BE19B35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08313" y="3323229"/>
              <a:ext cx="940858" cy="111410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5" name="Subtitle 2">
            <a:extLst>
              <a:ext uri="{FF2B5EF4-FFF2-40B4-BE49-F238E27FC236}">
                <a16:creationId xmlns:a16="http://schemas.microsoft.com/office/drawing/2014/main" id="{D6CBFF5F-823A-4EB1-A9E4-94A632137C42}"/>
              </a:ext>
            </a:extLst>
          </p:cNvPr>
          <p:cNvSpPr txBox="1">
            <a:spLocks/>
          </p:cNvSpPr>
          <p:nvPr/>
        </p:nvSpPr>
        <p:spPr>
          <a:xfrm>
            <a:off x="3802024" y="4136034"/>
            <a:ext cx="4763907" cy="297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b="1" dirty="0"/>
              <a:t>Devesh Sinha              Kajal Gupta             Mohit Kiradoo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1F977C5-A5FE-4473-9D65-6AD681E0762E}"/>
              </a:ext>
            </a:extLst>
          </p:cNvPr>
          <p:cNvSpPr txBox="1">
            <a:spLocks/>
          </p:cNvSpPr>
          <p:nvPr/>
        </p:nvSpPr>
        <p:spPr>
          <a:xfrm>
            <a:off x="3714044" y="4507679"/>
            <a:ext cx="4763907" cy="297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/>
              <a:t>T. A. Pai Management Institute</a:t>
            </a:r>
          </a:p>
        </p:txBody>
      </p:sp>
      <p:pic>
        <p:nvPicPr>
          <p:cNvPr id="13" name="Picture 2" descr="tapmi_logo17 - TAPMI">
            <a:extLst>
              <a:ext uri="{FF2B5EF4-FFF2-40B4-BE49-F238E27FC236}">
                <a16:creationId xmlns:a16="http://schemas.microsoft.com/office/drawing/2014/main" id="{305D5170-C582-45F6-9342-8B73D7B6AC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7" t="17626" r="13331" b="21391"/>
          <a:stretch/>
        </p:blipFill>
        <p:spPr bwMode="auto">
          <a:xfrm>
            <a:off x="9409044" y="0"/>
            <a:ext cx="2782956" cy="116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36FF5DB7-06A1-4BDF-B658-A81B55FC9B4A}"/>
              </a:ext>
            </a:extLst>
          </p:cNvPr>
          <p:cNvSpPr txBox="1">
            <a:spLocks/>
          </p:cNvSpPr>
          <p:nvPr/>
        </p:nvSpPr>
        <p:spPr>
          <a:xfrm>
            <a:off x="2235026" y="1943648"/>
            <a:ext cx="7721939" cy="7021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/>
              <a:t>Team Sorted</a:t>
            </a:r>
          </a:p>
        </p:txBody>
      </p:sp>
    </p:spTree>
    <p:extLst>
      <p:ext uri="{BB962C8B-B14F-4D97-AF65-F5344CB8AC3E}">
        <p14:creationId xmlns:p14="http://schemas.microsoft.com/office/powerpoint/2010/main" val="4076549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388E4854-5B2C-4D0A-A8B5-610873BC477B}"/>
              </a:ext>
            </a:extLst>
          </p:cNvPr>
          <p:cNvGrpSpPr/>
          <p:nvPr/>
        </p:nvGrpSpPr>
        <p:grpSpPr>
          <a:xfrm>
            <a:off x="120459" y="935183"/>
            <a:ext cx="11955625" cy="2395251"/>
            <a:chOff x="168812" y="1030857"/>
            <a:chExt cx="11955625" cy="239525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F31EFF9-237C-4BB6-9732-2861AEA5F7EE}"/>
                </a:ext>
              </a:extLst>
            </p:cNvPr>
            <p:cNvSpPr/>
            <p:nvPr/>
          </p:nvSpPr>
          <p:spPr>
            <a:xfrm>
              <a:off x="168812" y="1030857"/>
              <a:ext cx="11955625" cy="2395251"/>
            </a:xfrm>
            <a:prstGeom prst="roundRect">
              <a:avLst/>
            </a:prstGeom>
            <a:solidFill>
              <a:schemeClr val="accent1"/>
            </a:solidFill>
            <a:ln w="28575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EDCB8D8-AE21-4658-BED2-95D45F86F2A8}"/>
                </a:ext>
              </a:extLst>
            </p:cNvPr>
            <p:cNvSpPr txBox="1"/>
            <p:nvPr/>
          </p:nvSpPr>
          <p:spPr>
            <a:xfrm>
              <a:off x="376118" y="1068493"/>
              <a:ext cx="3093241" cy="23391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About Dare2Compete</a:t>
              </a:r>
            </a:p>
            <a:p>
              <a:endParaRPr lang="en-US" sz="1200" b="1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Founded in 2016 by Mr. Ankit Aggarwal, D2C allows businesses to communicate with students, professionals, and employees in the most engaging way possible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It is an easy-to-use website with value added services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Its vision is to create a platform where colleges and management students could interact, share and compete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6E25F95-2024-4C42-B19E-60D1D35E7F16}"/>
                </a:ext>
              </a:extLst>
            </p:cNvPr>
            <p:cNvSpPr txBox="1"/>
            <p:nvPr/>
          </p:nvSpPr>
          <p:spPr>
            <a:xfrm>
              <a:off x="3752747" y="1068493"/>
              <a:ext cx="2816468" cy="23391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b="1" dirty="0">
                  <a:solidFill>
                    <a:schemeClr val="bg1"/>
                  </a:solidFill>
                </a:rPr>
                <a:t>Business Model</a:t>
              </a:r>
            </a:p>
            <a:p>
              <a:pPr lvl="0"/>
              <a:endParaRPr lang="en-US" sz="1200" b="1" dirty="0">
                <a:solidFill>
                  <a:schemeClr val="bg1"/>
                </a:solidFill>
              </a:endParaRPr>
            </a:p>
            <a:p>
              <a:pPr lvl="0"/>
              <a:r>
                <a:rPr lang="en-US" sz="1200" dirty="0">
                  <a:solidFill>
                    <a:schemeClr val="bg1"/>
                  </a:solidFill>
                </a:rPr>
                <a:t>B2B :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200" i="0" u="none" dirty="0">
                  <a:solidFill>
                    <a:schemeClr val="bg1"/>
                  </a:solidFill>
                </a:rPr>
                <a:t>Client Segment : EdTech/Education, Services, Recruitment, Education, Technology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200" i="0" u="none" dirty="0">
                  <a:solidFill>
                    <a:schemeClr val="bg1"/>
                  </a:solidFill>
                </a:rPr>
                <a:t>Target companies : Startup, Medium Enterprise, Large Enterprise, Small Enterprise</a:t>
              </a:r>
            </a:p>
            <a:p>
              <a:pPr lvl="0"/>
              <a:r>
                <a:rPr lang="en-US" sz="1200" dirty="0">
                  <a:solidFill>
                    <a:schemeClr val="bg1"/>
                  </a:solidFill>
                </a:rPr>
                <a:t>B2C :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200" b="0" i="0" u="none" dirty="0">
                  <a:solidFill>
                    <a:schemeClr val="bg1"/>
                  </a:solidFill>
                </a:rPr>
                <a:t>User age :18 – 25, 26 -34, 35 - 45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200" b="0" i="0" u="none" dirty="0">
                  <a:solidFill>
                    <a:schemeClr val="bg1"/>
                  </a:solidFill>
                </a:rPr>
                <a:t>User Personas: Students, Professionals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B11AC4-8253-4AF2-B7AA-B3661193B870}"/>
                </a:ext>
              </a:extLst>
            </p:cNvPr>
            <p:cNvSpPr txBox="1"/>
            <p:nvPr/>
          </p:nvSpPr>
          <p:spPr>
            <a:xfrm>
              <a:off x="6690706" y="1073176"/>
              <a:ext cx="2920858" cy="21544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1400" b="1" i="0" u="none" dirty="0">
                  <a:solidFill>
                    <a:schemeClr val="bg1"/>
                  </a:solidFill>
                </a:rPr>
                <a:t>Key Activities</a:t>
              </a:r>
            </a:p>
            <a:p>
              <a:pPr lvl="0"/>
              <a:endParaRPr lang="en-US" sz="1200" b="1" dirty="0">
                <a:solidFill>
                  <a:schemeClr val="bg1"/>
                </a:solidFill>
              </a:endParaRP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1200" b="0" i="0" u="none" dirty="0">
                  <a:solidFill>
                    <a:schemeClr val="bg1"/>
                  </a:solidFill>
                </a:rPr>
                <a:t>For Students - conducts Competitions, Quizzes, Hackathons, Business Simulation Games, Internships, Scholarships and many  more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 For Companies - Dare2Compete acts as an  employer branding consultant for enhancing the company's brand visibility, brand engagement and brand equity across campuses in India </a:t>
              </a:r>
              <a:endParaRPr lang="en-US" sz="1200" b="0" i="0" u="none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28A2CFD-3E2E-479D-91DC-D31435520BA7}"/>
              </a:ext>
            </a:extLst>
          </p:cNvPr>
          <p:cNvGrpSpPr/>
          <p:nvPr/>
        </p:nvGrpSpPr>
        <p:grpSpPr>
          <a:xfrm>
            <a:off x="4142760" y="3246311"/>
            <a:ext cx="3616038" cy="3674732"/>
            <a:chOff x="4204856" y="3347876"/>
            <a:chExt cx="3616038" cy="3674732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EE85DCA-D065-410A-9A5F-D978EC43C96F}"/>
                </a:ext>
              </a:extLst>
            </p:cNvPr>
            <p:cNvSpPr/>
            <p:nvPr/>
          </p:nvSpPr>
          <p:spPr>
            <a:xfrm>
              <a:off x="4204856" y="3574908"/>
              <a:ext cx="3616038" cy="3220668"/>
            </a:xfrm>
            <a:prstGeom prst="roundRect">
              <a:avLst/>
            </a:prstGeom>
            <a:solidFill>
              <a:schemeClr val="bg1"/>
            </a:solidFill>
            <a:ln w="28575"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aphicFrame>
          <p:nvGraphicFramePr>
            <p:cNvPr id="15" name="Diagram 14">
              <a:extLst>
                <a:ext uri="{FF2B5EF4-FFF2-40B4-BE49-F238E27FC236}">
                  <a16:creationId xmlns:a16="http://schemas.microsoft.com/office/drawing/2014/main" id="{BE251C2D-132C-4925-BA4E-34EE249FB97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70170663"/>
                </p:ext>
              </p:extLst>
            </p:nvPr>
          </p:nvGraphicFramePr>
          <p:xfrm>
            <a:off x="4430217" y="3347876"/>
            <a:ext cx="3129511" cy="367473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96030A-5753-43A6-B21F-13CF4FFAD688}"/>
              </a:ext>
            </a:extLst>
          </p:cNvPr>
          <p:cNvGrpSpPr/>
          <p:nvPr/>
        </p:nvGrpSpPr>
        <p:grpSpPr>
          <a:xfrm>
            <a:off x="7895152" y="3495362"/>
            <a:ext cx="4180249" cy="3671414"/>
            <a:chOff x="6202016" y="1972800"/>
            <a:chExt cx="5768873" cy="4789888"/>
          </a:xfrm>
        </p:grpSpPr>
        <p:graphicFrame>
          <p:nvGraphicFramePr>
            <p:cNvPr id="19" name="Diagram 18">
              <a:extLst>
                <a:ext uri="{FF2B5EF4-FFF2-40B4-BE49-F238E27FC236}">
                  <a16:creationId xmlns:a16="http://schemas.microsoft.com/office/drawing/2014/main" id="{4C68F3AB-B9CE-46CC-94A1-AFF08B1210D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01875159"/>
                </p:ext>
              </p:extLst>
            </p:nvPr>
          </p:nvGraphicFramePr>
          <p:xfrm>
            <a:off x="6202016" y="2001078"/>
            <a:ext cx="5709592" cy="413725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C00F89B-9060-4E2A-9201-35BE9FF1DDA3}"/>
                </a:ext>
              </a:extLst>
            </p:cNvPr>
            <p:cNvSpPr txBox="1"/>
            <p:nvPr/>
          </p:nvSpPr>
          <p:spPr>
            <a:xfrm>
              <a:off x="6320579" y="2011508"/>
              <a:ext cx="2736518" cy="20478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1200" b="1" i="0" u="none" dirty="0">
                  <a:solidFill>
                    <a:schemeClr val="bg1"/>
                  </a:solidFill>
                </a:rPr>
                <a:t>Strengths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1200" b="0" i="0" u="none" dirty="0">
                  <a:solidFill>
                    <a:schemeClr val="bg1"/>
                  </a:solidFill>
                </a:rPr>
                <a:t>Large user base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1200" b="0" i="0" u="none" dirty="0">
                  <a:solidFill>
                    <a:schemeClr val="bg1"/>
                  </a:solidFill>
                </a:rPr>
                <a:t>User friendly platform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1200" b="0" i="0" u="none" dirty="0">
                  <a:solidFill>
                    <a:schemeClr val="bg1"/>
                  </a:solidFill>
                </a:rPr>
                <a:t>Low cost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1200" b="0" i="0" u="none" dirty="0">
                  <a:solidFill>
                    <a:schemeClr val="bg1"/>
                  </a:solidFill>
                </a:rPr>
                <a:t>Great brand value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1200" b="0" i="0" u="none" dirty="0">
                  <a:solidFill>
                    <a:schemeClr val="bg1"/>
                  </a:solidFill>
                </a:rPr>
                <a:t>One stop platform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1200" b="0" i="0" u="none" dirty="0">
                  <a:solidFill>
                    <a:schemeClr val="bg1"/>
                  </a:solidFill>
                </a:rPr>
                <a:t>Diversified revenue stream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1C7BD79-EF7D-435C-BAB6-4AAC504E2DF6}"/>
                </a:ext>
              </a:extLst>
            </p:cNvPr>
            <p:cNvSpPr txBox="1"/>
            <p:nvPr/>
          </p:nvSpPr>
          <p:spPr>
            <a:xfrm>
              <a:off x="9084325" y="1972800"/>
              <a:ext cx="2886564" cy="2529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1200" b="1" i="0" u="none" dirty="0">
                  <a:solidFill>
                    <a:schemeClr val="bg1"/>
                  </a:solidFill>
                </a:rPr>
                <a:t>Weakness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Less awareness about the D2C  mobile app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</a:rPr>
                <a:t>Sometimes the reachability to the host of the competition on the website is not very feasible</a:t>
              </a:r>
            </a:p>
            <a:p>
              <a:pPr lvl="0"/>
              <a:endParaRPr lang="en-US" sz="1200" dirty="0">
                <a:solidFill>
                  <a:schemeClr val="bg1"/>
                </a:solidFill>
              </a:endParaRPr>
            </a:p>
            <a:p>
              <a:pPr lvl="0"/>
              <a:endParaRPr lang="en-US" sz="1200" i="0" u="none" dirty="0">
                <a:solidFill>
                  <a:schemeClr val="bg1"/>
                </a:solidFill>
              </a:endParaRPr>
            </a:p>
            <a:p>
              <a:pPr lvl="0"/>
              <a:endParaRPr lang="en-US" sz="1200" i="0" u="none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3A58D1C-ABD0-4EFD-919A-359101DA7D8D}"/>
                </a:ext>
              </a:extLst>
            </p:cNvPr>
            <p:cNvSpPr txBox="1"/>
            <p:nvPr/>
          </p:nvSpPr>
          <p:spPr>
            <a:xfrm>
              <a:off x="6320577" y="4473917"/>
              <a:ext cx="2823029" cy="2288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1200" b="1" i="0" u="none" dirty="0">
                  <a:solidFill>
                    <a:schemeClr val="bg1"/>
                  </a:solidFill>
                </a:rPr>
                <a:t>Opportunities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1200" b="0" i="0" u="none" dirty="0">
                  <a:solidFill>
                    <a:schemeClr val="bg1"/>
                  </a:solidFill>
                </a:rPr>
                <a:t>Increase mobile presence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1200" b="0" i="0" u="none" dirty="0">
                  <a:solidFill>
                    <a:schemeClr val="bg1"/>
                  </a:solidFill>
                </a:rPr>
                <a:t>Freelancing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sz="1200" b="0" i="0" u="none" dirty="0">
                  <a:solidFill>
                    <a:schemeClr val="bg1"/>
                  </a:solidFill>
                </a:rPr>
                <a:t>Increase in user engagement</a:t>
              </a:r>
            </a:p>
            <a:p>
              <a:pPr lvl="0"/>
              <a:endParaRPr lang="en-US" sz="1200" b="0" i="0" u="none" dirty="0">
                <a:solidFill>
                  <a:schemeClr val="bg1"/>
                </a:solidFill>
              </a:endParaRPr>
            </a:p>
            <a:p>
              <a:pPr lvl="0"/>
              <a:endParaRPr lang="en-US" sz="1200" b="0" i="0" u="none" dirty="0">
                <a:solidFill>
                  <a:schemeClr val="bg1"/>
                </a:solidFill>
              </a:endParaRPr>
            </a:p>
            <a:p>
              <a:pPr lvl="0"/>
              <a:endParaRPr lang="en-US" sz="1200" b="0" i="0" u="none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E47ED36-42D8-4F2C-A1D2-37F29920D199}"/>
                </a:ext>
              </a:extLst>
            </p:cNvPr>
            <p:cNvSpPr txBox="1"/>
            <p:nvPr/>
          </p:nvSpPr>
          <p:spPr>
            <a:xfrm>
              <a:off x="9056812" y="4473918"/>
              <a:ext cx="2553642" cy="13250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1200" b="1" i="0" u="none" dirty="0">
                  <a:solidFill>
                    <a:schemeClr val="bg1"/>
                  </a:solidFill>
                </a:rPr>
                <a:t>Threats</a:t>
              </a:r>
              <a:r>
                <a:rPr lang="en-US" sz="1200" b="0" i="0" dirty="0">
                  <a:solidFill>
                    <a:srgbClr val="BDC1C6"/>
                  </a:solidFill>
                  <a:effectLst/>
                  <a:latin typeface="arial" panose="020B0604020202020204" pitchFamily="34" charset="0"/>
                </a:rPr>
                <a:t>.</a:t>
              </a: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chemeClr val="bg1"/>
                  </a:solidFill>
                  <a:effectLst/>
                  <a:latin typeface="graphikweb-regular"/>
                </a:rPr>
                <a:t>potential competitors may gain entry in the market</a:t>
              </a:r>
              <a:endParaRPr lang="en-US" sz="1200" b="0" i="0" u="none" dirty="0">
                <a:solidFill>
                  <a:schemeClr val="bg1"/>
                </a:solidFill>
              </a:endParaRPr>
            </a:p>
            <a:p>
              <a:pPr lvl="0"/>
              <a:endParaRPr lang="en-US" sz="1200" b="0" i="0" u="none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6158022-E6A7-4E9E-B240-73540D6B6DB3}"/>
              </a:ext>
            </a:extLst>
          </p:cNvPr>
          <p:cNvGrpSpPr/>
          <p:nvPr/>
        </p:nvGrpSpPr>
        <p:grpSpPr>
          <a:xfrm>
            <a:off x="-227897" y="3473343"/>
            <a:ext cx="4656406" cy="3220668"/>
            <a:chOff x="-129099" y="3584845"/>
            <a:chExt cx="4656406" cy="3220668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99E2DA3-1BCD-4AA3-B870-C32ABB5FFACA}"/>
                </a:ext>
              </a:extLst>
            </p:cNvPr>
            <p:cNvSpPr/>
            <p:nvPr/>
          </p:nvSpPr>
          <p:spPr>
            <a:xfrm>
              <a:off x="254846" y="3584845"/>
              <a:ext cx="3850358" cy="3220668"/>
            </a:xfrm>
            <a:prstGeom prst="roundRect">
              <a:avLst/>
            </a:prstGeom>
            <a:solidFill>
              <a:schemeClr val="bg1"/>
            </a:solidFill>
            <a:ln w="28575"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056D5DF-E7C4-4533-AC1A-D40F0B0B54EF}"/>
                </a:ext>
              </a:extLst>
            </p:cNvPr>
            <p:cNvGrpSpPr/>
            <p:nvPr/>
          </p:nvGrpSpPr>
          <p:grpSpPr>
            <a:xfrm>
              <a:off x="-129099" y="3610494"/>
              <a:ext cx="4656406" cy="3155570"/>
              <a:chOff x="0" y="3649943"/>
              <a:chExt cx="4656406" cy="3155570"/>
            </a:xfrm>
          </p:grpSpPr>
          <p:graphicFrame>
            <p:nvGraphicFramePr>
              <p:cNvPr id="8" name="Diagram 7">
                <a:extLst>
                  <a:ext uri="{FF2B5EF4-FFF2-40B4-BE49-F238E27FC236}">
                    <a16:creationId xmlns:a16="http://schemas.microsoft.com/office/drawing/2014/main" id="{8D9F6C1E-35C8-4BF2-BC3E-5CB3C2B9004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37655627"/>
                  </p:ext>
                </p:extLst>
              </p:nvPr>
            </p:nvGraphicFramePr>
            <p:xfrm>
              <a:off x="0" y="3649943"/>
              <a:ext cx="4656406" cy="315557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3" r:lo="rId14" r:qs="rId15" r:cs="rId16"/>
              </a:graphicData>
            </a:graphic>
          </p:graphicFrame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E3597CD-FC11-45B7-8D12-9D04CE49B7A5}"/>
                  </a:ext>
                </a:extLst>
              </p:cNvPr>
              <p:cNvSpPr/>
              <p:nvPr/>
            </p:nvSpPr>
            <p:spPr>
              <a:xfrm>
                <a:off x="1578927" y="4563480"/>
                <a:ext cx="1498552" cy="145345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/>
                  <a:t>Core competencies</a:t>
                </a:r>
                <a:endParaRPr lang="en-IN" sz="1200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84E682A-709D-46C2-B4F3-F45A65AAA454}"/>
              </a:ext>
            </a:extLst>
          </p:cNvPr>
          <p:cNvGrpSpPr/>
          <p:nvPr/>
        </p:nvGrpSpPr>
        <p:grpSpPr>
          <a:xfrm>
            <a:off x="0" y="-4386"/>
            <a:ext cx="12146704" cy="298991"/>
            <a:chOff x="0" y="-4386"/>
            <a:chExt cx="12146704" cy="298991"/>
          </a:xfrm>
        </p:grpSpPr>
        <p:sp>
          <p:nvSpPr>
            <p:cNvPr id="30" name="Arrow: Pentagon 29">
              <a:extLst>
                <a:ext uri="{FF2B5EF4-FFF2-40B4-BE49-F238E27FC236}">
                  <a16:creationId xmlns:a16="http://schemas.microsoft.com/office/drawing/2014/main" id="{682C5330-32C8-4749-A33B-50DDCAA3781C}"/>
                </a:ext>
              </a:extLst>
            </p:cNvPr>
            <p:cNvSpPr/>
            <p:nvPr/>
          </p:nvSpPr>
          <p:spPr>
            <a:xfrm>
              <a:off x="7247843" y="-4386"/>
              <a:ext cx="4898861" cy="294605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The Platform</a:t>
              </a:r>
              <a:endParaRPr lang="en-IN" dirty="0"/>
            </a:p>
          </p:txBody>
        </p:sp>
        <p:sp>
          <p:nvSpPr>
            <p:cNvPr id="29" name="Arrow: Pentagon 28">
              <a:extLst>
                <a:ext uri="{FF2B5EF4-FFF2-40B4-BE49-F238E27FC236}">
                  <a16:creationId xmlns:a16="http://schemas.microsoft.com/office/drawing/2014/main" id="{7ADC75AA-14AF-4BB2-B011-DBFE85A8F52A}"/>
                </a:ext>
              </a:extLst>
            </p:cNvPr>
            <p:cNvSpPr/>
            <p:nvPr/>
          </p:nvSpPr>
          <p:spPr>
            <a:xfrm>
              <a:off x="3316670" y="-2193"/>
              <a:ext cx="4898861" cy="294605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The Sector</a:t>
              </a:r>
              <a:endParaRPr lang="en-IN" dirty="0"/>
            </a:p>
          </p:txBody>
        </p:sp>
        <p:sp>
          <p:nvSpPr>
            <p:cNvPr id="28" name="Arrow: Pentagon 27">
              <a:extLst>
                <a:ext uri="{FF2B5EF4-FFF2-40B4-BE49-F238E27FC236}">
                  <a16:creationId xmlns:a16="http://schemas.microsoft.com/office/drawing/2014/main" id="{D518A032-9CB7-400C-AD2F-72AED4DE26FE}"/>
                </a:ext>
              </a:extLst>
            </p:cNvPr>
            <p:cNvSpPr/>
            <p:nvPr/>
          </p:nvSpPr>
          <p:spPr>
            <a:xfrm>
              <a:off x="0" y="0"/>
              <a:ext cx="4105204" cy="294605"/>
            </a:xfrm>
            <a:prstGeom prst="homePlat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Company Highlights</a:t>
              </a:r>
              <a:endParaRPr lang="en-IN" dirty="0"/>
            </a:p>
          </p:txBody>
        </p:sp>
      </p:grpSp>
      <p:pic>
        <p:nvPicPr>
          <p:cNvPr id="35" name="Graphic 34">
            <a:extLst>
              <a:ext uri="{FF2B5EF4-FFF2-40B4-BE49-F238E27FC236}">
                <a16:creationId xmlns:a16="http://schemas.microsoft.com/office/drawing/2014/main" id="{2E13B595-BB94-4C06-B4B2-7D38AC207D2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0459" y="382740"/>
            <a:ext cx="462457" cy="4624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5A9F043-9A47-46E3-8B4F-F63873AFB99C}"/>
              </a:ext>
            </a:extLst>
          </p:cNvPr>
          <p:cNvGrpSpPr/>
          <p:nvPr/>
        </p:nvGrpSpPr>
        <p:grpSpPr>
          <a:xfrm>
            <a:off x="9995161" y="1392211"/>
            <a:ext cx="1803753" cy="1554486"/>
            <a:chOff x="9945585" y="1332678"/>
            <a:chExt cx="1480340" cy="1367568"/>
          </a:xfrm>
        </p:grpSpPr>
        <p:pic>
          <p:nvPicPr>
            <p:cNvPr id="1026" name="Picture 2" descr="Social media free icon">
              <a:extLst>
                <a:ext uri="{FF2B5EF4-FFF2-40B4-BE49-F238E27FC236}">
                  <a16:creationId xmlns:a16="http://schemas.microsoft.com/office/drawing/2014/main" id="{19F0B10F-DBA8-46F5-8811-8468808B82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51260" y="1332678"/>
              <a:ext cx="521708" cy="521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Ecommerce free icon">
              <a:extLst>
                <a:ext uri="{FF2B5EF4-FFF2-40B4-BE49-F238E27FC236}">
                  <a16:creationId xmlns:a16="http://schemas.microsoft.com/office/drawing/2014/main" id="{B99D1244-D337-431C-AC3D-49E83477D7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97937" y="1332678"/>
              <a:ext cx="527988" cy="5279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Commission free icon">
              <a:extLst>
                <a:ext uri="{FF2B5EF4-FFF2-40B4-BE49-F238E27FC236}">
                  <a16:creationId xmlns:a16="http://schemas.microsoft.com/office/drawing/2014/main" id="{B4549D4C-D275-420D-9663-56BC603E66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45585" y="2172258"/>
              <a:ext cx="521708" cy="521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Subscription free icon">
              <a:extLst>
                <a:ext uri="{FF2B5EF4-FFF2-40B4-BE49-F238E27FC236}">
                  <a16:creationId xmlns:a16="http://schemas.microsoft.com/office/drawing/2014/main" id="{00968557-7235-437A-8FFF-B9E36F3361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91657" y="2172258"/>
              <a:ext cx="527988" cy="5279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78C4B6-617A-46DE-9098-FB8BFBC35B0D}"/>
              </a:ext>
            </a:extLst>
          </p:cNvPr>
          <p:cNvCxnSpPr/>
          <p:nvPr/>
        </p:nvCxnSpPr>
        <p:spPr>
          <a:xfrm>
            <a:off x="3463003" y="1079277"/>
            <a:ext cx="0" cy="2098448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FDA8097-8DA3-4E8D-9D7C-E483DBAFA78F}"/>
              </a:ext>
            </a:extLst>
          </p:cNvPr>
          <p:cNvCxnSpPr/>
          <p:nvPr/>
        </p:nvCxnSpPr>
        <p:spPr>
          <a:xfrm>
            <a:off x="6541478" y="1079277"/>
            <a:ext cx="0" cy="2098448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3426942-5217-492E-A4F2-DD770CDA685F}"/>
              </a:ext>
            </a:extLst>
          </p:cNvPr>
          <p:cNvCxnSpPr/>
          <p:nvPr/>
        </p:nvCxnSpPr>
        <p:spPr>
          <a:xfrm>
            <a:off x="9697273" y="1079277"/>
            <a:ext cx="0" cy="2098448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71F23E3-1592-4712-9B4A-E18B8D3BE8A5}"/>
              </a:ext>
            </a:extLst>
          </p:cNvPr>
          <p:cNvSpPr txBox="1"/>
          <p:nvPr/>
        </p:nvSpPr>
        <p:spPr>
          <a:xfrm>
            <a:off x="10153910" y="978732"/>
            <a:ext cx="1489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Revenue stream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6FD336-5F3E-45E6-B4FE-E86898C56F10}"/>
              </a:ext>
            </a:extLst>
          </p:cNvPr>
          <p:cNvSpPr txBox="1"/>
          <p:nvPr/>
        </p:nvSpPr>
        <p:spPr>
          <a:xfrm>
            <a:off x="11147923" y="2046264"/>
            <a:ext cx="12122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1" dirty="0">
                <a:solidFill>
                  <a:schemeClr val="bg1"/>
                </a:solidFill>
              </a:rPr>
              <a:t>Advertising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93ED21-FC06-484A-B6DD-33CE4B26726E}"/>
              </a:ext>
            </a:extLst>
          </p:cNvPr>
          <p:cNvSpPr txBox="1"/>
          <p:nvPr/>
        </p:nvSpPr>
        <p:spPr>
          <a:xfrm>
            <a:off x="11158538" y="2943275"/>
            <a:ext cx="12122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1" dirty="0">
                <a:solidFill>
                  <a:schemeClr val="bg1"/>
                </a:solidFill>
              </a:rPr>
              <a:t>Subscription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E1B27E-2940-42ED-AC64-794711FA6D34}"/>
              </a:ext>
            </a:extLst>
          </p:cNvPr>
          <p:cNvSpPr txBox="1"/>
          <p:nvPr/>
        </p:nvSpPr>
        <p:spPr>
          <a:xfrm>
            <a:off x="9812788" y="2046264"/>
            <a:ext cx="12122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1" dirty="0">
                <a:solidFill>
                  <a:schemeClr val="bg1"/>
                </a:solidFill>
              </a:rPr>
              <a:t>E-Commerce Product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325B0B-9222-48FF-836F-162DE991F01D}"/>
              </a:ext>
            </a:extLst>
          </p:cNvPr>
          <p:cNvSpPr txBox="1"/>
          <p:nvPr/>
        </p:nvSpPr>
        <p:spPr>
          <a:xfrm>
            <a:off x="9774076" y="2940464"/>
            <a:ext cx="13768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1" dirty="0">
                <a:solidFill>
                  <a:schemeClr val="bg1"/>
                </a:solidFill>
              </a:rPr>
              <a:t>Commission on transaction</a:t>
            </a:r>
          </a:p>
        </p:txBody>
      </p:sp>
    </p:spTree>
    <p:extLst>
      <p:ext uri="{BB962C8B-B14F-4D97-AF65-F5344CB8AC3E}">
        <p14:creationId xmlns:p14="http://schemas.microsoft.com/office/powerpoint/2010/main" val="1334761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6">
            <a:extLst>
              <a:ext uri="{FF2B5EF4-FFF2-40B4-BE49-F238E27FC236}">
                <a16:creationId xmlns:a16="http://schemas.microsoft.com/office/drawing/2014/main" id="{B84D84A6-80EA-4B36-940F-64C7F98024CF}"/>
              </a:ext>
            </a:extLst>
          </p:cNvPr>
          <p:cNvSpPr/>
          <p:nvPr/>
        </p:nvSpPr>
        <p:spPr>
          <a:xfrm>
            <a:off x="5696108" y="2930904"/>
            <a:ext cx="6302574" cy="388852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4" name="Rectangle: Rounded Corners 1023">
            <a:extLst>
              <a:ext uri="{FF2B5EF4-FFF2-40B4-BE49-F238E27FC236}">
                <a16:creationId xmlns:a16="http://schemas.microsoft.com/office/drawing/2014/main" id="{41EFA90E-7827-4224-80DF-B97C3B81C949}"/>
              </a:ext>
            </a:extLst>
          </p:cNvPr>
          <p:cNvSpPr/>
          <p:nvPr/>
        </p:nvSpPr>
        <p:spPr>
          <a:xfrm>
            <a:off x="161796" y="2969282"/>
            <a:ext cx="5451115" cy="3790027"/>
          </a:xfrm>
          <a:prstGeom prst="round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1A07808-F68D-4431-9F96-F1F27866488E}"/>
              </a:ext>
            </a:extLst>
          </p:cNvPr>
          <p:cNvGrpSpPr/>
          <p:nvPr/>
        </p:nvGrpSpPr>
        <p:grpSpPr>
          <a:xfrm>
            <a:off x="174544" y="789220"/>
            <a:ext cx="11824138" cy="2076529"/>
            <a:chOff x="147146" y="727223"/>
            <a:chExt cx="11824138" cy="207652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FB103F0-942F-4210-81CB-64FD84410F7B}"/>
                </a:ext>
              </a:extLst>
            </p:cNvPr>
            <p:cNvGrpSpPr/>
            <p:nvPr/>
          </p:nvGrpSpPr>
          <p:grpSpPr>
            <a:xfrm>
              <a:off x="147146" y="727223"/>
              <a:ext cx="11824138" cy="2076529"/>
              <a:chOff x="147145" y="755276"/>
              <a:chExt cx="11824138" cy="2076529"/>
            </a:xfrm>
            <a:solidFill>
              <a:schemeClr val="bg1"/>
            </a:solidFill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75F9321E-6E7C-436D-96E0-FDC528D83437}"/>
                  </a:ext>
                </a:extLst>
              </p:cNvPr>
              <p:cNvGrpSpPr/>
              <p:nvPr/>
            </p:nvGrpSpPr>
            <p:grpSpPr>
              <a:xfrm>
                <a:off x="147145" y="755276"/>
                <a:ext cx="11824138" cy="2076529"/>
                <a:chOff x="147145" y="601287"/>
                <a:chExt cx="11824138" cy="2076529"/>
              </a:xfrm>
              <a:grpFill/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DF284D66-0DA0-43A0-8436-C12DFEC5471C}"/>
                    </a:ext>
                  </a:extLst>
                </p:cNvPr>
                <p:cNvSpPr/>
                <p:nvPr/>
              </p:nvSpPr>
              <p:spPr>
                <a:xfrm>
                  <a:off x="147145" y="601287"/>
                  <a:ext cx="11824138" cy="2076529"/>
                </a:xfrm>
                <a:prstGeom prst="rect">
                  <a:avLst/>
                </a:prstGeom>
                <a:solidFill>
                  <a:schemeClr val="bg1"/>
                </a:solidFill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endParaRPr lang="en-IN" dirty="0"/>
                </a:p>
                <a:p>
                  <a:endParaRPr lang="en-IN" dirty="0"/>
                </a:p>
                <a:p>
                  <a:endParaRPr lang="en-IN" dirty="0"/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FB77172-D26A-4D7C-A729-38E7C59136D8}"/>
                    </a:ext>
                  </a:extLst>
                </p:cNvPr>
                <p:cNvSpPr txBox="1"/>
                <p:nvPr/>
              </p:nvSpPr>
              <p:spPr>
                <a:xfrm>
                  <a:off x="4679129" y="993358"/>
                  <a:ext cx="3401808" cy="1415772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002060"/>
                  </a:solidFill>
                  <a:prstDash val="sysDash"/>
                </a:ln>
              </p:spPr>
              <p:txBody>
                <a:bodyPr wrap="square">
                  <a:spAutoFit/>
                </a:bodyPr>
                <a:lstStyle/>
                <a:p>
                  <a:pPr rtl="0" fontAlgn="base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1400" b="1" i="0" u="none" strike="noStrike" dirty="0">
                      <a:solidFill>
                        <a:schemeClr val="bg1"/>
                      </a:solidFill>
                      <a:effectLst/>
                    </a:rPr>
                    <a:t>Recent Trends</a:t>
                  </a:r>
                </a:p>
                <a:p>
                  <a:pPr rtl="0" fontAlgn="base">
                    <a:spcBef>
                      <a:spcPts val="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1200" b="0" i="0" u="none" strike="noStrike" dirty="0">
                      <a:solidFill>
                        <a:schemeClr val="bg1"/>
                      </a:solidFill>
                      <a:effectLst/>
                    </a:rPr>
                    <a:t>Increasing Number of Corporate Professionals in India are Turning Freelancers</a:t>
                  </a:r>
                </a:p>
                <a:p>
                  <a:pPr rtl="0" fontAlgn="base">
                    <a:spcBef>
                      <a:spcPts val="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1200" b="0" i="0" u="none" strike="noStrike" dirty="0">
                      <a:solidFill>
                        <a:schemeClr val="bg1"/>
                      </a:solidFill>
                      <a:effectLst/>
                    </a:rPr>
                    <a:t>Increase in Number of Part-time Freelancers</a:t>
                  </a:r>
                </a:p>
                <a:p>
                  <a:pPr rtl="0" fontAlgn="base">
                    <a:spcBef>
                      <a:spcPts val="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1200" b="0" i="0" u="none" strike="noStrike" dirty="0">
                      <a:solidFill>
                        <a:schemeClr val="bg1"/>
                      </a:solidFill>
                      <a:effectLst/>
                    </a:rPr>
                    <a:t>Large Number of Indian Women are Becoming Freelancers</a:t>
                  </a:r>
                </a:p>
                <a:p>
                  <a:pPr rtl="0" fontAlgn="base">
                    <a:spcBef>
                      <a:spcPts val="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1200" dirty="0">
                      <a:solidFill>
                        <a:schemeClr val="bg1"/>
                      </a:solidFill>
                    </a:rPr>
                    <a:t>Pandemic- boost to the freelancing segment</a:t>
                  </a:r>
                  <a:endParaRPr lang="en-US" sz="1200" b="0" i="0" u="none" strike="noStrike" dirty="0">
                    <a:solidFill>
                      <a:schemeClr val="bg1"/>
                    </a:solidFill>
                    <a:effectLst/>
                  </a:endParaRPr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0693AA-686B-4A5F-88F0-59FE9E40E729}"/>
                  </a:ext>
                </a:extLst>
              </p:cNvPr>
              <p:cNvSpPr txBox="1"/>
              <p:nvPr/>
            </p:nvSpPr>
            <p:spPr>
              <a:xfrm>
                <a:off x="8745737" y="949236"/>
                <a:ext cx="3054201" cy="1785104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rgbClr val="002060"/>
                </a:solidFill>
                <a:prstDash val="sysDash"/>
              </a:ln>
            </p:spPr>
            <p:txBody>
              <a:bodyPr wrap="square">
                <a:spAutoFit/>
              </a:bodyPr>
              <a:lstStyle/>
              <a:p>
                <a:r>
                  <a:rPr lang="en-IN" sz="1400" b="1" dirty="0">
                    <a:solidFill>
                      <a:schemeClr val="bg1"/>
                    </a:solidFill>
                  </a:rPr>
                  <a:t>GAP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bg1"/>
                    </a:solidFill>
                  </a:rPr>
                  <a:t>Not choosing the right professional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bg1"/>
                    </a:solidFill>
                  </a:rPr>
                  <a:t>High charges and additional costs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bg1"/>
                    </a:solidFill>
                  </a:rPr>
                  <a:t>Prevalence of fraud sellers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bg1"/>
                    </a:solidFill>
                  </a:rPr>
                  <a:t>Commission charges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bg1"/>
                    </a:solidFill>
                  </a:rPr>
                  <a:t>Fake reviews about the sellers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bg1"/>
                    </a:solidFill>
                  </a:rPr>
                  <a:t>Poor insight on past performance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bg1"/>
                    </a:solidFill>
                  </a:rPr>
                  <a:t>Poor integration into existing teams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bg1"/>
                    </a:solidFill>
                  </a:rPr>
                  <a:t>Communication gap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72D3C9-40E3-454F-9AFE-FD3695C37B29}"/>
                  </a:ext>
                </a:extLst>
              </p:cNvPr>
              <p:cNvSpPr txBox="1"/>
              <p:nvPr/>
            </p:nvSpPr>
            <p:spPr>
              <a:xfrm>
                <a:off x="196707" y="1004485"/>
                <a:ext cx="3894528" cy="1754326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rgbClr val="002060"/>
                </a:solidFill>
                <a:prstDash val="sysDash"/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</a:rPr>
                  <a:t>About the sector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solidFill>
                      <a:schemeClr val="bg1"/>
                    </a:solidFill>
                  </a:rPr>
                  <a:t>2</a:t>
                </a:r>
                <a:r>
                  <a:rPr lang="en-US" sz="1400" b="1" baseline="30000" dirty="0">
                    <a:solidFill>
                      <a:schemeClr val="bg1"/>
                    </a:solidFill>
                  </a:rPr>
                  <a:t>nd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</a:rPr>
                  <a:t>India </a:t>
                </a:r>
                <a:r>
                  <a:rPr lang="en-US" sz="1200" b="0" i="0" u="none" strike="noStrike" dirty="0">
                    <a:solidFill>
                      <a:schemeClr val="bg1"/>
                    </a:solidFill>
                    <a:effectLst/>
                  </a:rPr>
                  <a:t>fastest-growing freelance market in the world</a:t>
                </a:r>
                <a:r>
                  <a:rPr lang="en-IN" sz="1200" dirty="0">
                    <a:solidFill>
                      <a:schemeClr val="bg1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400" b="1" dirty="0">
                    <a:solidFill>
                      <a:schemeClr val="bg1"/>
                    </a:solidFill>
                  </a:rPr>
                  <a:t>15</a:t>
                </a:r>
                <a:r>
                  <a:rPr lang="en-IN" sz="1200" b="1" dirty="0">
                    <a:solidFill>
                      <a:schemeClr val="bg1"/>
                    </a:solidFill>
                  </a:rPr>
                  <a:t> </a:t>
                </a:r>
                <a:r>
                  <a:rPr lang="en-IN" sz="1200" dirty="0">
                    <a:solidFill>
                      <a:schemeClr val="bg1"/>
                    </a:solidFill>
                  </a:rPr>
                  <a:t>mn estimated freelancers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400" b="1" dirty="0">
                    <a:solidFill>
                      <a:schemeClr val="bg1"/>
                    </a:solidFill>
                  </a:rPr>
                  <a:t>$20-25 </a:t>
                </a:r>
                <a:r>
                  <a:rPr lang="en-IN" sz="1200" dirty="0">
                    <a:solidFill>
                      <a:schemeClr val="bg1"/>
                    </a:solidFill>
                  </a:rPr>
                  <a:t>bn Estimated market cap by 2025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400" b="1" dirty="0">
                    <a:solidFill>
                      <a:schemeClr val="bg1"/>
                    </a:solidFill>
                  </a:rPr>
                  <a:t>High demand </a:t>
                </a:r>
                <a:r>
                  <a:rPr lang="en-IN" sz="1200" dirty="0">
                    <a:solidFill>
                      <a:schemeClr val="bg1"/>
                    </a:solidFill>
                  </a:rPr>
                  <a:t>from start-ups and corporates for projects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i="0" u="none" strike="noStrike" dirty="0">
                    <a:solidFill>
                      <a:schemeClr val="bg1"/>
                    </a:solidFill>
                    <a:effectLst/>
                  </a:rPr>
                  <a:t>Indian freelancers work for </a:t>
                </a:r>
                <a:r>
                  <a:rPr lang="en-US" sz="1400" i="0" u="none" strike="noStrike" dirty="0">
                    <a:solidFill>
                      <a:schemeClr val="bg1"/>
                    </a:solidFill>
                    <a:effectLst/>
                  </a:rPr>
                  <a:t>an </a:t>
                </a:r>
                <a:r>
                  <a:rPr lang="en-US" sz="1400" b="1" i="0" u="none" strike="noStrike" dirty="0">
                    <a:solidFill>
                      <a:schemeClr val="bg1"/>
                    </a:solidFill>
                    <a:effectLst/>
                  </a:rPr>
                  <a:t>average hourly rate</a:t>
                </a:r>
                <a:r>
                  <a:rPr lang="en-US" sz="1200" b="1" i="0" u="none" strike="noStrike" dirty="0">
                    <a:solidFill>
                      <a:schemeClr val="bg1"/>
                    </a:solidFill>
                    <a:effectLst/>
                  </a:rPr>
                  <a:t> </a:t>
                </a:r>
                <a:r>
                  <a:rPr lang="en-US" sz="1200" i="0" u="none" strike="noStrike" dirty="0">
                    <a:solidFill>
                      <a:schemeClr val="bg1"/>
                    </a:solidFill>
                    <a:effectLst/>
                  </a:rPr>
                  <a:t>of </a:t>
                </a:r>
                <a:r>
                  <a:rPr lang="en-US" sz="1200" b="1" i="0" u="none" strike="noStrike" dirty="0">
                    <a:solidFill>
                      <a:schemeClr val="bg1"/>
                    </a:solidFill>
                    <a:effectLst/>
                  </a:rPr>
                  <a:t>$18</a:t>
                </a:r>
                <a:r>
                  <a:rPr lang="en-US" sz="1200" i="0" u="none" strike="noStrike" dirty="0">
                    <a:solidFill>
                      <a:schemeClr val="bg1"/>
                    </a:solidFill>
                    <a:effectLst/>
                  </a:rPr>
                  <a:t>, while globally the average hourly rate is </a:t>
                </a:r>
                <a:r>
                  <a:rPr lang="en-US" sz="1200" b="1" i="0" u="none" strike="noStrike" dirty="0">
                    <a:solidFill>
                      <a:schemeClr val="bg1"/>
                    </a:solidFill>
                    <a:effectLst/>
                  </a:rPr>
                  <a:t>$21</a:t>
                </a:r>
                <a:r>
                  <a:rPr lang="en-US" sz="1200" i="0" u="none" strike="noStrike" dirty="0">
                    <a:solidFill>
                      <a:schemeClr val="bg1"/>
                    </a:solidFill>
                    <a:effectLst/>
                  </a:rPr>
                  <a:t>.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34" name="Picture 10" descr="Freelancer free icon">
              <a:extLst>
                <a:ext uri="{FF2B5EF4-FFF2-40B4-BE49-F238E27FC236}">
                  <a16:creationId xmlns:a16="http://schemas.microsoft.com/office/drawing/2014/main" id="{15C9492D-9C4F-448E-8DD8-90BB3A2F30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5443" y="834697"/>
              <a:ext cx="379727" cy="3797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Trend free icon">
              <a:extLst>
                <a:ext uri="{FF2B5EF4-FFF2-40B4-BE49-F238E27FC236}">
                  <a16:creationId xmlns:a16="http://schemas.microsoft.com/office/drawing/2014/main" id="{7030912F-95D8-428A-A826-0F876E4D57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6845" y="897599"/>
              <a:ext cx="385007" cy="385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Gap free icon">
              <a:extLst>
                <a:ext uri="{FF2B5EF4-FFF2-40B4-BE49-F238E27FC236}">
                  <a16:creationId xmlns:a16="http://schemas.microsoft.com/office/drawing/2014/main" id="{26D49448-191C-461C-8418-1A3426BFE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11452892" y="792940"/>
              <a:ext cx="402710" cy="402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2D22DE84-7FE6-46C5-AF3E-098756B97A09}"/>
              </a:ext>
            </a:extLst>
          </p:cNvPr>
          <p:cNvSpPr txBox="1"/>
          <p:nvPr/>
        </p:nvSpPr>
        <p:spPr>
          <a:xfrm>
            <a:off x="244993" y="3268781"/>
            <a:ext cx="53295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Estimating the tentative market size of Dare2compete, using the top to bottom approach</a:t>
            </a:r>
          </a:p>
          <a:p>
            <a:r>
              <a:rPr lang="en-GB" sz="1200" dirty="0">
                <a:solidFill>
                  <a:schemeClr val="bg1"/>
                </a:solidFill>
              </a:rPr>
              <a:t>Total number of engineering seats= 15 lakh</a:t>
            </a:r>
          </a:p>
          <a:p>
            <a:r>
              <a:rPr lang="en-GB" sz="1200" dirty="0">
                <a:solidFill>
                  <a:schemeClr val="bg1"/>
                </a:solidFill>
              </a:rPr>
              <a:t>% of students getting admitted=70% = approx. 10 lakh</a:t>
            </a:r>
          </a:p>
          <a:p>
            <a:r>
              <a:rPr lang="en-GB" sz="1200" dirty="0">
                <a:solidFill>
                  <a:schemeClr val="bg1"/>
                </a:solidFill>
              </a:rPr>
              <a:t>Total number of post graduate management seats = 2 lakh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71B0ADF-C898-48CF-BD46-4AD94AB279BA}"/>
              </a:ext>
            </a:extLst>
          </p:cNvPr>
          <p:cNvGrpSpPr/>
          <p:nvPr/>
        </p:nvGrpSpPr>
        <p:grpSpPr>
          <a:xfrm>
            <a:off x="5669031" y="3037054"/>
            <a:ext cx="6012614" cy="3730717"/>
            <a:chOff x="5298014" y="2769798"/>
            <a:chExt cx="6012614" cy="3730717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09291A8-DD37-438E-83AA-648A0546CEF8}"/>
                </a:ext>
              </a:extLst>
            </p:cNvPr>
            <p:cNvGrpSpPr/>
            <p:nvPr/>
          </p:nvGrpSpPr>
          <p:grpSpPr>
            <a:xfrm>
              <a:off x="5298014" y="2769798"/>
              <a:ext cx="6012614" cy="3046804"/>
              <a:chOff x="5264837" y="2914041"/>
              <a:chExt cx="6012614" cy="3046804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4E988F0-7925-4CBF-896E-DFDAC1FE58B0}"/>
                  </a:ext>
                </a:extLst>
              </p:cNvPr>
              <p:cNvGrpSpPr/>
              <p:nvPr/>
            </p:nvGrpSpPr>
            <p:grpSpPr>
              <a:xfrm>
                <a:off x="5534699" y="2914041"/>
                <a:ext cx="5742752" cy="2659560"/>
                <a:chOff x="5266856" y="3089709"/>
                <a:chExt cx="5742752" cy="2659560"/>
              </a:xfrm>
            </p:grpSpPr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AE8D6B1A-6823-455D-BEA1-5FB84EA3AADF}"/>
                    </a:ext>
                  </a:extLst>
                </p:cNvPr>
                <p:cNvSpPr txBox="1"/>
                <p:nvPr/>
              </p:nvSpPr>
              <p:spPr>
                <a:xfrm>
                  <a:off x="7763170" y="4238207"/>
                  <a:ext cx="589363" cy="276999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>
                      <a:solidFill>
                        <a:schemeClr val="bg1"/>
                      </a:solidFill>
                    </a:rPr>
                    <a:t>20</a:t>
                  </a:r>
                  <a:endParaRPr lang="en-IN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E2D78230-EC66-4688-BCB8-BD365C9BCB2C}"/>
                    </a:ext>
                  </a:extLst>
                </p:cNvPr>
                <p:cNvSpPr txBox="1"/>
                <p:nvPr/>
              </p:nvSpPr>
              <p:spPr>
                <a:xfrm>
                  <a:off x="8741048" y="4238207"/>
                  <a:ext cx="589363" cy="276999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>
                      <a:solidFill>
                        <a:schemeClr val="bg1"/>
                      </a:solidFill>
                    </a:rPr>
                    <a:t>75</a:t>
                  </a:r>
                  <a:endParaRPr lang="en-IN" sz="12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1D27A0BB-9BB7-4540-B361-86555A254970}"/>
                    </a:ext>
                  </a:extLst>
                </p:cNvPr>
                <p:cNvSpPr txBox="1"/>
                <p:nvPr/>
              </p:nvSpPr>
              <p:spPr>
                <a:xfrm>
                  <a:off x="9687258" y="4238207"/>
                  <a:ext cx="589363" cy="276999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>
                      <a:solidFill>
                        <a:schemeClr val="bg1"/>
                      </a:solidFill>
                    </a:rPr>
                    <a:t>70</a:t>
                  </a:r>
                  <a:endParaRPr lang="en-IN" sz="1200" dirty="0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9AFED703-98D8-4EDA-BC4E-D1EF58FE0D00}"/>
                    </a:ext>
                  </a:extLst>
                </p:cNvPr>
                <p:cNvGrpSpPr/>
                <p:nvPr/>
              </p:nvGrpSpPr>
              <p:grpSpPr>
                <a:xfrm>
                  <a:off x="5266856" y="3089709"/>
                  <a:ext cx="5742752" cy="2659560"/>
                  <a:chOff x="5266856" y="3089709"/>
                  <a:chExt cx="5742752" cy="2659560"/>
                </a:xfrm>
              </p:grpSpPr>
              <p:grpSp>
                <p:nvGrpSpPr>
                  <p:cNvPr id="124" name="Group 123">
                    <a:extLst>
                      <a:ext uri="{FF2B5EF4-FFF2-40B4-BE49-F238E27FC236}">
                        <a16:creationId xmlns:a16="http://schemas.microsoft.com/office/drawing/2014/main" id="{201AD7E6-0983-437B-944B-A06783F7E06B}"/>
                      </a:ext>
                    </a:extLst>
                  </p:cNvPr>
                  <p:cNvGrpSpPr/>
                  <p:nvPr/>
                </p:nvGrpSpPr>
                <p:grpSpPr>
                  <a:xfrm>
                    <a:off x="7763170" y="3089709"/>
                    <a:ext cx="3246438" cy="2302064"/>
                    <a:chOff x="6095995" y="478303"/>
                    <a:chExt cx="3073806" cy="2184069"/>
                  </a:xfrm>
                </p:grpSpPr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7E860998-669F-43B8-9A0B-192C877AE3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96000" y="478303"/>
                      <a:ext cx="558023" cy="262801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200" dirty="0">
                          <a:solidFill>
                            <a:schemeClr val="bg1"/>
                          </a:solidFill>
                        </a:rPr>
                        <a:t>Tier 1</a:t>
                      </a: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26" name="TextBox 125">
                      <a:extLst>
                        <a:ext uri="{FF2B5EF4-FFF2-40B4-BE49-F238E27FC236}">
                          <a16:creationId xmlns:a16="http://schemas.microsoft.com/office/drawing/2014/main" id="{2A6C02BB-2F9A-4D71-83A3-71EBA3E38F8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08055" y="478303"/>
                      <a:ext cx="558023" cy="262801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200" dirty="0">
                          <a:solidFill>
                            <a:schemeClr val="bg1"/>
                          </a:solidFill>
                        </a:rPr>
                        <a:t>Tier 2</a:t>
                      </a: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27" name="TextBox 126">
                      <a:extLst>
                        <a:ext uri="{FF2B5EF4-FFF2-40B4-BE49-F238E27FC236}">
                          <a16:creationId xmlns:a16="http://schemas.microsoft.com/office/drawing/2014/main" id="{ABCA5BE7-794A-45E9-B914-6AC82919D3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17776" y="480088"/>
                      <a:ext cx="1252025" cy="262801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200" dirty="0">
                          <a:solidFill>
                            <a:schemeClr val="bg1"/>
                          </a:solidFill>
                        </a:rPr>
                        <a:t>Tier 3 and below</a:t>
                      </a: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grpSp>
                  <p:nvGrpSpPr>
                    <p:cNvPr id="128" name="Group 127">
                      <a:extLst>
                        <a:ext uri="{FF2B5EF4-FFF2-40B4-BE49-F238E27FC236}">
                          <a16:creationId xmlns:a16="http://schemas.microsoft.com/office/drawing/2014/main" id="{317D0159-E581-4CF8-8FBA-32C3DD52B9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5996" y="885611"/>
                      <a:ext cx="2372199" cy="263130"/>
                      <a:chOff x="6095997" y="1037398"/>
                      <a:chExt cx="2372199" cy="263130"/>
                    </a:xfrm>
                  </p:grpSpPr>
                  <p:sp>
                    <p:nvSpPr>
                      <p:cNvPr id="141" name="TextBox 140">
                        <a:extLst>
                          <a:ext uri="{FF2B5EF4-FFF2-40B4-BE49-F238E27FC236}">
                            <a16:creationId xmlns:a16="http://schemas.microsoft.com/office/drawing/2014/main" id="{7DDC80BD-FAB3-4D36-A6AC-780795AC55D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095997" y="1037727"/>
                        <a:ext cx="558023" cy="26280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1200" dirty="0">
                            <a:solidFill>
                              <a:schemeClr val="bg1"/>
                            </a:solidFill>
                          </a:rPr>
                          <a:t>0.5%</a:t>
                        </a:r>
                        <a:endParaRPr lang="en-IN" sz="12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142" name="TextBox 141">
                        <a:extLst>
                          <a:ext uri="{FF2B5EF4-FFF2-40B4-BE49-F238E27FC236}">
                            <a16:creationId xmlns:a16="http://schemas.microsoft.com/office/drawing/2014/main" id="{180C52A1-78E0-45FA-B0D5-1A82D8484BB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08051" y="1037727"/>
                        <a:ext cx="558023" cy="26280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1200" dirty="0">
                            <a:solidFill>
                              <a:schemeClr val="bg1"/>
                            </a:solidFill>
                          </a:rPr>
                          <a:t>30%</a:t>
                        </a:r>
                        <a:endParaRPr lang="en-IN" sz="12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143" name="TextBox 142">
                        <a:extLst>
                          <a:ext uri="{FF2B5EF4-FFF2-40B4-BE49-F238E27FC236}">
                            <a16:creationId xmlns:a16="http://schemas.microsoft.com/office/drawing/2014/main" id="{E85E59CD-E8DF-4088-A45F-3B17D65FD05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10173" y="1037398"/>
                        <a:ext cx="558023" cy="26280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1200" dirty="0">
                            <a:solidFill>
                              <a:schemeClr val="bg1"/>
                            </a:solidFill>
                          </a:rPr>
                          <a:t>20%</a:t>
                        </a:r>
                        <a:endParaRPr lang="en-IN" sz="12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29" name="Group 128">
                      <a:extLst>
                        <a:ext uri="{FF2B5EF4-FFF2-40B4-BE49-F238E27FC236}">
                          <a16:creationId xmlns:a16="http://schemas.microsoft.com/office/drawing/2014/main" id="{C912E107-96B0-43D4-B3BE-C40B786100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5995" y="1230533"/>
                      <a:ext cx="2379797" cy="263361"/>
                      <a:chOff x="6095996" y="1199494"/>
                      <a:chExt cx="2379797" cy="263361"/>
                    </a:xfrm>
                  </p:grpSpPr>
                  <p:sp>
                    <p:nvSpPr>
                      <p:cNvPr id="139" name="TextBox 138">
                        <a:extLst>
                          <a:ext uri="{FF2B5EF4-FFF2-40B4-BE49-F238E27FC236}">
                            <a16:creationId xmlns:a16="http://schemas.microsoft.com/office/drawing/2014/main" id="{FDDBC24E-8CFF-48AB-B507-CF9B48B619C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095996" y="1199494"/>
                        <a:ext cx="558023" cy="26280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1200" dirty="0">
                            <a:solidFill>
                              <a:schemeClr val="bg1"/>
                            </a:solidFill>
                          </a:rPr>
                          <a:t>40%</a:t>
                        </a:r>
                        <a:endParaRPr lang="en-IN" sz="12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140" name="TextBox 139">
                        <a:extLst>
                          <a:ext uri="{FF2B5EF4-FFF2-40B4-BE49-F238E27FC236}">
                            <a16:creationId xmlns:a16="http://schemas.microsoft.com/office/drawing/2014/main" id="{146A0A94-C2FF-43F4-BA72-BD7B0C299B1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17770" y="1200054"/>
                        <a:ext cx="558023" cy="26280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1200" dirty="0">
                            <a:solidFill>
                              <a:schemeClr val="bg1"/>
                            </a:solidFill>
                          </a:rPr>
                          <a:t>10%</a:t>
                        </a:r>
                        <a:endParaRPr lang="en-IN" sz="12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130" name="TextBox 129">
                      <a:extLst>
                        <a:ext uri="{FF2B5EF4-FFF2-40B4-BE49-F238E27FC236}">
                          <a16:creationId xmlns:a16="http://schemas.microsoft.com/office/drawing/2014/main" id="{078A4964-4448-4BBB-8F65-AD2EDF3FF0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06882" y="1230533"/>
                      <a:ext cx="558023" cy="262801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200" dirty="0">
                          <a:solidFill>
                            <a:schemeClr val="bg1"/>
                          </a:solidFill>
                        </a:rPr>
                        <a:t>25%</a:t>
                      </a:r>
                      <a:endParaRPr lang="en-IN" sz="12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grpSp>
                  <p:nvGrpSpPr>
                    <p:cNvPr id="131" name="Group 130">
                      <a:extLst>
                        <a:ext uri="{FF2B5EF4-FFF2-40B4-BE49-F238E27FC236}">
                          <a16:creationId xmlns:a16="http://schemas.microsoft.com/office/drawing/2014/main" id="{113A1EC3-DB41-467F-B2EF-FC5C73B44F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10984" y="2055543"/>
                      <a:ext cx="2379797" cy="265419"/>
                      <a:chOff x="6110984" y="2055543"/>
                      <a:chExt cx="2379797" cy="265419"/>
                    </a:xfrm>
                  </p:grpSpPr>
                  <p:sp>
                    <p:nvSpPr>
                      <p:cNvPr id="136" name="TextBox 135">
                        <a:extLst>
                          <a:ext uri="{FF2B5EF4-FFF2-40B4-BE49-F238E27FC236}">
                            <a16:creationId xmlns:a16="http://schemas.microsoft.com/office/drawing/2014/main" id="{83AD4A33-95AA-4747-92EA-83C7D838DF9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10984" y="2055543"/>
                        <a:ext cx="558023" cy="26280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1200" dirty="0">
                            <a:solidFill>
                              <a:schemeClr val="bg1"/>
                            </a:solidFill>
                          </a:rPr>
                          <a:t>0.5%</a:t>
                        </a:r>
                        <a:endParaRPr lang="en-IN" sz="12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137" name="TextBox 136">
                        <a:extLst>
                          <a:ext uri="{FF2B5EF4-FFF2-40B4-BE49-F238E27FC236}">
                            <a16:creationId xmlns:a16="http://schemas.microsoft.com/office/drawing/2014/main" id="{07FF189F-AA57-4E97-907B-B363991B14D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21872" y="2058161"/>
                        <a:ext cx="558023" cy="26280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1200" dirty="0">
                            <a:solidFill>
                              <a:schemeClr val="bg1"/>
                            </a:solidFill>
                          </a:rPr>
                          <a:t>20%</a:t>
                        </a:r>
                        <a:endParaRPr lang="en-IN" sz="12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138" name="TextBox 137">
                        <a:extLst>
                          <a:ext uri="{FF2B5EF4-FFF2-40B4-BE49-F238E27FC236}">
                            <a16:creationId xmlns:a16="http://schemas.microsoft.com/office/drawing/2014/main" id="{8E21CCA5-A0C5-4AB9-B528-A523067E6DF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32759" y="2055544"/>
                        <a:ext cx="558022" cy="26280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1200" dirty="0">
                            <a:solidFill>
                              <a:schemeClr val="bg1"/>
                            </a:solidFill>
                          </a:rPr>
                          <a:t>80 %</a:t>
                        </a:r>
                        <a:endParaRPr lang="en-IN" sz="12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32" name="Group 131">
                      <a:extLst>
                        <a:ext uri="{FF2B5EF4-FFF2-40B4-BE49-F238E27FC236}">
                          <a16:creationId xmlns:a16="http://schemas.microsoft.com/office/drawing/2014/main" id="{5A561042-2FAA-4E8D-9982-1AFD500EDF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96616" y="2392474"/>
                      <a:ext cx="2379802" cy="269898"/>
                      <a:chOff x="6096616" y="2392474"/>
                      <a:chExt cx="2379802" cy="269898"/>
                    </a:xfrm>
                  </p:grpSpPr>
                  <p:sp>
                    <p:nvSpPr>
                      <p:cNvPr id="133" name="TextBox 132">
                        <a:extLst>
                          <a:ext uri="{FF2B5EF4-FFF2-40B4-BE49-F238E27FC236}">
                            <a16:creationId xmlns:a16="http://schemas.microsoft.com/office/drawing/2014/main" id="{C80EFCA3-EFDE-4BA3-9190-2F90E37DA56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096616" y="2393613"/>
                        <a:ext cx="558023" cy="26280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1200" dirty="0">
                            <a:solidFill>
                              <a:schemeClr val="bg1"/>
                            </a:solidFill>
                          </a:rPr>
                          <a:t>70%</a:t>
                        </a:r>
                        <a:endParaRPr lang="en-IN" sz="12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134" name="TextBox 133">
                        <a:extLst>
                          <a:ext uri="{FF2B5EF4-FFF2-40B4-BE49-F238E27FC236}">
                            <a16:creationId xmlns:a16="http://schemas.microsoft.com/office/drawing/2014/main" id="{6493E8E5-8328-4A6F-A6F5-5AF9D11BB2E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07505" y="2392474"/>
                        <a:ext cx="558023" cy="26280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1200" dirty="0">
                            <a:solidFill>
                              <a:schemeClr val="bg1"/>
                            </a:solidFill>
                          </a:rPr>
                          <a:t>40%</a:t>
                        </a:r>
                        <a:endParaRPr lang="en-IN" sz="12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135" name="TextBox 134">
                        <a:extLst>
                          <a:ext uri="{FF2B5EF4-FFF2-40B4-BE49-F238E27FC236}">
                            <a16:creationId xmlns:a16="http://schemas.microsoft.com/office/drawing/2014/main" id="{E755DE75-255A-4E12-9565-B05346873D8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18395" y="2399571"/>
                        <a:ext cx="558023" cy="26280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sz="1200" dirty="0">
                            <a:solidFill>
                              <a:schemeClr val="bg1"/>
                            </a:solidFill>
                          </a:rPr>
                          <a:t>20%</a:t>
                        </a:r>
                        <a:endParaRPr lang="en-IN" sz="120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4A56DBF1-1675-42FB-8CC8-11A9A1700698}"/>
                      </a:ext>
                    </a:extLst>
                  </p:cNvPr>
                  <p:cNvSpPr txBox="1"/>
                  <p:nvPr/>
                </p:nvSpPr>
                <p:spPr>
                  <a:xfrm>
                    <a:off x="5266856" y="3258789"/>
                    <a:ext cx="193516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b="1" dirty="0"/>
                      <a:t>From Engineering colleges</a:t>
                    </a:r>
                    <a:endParaRPr lang="en-IN" sz="1200" b="1" dirty="0"/>
                  </a:p>
                </p:txBody>
              </p:sp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F10CF65F-03D5-4611-A3AC-7219DF791ABD}"/>
                      </a:ext>
                    </a:extLst>
                  </p:cNvPr>
                  <p:cNvSpPr txBox="1"/>
                  <p:nvPr/>
                </p:nvSpPr>
                <p:spPr>
                  <a:xfrm>
                    <a:off x="6382481" y="3502046"/>
                    <a:ext cx="1408902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dirty="0"/>
                      <a:t>% getting admitted </a:t>
                    </a:r>
                    <a:endParaRPr lang="en-IN" sz="1200" dirty="0"/>
                  </a:p>
                </p:txBody>
              </p:sp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29277E4C-C0F7-431C-B976-F715F3C4CC88}"/>
                      </a:ext>
                    </a:extLst>
                  </p:cNvPr>
                  <p:cNvSpPr txBox="1"/>
                  <p:nvPr/>
                </p:nvSpPr>
                <p:spPr>
                  <a:xfrm>
                    <a:off x="6487778" y="3891172"/>
                    <a:ext cx="130360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dirty="0"/>
                      <a:t>% of active users </a:t>
                    </a:r>
                    <a:endParaRPr lang="en-IN" sz="1200" dirty="0"/>
                  </a:p>
                </p:txBody>
              </p:sp>
              <p:sp>
                <p:nvSpPr>
                  <p:cNvPr id="155" name="TextBox 154">
                    <a:extLst>
                      <a:ext uri="{FF2B5EF4-FFF2-40B4-BE49-F238E27FC236}">
                        <a16:creationId xmlns:a16="http://schemas.microsoft.com/office/drawing/2014/main" id="{81A107BD-5537-4874-BFD7-7A6AFE6AA739}"/>
                      </a:ext>
                    </a:extLst>
                  </p:cNvPr>
                  <p:cNvSpPr txBox="1"/>
                  <p:nvPr/>
                </p:nvSpPr>
                <p:spPr>
                  <a:xfrm>
                    <a:off x="5266856" y="4553310"/>
                    <a:ext cx="131954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b="1" dirty="0"/>
                      <a:t>From B-Schools</a:t>
                    </a:r>
                    <a:endParaRPr lang="en-IN" sz="1200" b="1" dirty="0"/>
                  </a:p>
                </p:txBody>
              </p:sp>
              <p:sp>
                <p:nvSpPr>
                  <p:cNvPr id="156" name="TextBox 155">
                    <a:extLst>
                      <a:ext uri="{FF2B5EF4-FFF2-40B4-BE49-F238E27FC236}">
                        <a16:creationId xmlns:a16="http://schemas.microsoft.com/office/drawing/2014/main" id="{76C398AA-DED4-4F97-9732-82924320A594}"/>
                      </a:ext>
                    </a:extLst>
                  </p:cNvPr>
                  <p:cNvSpPr txBox="1"/>
                  <p:nvPr/>
                </p:nvSpPr>
                <p:spPr>
                  <a:xfrm>
                    <a:off x="6318391" y="4751602"/>
                    <a:ext cx="167404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dirty="0"/>
                      <a:t>% getting admitted </a:t>
                    </a:r>
                    <a:endParaRPr lang="en-IN" sz="1200" dirty="0"/>
                  </a:p>
                </p:txBody>
              </p:sp>
              <p:sp>
                <p:nvSpPr>
                  <p:cNvPr id="157" name="TextBox 156">
                    <a:extLst>
                      <a:ext uri="{FF2B5EF4-FFF2-40B4-BE49-F238E27FC236}">
                        <a16:creationId xmlns:a16="http://schemas.microsoft.com/office/drawing/2014/main" id="{EC6BEDBE-E01E-425C-A52F-8043E98E530E}"/>
                      </a:ext>
                    </a:extLst>
                  </p:cNvPr>
                  <p:cNvSpPr txBox="1"/>
                  <p:nvPr/>
                </p:nvSpPr>
                <p:spPr>
                  <a:xfrm>
                    <a:off x="6382481" y="5112381"/>
                    <a:ext cx="130360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dirty="0"/>
                      <a:t>% of active users </a:t>
                    </a:r>
                    <a:endParaRPr lang="en-IN" sz="1200" dirty="0"/>
                  </a:p>
                </p:txBody>
              </p:sp>
              <p:sp>
                <p:nvSpPr>
                  <p:cNvPr id="161" name="TextBox 160">
                    <a:extLst>
                      <a:ext uri="{FF2B5EF4-FFF2-40B4-BE49-F238E27FC236}">
                        <a16:creationId xmlns:a16="http://schemas.microsoft.com/office/drawing/2014/main" id="{C54B2C65-0CA8-48C1-9F17-EC92D14CCFC6}"/>
                      </a:ext>
                    </a:extLst>
                  </p:cNvPr>
                  <p:cNvSpPr txBox="1"/>
                  <p:nvPr/>
                </p:nvSpPr>
                <p:spPr>
                  <a:xfrm>
                    <a:off x="5934621" y="4246240"/>
                    <a:ext cx="182542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dirty="0"/>
                      <a:t>Total active users(in 000s)</a:t>
                    </a:r>
                    <a:endParaRPr lang="en-IN" sz="1200" dirty="0"/>
                  </a:p>
                </p:txBody>
              </p:sp>
              <p:sp>
                <p:nvSpPr>
                  <p:cNvPr id="162" name="TextBox 161">
                    <a:extLst>
                      <a:ext uri="{FF2B5EF4-FFF2-40B4-BE49-F238E27FC236}">
                        <a16:creationId xmlns:a16="http://schemas.microsoft.com/office/drawing/2014/main" id="{9ACC1D25-2D1E-4DEC-88F0-B61F2F7F19E0}"/>
                      </a:ext>
                    </a:extLst>
                  </p:cNvPr>
                  <p:cNvSpPr txBox="1"/>
                  <p:nvPr/>
                </p:nvSpPr>
                <p:spPr>
                  <a:xfrm>
                    <a:off x="7763169" y="5469274"/>
                    <a:ext cx="589363" cy="276999"/>
                  </a:xfrm>
                  <a:prstGeom prst="rect">
                    <a:avLst/>
                  </a:prstGeom>
                  <a:solidFill>
                    <a:schemeClr val="accent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dirty="0">
                        <a:solidFill>
                          <a:schemeClr val="bg1"/>
                        </a:solidFill>
                      </a:rPr>
                      <a:t>7</a:t>
                    </a:r>
                    <a:endParaRPr lang="en-IN" sz="12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3" name="TextBox 162">
                    <a:extLst>
                      <a:ext uri="{FF2B5EF4-FFF2-40B4-BE49-F238E27FC236}">
                        <a16:creationId xmlns:a16="http://schemas.microsoft.com/office/drawing/2014/main" id="{83BD9011-1408-4D42-8864-55B71230BA34}"/>
                      </a:ext>
                    </a:extLst>
                  </p:cNvPr>
                  <p:cNvSpPr txBox="1"/>
                  <p:nvPr/>
                </p:nvSpPr>
                <p:spPr>
                  <a:xfrm>
                    <a:off x="8725214" y="5469274"/>
                    <a:ext cx="589363" cy="276999"/>
                  </a:xfrm>
                  <a:prstGeom prst="rect">
                    <a:avLst/>
                  </a:prstGeom>
                  <a:solidFill>
                    <a:schemeClr val="accent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dirty="0">
                        <a:solidFill>
                          <a:schemeClr val="bg1"/>
                        </a:solidFill>
                      </a:rPr>
                      <a:t>16</a:t>
                    </a:r>
                    <a:endParaRPr lang="en-IN" sz="12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4" name="TextBox 163">
                    <a:extLst>
                      <a:ext uri="{FF2B5EF4-FFF2-40B4-BE49-F238E27FC236}">
                        <a16:creationId xmlns:a16="http://schemas.microsoft.com/office/drawing/2014/main" id="{DE394A1C-0854-451E-AE34-6D6F1E3B1D4A}"/>
                      </a:ext>
                    </a:extLst>
                  </p:cNvPr>
                  <p:cNvSpPr txBox="1"/>
                  <p:nvPr/>
                </p:nvSpPr>
                <p:spPr>
                  <a:xfrm>
                    <a:off x="9687257" y="5472270"/>
                    <a:ext cx="589363" cy="276999"/>
                  </a:xfrm>
                  <a:prstGeom prst="rect">
                    <a:avLst/>
                  </a:prstGeom>
                  <a:solidFill>
                    <a:schemeClr val="accent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dirty="0">
                        <a:solidFill>
                          <a:schemeClr val="bg1"/>
                        </a:solidFill>
                      </a:rPr>
                      <a:t>34</a:t>
                    </a:r>
                    <a:endParaRPr lang="en-IN" sz="12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5" name="TextBox 164">
                    <a:extLst>
                      <a:ext uri="{FF2B5EF4-FFF2-40B4-BE49-F238E27FC236}">
                        <a16:creationId xmlns:a16="http://schemas.microsoft.com/office/drawing/2014/main" id="{6BA04603-8BC8-41DA-9E94-327470962B02}"/>
                      </a:ext>
                    </a:extLst>
                  </p:cNvPr>
                  <p:cNvSpPr txBox="1"/>
                  <p:nvPr/>
                </p:nvSpPr>
                <p:spPr>
                  <a:xfrm>
                    <a:off x="5934621" y="5469274"/>
                    <a:ext cx="182542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200" dirty="0"/>
                      <a:t>Total active users(in 000s)</a:t>
                    </a:r>
                    <a:endParaRPr lang="en-IN" sz="1200" dirty="0"/>
                  </a:p>
                </p:txBody>
              </p:sp>
            </p:grpSp>
          </p:grp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6CB4E6B2-AA82-406A-B054-9A37C98C2361}"/>
                  </a:ext>
                </a:extLst>
              </p:cNvPr>
              <p:cNvSpPr txBox="1"/>
              <p:nvPr/>
            </p:nvSpPr>
            <p:spPr>
              <a:xfrm>
                <a:off x="8019870" y="5665232"/>
                <a:ext cx="2516571" cy="276999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dirty="0">
                    <a:solidFill>
                      <a:schemeClr val="bg1"/>
                    </a:solidFill>
                  </a:rPr>
                  <a:t>2 lakh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B3715F5-1A5B-4D16-B333-2F55892E56C0}"/>
                  </a:ext>
                </a:extLst>
              </p:cNvPr>
              <p:cNvSpPr txBox="1"/>
              <p:nvPr/>
            </p:nvSpPr>
            <p:spPr>
              <a:xfrm>
                <a:off x="5264837" y="5683846"/>
                <a:ext cx="27709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Total active users in these two categories</a:t>
                </a:r>
                <a:endParaRPr lang="en-IN" sz="1200" dirty="0"/>
              </a:p>
            </p:txBody>
          </p:sp>
        </p:grp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22930980-1A4E-4F20-98DF-C18E778657BA}"/>
                </a:ext>
              </a:extLst>
            </p:cNvPr>
            <p:cNvSpPr txBox="1"/>
            <p:nvPr/>
          </p:nvSpPr>
          <p:spPr>
            <a:xfrm>
              <a:off x="5827059" y="5884913"/>
              <a:ext cx="24312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% of users from other categories </a:t>
              </a:r>
              <a:endParaRPr lang="en-IN" sz="1200" dirty="0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C60A7A99-583A-4122-B09B-06F16E52E7D4}"/>
                </a:ext>
              </a:extLst>
            </p:cNvPr>
            <p:cNvSpPr txBox="1"/>
            <p:nvPr/>
          </p:nvSpPr>
          <p:spPr>
            <a:xfrm>
              <a:off x="8053047" y="5876111"/>
              <a:ext cx="2516571" cy="27699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>
                  <a:solidFill>
                    <a:schemeClr val="bg1"/>
                  </a:solidFill>
                </a:rPr>
                <a:t>10%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30CFAB68-F5FF-4863-920C-C9F53BF0CD4F}"/>
                </a:ext>
              </a:extLst>
            </p:cNvPr>
            <p:cNvSpPr txBox="1"/>
            <p:nvPr/>
          </p:nvSpPr>
          <p:spPr>
            <a:xfrm>
              <a:off x="5782839" y="6215054"/>
              <a:ext cx="2770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Total active users on the platform</a:t>
              </a:r>
              <a:endParaRPr lang="en-IN" sz="1200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0CD945A0-A744-4DD4-8111-9A21A490257A}"/>
                </a:ext>
              </a:extLst>
            </p:cNvPr>
            <p:cNvSpPr txBox="1"/>
            <p:nvPr/>
          </p:nvSpPr>
          <p:spPr>
            <a:xfrm>
              <a:off x="8045298" y="6223516"/>
              <a:ext cx="2516571" cy="27699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>
                  <a:solidFill>
                    <a:schemeClr val="bg1"/>
                  </a:solidFill>
                </a:rPr>
                <a:t>2.2 lakh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B7CEFCD8-8CDF-4BD5-B50C-B7BDC0E8666B}"/>
              </a:ext>
            </a:extLst>
          </p:cNvPr>
          <p:cNvSpPr txBox="1"/>
          <p:nvPr/>
        </p:nvSpPr>
        <p:spPr>
          <a:xfrm>
            <a:off x="248114" y="4206630"/>
            <a:ext cx="532950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</a:rPr>
              <a:t>Assumptions: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</a:rPr>
              <a:t>Major chunk of the users on the platform are from B-schools and Engineering colleges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</a:rPr>
              <a:t>Approximately 30% of the all India seats in engineering  remain vacant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</a:rPr>
              <a:t>Breakup of students admitted to Tier1, Tier 2 and Tier 3 and below are considered based on the %ile cut-offs for these categories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</a:rPr>
              <a:t>Tier 1 and Tier 2 colleges are considered to have higher users because of the higher participation observed from these colleges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</a:rPr>
              <a:t>The users of the platform are relatively low in engineering colleges as compared to B-Schools, considering the type of competitions and challenges being hosted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</a:rPr>
              <a:t>A small % of users are also observed to be from other non-engineering and non-management courses and some corporates are also observed to be participating in many events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98E029CB-815F-4DAE-BFE3-57BF458F9E52}"/>
              </a:ext>
            </a:extLst>
          </p:cNvPr>
          <p:cNvSpPr txBox="1"/>
          <p:nvPr/>
        </p:nvSpPr>
        <p:spPr>
          <a:xfrm>
            <a:off x="1716258" y="3009721"/>
            <a:ext cx="1737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Market Sizing</a:t>
            </a:r>
            <a:endParaRPr lang="en-IN" sz="1400" b="1" dirty="0">
              <a:solidFill>
                <a:schemeClr val="bg1"/>
              </a:solidFill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814A9CE-E051-493F-98A3-39DC4834E39E}"/>
              </a:ext>
            </a:extLst>
          </p:cNvPr>
          <p:cNvGrpSpPr/>
          <p:nvPr/>
        </p:nvGrpSpPr>
        <p:grpSpPr>
          <a:xfrm>
            <a:off x="0" y="37653"/>
            <a:ext cx="12146704" cy="298991"/>
            <a:chOff x="0" y="-4386"/>
            <a:chExt cx="12146704" cy="298991"/>
          </a:xfrm>
        </p:grpSpPr>
        <p:sp>
          <p:nvSpPr>
            <p:cNvPr id="69" name="Arrow: Pentagon 68">
              <a:extLst>
                <a:ext uri="{FF2B5EF4-FFF2-40B4-BE49-F238E27FC236}">
                  <a16:creationId xmlns:a16="http://schemas.microsoft.com/office/drawing/2014/main" id="{328A7344-320A-4619-AB79-F95579A88518}"/>
                </a:ext>
              </a:extLst>
            </p:cNvPr>
            <p:cNvSpPr/>
            <p:nvPr/>
          </p:nvSpPr>
          <p:spPr>
            <a:xfrm>
              <a:off x="7247843" y="-4386"/>
              <a:ext cx="4898861" cy="294605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The Platform</a:t>
              </a:r>
              <a:endParaRPr lang="en-IN" dirty="0"/>
            </a:p>
          </p:txBody>
        </p:sp>
        <p:sp>
          <p:nvSpPr>
            <p:cNvPr id="70" name="Arrow: Pentagon 69">
              <a:extLst>
                <a:ext uri="{FF2B5EF4-FFF2-40B4-BE49-F238E27FC236}">
                  <a16:creationId xmlns:a16="http://schemas.microsoft.com/office/drawing/2014/main" id="{74807645-9CF9-48A2-AA54-DA30C5766E06}"/>
                </a:ext>
              </a:extLst>
            </p:cNvPr>
            <p:cNvSpPr/>
            <p:nvPr/>
          </p:nvSpPr>
          <p:spPr>
            <a:xfrm>
              <a:off x="3316670" y="-2193"/>
              <a:ext cx="4898861" cy="294605"/>
            </a:xfrm>
            <a:prstGeom prst="homePlat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The Sector</a:t>
              </a:r>
              <a:endParaRPr lang="en-IN" dirty="0"/>
            </a:p>
          </p:txBody>
        </p:sp>
        <p:sp>
          <p:nvSpPr>
            <p:cNvPr id="71" name="Arrow: Pentagon 70">
              <a:extLst>
                <a:ext uri="{FF2B5EF4-FFF2-40B4-BE49-F238E27FC236}">
                  <a16:creationId xmlns:a16="http://schemas.microsoft.com/office/drawing/2014/main" id="{E4FAF1B6-0832-4972-97A6-066C2B7E256A}"/>
                </a:ext>
              </a:extLst>
            </p:cNvPr>
            <p:cNvSpPr/>
            <p:nvPr/>
          </p:nvSpPr>
          <p:spPr>
            <a:xfrm>
              <a:off x="0" y="0"/>
              <a:ext cx="4105204" cy="294605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Company Highlights</a:t>
              </a:r>
              <a:endParaRPr lang="en-IN" dirty="0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93956870-B48F-439E-AD50-36413ED627AE}"/>
              </a:ext>
            </a:extLst>
          </p:cNvPr>
          <p:cNvSpPr/>
          <p:nvPr/>
        </p:nvSpPr>
        <p:spPr>
          <a:xfrm>
            <a:off x="0" y="421682"/>
            <a:ext cx="12192000" cy="261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FC26218-FC85-405E-AB18-7C976504247F}"/>
              </a:ext>
            </a:extLst>
          </p:cNvPr>
          <p:cNvSpPr txBox="1"/>
          <p:nvPr/>
        </p:nvSpPr>
        <p:spPr>
          <a:xfrm>
            <a:off x="161796" y="398403"/>
            <a:ext cx="11886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The new sector where Dare2Compete can pivot there business is – </a:t>
            </a:r>
            <a:r>
              <a:rPr lang="en-GB" sz="1400" b="1" i="1" dirty="0">
                <a:solidFill>
                  <a:schemeClr val="bg1"/>
                </a:solidFill>
              </a:rPr>
              <a:t>FREELANCING  MARKETPLACE</a:t>
            </a:r>
            <a:r>
              <a:rPr lang="en-GB" sz="1400" b="1" dirty="0">
                <a:solidFill>
                  <a:schemeClr val="bg1"/>
                </a:solidFill>
              </a:rPr>
              <a:t> </a:t>
            </a:r>
            <a:endParaRPr lang="en-IN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38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D67EA4-8CB3-4FED-9FD6-64C0B1AA3C3C}"/>
              </a:ext>
            </a:extLst>
          </p:cNvPr>
          <p:cNvSpPr txBox="1"/>
          <p:nvPr/>
        </p:nvSpPr>
        <p:spPr>
          <a:xfrm>
            <a:off x="90901" y="3712037"/>
            <a:ext cx="5829296" cy="2857834"/>
          </a:xfrm>
          <a:prstGeom prst="rect">
            <a:avLst/>
          </a:pr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Cost Allocation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en-IN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Assuming that the Portal website and application to be built by the inhouse developers of D2C as a part of the new project at an additional cost </a:t>
            </a:r>
            <a:r>
              <a:rPr lang="en-IN" sz="1200" b="1" i="1" u="sng" dirty="0">
                <a:solidFill>
                  <a:schemeClr val="bg1"/>
                </a:solidFill>
              </a:rPr>
              <a:t>₹1,00,000 </a:t>
            </a:r>
            <a:r>
              <a:rPr lang="en-IN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the project including additional domain name, certificates, servers etc.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en-IN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Operations costs include the IT operations and maintenance of the Portal to be outsourced at a cost of </a:t>
            </a:r>
            <a:r>
              <a:rPr lang="en-IN" sz="1200" b="1" i="1" u="sng" dirty="0">
                <a:solidFill>
                  <a:schemeClr val="bg1"/>
                </a:solidFill>
              </a:rPr>
              <a:t>₹1,00,000 </a:t>
            </a:r>
            <a:r>
              <a:rPr lang="en-IN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 month.</a:t>
            </a:r>
            <a:endParaRPr lang="en-IN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en-IN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Marketing cost includes digital advertisements, collaborations, launch event, PR and other miscellaneous costs as </a:t>
            </a:r>
            <a:r>
              <a:rPr lang="en-IN" sz="1200" b="1" i="1" u="sng" dirty="0">
                <a:solidFill>
                  <a:schemeClr val="bg1"/>
                </a:solidFill>
              </a:rPr>
              <a:t>₹2,00,000</a:t>
            </a:r>
            <a:endParaRPr lang="en-IN" sz="1200" b="1" i="1" u="sng" dirty="0">
              <a:solidFill>
                <a:schemeClr val="bg1"/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Keeping the buffer of</a:t>
            </a:r>
            <a:r>
              <a:rPr lang="en-IN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b="1" i="1" u="sng" dirty="0">
                <a:solidFill>
                  <a:schemeClr val="bg1"/>
                </a:solidFill>
              </a:rPr>
              <a:t>₹1,00,000 </a:t>
            </a:r>
            <a:r>
              <a:rPr lang="en-IN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hand for liquidity and other impromptu costs.</a:t>
            </a:r>
            <a:endParaRPr lang="en-IN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solidFill>
                  <a:schemeClr val="bg1"/>
                </a:solidFill>
              </a:rPr>
              <a:t>Note</a:t>
            </a:r>
            <a:r>
              <a:rPr lang="en-IN" sz="1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1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cost allocation considers the initial setup and introductory period of D2C for freelancers with a gradual growth this business will be in the eyes of D2C’s investors and other Investors. To further scale up the business an investment of at least </a:t>
            </a:r>
            <a:r>
              <a:rPr lang="en-IN" sz="1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</a:t>
            </a:r>
            <a:r>
              <a:rPr lang="en-IN" sz="1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50,00,000 for the next operations cycle is desired.</a:t>
            </a:r>
          </a:p>
        </p:txBody>
      </p:sp>
      <p:graphicFrame>
        <p:nvGraphicFramePr>
          <p:cNvPr id="102" name="Table 102">
            <a:extLst>
              <a:ext uri="{FF2B5EF4-FFF2-40B4-BE49-F238E27FC236}">
                <a16:creationId xmlns:a16="http://schemas.microsoft.com/office/drawing/2014/main" id="{40B65EFF-37EF-4A12-8518-E3444DC13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060045"/>
              </p:ext>
            </p:extLst>
          </p:nvPr>
        </p:nvGraphicFramePr>
        <p:xfrm>
          <a:off x="6067340" y="719774"/>
          <a:ext cx="6019556" cy="2926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82862">
                  <a:extLst>
                    <a:ext uri="{9D8B030D-6E8A-4147-A177-3AD203B41FA5}">
                      <a16:colId xmlns:a16="http://schemas.microsoft.com/office/drawing/2014/main" val="2975076650"/>
                    </a:ext>
                  </a:extLst>
                </a:gridCol>
                <a:gridCol w="2936694">
                  <a:extLst>
                    <a:ext uri="{9D8B030D-6E8A-4147-A177-3AD203B41FA5}">
                      <a16:colId xmlns:a16="http://schemas.microsoft.com/office/drawing/2014/main" val="1009593289"/>
                    </a:ext>
                  </a:extLst>
                </a:gridCol>
              </a:tblGrid>
              <a:tr h="271809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Freelancer’s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Client’s Side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679632"/>
                  </a:ext>
                </a:extLst>
              </a:tr>
              <a:tr h="453015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Fees charged by freelancers for services based on customer classification.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 monthly subscription fee for Premium clients.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911531"/>
                  </a:ext>
                </a:extLst>
              </a:tr>
              <a:tr h="1177838">
                <a:tc>
                  <a:txBody>
                    <a:bodyPr/>
                    <a:lstStyle/>
                    <a:p>
                      <a:r>
                        <a:rPr lang="en-US" sz="1200" dirty="0"/>
                        <a:t>Contract with Non-Enterprise Client — Each Non-Enterprise Client is paid a sliding cost based on lifetime billings. Whether the contracts are hourly, fixed-price, or Project Catalogue projects, the service fees remain the same.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Customized pricing depending on the level of service that will be provided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714251"/>
                  </a:ext>
                </a:extLst>
              </a:tr>
              <a:tr h="996632">
                <a:tc>
                  <a:txBody>
                    <a:bodyPr/>
                    <a:lstStyle/>
                    <a:p>
                      <a:r>
                        <a:rPr lang="en-US" sz="1200" dirty="0"/>
                        <a:t>Contracts with Enterprise Clients — These sliding fees do not apply to Enterprise client contracts. The service cost for enterprise contracts is a fixed 10%. Enterprise clients are identified by a badge on their client profiles.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 percentage of payments processing and administration costs on all payments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015629"/>
                  </a:ext>
                </a:extLst>
              </a:tr>
            </a:tbl>
          </a:graphicData>
        </a:graphic>
      </p:graphicFrame>
      <p:sp>
        <p:nvSpPr>
          <p:cNvPr id="103" name="Rectangle 102">
            <a:extLst>
              <a:ext uri="{FF2B5EF4-FFF2-40B4-BE49-F238E27FC236}">
                <a16:creationId xmlns:a16="http://schemas.microsoft.com/office/drawing/2014/main" id="{D042A25F-CD7F-49AD-AA8C-DFBDF2416637}"/>
              </a:ext>
            </a:extLst>
          </p:cNvPr>
          <p:cNvSpPr/>
          <p:nvPr/>
        </p:nvSpPr>
        <p:spPr>
          <a:xfrm>
            <a:off x="0" y="6646023"/>
            <a:ext cx="12192000" cy="22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6153869-8E84-4AE9-9B08-5D4FDB4119D8}"/>
              </a:ext>
            </a:extLst>
          </p:cNvPr>
          <p:cNvSpPr txBox="1"/>
          <p:nvPr/>
        </p:nvSpPr>
        <p:spPr>
          <a:xfrm>
            <a:off x="6067340" y="359963"/>
            <a:ext cx="2698531" cy="283482"/>
          </a:xfrm>
          <a:prstGeom prst="rect">
            <a:avLst/>
          </a:prstGeom>
          <a:solidFill>
            <a:schemeClr val="accent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Revenue Model of D2C for Freelancers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F3D8EB8-D6AC-4E7E-8265-FD0BFA79D883}"/>
              </a:ext>
            </a:extLst>
          </p:cNvPr>
          <p:cNvGrpSpPr/>
          <p:nvPr/>
        </p:nvGrpSpPr>
        <p:grpSpPr>
          <a:xfrm>
            <a:off x="6067340" y="3714713"/>
            <a:ext cx="6033759" cy="2835666"/>
            <a:chOff x="6392918" y="3716690"/>
            <a:chExt cx="5693979" cy="2835666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C700790-84A8-4FB5-89B8-69259AFFDA49}"/>
                </a:ext>
              </a:extLst>
            </p:cNvPr>
            <p:cNvSpPr txBox="1"/>
            <p:nvPr/>
          </p:nvSpPr>
          <p:spPr>
            <a:xfrm>
              <a:off x="6392918" y="4244032"/>
              <a:ext cx="5693979" cy="2308324"/>
            </a:xfrm>
            <a:prstGeom prst="rect">
              <a:avLst/>
            </a:prstGeom>
            <a:solidFill>
              <a:schemeClr val="accent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IN" sz="1200" b="1" i="1" dirty="0">
                  <a:solidFill>
                    <a:schemeClr val="bg1"/>
                  </a:solidFill>
                </a:rPr>
                <a:t>In the Future</a:t>
              </a:r>
            </a:p>
            <a:p>
              <a:endParaRPr lang="en-IN" sz="1200" dirty="0">
                <a:solidFill>
                  <a:schemeClr val="bg1"/>
                </a:solidFill>
              </a:endParaRPr>
            </a:p>
            <a:p>
              <a:r>
                <a:rPr lang="en-IN" sz="1200" dirty="0">
                  <a:solidFill>
                    <a:schemeClr val="bg1"/>
                  </a:solidFill>
                </a:rPr>
                <a:t>Many businesses and organisations choose remote working as we move deeper into the digital age and how the epidemic has impacted enterprises.</a:t>
              </a:r>
            </a:p>
            <a:p>
              <a:endParaRPr lang="en-IN" sz="1200" dirty="0">
                <a:solidFill>
                  <a:schemeClr val="bg1"/>
                </a:solidFill>
              </a:endParaRPr>
            </a:p>
            <a:p>
              <a:r>
                <a:rPr lang="en-IN" sz="1200" dirty="0">
                  <a:solidFill>
                    <a:schemeClr val="bg1"/>
                  </a:solidFill>
                </a:rPr>
                <a:t> Freelancers are ahead of the curve; with firms throughout the world automating many of their functions and expanding their reach through online platforms, the prospect of an even larger freelancing market looms. </a:t>
              </a:r>
            </a:p>
            <a:p>
              <a:endParaRPr lang="en-IN" sz="1200" dirty="0">
                <a:solidFill>
                  <a:schemeClr val="bg1"/>
                </a:solidFill>
              </a:endParaRPr>
            </a:p>
            <a:p>
              <a:r>
                <a:rPr lang="en-IN" sz="1200" dirty="0">
                  <a:solidFill>
                    <a:schemeClr val="bg1"/>
                  </a:solidFill>
                </a:rPr>
                <a:t>In such a circumstance, a talent marketplace's business model, such as </a:t>
              </a:r>
              <a:r>
                <a:rPr lang="en-IN" sz="1200" b="1" i="1" u="sng" dirty="0">
                  <a:solidFill>
                    <a:schemeClr val="bg1"/>
                  </a:solidFill>
                </a:rPr>
                <a:t>D2C for Freelancers</a:t>
              </a:r>
              <a:r>
                <a:rPr lang="en-IN" sz="1200" dirty="0">
                  <a:solidFill>
                    <a:schemeClr val="bg1"/>
                  </a:solidFill>
                </a:rPr>
                <a:t>, is critical in assisting businesses in obtaining the essential workforce and talent from anywhere in the globe.</a:t>
              </a:r>
            </a:p>
          </p:txBody>
        </p:sp>
        <p:pic>
          <p:nvPicPr>
            <p:cNvPr id="109" name="Graphic 108">
              <a:extLst>
                <a:ext uri="{FF2B5EF4-FFF2-40B4-BE49-F238E27FC236}">
                  <a16:creationId xmlns:a16="http://schemas.microsoft.com/office/drawing/2014/main" id="{F02B190B-859B-4E8E-9BF3-8287FC2C6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77003" y="3747072"/>
              <a:ext cx="462457" cy="46245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B60838B-2252-44A4-A9FA-80C9448F7600}"/>
                </a:ext>
              </a:extLst>
            </p:cNvPr>
            <p:cNvSpPr txBox="1"/>
            <p:nvPr/>
          </p:nvSpPr>
          <p:spPr>
            <a:xfrm>
              <a:off x="6939460" y="3716690"/>
              <a:ext cx="4769067" cy="52322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IN" sz="2800" i="1" dirty="0">
                  <a:solidFill>
                    <a:schemeClr val="accent1"/>
                  </a:solidFill>
                </a:rPr>
                <a:t>For Freelancers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E6D11D8-406D-40F1-BEB2-44AB379FFFF3}"/>
              </a:ext>
            </a:extLst>
          </p:cNvPr>
          <p:cNvGrpSpPr/>
          <p:nvPr/>
        </p:nvGrpSpPr>
        <p:grpSpPr>
          <a:xfrm>
            <a:off x="165189" y="359589"/>
            <a:ext cx="5680719" cy="3259104"/>
            <a:chOff x="5486400" y="2655605"/>
            <a:chExt cx="6558455" cy="379658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4B795FE-9201-496B-B9A5-0B06E8A04F40}"/>
                </a:ext>
              </a:extLst>
            </p:cNvPr>
            <p:cNvSpPr/>
            <p:nvPr/>
          </p:nvSpPr>
          <p:spPr>
            <a:xfrm>
              <a:off x="5486400" y="2655605"/>
              <a:ext cx="6558455" cy="3796581"/>
            </a:xfrm>
            <a:prstGeom prst="round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2" name="Picture 11" descr="A picture containing text, parking&#10;&#10;Description automatically generated">
              <a:extLst>
                <a:ext uri="{FF2B5EF4-FFF2-40B4-BE49-F238E27FC236}">
                  <a16:creationId xmlns:a16="http://schemas.microsoft.com/office/drawing/2014/main" id="{DBF464A3-3C42-479D-ABE7-392B8FB498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19" t="6557" r="20413" b="4186"/>
            <a:stretch/>
          </p:blipFill>
          <p:spPr>
            <a:xfrm>
              <a:off x="5868603" y="3084130"/>
              <a:ext cx="1611253" cy="3229294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B7B6C03-38CA-4916-845B-BFEF29AE9BBE}"/>
                </a:ext>
              </a:extLst>
            </p:cNvPr>
            <p:cNvGrpSpPr/>
            <p:nvPr/>
          </p:nvGrpSpPr>
          <p:grpSpPr>
            <a:xfrm>
              <a:off x="7862061" y="3236734"/>
              <a:ext cx="4182794" cy="609600"/>
              <a:chOff x="7735774" y="3124200"/>
              <a:chExt cx="4182794" cy="609600"/>
            </a:xfrm>
          </p:grpSpPr>
          <p:pic>
            <p:nvPicPr>
              <p:cNvPr id="24" name="Picture 2" descr="Network free icon">
                <a:extLst>
                  <a:ext uri="{FF2B5EF4-FFF2-40B4-BE49-F238E27FC236}">
                    <a16:creationId xmlns:a16="http://schemas.microsoft.com/office/drawing/2014/main" id="{F02A16A4-6F6A-4A95-9C8C-1DC2FC4C22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35774" y="3124200"/>
                <a:ext cx="609600" cy="609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9B35CAE-64BB-4899-927E-5F0B871B0FEC}"/>
                  </a:ext>
                </a:extLst>
              </p:cNvPr>
              <p:cNvSpPr txBox="1"/>
              <p:nvPr/>
            </p:nvSpPr>
            <p:spPr>
              <a:xfrm>
                <a:off x="8345374" y="3164937"/>
                <a:ext cx="357319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b="0" i="0" u="none" strike="noStrike" dirty="0">
                    <a:solidFill>
                      <a:srgbClr val="000000"/>
                    </a:solidFill>
                    <a:effectLst/>
                  </a:rPr>
                  <a:t>marketplace for all the Indian Freelancers connecting them with Indian and Foreign clients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78E5EF-0A9B-49F8-9C26-6364CA762763}"/>
                </a:ext>
              </a:extLst>
            </p:cNvPr>
            <p:cNvGrpSpPr/>
            <p:nvPr/>
          </p:nvGrpSpPr>
          <p:grpSpPr>
            <a:xfrm>
              <a:off x="7862061" y="4004262"/>
              <a:ext cx="3979267" cy="609600"/>
              <a:chOff x="7735774" y="3891728"/>
              <a:chExt cx="3979267" cy="609600"/>
            </a:xfrm>
          </p:grpSpPr>
          <p:pic>
            <p:nvPicPr>
              <p:cNvPr id="22" name="Picture 4" descr="Portfolio free icon">
                <a:extLst>
                  <a:ext uri="{FF2B5EF4-FFF2-40B4-BE49-F238E27FC236}">
                    <a16:creationId xmlns:a16="http://schemas.microsoft.com/office/drawing/2014/main" id="{7E4C461C-4639-4C20-BB14-D3A204AD25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35774" y="3891728"/>
                <a:ext cx="589063" cy="609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5C3045E-AE5E-4537-98D9-A56FC1DCBEA2}"/>
                  </a:ext>
                </a:extLst>
              </p:cNvPr>
              <p:cNvSpPr txBox="1"/>
              <p:nvPr/>
            </p:nvSpPr>
            <p:spPr>
              <a:xfrm>
                <a:off x="8345374" y="3981083"/>
                <a:ext cx="33696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b="0" i="0" u="none" strike="noStrike" dirty="0">
                    <a:solidFill>
                      <a:srgbClr val="000000"/>
                    </a:solidFill>
                    <a:effectLst/>
                  </a:rPr>
                  <a:t>create their portfolio in the D2C for Freelancers platform </a:t>
                </a:r>
                <a:endParaRPr lang="en-US" sz="12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7766AA7-7A7A-4CFD-9B63-3EEF59168C55}"/>
                </a:ext>
              </a:extLst>
            </p:cNvPr>
            <p:cNvGrpSpPr/>
            <p:nvPr/>
          </p:nvGrpSpPr>
          <p:grpSpPr>
            <a:xfrm>
              <a:off x="7862060" y="4966728"/>
              <a:ext cx="3898209" cy="609601"/>
              <a:chOff x="7735773" y="4854194"/>
              <a:chExt cx="3898209" cy="609601"/>
            </a:xfrm>
          </p:grpSpPr>
          <p:pic>
            <p:nvPicPr>
              <p:cNvPr id="20" name="Picture 6" descr="Interfaces free icon">
                <a:extLst>
                  <a:ext uri="{FF2B5EF4-FFF2-40B4-BE49-F238E27FC236}">
                    <a16:creationId xmlns:a16="http://schemas.microsoft.com/office/drawing/2014/main" id="{A96947E6-5135-4FB7-B3FB-D7A902C1876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35773" y="4854194"/>
                <a:ext cx="609601" cy="6096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BFF1B06-09D0-4925-A7E6-933A6A927C90}"/>
                  </a:ext>
                </a:extLst>
              </p:cNvPr>
              <p:cNvSpPr txBox="1"/>
              <p:nvPr/>
            </p:nvSpPr>
            <p:spPr>
              <a:xfrm>
                <a:off x="8345374" y="4875191"/>
                <a:ext cx="32886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rgbClr val="000000"/>
                    </a:solidFill>
                  </a:rPr>
                  <a:t>User friendly interface providing</a:t>
                </a:r>
                <a:r>
                  <a:rPr lang="en-US" sz="1200" b="0" i="0" u="none" strike="noStrike" dirty="0">
                    <a:solidFill>
                      <a:srgbClr val="000000"/>
                    </a:solidFill>
                    <a:effectLst/>
                  </a:rPr>
                  <a:t> top notch user experience</a:t>
                </a:r>
                <a:endParaRPr lang="en-IN" sz="1200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9DB1D39-AF2E-4B4F-9504-14488137F6BC}"/>
                </a:ext>
              </a:extLst>
            </p:cNvPr>
            <p:cNvGrpSpPr/>
            <p:nvPr/>
          </p:nvGrpSpPr>
          <p:grpSpPr>
            <a:xfrm>
              <a:off x="7862060" y="5691894"/>
              <a:ext cx="3979268" cy="690660"/>
              <a:chOff x="7735773" y="5648991"/>
              <a:chExt cx="3979268" cy="690660"/>
            </a:xfrm>
          </p:grpSpPr>
          <p:pic>
            <p:nvPicPr>
              <p:cNvPr id="18" name="Picture 8" descr="New product free icon">
                <a:extLst>
                  <a:ext uri="{FF2B5EF4-FFF2-40B4-BE49-F238E27FC236}">
                    <a16:creationId xmlns:a16="http://schemas.microsoft.com/office/drawing/2014/main" id="{64B533B7-F556-4921-96D7-5155827167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35773" y="5648991"/>
                <a:ext cx="690660" cy="6906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23C11E-8EF2-43E7-9ED1-75762ACC9211}"/>
                  </a:ext>
                </a:extLst>
              </p:cNvPr>
              <p:cNvSpPr txBox="1"/>
              <p:nvPr/>
            </p:nvSpPr>
            <p:spPr>
              <a:xfrm>
                <a:off x="8426433" y="5855736"/>
                <a:ext cx="32886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b="0" i="0" u="none" strike="noStrike" dirty="0">
                    <a:solidFill>
                      <a:srgbClr val="000000"/>
                    </a:solidFill>
                    <a:effectLst/>
                  </a:rPr>
                  <a:t>Students/freelancers will encourage new developments by their favorite platform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D9FB8A7-082E-4310-9124-EA16191A2129}"/>
              </a:ext>
            </a:extLst>
          </p:cNvPr>
          <p:cNvGrpSpPr/>
          <p:nvPr/>
        </p:nvGrpSpPr>
        <p:grpSpPr>
          <a:xfrm>
            <a:off x="0" y="-4386"/>
            <a:ext cx="12146704" cy="298991"/>
            <a:chOff x="0" y="-4386"/>
            <a:chExt cx="12146704" cy="298991"/>
          </a:xfrm>
        </p:grpSpPr>
        <p:sp>
          <p:nvSpPr>
            <p:cNvPr id="31" name="Arrow: Pentagon 30">
              <a:extLst>
                <a:ext uri="{FF2B5EF4-FFF2-40B4-BE49-F238E27FC236}">
                  <a16:creationId xmlns:a16="http://schemas.microsoft.com/office/drawing/2014/main" id="{D74B1C53-AF29-49D7-88D0-E144A0D7D954}"/>
                </a:ext>
              </a:extLst>
            </p:cNvPr>
            <p:cNvSpPr/>
            <p:nvPr/>
          </p:nvSpPr>
          <p:spPr>
            <a:xfrm>
              <a:off x="7247843" y="-4386"/>
              <a:ext cx="4898861" cy="294605"/>
            </a:xfrm>
            <a:prstGeom prst="homePlat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The Platform</a:t>
              </a:r>
              <a:endParaRPr lang="en-IN" dirty="0"/>
            </a:p>
          </p:txBody>
        </p:sp>
        <p:sp>
          <p:nvSpPr>
            <p:cNvPr id="32" name="Arrow: Pentagon 31">
              <a:extLst>
                <a:ext uri="{FF2B5EF4-FFF2-40B4-BE49-F238E27FC236}">
                  <a16:creationId xmlns:a16="http://schemas.microsoft.com/office/drawing/2014/main" id="{DA05CAB3-2A3D-44CF-845C-3DC56BC902A3}"/>
                </a:ext>
              </a:extLst>
            </p:cNvPr>
            <p:cNvSpPr/>
            <p:nvPr/>
          </p:nvSpPr>
          <p:spPr>
            <a:xfrm>
              <a:off x="3316670" y="-2193"/>
              <a:ext cx="4898861" cy="294605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The Sector</a:t>
              </a:r>
              <a:endParaRPr lang="en-IN" dirty="0"/>
            </a:p>
          </p:txBody>
        </p:sp>
        <p:sp>
          <p:nvSpPr>
            <p:cNvPr id="33" name="Arrow: Pentagon 32">
              <a:extLst>
                <a:ext uri="{FF2B5EF4-FFF2-40B4-BE49-F238E27FC236}">
                  <a16:creationId xmlns:a16="http://schemas.microsoft.com/office/drawing/2014/main" id="{D8A1D271-D9A3-4059-B0D3-38D0820BBFB4}"/>
                </a:ext>
              </a:extLst>
            </p:cNvPr>
            <p:cNvSpPr/>
            <p:nvPr/>
          </p:nvSpPr>
          <p:spPr>
            <a:xfrm>
              <a:off x="0" y="0"/>
              <a:ext cx="4105204" cy="294605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Company Highlights</a:t>
              </a:r>
              <a:endParaRPr lang="en-IN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164A2E6-98C2-4974-83E1-F43BC4720C45}"/>
              </a:ext>
            </a:extLst>
          </p:cNvPr>
          <p:cNvGrpSpPr/>
          <p:nvPr/>
        </p:nvGrpSpPr>
        <p:grpSpPr>
          <a:xfrm>
            <a:off x="1891856" y="400011"/>
            <a:ext cx="2079319" cy="307777"/>
            <a:chOff x="2906049" y="272968"/>
            <a:chExt cx="2079319" cy="307777"/>
          </a:xfrm>
        </p:grpSpPr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5BEACFA6-576B-4AC7-9D19-15EF6FE21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06049" y="313176"/>
              <a:ext cx="281151" cy="265319"/>
            </a:xfrm>
            <a:prstGeom prst="rect">
              <a:avLst/>
            </a:prstGeom>
            <a:effectLst/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4BEE6F4-D0FF-4AD2-A1A1-458893099934}"/>
                </a:ext>
              </a:extLst>
            </p:cNvPr>
            <p:cNvSpPr txBox="1"/>
            <p:nvPr/>
          </p:nvSpPr>
          <p:spPr>
            <a:xfrm>
              <a:off x="3187200" y="272968"/>
              <a:ext cx="1798168" cy="307777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/>
            <a:p>
              <a:r>
                <a:rPr lang="en-IN" sz="1400" i="1" dirty="0">
                  <a:solidFill>
                    <a:schemeClr val="accent1"/>
                  </a:solidFill>
                </a:rPr>
                <a:t>For Freelancers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013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07838E-91DD-406D-8DE6-994DC36F048E}"/>
              </a:ext>
            </a:extLst>
          </p:cNvPr>
          <p:cNvSpPr txBox="1"/>
          <p:nvPr/>
        </p:nvSpPr>
        <p:spPr>
          <a:xfrm>
            <a:off x="2945969" y="2705725"/>
            <a:ext cx="63000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800" b="1" dirty="0">
                <a:solidFill>
                  <a:schemeClr val="bg1"/>
                </a:solidFill>
              </a:rPr>
              <a:t>THANK YOU!</a:t>
            </a:r>
            <a:endParaRPr lang="en-IN" sz="8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243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1087</TotalTime>
  <Words>1132</Words>
  <Application>Microsoft Office PowerPoint</Application>
  <PresentationFormat>Widescreen</PresentationFormat>
  <Paragraphs>165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</vt:lpstr>
      <vt:lpstr>Calibri</vt:lpstr>
      <vt:lpstr>Calibri Light</vt:lpstr>
      <vt:lpstr>graphikweb-regular</vt:lpstr>
      <vt:lpstr>Office Theme</vt:lpstr>
      <vt:lpstr>Entrée-preneurship 4.0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Mohit Kiradoo</dc:creator>
  <cp:lastModifiedBy>Mohit Kiradoo</cp:lastModifiedBy>
  <cp:revision>30</cp:revision>
  <dcterms:created xsi:type="dcterms:W3CDTF">2021-12-31T11:09:16Z</dcterms:created>
  <dcterms:modified xsi:type="dcterms:W3CDTF">2022-01-08T09:41:52Z</dcterms:modified>
</cp:coreProperties>
</file>