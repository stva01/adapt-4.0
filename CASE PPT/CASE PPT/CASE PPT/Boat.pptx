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042D"/>
    <a:srgbClr val="F5430B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-43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NMIMS_docs\CaseComps\BOAT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IN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ser>
          <c:idx val="0"/>
          <c:order val="0"/>
          <c:tx>
            <c:strRef>
              <c:f>Sheet1!$D$3</c:f>
              <c:strCache>
                <c:ptCount val="1"/>
                <c:pt idx="0">
                  <c:v>Online Marketplaces</c:v>
                </c:pt>
              </c:strCache>
            </c:strRef>
          </c:tx>
          <c:dLbls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showVal val="1"/>
          </c:dLbls>
          <c:cat>
            <c:strRef>
              <c:f>Sheet1!$E$2:$H$2</c:f>
              <c:strCache>
                <c:ptCount val="4"/>
                <c:pt idx="0">
                  <c:v>FY 19</c:v>
                </c:pt>
                <c:pt idx="1">
                  <c:v>FY 20</c:v>
                </c:pt>
                <c:pt idx="2">
                  <c:v>FY 21</c:v>
                </c:pt>
                <c:pt idx="3">
                  <c:v>H1 FY22</c:v>
                </c:pt>
              </c:strCache>
            </c:strRef>
          </c:cat>
          <c:val>
            <c:numRef>
              <c:f>Sheet1!$E$3:$H$3</c:f>
              <c:numCache>
                <c:formatCode>0.00%</c:formatCode>
                <c:ptCount val="4"/>
                <c:pt idx="0">
                  <c:v>0.85110000000000019</c:v>
                </c:pt>
                <c:pt idx="1">
                  <c:v>0.86260000000000026</c:v>
                </c:pt>
                <c:pt idx="2">
                  <c:v>0.85840000000000005</c:v>
                </c:pt>
                <c:pt idx="3">
                  <c:v>0.83240000000000003</c:v>
                </c:pt>
              </c:numCache>
            </c:numRef>
          </c:val>
        </c:ser>
        <c:ser>
          <c:idx val="1"/>
          <c:order val="1"/>
          <c:tx>
            <c:strRef>
              <c:f>Sheet1!$D$4</c:f>
              <c:strCache>
                <c:ptCount val="1"/>
                <c:pt idx="0">
                  <c:v>Offline</c:v>
                </c:pt>
              </c:strCache>
            </c:strRef>
          </c:tx>
          <c:dLbls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showVal val="1"/>
          </c:dLbls>
          <c:cat>
            <c:strRef>
              <c:f>Sheet1!$E$2:$H$2</c:f>
              <c:strCache>
                <c:ptCount val="4"/>
                <c:pt idx="0">
                  <c:v>FY 19</c:v>
                </c:pt>
                <c:pt idx="1">
                  <c:v>FY 20</c:v>
                </c:pt>
                <c:pt idx="2">
                  <c:v>FY 21</c:v>
                </c:pt>
                <c:pt idx="3">
                  <c:v>H1 FY22</c:v>
                </c:pt>
              </c:strCache>
            </c:strRef>
          </c:cat>
          <c:val>
            <c:numRef>
              <c:f>Sheet1!$E$4:$H$4</c:f>
              <c:numCache>
                <c:formatCode>0.00%</c:formatCode>
                <c:ptCount val="4"/>
                <c:pt idx="0">
                  <c:v>0.14890000000000006</c:v>
                </c:pt>
                <c:pt idx="1">
                  <c:v>0.1353</c:v>
                </c:pt>
                <c:pt idx="2">
                  <c:v>0.12330000000000002</c:v>
                </c:pt>
                <c:pt idx="3">
                  <c:v>0.13840000000000005</c:v>
                </c:pt>
              </c:numCache>
            </c:numRef>
          </c:val>
        </c:ser>
        <c:ser>
          <c:idx val="2"/>
          <c:order val="2"/>
          <c:tx>
            <c:strRef>
              <c:f>Sheet1!$D$5</c:f>
              <c:strCache>
                <c:ptCount val="1"/>
                <c:pt idx="0">
                  <c:v>Own Website</c:v>
                </c:pt>
              </c:strCache>
            </c:strRef>
          </c:tx>
          <c:dLbls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inBase"/>
            <c:showVal val="1"/>
          </c:dLbls>
          <c:cat>
            <c:strRef>
              <c:f>Sheet1!$E$2:$H$2</c:f>
              <c:strCache>
                <c:ptCount val="4"/>
                <c:pt idx="0">
                  <c:v>FY 19</c:v>
                </c:pt>
                <c:pt idx="1">
                  <c:v>FY 20</c:v>
                </c:pt>
                <c:pt idx="2">
                  <c:v>FY 21</c:v>
                </c:pt>
                <c:pt idx="3">
                  <c:v>H1 FY22</c:v>
                </c:pt>
              </c:strCache>
            </c:strRef>
          </c:cat>
          <c:val>
            <c:numRef>
              <c:f>Sheet1!$E$5:$H$5</c:f>
              <c:numCache>
                <c:formatCode>0.00%</c:formatCode>
                <c:ptCount val="4"/>
                <c:pt idx="0">
                  <c:v>0</c:v>
                </c:pt>
                <c:pt idx="1">
                  <c:v>2.1000000000000003E-3</c:v>
                </c:pt>
                <c:pt idx="2">
                  <c:v>1.8300000000000007E-2</c:v>
                </c:pt>
                <c:pt idx="3">
                  <c:v>2.9300000000000003E-2</c:v>
                </c:pt>
              </c:numCache>
            </c:numRef>
          </c:val>
        </c:ser>
        <c:dLbls>
          <c:showVal val="1"/>
        </c:dLbls>
        <c:gapWidth val="75"/>
        <c:overlap val="100"/>
        <c:axId val="121666944"/>
        <c:axId val="121681024"/>
      </c:barChart>
      <c:catAx>
        <c:axId val="121666944"/>
        <c:scaling>
          <c:orientation val="minMax"/>
        </c:scaling>
        <c:axPos val="b"/>
        <c:majorTickMark val="none"/>
        <c:tickLblPos val="nextTo"/>
        <c:crossAx val="121681024"/>
        <c:crosses val="autoZero"/>
        <c:auto val="1"/>
        <c:lblAlgn val="ctr"/>
        <c:lblOffset val="100"/>
      </c:catAx>
      <c:valAx>
        <c:axId val="121681024"/>
        <c:scaling>
          <c:orientation val="minMax"/>
        </c:scaling>
        <c:delete val="1"/>
        <c:axPos val="l"/>
        <c:numFmt formatCode="0%" sourceLinked="1"/>
        <c:majorTickMark val="none"/>
        <c:tickLblPos val="nextTo"/>
        <c:crossAx val="121666944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/>
    </c:legend>
    <c:plotVisOnly val="1"/>
  </c:chart>
  <c:externalData r:id="rId2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59075-3F1C-4B55-9D8F-40EAAD3CB15B}" type="datetimeFigureOut">
              <a:rPr lang="en-IN" smtClean="0"/>
              <a:pPr/>
              <a:t>19-02-2023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8F3BC-6C0A-4777-9145-E5F3706FCF3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1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2660C09-CC9F-0FA6-4727-28E3F6B2282C}"/>
              </a:ext>
            </a:extLst>
          </p:cNvPr>
          <p:cNvSpPr txBox="1"/>
          <p:nvPr/>
        </p:nvSpPr>
        <p:spPr>
          <a:xfrm>
            <a:off x="0" y="4368"/>
            <a:ext cx="4232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Current and Potential Target Group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9DC792D-3241-0DE7-AADC-59005D5171D4}"/>
              </a:ext>
            </a:extLst>
          </p:cNvPr>
          <p:cNvSpPr txBox="1"/>
          <p:nvPr/>
        </p:nvSpPr>
        <p:spPr>
          <a:xfrm>
            <a:off x="6881233" y="44290"/>
            <a:ext cx="843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Drivers</a:t>
            </a:r>
          </a:p>
        </p:txBody>
      </p:sp>
      <p:grpSp>
        <p:nvGrpSpPr>
          <p:cNvPr id="3" name="Group 1039">
            <a:extLst>
              <a:ext uri="{FF2B5EF4-FFF2-40B4-BE49-F238E27FC236}">
                <a16:creationId xmlns="" xmlns:a16="http://schemas.microsoft.com/office/drawing/2014/main" id="{82E9B6DE-F49D-3704-68D2-565C1F25E824}"/>
              </a:ext>
            </a:extLst>
          </p:cNvPr>
          <p:cNvGrpSpPr/>
          <p:nvPr/>
        </p:nvGrpSpPr>
        <p:grpSpPr>
          <a:xfrm>
            <a:off x="0" y="214682"/>
            <a:ext cx="4788235" cy="923767"/>
            <a:chOff x="-8670" y="420271"/>
            <a:chExt cx="4788235" cy="923767"/>
          </a:xfrm>
        </p:grpSpPr>
        <p:grpSp>
          <p:nvGrpSpPr>
            <p:cNvPr id="4" name="Group 19">
              <a:extLst>
                <a:ext uri="{FF2B5EF4-FFF2-40B4-BE49-F238E27FC236}">
                  <a16:creationId xmlns="" xmlns:a16="http://schemas.microsoft.com/office/drawing/2014/main" id="{32D6166F-2A1F-8EDB-A7C6-9F90C3231E01}"/>
                </a:ext>
              </a:extLst>
            </p:cNvPr>
            <p:cNvGrpSpPr/>
            <p:nvPr/>
          </p:nvGrpSpPr>
          <p:grpSpPr>
            <a:xfrm>
              <a:off x="-8670" y="420271"/>
              <a:ext cx="929951" cy="903067"/>
              <a:chOff x="-8670" y="420271"/>
              <a:chExt cx="929951" cy="903067"/>
            </a:xfrm>
          </p:grpSpPr>
          <p:pic>
            <p:nvPicPr>
              <p:cNvPr id="1036" name="Picture 12" descr="Graphic designer ">
                <a:extLst>
                  <a:ext uri="{FF2B5EF4-FFF2-40B4-BE49-F238E27FC236}">
                    <a16:creationId xmlns="" xmlns:a16="http://schemas.microsoft.com/office/drawing/2014/main" id="{54CBD92B-BCBA-2339-6D1E-8256A7C91E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6014" y="420271"/>
                <a:ext cx="651593" cy="6515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0095DD05-F02E-1613-AA45-029C719B988D}"/>
                  </a:ext>
                </a:extLst>
              </p:cNvPr>
              <p:cNvSpPr txBox="1"/>
              <p:nvPr/>
            </p:nvSpPr>
            <p:spPr>
              <a:xfrm>
                <a:off x="-8670" y="1077117"/>
                <a:ext cx="92995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dirty="0"/>
                  <a:t>D</a:t>
                </a:r>
                <a:r>
                  <a:rPr lang="en-US" sz="1000" i="0" dirty="0">
                    <a:effectLst/>
                  </a:rPr>
                  <a:t>esigners</a:t>
                </a:r>
                <a:endParaRPr lang="en-IN" sz="1000" dirty="0"/>
              </a:p>
            </p:txBody>
          </p:sp>
        </p:grpSp>
        <p:grpSp>
          <p:nvGrpSpPr>
            <p:cNvPr id="7" name="Group 20">
              <a:extLst>
                <a:ext uri="{FF2B5EF4-FFF2-40B4-BE49-F238E27FC236}">
                  <a16:creationId xmlns="" xmlns:a16="http://schemas.microsoft.com/office/drawing/2014/main" id="{C4200F0C-0931-265F-E35C-A4421E84D9D7}"/>
                </a:ext>
              </a:extLst>
            </p:cNvPr>
            <p:cNvGrpSpPr/>
            <p:nvPr/>
          </p:nvGrpSpPr>
          <p:grpSpPr>
            <a:xfrm>
              <a:off x="752604" y="498390"/>
              <a:ext cx="1069152" cy="821971"/>
              <a:chOff x="975073" y="501367"/>
              <a:chExt cx="1069152" cy="821971"/>
            </a:xfrm>
          </p:grpSpPr>
          <p:pic>
            <p:nvPicPr>
              <p:cNvPr id="1028" name="Picture 4" descr="Dancing ">
                <a:extLst>
                  <a:ext uri="{FF2B5EF4-FFF2-40B4-BE49-F238E27FC236}">
                    <a16:creationId xmlns="" xmlns:a16="http://schemas.microsoft.com/office/drawing/2014/main" id="{1C97C6BB-497A-B696-0DC6-EB5CA48362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5180" y="501367"/>
                <a:ext cx="525348" cy="5253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id="{7DA2F2FA-67CF-F1A2-DA9F-00FFDA16E25D}"/>
                  </a:ext>
                </a:extLst>
              </p:cNvPr>
              <p:cNvSpPr txBox="1"/>
              <p:nvPr/>
            </p:nvSpPr>
            <p:spPr>
              <a:xfrm>
                <a:off x="975073" y="1077117"/>
                <a:ext cx="106915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 dirty="0"/>
                  <a:t>D</a:t>
                </a:r>
                <a:r>
                  <a:rPr lang="en-US" sz="1000" i="0" dirty="0">
                    <a:effectLst/>
                  </a:rPr>
                  <a:t>ancers</a:t>
                </a:r>
                <a:endParaRPr lang="en-IN" sz="1000" dirty="0"/>
              </a:p>
            </p:txBody>
          </p:sp>
        </p:grpSp>
        <p:grpSp>
          <p:nvGrpSpPr>
            <p:cNvPr id="8" name="Group 21">
              <a:extLst>
                <a:ext uri="{FF2B5EF4-FFF2-40B4-BE49-F238E27FC236}">
                  <a16:creationId xmlns="" xmlns:a16="http://schemas.microsoft.com/office/drawing/2014/main" id="{D0B9E8AD-35CA-B0FB-F0DF-42BC5FB1633C}"/>
                </a:ext>
              </a:extLst>
            </p:cNvPr>
            <p:cNvGrpSpPr/>
            <p:nvPr/>
          </p:nvGrpSpPr>
          <p:grpSpPr>
            <a:xfrm>
              <a:off x="1748237" y="509141"/>
              <a:ext cx="835221" cy="820419"/>
              <a:chOff x="2045286" y="501365"/>
              <a:chExt cx="835221" cy="820419"/>
            </a:xfrm>
          </p:grpSpPr>
          <p:pic>
            <p:nvPicPr>
              <p:cNvPr id="1030" name="Picture 6" descr="Fashion designer ">
                <a:extLst>
                  <a:ext uri="{FF2B5EF4-FFF2-40B4-BE49-F238E27FC236}">
                    <a16:creationId xmlns="" xmlns:a16="http://schemas.microsoft.com/office/drawing/2014/main" id="{C082D47F-82A7-E5A1-B4C8-D0493BE7EE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80460" y="501365"/>
                <a:ext cx="562723" cy="5627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02F0B2EC-1C2B-6389-5363-A7175E94EDEA}"/>
                  </a:ext>
                </a:extLst>
              </p:cNvPr>
              <p:cNvSpPr txBox="1"/>
              <p:nvPr/>
            </p:nvSpPr>
            <p:spPr>
              <a:xfrm>
                <a:off x="2045286" y="1075563"/>
                <a:ext cx="835221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/>
                  <a:t>D</a:t>
                </a:r>
                <a:r>
                  <a:rPr lang="en-US" sz="1000" i="0" dirty="0">
                    <a:effectLst/>
                  </a:rPr>
                  <a:t>oodlers</a:t>
                </a:r>
                <a:endParaRPr lang="en-IN" sz="1000" dirty="0"/>
              </a:p>
            </p:txBody>
          </p:sp>
        </p:grpSp>
        <p:grpSp>
          <p:nvGrpSpPr>
            <p:cNvPr id="9" name="Group 22">
              <a:extLst>
                <a:ext uri="{FF2B5EF4-FFF2-40B4-BE49-F238E27FC236}">
                  <a16:creationId xmlns="" xmlns:a16="http://schemas.microsoft.com/office/drawing/2014/main" id="{988C506F-91DC-D7CE-940F-ADF321356140}"/>
                </a:ext>
              </a:extLst>
            </p:cNvPr>
            <p:cNvGrpSpPr/>
            <p:nvPr/>
          </p:nvGrpSpPr>
          <p:grpSpPr>
            <a:xfrm>
              <a:off x="2546757" y="508555"/>
              <a:ext cx="1088136" cy="821979"/>
              <a:chOff x="2924180" y="501365"/>
              <a:chExt cx="1088136" cy="821979"/>
            </a:xfrm>
          </p:grpSpPr>
          <p:pic>
            <p:nvPicPr>
              <p:cNvPr id="1034" name="Picture 10" descr="Artist ">
                <a:extLst>
                  <a:ext uri="{FF2B5EF4-FFF2-40B4-BE49-F238E27FC236}">
                    <a16:creationId xmlns="" xmlns:a16="http://schemas.microsoft.com/office/drawing/2014/main" id="{94EEC901-1B8B-3BB6-BE2B-DCB4D8202B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5742" y="501365"/>
                <a:ext cx="539246" cy="5392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F0B9EE29-C636-2641-F1F8-9206DF8D89B9}"/>
                  </a:ext>
                </a:extLst>
              </p:cNvPr>
              <p:cNvSpPr txBox="1"/>
              <p:nvPr/>
            </p:nvSpPr>
            <p:spPr>
              <a:xfrm>
                <a:off x="2924180" y="1077123"/>
                <a:ext cx="108813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/>
                  <a:t>F</a:t>
                </a:r>
                <a:r>
                  <a:rPr lang="en-US" sz="1000" i="0" dirty="0">
                    <a:effectLst/>
                  </a:rPr>
                  <a:t>ashionistas</a:t>
                </a:r>
                <a:endParaRPr lang="en-IN" sz="1000" dirty="0"/>
              </a:p>
            </p:txBody>
          </p:sp>
        </p:grpSp>
        <p:grpSp>
          <p:nvGrpSpPr>
            <p:cNvPr id="10" name="Group 23">
              <a:extLst>
                <a:ext uri="{FF2B5EF4-FFF2-40B4-BE49-F238E27FC236}">
                  <a16:creationId xmlns="" xmlns:a16="http://schemas.microsoft.com/office/drawing/2014/main" id="{FD7101A5-255C-12C9-72A2-96734F433202}"/>
                </a:ext>
              </a:extLst>
            </p:cNvPr>
            <p:cNvGrpSpPr/>
            <p:nvPr/>
          </p:nvGrpSpPr>
          <p:grpSpPr>
            <a:xfrm>
              <a:off x="3587429" y="491760"/>
              <a:ext cx="1192136" cy="852278"/>
              <a:chOff x="3923448" y="501365"/>
              <a:chExt cx="1192136" cy="852278"/>
            </a:xfrm>
          </p:grpSpPr>
          <p:pic>
            <p:nvPicPr>
              <p:cNvPr id="1032" name="Picture 8" descr="Fitness ">
                <a:extLst>
                  <a:ext uri="{FF2B5EF4-FFF2-40B4-BE49-F238E27FC236}">
                    <a16:creationId xmlns="" xmlns:a16="http://schemas.microsoft.com/office/drawing/2014/main" id="{E133FB8C-D804-4037-FC35-BB83B9C089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64750" y="501365"/>
                <a:ext cx="580103" cy="5801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5A313029-92F8-94B7-3104-1434A2F19B96}"/>
                  </a:ext>
                </a:extLst>
              </p:cNvPr>
              <p:cNvSpPr txBox="1"/>
              <p:nvPr/>
            </p:nvSpPr>
            <p:spPr>
              <a:xfrm>
                <a:off x="3923448" y="1107422"/>
                <a:ext cx="119213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/>
                  <a:t>F</a:t>
                </a:r>
                <a:r>
                  <a:rPr lang="en-US" sz="1000" i="0" dirty="0">
                    <a:effectLst/>
                  </a:rPr>
                  <a:t>itness freaks</a:t>
                </a:r>
                <a:endParaRPr lang="en-IN" sz="1000" dirty="0"/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6869E20B-1E67-FE13-2648-9F62CC4B2926}"/>
              </a:ext>
            </a:extLst>
          </p:cNvPr>
          <p:cNvSpPr txBox="1"/>
          <p:nvPr/>
        </p:nvSpPr>
        <p:spPr>
          <a:xfrm>
            <a:off x="9242830" y="41923"/>
            <a:ext cx="11659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Deterrants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A223E50F-A03E-1BC8-6F1B-37C625613539}"/>
              </a:ext>
            </a:extLst>
          </p:cNvPr>
          <p:cNvSpPr txBox="1"/>
          <p:nvPr/>
        </p:nvSpPr>
        <p:spPr>
          <a:xfrm>
            <a:off x="4913045" y="330669"/>
            <a:ext cx="993235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Emotional</a:t>
            </a:r>
            <a:endParaRPr lang="en-IN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E1C38D94-A96E-3E81-5E11-6A5B7200758F}"/>
              </a:ext>
            </a:extLst>
          </p:cNvPr>
          <p:cNvSpPr txBox="1"/>
          <p:nvPr/>
        </p:nvSpPr>
        <p:spPr>
          <a:xfrm>
            <a:off x="4897345" y="1110327"/>
            <a:ext cx="993235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Functional</a:t>
            </a:r>
            <a:endParaRPr lang="en-IN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1B587078-BFE0-FD8C-EEFC-84D2333344E6}"/>
              </a:ext>
            </a:extLst>
          </p:cNvPr>
          <p:cNvSpPr txBox="1"/>
          <p:nvPr/>
        </p:nvSpPr>
        <p:spPr>
          <a:xfrm>
            <a:off x="6027822" y="324852"/>
            <a:ext cx="2381286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N</a:t>
            </a:r>
            <a:r>
              <a:rPr lang="en-US" sz="1000" i="0" dirty="0">
                <a:effectLst/>
              </a:rPr>
              <a:t>eed to differentiate and stand out</a:t>
            </a:r>
            <a:endParaRPr lang="en-IN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="" xmlns:a16="http://schemas.microsoft.com/office/drawing/2014/main" id="{E3F987F4-06A9-28C1-3055-44FF0F288EB4}"/>
              </a:ext>
            </a:extLst>
          </p:cNvPr>
          <p:cNvSpPr txBox="1"/>
          <p:nvPr/>
        </p:nvSpPr>
        <p:spPr>
          <a:xfrm>
            <a:off x="6038973" y="663841"/>
            <a:ext cx="2375915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i="0" dirty="0">
                <a:effectLst/>
              </a:rPr>
              <a:t>Ergonomics and visually aesthetic designs</a:t>
            </a:r>
            <a:endParaRPr lang="en-IN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5641B30F-F948-BC61-47EC-344B377968E7}"/>
              </a:ext>
            </a:extLst>
          </p:cNvPr>
          <p:cNvSpPr txBox="1"/>
          <p:nvPr/>
        </p:nvSpPr>
        <p:spPr>
          <a:xfrm>
            <a:off x="6027821" y="1018559"/>
            <a:ext cx="2382253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i="0" dirty="0" smtClean="0">
                <a:effectLst/>
              </a:rPr>
              <a:t>Quality, durability</a:t>
            </a:r>
            <a:r>
              <a:rPr lang="en-US" sz="1000" i="0" dirty="0">
                <a:effectLst/>
              </a:rPr>
              <a:t>, waterproofing, and long battery life</a:t>
            </a:r>
            <a:endParaRPr lang="en-IN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15269778-6A12-AF9F-D57C-C6A5E5509F93}"/>
              </a:ext>
            </a:extLst>
          </p:cNvPr>
          <p:cNvSpPr txBox="1"/>
          <p:nvPr/>
        </p:nvSpPr>
        <p:spPr>
          <a:xfrm>
            <a:off x="8467251" y="324853"/>
            <a:ext cx="3532485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i="0" dirty="0">
                <a:effectLst/>
              </a:rPr>
              <a:t>Low brand value, missing sense of shared community</a:t>
            </a:r>
            <a:endParaRPr lang="en-IN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33E57098-3766-AE16-9504-248AE6727DB4}"/>
              </a:ext>
            </a:extLst>
          </p:cNvPr>
          <p:cNvSpPr txBox="1"/>
          <p:nvPr/>
        </p:nvSpPr>
        <p:spPr>
          <a:xfrm>
            <a:off x="8467012" y="663035"/>
            <a:ext cx="3532485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i="0" dirty="0">
                <a:effectLst/>
              </a:rPr>
              <a:t>Product designs, bad build quality, quick wear and tear</a:t>
            </a:r>
            <a:endParaRPr lang="en-IN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ECD869F2-20B0-CF11-64F4-FA6AAD325AE6}"/>
              </a:ext>
            </a:extLst>
          </p:cNvPr>
          <p:cNvSpPr txBox="1"/>
          <p:nvPr/>
        </p:nvSpPr>
        <p:spPr>
          <a:xfrm>
            <a:off x="8470232" y="1017179"/>
            <a:ext cx="3537286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i="0" dirty="0">
                <a:effectLst/>
              </a:rPr>
              <a:t>Bad drivers, connectivity issues, poor specifications, </a:t>
            </a:r>
            <a:r>
              <a:rPr lang="en-US" sz="1000" i="0" dirty="0" smtClean="0">
                <a:effectLst/>
              </a:rPr>
              <a:t>and average </a:t>
            </a:r>
            <a:r>
              <a:rPr lang="en-US" sz="1000" i="0" dirty="0">
                <a:effectLst/>
              </a:rPr>
              <a:t>battery life</a:t>
            </a:r>
            <a:endParaRPr lang="en-IN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8A78F881-A3E9-6273-2C64-0C4A97961061}"/>
              </a:ext>
            </a:extLst>
          </p:cNvPr>
          <p:cNvSpPr txBox="1"/>
          <p:nvPr/>
        </p:nvSpPr>
        <p:spPr>
          <a:xfrm>
            <a:off x="0" y="1659781"/>
            <a:ext cx="1070810" cy="40011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/>
              <a:t>C</a:t>
            </a:r>
            <a:r>
              <a:rPr lang="en-US" sz="1000" b="1" i="0" u="none" strike="noStrike" dirty="0">
                <a:effectLst/>
              </a:rPr>
              <a:t>onsumer journey</a:t>
            </a:r>
            <a:endParaRPr lang="en-IN" sz="1000" b="1" dirty="0"/>
          </a:p>
        </p:txBody>
      </p:sp>
      <p:sp>
        <p:nvSpPr>
          <p:cNvPr id="1025" name="TextBox 1024">
            <a:extLst>
              <a:ext uri="{FF2B5EF4-FFF2-40B4-BE49-F238E27FC236}">
                <a16:creationId xmlns="" xmlns:a16="http://schemas.microsoft.com/office/drawing/2014/main" id="{B69093CE-8F61-B03B-85CC-02DB7AA8086D}"/>
              </a:ext>
            </a:extLst>
          </p:cNvPr>
          <p:cNvSpPr txBox="1"/>
          <p:nvPr/>
        </p:nvSpPr>
        <p:spPr>
          <a:xfrm>
            <a:off x="3729790" y="1717481"/>
            <a:ext cx="1371600" cy="25569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/>
              <a:t>S</a:t>
            </a:r>
            <a:r>
              <a:rPr lang="en-US" sz="1000" b="1" i="0" u="none" strike="noStrike" dirty="0">
                <a:effectLst/>
              </a:rPr>
              <a:t>entiment </a:t>
            </a:r>
            <a:endParaRPr lang="en-IN" sz="1000" b="1" dirty="0"/>
          </a:p>
        </p:txBody>
      </p:sp>
      <p:sp>
        <p:nvSpPr>
          <p:cNvPr id="1039" name="TextBox 1038">
            <a:extLst>
              <a:ext uri="{FF2B5EF4-FFF2-40B4-BE49-F238E27FC236}">
                <a16:creationId xmlns="" xmlns:a16="http://schemas.microsoft.com/office/drawing/2014/main" id="{6988EF21-1C38-6295-BBE4-745D4F4E2902}"/>
              </a:ext>
            </a:extLst>
          </p:cNvPr>
          <p:cNvSpPr txBox="1"/>
          <p:nvPr/>
        </p:nvSpPr>
        <p:spPr>
          <a:xfrm>
            <a:off x="0" y="1086970"/>
            <a:ext cx="45479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000" dirty="0"/>
              <a:t>The target audience has a wide age group as school going students to their parents are users. The brand products are targeted mainly to the youth or individuals who want to pursue unconventional career paths.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="" xmlns:a16="http://schemas.microsoft.com/office/drawing/2014/main" id="{F9AA4B5C-CCB5-016E-3F32-15C76A753D77}"/>
              </a:ext>
            </a:extLst>
          </p:cNvPr>
          <p:cNvSpPr txBox="1"/>
          <p:nvPr/>
        </p:nvSpPr>
        <p:spPr>
          <a:xfrm>
            <a:off x="4904741" y="706493"/>
            <a:ext cx="993235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Physical</a:t>
            </a:r>
            <a:endParaRPr lang="en-IN" sz="1000" dirty="0"/>
          </a:p>
        </p:txBody>
      </p:sp>
      <p:sp>
        <p:nvSpPr>
          <p:cNvPr id="1043" name="TextBox 1042">
            <a:extLst>
              <a:ext uri="{FF2B5EF4-FFF2-40B4-BE49-F238E27FC236}">
                <a16:creationId xmlns="" xmlns:a16="http://schemas.microsoft.com/office/drawing/2014/main" id="{5003640F-0488-49AC-C2BC-45D949D1F496}"/>
              </a:ext>
            </a:extLst>
          </p:cNvPr>
          <p:cNvSpPr txBox="1"/>
          <p:nvPr/>
        </p:nvSpPr>
        <p:spPr>
          <a:xfrm>
            <a:off x="1251284" y="1709625"/>
            <a:ext cx="944731" cy="24622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/>
              <a:t>Activity</a:t>
            </a:r>
            <a:endParaRPr lang="en-IN" sz="1000" b="1" dirty="0"/>
          </a:p>
        </p:txBody>
      </p:sp>
      <p:sp>
        <p:nvSpPr>
          <p:cNvPr id="1044" name="TextBox 1043">
            <a:extLst>
              <a:ext uri="{FF2B5EF4-FFF2-40B4-BE49-F238E27FC236}">
                <a16:creationId xmlns="" xmlns:a16="http://schemas.microsoft.com/office/drawing/2014/main" id="{63AA0A68-50D9-2D05-54A2-9F856DDD429D}"/>
              </a:ext>
            </a:extLst>
          </p:cNvPr>
          <p:cNvSpPr txBox="1"/>
          <p:nvPr/>
        </p:nvSpPr>
        <p:spPr>
          <a:xfrm>
            <a:off x="2406316" y="1712137"/>
            <a:ext cx="1139537" cy="24622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/>
              <a:t>Touchpoints</a:t>
            </a:r>
            <a:endParaRPr lang="en-IN" sz="1000" b="1" dirty="0"/>
          </a:p>
        </p:txBody>
      </p:sp>
      <p:grpSp>
        <p:nvGrpSpPr>
          <p:cNvPr id="12" name="Group 1052">
            <a:extLst>
              <a:ext uri="{FF2B5EF4-FFF2-40B4-BE49-F238E27FC236}">
                <a16:creationId xmlns="" xmlns:a16="http://schemas.microsoft.com/office/drawing/2014/main" id="{AA3F3D16-1073-D9F0-0F12-83E126F7BA23}"/>
              </a:ext>
            </a:extLst>
          </p:cNvPr>
          <p:cNvGrpSpPr/>
          <p:nvPr/>
        </p:nvGrpSpPr>
        <p:grpSpPr>
          <a:xfrm>
            <a:off x="0" y="2089765"/>
            <a:ext cx="5116028" cy="255011"/>
            <a:chOff x="59069" y="2409212"/>
            <a:chExt cx="5116028" cy="255011"/>
          </a:xfrm>
        </p:grpSpPr>
        <p:sp>
          <p:nvSpPr>
            <p:cNvPr id="52" name="TextBox 51">
              <a:extLst>
                <a:ext uri="{FF2B5EF4-FFF2-40B4-BE49-F238E27FC236}">
                  <a16:creationId xmlns="" xmlns:a16="http://schemas.microsoft.com/office/drawing/2014/main" id="{78FE4181-35EF-F82C-C7D1-DFAF217CFB19}"/>
                </a:ext>
              </a:extLst>
            </p:cNvPr>
            <p:cNvSpPr txBox="1"/>
            <p:nvPr/>
          </p:nvSpPr>
          <p:spPr>
            <a:xfrm>
              <a:off x="59069" y="2410307"/>
              <a:ext cx="1071216" cy="253916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Need</a:t>
              </a:r>
              <a:endParaRPr lang="en-IN" sz="10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10EA9163-1543-F639-323C-CBA70B6E7E4F}"/>
                </a:ext>
              </a:extLst>
            </p:cNvPr>
            <p:cNvSpPr txBox="1"/>
            <p:nvPr/>
          </p:nvSpPr>
          <p:spPr>
            <a:xfrm>
              <a:off x="1293767" y="2410307"/>
              <a:ext cx="969883" cy="24622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Purchase</a:t>
              </a:r>
              <a:endParaRPr lang="en-IN" sz="1000" dirty="0"/>
            </a:p>
          </p:txBody>
        </p:sp>
        <p:sp>
          <p:nvSpPr>
            <p:cNvPr id="1029" name="TextBox 1028">
              <a:extLst>
                <a:ext uri="{FF2B5EF4-FFF2-40B4-BE49-F238E27FC236}">
                  <a16:creationId xmlns="" xmlns:a16="http://schemas.microsoft.com/office/drawing/2014/main" id="{D2755D8D-4277-51A7-C5B3-33EBDF7BC4B3}"/>
                </a:ext>
              </a:extLst>
            </p:cNvPr>
            <p:cNvSpPr txBox="1"/>
            <p:nvPr/>
          </p:nvSpPr>
          <p:spPr>
            <a:xfrm>
              <a:off x="3804622" y="2409212"/>
              <a:ext cx="1370475" cy="24622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Psychological Need</a:t>
              </a:r>
              <a:endParaRPr lang="en-IN" sz="1000" dirty="0"/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="" xmlns:a16="http://schemas.microsoft.com/office/drawing/2014/main" id="{66933F31-896C-5141-2332-755FBF5E8AE7}"/>
                </a:ext>
              </a:extLst>
            </p:cNvPr>
            <p:cNvSpPr txBox="1"/>
            <p:nvPr/>
          </p:nvSpPr>
          <p:spPr>
            <a:xfrm>
              <a:off x="2454688" y="2413067"/>
              <a:ext cx="1136812" cy="24622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Surroundings</a:t>
              </a:r>
              <a:endParaRPr lang="en-IN" sz="1000" dirty="0"/>
            </a:p>
          </p:txBody>
        </p:sp>
      </p:grpSp>
      <p:grpSp>
        <p:nvGrpSpPr>
          <p:cNvPr id="14" name="Group 1053">
            <a:extLst>
              <a:ext uri="{FF2B5EF4-FFF2-40B4-BE49-F238E27FC236}">
                <a16:creationId xmlns="" xmlns:a16="http://schemas.microsoft.com/office/drawing/2014/main" id="{092794E4-4D36-5B73-7FB7-F5FD57F94442}"/>
              </a:ext>
            </a:extLst>
          </p:cNvPr>
          <p:cNvGrpSpPr/>
          <p:nvPr/>
        </p:nvGrpSpPr>
        <p:grpSpPr>
          <a:xfrm>
            <a:off x="0" y="2371301"/>
            <a:ext cx="5114747" cy="408325"/>
            <a:chOff x="60350" y="2776694"/>
            <a:chExt cx="5114746" cy="408325"/>
          </a:xfrm>
        </p:grpSpPr>
        <p:sp>
          <p:nvSpPr>
            <p:cNvPr id="54" name="TextBox 53">
              <a:extLst>
                <a:ext uri="{FF2B5EF4-FFF2-40B4-BE49-F238E27FC236}">
                  <a16:creationId xmlns="" xmlns:a16="http://schemas.microsoft.com/office/drawing/2014/main" id="{5894CDAE-193C-6E4A-6AD0-0D332BB15923}"/>
                </a:ext>
              </a:extLst>
            </p:cNvPr>
            <p:cNvSpPr txBox="1"/>
            <p:nvPr/>
          </p:nvSpPr>
          <p:spPr>
            <a:xfrm>
              <a:off x="60350" y="2779639"/>
              <a:ext cx="1071216" cy="40011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Exploration &amp; Discovery</a:t>
              </a:r>
              <a:endParaRPr lang="en-IN" sz="10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="" xmlns:a16="http://schemas.microsoft.com/office/drawing/2014/main" id="{1310FCFC-5837-9CA0-F8C2-B0EFA8BBE84E}"/>
                </a:ext>
              </a:extLst>
            </p:cNvPr>
            <p:cNvSpPr txBox="1"/>
            <p:nvPr/>
          </p:nvSpPr>
          <p:spPr>
            <a:xfrm>
              <a:off x="1306293" y="2784909"/>
              <a:ext cx="961047" cy="4001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Primary research</a:t>
              </a:r>
              <a:endParaRPr lang="en-IN" sz="1000" dirty="0"/>
            </a:p>
          </p:txBody>
        </p:sp>
        <p:sp>
          <p:nvSpPr>
            <p:cNvPr id="1033" name="TextBox 1032">
              <a:extLst>
                <a:ext uri="{FF2B5EF4-FFF2-40B4-BE49-F238E27FC236}">
                  <a16:creationId xmlns="" xmlns:a16="http://schemas.microsoft.com/office/drawing/2014/main" id="{668A999D-F7CD-4B52-A0FD-687AE3299CBF}"/>
                </a:ext>
              </a:extLst>
            </p:cNvPr>
            <p:cNvSpPr txBox="1"/>
            <p:nvPr/>
          </p:nvSpPr>
          <p:spPr>
            <a:xfrm>
              <a:off x="3804622" y="2784908"/>
              <a:ext cx="1370474" cy="4001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Physiological &amp; Psychological Need </a:t>
              </a:r>
              <a:endParaRPr lang="en-IN" sz="1000" dirty="0"/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="" xmlns:a16="http://schemas.microsoft.com/office/drawing/2014/main" id="{5DDBCB8F-C20E-C274-B061-E57B6633AFDB}"/>
                </a:ext>
              </a:extLst>
            </p:cNvPr>
            <p:cNvSpPr txBox="1"/>
            <p:nvPr/>
          </p:nvSpPr>
          <p:spPr>
            <a:xfrm>
              <a:off x="2447909" y="2776694"/>
              <a:ext cx="1143095" cy="4001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Acquaintances, </a:t>
              </a:r>
              <a:endParaRPr lang="en-US" sz="1000" dirty="0" smtClean="0"/>
            </a:p>
            <a:p>
              <a:pPr algn="ctr"/>
              <a:r>
                <a:rPr lang="en-US" sz="1000" dirty="0" smtClean="0"/>
                <a:t>public </a:t>
              </a:r>
              <a:r>
                <a:rPr lang="en-US" sz="1000" dirty="0"/>
                <a:t>domain</a:t>
              </a:r>
              <a:endParaRPr lang="en-IN" sz="1000" dirty="0"/>
            </a:p>
          </p:txBody>
        </p:sp>
      </p:grpSp>
      <p:grpSp>
        <p:nvGrpSpPr>
          <p:cNvPr id="16" name="Group 1054">
            <a:extLst>
              <a:ext uri="{FF2B5EF4-FFF2-40B4-BE49-F238E27FC236}">
                <a16:creationId xmlns="" xmlns:a16="http://schemas.microsoft.com/office/drawing/2014/main" id="{E94F7491-F999-F011-F5D8-A85EFA8EC920}"/>
              </a:ext>
            </a:extLst>
          </p:cNvPr>
          <p:cNvGrpSpPr/>
          <p:nvPr/>
        </p:nvGrpSpPr>
        <p:grpSpPr>
          <a:xfrm>
            <a:off x="0" y="2817170"/>
            <a:ext cx="5103501" cy="555502"/>
            <a:chOff x="71595" y="3315622"/>
            <a:chExt cx="5103501" cy="555502"/>
          </a:xfrm>
        </p:grpSpPr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B9B14282-1F26-CCEA-F03B-CEDD95712759}"/>
                </a:ext>
              </a:extLst>
            </p:cNvPr>
            <p:cNvSpPr txBox="1"/>
            <p:nvPr/>
          </p:nvSpPr>
          <p:spPr>
            <a:xfrm>
              <a:off x="71595" y="3317126"/>
              <a:ext cx="1071216" cy="553998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Visit retail outlets/online marketplaces</a:t>
              </a:r>
              <a:endParaRPr lang="en-IN" sz="10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="" xmlns:a16="http://schemas.microsoft.com/office/drawing/2014/main" id="{FF1B1C57-860E-7A13-6B77-DDFED3DFD23A}"/>
                </a:ext>
              </a:extLst>
            </p:cNvPr>
            <p:cNvSpPr txBox="1"/>
            <p:nvPr/>
          </p:nvSpPr>
          <p:spPr>
            <a:xfrm>
              <a:off x="1309448" y="3315623"/>
              <a:ext cx="961047" cy="55399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Initiating purchase activity</a:t>
              </a:r>
              <a:endParaRPr lang="en-IN" sz="1000" dirty="0"/>
            </a:p>
          </p:txBody>
        </p:sp>
        <p:sp>
          <p:nvSpPr>
            <p:cNvPr id="1035" name="TextBox 1034">
              <a:extLst>
                <a:ext uri="{FF2B5EF4-FFF2-40B4-BE49-F238E27FC236}">
                  <a16:creationId xmlns="" xmlns:a16="http://schemas.microsoft.com/office/drawing/2014/main" id="{0D5F74A0-45A6-095B-516C-A00698040A82}"/>
                </a:ext>
              </a:extLst>
            </p:cNvPr>
            <p:cNvSpPr txBox="1"/>
            <p:nvPr/>
          </p:nvSpPr>
          <p:spPr>
            <a:xfrm>
              <a:off x="3810734" y="3315622"/>
              <a:ext cx="1364362" cy="55399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Eagerness, </a:t>
              </a:r>
              <a:endParaRPr lang="en-US" sz="1000" dirty="0" smtClean="0"/>
            </a:p>
            <a:p>
              <a:pPr algn="ctr"/>
              <a:r>
                <a:rPr lang="en-US" sz="1000" dirty="0" smtClean="0"/>
                <a:t>Enthusiasm</a:t>
              </a:r>
            </a:p>
            <a:p>
              <a:pPr algn="ctr"/>
              <a:r>
                <a:rPr lang="en-US" sz="1000" dirty="0" smtClean="0"/>
                <a:t>, </a:t>
              </a:r>
              <a:r>
                <a:rPr lang="en-US" sz="1000" dirty="0"/>
                <a:t>Fulfilment</a:t>
              </a:r>
              <a:endParaRPr lang="en-IN" sz="1000" dirty="0"/>
            </a:p>
          </p:txBody>
        </p:sp>
        <p:sp>
          <p:nvSpPr>
            <p:cNvPr id="1047" name="TextBox 1046">
              <a:extLst>
                <a:ext uri="{FF2B5EF4-FFF2-40B4-BE49-F238E27FC236}">
                  <a16:creationId xmlns="" xmlns:a16="http://schemas.microsoft.com/office/drawing/2014/main" id="{717A58E9-1DF8-F2DC-7CD8-BAA62F7B3145}"/>
                </a:ext>
              </a:extLst>
            </p:cNvPr>
            <p:cNvSpPr txBox="1"/>
            <p:nvPr/>
          </p:nvSpPr>
          <p:spPr>
            <a:xfrm>
              <a:off x="2464066" y="3317126"/>
              <a:ext cx="1139959" cy="55399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Retail outlets,</a:t>
              </a:r>
            </a:p>
            <a:p>
              <a:pPr algn="ctr"/>
              <a:r>
                <a:rPr lang="en-US" sz="1000" dirty="0" smtClean="0"/>
                <a:t>Online marketplaces</a:t>
              </a:r>
              <a:endParaRPr lang="en-IN" sz="1000" dirty="0"/>
            </a:p>
          </p:txBody>
        </p:sp>
      </p:grpSp>
      <p:grpSp>
        <p:nvGrpSpPr>
          <p:cNvPr id="18" name="Group 1055">
            <a:extLst>
              <a:ext uri="{FF2B5EF4-FFF2-40B4-BE49-F238E27FC236}">
                <a16:creationId xmlns="" xmlns:a16="http://schemas.microsoft.com/office/drawing/2014/main" id="{E7AB4920-AA01-8827-D3DC-A142DF15082A}"/>
              </a:ext>
            </a:extLst>
          </p:cNvPr>
          <p:cNvGrpSpPr/>
          <p:nvPr/>
        </p:nvGrpSpPr>
        <p:grpSpPr>
          <a:xfrm>
            <a:off x="0" y="3421814"/>
            <a:ext cx="5100893" cy="407296"/>
            <a:chOff x="59069" y="4038870"/>
            <a:chExt cx="5091590" cy="407296"/>
          </a:xfrm>
        </p:grpSpPr>
        <p:sp>
          <p:nvSpPr>
            <p:cNvPr id="58" name="TextBox 57">
              <a:extLst>
                <a:ext uri="{FF2B5EF4-FFF2-40B4-BE49-F238E27FC236}">
                  <a16:creationId xmlns="" xmlns:a16="http://schemas.microsoft.com/office/drawing/2014/main" id="{4DA31848-3E64-02B2-BBA4-FBA0C8619C4E}"/>
                </a:ext>
              </a:extLst>
            </p:cNvPr>
            <p:cNvSpPr txBox="1"/>
            <p:nvPr/>
          </p:nvSpPr>
          <p:spPr>
            <a:xfrm>
              <a:off x="59069" y="4039279"/>
              <a:ext cx="1071216" cy="40011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Completing Purchase</a:t>
              </a:r>
              <a:endParaRPr lang="en-IN" sz="10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13783CE4-4047-EA93-91A4-DB96FB420FFD}"/>
                </a:ext>
              </a:extLst>
            </p:cNvPr>
            <p:cNvSpPr txBox="1"/>
            <p:nvPr/>
          </p:nvSpPr>
          <p:spPr>
            <a:xfrm>
              <a:off x="1299642" y="4038870"/>
              <a:ext cx="961047" cy="4001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Payment for purchase</a:t>
              </a:r>
              <a:endParaRPr lang="en-IN" sz="1000" dirty="0"/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="" xmlns:a16="http://schemas.microsoft.com/office/drawing/2014/main" id="{5A403ED2-D3A4-8D6F-5EAE-97F906DA36D9}"/>
                </a:ext>
              </a:extLst>
            </p:cNvPr>
            <p:cNvSpPr txBox="1"/>
            <p:nvPr/>
          </p:nvSpPr>
          <p:spPr>
            <a:xfrm>
              <a:off x="2447177" y="4040538"/>
              <a:ext cx="1142725" cy="40256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Payment gateways</a:t>
              </a:r>
              <a:endParaRPr lang="en-IN" sz="1000" dirty="0"/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="" xmlns:a16="http://schemas.microsoft.com/office/drawing/2014/main" id="{231C2120-0574-695E-CF4E-C831CED7A6C3}"/>
                </a:ext>
              </a:extLst>
            </p:cNvPr>
            <p:cNvSpPr txBox="1"/>
            <p:nvPr/>
          </p:nvSpPr>
          <p:spPr>
            <a:xfrm>
              <a:off x="3793572" y="4046056"/>
              <a:ext cx="1357087" cy="4001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Anxious, </a:t>
              </a:r>
              <a:endParaRPr lang="en-US" sz="1000" dirty="0" smtClean="0"/>
            </a:p>
            <a:p>
              <a:pPr algn="ctr"/>
              <a:r>
                <a:rPr lang="en-US" sz="1000" dirty="0" smtClean="0"/>
                <a:t>Reassuring</a:t>
              </a:r>
            </a:p>
          </p:txBody>
        </p:sp>
      </p:grpSp>
      <p:grpSp>
        <p:nvGrpSpPr>
          <p:cNvPr id="20" name="Group 1056">
            <a:extLst>
              <a:ext uri="{FF2B5EF4-FFF2-40B4-BE49-F238E27FC236}">
                <a16:creationId xmlns="" xmlns:a16="http://schemas.microsoft.com/office/drawing/2014/main" id="{02E847EF-9C74-FC92-2605-09A48229E024}"/>
              </a:ext>
            </a:extLst>
          </p:cNvPr>
          <p:cNvGrpSpPr/>
          <p:nvPr/>
        </p:nvGrpSpPr>
        <p:grpSpPr>
          <a:xfrm>
            <a:off x="0" y="3879990"/>
            <a:ext cx="5106896" cy="255791"/>
            <a:chOff x="59069" y="4545171"/>
            <a:chExt cx="5106896" cy="255791"/>
          </a:xfrm>
        </p:grpSpPr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653100CF-28CF-8DBA-70D2-304B9D6CD32A}"/>
                </a:ext>
              </a:extLst>
            </p:cNvPr>
            <p:cNvSpPr txBox="1"/>
            <p:nvPr/>
          </p:nvSpPr>
          <p:spPr>
            <a:xfrm>
              <a:off x="59069" y="4554741"/>
              <a:ext cx="1071216" cy="246221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Delivery</a:t>
              </a:r>
              <a:endParaRPr lang="en-IN" sz="1000" dirty="0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="" xmlns:a16="http://schemas.microsoft.com/office/drawing/2014/main" id="{1541A8F6-AC3D-DA9A-F6AB-BC7B5FF21552}"/>
                </a:ext>
              </a:extLst>
            </p:cNvPr>
            <p:cNvSpPr txBox="1"/>
            <p:nvPr/>
          </p:nvSpPr>
          <p:spPr>
            <a:xfrm>
              <a:off x="3800397" y="4545171"/>
              <a:ext cx="1365568" cy="24622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Satisfaction</a:t>
              </a:r>
              <a:endParaRPr lang="en-IN" sz="1000" dirty="0"/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="" xmlns:a16="http://schemas.microsoft.com/office/drawing/2014/main" id="{E9F73D54-8824-FEFA-D781-A4F026B169AD}"/>
                </a:ext>
              </a:extLst>
            </p:cNvPr>
            <p:cNvSpPr txBox="1"/>
            <p:nvPr/>
          </p:nvSpPr>
          <p:spPr>
            <a:xfrm>
              <a:off x="1296923" y="4550488"/>
              <a:ext cx="963431" cy="24622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Unboxing</a:t>
              </a:r>
              <a:endParaRPr lang="en-IN" sz="1000" dirty="0"/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="" xmlns:a16="http://schemas.microsoft.com/office/drawing/2014/main" id="{B979F016-779C-96C5-4D4A-F155160331CE}"/>
                </a:ext>
              </a:extLst>
            </p:cNvPr>
            <p:cNvSpPr txBox="1"/>
            <p:nvPr/>
          </p:nvSpPr>
          <p:spPr>
            <a:xfrm>
              <a:off x="2451540" y="4553223"/>
              <a:ext cx="1139960" cy="24622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Packaging</a:t>
              </a:r>
              <a:endParaRPr lang="en-IN" sz="1000" dirty="0"/>
            </a:p>
          </p:txBody>
        </p:sp>
      </p:grpSp>
      <p:grpSp>
        <p:nvGrpSpPr>
          <p:cNvPr id="21" name="Group 1057">
            <a:extLst>
              <a:ext uri="{FF2B5EF4-FFF2-40B4-BE49-F238E27FC236}">
                <a16:creationId xmlns="" xmlns:a16="http://schemas.microsoft.com/office/drawing/2014/main" id="{18E67F29-523B-AAD8-62A2-DD7EBC7D93B0}"/>
              </a:ext>
            </a:extLst>
          </p:cNvPr>
          <p:cNvGrpSpPr/>
          <p:nvPr/>
        </p:nvGrpSpPr>
        <p:grpSpPr>
          <a:xfrm>
            <a:off x="0" y="4178327"/>
            <a:ext cx="5113420" cy="418724"/>
            <a:chOff x="59069" y="4882305"/>
            <a:chExt cx="5097279" cy="418724"/>
          </a:xfrm>
        </p:grpSpPr>
        <p:sp>
          <p:nvSpPr>
            <p:cNvPr id="61" name="TextBox 60">
              <a:extLst>
                <a:ext uri="{FF2B5EF4-FFF2-40B4-BE49-F238E27FC236}">
                  <a16:creationId xmlns="" xmlns:a16="http://schemas.microsoft.com/office/drawing/2014/main" id="{91B0E124-6DB7-B839-BD24-5560C0BE3759}"/>
                </a:ext>
              </a:extLst>
            </p:cNvPr>
            <p:cNvSpPr txBox="1"/>
            <p:nvPr/>
          </p:nvSpPr>
          <p:spPr>
            <a:xfrm>
              <a:off x="59069" y="4882305"/>
              <a:ext cx="1071216" cy="400110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Customer Support</a:t>
              </a:r>
              <a:endParaRPr lang="en-IN" sz="10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82F14B90-0565-1197-AC42-D83358A50497}"/>
                </a:ext>
              </a:extLst>
            </p:cNvPr>
            <p:cNvSpPr txBox="1"/>
            <p:nvPr/>
          </p:nvSpPr>
          <p:spPr>
            <a:xfrm>
              <a:off x="1287660" y="4882305"/>
              <a:ext cx="965745" cy="4001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After sales support</a:t>
              </a:r>
              <a:endParaRPr lang="en-IN" sz="1000" dirty="0"/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="" xmlns:a16="http://schemas.microsoft.com/office/drawing/2014/main" id="{EA056DB0-B4FA-EBE7-DE5F-935AB5AD22E3}"/>
                </a:ext>
              </a:extLst>
            </p:cNvPr>
            <p:cNvSpPr txBox="1"/>
            <p:nvPr/>
          </p:nvSpPr>
          <p:spPr>
            <a:xfrm>
              <a:off x="3789079" y="4889552"/>
              <a:ext cx="1367269" cy="40011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Customer Value, Brand Loyalty</a:t>
              </a:r>
              <a:endParaRPr lang="en-IN" sz="1000" dirty="0"/>
            </a:p>
          </p:txBody>
        </p:sp>
        <p:sp>
          <p:nvSpPr>
            <p:cNvPr id="1052" name="TextBox 1051">
              <a:extLst>
                <a:ext uri="{FF2B5EF4-FFF2-40B4-BE49-F238E27FC236}">
                  <a16:creationId xmlns="" xmlns:a16="http://schemas.microsoft.com/office/drawing/2014/main" id="{32F732E1-DC7B-35C8-D98A-EEA0831326A8}"/>
                </a:ext>
              </a:extLst>
            </p:cNvPr>
            <p:cNvSpPr txBox="1"/>
            <p:nvPr/>
          </p:nvSpPr>
          <p:spPr>
            <a:xfrm>
              <a:off x="2443988" y="4893576"/>
              <a:ext cx="1141199" cy="4074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Support </a:t>
              </a:r>
              <a:endParaRPr lang="en-US" sz="1000" dirty="0" smtClean="0"/>
            </a:p>
            <a:p>
              <a:pPr algn="ctr"/>
              <a:r>
                <a:rPr lang="en-US" sz="1000" dirty="0" smtClean="0"/>
                <a:t>Executives</a:t>
              </a:r>
            </a:p>
          </p:txBody>
        </p:sp>
      </p:grpSp>
      <p:sp>
        <p:nvSpPr>
          <p:cNvPr id="69" name="Rectangle 68"/>
          <p:cNvSpPr/>
          <p:nvPr/>
        </p:nvSpPr>
        <p:spPr>
          <a:xfrm>
            <a:off x="5257800" y="2622885"/>
            <a:ext cx="2947737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1000" dirty="0" smtClean="0"/>
              <a:t>Retail presence majorly limited to unorganized retail leads to brand dilution</a:t>
            </a:r>
            <a:endParaRPr lang="en-IN" sz="1000" dirty="0"/>
          </a:p>
        </p:txBody>
      </p:sp>
      <p:sp>
        <p:nvSpPr>
          <p:cNvPr id="72" name="Rectangle 71"/>
          <p:cNvSpPr/>
          <p:nvPr/>
        </p:nvSpPr>
        <p:spPr>
          <a:xfrm>
            <a:off x="5257799" y="1962841"/>
            <a:ext cx="2947737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1000" dirty="0" smtClean="0"/>
              <a:t>86% of boat’s revenue from third party online marketplaces </a:t>
            </a:r>
            <a:r>
              <a:rPr lang="en-IN" sz="1000" dirty="0" smtClean="0"/>
              <a:t> in FY 21</a:t>
            </a:r>
            <a:endParaRPr lang="en-IN" sz="1000" dirty="0" smtClean="0"/>
          </a:p>
        </p:txBody>
      </p: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78FE4181-35EF-F82C-C7D1-DFAF217CFB19}"/>
              </a:ext>
            </a:extLst>
          </p:cNvPr>
          <p:cNvSpPr txBox="1"/>
          <p:nvPr/>
        </p:nvSpPr>
        <p:spPr>
          <a:xfrm>
            <a:off x="0" y="5087824"/>
            <a:ext cx="1071216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Online</a:t>
            </a:r>
            <a:endParaRPr lang="en-IN" sz="1000" dirty="0"/>
          </a:p>
        </p:txBody>
      </p: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10EA9163-1543-F639-323C-CBA70B6E7E4F}"/>
              </a:ext>
            </a:extLst>
          </p:cNvPr>
          <p:cNvSpPr txBox="1"/>
          <p:nvPr/>
        </p:nvSpPr>
        <p:spPr>
          <a:xfrm>
            <a:off x="1157904" y="5090300"/>
            <a:ext cx="1748134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000" dirty="0" smtClean="0"/>
              <a:t>Boat website/app</a:t>
            </a:r>
            <a:endParaRPr lang="en-IN" sz="1000" dirty="0"/>
          </a:p>
        </p:txBody>
      </p:sp>
      <p:sp>
        <p:nvSpPr>
          <p:cNvPr id="77" name="Rectangle 76"/>
          <p:cNvSpPr/>
          <p:nvPr/>
        </p:nvSpPr>
        <p:spPr>
          <a:xfrm>
            <a:off x="10058400" y="4926685"/>
            <a:ext cx="2121074" cy="5539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 smtClean="0"/>
              <a:t>Purchase volume, purchase </a:t>
            </a:r>
            <a:r>
              <a:rPr lang="en-US" sz="1000" dirty="0" err="1" smtClean="0"/>
              <a:t>frequency,unique</a:t>
            </a:r>
            <a:r>
              <a:rPr lang="en-US" sz="1000" dirty="0" smtClean="0"/>
              <a:t> visitors, conversion rate, Average session time</a:t>
            </a:r>
            <a:endParaRPr lang="en-IN" sz="1000" dirty="0"/>
          </a:p>
        </p:txBody>
      </p:sp>
      <p:sp>
        <p:nvSpPr>
          <p:cNvPr id="78" name="TextBox 77">
            <a:extLst>
              <a:ext uri="{FF2B5EF4-FFF2-40B4-BE49-F238E27FC236}">
                <a16:creationId xmlns="" xmlns:a16="http://schemas.microsoft.com/office/drawing/2014/main" id="{78FE4181-35EF-F82C-C7D1-DFAF217CFB19}"/>
              </a:ext>
            </a:extLst>
          </p:cNvPr>
          <p:cNvSpPr txBox="1"/>
          <p:nvPr/>
        </p:nvSpPr>
        <p:spPr>
          <a:xfrm>
            <a:off x="0" y="5555518"/>
            <a:ext cx="1071216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Offline</a:t>
            </a:r>
            <a:endParaRPr lang="en-IN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78FE4181-35EF-F82C-C7D1-DFAF217CFB19}"/>
              </a:ext>
            </a:extLst>
          </p:cNvPr>
          <p:cNvSpPr txBox="1"/>
          <p:nvPr/>
        </p:nvSpPr>
        <p:spPr>
          <a:xfrm>
            <a:off x="0" y="6053258"/>
            <a:ext cx="1071216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Owned IP</a:t>
            </a:r>
            <a:endParaRPr lang="en-IN" sz="1000" dirty="0"/>
          </a:p>
        </p:txBody>
      </p:sp>
      <p:sp>
        <p:nvSpPr>
          <p:cNvPr id="81" name="TextBox 80">
            <a:extLst>
              <a:ext uri="{FF2B5EF4-FFF2-40B4-BE49-F238E27FC236}">
                <a16:creationId xmlns="" xmlns:a16="http://schemas.microsoft.com/office/drawing/2014/main" id="{8A78F881-A3E9-6273-2C64-0C4A97961061}"/>
              </a:ext>
            </a:extLst>
          </p:cNvPr>
          <p:cNvSpPr txBox="1"/>
          <p:nvPr/>
        </p:nvSpPr>
        <p:spPr>
          <a:xfrm>
            <a:off x="12526" y="4752506"/>
            <a:ext cx="9995770" cy="24538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en-US" sz="1000" b="1" dirty="0" smtClean="0"/>
              <a:t>Opportunities identified through different channels, touch points and monitoring their KPI’s</a:t>
            </a:r>
            <a:endParaRPr lang="en-IN" sz="1000" b="1" dirty="0"/>
          </a:p>
        </p:txBody>
      </p:sp>
      <p:sp>
        <p:nvSpPr>
          <p:cNvPr id="85" name="TextBox 84">
            <a:extLst>
              <a:ext uri="{FF2B5EF4-FFF2-40B4-BE49-F238E27FC236}">
                <a16:creationId xmlns="" xmlns:a16="http://schemas.microsoft.com/office/drawing/2014/main" id="{78FE4181-35EF-F82C-C7D1-DFAF217CFB19}"/>
              </a:ext>
            </a:extLst>
          </p:cNvPr>
          <p:cNvSpPr txBox="1"/>
          <p:nvPr/>
        </p:nvSpPr>
        <p:spPr>
          <a:xfrm>
            <a:off x="0" y="6509085"/>
            <a:ext cx="1071216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Social Media</a:t>
            </a:r>
            <a:endParaRPr lang="en-IN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="" xmlns:a16="http://schemas.microsoft.com/office/drawing/2014/main" id="{10EA9163-1543-F639-323C-CBA70B6E7E4F}"/>
              </a:ext>
            </a:extLst>
          </p:cNvPr>
          <p:cNvSpPr txBox="1"/>
          <p:nvPr/>
        </p:nvSpPr>
        <p:spPr>
          <a:xfrm>
            <a:off x="1165927" y="5556010"/>
            <a:ext cx="1727585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000" dirty="0" smtClean="0"/>
              <a:t>Boat exclusive stores</a:t>
            </a:r>
            <a:endParaRPr lang="en-IN" sz="1000" dirty="0"/>
          </a:p>
        </p:txBody>
      </p:sp>
      <p:sp>
        <p:nvSpPr>
          <p:cNvPr id="88" name="Rectangle 87"/>
          <p:cNvSpPr/>
          <p:nvPr/>
        </p:nvSpPr>
        <p:spPr>
          <a:xfrm>
            <a:off x="5257800" y="2370221"/>
            <a:ext cx="2947737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1000" dirty="0" smtClean="0"/>
              <a:t>Low sales (&lt;3%) from </a:t>
            </a:r>
            <a:r>
              <a:rPr lang="en-IN" sz="1000" dirty="0" err="1" smtClean="0"/>
              <a:t>comapany’s</a:t>
            </a:r>
            <a:r>
              <a:rPr lang="en-IN" sz="1000" dirty="0" smtClean="0"/>
              <a:t> own website/app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53790" y="3304674"/>
            <a:ext cx="2975810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1000" dirty="0" smtClean="0"/>
              <a:t>Increase active users on the website/app through community building</a:t>
            </a:r>
            <a:endParaRPr lang="en-IN" sz="1000" dirty="0"/>
          </a:p>
        </p:txBody>
      </p:sp>
      <p:sp>
        <p:nvSpPr>
          <p:cNvPr id="90" name="Rectangle 89"/>
          <p:cNvSpPr/>
          <p:nvPr/>
        </p:nvSpPr>
        <p:spPr>
          <a:xfrm>
            <a:off x="5265822" y="3713747"/>
            <a:ext cx="2959769" cy="5539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1000" dirty="0" smtClean="0"/>
              <a:t>Incentives to users  through discounts and offers to buy from Boat website/app instead of online marketplaces</a:t>
            </a:r>
            <a:endParaRPr lang="en-IN" sz="1000" dirty="0"/>
          </a:p>
        </p:txBody>
      </p:sp>
      <p:sp>
        <p:nvSpPr>
          <p:cNvPr id="91" name="Rectangle 90"/>
          <p:cNvSpPr/>
          <p:nvPr/>
        </p:nvSpPr>
        <p:spPr>
          <a:xfrm>
            <a:off x="5265822" y="4283242"/>
            <a:ext cx="2963778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1000" dirty="0" smtClean="0"/>
              <a:t>Coming up with  exclusive  stores in major cities to boost brand building activities.</a:t>
            </a:r>
            <a:endParaRPr lang="en-IN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10EA9163-1543-F639-323C-CBA70B6E7E4F}"/>
              </a:ext>
            </a:extLst>
          </p:cNvPr>
          <p:cNvSpPr txBox="1"/>
          <p:nvPr/>
        </p:nvSpPr>
        <p:spPr>
          <a:xfrm>
            <a:off x="1155029" y="6053368"/>
            <a:ext cx="1738483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000" dirty="0" smtClean="0"/>
              <a:t>Media Platforms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81195" y="5982483"/>
            <a:ext cx="7052153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1000" dirty="0" smtClean="0"/>
              <a:t>The platform will showcase new age artist pursuing their passions in different fields sharing their journey of how they saved their sinking boats</a:t>
            </a:r>
            <a:endParaRPr lang="en-IN" sz="1000" dirty="0"/>
          </a:p>
        </p:txBody>
      </p:sp>
      <p:sp>
        <p:nvSpPr>
          <p:cNvPr id="94" name="Rectangle 93"/>
          <p:cNvSpPr/>
          <p:nvPr/>
        </p:nvSpPr>
        <p:spPr>
          <a:xfrm>
            <a:off x="2981194" y="6420312"/>
            <a:ext cx="7052154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1000" dirty="0" smtClean="0"/>
              <a:t>Encourage </a:t>
            </a:r>
            <a:r>
              <a:rPr lang="en-IN" sz="1000" dirty="0" err="1" smtClean="0"/>
              <a:t>boatheads</a:t>
            </a:r>
            <a:r>
              <a:rPr lang="en-IN" sz="1000" dirty="0" smtClean="0"/>
              <a:t> to pursue their passions and share their journey on social media using the #</a:t>
            </a:r>
            <a:r>
              <a:rPr lang="en-IN" sz="1000" dirty="0" err="1" smtClean="0"/>
              <a:t>DoWhatFloatsYourBoat</a:t>
            </a:r>
            <a:r>
              <a:rPr lang="en-IN" sz="1000" dirty="0" smtClean="0"/>
              <a:t>. Rewards to be offered to the most creative, inspiring, and impactful </a:t>
            </a:r>
            <a:r>
              <a:rPr lang="en-IN" sz="1000" dirty="0" smtClean="0"/>
              <a:t>stories and to be featured on </a:t>
            </a:r>
            <a:r>
              <a:rPr lang="en-IN" sz="1000" dirty="0" smtClean="0"/>
              <a:t>the </a:t>
            </a:r>
            <a:r>
              <a:rPr lang="en-IN" sz="1000" dirty="0" smtClean="0"/>
              <a:t>boat </a:t>
            </a:r>
            <a:r>
              <a:rPr lang="en-IN" sz="1000" dirty="0" smtClean="0"/>
              <a:t>website and social media channels.</a:t>
            </a:r>
            <a:endParaRPr lang="en-IN" sz="1000" dirty="0"/>
          </a:p>
        </p:txBody>
      </p:sp>
      <p:sp>
        <p:nvSpPr>
          <p:cNvPr id="95" name="TextBox 94">
            <a:extLst>
              <a:ext uri="{FF2B5EF4-FFF2-40B4-BE49-F238E27FC236}">
                <a16:creationId xmlns="" xmlns:a16="http://schemas.microsoft.com/office/drawing/2014/main" id="{10EA9163-1543-F639-323C-CBA70B6E7E4F}"/>
              </a:ext>
            </a:extLst>
          </p:cNvPr>
          <p:cNvSpPr txBox="1"/>
          <p:nvPr/>
        </p:nvSpPr>
        <p:spPr>
          <a:xfrm>
            <a:off x="1169939" y="6509084"/>
            <a:ext cx="1736099" cy="24622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000" dirty="0" err="1" smtClean="0"/>
              <a:t>Instagram</a:t>
            </a:r>
            <a:r>
              <a:rPr lang="en-IN" sz="1000" dirty="0" smtClean="0"/>
              <a:t>, </a:t>
            </a:r>
            <a:r>
              <a:rPr lang="en-IN" sz="1000" dirty="0" err="1" smtClean="0"/>
              <a:t>Frontrow,LinkedIn</a:t>
            </a:r>
            <a:endParaRPr lang="en-IN" sz="1000" dirty="0"/>
          </a:p>
        </p:txBody>
      </p:sp>
      <p:sp>
        <p:nvSpPr>
          <p:cNvPr id="97" name="Rectangle 96"/>
          <p:cNvSpPr/>
          <p:nvPr/>
        </p:nvSpPr>
        <p:spPr>
          <a:xfrm>
            <a:off x="2993721" y="5524292"/>
            <a:ext cx="7037648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1000" dirty="0" smtClean="0"/>
              <a:t>Launch of exclusive stores in Mumbai, Bangalore showcasing different products. Stores will provide live customer experience and new product </a:t>
            </a:r>
            <a:r>
              <a:rPr lang="en-US" sz="1000" dirty="0" smtClean="0"/>
              <a:t>launch events</a:t>
            </a:r>
            <a:endParaRPr lang="en-IN" sz="1000" dirty="0"/>
          </a:p>
        </p:txBody>
      </p:sp>
      <p:sp>
        <p:nvSpPr>
          <p:cNvPr id="98" name="Rectangle 97"/>
          <p:cNvSpPr/>
          <p:nvPr/>
        </p:nvSpPr>
        <p:spPr>
          <a:xfrm>
            <a:off x="2993885" y="5037769"/>
            <a:ext cx="7026443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000" dirty="0" smtClean="0"/>
              <a:t>Dedicated boat community platform where </a:t>
            </a:r>
            <a:r>
              <a:rPr lang="en-IN" sz="1000" dirty="0" err="1" smtClean="0"/>
              <a:t>boatheads</a:t>
            </a:r>
            <a:r>
              <a:rPr lang="en-IN" sz="1000" dirty="0" smtClean="0"/>
              <a:t> </a:t>
            </a:r>
            <a:r>
              <a:rPr lang="en-IN" sz="1000" dirty="0" smtClean="0"/>
              <a:t>can interact with each other and engage with the brand. Used for product launch, product updates, community events, discuss </a:t>
            </a:r>
            <a:r>
              <a:rPr lang="en-IN" sz="1000" dirty="0" smtClean="0"/>
              <a:t>ion of product </a:t>
            </a:r>
            <a:r>
              <a:rPr lang="en-IN" sz="1000" dirty="0" smtClean="0"/>
              <a:t>reviews and product related queries.</a:t>
            </a:r>
            <a:endParaRPr lang="en-IN" sz="1000" dirty="0"/>
          </a:p>
        </p:txBody>
      </p:sp>
      <p:sp>
        <p:nvSpPr>
          <p:cNvPr id="100" name="TextBox 99"/>
          <p:cNvSpPr txBox="1"/>
          <p:nvPr/>
        </p:nvSpPr>
        <p:spPr>
          <a:xfrm>
            <a:off x="10070926" y="5978052"/>
            <a:ext cx="2096022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Viewership, new artists </a:t>
            </a:r>
          </a:p>
          <a:p>
            <a:r>
              <a:rPr lang="en-US" sz="1000" dirty="0" err="1" smtClean="0"/>
              <a:t>onboarded</a:t>
            </a:r>
            <a:endParaRPr lang="en-IN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10058400" y="5522005"/>
            <a:ext cx="2108548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Footfall, sales, repurchases,</a:t>
            </a:r>
          </a:p>
          <a:p>
            <a:r>
              <a:rPr lang="en-US" sz="1000" dirty="0" smtClean="0"/>
              <a:t> customer feedback</a:t>
            </a:r>
            <a:endParaRPr lang="en-IN" sz="1000" dirty="0"/>
          </a:p>
        </p:txBody>
      </p:sp>
      <p:sp>
        <p:nvSpPr>
          <p:cNvPr id="102" name="Rectangle 101"/>
          <p:cNvSpPr/>
          <p:nvPr/>
        </p:nvSpPr>
        <p:spPr>
          <a:xfrm>
            <a:off x="10058400" y="6420312"/>
            <a:ext cx="2108548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1000" dirty="0" smtClean="0"/>
              <a:t>Number of social media posts using #</a:t>
            </a:r>
            <a:r>
              <a:rPr lang="en-IN" sz="1000" dirty="0" err="1" smtClean="0"/>
              <a:t>DoWhatFloatsYourBoat</a:t>
            </a:r>
            <a:endParaRPr lang="en-IN" sz="1000" dirty="0"/>
          </a:p>
        </p:txBody>
      </p:sp>
      <p:cxnSp>
        <p:nvCxnSpPr>
          <p:cNvPr id="104" name="Straight Connector 103"/>
          <p:cNvCxnSpPr/>
          <p:nvPr/>
        </p:nvCxnSpPr>
        <p:spPr>
          <a:xfrm rot="5400000">
            <a:off x="3916279" y="823369"/>
            <a:ext cx="1648326" cy="1588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5" name="Chart 114"/>
          <p:cNvGraphicFramePr/>
          <p:nvPr/>
        </p:nvGraphicFramePr>
        <p:xfrm>
          <a:off x="8313823" y="1877915"/>
          <a:ext cx="3878177" cy="2671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" name="Picture 4" descr="https://cdn.shopify.com/s/files/1/0057/8938/4802/files/boat_logo_small.webp?v=167237993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658600" y="0"/>
            <a:ext cx="533400" cy="218546"/>
          </a:xfrm>
          <a:prstGeom prst="rect">
            <a:avLst/>
          </a:prstGeom>
          <a:noFill/>
        </p:spPr>
      </p:pic>
      <p:cxnSp>
        <p:nvCxnSpPr>
          <p:cNvPr id="120" name="Straight Connector 119"/>
          <p:cNvCxnSpPr/>
          <p:nvPr/>
        </p:nvCxnSpPr>
        <p:spPr>
          <a:xfrm rot="16200000" flipH="1">
            <a:off x="3673999" y="3147905"/>
            <a:ext cx="3023883" cy="24722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="" xmlns:a16="http://schemas.microsoft.com/office/drawing/2014/main" id="{78FE4181-35EF-F82C-C7D1-DFAF217CFB19}"/>
              </a:ext>
            </a:extLst>
          </p:cNvPr>
          <p:cNvSpPr txBox="1"/>
          <p:nvPr/>
        </p:nvSpPr>
        <p:spPr>
          <a:xfrm>
            <a:off x="5253789" y="1676785"/>
            <a:ext cx="2939716" cy="24622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Problems identified</a:t>
            </a:r>
            <a:endParaRPr lang="en-IN" sz="1000" b="1" dirty="0"/>
          </a:p>
        </p:txBody>
      </p:sp>
      <p:sp>
        <p:nvSpPr>
          <p:cNvPr id="122" name="TextBox 121">
            <a:extLst>
              <a:ext uri="{FF2B5EF4-FFF2-40B4-BE49-F238E27FC236}">
                <a16:creationId xmlns="" xmlns:a16="http://schemas.microsoft.com/office/drawing/2014/main" id="{5894CDAE-193C-6E4A-6AD0-0D332BB15923}"/>
              </a:ext>
            </a:extLst>
          </p:cNvPr>
          <p:cNvSpPr txBox="1"/>
          <p:nvPr/>
        </p:nvSpPr>
        <p:spPr>
          <a:xfrm>
            <a:off x="5257801" y="3055540"/>
            <a:ext cx="2971799" cy="25314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Acquisition and retention strategy</a:t>
            </a:r>
            <a:endParaRPr lang="en-IN" sz="1000" b="1" dirty="0"/>
          </a:p>
        </p:txBody>
      </p:sp>
      <p:cxnSp>
        <p:nvCxnSpPr>
          <p:cNvPr id="106" name="Straight Connector 105"/>
          <p:cNvCxnSpPr/>
          <p:nvPr/>
        </p:nvCxnSpPr>
        <p:spPr>
          <a:xfrm>
            <a:off x="0" y="1603332"/>
            <a:ext cx="12192000" cy="5010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0" y="4674296"/>
            <a:ext cx="12192000" cy="50104"/>
          </a:xfrm>
          <a:prstGeom prst="line">
            <a:avLst/>
          </a:prstGeom>
          <a:ln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54060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1828</TotalTime>
  <Words>443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Devesh Sinha</dc:creator>
  <cp:lastModifiedBy>Animesh</cp:lastModifiedBy>
  <cp:revision>55</cp:revision>
  <dcterms:created xsi:type="dcterms:W3CDTF">2023-02-16T14:14:05Z</dcterms:created>
  <dcterms:modified xsi:type="dcterms:W3CDTF">2023-02-19T16:05:59Z</dcterms:modified>
</cp:coreProperties>
</file>