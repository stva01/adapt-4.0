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3401567"/>
            <a:ext cx="10158983" cy="52730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8280" y="4629911"/>
            <a:ext cx="10222992" cy="52425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393580" y="4750019"/>
            <a:ext cx="1395730" cy="330200"/>
          </a:xfrm>
          <a:custGeom>
            <a:avLst/>
            <a:gdLst/>
            <a:ahLst/>
            <a:cxnLst/>
            <a:rect l="l" t="t" r="r" b="b"/>
            <a:pathLst>
              <a:path w="1395729" h="330200">
                <a:moveTo>
                  <a:pt x="1395133" y="0"/>
                </a:moveTo>
                <a:lnTo>
                  <a:pt x="0" y="0"/>
                </a:lnTo>
                <a:lnTo>
                  <a:pt x="0" y="329859"/>
                </a:lnTo>
                <a:lnTo>
                  <a:pt x="1395133" y="329859"/>
                </a:lnTo>
                <a:lnTo>
                  <a:pt x="1395133" y="0"/>
                </a:lnTo>
                <a:close/>
              </a:path>
            </a:pathLst>
          </a:custGeom>
          <a:solidFill>
            <a:srgbClr val="C5E0B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2391" y="5248655"/>
            <a:ext cx="10082784" cy="5273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9616" y="2173223"/>
            <a:ext cx="10207752" cy="5273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9616" y="2776727"/>
            <a:ext cx="10201656" cy="52425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14272" y="4020311"/>
            <a:ext cx="10287000" cy="5242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8280" y="5846063"/>
            <a:ext cx="10216896" cy="52425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385011" y="936457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502228" y="1147667"/>
            <a:ext cx="10202545" cy="1036319"/>
          </a:xfrm>
          <a:custGeom>
            <a:avLst/>
            <a:gdLst/>
            <a:ahLst/>
            <a:cxnLst/>
            <a:rect l="l" t="t" r="r" b="b"/>
            <a:pathLst>
              <a:path w="10202545" h="1036319">
                <a:moveTo>
                  <a:pt x="9684642" y="0"/>
                </a:moveTo>
                <a:lnTo>
                  <a:pt x="9684642" y="258923"/>
                </a:lnTo>
                <a:lnTo>
                  <a:pt x="0" y="258923"/>
                </a:lnTo>
                <a:lnTo>
                  <a:pt x="258922" y="517847"/>
                </a:lnTo>
                <a:lnTo>
                  <a:pt x="0" y="776771"/>
                </a:lnTo>
                <a:lnTo>
                  <a:pt x="9684642" y="776771"/>
                </a:lnTo>
                <a:lnTo>
                  <a:pt x="9684642" y="1035695"/>
                </a:lnTo>
                <a:lnTo>
                  <a:pt x="10202487" y="517847"/>
                </a:lnTo>
                <a:lnTo>
                  <a:pt x="9684642" y="0"/>
                </a:lnTo>
                <a:close/>
              </a:path>
            </a:pathLst>
          </a:custGeom>
          <a:solidFill>
            <a:srgbClr val="F3EB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502228" y="1147667"/>
            <a:ext cx="10202545" cy="1036319"/>
          </a:xfrm>
          <a:custGeom>
            <a:avLst/>
            <a:gdLst/>
            <a:ahLst/>
            <a:cxnLst/>
            <a:rect l="l" t="t" r="r" b="b"/>
            <a:pathLst>
              <a:path w="10202545" h="1036319">
                <a:moveTo>
                  <a:pt x="0" y="258924"/>
                </a:moveTo>
                <a:lnTo>
                  <a:pt x="9684643" y="258924"/>
                </a:lnTo>
                <a:lnTo>
                  <a:pt x="9684643" y="0"/>
                </a:lnTo>
                <a:lnTo>
                  <a:pt x="10202489" y="517848"/>
                </a:lnTo>
                <a:lnTo>
                  <a:pt x="9684643" y="1035696"/>
                </a:lnTo>
                <a:lnTo>
                  <a:pt x="9684643" y="776772"/>
                </a:lnTo>
                <a:lnTo>
                  <a:pt x="0" y="776772"/>
                </a:lnTo>
                <a:lnTo>
                  <a:pt x="258922" y="517848"/>
                </a:lnTo>
                <a:lnTo>
                  <a:pt x="0" y="258924"/>
                </a:lnTo>
                <a:close/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988452" y="2057397"/>
            <a:ext cx="10160" cy="4312285"/>
          </a:xfrm>
          <a:custGeom>
            <a:avLst/>
            <a:gdLst/>
            <a:ahLst/>
            <a:cxnLst/>
            <a:rect l="l" t="t" r="r" b="b"/>
            <a:pathLst>
              <a:path w="10160" h="4312285">
                <a:moveTo>
                  <a:pt x="9547" y="0"/>
                </a:moveTo>
                <a:lnTo>
                  <a:pt x="0" y="4312130"/>
                </a:lnTo>
              </a:path>
            </a:pathLst>
          </a:custGeom>
          <a:ln w="63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8464377" y="1020838"/>
            <a:ext cx="2624455" cy="302260"/>
          </a:xfrm>
          <a:custGeom>
            <a:avLst/>
            <a:gdLst/>
            <a:ahLst/>
            <a:cxnLst/>
            <a:rect l="l" t="t" r="r" b="b"/>
            <a:pathLst>
              <a:path w="2624454" h="302259">
                <a:moveTo>
                  <a:pt x="50343" y="0"/>
                </a:moveTo>
                <a:lnTo>
                  <a:pt x="2573742" y="0"/>
                </a:lnTo>
                <a:lnTo>
                  <a:pt x="2593338" y="3956"/>
                </a:lnTo>
                <a:lnTo>
                  <a:pt x="2609340" y="14745"/>
                </a:lnTo>
                <a:lnTo>
                  <a:pt x="2620129" y="30747"/>
                </a:lnTo>
                <a:lnTo>
                  <a:pt x="2624086" y="50344"/>
                </a:lnTo>
                <a:lnTo>
                  <a:pt x="2624086" y="302059"/>
                </a:lnTo>
                <a:lnTo>
                  <a:pt x="0" y="302059"/>
                </a:lnTo>
                <a:lnTo>
                  <a:pt x="0" y="50344"/>
                </a:lnTo>
                <a:lnTo>
                  <a:pt x="3956" y="30747"/>
                </a:lnTo>
                <a:lnTo>
                  <a:pt x="14745" y="14745"/>
                </a:lnTo>
                <a:lnTo>
                  <a:pt x="30747" y="3956"/>
                </a:lnTo>
                <a:lnTo>
                  <a:pt x="50343" y="0"/>
                </a:lnTo>
                <a:close/>
              </a:path>
            </a:pathLst>
          </a:custGeom>
          <a:ln w="190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268967" y="1021938"/>
            <a:ext cx="2624455" cy="302260"/>
          </a:xfrm>
          <a:custGeom>
            <a:avLst/>
            <a:gdLst/>
            <a:ahLst/>
            <a:cxnLst/>
            <a:rect l="l" t="t" r="r" b="b"/>
            <a:pathLst>
              <a:path w="2624454" h="302259">
                <a:moveTo>
                  <a:pt x="50343" y="0"/>
                </a:moveTo>
                <a:lnTo>
                  <a:pt x="2573742" y="0"/>
                </a:lnTo>
                <a:lnTo>
                  <a:pt x="2593338" y="3956"/>
                </a:lnTo>
                <a:lnTo>
                  <a:pt x="2609340" y="14745"/>
                </a:lnTo>
                <a:lnTo>
                  <a:pt x="2620129" y="30747"/>
                </a:lnTo>
                <a:lnTo>
                  <a:pt x="2624086" y="50344"/>
                </a:lnTo>
                <a:lnTo>
                  <a:pt x="2624086" y="302059"/>
                </a:lnTo>
                <a:lnTo>
                  <a:pt x="0" y="302059"/>
                </a:lnTo>
                <a:lnTo>
                  <a:pt x="0" y="50344"/>
                </a:lnTo>
                <a:lnTo>
                  <a:pt x="3956" y="30747"/>
                </a:lnTo>
                <a:lnTo>
                  <a:pt x="14745" y="14745"/>
                </a:lnTo>
                <a:lnTo>
                  <a:pt x="30747" y="3956"/>
                </a:lnTo>
                <a:lnTo>
                  <a:pt x="50343" y="0"/>
                </a:lnTo>
                <a:close/>
              </a:path>
            </a:pathLst>
          </a:custGeom>
          <a:ln w="190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2073555" y="1022427"/>
            <a:ext cx="2624455" cy="302260"/>
          </a:xfrm>
          <a:custGeom>
            <a:avLst/>
            <a:gdLst/>
            <a:ahLst/>
            <a:cxnLst/>
            <a:rect l="l" t="t" r="r" b="b"/>
            <a:pathLst>
              <a:path w="2624454" h="302259">
                <a:moveTo>
                  <a:pt x="50343" y="0"/>
                </a:moveTo>
                <a:lnTo>
                  <a:pt x="2573742" y="0"/>
                </a:lnTo>
                <a:lnTo>
                  <a:pt x="2593338" y="3956"/>
                </a:lnTo>
                <a:lnTo>
                  <a:pt x="2609340" y="14745"/>
                </a:lnTo>
                <a:lnTo>
                  <a:pt x="2620129" y="30747"/>
                </a:lnTo>
                <a:lnTo>
                  <a:pt x="2624086" y="50344"/>
                </a:lnTo>
                <a:lnTo>
                  <a:pt x="2624086" y="302059"/>
                </a:lnTo>
                <a:lnTo>
                  <a:pt x="0" y="302059"/>
                </a:lnTo>
                <a:lnTo>
                  <a:pt x="0" y="50344"/>
                </a:lnTo>
                <a:lnTo>
                  <a:pt x="3956" y="30747"/>
                </a:lnTo>
                <a:lnTo>
                  <a:pt x="14745" y="14745"/>
                </a:lnTo>
                <a:lnTo>
                  <a:pt x="30747" y="3956"/>
                </a:lnTo>
                <a:lnTo>
                  <a:pt x="50343" y="0"/>
                </a:lnTo>
                <a:close/>
              </a:path>
            </a:pathLst>
          </a:custGeom>
          <a:ln w="190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824431" y="1504746"/>
            <a:ext cx="9542145" cy="306070"/>
          </a:xfrm>
          <a:custGeom>
            <a:avLst/>
            <a:gdLst/>
            <a:ahLst/>
            <a:cxnLst/>
            <a:rect l="l" t="t" r="r" b="b"/>
            <a:pathLst>
              <a:path w="9542145" h="306069">
                <a:moveTo>
                  <a:pt x="1038009" y="54229"/>
                </a:moveTo>
                <a:lnTo>
                  <a:pt x="1034046" y="34632"/>
                </a:lnTo>
                <a:lnTo>
                  <a:pt x="1023264" y="18630"/>
                </a:lnTo>
                <a:lnTo>
                  <a:pt x="1007262" y="7835"/>
                </a:lnTo>
                <a:lnTo>
                  <a:pt x="987666" y="3886"/>
                </a:lnTo>
                <a:lnTo>
                  <a:pt x="50342" y="3886"/>
                </a:lnTo>
                <a:lnTo>
                  <a:pt x="30746" y="7835"/>
                </a:lnTo>
                <a:lnTo>
                  <a:pt x="14744" y="18630"/>
                </a:lnTo>
                <a:lnTo>
                  <a:pt x="3949" y="34632"/>
                </a:lnTo>
                <a:lnTo>
                  <a:pt x="0" y="54229"/>
                </a:lnTo>
                <a:lnTo>
                  <a:pt x="0" y="255600"/>
                </a:lnTo>
                <a:lnTo>
                  <a:pt x="3949" y="275196"/>
                </a:lnTo>
                <a:lnTo>
                  <a:pt x="14744" y="291198"/>
                </a:lnTo>
                <a:lnTo>
                  <a:pt x="30746" y="301980"/>
                </a:lnTo>
                <a:lnTo>
                  <a:pt x="50342" y="305943"/>
                </a:lnTo>
                <a:lnTo>
                  <a:pt x="987666" y="305943"/>
                </a:lnTo>
                <a:lnTo>
                  <a:pt x="1007262" y="301980"/>
                </a:lnTo>
                <a:lnTo>
                  <a:pt x="1023264" y="291198"/>
                </a:lnTo>
                <a:lnTo>
                  <a:pt x="1034046" y="275196"/>
                </a:lnTo>
                <a:lnTo>
                  <a:pt x="1038009" y="255600"/>
                </a:lnTo>
                <a:lnTo>
                  <a:pt x="1038009" y="54229"/>
                </a:lnTo>
                <a:close/>
              </a:path>
              <a:path w="9542145" h="306069">
                <a:moveTo>
                  <a:pt x="2101011" y="54229"/>
                </a:moveTo>
                <a:lnTo>
                  <a:pt x="2097049" y="34632"/>
                </a:lnTo>
                <a:lnTo>
                  <a:pt x="2086267" y="18630"/>
                </a:lnTo>
                <a:lnTo>
                  <a:pt x="2070265" y="7835"/>
                </a:lnTo>
                <a:lnTo>
                  <a:pt x="2050669" y="3886"/>
                </a:lnTo>
                <a:lnTo>
                  <a:pt x="1113345" y="3886"/>
                </a:lnTo>
                <a:lnTo>
                  <a:pt x="1093749" y="7835"/>
                </a:lnTo>
                <a:lnTo>
                  <a:pt x="1077747" y="18630"/>
                </a:lnTo>
                <a:lnTo>
                  <a:pt x="1066965" y="34632"/>
                </a:lnTo>
                <a:lnTo>
                  <a:pt x="1063002" y="54229"/>
                </a:lnTo>
                <a:lnTo>
                  <a:pt x="1063002" y="255600"/>
                </a:lnTo>
                <a:lnTo>
                  <a:pt x="1066965" y="275196"/>
                </a:lnTo>
                <a:lnTo>
                  <a:pt x="1077747" y="291198"/>
                </a:lnTo>
                <a:lnTo>
                  <a:pt x="1093749" y="301980"/>
                </a:lnTo>
                <a:lnTo>
                  <a:pt x="1113345" y="305943"/>
                </a:lnTo>
                <a:lnTo>
                  <a:pt x="2050669" y="305943"/>
                </a:lnTo>
                <a:lnTo>
                  <a:pt x="2070265" y="301980"/>
                </a:lnTo>
                <a:lnTo>
                  <a:pt x="2086267" y="291198"/>
                </a:lnTo>
                <a:lnTo>
                  <a:pt x="2097049" y="275196"/>
                </a:lnTo>
                <a:lnTo>
                  <a:pt x="2101011" y="255600"/>
                </a:lnTo>
                <a:lnTo>
                  <a:pt x="2101011" y="54229"/>
                </a:lnTo>
                <a:close/>
              </a:path>
              <a:path w="9542145" h="306069">
                <a:moveTo>
                  <a:pt x="3164014" y="54229"/>
                </a:moveTo>
                <a:lnTo>
                  <a:pt x="3160064" y="34632"/>
                </a:lnTo>
                <a:lnTo>
                  <a:pt x="3149269" y="18630"/>
                </a:lnTo>
                <a:lnTo>
                  <a:pt x="3133267" y="7835"/>
                </a:lnTo>
                <a:lnTo>
                  <a:pt x="3113671" y="3886"/>
                </a:lnTo>
                <a:lnTo>
                  <a:pt x="2176348" y="3886"/>
                </a:lnTo>
                <a:lnTo>
                  <a:pt x="2156752" y="7835"/>
                </a:lnTo>
                <a:lnTo>
                  <a:pt x="2140750" y="18630"/>
                </a:lnTo>
                <a:lnTo>
                  <a:pt x="2129967" y="34632"/>
                </a:lnTo>
                <a:lnTo>
                  <a:pt x="2126005" y="54229"/>
                </a:lnTo>
                <a:lnTo>
                  <a:pt x="2126005" y="255600"/>
                </a:lnTo>
                <a:lnTo>
                  <a:pt x="2129967" y="275196"/>
                </a:lnTo>
                <a:lnTo>
                  <a:pt x="2140750" y="291198"/>
                </a:lnTo>
                <a:lnTo>
                  <a:pt x="2156752" y="301980"/>
                </a:lnTo>
                <a:lnTo>
                  <a:pt x="2176348" y="305943"/>
                </a:lnTo>
                <a:lnTo>
                  <a:pt x="3113671" y="305943"/>
                </a:lnTo>
                <a:lnTo>
                  <a:pt x="3133267" y="301980"/>
                </a:lnTo>
                <a:lnTo>
                  <a:pt x="3149269" y="291198"/>
                </a:lnTo>
                <a:lnTo>
                  <a:pt x="3160064" y="275196"/>
                </a:lnTo>
                <a:lnTo>
                  <a:pt x="3164014" y="255600"/>
                </a:lnTo>
                <a:lnTo>
                  <a:pt x="3164014" y="54229"/>
                </a:lnTo>
                <a:close/>
              </a:path>
              <a:path w="9542145" h="306069">
                <a:moveTo>
                  <a:pt x="4227017" y="54229"/>
                </a:moveTo>
                <a:lnTo>
                  <a:pt x="4223067" y="34632"/>
                </a:lnTo>
                <a:lnTo>
                  <a:pt x="4212272" y="18630"/>
                </a:lnTo>
                <a:lnTo>
                  <a:pt x="4196270" y="7835"/>
                </a:lnTo>
                <a:lnTo>
                  <a:pt x="4176674" y="3886"/>
                </a:lnTo>
                <a:lnTo>
                  <a:pt x="3239351" y="3886"/>
                </a:lnTo>
                <a:lnTo>
                  <a:pt x="3219754" y="7835"/>
                </a:lnTo>
                <a:lnTo>
                  <a:pt x="3203752" y="18630"/>
                </a:lnTo>
                <a:lnTo>
                  <a:pt x="3192970" y="34632"/>
                </a:lnTo>
                <a:lnTo>
                  <a:pt x="3189008" y="54229"/>
                </a:lnTo>
                <a:lnTo>
                  <a:pt x="3189008" y="255600"/>
                </a:lnTo>
                <a:lnTo>
                  <a:pt x="3192970" y="275196"/>
                </a:lnTo>
                <a:lnTo>
                  <a:pt x="3203752" y="291198"/>
                </a:lnTo>
                <a:lnTo>
                  <a:pt x="3219754" y="301980"/>
                </a:lnTo>
                <a:lnTo>
                  <a:pt x="3239351" y="305943"/>
                </a:lnTo>
                <a:lnTo>
                  <a:pt x="4176674" y="305943"/>
                </a:lnTo>
                <a:lnTo>
                  <a:pt x="4196270" y="301980"/>
                </a:lnTo>
                <a:lnTo>
                  <a:pt x="4212272" y="291198"/>
                </a:lnTo>
                <a:lnTo>
                  <a:pt x="4223067" y="275196"/>
                </a:lnTo>
                <a:lnTo>
                  <a:pt x="4227017" y="255600"/>
                </a:lnTo>
                <a:lnTo>
                  <a:pt x="4227017" y="54229"/>
                </a:lnTo>
                <a:close/>
              </a:path>
              <a:path w="9542145" h="306069">
                <a:moveTo>
                  <a:pt x="5290020" y="54229"/>
                </a:moveTo>
                <a:lnTo>
                  <a:pt x="5286057" y="34632"/>
                </a:lnTo>
                <a:lnTo>
                  <a:pt x="5275275" y="18630"/>
                </a:lnTo>
                <a:lnTo>
                  <a:pt x="5259273" y="7835"/>
                </a:lnTo>
                <a:lnTo>
                  <a:pt x="5239677" y="3886"/>
                </a:lnTo>
                <a:lnTo>
                  <a:pt x="4302353" y="3886"/>
                </a:lnTo>
                <a:lnTo>
                  <a:pt x="4282757" y="7835"/>
                </a:lnTo>
                <a:lnTo>
                  <a:pt x="4266755" y="18630"/>
                </a:lnTo>
                <a:lnTo>
                  <a:pt x="4255973" y="34632"/>
                </a:lnTo>
                <a:lnTo>
                  <a:pt x="4252011" y="54229"/>
                </a:lnTo>
                <a:lnTo>
                  <a:pt x="4252011" y="255600"/>
                </a:lnTo>
                <a:lnTo>
                  <a:pt x="4255973" y="275196"/>
                </a:lnTo>
                <a:lnTo>
                  <a:pt x="4266755" y="291198"/>
                </a:lnTo>
                <a:lnTo>
                  <a:pt x="4282757" y="301980"/>
                </a:lnTo>
                <a:lnTo>
                  <a:pt x="4302353" y="305943"/>
                </a:lnTo>
                <a:lnTo>
                  <a:pt x="5239677" y="305943"/>
                </a:lnTo>
                <a:lnTo>
                  <a:pt x="5259273" y="301980"/>
                </a:lnTo>
                <a:lnTo>
                  <a:pt x="5275275" y="291198"/>
                </a:lnTo>
                <a:lnTo>
                  <a:pt x="5286057" y="275196"/>
                </a:lnTo>
                <a:lnTo>
                  <a:pt x="5290020" y="255600"/>
                </a:lnTo>
                <a:lnTo>
                  <a:pt x="5290020" y="54229"/>
                </a:lnTo>
                <a:close/>
              </a:path>
              <a:path w="9542145" h="306069">
                <a:moveTo>
                  <a:pt x="6353022" y="54229"/>
                </a:moveTo>
                <a:lnTo>
                  <a:pt x="6349060" y="34632"/>
                </a:lnTo>
                <a:lnTo>
                  <a:pt x="6338278" y="18630"/>
                </a:lnTo>
                <a:lnTo>
                  <a:pt x="6322276" y="7835"/>
                </a:lnTo>
                <a:lnTo>
                  <a:pt x="6302680" y="3886"/>
                </a:lnTo>
                <a:lnTo>
                  <a:pt x="5365356" y="3886"/>
                </a:lnTo>
                <a:lnTo>
                  <a:pt x="5345760" y="7835"/>
                </a:lnTo>
                <a:lnTo>
                  <a:pt x="5329758" y="18630"/>
                </a:lnTo>
                <a:lnTo>
                  <a:pt x="5318963" y="34632"/>
                </a:lnTo>
                <a:lnTo>
                  <a:pt x="5315013" y="54229"/>
                </a:lnTo>
                <a:lnTo>
                  <a:pt x="5315013" y="255600"/>
                </a:lnTo>
                <a:lnTo>
                  <a:pt x="5318963" y="275196"/>
                </a:lnTo>
                <a:lnTo>
                  <a:pt x="5329758" y="291198"/>
                </a:lnTo>
                <a:lnTo>
                  <a:pt x="5345760" y="301980"/>
                </a:lnTo>
                <a:lnTo>
                  <a:pt x="5365356" y="305943"/>
                </a:lnTo>
                <a:lnTo>
                  <a:pt x="6302680" y="305943"/>
                </a:lnTo>
                <a:lnTo>
                  <a:pt x="6322276" y="301980"/>
                </a:lnTo>
                <a:lnTo>
                  <a:pt x="6338278" y="291198"/>
                </a:lnTo>
                <a:lnTo>
                  <a:pt x="6349060" y="275196"/>
                </a:lnTo>
                <a:lnTo>
                  <a:pt x="6353022" y="255600"/>
                </a:lnTo>
                <a:lnTo>
                  <a:pt x="6353022" y="54229"/>
                </a:lnTo>
                <a:close/>
              </a:path>
              <a:path w="9542145" h="306069">
                <a:moveTo>
                  <a:pt x="7416025" y="50342"/>
                </a:moveTo>
                <a:lnTo>
                  <a:pt x="7412063" y="30746"/>
                </a:lnTo>
                <a:lnTo>
                  <a:pt x="7401280" y="14744"/>
                </a:lnTo>
                <a:lnTo>
                  <a:pt x="7385278" y="3949"/>
                </a:lnTo>
                <a:lnTo>
                  <a:pt x="7365682" y="0"/>
                </a:lnTo>
                <a:lnTo>
                  <a:pt x="6428359" y="0"/>
                </a:lnTo>
                <a:lnTo>
                  <a:pt x="6408763" y="3949"/>
                </a:lnTo>
                <a:lnTo>
                  <a:pt x="6392761" y="14744"/>
                </a:lnTo>
                <a:lnTo>
                  <a:pt x="6381966" y="30746"/>
                </a:lnTo>
                <a:lnTo>
                  <a:pt x="6378016" y="50342"/>
                </a:lnTo>
                <a:lnTo>
                  <a:pt x="6378016" y="251714"/>
                </a:lnTo>
                <a:lnTo>
                  <a:pt x="6381966" y="271310"/>
                </a:lnTo>
                <a:lnTo>
                  <a:pt x="6392761" y="287312"/>
                </a:lnTo>
                <a:lnTo>
                  <a:pt x="6408763" y="298094"/>
                </a:lnTo>
                <a:lnTo>
                  <a:pt x="6428359" y="302056"/>
                </a:lnTo>
                <a:lnTo>
                  <a:pt x="7365682" y="302056"/>
                </a:lnTo>
                <a:lnTo>
                  <a:pt x="7385278" y="298094"/>
                </a:lnTo>
                <a:lnTo>
                  <a:pt x="7401280" y="287312"/>
                </a:lnTo>
                <a:lnTo>
                  <a:pt x="7412063" y="271310"/>
                </a:lnTo>
                <a:lnTo>
                  <a:pt x="7416025" y="251714"/>
                </a:lnTo>
                <a:lnTo>
                  <a:pt x="7416025" y="50342"/>
                </a:lnTo>
                <a:close/>
              </a:path>
              <a:path w="9542145" h="306069">
                <a:moveTo>
                  <a:pt x="8479028" y="50342"/>
                </a:moveTo>
                <a:lnTo>
                  <a:pt x="8475066" y="30746"/>
                </a:lnTo>
                <a:lnTo>
                  <a:pt x="8464283" y="14744"/>
                </a:lnTo>
                <a:lnTo>
                  <a:pt x="8448281" y="3949"/>
                </a:lnTo>
                <a:lnTo>
                  <a:pt x="8428685" y="0"/>
                </a:lnTo>
                <a:lnTo>
                  <a:pt x="7491362" y="0"/>
                </a:lnTo>
                <a:lnTo>
                  <a:pt x="7471765" y="3949"/>
                </a:lnTo>
                <a:lnTo>
                  <a:pt x="7455763" y="14744"/>
                </a:lnTo>
                <a:lnTo>
                  <a:pt x="7444968" y="30746"/>
                </a:lnTo>
                <a:lnTo>
                  <a:pt x="7441019" y="50342"/>
                </a:lnTo>
                <a:lnTo>
                  <a:pt x="7441019" y="251714"/>
                </a:lnTo>
                <a:lnTo>
                  <a:pt x="7444968" y="271310"/>
                </a:lnTo>
                <a:lnTo>
                  <a:pt x="7455763" y="287312"/>
                </a:lnTo>
                <a:lnTo>
                  <a:pt x="7471765" y="298094"/>
                </a:lnTo>
                <a:lnTo>
                  <a:pt x="7491362" y="302056"/>
                </a:lnTo>
                <a:lnTo>
                  <a:pt x="8428685" y="302056"/>
                </a:lnTo>
                <a:lnTo>
                  <a:pt x="8448281" y="298094"/>
                </a:lnTo>
                <a:lnTo>
                  <a:pt x="8464283" y="287312"/>
                </a:lnTo>
                <a:lnTo>
                  <a:pt x="8475066" y="271310"/>
                </a:lnTo>
                <a:lnTo>
                  <a:pt x="8479028" y="251714"/>
                </a:lnTo>
                <a:lnTo>
                  <a:pt x="8479028" y="50342"/>
                </a:lnTo>
                <a:close/>
              </a:path>
              <a:path w="9542145" h="306069">
                <a:moveTo>
                  <a:pt x="9542031" y="50342"/>
                </a:moveTo>
                <a:lnTo>
                  <a:pt x="9538068" y="30746"/>
                </a:lnTo>
                <a:lnTo>
                  <a:pt x="9527286" y="14744"/>
                </a:lnTo>
                <a:lnTo>
                  <a:pt x="9511284" y="3949"/>
                </a:lnTo>
                <a:lnTo>
                  <a:pt x="9491688" y="0"/>
                </a:lnTo>
                <a:lnTo>
                  <a:pt x="8554364" y="0"/>
                </a:lnTo>
                <a:lnTo>
                  <a:pt x="8534768" y="3949"/>
                </a:lnTo>
                <a:lnTo>
                  <a:pt x="8518766" y="14744"/>
                </a:lnTo>
                <a:lnTo>
                  <a:pt x="8507971" y="30746"/>
                </a:lnTo>
                <a:lnTo>
                  <a:pt x="8504022" y="50342"/>
                </a:lnTo>
                <a:lnTo>
                  <a:pt x="8504022" y="251714"/>
                </a:lnTo>
                <a:lnTo>
                  <a:pt x="8507971" y="271310"/>
                </a:lnTo>
                <a:lnTo>
                  <a:pt x="8518766" y="287312"/>
                </a:lnTo>
                <a:lnTo>
                  <a:pt x="8534768" y="298094"/>
                </a:lnTo>
                <a:lnTo>
                  <a:pt x="8554364" y="302056"/>
                </a:lnTo>
                <a:lnTo>
                  <a:pt x="9491688" y="302056"/>
                </a:lnTo>
                <a:lnTo>
                  <a:pt x="9511284" y="298094"/>
                </a:lnTo>
                <a:lnTo>
                  <a:pt x="9527286" y="287312"/>
                </a:lnTo>
                <a:lnTo>
                  <a:pt x="9538068" y="271310"/>
                </a:lnTo>
                <a:lnTo>
                  <a:pt x="9542031" y="251714"/>
                </a:lnTo>
                <a:lnTo>
                  <a:pt x="9542031" y="50342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8182852" y="2057397"/>
            <a:ext cx="0" cy="4305935"/>
          </a:xfrm>
          <a:custGeom>
            <a:avLst/>
            <a:gdLst/>
            <a:ahLst/>
            <a:cxnLst/>
            <a:rect l="l" t="t" r="r" b="b"/>
            <a:pathLst>
              <a:path w="0" h="4305935">
                <a:moveTo>
                  <a:pt x="0" y="0"/>
                </a:moveTo>
                <a:lnTo>
                  <a:pt x="1" y="4305465"/>
                </a:lnTo>
              </a:path>
            </a:pathLst>
          </a:custGeom>
          <a:ln w="63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945" y="233400"/>
            <a:ext cx="11666549" cy="653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png"/><Relationship Id="rId27" Type="http://schemas.openxmlformats.org/officeDocument/2006/relationships/image" Target="../media/image33.png"/><Relationship Id="rId28" Type="http://schemas.openxmlformats.org/officeDocument/2006/relationships/image" Target="../media/image34.png"/><Relationship Id="rId29" Type="http://schemas.openxmlformats.org/officeDocument/2006/relationships/image" Target="../media/image35.png"/><Relationship Id="rId30" Type="http://schemas.openxmlformats.org/officeDocument/2006/relationships/image" Target="../media/image36.png"/><Relationship Id="rId31" Type="http://schemas.openxmlformats.org/officeDocument/2006/relationships/image" Target="../media/image37.jpg"/><Relationship Id="rId32" Type="http://schemas.openxmlformats.org/officeDocument/2006/relationships/image" Target="../media/image38.png"/><Relationship Id="rId33" Type="http://schemas.openxmlformats.org/officeDocument/2006/relationships/image" Target="../media/image39.jpg"/><Relationship Id="rId34" Type="http://schemas.openxmlformats.org/officeDocument/2006/relationships/image" Target="../media/image40.jpg"/><Relationship Id="rId35" Type="http://schemas.openxmlformats.org/officeDocument/2006/relationships/image" Target="../media/image41.jpg"/><Relationship Id="rId36" Type="http://schemas.openxmlformats.org/officeDocument/2006/relationships/image" Target="../media/image4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jpg"/><Relationship Id="rId14" Type="http://schemas.openxmlformats.org/officeDocument/2006/relationships/image" Target="../media/image55.jpg"/><Relationship Id="rId15" Type="http://schemas.openxmlformats.org/officeDocument/2006/relationships/image" Target="../media/image56.jpg"/><Relationship Id="rId16" Type="http://schemas.openxmlformats.org/officeDocument/2006/relationships/image" Target="../media/image57.jpg"/><Relationship Id="rId17" Type="http://schemas.openxmlformats.org/officeDocument/2006/relationships/image" Target="../media/image58.jpg"/><Relationship Id="rId18" Type="http://schemas.openxmlformats.org/officeDocument/2006/relationships/image" Target="../media/image59.jp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png"/><Relationship Id="rId28" Type="http://schemas.openxmlformats.org/officeDocument/2006/relationships/image" Target="../media/image69.png"/><Relationship Id="rId29" Type="http://schemas.openxmlformats.org/officeDocument/2006/relationships/image" Target="../media/image70.jpg"/><Relationship Id="rId30" Type="http://schemas.openxmlformats.org/officeDocument/2006/relationships/image" Target="../media/image71.png"/><Relationship Id="rId31" Type="http://schemas.openxmlformats.org/officeDocument/2006/relationships/image" Target="../media/image72.jpg"/><Relationship Id="rId32" Type="http://schemas.openxmlformats.org/officeDocument/2006/relationships/image" Target="../media/image73.jpg"/><Relationship Id="rId33" Type="http://schemas.openxmlformats.org/officeDocument/2006/relationships/image" Target="../media/image74.jpg"/><Relationship Id="rId34" Type="http://schemas.openxmlformats.org/officeDocument/2006/relationships/image" Target="../media/image75.jpg"/><Relationship Id="rId35" Type="http://schemas.openxmlformats.org/officeDocument/2006/relationships/image" Target="../media/image76.jpg"/><Relationship Id="rId36" Type="http://schemas.openxmlformats.org/officeDocument/2006/relationships/image" Target="../media/image7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87.jpg"/><Relationship Id="rId7" Type="http://schemas.openxmlformats.org/officeDocument/2006/relationships/image" Target="../media/image88.jpg"/><Relationship Id="rId8" Type="http://schemas.openxmlformats.org/officeDocument/2006/relationships/image" Target="../media/image89.jp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image" Target="../media/image93.png"/><Relationship Id="rId13" Type="http://schemas.openxmlformats.org/officeDocument/2006/relationships/image" Target="../media/image94.png"/><Relationship Id="rId14" Type="http://schemas.openxmlformats.org/officeDocument/2006/relationships/image" Target="../media/image95.jpg"/><Relationship Id="rId15" Type="http://schemas.openxmlformats.org/officeDocument/2006/relationships/image" Target="../media/image96.png"/><Relationship Id="rId16" Type="http://schemas.openxmlformats.org/officeDocument/2006/relationships/image" Target="../media/image97.png"/><Relationship Id="rId17" Type="http://schemas.openxmlformats.org/officeDocument/2006/relationships/image" Target="../media/image98.png"/><Relationship Id="rId18" Type="http://schemas.openxmlformats.org/officeDocument/2006/relationships/image" Target="../media/image99.png"/><Relationship Id="rId19" Type="http://schemas.openxmlformats.org/officeDocument/2006/relationships/image" Target="../media/image100.png"/><Relationship Id="rId20" Type="http://schemas.openxmlformats.org/officeDocument/2006/relationships/image" Target="../media/image101.png"/><Relationship Id="rId21" Type="http://schemas.openxmlformats.org/officeDocument/2006/relationships/image" Target="../media/image10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95.jpg"/><Relationship Id="rId13" Type="http://schemas.openxmlformats.org/officeDocument/2006/relationships/image" Target="../media/image89.jp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image" Target="../media/image128.png"/><Relationship Id="rId19" Type="http://schemas.openxmlformats.org/officeDocument/2006/relationships/image" Target="../media/image129.png"/><Relationship Id="rId20" Type="http://schemas.openxmlformats.org/officeDocument/2006/relationships/image" Target="../media/image53.png"/><Relationship Id="rId21" Type="http://schemas.openxmlformats.org/officeDocument/2006/relationships/image" Target="../media/image130.png"/><Relationship Id="rId22" Type="http://schemas.openxmlformats.org/officeDocument/2006/relationships/image" Target="../media/image131.png"/><Relationship Id="rId23" Type="http://schemas.openxmlformats.org/officeDocument/2006/relationships/image" Target="../media/image132.png"/><Relationship Id="rId24" Type="http://schemas.openxmlformats.org/officeDocument/2006/relationships/image" Target="../media/image133.png"/><Relationship Id="rId25" Type="http://schemas.openxmlformats.org/officeDocument/2006/relationships/image" Target="../media/image1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5011" y="936457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62711" y="1170432"/>
            <a:ext cx="8284845" cy="3392804"/>
            <a:chOff x="362711" y="1170432"/>
            <a:chExt cx="8284845" cy="339280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11" y="1170432"/>
              <a:ext cx="2752344" cy="56387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87516" y="1194780"/>
              <a:ext cx="2647315" cy="461645"/>
            </a:xfrm>
            <a:custGeom>
              <a:avLst/>
              <a:gdLst/>
              <a:ahLst/>
              <a:cxnLst/>
              <a:rect l="l" t="t" r="r" b="b"/>
              <a:pathLst>
                <a:path w="2647315" h="461644">
                  <a:moveTo>
                    <a:pt x="2646944" y="0"/>
                  </a:moveTo>
                  <a:lnTo>
                    <a:pt x="0" y="0"/>
                  </a:lnTo>
                  <a:lnTo>
                    <a:pt x="0" y="461210"/>
                  </a:lnTo>
                  <a:lnTo>
                    <a:pt x="2646944" y="461210"/>
                  </a:lnTo>
                  <a:lnTo>
                    <a:pt x="2646944" y="0"/>
                  </a:lnTo>
                  <a:close/>
                </a:path>
              </a:pathLst>
            </a:custGeom>
            <a:solidFill>
              <a:srgbClr val="D3B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0295" y="1170432"/>
              <a:ext cx="2749296" cy="56387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54780" y="1194780"/>
              <a:ext cx="2647315" cy="461645"/>
            </a:xfrm>
            <a:custGeom>
              <a:avLst/>
              <a:gdLst/>
              <a:ahLst/>
              <a:cxnLst/>
              <a:rect l="l" t="t" r="r" b="b"/>
              <a:pathLst>
                <a:path w="2647315" h="461644">
                  <a:moveTo>
                    <a:pt x="2646944" y="0"/>
                  </a:moveTo>
                  <a:lnTo>
                    <a:pt x="0" y="0"/>
                  </a:lnTo>
                  <a:lnTo>
                    <a:pt x="0" y="461210"/>
                  </a:lnTo>
                  <a:lnTo>
                    <a:pt x="2646944" y="461210"/>
                  </a:lnTo>
                  <a:lnTo>
                    <a:pt x="2646944" y="0"/>
                  </a:lnTo>
                  <a:close/>
                </a:path>
              </a:pathLst>
            </a:custGeom>
            <a:solidFill>
              <a:srgbClr val="A365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879" y="1170432"/>
              <a:ext cx="2749296" cy="56387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922043" y="1194780"/>
              <a:ext cx="2647315" cy="461645"/>
            </a:xfrm>
            <a:custGeom>
              <a:avLst/>
              <a:gdLst/>
              <a:ahLst/>
              <a:cxnLst/>
              <a:rect l="l" t="t" r="r" b="b"/>
              <a:pathLst>
                <a:path w="2647315" h="461644">
                  <a:moveTo>
                    <a:pt x="2646944" y="0"/>
                  </a:moveTo>
                  <a:lnTo>
                    <a:pt x="0" y="0"/>
                  </a:lnTo>
                  <a:lnTo>
                    <a:pt x="0" y="461210"/>
                  </a:lnTo>
                  <a:lnTo>
                    <a:pt x="2646944" y="461210"/>
                  </a:lnTo>
                  <a:lnTo>
                    <a:pt x="2646944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90023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2646946" y="0"/>
                  </a:moveTo>
                  <a:lnTo>
                    <a:pt x="0" y="0"/>
                  </a:lnTo>
                  <a:lnTo>
                    <a:pt x="0" y="2834684"/>
                  </a:lnTo>
                  <a:lnTo>
                    <a:pt x="2646946" y="2834684"/>
                  </a:lnTo>
                  <a:lnTo>
                    <a:pt x="2646946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0023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0" y="0"/>
                  </a:moveTo>
                  <a:lnTo>
                    <a:pt x="2646946" y="0"/>
                  </a:lnTo>
                  <a:lnTo>
                    <a:pt x="2646946" y="2834684"/>
                  </a:lnTo>
                  <a:lnTo>
                    <a:pt x="0" y="283468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57287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2646945" y="0"/>
                  </a:moveTo>
                  <a:lnTo>
                    <a:pt x="0" y="0"/>
                  </a:lnTo>
                  <a:lnTo>
                    <a:pt x="0" y="2834684"/>
                  </a:lnTo>
                  <a:lnTo>
                    <a:pt x="2646945" y="2834684"/>
                  </a:lnTo>
                  <a:lnTo>
                    <a:pt x="2646945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57287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0" y="0"/>
                  </a:moveTo>
                  <a:lnTo>
                    <a:pt x="2646946" y="0"/>
                  </a:lnTo>
                  <a:lnTo>
                    <a:pt x="2646946" y="2834684"/>
                  </a:lnTo>
                  <a:lnTo>
                    <a:pt x="0" y="283468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365D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24550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2646945" y="0"/>
                  </a:moveTo>
                  <a:lnTo>
                    <a:pt x="0" y="0"/>
                  </a:lnTo>
                  <a:lnTo>
                    <a:pt x="0" y="2834684"/>
                  </a:lnTo>
                  <a:lnTo>
                    <a:pt x="2646945" y="2834684"/>
                  </a:lnTo>
                  <a:lnTo>
                    <a:pt x="2646945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924550" y="1718656"/>
              <a:ext cx="2647315" cy="2835275"/>
            </a:xfrm>
            <a:custGeom>
              <a:avLst/>
              <a:gdLst/>
              <a:ahLst/>
              <a:cxnLst/>
              <a:rect l="l" t="t" r="r" b="b"/>
              <a:pathLst>
                <a:path w="2647315" h="2835275">
                  <a:moveTo>
                    <a:pt x="0" y="0"/>
                  </a:moveTo>
                  <a:lnTo>
                    <a:pt x="2646946" y="0"/>
                  </a:lnTo>
                  <a:lnTo>
                    <a:pt x="2646946" y="2834684"/>
                  </a:lnTo>
                  <a:lnTo>
                    <a:pt x="0" y="283468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1783" y="2089587"/>
              <a:ext cx="363120" cy="70238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175248" y="2691383"/>
              <a:ext cx="1548765" cy="100965"/>
            </a:xfrm>
            <a:custGeom>
              <a:avLst/>
              <a:gdLst/>
              <a:ahLst/>
              <a:cxnLst/>
              <a:rect l="l" t="t" r="r" b="b"/>
              <a:pathLst>
                <a:path w="1548765" h="100964">
                  <a:moveTo>
                    <a:pt x="362699" y="57912"/>
                  </a:moveTo>
                  <a:lnTo>
                    <a:pt x="0" y="57912"/>
                  </a:lnTo>
                  <a:lnTo>
                    <a:pt x="0" y="100584"/>
                  </a:lnTo>
                  <a:lnTo>
                    <a:pt x="362699" y="100584"/>
                  </a:lnTo>
                  <a:lnTo>
                    <a:pt x="362699" y="57912"/>
                  </a:lnTo>
                  <a:close/>
                </a:path>
                <a:path w="1548765" h="100964">
                  <a:moveTo>
                    <a:pt x="957072" y="0"/>
                  </a:moveTo>
                  <a:lnTo>
                    <a:pt x="591312" y="0"/>
                  </a:lnTo>
                  <a:lnTo>
                    <a:pt x="591312" y="100584"/>
                  </a:lnTo>
                  <a:lnTo>
                    <a:pt x="957072" y="100584"/>
                  </a:lnTo>
                  <a:lnTo>
                    <a:pt x="957072" y="0"/>
                  </a:lnTo>
                  <a:close/>
                </a:path>
                <a:path w="1548765" h="100964">
                  <a:moveTo>
                    <a:pt x="1548384" y="21336"/>
                  </a:moveTo>
                  <a:lnTo>
                    <a:pt x="1185672" y="21336"/>
                  </a:lnTo>
                  <a:lnTo>
                    <a:pt x="1185672" y="100584"/>
                  </a:lnTo>
                  <a:lnTo>
                    <a:pt x="1548384" y="100584"/>
                  </a:lnTo>
                  <a:lnTo>
                    <a:pt x="1548384" y="21336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61741" y="2795214"/>
              <a:ext cx="2367915" cy="0"/>
            </a:xfrm>
            <a:custGeom>
              <a:avLst/>
              <a:gdLst/>
              <a:ahLst/>
              <a:cxnLst/>
              <a:rect l="l" t="t" r="r" b="b"/>
              <a:pathLst>
                <a:path w="2367915" h="0">
                  <a:moveTo>
                    <a:pt x="0" y="0"/>
                  </a:moveTo>
                  <a:lnTo>
                    <a:pt x="2367546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245257" y="2523744"/>
            <a:ext cx="2425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04040"/>
                </a:solidFill>
                <a:latin typeface="Arial MT"/>
                <a:cs typeface="Arial MT"/>
              </a:rPr>
              <a:t>130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25682" y="2465832"/>
            <a:ext cx="2647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04040"/>
                </a:solidFill>
                <a:latin typeface="Arial MT"/>
                <a:cs typeface="Arial MT"/>
              </a:rPr>
              <a:t>295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418649" y="2487167"/>
            <a:ext cx="2628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04040"/>
                </a:solidFill>
                <a:latin typeface="Arial MT"/>
                <a:cs typeface="Arial MT"/>
              </a:rPr>
              <a:t>238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50337" y="1865376"/>
            <a:ext cx="3835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90">
                <a:solidFill>
                  <a:srgbClr val="404040"/>
                </a:solidFill>
                <a:latin typeface="Arial MT"/>
                <a:cs typeface="Arial MT"/>
              </a:rPr>
              <a:t>2000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287208" y="1979258"/>
            <a:ext cx="4554220" cy="1030605"/>
            <a:chOff x="3287208" y="1979258"/>
            <a:chExt cx="4554220" cy="1030605"/>
          </a:xfrm>
        </p:grpSpPr>
        <p:sp>
          <p:nvSpPr>
            <p:cNvPr id="24" name="object 24" descr=""/>
            <p:cNvSpPr/>
            <p:nvPr/>
          </p:nvSpPr>
          <p:spPr>
            <a:xfrm>
              <a:off x="7837713" y="1999778"/>
              <a:ext cx="0" cy="1006475"/>
            </a:xfrm>
            <a:custGeom>
              <a:avLst/>
              <a:gdLst/>
              <a:ahLst/>
              <a:cxnLst/>
              <a:rect l="l" t="t" r="r" b="b"/>
              <a:pathLst>
                <a:path w="0" h="1006475">
                  <a:moveTo>
                    <a:pt x="0" y="0"/>
                  </a:moveTo>
                  <a:lnTo>
                    <a:pt x="1" y="1006318"/>
                  </a:lnTo>
                </a:path>
              </a:pathLst>
            </a:custGeom>
            <a:ln w="635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2012" y="1979258"/>
              <a:ext cx="363120" cy="76792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407664" y="2563367"/>
              <a:ext cx="1545590" cy="184150"/>
            </a:xfrm>
            <a:custGeom>
              <a:avLst/>
              <a:gdLst/>
              <a:ahLst/>
              <a:cxnLst/>
              <a:rect l="l" t="t" r="r" b="b"/>
              <a:pathLst>
                <a:path w="1545589" h="184150">
                  <a:moveTo>
                    <a:pt x="362712" y="15240"/>
                  </a:moveTo>
                  <a:lnTo>
                    <a:pt x="0" y="15240"/>
                  </a:lnTo>
                  <a:lnTo>
                    <a:pt x="0" y="183819"/>
                  </a:lnTo>
                  <a:lnTo>
                    <a:pt x="362712" y="183819"/>
                  </a:lnTo>
                  <a:lnTo>
                    <a:pt x="362712" y="15240"/>
                  </a:lnTo>
                  <a:close/>
                </a:path>
                <a:path w="1545589" h="184150">
                  <a:moveTo>
                    <a:pt x="954024" y="21336"/>
                  </a:moveTo>
                  <a:lnTo>
                    <a:pt x="591312" y="21336"/>
                  </a:lnTo>
                  <a:lnTo>
                    <a:pt x="591312" y="183819"/>
                  </a:lnTo>
                  <a:lnTo>
                    <a:pt x="954024" y="183819"/>
                  </a:lnTo>
                  <a:lnTo>
                    <a:pt x="954024" y="21336"/>
                  </a:lnTo>
                  <a:close/>
                </a:path>
                <a:path w="1545589" h="184150">
                  <a:moveTo>
                    <a:pt x="1545336" y="0"/>
                  </a:moveTo>
                  <a:lnTo>
                    <a:pt x="1182624" y="0"/>
                  </a:lnTo>
                  <a:lnTo>
                    <a:pt x="1182624" y="183819"/>
                  </a:lnTo>
                  <a:lnTo>
                    <a:pt x="1545336" y="183819"/>
                  </a:lnTo>
                  <a:lnTo>
                    <a:pt x="154533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291970" y="2747185"/>
              <a:ext cx="2367915" cy="0"/>
            </a:xfrm>
            <a:custGeom>
              <a:avLst/>
              <a:gdLst/>
              <a:ahLst/>
              <a:cxnLst/>
              <a:rect l="l" t="t" r="r" b="b"/>
              <a:pathLst>
                <a:path w="2367915" h="0">
                  <a:moveTo>
                    <a:pt x="0" y="0"/>
                  </a:moveTo>
                  <a:lnTo>
                    <a:pt x="2367546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612492" y="2337815"/>
            <a:ext cx="3359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404040"/>
                </a:solidFill>
                <a:latin typeface="Arial MT"/>
                <a:cs typeface="Arial MT"/>
              </a:rPr>
              <a:t>1200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179709" y="1752600"/>
            <a:ext cx="3854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95">
                <a:solidFill>
                  <a:srgbClr val="404040"/>
                </a:solidFill>
                <a:latin typeface="Arial MT"/>
                <a:cs typeface="Arial MT"/>
              </a:rPr>
              <a:t>5000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28451" y="1996603"/>
            <a:ext cx="4542790" cy="1012825"/>
            <a:chOff x="528451" y="1996603"/>
            <a:chExt cx="4542790" cy="1012825"/>
          </a:xfrm>
        </p:grpSpPr>
        <p:sp>
          <p:nvSpPr>
            <p:cNvPr id="31" name="object 31" descr=""/>
            <p:cNvSpPr/>
            <p:nvPr/>
          </p:nvSpPr>
          <p:spPr>
            <a:xfrm>
              <a:off x="5067942" y="1999778"/>
              <a:ext cx="0" cy="1006475"/>
            </a:xfrm>
            <a:custGeom>
              <a:avLst/>
              <a:gdLst/>
              <a:ahLst/>
              <a:cxnLst/>
              <a:rect l="l" t="t" r="r" b="b"/>
              <a:pathLst>
                <a:path w="0" h="1006475">
                  <a:moveTo>
                    <a:pt x="0" y="0"/>
                  </a:moveTo>
                  <a:lnTo>
                    <a:pt x="1" y="1006318"/>
                  </a:lnTo>
                </a:path>
              </a:pathLst>
            </a:custGeom>
            <a:ln w="635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3256" y="2001383"/>
              <a:ext cx="363120" cy="79058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46176" y="2584703"/>
              <a:ext cx="1548765" cy="207645"/>
            </a:xfrm>
            <a:custGeom>
              <a:avLst/>
              <a:gdLst/>
              <a:ahLst/>
              <a:cxnLst/>
              <a:rect l="l" t="t" r="r" b="b"/>
              <a:pathLst>
                <a:path w="1548764" h="207644">
                  <a:moveTo>
                    <a:pt x="365760" y="0"/>
                  </a:moveTo>
                  <a:lnTo>
                    <a:pt x="0" y="0"/>
                  </a:lnTo>
                  <a:lnTo>
                    <a:pt x="0" y="207264"/>
                  </a:lnTo>
                  <a:lnTo>
                    <a:pt x="365760" y="207264"/>
                  </a:lnTo>
                  <a:lnTo>
                    <a:pt x="365760" y="0"/>
                  </a:lnTo>
                  <a:close/>
                </a:path>
                <a:path w="1548764" h="207644">
                  <a:moveTo>
                    <a:pt x="957072" y="24384"/>
                  </a:moveTo>
                  <a:lnTo>
                    <a:pt x="594360" y="24384"/>
                  </a:lnTo>
                  <a:lnTo>
                    <a:pt x="594360" y="207264"/>
                  </a:lnTo>
                  <a:lnTo>
                    <a:pt x="957072" y="207264"/>
                  </a:lnTo>
                  <a:lnTo>
                    <a:pt x="957072" y="24384"/>
                  </a:lnTo>
                  <a:close/>
                </a:path>
                <a:path w="1548764" h="207644">
                  <a:moveTo>
                    <a:pt x="1548384" y="39624"/>
                  </a:moveTo>
                  <a:lnTo>
                    <a:pt x="1185672" y="39624"/>
                  </a:lnTo>
                  <a:lnTo>
                    <a:pt x="1185672" y="207264"/>
                  </a:lnTo>
                  <a:lnTo>
                    <a:pt x="1548384" y="207264"/>
                  </a:lnTo>
                  <a:lnTo>
                    <a:pt x="1548384" y="39624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33213" y="2795214"/>
              <a:ext cx="2367915" cy="0"/>
            </a:xfrm>
            <a:custGeom>
              <a:avLst/>
              <a:gdLst/>
              <a:ahLst/>
              <a:cxnLst/>
              <a:rect l="l" t="t" r="r" b="b"/>
              <a:pathLst>
                <a:path w="2367915" h="0">
                  <a:moveTo>
                    <a:pt x="0" y="0"/>
                  </a:moveTo>
                  <a:lnTo>
                    <a:pt x="2367546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689044" y="2359152"/>
            <a:ext cx="2978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105">
                <a:solidFill>
                  <a:srgbClr val="404040"/>
                </a:solidFill>
                <a:latin typeface="Arial MT"/>
                <a:cs typeface="Arial MT"/>
              </a:rPr>
              <a:t>400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291692" y="2383535"/>
            <a:ext cx="2724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404040"/>
                </a:solidFill>
                <a:latin typeface="Arial MT"/>
                <a:cs typeface="Arial MT"/>
              </a:rPr>
              <a:t>350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891327" y="2398776"/>
            <a:ext cx="2603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404040"/>
                </a:solidFill>
                <a:latin typeface="Arial MT"/>
                <a:cs typeface="Arial MT"/>
              </a:rPr>
              <a:t>325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444763" y="1776984"/>
            <a:ext cx="3378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404040"/>
                </a:solidFill>
                <a:latin typeface="Arial MT"/>
                <a:cs typeface="Arial MT"/>
              </a:rPr>
              <a:t>1500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2309186" y="1999778"/>
            <a:ext cx="0" cy="1006475"/>
          </a:xfrm>
          <a:custGeom>
            <a:avLst/>
            <a:gdLst/>
            <a:ahLst/>
            <a:cxnLst/>
            <a:rect l="l" t="t" r="r" b="b"/>
            <a:pathLst>
              <a:path w="0" h="1006475">
                <a:moveTo>
                  <a:pt x="0" y="0"/>
                </a:moveTo>
                <a:lnTo>
                  <a:pt x="1" y="1006318"/>
                </a:lnTo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84953" y="1749044"/>
            <a:ext cx="1106170" cy="40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EV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Sales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US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250" spc="55" i="1">
                <a:latin typeface="Arial"/>
                <a:cs typeface="Arial"/>
              </a:rPr>
              <a:t>(in</a:t>
            </a:r>
            <a:r>
              <a:rPr dirty="0" sz="1250" spc="15" i="1">
                <a:latin typeface="Arial"/>
                <a:cs typeface="Arial"/>
              </a:rPr>
              <a:t> </a:t>
            </a:r>
            <a:r>
              <a:rPr dirty="0" sz="1250" spc="95" i="1">
                <a:latin typeface="Arial"/>
                <a:cs typeface="Arial"/>
              </a:rPr>
              <a:t>‘000)</a:t>
            </a:r>
            <a:endParaRPr sz="125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252217" y="1749044"/>
            <a:ext cx="1320165" cy="803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EV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Sales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China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250" spc="55" i="1">
                <a:latin typeface="Arial"/>
                <a:cs typeface="Arial"/>
              </a:rPr>
              <a:t>(in</a:t>
            </a:r>
            <a:r>
              <a:rPr dirty="0" sz="1250" spc="15" i="1">
                <a:latin typeface="Arial"/>
                <a:cs typeface="Arial"/>
              </a:rPr>
              <a:t> </a:t>
            </a:r>
            <a:r>
              <a:rPr dirty="0" sz="1250" spc="95" i="1">
                <a:latin typeface="Arial"/>
                <a:cs typeface="Arial"/>
              </a:rPr>
              <a:t>‘000)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250">
              <a:latin typeface="Arial"/>
              <a:cs typeface="Arial"/>
            </a:endParaRPr>
          </a:p>
          <a:p>
            <a:pPr algn="ctr" marR="27305">
              <a:lnSpc>
                <a:spcPct val="100000"/>
              </a:lnSpc>
              <a:tabLst>
                <a:tab pos="574675" algn="l"/>
              </a:tabLst>
            </a:pPr>
            <a:r>
              <a:rPr dirty="0" baseline="2525" sz="1650" spc="-30">
                <a:solidFill>
                  <a:srgbClr val="404040"/>
                </a:solidFill>
                <a:latin typeface="Arial MT"/>
                <a:cs typeface="Arial MT"/>
              </a:rPr>
              <a:t>1100</a:t>
            </a:r>
            <a:r>
              <a:rPr dirty="0" baseline="2525" sz="1650">
                <a:solidFill>
                  <a:srgbClr val="404040"/>
                </a:solidFill>
                <a:latin typeface="Arial MT"/>
                <a:cs typeface="Arial MT"/>
              </a:rPr>
              <a:t>	</a:t>
            </a:r>
            <a:r>
              <a:rPr dirty="0" sz="1100" spc="-20">
                <a:solidFill>
                  <a:srgbClr val="404040"/>
                </a:solidFill>
                <a:latin typeface="Arial MT"/>
                <a:cs typeface="Arial MT"/>
              </a:rPr>
              <a:t>1050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018498" y="1749044"/>
            <a:ext cx="1259840" cy="40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EV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Sales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India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250" spc="55" i="1">
                <a:latin typeface="Arial"/>
                <a:cs typeface="Arial"/>
              </a:rPr>
              <a:t>(in</a:t>
            </a:r>
            <a:r>
              <a:rPr dirty="0" sz="1250" spc="15" i="1">
                <a:latin typeface="Arial"/>
                <a:cs typeface="Arial"/>
              </a:rPr>
              <a:t> </a:t>
            </a:r>
            <a:r>
              <a:rPr dirty="0" sz="1250" spc="95" i="1">
                <a:latin typeface="Arial"/>
                <a:cs typeface="Arial"/>
              </a:rPr>
              <a:t>‘000)</a:t>
            </a:r>
            <a:endParaRPr sz="1250">
              <a:latin typeface="Arial"/>
              <a:cs typeface="Aria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6520938" y="1923797"/>
            <a:ext cx="1214755" cy="487045"/>
          </a:xfrm>
          <a:custGeom>
            <a:avLst/>
            <a:gdLst/>
            <a:ahLst/>
            <a:cxnLst/>
            <a:rect l="l" t="t" r="r" b="b"/>
            <a:pathLst>
              <a:path w="1214754" h="487044">
                <a:moveTo>
                  <a:pt x="1142043" y="32512"/>
                </a:moveTo>
                <a:lnTo>
                  <a:pt x="0" y="480545"/>
                </a:lnTo>
                <a:lnTo>
                  <a:pt x="2319" y="486456"/>
                </a:lnTo>
                <a:lnTo>
                  <a:pt x="1144362" y="38424"/>
                </a:lnTo>
                <a:lnTo>
                  <a:pt x="1142043" y="32512"/>
                </a:lnTo>
                <a:close/>
              </a:path>
              <a:path w="1214754" h="487044">
                <a:moveTo>
                  <a:pt x="1195910" y="27875"/>
                </a:moveTo>
                <a:lnTo>
                  <a:pt x="1153864" y="27875"/>
                </a:lnTo>
                <a:lnTo>
                  <a:pt x="1156183" y="33787"/>
                </a:lnTo>
                <a:lnTo>
                  <a:pt x="1144362" y="38424"/>
                </a:lnTo>
                <a:lnTo>
                  <a:pt x="1157117" y="70937"/>
                </a:lnTo>
                <a:lnTo>
                  <a:pt x="1195910" y="27875"/>
                </a:lnTo>
                <a:close/>
              </a:path>
              <a:path w="1214754" h="487044">
                <a:moveTo>
                  <a:pt x="1153864" y="27875"/>
                </a:moveTo>
                <a:lnTo>
                  <a:pt x="1142043" y="32512"/>
                </a:lnTo>
                <a:lnTo>
                  <a:pt x="1144362" y="38424"/>
                </a:lnTo>
                <a:lnTo>
                  <a:pt x="1156183" y="33787"/>
                </a:lnTo>
                <a:lnTo>
                  <a:pt x="1153864" y="27875"/>
                </a:lnTo>
                <a:close/>
              </a:path>
              <a:path w="1214754" h="487044">
                <a:moveTo>
                  <a:pt x="1129289" y="0"/>
                </a:moveTo>
                <a:lnTo>
                  <a:pt x="1142043" y="32512"/>
                </a:lnTo>
                <a:lnTo>
                  <a:pt x="1153864" y="27875"/>
                </a:lnTo>
                <a:lnTo>
                  <a:pt x="1195910" y="27875"/>
                </a:lnTo>
                <a:lnTo>
                  <a:pt x="1214139" y="7640"/>
                </a:lnTo>
                <a:lnTo>
                  <a:pt x="11292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472262" y="2789131"/>
            <a:ext cx="2329180" cy="85026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600"/>
              </a:spcBef>
              <a:tabLst>
                <a:tab pos="786130" algn="l"/>
                <a:tab pos="1356995" algn="l"/>
                <a:tab pos="1953260" algn="l"/>
              </a:tabLst>
            </a:pP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2018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2019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80">
                <a:solidFill>
                  <a:srgbClr val="595959"/>
                </a:solidFill>
                <a:latin typeface="Arial MT"/>
                <a:cs typeface="Arial MT"/>
              </a:rPr>
              <a:t>2020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75">
                <a:solidFill>
                  <a:srgbClr val="595959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  <a:p>
            <a:pPr marR="273685">
              <a:lnSpc>
                <a:spcPct val="103299"/>
              </a:lnSpc>
              <a:spcBef>
                <a:spcPts val="500"/>
              </a:spcBef>
            </a:pPr>
            <a:r>
              <a:rPr dirty="0" sz="1200" spc="60">
                <a:latin typeface="Arial MT"/>
                <a:cs typeface="Arial MT"/>
              </a:rPr>
              <a:t>Public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Charging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Stations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in </a:t>
            </a:r>
            <a:r>
              <a:rPr dirty="0" sz="1200" spc="-25">
                <a:latin typeface="Arial MT"/>
                <a:cs typeface="Arial MT"/>
              </a:rPr>
              <a:t>US</a:t>
            </a:r>
            <a:endParaRPr sz="1200">
              <a:latin typeface="Arial MT"/>
              <a:cs typeface="Arial MT"/>
            </a:endParaRPr>
          </a:p>
          <a:p>
            <a:pPr>
              <a:lnSpc>
                <a:spcPts val="1190"/>
              </a:lnSpc>
            </a:pPr>
            <a:r>
              <a:rPr dirty="0" sz="1150" i="1">
                <a:latin typeface="Arial"/>
                <a:cs typeface="Arial"/>
              </a:rPr>
              <a:t>(As</a:t>
            </a:r>
            <a:r>
              <a:rPr dirty="0" sz="1150" spc="15" i="1">
                <a:latin typeface="Arial"/>
                <a:cs typeface="Arial"/>
              </a:rPr>
              <a:t> </a:t>
            </a:r>
            <a:r>
              <a:rPr dirty="0" sz="1150" spc="50" i="1">
                <a:latin typeface="Arial"/>
                <a:cs typeface="Arial"/>
              </a:rPr>
              <a:t>of</a:t>
            </a:r>
            <a:r>
              <a:rPr dirty="0" sz="1150" spc="25" i="1">
                <a:latin typeface="Arial"/>
                <a:cs typeface="Arial"/>
              </a:rPr>
              <a:t> </a:t>
            </a:r>
            <a:r>
              <a:rPr dirty="0" sz="1150" spc="-10" i="1">
                <a:latin typeface="Arial"/>
                <a:cs typeface="Arial"/>
              </a:rPr>
              <a:t>2021)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054625" y="2789131"/>
            <a:ext cx="2275205" cy="85280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600"/>
              </a:spcBef>
              <a:tabLst>
                <a:tab pos="732790" algn="l"/>
                <a:tab pos="1303020" algn="l"/>
                <a:tab pos="1899285" algn="l"/>
              </a:tabLst>
            </a:pP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2018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2019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80">
                <a:solidFill>
                  <a:srgbClr val="595959"/>
                </a:solidFill>
                <a:latin typeface="Arial MT"/>
                <a:cs typeface="Arial MT"/>
              </a:rPr>
              <a:t>2020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75">
                <a:solidFill>
                  <a:srgbClr val="595959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  <a:p>
            <a:pPr marR="220345">
              <a:lnSpc>
                <a:spcPct val="105000"/>
              </a:lnSpc>
              <a:spcBef>
                <a:spcPts val="475"/>
              </a:spcBef>
            </a:pPr>
            <a:r>
              <a:rPr dirty="0" sz="1200" spc="60">
                <a:latin typeface="Arial MT"/>
                <a:cs typeface="Arial MT"/>
              </a:rPr>
              <a:t>Public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Charging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Stations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in </a:t>
            </a:r>
            <a:r>
              <a:rPr dirty="0" sz="1200" spc="45">
                <a:latin typeface="Arial MT"/>
                <a:cs typeface="Arial MT"/>
              </a:rPr>
              <a:t>India</a:t>
            </a:r>
            <a:endParaRPr sz="1200">
              <a:latin typeface="Arial MT"/>
              <a:cs typeface="Arial MT"/>
            </a:endParaRPr>
          </a:p>
          <a:p>
            <a:pPr>
              <a:lnSpc>
                <a:spcPts val="1190"/>
              </a:lnSpc>
            </a:pPr>
            <a:r>
              <a:rPr dirty="0" sz="1150" i="1">
                <a:latin typeface="Arial"/>
                <a:cs typeface="Arial"/>
              </a:rPr>
              <a:t>(As</a:t>
            </a:r>
            <a:r>
              <a:rPr dirty="0" sz="1150" spc="15" i="1">
                <a:latin typeface="Arial"/>
                <a:cs typeface="Arial"/>
              </a:rPr>
              <a:t> </a:t>
            </a:r>
            <a:r>
              <a:rPr dirty="0" sz="1150" spc="50" i="1">
                <a:latin typeface="Arial"/>
                <a:cs typeface="Arial"/>
              </a:rPr>
              <a:t>of</a:t>
            </a:r>
            <a:r>
              <a:rPr dirty="0" sz="1150" spc="25" i="1">
                <a:latin typeface="Arial"/>
                <a:cs typeface="Arial"/>
              </a:rPr>
              <a:t> </a:t>
            </a:r>
            <a:r>
              <a:rPr dirty="0" sz="1150" spc="-10" i="1">
                <a:latin typeface="Arial"/>
                <a:cs typeface="Arial"/>
              </a:rPr>
              <a:t>2021)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70559" y="3578352"/>
            <a:ext cx="2109470" cy="966469"/>
            <a:chOff x="670559" y="3578352"/>
            <a:chExt cx="2109470" cy="966469"/>
          </a:xfrm>
        </p:grpSpPr>
        <p:pic>
          <p:nvPicPr>
            <p:cNvPr id="47" name="object 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559" y="3578352"/>
              <a:ext cx="2109216" cy="966216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83770" y="3690181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4" h="741679">
                  <a:moveTo>
                    <a:pt x="942391" y="0"/>
                  </a:moveTo>
                  <a:lnTo>
                    <a:pt x="875089" y="930"/>
                  </a:lnTo>
                  <a:lnTo>
                    <a:pt x="809065" y="3680"/>
                  </a:lnTo>
                  <a:lnTo>
                    <a:pt x="744477" y="8187"/>
                  </a:lnTo>
                  <a:lnTo>
                    <a:pt x="681485" y="14387"/>
                  </a:lnTo>
                  <a:lnTo>
                    <a:pt x="620249" y="22219"/>
                  </a:lnTo>
                  <a:lnTo>
                    <a:pt x="560928" y="31619"/>
                  </a:lnTo>
                  <a:lnTo>
                    <a:pt x="503681" y="42525"/>
                  </a:lnTo>
                  <a:lnTo>
                    <a:pt x="448669" y="54874"/>
                  </a:lnTo>
                  <a:lnTo>
                    <a:pt x="396049" y="68604"/>
                  </a:lnTo>
                  <a:lnTo>
                    <a:pt x="345983" y="83651"/>
                  </a:lnTo>
                  <a:lnTo>
                    <a:pt x="298629" y="99953"/>
                  </a:lnTo>
                  <a:lnTo>
                    <a:pt x="254148" y="117447"/>
                  </a:lnTo>
                  <a:lnTo>
                    <a:pt x="212697" y="136070"/>
                  </a:lnTo>
                  <a:lnTo>
                    <a:pt x="174437" y="155761"/>
                  </a:lnTo>
                  <a:lnTo>
                    <a:pt x="139528" y="176455"/>
                  </a:lnTo>
                  <a:lnTo>
                    <a:pt x="108128" y="198091"/>
                  </a:lnTo>
                  <a:lnTo>
                    <a:pt x="56496" y="243936"/>
                  </a:lnTo>
                  <a:lnTo>
                    <a:pt x="20817" y="292793"/>
                  </a:lnTo>
                  <a:lnTo>
                    <a:pt x="2366" y="344161"/>
                  </a:lnTo>
                  <a:lnTo>
                    <a:pt x="0" y="370630"/>
                  </a:lnTo>
                  <a:lnTo>
                    <a:pt x="2366" y="397099"/>
                  </a:lnTo>
                  <a:lnTo>
                    <a:pt x="20817" y="448467"/>
                  </a:lnTo>
                  <a:lnTo>
                    <a:pt x="56496" y="497325"/>
                  </a:lnTo>
                  <a:lnTo>
                    <a:pt x="108128" y="543170"/>
                  </a:lnTo>
                  <a:lnTo>
                    <a:pt x="139528" y="564806"/>
                  </a:lnTo>
                  <a:lnTo>
                    <a:pt x="174437" y="585500"/>
                  </a:lnTo>
                  <a:lnTo>
                    <a:pt x="212697" y="605190"/>
                  </a:lnTo>
                  <a:lnTo>
                    <a:pt x="254148" y="623814"/>
                  </a:lnTo>
                  <a:lnTo>
                    <a:pt x="298629" y="641308"/>
                  </a:lnTo>
                  <a:lnTo>
                    <a:pt x="345983" y="657610"/>
                  </a:lnTo>
                  <a:lnTo>
                    <a:pt x="396049" y="672657"/>
                  </a:lnTo>
                  <a:lnTo>
                    <a:pt x="448669" y="686387"/>
                  </a:lnTo>
                  <a:lnTo>
                    <a:pt x="503681" y="698736"/>
                  </a:lnTo>
                  <a:lnTo>
                    <a:pt x="560928" y="709642"/>
                  </a:lnTo>
                  <a:lnTo>
                    <a:pt x="620249" y="719042"/>
                  </a:lnTo>
                  <a:lnTo>
                    <a:pt x="681485" y="726874"/>
                  </a:lnTo>
                  <a:lnTo>
                    <a:pt x="744477" y="733075"/>
                  </a:lnTo>
                  <a:lnTo>
                    <a:pt x="809065" y="737581"/>
                  </a:lnTo>
                  <a:lnTo>
                    <a:pt x="875089" y="740331"/>
                  </a:lnTo>
                  <a:lnTo>
                    <a:pt x="942391" y="741262"/>
                  </a:lnTo>
                  <a:lnTo>
                    <a:pt x="1009693" y="740331"/>
                  </a:lnTo>
                  <a:lnTo>
                    <a:pt x="1075717" y="737581"/>
                  </a:lnTo>
                  <a:lnTo>
                    <a:pt x="1140305" y="733075"/>
                  </a:lnTo>
                  <a:lnTo>
                    <a:pt x="1203297" y="726874"/>
                  </a:lnTo>
                  <a:lnTo>
                    <a:pt x="1264533" y="719042"/>
                  </a:lnTo>
                  <a:lnTo>
                    <a:pt x="1323855" y="709642"/>
                  </a:lnTo>
                  <a:lnTo>
                    <a:pt x="1381101" y="698736"/>
                  </a:lnTo>
                  <a:lnTo>
                    <a:pt x="1436114" y="686387"/>
                  </a:lnTo>
                  <a:lnTo>
                    <a:pt x="1488733" y="672657"/>
                  </a:lnTo>
                  <a:lnTo>
                    <a:pt x="1538799" y="657610"/>
                  </a:lnTo>
                  <a:lnTo>
                    <a:pt x="1586153" y="641308"/>
                  </a:lnTo>
                  <a:lnTo>
                    <a:pt x="1630635" y="623814"/>
                  </a:lnTo>
                  <a:lnTo>
                    <a:pt x="1672085" y="605190"/>
                  </a:lnTo>
                  <a:lnTo>
                    <a:pt x="1710345" y="585500"/>
                  </a:lnTo>
                  <a:lnTo>
                    <a:pt x="1745254" y="564806"/>
                  </a:lnTo>
                  <a:lnTo>
                    <a:pt x="1776654" y="543170"/>
                  </a:lnTo>
                  <a:lnTo>
                    <a:pt x="1828286" y="497325"/>
                  </a:lnTo>
                  <a:lnTo>
                    <a:pt x="1863966" y="448467"/>
                  </a:lnTo>
                  <a:lnTo>
                    <a:pt x="1882417" y="397099"/>
                  </a:lnTo>
                  <a:lnTo>
                    <a:pt x="1884783" y="370630"/>
                  </a:lnTo>
                  <a:lnTo>
                    <a:pt x="1882417" y="344161"/>
                  </a:lnTo>
                  <a:lnTo>
                    <a:pt x="1863966" y="292793"/>
                  </a:lnTo>
                  <a:lnTo>
                    <a:pt x="1828286" y="243936"/>
                  </a:lnTo>
                  <a:lnTo>
                    <a:pt x="1776654" y="198091"/>
                  </a:lnTo>
                  <a:lnTo>
                    <a:pt x="1745254" y="176455"/>
                  </a:lnTo>
                  <a:lnTo>
                    <a:pt x="1710345" y="155761"/>
                  </a:lnTo>
                  <a:lnTo>
                    <a:pt x="1672085" y="136070"/>
                  </a:lnTo>
                  <a:lnTo>
                    <a:pt x="1630635" y="117447"/>
                  </a:lnTo>
                  <a:lnTo>
                    <a:pt x="1586153" y="99953"/>
                  </a:lnTo>
                  <a:lnTo>
                    <a:pt x="1538799" y="83651"/>
                  </a:lnTo>
                  <a:lnTo>
                    <a:pt x="1488733" y="68604"/>
                  </a:lnTo>
                  <a:lnTo>
                    <a:pt x="1436114" y="54874"/>
                  </a:lnTo>
                  <a:lnTo>
                    <a:pt x="1381101" y="42525"/>
                  </a:lnTo>
                  <a:lnTo>
                    <a:pt x="1323855" y="31619"/>
                  </a:lnTo>
                  <a:lnTo>
                    <a:pt x="1264533" y="22219"/>
                  </a:lnTo>
                  <a:lnTo>
                    <a:pt x="1203297" y="14387"/>
                  </a:lnTo>
                  <a:lnTo>
                    <a:pt x="1140305" y="8187"/>
                  </a:lnTo>
                  <a:lnTo>
                    <a:pt x="1075717" y="3680"/>
                  </a:lnTo>
                  <a:lnTo>
                    <a:pt x="1009693" y="930"/>
                  </a:lnTo>
                  <a:lnTo>
                    <a:pt x="942391" y="0"/>
                  </a:lnTo>
                  <a:close/>
                </a:path>
              </a:pathLst>
            </a:custGeom>
            <a:solidFill>
              <a:srgbClr val="DAE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83770" y="3690181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4" h="741679">
                  <a:moveTo>
                    <a:pt x="0" y="370631"/>
                  </a:moveTo>
                  <a:lnTo>
                    <a:pt x="9358" y="318195"/>
                  </a:lnTo>
                  <a:lnTo>
                    <a:pt x="36583" y="268019"/>
                  </a:lnTo>
                  <a:lnTo>
                    <a:pt x="80398" y="220606"/>
                  </a:lnTo>
                  <a:lnTo>
                    <a:pt x="139528" y="176455"/>
                  </a:lnTo>
                  <a:lnTo>
                    <a:pt x="174437" y="155761"/>
                  </a:lnTo>
                  <a:lnTo>
                    <a:pt x="212697" y="136071"/>
                  </a:lnTo>
                  <a:lnTo>
                    <a:pt x="254148" y="117447"/>
                  </a:lnTo>
                  <a:lnTo>
                    <a:pt x="298629" y="99953"/>
                  </a:lnTo>
                  <a:lnTo>
                    <a:pt x="345983" y="83651"/>
                  </a:lnTo>
                  <a:lnTo>
                    <a:pt x="396049" y="68604"/>
                  </a:lnTo>
                  <a:lnTo>
                    <a:pt x="448668" y="54874"/>
                  </a:lnTo>
                  <a:lnTo>
                    <a:pt x="503681" y="42525"/>
                  </a:lnTo>
                  <a:lnTo>
                    <a:pt x="560928" y="31619"/>
                  </a:lnTo>
                  <a:lnTo>
                    <a:pt x="620249" y="22219"/>
                  </a:lnTo>
                  <a:lnTo>
                    <a:pt x="681485" y="14387"/>
                  </a:lnTo>
                  <a:lnTo>
                    <a:pt x="744477" y="8187"/>
                  </a:lnTo>
                  <a:lnTo>
                    <a:pt x="809065" y="3680"/>
                  </a:lnTo>
                  <a:lnTo>
                    <a:pt x="875089" y="930"/>
                  </a:lnTo>
                  <a:lnTo>
                    <a:pt x="942391" y="0"/>
                  </a:lnTo>
                  <a:lnTo>
                    <a:pt x="1009693" y="930"/>
                  </a:lnTo>
                  <a:lnTo>
                    <a:pt x="1075717" y="3680"/>
                  </a:lnTo>
                  <a:lnTo>
                    <a:pt x="1140305" y="8187"/>
                  </a:lnTo>
                  <a:lnTo>
                    <a:pt x="1203297" y="14387"/>
                  </a:lnTo>
                  <a:lnTo>
                    <a:pt x="1264533" y="22219"/>
                  </a:lnTo>
                  <a:lnTo>
                    <a:pt x="1323854" y="31619"/>
                  </a:lnTo>
                  <a:lnTo>
                    <a:pt x="1381101" y="42525"/>
                  </a:lnTo>
                  <a:lnTo>
                    <a:pt x="1436114" y="54874"/>
                  </a:lnTo>
                  <a:lnTo>
                    <a:pt x="1488733" y="68604"/>
                  </a:lnTo>
                  <a:lnTo>
                    <a:pt x="1538799" y="83651"/>
                  </a:lnTo>
                  <a:lnTo>
                    <a:pt x="1586153" y="99953"/>
                  </a:lnTo>
                  <a:lnTo>
                    <a:pt x="1630634" y="117447"/>
                  </a:lnTo>
                  <a:lnTo>
                    <a:pt x="1672085" y="136071"/>
                  </a:lnTo>
                  <a:lnTo>
                    <a:pt x="1710345" y="155761"/>
                  </a:lnTo>
                  <a:lnTo>
                    <a:pt x="1745254" y="176455"/>
                  </a:lnTo>
                  <a:lnTo>
                    <a:pt x="1776654" y="198091"/>
                  </a:lnTo>
                  <a:lnTo>
                    <a:pt x="1828286" y="243936"/>
                  </a:lnTo>
                  <a:lnTo>
                    <a:pt x="1863965" y="292793"/>
                  </a:lnTo>
                  <a:lnTo>
                    <a:pt x="1882416" y="344162"/>
                  </a:lnTo>
                  <a:lnTo>
                    <a:pt x="1884783" y="370631"/>
                  </a:lnTo>
                  <a:lnTo>
                    <a:pt x="1882416" y="397099"/>
                  </a:lnTo>
                  <a:lnTo>
                    <a:pt x="1863965" y="448468"/>
                  </a:lnTo>
                  <a:lnTo>
                    <a:pt x="1828286" y="497325"/>
                  </a:lnTo>
                  <a:lnTo>
                    <a:pt x="1776654" y="543170"/>
                  </a:lnTo>
                  <a:lnTo>
                    <a:pt x="1745254" y="564805"/>
                  </a:lnTo>
                  <a:lnTo>
                    <a:pt x="1710345" y="585500"/>
                  </a:lnTo>
                  <a:lnTo>
                    <a:pt x="1672085" y="605190"/>
                  </a:lnTo>
                  <a:lnTo>
                    <a:pt x="1630634" y="623814"/>
                  </a:lnTo>
                  <a:lnTo>
                    <a:pt x="1586153" y="641308"/>
                  </a:lnTo>
                  <a:lnTo>
                    <a:pt x="1538799" y="657610"/>
                  </a:lnTo>
                  <a:lnTo>
                    <a:pt x="1488733" y="672657"/>
                  </a:lnTo>
                  <a:lnTo>
                    <a:pt x="1436114" y="686387"/>
                  </a:lnTo>
                  <a:lnTo>
                    <a:pt x="1381101" y="698736"/>
                  </a:lnTo>
                  <a:lnTo>
                    <a:pt x="1323854" y="709642"/>
                  </a:lnTo>
                  <a:lnTo>
                    <a:pt x="1264533" y="719042"/>
                  </a:lnTo>
                  <a:lnTo>
                    <a:pt x="1203297" y="726874"/>
                  </a:lnTo>
                  <a:lnTo>
                    <a:pt x="1140305" y="733074"/>
                  </a:lnTo>
                  <a:lnTo>
                    <a:pt x="1075717" y="737581"/>
                  </a:lnTo>
                  <a:lnTo>
                    <a:pt x="1009693" y="740331"/>
                  </a:lnTo>
                  <a:lnTo>
                    <a:pt x="942391" y="741262"/>
                  </a:lnTo>
                  <a:lnTo>
                    <a:pt x="875089" y="740331"/>
                  </a:lnTo>
                  <a:lnTo>
                    <a:pt x="809065" y="737581"/>
                  </a:lnTo>
                  <a:lnTo>
                    <a:pt x="744477" y="733074"/>
                  </a:lnTo>
                  <a:lnTo>
                    <a:pt x="681485" y="726874"/>
                  </a:lnTo>
                  <a:lnTo>
                    <a:pt x="620249" y="719042"/>
                  </a:lnTo>
                  <a:lnTo>
                    <a:pt x="560928" y="709642"/>
                  </a:lnTo>
                  <a:lnTo>
                    <a:pt x="503681" y="698736"/>
                  </a:lnTo>
                  <a:lnTo>
                    <a:pt x="448668" y="686387"/>
                  </a:lnTo>
                  <a:lnTo>
                    <a:pt x="396049" y="672657"/>
                  </a:lnTo>
                  <a:lnTo>
                    <a:pt x="345983" y="657610"/>
                  </a:lnTo>
                  <a:lnTo>
                    <a:pt x="298629" y="641308"/>
                  </a:lnTo>
                  <a:lnTo>
                    <a:pt x="254148" y="623814"/>
                  </a:lnTo>
                  <a:lnTo>
                    <a:pt x="212697" y="605190"/>
                  </a:lnTo>
                  <a:lnTo>
                    <a:pt x="174437" y="585500"/>
                  </a:lnTo>
                  <a:lnTo>
                    <a:pt x="139528" y="564805"/>
                  </a:lnTo>
                  <a:lnTo>
                    <a:pt x="108128" y="543170"/>
                  </a:lnTo>
                  <a:lnTo>
                    <a:pt x="56496" y="497325"/>
                  </a:lnTo>
                  <a:lnTo>
                    <a:pt x="20817" y="448468"/>
                  </a:lnTo>
                  <a:lnTo>
                    <a:pt x="2366" y="397099"/>
                  </a:lnTo>
                  <a:lnTo>
                    <a:pt x="0" y="370631"/>
                  </a:lnTo>
                  <a:close/>
                </a:path>
              </a:pathLst>
            </a:custGeom>
            <a:ln w="1905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268962" y="3852164"/>
            <a:ext cx="927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44546A"/>
                </a:solidFill>
                <a:latin typeface="Trebuchet MS"/>
                <a:cs typeface="Trebuchet MS"/>
              </a:rPr>
              <a:t>41,400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3432047" y="3575303"/>
            <a:ext cx="2109470" cy="966469"/>
            <a:chOff x="3432047" y="3575303"/>
            <a:chExt cx="2109470" cy="966469"/>
          </a:xfrm>
        </p:grpSpPr>
        <p:pic>
          <p:nvPicPr>
            <p:cNvPr id="52" name="object 5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2047" y="3575303"/>
              <a:ext cx="2109216" cy="96621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543447" y="3687597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4" h="741679">
                  <a:moveTo>
                    <a:pt x="942390" y="0"/>
                  </a:moveTo>
                  <a:lnTo>
                    <a:pt x="875089" y="930"/>
                  </a:lnTo>
                  <a:lnTo>
                    <a:pt x="809064" y="3680"/>
                  </a:lnTo>
                  <a:lnTo>
                    <a:pt x="744476" y="8187"/>
                  </a:lnTo>
                  <a:lnTo>
                    <a:pt x="681485" y="14387"/>
                  </a:lnTo>
                  <a:lnTo>
                    <a:pt x="620249" y="22219"/>
                  </a:lnTo>
                  <a:lnTo>
                    <a:pt x="560927" y="31619"/>
                  </a:lnTo>
                  <a:lnTo>
                    <a:pt x="503681" y="42525"/>
                  </a:lnTo>
                  <a:lnTo>
                    <a:pt x="448668" y="54874"/>
                  </a:lnTo>
                  <a:lnTo>
                    <a:pt x="396049" y="68604"/>
                  </a:lnTo>
                  <a:lnTo>
                    <a:pt x="345983" y="83651"/>
                  </a:lnTo>
                  <a:lnTo>
                    <a:pt x="298629" y="99953"/>
                  </a:lnTo>
                  <a:lnTo>
                    <a:pt x="254148" y="117447"/>
                  </a:lnTo>
                  <a:lnTo>
                    <a:pt x="212697" y="136070"/>
                  </a:lnTo>
                  <a:lnTo>
                    <a:pt x="174437" y="155761"/>
                  </a:lnTo>
                  <a:lnTo>
                    <a:pt x="139528" y="176455"/>
                  </a:lnTo>
                  <a:lnTo>
                    <a:pt x="108128" y="198091"/>
                  </a:lnTo>
                  <a:lnTo>
                    <a:pt x="56496" y="243936"/>
                  </a:lnTo>
                  <a:lnTo>
                    <a:pt x="20817" y="292793"/>
                  </a:lnTo>
                  <a:lnTo>
                    <a:pt x="2366" y="344161"/>
                  </a:lnTo>
                  <a:lnTo>
                    <a:pt x="0" y="370630"/>
                  </a:lnTo>
                  <a:lnTo>
                    <a:pt x="2366" y="397099"/>
                  </a:lnTo>
                  <a:lnTo>
                    <a:pt x="20817" y="448467"/>
                  </a:lnTo>
                  <a:lnTo>
                    <a:pt x="56496" y="497324"/>
                  </a:lnTo>
                  <a:lnTo>
                    <a:pt x="108128" y="543169"/>
                  </a:lnTo>
                  <a:lnTo>
                    <a:pt x="139528" y="564805"/>
                  </a:lnTo>
                  <a:lnTo>
                    <a:pt x="174437" y="585499"/>
                  </a:lnTo>
                  <a:lnTo>
                    <a:pt x="212697" y="605190"/>
                  </a:lnTo>
                  <a:lnTo>
                    <a:pt x="254148" y="623814"/>
                  </a:lnTo>
                  <a:lnTo>
                    <a:pt x="298629" y="641308"/>
                  </a:lnTo>
                  <a:lnTo>
                    <a:pt x="345983" y="657610"/>
                  </a:lnTo>
                  <a:lnTo>
                    <a:pt x="396049" y="672657"/>
                  </a:lnTo>
                  <a:lnTo>
                    <a:pt x="448668" y="686387"/>
                  </a:lnTo>
                  <a:lnTo>
                    <a:pt x="503681" y="698736"/>
                  </a:lnTo>
                  <a:lnTo>
                    <a:pt x="560927" y="709642"/>
                  </a:lnTo>
                  <a:lnTo>
                    <a:pt x="620249" y="719042"/>
                  </a:lnTo>
                  <a:lnTo>
                    <a:pt x="681485" y="726874"/>
                  </a:lnTo>
                  <a:lnTo>
                    <a:pt x="744476" y="733074"/>
                  </a:lnTo>
                  <a:lnTo>
                    <a:pt x="809064" y="737581"/>
                  </a:lnTo>
                  <a:lnTo>
                    <a:pt x="875089" y="740331"/>
                  </a:lnTo>
                  <a:lnTo>
                    <a:pt x="942390" y="741262"/>
                  </a:lnTo>
                  <a:lnTo>
                    <a:pt x="1009692" y="740331"/>
                  </a:lnTo>
                  <a:lnTo>
                    <a:pt x="1075717" y="737581"/>
                  </a:lnTo>
                  <a:lnTo>
                    <a:pt x="1140305" y="733074"/>
                  </a:lnTo>
                  <a:lnTo>
                    <a:pt x="1203297" y="726874"/>
                  </a:lnTo>
                  <a:lnTo>
                    <a:pt x="1264533" y="719042"/>
                  </a:lnTo>
                  <a:lnTo>
                    <a:pt x="1323854" y="709642"/>
                  </a:lnTo>
                  <a:lnTo>
                    <a:pt x="1381101" y="698736"/>
                  </a:lnTo>
                  <a:lnTo>
                    <a:pt x="1436113" y="686387"/>
                  </a:lnTo>
                  <a:lnTo>
                    <a:pt x="1488732" y="672657"/>
                  </a:lnTo>
                  <a:lnTo>
                    <a:pt x="1538798" y="657610"/>
                  </a:lnTo>
                  <a:lnTo>
                    <a:pt x="1586152" y="641308"/>
                  </a:lnTo>
                  <a:lnTo>
                    <a:pt x="1630634" y="623814"/>
                  </a:lnTo>
                  <a:lnTo>
                    <a:pt x="1672085" y="605190"/>
                  </a:lnTo>
                  <a:lnTo>
                    <a:pt x="1710344" y="585499"/>
                  </a:lnTo>
                  <a:lnTo>
                    <a:pt x="1745254" y="564805"/>
                  </a:lnTo>
                  <a:lnTo>
                    <a:pt x="1776654" y="543169"/>
                  </a:lnTo>
                  <a:lnTo>
                    <a:pt x="1828286" y="497324"/>
                  </a:lnTo>
                  <a:lnTo>
                    <a:pt x="1863965" y="448467"/>
                  </a:lnTo>
                  <a:lnTo>
                    <a:pt x="1882416" y="397099"/>
                  </a:lnTo>
                  <a:lnTo>
                    <a:pt x="1884782" y="370630"/>
                  </a:lnTo>
                  <a:lnTo>
                    <a:pt x="1882416" y="344161"/>
                  </a:lnTo>
                  <a:lnTo>
                    <a:pt x="1863965" y="292793"/>
                  </a:lnTo>
                  <a:lnTo>
                    <a:pt x="1828286" y="243936"/>
                  </a:lnTo>
                  <a:lnTo>
                    <a:pt x="1776654" y="198091"/>
                  </a:lnTo>
                  <a:lnTo>
                    <a:pt x="1745254" y="176455"/>
                  </a:lnTo>
                  <a:lnTo>
                    <a:pt x="1710344" y="155761"/>
                  </a:lnTo>
                  <a:lnTo>
                    <a:pt x="1672085" y="136070"/>
                  </a:lnTo>
                  <a:lnTo>
                    <a:pt x="1630634" y="117447"/>
                  </a:lnTo>
                  <a:lnTo>
                    <a:pt x="1586152" y="99953"/>
                  </a:lnTo>
                  <a:lnTo>
                    <a:pt x="1538798" y="83651"/>
                  </a:lnTo>
                  <a:lnTo>
                    <a:pt x="1488732" y="68604"/>
                  </a:lnTo>
                  <a:lnTo>
                    <a:pt x="1436113" y="54874"/>
                  </a:lnTo>
                  <a:lnTo>
                    <a:pt x="1381101" y="42525"/>
                  </a:lnTo>
                  <a:lnTo>
                    <a:pt x="1323854" y="31619"/>
                  </a:lnTo>
                  <a:lnTo>
                    <a:pt x="1264533" y="22219"/>
                  </a:lnTo>
                  <a:lnTo>
                    <a:pt x="1203297" y="14387"/>
                  </a:lnTo>
                  <a:lnTo>
                    <a:pt x="1140305" y="8187"/>
                  </a:lnTo>
                  <a:lnTo>
                    <a:pt x="1075717" y="3680"/>
                  </a:lnTo>
                  <a:lnTo>
                    <a:pt x="1009692" y="930"/>
                  </a:lnTo>
                  <a:lnTo>
                    <a:pt x="942390" y="0"/>
                  </a:lnTo>
                  <a:close/>
                </a:path>
              </a:pathLst>
            </a:custGeom>
            <a:solidFill>
              <a:srgbClr val="FAF9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543447" y="3687597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4" h="741679">
                  <a:moveTo>
                    <a:pt x="0" y="370631"/>
                  </a:moveTo>
                  <a:lnTo>
                    <a:pt x="9358" y="318195"/>
                  </a:lnTo>
                  <a:lnTo>
                    <a:pt x="36583" y="268019"/>
                  </a:lnTo>
                  <a:lnTo>
                    <a:pt x="80398" y="220606"/>
                  </a:lnTo>
                  <a:lnTo>
                    <a:pt x="139528" y="176455"/>
                  </a:lnTo>
                  <a:lnTo>
                    <a:pt x="174437" y="155761"/>
                  </a:lnTo>
                  <a:lnTo>
                    <a:pt x="212697" y="136071"/>
                  </a:lnTo>
                  <a:lnTo>
                    <a:pt x="254148" y="117447"/>
                  </a:lnTo>
                  <a:lnTo>
                    <a:pt x="298629" y="99953"/>
                  </a:lnTo>
                  <a:lnTo>
                    <a:pt x="345983" y="83651"/>
                  </a:lnTo>
                  <a:lnTo>
                    <a:pt x="396049" y="68604"/>
                  </a:lnTo>
                  <a:lnTo>
                    <a:pt x="448668" y="54874"/>
                  </a:lnTo>
                  <a:lnTo>
                    <a:pt x="503681" y="42525"/>
                  </a:lnTo>
                  <a:lnTo>
                    <a:pt x="560928" y="31619"/>
                  </a:lnTo>
                  <a:lnTo>
                    <a:pt x="620249" y="22219"/>
                  </a:lnTo>
                  <a:lnTo>
                    <a:pt x="681485" y="14387"/>
                  </a:lnTo>
                  <a:lnTo>
                    <a:pt x="744477" y="8187"/>
                  </a:lnTo>
                  <a:lnTo>
                    <a:pt x="809065" y="3680"/>
                  </a:lnTo>
                  <a:lnTo>
                    <a:pt x="875089" y="930"/>
                  </a:lnTo>
                  <a:lnTo>
                    <a:pt x="942391" y="0"/>
                  </a:lnTo>
                  <a:lnTo>
                    <a:pt x="1009693" y="930"/>
                  </a:lnTo>
                  <a:lnTo>
                    <a:pt x="1075717" y="3680"/>
                  </a:lnTo>
                  <a:lnTo>
                    <a:pt x="1140305" y="8187"/>
                  </a:lnTo>
                  <a:lnTo>
                    <a:pt x="1203297" y="14387"/>
                  </a:lnTo>
                  <a:lnTo>
                    <a:pt x="1264533" y="22219"/>
                  </a:lnTo>
                  <a:lnTo>
                    <a:pt x="1323854" y="31619"/>
                  </a:lnTo>
                  <a:lnTo>
                    <a:pt x="1381101" y="42525"/>
                  </a:lnTo>
                  <a:lnTo>
                    <a:pt x="1436114" y="54874"/>
                  </a:lnTo>
                  <a:lnTo>
                    <a:pt x="1488733" y="68604"/>
                  </a:lnTo>
                  <a:lnTo>
                    <a:pt x="1538799" y="83651"/>
                  </a:lnTo>
                  <a:lnTo>
                    <a:pt x="1586153" y="99953"/>
                  </a:lnTo>
                  <a:lnTo>
                    <a:pt x="1630634" y="117447"/>
                  </a:lnTo>
                  <a:lnTo>
                    <a:pt x="1672085" y="136071"/>
                  </a:lnTo>
                  <a:lnTo>
                    <a:pt x="1710345" y="155761"/>
                  </a:lnTo>
                  <a:lnTo>
                    <a:pt x="1745254" y="176455"/>
                  </a:lnTo>
                  <a:lnTo>
                    <a:pt x="1776654" y="198091"/>
                  </a:lnTo>
                  <a:lnTo>
                    <a:pt x="1828286" y="243936"/>
                  </a:lnTo>
                  <a:lnTo>
                    <a:pt x="1863965" y="292793"/>
                  </a:lnTo>
                  <a:lnTo>
                    <a:pt x="1882416" y="344162"/>
                  </a:lnTo>
                  <a:lnTo>
                    <a:pt x="1884783" y="370631"/>
                  </a:lnTo>
                  <a:lnTo>
                    <a:pt x="1882416" y="397099"/>
                  </a:lnTo>
                  <a:lnTo>
                    <a:pt x="1863965" y="448468"/>
                  </a:lnTo>
                  <a:lnTo>
                    <a:pt x="1828286" y="497325"/>
                  </a:lnTo>
                  <a:lnTo>
                    <a:pt x="1776654" y="543170"/>
                  </a:lnTo>
                  <a:lnTo>
                    <a:pt x="1745254" y="564805"/>
                  </a:lnTo>
                  <a:lnTo>
                    <a:pt x="1710345" y="585500"/>
                  </a:lnTo>
                  <a:lnTo>
                    <a:pt x="1672085" y="605190"/>
                  </a:lnTo>
                  <a:lnTo>
                    <a:pt x="1630634" y="623814"/>
                  </a:lnTo>
                  <a:lnTo>
                    <a:pt x="1586153" y="641308"/>
                  </a:lnTo>
                  <a:lnTo>
                    <a:pt x="1538799" y="657610"/>
                  </a:lnTo>
                  <a:lnTo>
                    <a:pt x="1488733" y="672657"/>
                  </a:lnTo>
                  <a:lnTo>
                    <a:pt x="1436114" y="686387"/>
                  </a:lnTo>
                  <a:lnTo>
                    <a:pt x="1381101" y="698736"/>
                  </a:lnTo>
                  <a:lnTo>
                    <a:pt x="1323854" y="709642"/>
                  </a:lnTo>
                  <a:lnTo>
                    <a:pt x="1264533" y="719042"/>
                  </a:lnTo>
                  <a:lnTo>
                    <a:pt x="1203297" y="726874"/>
                  </a:lnTo>
                  <a:lnTo>
                    <a:pt x="1140305" y="733074"/>
                  </a:lnTo>
                  <a:lnTo>
                    <a:pt x="1075717" y="737581"/>
                  </a:lnTo>
                  <a:lnTo>
                    <a:pt x="1009693" y="740331"/>
                  </a:lnTo>
                  <a:lnTo>
                    <a:pt x="942391" y="741262"/>
                  </a:lnTo>
                  <a:lnTo>
                    <a:pt x="875089" y="740331"/>
                  </a:lnTo>
                  <a:lnTo>
                    <a:pt x="809065" y="737581"/>
                  </a:lnTo>
                  <a:lnTo>
                    <a:pt x="744477" y="733074"/>
                  </a:lnTo>
                  <a:lnTo>
                    <a:pt x="681485" y="726874"/>
                  </a:lnTo>
                  <a:lnTo>
                    <a:pt x="620249" y="719042"/>
                  </a:lnTo>
                  <a:lnTo>
                    <a:pt x="560928" y="709642"/>
                  </a:lnTo>
                  <a:lnTo>
                    <a:pt x="503681" y="698736"/>
                  </a:lnTo>
                  <a:lnTo>
                    <a:pt x="448668" y="686387"/>
                  </a:lnTo>
                  <a:lnTo>
                    <a:pt x="396049" y="672657"/>
                  </a:lnTo>
                  <a:lnTo>
                    <a:pt x="345983" y="657610"/>
                  </a:lnTo>
                  <a:lnTo>
                    <a:pt x="298629" y="641308"/>
                  </a:lnTo>
                  <a:lnTo>
                    <a:pt x="254148" y="623814"/>
                  </a:lnTo>
                  <a:lnTo>
                    <a:pt x="212697" y="605190"/>
                  </a:lnTo>
                  <a:lnTo>
                    <a:pt x="174437" y="585500"/>
                  </a:lnTo>
                  <a:lnTo>
                    <a:pt x="139528" y="564805"/>
                  </a:lnTo>
                  <a:lnTo>
                    <a:pt x="108128" y="543170"/>
                  </a:lnTo>
                  <a:lnTo>
                    <a:pt x="56496" y="497325"/>
                  </a:lnTo>
                  <a:lnTo>
                    <a:pt x="20817" y="448468"/>
                  </a:lnTo>
                  <a:lnTo>
                    <a:pt x="2366" y="397099"/>
                  </a:lnTo>
                  <a:lnTo>
                    <a:pt x="0" y="370631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3326970" y="2807208"/>
            <a:ext cx="2233295" cy="143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6995">
              <a:lnSpc>
                <a:spcPct val="100000"/>
              </a:lnSpc>
              <a:spcBef>
                <a:spcPts val="100"/>
              </a:spcBef>
              <a:tabLst>
                <a:tab pos="677545" algn="l"/>
                <a:tab pos="1247775" algn="l"/>
                <a:tab pos="1844675" algn="l"/>
              </a:tabLst>
            </a:pP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2018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2019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80">
                <a:solidFill>
                  <a:srgbClr val="595959"/>
                </a:solidFill>
                <a:latin typeface="Arial MT"/>
                <a:cs typeface="Arial MT"/>
              </a:rPr>
              <a:t>2020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100" spc="75">
                <a:solidFill>
                  <a:srgbClr val="595959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  <a:p>
            <a:pPr marR="177800">
              <a:lnSpc>
                <a:spcPct val="105000"/>
              </a:lnSpc>
              <a:spcBef>
                <a:spcPts val="980"/>
              </a:spcBef>
            </a:pPr>
            <a:r>
              <a:rPr dirty="0" sz="1200" spc="60">
                <a:latin typeface="Arial MT"/>
                <a:cs typeface="Arial MT"/>
              </a:rPr>
              <a:t>Public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Charging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Stations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China</a:t>
            </a:r>
            <a:endParaRPr sz="1200">
              <a:latin typeface="Arial MT"/>
              <a:cs typeface="Arial MT"/>
            </a:endParaRPr>
          </a:p>
          <a:p>
            <a:pPr>
              <a:lnSpc>
                <a:spcPts val="1190"/>
              </a:lnSpc>
            </a:pPr>
            <a:r>
              <a:rPr dirty="0" sz="1150" i="1">
                <a:latin typeface="Arial"/>
                <a:cs typeface="Arial"/>
              </a:rPr>
              <a:t>(As</a:t>
            </a:r>
            <a:r>
              <a:rPr dirty="0" sz="1150" spc="15" i="1">
                <a:latin typeface="Arial"/>
                <a:cs typeface="Arial"/>
              </a:rPr>
              <a:t> </a:t>
            </a:r>
            <a:r>
              <a:rPr dirty="0" sz="1150" spc="50" i="1">
                <a:latin typeface="Arial"/>
                <a:cs typeface="Arial"/>
              </a:rPr>
              <a:t>of</a:t>
            </a:r>
            <a:r>
              <a:rPr dirty="0" sz="1150" spc="25" i="1">
                <a:latin typeface="Arial"/>
                <a:cs typeface="Arial"/>
              </a:rPr>
              <a:t> </a:t>
            </a:r>
            <a:r>
              <a:rPr dirty="0" sz="1150" spc="-10" i="1">
                <a:latin typeface="Arial"/>
                <a:cs typeface="Arial"/>
              </a:rPr>
              <a:t>2021)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50">
              <a:latin typeface="Arial"/>
              <a:cs typeface="Arial"/>
            </a:endParaRPr>
          </a:p>
          <a:p>
            <a:pPr algn="ctr" marL="84455">
              <a:lnSpc>
                <a:spcPct val="100000"/>
              </a:lnSpc>
            </a:pPr>
            <a:r>
              <a:rPr dirty="0" sz="2400" spc="-10">
                <a:solidFill>
                  <a:srgbClr val="FFC000"/>
                </a:solidFill>
                <a:latin typeface="Trebuchet MS"/>
                <a:cs typeface="Trebuchet MS"/>
              </a:rPr>
              <a:t>807,000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6190488" y="3575303"/>
            <a:ext cx="2109470" cy="966469"/>
            <a:chOff x="6190488" y="3575303"/>
            <a:chExt cx="2109470" cy="966469"/>
          </a:xfrm>
        </p:grpSpPr>
        <p:pic>
          <p:nvPicPr>
            <p:cNvPr id="57" name="object 5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0488" y="3575303"/>
              <a:ext cx="2109216" cy="966216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303123" y="3687451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5" h="741679">
                  <a:moveTo>
                    <a:pt x="942392" y="0"/>
                  </a:moveTo>
                  <a:lnTo>
                    <a:pt x="875090" y="930"/>
                  </a:lnTo>
                  <a:lnTo>
                    <a:pt x="809065" y="3680"/>
                  </a:lnTo>
                  <a:lnTo>
                    <a:pt x="744477" y="8187"/>
                  </a:lnTo>
                  <a:lnTo>
                    <a:pt x="681485" y="14387"/>
                  </a:lnTo>
                  <a:lnTo>
                    <a:pt x="620249" y="22219"/>
                  </a:lnTo>
                  <a:lnTo>
                    <a:pt x="560928" y="31619"/>
                  </a:lnTo>
                  <a:lnTo>
                    <a:pt x="503681" y="42525"/>
                  </a:lnTo>
                  <a:lnTo>
                    <a:pt x="448669" y="54874"/>
                  </a:lnTo>
                  <a:lnTo>
                    <a:pt x="396050" y="68604"/>
                  </a:lnTo>
                  <a:lnTo>
                    <a:pt x="345983" y="83651"/>
                  </a:lnTo>
                  <a:lnTo>
                    <a:pt x="298630" y="99953"/>
                  </a:lnTo>
                  <a:lnTo>
                    <a:pt x="254148" y="117447"/>
                  </a:lnTo>
                  <a:lnTo>
                    <a:pt x="212697" y="136070"/>
                  </a:lnTo>
                  <a:lnTo>
                    <a:pt x="174437" y="155761"/>
                  </a:lnTo>
                  <a:lnTo>
                    <a:pt x="139528" y="176455"/>
                  </a:lnTo>
                  <a:lnTo>
                    <a:pt x="108128" y="198091"/>
                  </a:lnTo>
                  <a:lnTo>
                    <a:pt x="56496" y="243936"/>
                  </a:lnTo>
                  <a:lnTo>
                    <a:pt x="20817" y="292793"/>
                  </a:lnTo>
                  <a:lnTo>
                    <a:pt x="2366" y="344161"/>
                  </a:lnTo>
                  <a:lnTo>
                    <a:pt x="0" y="370630"/>
                  </a:lnTo>
                  <a:lnTo>
                    <a:pt x="2366" y="397099"/>
                  </a:lnTo>
                  <a:lnTo>
                    <a:pt x="20817" y="448467"/>
                  </a:lnTo>
                  <a:lnTo>
                    <a:pt x="56496" y="497324"/>
                  </a:lnTo>
                  <a:lnTo>
                    <a:pt x="108128" y="543169"/>
                  </a:lnTo>
                  <a:lnTo>
                    <a:pt x="139528" y="564805"/>
                  </a:lnTo>
                  <a:lnTo>
                    <a:pt x="174437" y="585499"/>
                  </a:lnTo>
                  <a:lnTo>
                    <a:pt x="212697" y="605189"/>
                  </a:lnTo>
                  <a:lnTo>
                    <a:pt x="254148" y="623813"/>
                  </a:lnTo>
                  <a:lnTo>
                    <a:pt x="298630" y="641307"/>
                  </a:lnTo>
                  <a:lnTo>
                    <a:pt x="345983" y="657609"/>
                  </a:lnTo>
                  <a:lnTo>
                    <a:pt x="396050" y="672656"/>
                  </a:lnTo>
                  <a:lnTo>
                    <a:pt x="448669" y="686386"/>
                  </a:lnTo>
                  <a:lnTo>
                    <a:pt x="503681" y="698735"/>
                  </a:lnTo>
                  <a:lnTo>
                    <a:pt x="560928" y="709641"/>
                  </a:lnTo>
                  <a:lnTo>
                    <a:pt x="620249" y="719041"/>
                  </a:lnTo>
                  <a:lnTo>
                    <a:pt x="681485" y="726873"/>
                  </a:lnTo>
                  <a:lnTo>
                    <a:pt x="744477" y="733073"/>
                  </a:lnTo>
                  <a:lnTo>
                    <a:pt x="809065" y="737580"/>
                  </a:lnTo>
                  <a:lnTo>
                    <a:pt x="875090" y="740330"/>
                  </a:lnTo>
                  <a:lnTo>
                    <a:pt x="942392" y="741260"/>
                  </a:lnTo>
                  <a:lnTo>
                    <a:pt x="1009693" y="740330"/>
                  </a:lnTo>
                  <a:lnTo>
                    <a:pt x="1075718" y="737580"/>
                  </a:lnTo>
                  <a:lnTo>
                    <a:pt x="1140306" y="733073"/>
                  </a:lnTo>
                  <a:lnTo>
                    <a:pt x="1203297" y="726873"/>
                  </a:lnTo>
                  <a:lnTo>
                    <a:pt x="1264533" y="719041"/>
                  </a:lnTo>
                  <a:lnTo>
                    <a:pt x="1323854" y="709641"/>
                  </a:lnTo>
                  <a:lnTo>
                    <a:pt x="1381101" y="698735"/>
                  </a:lnTo>
                  <a:lnTo>
                    <a:pt x="1436113" y="686386"/>
                  </a:lnTo>
                  <a:lnTo>
                    <a:pt x="1488733" y="672656"/>
                  </a:lnTo>
                  <a:lnTo>
                    <a:pt x="1538799" y="657609"/>
                  </a:lnTo>
                  <a:lnTo>
                    <a:pt x="1586152" y="641307"/>
                  </a:lnTo>
                  <a:lnTo>
                    <a:pt x="1630634" y="623813"/>
                  </a:lnTo>
                  <a:lnTo>
                    <a:pt x="1672085" y="605189"/>
                  </a:lnTo>
                  <a:lnTo>
                    <a:pt x="1710344" y="585499"/>
                  </a:lnTo>
                  <a:lnTo>
                    <a:pt x="1745254" y="564805"/>
                  </a:lnTo>
                  <a:lnTo>
                    <a:pt x="1776654" y="543169"/>
                  </a:lnTo>
                  <a:lnTo>
                    <a:pt x="1828286" y="497324"/>
                  </a:lnTo>
                  <a:lnTo>
                    <a:pt x="1863965" y="448467"/>
                  </a:lnTo>
                  <a:lnTo>
                    <a:pt x="1882416" y="397099"/>
                  </a:lnTo>
                  <a:lnTo>
                    <a:pt x="1884782" y="370630"/>
                  </a:lnTo>
                  <a:lnTo>
                    <a:pt x="1882416" y="344161"/>
                  </a:lnTo>
                  <a:lnTo>
                    <a:pt x="1863965" y="292793"/>
                  </a:lnTo>
                  <a:lnTo>
                    <a:pt x="1828286" y="243936"/>
                  </a:lnTo>
                  <a:lnTo>
                    <a:pt x="1776654" y="198091"/>
                  </a:lnTo>
                  <a:lnTo>
                    <a:pt x="1745254" y="176455"/>
                  </a:lnTo>
                  <a:lnTo>
                    <a:pt x="1710344" y="155761"/>
                  </a:lnTo>
                  <a:lnTo>
                    <a:pt x="1672085" y="136070"/>
                  </a:lnTo>
                  <a:lnTo>
                    <a:pt x="1630634" y="117447"/>
                  </a:lnTo>
                  <a:lnTo>
                    <a:pt x="1586152" y="99953"/>
                  </a:lnTo>
                  <a:lnTo>
                    <a:pt x="1538799" y="83651"/>
                  </a:lnTo>
                  <a:lnTo>
                    <a:pt x="1488733" y="68604"/>
                  </a:lnTo>
                  <a:lnTo>
                    <a:pt x="1436113" y="54874"/>
                  </a:lnTo>
                  <a:lnTo>
                    <a:pt x="1381101" y="42525"/>
                  </a:lnTo>
                  <a:lnTo>
                    <a:pt x="1323854" y="31619"/>
                  </a:lnTo>
                  <a:lnTo>
                    <a:pt x="1264533" y="22219"/>
                  </a:lnTo>
                  <a:lnTo>
                    <a:pt x="1203297" y="14387"/>
                  </a:lnTo>
                  <a:lnTo>
                    <a:pt x="1140306" y="8187"/>
                  </a:lnTo>
                  <a:lnTo>
                    <a:pt x="1075718" y="3680"/>
                  </a:lnTo>
                  <a:lnTo>
                    <a:pt x="1009693" y="930"/>
                  </a:lnTo>
                  <a:lnTo>
                    <a:pt x="942392" y="0"/>
                  </a:lnTo>
                  <a:close/>
                </a:path>
              </a:pathLst>
            </a:custGeom>
            <a:solidFill>
              <a:srgbClr val="EFF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303123" y="3687451"/>
              <a:ext cx="1885314" cy="741680"/>
            </a:xfrm>
            <a:custGeom>
              <a:avLst/>
              <a:gdLst/>
              <a:ahLst/>
              <a:cxnLst/>
              <a:rect l="l" t="t" r="r" b="b"/>
              <a:pathLst>
                <a:path w="1885315" h="741679">
                  <a:moveTo>
                    <a:pt x="0" y="370631"/>
                  </a:moveTo>
                  <a:lnTo>
                    <a:pt x="9358" y="318195"/>
                  </a:lnTo>
                  <a:lnTo>
                    <a:pt x="36583" y="268019"/>
                  </a:lnTo>
                  <a:lnTo>
                    <a:pt x="80398" y="220606"/>
                  </a:lnTo>
                  <a:lnTo>
                    <a:pt x="139528" y="176455"/>
                  </a:lnTo>
                  <a:lnTo>
                    <a:pt x="174437" y="155761"/>
                  </a:lnTo>
                  <a:lnTo>
                    <a:pt x="212697" y="136071"/>
                  </a:lnTo>
                  <a:lnTo>
                    <a:pt x="254148" y="117447"/>
                  </a:lnTo>
                  <a:lnTo>
                    <a:pt x="298629" y="99953"/>
                  </a:lnTo>
                  <a:lnTo>
                    <a:pt x="345983" y="83651"/>
                  </a:lnTo>
                  <a:lnTo>
                    <a:pt x="396049" y="68604"/>
                  </a:lnTo>
                  <a:lnTo>
                    <a:pt x="448668" y="54874"/>
                  </a:lnTo>
                  <a:lnTo>
                    <a:pt x="503681" y="42525"/>
                  </a:lnTo>
                  <a:lnTo>
                    <a:pt x="560928" y="31619"/>
                  </a:lnTo>
                  <a:lnTo>
                    <a:pt x="620249" y="22219"/>
                  </a:lnTo>
                  <a:lnTo>
                    <a:pt x="681485" y="14387"/>
                  </a:lnTo>
                  <a:lnTo>
                    <a:pt x="744477" y="8187"/>
                  </a:lnTo>
                  <a:lnTo>
                    <a:pt x="809065" y="3680"/>
                  </a:lnTo>
                  <a:lnTo>
                    <a:pt x="875089" y="930"/>
                  </a:lnTo>
                  <a:lnTo>
                    <a:pt x="942391" y="0"/>
                  </a:lnTo>
                  <a:lnTo>
                    <a:pt x="1009693" y="930"/>
                  </a:lnTo>
                  <a:lnTo>
                    <a:pt x="1075717" y="3680"/>
                  </a:lnTo>
                  <a:lnTo>
                    <a:pt x="1140305" y="8187"/>
                  </a:lnTo>
                  <a:lnTo>
                    <a:pt x="1203297" y="14387"/>
                  </a:lnTo>
                  <a:lnTo>
                    <a:pt x="1264533" y="22219"/>
                  </a:lnTo>
                  <a:lnTo>
                    <a:pt x="1323854" y="31619"/>
                  </a:lnTo>
                  <a:lnTo>
                    <a:pt x="1381101" y="42525"/>
                  </a:lnTo>
                  <a:lnTo>
                    <a:pt x="1436114" y="54874"/>
                  </a:lnTo>
                  <a:lnTo>
                    <a:pt x="1488733" y="68604"/>
                  </a:lnTo>
                  <a:lnTo>
                    <a:pt x="1538799" y="83651"/>
                  </a:lnTo>
                  <a:lnTo>
                    <a:pt x="1586153" y="99953"/>
                  </a:lnTo>
                  <a:lnTo>
                    <a:pt x="1630634" y="117447"/>
                  </a:lnTo>
                  <a:lnTo>
                    <a:pt x="1672085" y="136071"/>
                  </a:lnTo>
                  <a:lnTo>
                    <a:pt x="1710345" y="155761"/>
                  </a:lnTo>
                  <a:lnTo>
                    <a:pt x="1745254" y="176455"/>
                  </a:lnTo>
                  <a:lnTo>
                    <a:pt x="1776654" y="198091"/>
                  </a:lnTo>
                  <a:lnTo>
                    <a:pt x="1828286" y="243936"/>
                  </a:lnTo>
                  <a:lnTo>
                    <a:pt x="1863965" y="292793"/>
                  </a:lnTo>
                  <a:lnTo>
                    <a:pt x="1882416" y="344162"/>
                  </a:lnTo>
                  <a:lnTo>
                    <a:pt x="1884783" y="370631"/>
                  </a:lnTo>
                  <a:lnTo>
                    <a:pt x="1882416" y="397099"/>
                  </a:lnTo>
                  <a:lnTo>
                    <a:pt x="1863965" y="448468"/>
                  </a:lnTo>
                  <a:lnTo>
                    <a:pt x="1828286" y="497325"/>
                  </a:lnTo>
                  <a:lnTo>
                    <a:pt x="1776654" y="543170"/>
                  </a:lnTo>
                  <a:lnTo>
                    <a:pt x="1745254" y="564805"/>
                  </a:lnTo>
                  <a:lnTo>
                    <a:pt x="1710345" y="585500"/>
                  </a:lnTo>
                  <a:lnTo>
                    <a:pt x="1672085" y="605190"/>
                  </a:lnTo>
                  <a:lnTo>
                    <a:pt x="1630634" y="623814"/>
                  </a:lnTo>
                  <a:lnTo>
                    <a:pt x="1586153" y="641308"/>
                  </a:lnTo>
                  <a:lnTo>
                    <a:pt x="1538799" y="657610"/>
                  </a:lnTo>
                  <a:lnTo>
                    <a:pt x="1488733" y="672657"/>
                  </a:lnTo>
                  <a:lnTo>
                    <a:pt x="1436114" y="686387"/>
                  </a:lnTo>
                  <a:lnTo>
                    <a:pt x="1381101" y="698736"/>
                  </a:lnTo>
                  <a:lnTo>
                    <a:pt x="1323854" y="709642"/>
                  </a:lnTo>
                  <a:lnTo>
                    <a:pt x="1264533" y="719042"/>
                  </a:lnTo>
                  <a:lnTo>
                    <a:pt x="1203297" y="726874"/>
                  </a:lnTo>
                  <a:lnTo>
                    <a:pt x="1140305" y="733074"/>
                  </a:lnTo>
                  <a:lnTo>
                    <a:pt x="1075717" y="737581"/>
                  </a:lnTo>
                  <a:lnTo>
                    <a:pt x="1009693" y="740331"/>
                  </a:lnTo>
                  <a:lnTo>
                    <a:pt x="942391" y="741262"/>
                  </a:lnTo>
                  <a:lnTo>
                    <a:pt x="875089" y="740331"/>
                  </a:lnTo>
                  <a:lnTo>
                    <a:pt x="809065" y="737581"/>
                  </a:lnTo>
                  <a:lnTo>
                    <a:pt x="744477" y="733074"/>
                  </a:lnTo>
                  <a:lnTo>
                    <a:pt x="681485" y="726874"/>
                  </a:lnTo>
                  <a:lnTo>
                    <a:pt x="620249" y="719042"/>
                  </a:lnTo>
                  <a:lnTo>
                    <a:pt x="560928" y="709642"/>
                  </a:lnTo>
                  <a:lnTo>
                    <a:pt x="503681" y="698736"/>
                  </a:lnTo>
                  <a:lnTo>
                    <a:pt x="448668" y="686387"/>
                  </a:lnTo>
                  <a:lnTo>
                    <a:pt x="396049" y="672657"/>
                  </a:lnTo>
                  <a:lnTo>
                    <a:pt x="345983" y="657610"/>
                  </a:lnTo>
                  <a:lnTo>
                    <a:pt x="298629" y="641308"/>
                  </a:lnTo>
                  <a:lnTo>
                    <a:pt x="254148" y="623814"/>
                  </a:lnTo>
                  <a:lnTo>
                    <a:pt x="212697" y="605190"/>
                  </a:lnTo>
                  <a:lnTo>
                    <a:pt x="174437" y="585500"/>
                  </a:lnTo>
                  <a:lnTo>
                    <a:pt x="139528" y="564805"/>
                  </a:lnTo>
                  <a:lnTo>
                    <a:pt x="108128" y="543170"/>
                  </a:lnTo>
                  <a:lnTo>
                    <a:pt x="56496" y="497325"/>
                  </a:lnTo>
                  <a:lnTo>
                    <a:pt x="20817" y="448468"/>
                  </a:lnTo>
                  <a:lnTo>
                    <a:pt x="2366" y="397099"/>
                  </a:lnTo>
                  <a:lnTo>
                    <a:pt x="0" y="370631"/>
                  </a:lnTo>
                  <a:close/>
                </a:path>
              </a:pathLst>
            </a:custGeom>
            <a:ln w="19050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6870865" y="3849116"/>
            <a:ext cx="762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70AD47"/>
                </a:solidFill>
                <a:latin typeface="Trebuchet MS"/>
                <a:cs typeface="Trebuchet MS"/>
              </a:rPr>
              <a:t>1,800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413244" y="1114718"/>
            <a:ext cx="7226300" cy="3528060"/>
            <a:chOff x="1413244" y="1114718"/>
            <a:chExt cx="7226300" cy="3528060"/>
          </a:xfrm>
        </p:grpSpPr>
        <p:sp>
          <p:nvSpPr>
            <p:cNvPr id="62" name="object 62" descr=""/>
            <p:cNvSpPr/>
            <p:nvPr/>
          </p:nvSpPr>
          <p:spPr>
            <a:xfrm>
              <a:off x="5855202" y="1129005"/>
              <a:ext cx="2769870" cy="3499485"/>
            </a:xfrm>
            <a:custGeom>
              <a:avLst/>
              <a:gdLst/>
              <a:ahLst/>
              <a:cxnLst/>
              <a:rect l="l" t="t" r="r" b="b"/>
              <a:pathLst>
                <a:path w="2769870" h="3499485">
                  <a:moveTo>
                    <a:pt x="0" y="0"/>
                  </a:moveTo>
                  <a:lnTo>
                    <a:pt x="2769771" y="0"/>
                  </a:lnTo>
                  <a:lnTo>
                    <a:pt x="2769771" y="3498977"/>
                  </a:lnTo>
                  <a:lnTo>
                    <a:pt x="0" y="34989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3244" y="1260417"/>
              <a:ext cx="595487" cy="35729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4522" y="1262867"/>
              <a:ext cx="528593" cy="35239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88907" y="1266634"/>
              <a:ext cx="518229" cy="344857"/>
            </a:xfrm>
            <a:prstGeom prst="rect">
              <a:avLst/>
            </a:prstGeom>
          </p:spPr>
        </p:pic>
      </p:grpSp>
      <p:grpSp>
        <p:nvGrpSpPr>
          <p:cNvPr id="66" name="object 66" descr=""/>
          <p:cNvGrpSpPr/>
          <p:nvPr/>
        </p:nvGrpSpPr>
        <p:grpSpPr>
          <a:xfrm>
            <a:off x="8742784" y="1155217"/>
            <a:ext cx="3101975" cy="3554095"/>
            <a:chOff x="8742784" y="1155217"/>
            <a:chExt cx="3101975" cy="3554095"/>
          </a:xfrm>
        </p:grpSpPr>
        <p:sp>
          <p:nvSpPr>
            <p:cNvPr id="67" name="object 67" descr=""/>
            <p:cNvSpPr/>
            <p:nvPr/>
          </p:nvSpPr>
          <p:spPr>
            <a:xfrm>
              <a:off x="8859282" y="1155217"/>
              <a:ext cx="0" cy="3474085"/>
            </a:xfrm>
            <a:custGeom>
              <a:avLst/>
              <a:gdLst/>
              <a:ahLst/>
              <a:cxnLst/>
              <a:rect l="l" t="t" r="r" b="b"/>
              <a:pathLst>
                <a:path w="0" h="3474085">
                  <a:moveTo>
                    <a:pt x="0" y="0"/>
                  </a:moveTo>
                  <a:lnTo>
                    <a:pt x="1" y="3474086"/>
                  </a:lnTo>
                </a:path>
              </a:pathLst>
            </a:custGeom>
            <a:ln w="635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742784" y="2672401"/>
              <a:ext cx="252095" cy="412750"/>
            </a:xfrm>
            <a:custGeom>
              <a:avLst/>
              <a:gdLst/>
              <a:ahLst/>
              <a:cxnLst/>
              <a:rect l="l" t="t" r="r" b="b"/>
              <a:pathLst>
                <a:path w="252095" h="412750">
                  <a:moveTo>
                    <a:pt x="125961" y="0"/>
                  </a:moveTo>
                  <a:lnTo>
                    <a:pt x="0" y="0"/>
                  </a:lnTo>
                  <a:lnTo>
                    <a:pt x="125961" y="206093"/>
                  </a:lnTo>
                  <a:lnTo>
                    <a:pt x="0" y="412186"/>
                  </a:lnTo>
                  <a:lnTo>
                    <a:pt x="125961" y="412186"/>
                  </a:lnTo>
                  <a:lnTo>
                    <a:pt x="251921" y="206093"/>
                  </a:lnTo>
                  <a:lnTo>
                    <a:pt x="125961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06256" y="2020823"/>
              <a:ext cx="2938272" cy="56387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9003907" y="2097363"/>
              <a:ext cx="2740660" cy="412750"/>
            </a:xfrm>
            <a:custGeom>
              <a:avLst/>
              <a:gdLst/>
              <a:ahLst/>
              <a:cxnLst/>
              <a:rect l="l" t="t" r="r" b="b"/>
              <a:pathLst>
                <a:path w="2740659" h="412750">
                  <a:moveTo>
                    <a:pt x="0" y="53799"/>
                  </a:moveTo>
                  <a:lnTo>
                    <a:pt x="4227" y="32858"/>
                  </a:lnTo>
                  <a:lnTo>
                    <a:pt x="15757" y="15757"/>
                  </a:lnTo>
                  <a:lnTo>
                    <a:pt x="32858" y="4227"/>
                  </a:lnTo>
                  <a:lnTo>
                    <a:pt x="53799" y="0"/>
                  </a:lnTo>
                  <a:lnTo>
                    <a:pt x="2686499" y="0"/>
                  </a:lnTo>
                  <a:lnTo>
                    <a:pt x="2707439" y="4227"/>
                  </a:lnTo>
                  <a:lnTo>
                    <a:pt x="2724540" y="15757"/>
                  </a:lnTo>
                  <a:lnTo>
                    <a:pt x="2736070" y="32858"/>
                  </a:lnTo>
                  <a:lnTo>
                    <a:pt x="2740298" y="53799"/>
                  </a:lnTo>
                  <a:lnTo>
                    <a:pt x="2740298" y="358387"/>
                  </a:lnTo>
                  <a:lnTo>
                    <a:pt x="2736070" y="379328"/>
                  </a:lnTo>
                  <a:lnTo>
                    <a:pt x="2724540" y="396429"/>
                  </a:lnTo>
                  <a:lnTo>
                    <a:pt x="2707439" y="407959"/>
                  </a:lnTo>
                  <a:lnTo>
                    <a:pt x="2686499" y="412187"/>
                  </a:lnTo>
                  <a:lnTo>
                    <a:pt x="53799" y="412187"/>
                  </a:lnTo>
                  <a:lnTo>
                    <a:pt x="32858" y="407959"/>
                  </a:lnTo>
                  <a:lnTo>
                    <a:pt x="15757" y="396429"/>
                  </a:lnTo>
                  <a:lnTo>
                    <a:pt x="4227" y="379328"/>
                  </a:lnTo>
                  <a:lnTo>
                    <a:pt x="0" y="358387"/>
                  </a:lnTo>
                  <a:lnTo>
                    <a:pt x="0" y="53799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190666" y="1851059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30">
                  <a:moveTo>
                    <a:pt x="183389" y="0"/>
                  </a:moveTo>
                  <a:lnTo>
                    <a:pt x="134637" y="6550"/>
                  </a:lnTo>
                  <a:lnTo>
                    <a:pt x="90829" y="25037"/>
                  </a:lnTo>
                  <a:lnTo>
                    <a:pt x="53713" y="53713"/>
                  </a:lnTo>
                  <a:lnTo>
                    <a:pt x="25038" y="90828"/>
                  </a:lnTo>
                  <a:lnTo>
                    <a:pt x="6550" y="134636"/>
                  </a:lnTo>
                  <a:lnTo>
                    <a:pt x="0" y="183389"/>
                  </a:lnTo>
                  <a:lnTo>
                    <a:pt x="6550" y="232141"/>
                  </a:lnTo>
                  <a:lnTo>
                    <a:pt x="25038" y="275949"/>
                  </a:lnTo>
                  <a:lnTo>
                    <a:pt x="53713" y="313064"/>
                  </a:lnTo>
                  <a:lnTo>
                    <a:pt x="90829" y="341740"/>
                  </a:lnTo>
                  <a:lnTo>
                    <a:pt x="134637" y="360227"/>
                  </a:lnTo>
                  <a:lnTo>
                    <a:pt x="183389" y="366778"/>
                  </a:lnTo>
                  <a:lnTo>
                    <a:pt x="232141" y="360227"/>
                  </a:lnTo>
                  <a:lnTo>
                    <a:pt x="275949" y="341740"/>
                  </a:lnTo>
                  <a:lnTo>
                    <a:pt x="313065" y="313064"/>
                  </a:lnTo>
                  <a:lnTo>
                    <a:pt x="341741" y="275949"/>
                  </a:lnTo>
                  <a:lnTo>
                    <a:pt x="360228" y="232141"/>
                  </a:lnTo>
                  <a:lnTo>
                    <a:pt x="366779" y="183389"/>
                  </a:lnTo>
                  <a:lnTo>
                    <a:pt x="360228" y="134636"/>
                  </a:lnTo>
                  <a:lnTo>
                    <a:pt x="341741" y="90828"/>
                  </a:lnTo>
                  <a:lnTo>
                    <a:pt x="313065" y="53713"/>
                  </a:lnTo>
                  <a:lnTo>
                    <a:pt x="275949" y="25037"/>
                  </a:lnTo>
                  <a:lnTo>
                    <a:pt x="232141" y="6550"/>
                  </a:lnTo>
                  <a:lnTo>
                    <a:pt x="18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190666" y="1851059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30">
                  <a:moveTo>
                    <a:pt x="0" y="183389"/>
                  </a:moveTo>
                  <a:lnTo>
                    <a:pt x="6550" y="134637"/>
                  </a:lnTo>
                  <a:lnTo>
                    <a:pt x="25038" y="90829"/>
                  </a:lnTo>
                  <a:lnTo>
                    <a:pt x="53713" y="53713"/>
                  </a:lnTo>
                  <a:lnTo>
                    <a:pt x="90829" y="25038"/>
                  </a:lnTo>
                  <a:lnTo>
                    <a:pt x="134637" y="6550"/>
                  </a:lnTo>
                  <a:lnTo>
                    <a:pt x="183389" y="0"/>
                  </a:lnTo>
                  <a:lnTo>
                    <a:pt x="232141" y="6550"/>
                  </a:lnTo>
                  <a:lnTo>
                    <a:pt x="275949" y="25038"/>
                  </a:lnTo>
                  <a:lnTo>
                    <a:pt x="313065" y="53713"/>
                  </a:lnTo>
                  <a:lnTo>
                    <a:pt x="341740" y="90829"/>
                  </a:lnTo>
                  <a:lnTo>
                    <a:pt x="360228" y="134637"/>
                  </a:lnTo>
                  <a:lnTo>
                    <a:pt x="366779" y="183389"/>
                  </a:lnTo>
                  <a:lnTo>
                    <a:pt x="360228" y="232141"/>
                  </a:lnTo>
                  <a:lnTo>
                    <a:pt x="341740" y="275949"/>
                  </a:lnTo>
                  <a:lnTo>
                    <a:pt x="313065" y="313065"/>
                  </a:lnTo>
                  <a:lnTo>
                    <a:pt x="275949" y="341740"/>
                  </a:lnTo>
                  <a:lnTo>
                    <a:pt x="232141" y="360228"/>
                  </a:lnTo>
                  <a:lnTo>
                    <a:pt x="183389" y="366779"/>
                  </a:lnTo>
                  <a:lnTo>
                    <a:pt x="134637" y="360228"/>
                  </a:lnTo>
                  <a:lnTo>
                    <a:pt x="90829" y="341740"/>
                  </a:lnTo>
                  <a:lnTo>
                    <a:pt x="53713" y="313065"/>
                  </a:lnTo>
                  <a:lnTo>
                    <a:pt x="25038" y="275949"/>
                  </a:lnTo>
                  <a:lnTo>
                    <a:pt x="6550" y="232141"/>
                  </a:lnTo>
                  <a:lnTo>
                    <a:pt x="0" y="183389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06256" y="2724911"/>
              <a:ext cx="2938272" cy="563879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9003907" y="2800003"/>
              <a:ext cx="2740660" cy="412750"/>
            </a:xfrm>
            <a:custGeom>
              <a:avLst/>
              <a:gdLst/>
              <a:ahLst/>
              <a:cxnLst/>
              <a:rect l="l" t="t" r="r" b="b"/>
              <a:pathLst>
                <a:path w="2740659" h="412750">
                  <a:moveTo>
                    <a:pt x="0" y="53799"/>
                  </a:moveTo>
                  <a:lnTo>
                    <a:pt x="4227" y="32858"/>
                  </a:lnTo>
                  <a:lnTo>
                    <a:pt x="15757" y="15757"/>
                  </a:lnTo>
                  <a:lnTo>
                    <a:pt x="32858" y="4227"/>
                  </a:lnTo>
                  <a:lnTo>
                    <a:pt x="53799" y="0"/>
                  </a:lnTo>
                  <a:lnTo>
                    <a:pt x="2686499" y="0"/>
                  </a:lnTo>
                  <a:lnTo>
                    <a:pt x="2707439" y="4227"/>
                  </a:lnTo>
                  <a:lnTo>
                    <a:pt x="2724540" y="15757"/>
                  </a:lnTo>
                  <a:lnTo>
                    <a:pt x="2736070" y="32858"/>
                  </a:lnTo>
                  <a:lnTo>
                    <a:pt x="2740298" y="53799"/>
                  </a:lnTo>
                  <a:lnTo>
                    <a:pt x="2740298" y="358387"/>
                  </a:lnTo>
                  <a:lnTo>
                    <a:pt x="2736070" y="379328"/>
                  </a:lnTo>
                  <a:lnTo>
                    <a:pt x="2724540" y="396429"/>
                  </a:lnTo>
                  <a:lnTo>
                    <a:pt x="2707439" y="407959"/>
                  </a:lnTo>
                  <a:lnTo>
                    <a:pt x="2686499" y="412187"/>
                  </a:lnTo>
                  <a:lnTo>
                    <a:pt x="53799" y="412187"/>
                  </a:lnTo>
                  <a:lnTo>
                    <a:pt x="32858" y="407959"/>
                  </a:lnTo>
                  <a:lnTo>
                    <a:pt x="15757" y="396429"/>
                  </a:lnTo>
                  <a:lnTo>
                    <a:pt x="4227" y="379328"/>
                  </a:lnTo>
                  <a:lnTo>
                    <a:pt x="0" y="358387"/>
                  </a:lnTo>
                  <a:lnTo>
                    <a:pt x="0" y="53799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0190666" y="2553699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30">
                  <a:moveTo>
                    <a:pt x="183389" y="0"/>
                  </a:moveTo>
                  <a:lnTo>
                    <a:pt x="134637" y="6550"/>
                  </a:lnTo>
                  <a:lnTo>
                    <a:pt x="90829" y="25037"/>
                  </a:lnTo>
                  <a:lnTo>
                    <a:pt x="53713" y="53713"/>
                  </a:lnTo>
                  <a:lnTo>
                    <a:pt x="25038" y="90828"/>
                  </a:lnTo>
                  <a:lnTo>
                    <a:pt x="6550" y="134636"/>
                  </a:lnTo>
                  <a:lnTo>
                    <a:pt x="0" y="183389"/>
                  </a:lnTo>
                  <a:lnTo>
                    <a:pt x="6550" y="232141"/>
                  </a:lnTo>
                  <a:lnTo>
                    <a:pt x="25038" y="275949"/>
                  </a:lnTo>
                  <a:lnTo>
                    <a:pt x="53713" y="313064"/>
                  </a:lnTo>
                  <a:lnTo>
                    <a:pt x="90829" y="341740"/>
                  </a:lnTo>
                  <a:lnTo>
                    <a:pt x="134637" y="360227"/>
                  </a:lnTo>
                  <a:lnTo>
                    <a:pt x="183389" y="366778"/>
                  </a:lnTo>
                  <a:lnTo>
                    <a:pt x="232141" y="360227"/>
                  </a:lnTo>
                  <a:lnTo>
                    <a:pt x="275949" y="341740"/>
                  </a:lnTo>
                  <a:lnTo>
                    <a:pt x="313065" y="313064"/>
                  </a:lnTo>
                  <a:lnTo>
                    <a:pt x="341741" y="275949"/>
                  </a:lnTo>
                  <a:lnTo>
                    <a:pt x="360228" y="232141"/>
                  </a:lnTo>
                  <a:lnTo>
                    <a:pt x="366779" y="183389"/>
                  </a:lnTo>
                  <a:lnTo>
                    <a:pt x="360228" y="134636"/>
                  </a:lnTo>
                  <a:lnTo>
                    <a:pt x="341741" y="90828"/>
                  </a:lnTo>
                  <a:lnTo>
                    <a:pt x="313065" y="53713"/>
                  </a:lnTo>
                  <a:lnTo>
                    <a:pt x="275949" y="25037"/>
                  </a:lnTo>
                  <a:lnTo>
                    <a:pt x="232141" y="6550"/>
                  </a:lnTo>
                  <a:lnTo>
                    <a:pt x="18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190666" y="2553699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30">
                  <a:moveTo>
                    <a:pt x="0" y="183389"/>
                  </a:moveTo>
                  <a:lnTo>
                    <a:pt x="6550" y="134637"/>
                  </a:lnTo>
                  <a:lnTo>
                    <a:pt x="25038" y="90829"/>
                  </a:lnTo>
                  <a:lnTo>
                    <a:pt x="53713" y="53713"/>
                  </a:lnTo>
                  <a:lnTo>
                    <a:pt x="90829" y="25038"/>
                  </a:lnTo>
                  <a:lnTo>
                    <a:pt x="134637" y="6550"/>
                  </a:lnTo>
                  <a:lnTo>
                    <a:pt x="183389" y="0"/>
                  </a:lnTo>
                  <a:lnTo>
                    <a:pt x="232141" y="6550"/>
                  </a:lnTo>
                  <a:lnTo>
                    <a:pt x="275949" y="25038"/>
                  </a:lnTo>
                  <a:lnTo>
                    <a:pt x="313065" y="53713"/>
                  </a:lnTo>
                  <a:lnTo>
                    <a:pt x="341740" y="90829"/>
                  </a:lnTo>
                  <a:lnTo>
                    <a:pt x="360228" y="134637"/>
                  </a:lnTo>
                  <a:lnTo>
                    <a:pt x="366779" y="183389"/>
                  </a:lnTo>
                  <a:lnTo>
                    <a:pt x="360228" y="232141"/>
                  </a:lnTo>
                  <a:lnTo>
                    <a:pt x="341740" y="275949"/>
                  </a:lnTo>
                  <a:lnTo>
                    <a:pt x="313065" y="313065"/>
                  </a:lnTo>
                  <a:lnTo>
                    <a:pt x="275949" y="341740"/>
                  </a:lnTo>
                  <a:lnTo>
                    <a:pt x="232141" y="360228"/>
                  </a:lnTo>
                  <a:lnTo>
                    <a:pt x="183389" y="366779"/>
                  </a:lnTo>
                  <a:lnTo>
                    <a:pt x="134637" y="360228"/>
                  </a:lnTo>
                  <a:lnTo>
                    <a:pt x="90829" y="341740"/>
                  </a:lnTo>
                  <a:lnTo>
                    <a:pt x="53713" y="313065"/>
                  </a:lnTo>
                  <a:lnTo>
                    <a:pt x="25038" y="275949"/>
                  </a:lnTo>
                  <a:lnTo>
                    <a:pt x="6550" y="232141"/>
                  </a:lnTo>
                  <a:lnTo>
                    <a:pt x="0" y="183389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06256" y="3425952"/>
              <a:ext cx="2938272" cy="563880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9003907" y="3502643"/>
              <a:ext cx="2740660" cy="412750"/>
            </a:xfrm>
            <a:custGeom>
              <a:avLst/>
              <a:gdLst/>
              <a:ahLst/>
              <a:cxnLst/>
              <a:rect l="l" t="t" r="r" b="b"/>
              <a:pathLst>
                <a:path w="2740659" h="412750">
                  <a:moveTo>
                    <a:pt x="0" y="53799"/>
                  </a:moveTo>
                  <a:lnTo>
                    <a:pt x="4227" y="32858"/>
                  </a:lnTo>
                  <a:lnTo>
                    <a:pt x="15757" y="15757"/>
                  </a:lnTo>
                  <a:lnTo>
                    <a:pt x="32858" y="4227"/>
                  </a:lnTo>
                  <a:lnTo>
                    <a:pt x="53799" y="0"/>
                  </a:lnTo>
                  <a:lnTo>
                    <a:pt x="2686499" y="0"/>
                  </a:lnTo>
                  <a:lnTo>
                    <a:pt x="2707439" y="4227"/>
                  </a:lnTo>
                  <a:lnTo>
                    <a:pt x="2724540" y="15757"/>
                  </a:lnTo>
                  <a:lnTo>
                    <a:pt x="2736070" y="32858"/>
                  </a:lnTo>
                  <a:lnTo>
                    <a:pt x="2740298" y="53799"/>
                  </a:lnTo>
                  <a:lnTo>
                    <a:pt x="2740298" y="358387"/>
                  </a:lnTo>
                  <a:lnTo>
                    <a:pt x="2736070" y="379328"/>
                  </a:lnTo>
                  <a:lnTo>
                    <a:pt x="2724540" y="396429"/>
                  </a:lnTo>
                  <a:lnTo>
                    <a:pt x="2707439" y="407959"/>
                  </a:lnTo>
                  <a:lnTo>
                    <a:pt x="2686499" y="412187"/>
                  </a:lnTo>
                  <a:lnTo>
                    <a:pt x="53799" y="412187"/>
                  </a:lnTo>
                  <a:lnTo>
                    <a:pt x="32858" y="407959"/>
                  </a:lnTo>
                  <a:lnTo>
                    <a:pt x="15757" y="396429"/>
                  </a:lnTo>
                  <a:lnTo>
                    <a:pt x="4227" y="379328"/>
                  </a:lnTo>
                  <a:lnTo>
                    <a:pt x="0" y="358387"/>
                  </a:lnTo>
                  <a:lnTo>
                    <a:pt x="0" y="53799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0190666" y="3256338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183389" y="0"/>
                  </a:moveTo>
                  <a:lnTo>
                    <a:pt x="134637" y="6550"/>
                  </a:lnTo>
                  <a:lnTo>
                    <a:pt x="90829" y="25038"/>
                  </a:lnTo>
                  <a:lnTo>
                    <a:pt x="53713" y="53713"/>
                  </a:lnTo>
                  <a:lnTo>
                    <a:pt x="25038" y="90829"/>
                  </a:lnTo>
                  <a:lnTo>
                    <a:pt x="6550" y="134638"/>
                  </a:lnTo>
                  <a:lnTo>
                    <a:pt x="0" y="183390"/>
                  </a:lnTo>
                  <a:lnTo>
                    <a:pt x="6550" y="232142"/>
                  </a:lnTo>
                  <a:lnTo>
                    <a:pt x="25038" y="275950"/>
                  </a:lnTo>
                  <a:lnTo>
                    <a:pt x="53713" y="313066"/>
                  </a:lnTo>
                  <a:lnTo>
                    <a:pt x="90829" y="341741"/>
                  </a:lnTo>
                  <a:lnTo>
                    <a:pt x="134637" y="360228"/>
                  </a:lnTo>
                  <a:lnTo>
                    <a:pt x="183389" y="366779"/>
                  </a:lnTo>
                  <a:lnTo>
                    <a:pt x="232141" y="360228"/>
                  </a:lnTo>
                  <a:lnTo>
                    <a:pt x="275949" y="341741"/>
                  </a:lnTo>
                  <a:lnTo>
                    <a:pt x="313065" y="313066"/>
                  </a:lnTo>
                  <a:lnTo>
                    <a:pt x="341741" y="275950"/>
                  </a:lnTo>
                  <a:lnTo>
                    <a:pt x="360228" y="232142"/>
                  </a:lnTo>
                  <a:lnTo>
                    <a:pt x="366779" y="183390"/>
                  </a:lnTo>
                  <a:lnTo>
                    <a:pt x="360228" y="134638"/>
                  </a:lnTo>
                  <a:lnTo>
                    <a:pt x="341741" y="90829"/>
                  </a:lnTo>
                  <a:lnTo>
                    <a:pt x="313065" y="53713"/>
                  </a:lnTo>
                  <a:lnTo>
                    <a:pt x="275949" y="25038"/>
                  </a:lnTo>
                  <a:lnTo>
                    <a:pt x="232141" y="6550"/>
                  </a:lnTo>
                  <a:lnTo>
                    <a:pt x="18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0190666" y="3256338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0" y="183389"/>
                  </a:moveTo>
                  <a:lnTo>
                    <a:pt x="6550" y="134637"/>
                  </a:lnTo>
                  <a:lnTo>
                    <a:pt x="25038" y="90829"/>
                  </a:lnTo>
                  <a:lnTo>
                    <a:pt x="53713" y="53713"/>
                  </a:lnTo>
                  <a:lnTo>
                    <a:pt x="90829" y="25038"/>
                  </a:lnTo>
                  <a:lnTo>
                    <a:pt x="134637" y="6550"/>
                  </a:lnTo>
                  <a:lnTo>
                    <a:pt x="183389" y="0"/>
                  </a:lnTo>
                  <a:lnTo>
                    <a:pt x="232141" y="6550"/>
                  </a:lnTo>
                  <a:lnTo>
                    <a:pt x="275949" y="25038"/>
                  </a:lnTo>
                  <a:lnTo>
                    <a:pt x="313065" y="53713"/>
                  </a:lnTo>
                  <a:lnTo>
                    <a:pt x="341740" y="90829"/>
                  </a:lnTo>
                  <a:lnTo>
                    <a:pt x="360228" y="134637"/>
                  </a:lnTo>
                  <a:lnTo>
                    <a:pt x="366779" y="183389"/>
                  </a:lnTo>
                  <a:lnTo>
                    <a:pt x="360228" y="232141"/>
                  </a:lnTo>
                  <a:lnTo>
                    <a:pt x="341740" y="275949"/>
                  </a:lnTo>
                  <a:lnTo>
                    <a:pt x="313065" y="313065"/>
                  </a:lnTo>
                  <a:lnTo>
                    <a:pt x="275949" y="341740"/>
                  </a:lnTo>
                  <a:lnTo>
                    <a:pt x="232141" y="360228"/>
                  </a:lnTo>
                  <a:lnTo>
                    <a:pt x="183389" y="366779"/>
                  </a:lnTo>
                  <a:lnTo>
                    <a:pt x="134637" y="360228"/>
                  </a:lnTo>
                  <a:lnTo>
                    <a:pt x="90829" y="341740"/>
                  </a:lnTo>
                  <a:lnTo>
                    <a:pt x="53713" y="313065"/>
                  </a:lnTo>
                  <a:lnTo>
                    <a:pt x="25038" y="275949"/>
                  </a:lnTo>
                  <a:lnTo>
                    <a:pt x="6550" y="232141"/>
                  </a:lnTo>
                  <a:lnTo>
                    <a:pt x="0" y="183389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06256" y="4148327"/>
              <a:ext cx="2938272" cy="560832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9003907" y="4222619"/>
              <a:ext cx="2740660" cy="412750"/>
            </a:xfrm>
            <a:custGeom>
              <a:avLst/>
              <a:gdLst/>
              <a:ahLst/>
              <a:cxnLst/>
              <a:rect l="l" t="t" r="r" b="b"/>
              <a:pathLst>
                <a:path w="2740659" h="412750">
                  <a:moveTo>
                    <a:pt x="0" y="53799"/>
                  </a:moveTo>
                  <a:lnTo>
                    <a:pt x="4227" y="32858"/>
                  </a:lnTo>
                  <a:lnTo>
                    <a:pt x="15757" y="15757"/>
                  </a:lnTo>
                  <a:lnTo>
                    <a:pt x="32858" y="4227"/>
                  </a:lnTo>
                  <a:lnTo>
                    <a:pt x="53799" y="0"/>
                  </a:lnTo>
                  <a:lnTo>
                    <a:pt x="2686499" y="0"/>
                  </a:lnTo>
                  <a:lnTo>
                    <a:pt x="2707439" y="4227"/>
                  </a:lnTo>
                  <a:lnTo>
                    <a:pt x="2724540" y="15757"/>
                  </a:lnTo>
                  <a:lnTo>
                    <a:pt x="2736070" y="32858"/>
                  </a:lnTo>
                  <a:lnTo>
                    <a:pt x="2740298" y="53799"/>
                  </a:lnTo>
                  <a:lnTo>
                    <a:pt x="2740298" y="358387"/>
                  </a:lnTo>
                  <a:lnTo>
                    <a:pt x="2736070" y="379328"/>
                  </a:lnTo>
                  <a:lnTo>
                    <a:pt x="2724540" y="396429"/>
                  </a:lnTo>
                  <a:lnTo>
                    <a:pt x="2707439" y="407959"/>
                  </a:lnTo>
                  <a:lnTo>
                    <a:pt x="2686499" y="412187"/>
                  </a:lnTo>
                  <a:lnTo>
                    <a:pt x="53799" y="412187"/>
                  </a:lnTo>
                  <a:lnTo>
                    <a:pt x="32858" y="407959"/>
                  </a:lnTo>
                  <a:lnTo>
                    <a:pt x="15757" y="396429"/>
                  </a:lnTo>
                  <a:lnTo>
                    <a:pt x="4227" y="379328"/>
                  </a:lnTo>
                  <a:lnTo>
                    <a:pt x="0" y="358387"/>
                  </a:lnTo>
                  <a:lnTo>
                    <a:pt x="0" y="53799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190666" y="3976315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183389" y="0"/>
                  </a:moveTo>
                  <a:lnTo>
                    <a:pt x="134637" y="6550"/>
                  </a:lnTo>
                  <a:lnTo>
                    <a:pt x="90829" y="25037"/>
                  </a:lnTo>
                  <a:lnTo>
                    <a:pt x="53713" y="53713"/>
                  </a:lnTo>
                  <a:lnTo>
                    <a:pt x="25038" y="90828"/>
                  </a:lnTo>
                  <a:lnTo>
                    <a:pt x="6550" y="134636"/>
                  </a:lnTo>
                  <a:lnTo>
                    <a:pt x="0" y="183389"/>
                  </a:lnTo>
                  <a:lnTo>
                    <a:pt x="6550" y="232141"/>
                  </a:lnTo>
                  <a:lnTo>
                    <a:pt x="25038" y="275949"/>
                  </a:lnTo>
                  <a:lnTo>
                    <a:pt x="53713" y="313064"/>
                  </a:lnTo>
                  <a:lnTo>
                    <a:pt x="90829" y="341740"/>
                  </a:lnTo>
                  <a:lnTo>
                    <a:pt x="134637" y="360227"/>
                  </a:lnTo>
                  <a:lnTo>
                    <a:pt x="183389" y="366778"/>
                  </a:lnTo>
                  <a:lnTo>
                    <a:pt x="232141" y="360227"/>
                  </a:lnTo>
                  <a:lnTo>
                    <a:pt x="275949" y="341740"/>
                  </a:lnTo>
                  <a:lnTo>
                    <a:pt x="313065" y="313064"/>
                  </a:lnTo>
                  <a:lnTo>
                    <a:pt x="341741" y="275949"/>
                  </a:lnTo>
                  <a:lnTo>
                    <a:pt x="360228" y="232141"/>
                  </a:lnTo>
                  <a:lnTo>
                    <a:pt x="366779" y="183389"/>
                  </a:lnTo>
                  <a:lnTo>
                    <a:pt x="360228" y="134636"/>
                  </a:lnTo>
                  <a:lnTo>
                    <a:pt x="341741" y="90828"/>
                  </a:lnTo>
                  <a:lnTo>
                    <a:pt x="313065" y="53713"/>
                  </a:lnTo>
                  <a:lnTo>
                    <a:pt x="275949" y="25037"/>
                  </a:lnTo>
                  <a:lnTo>
                    <a:pt x="232141" y="6550"/>
                  </a:lnTo>
                  <a:lnTo>
                    <a:pt x="183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0190666" y="3976315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29" h="367029">
                  <a:moveTo>
                    <a:pt x="0" y="183389"/>
                  </a:moveTo>
                  <a:lnTo>
                    <a:pt x="6550" y="134637"/>
                  </a:lnTo>
                  <a:lnTo>
                    <a:pt x="25038" y="90829"/>
                  </a:lnTo>
                  <a:lnTo>
                    <a:pt x="53713" y="53713"/>
                  </a:lnTo>
                  <a:lnTo>
                    <a:pt x="90829" y="25038"/>
                  </a:lnTo>
                  <a:lnTo>
                    <a:pt x="134637" y="6550"/>
                  </a:lnTo>
                  <a:lnTo>
                    <a:pt x="183389" y="0"/>
                  </a:lnTo>
                  <a:lnTo>
                    <a:pt x="232141" y="6550"/>
                  </a:lnTo>
                  <a:lnTo>
                    <a:pt x="275949" y="25038"/>
                  </a:lnTo>
                  <a:lnTo>
                    <a:pt x="313065" y="53713"/>
                  </a:lnTo>
                  <a:lnTo>
                    <a:pt x="341740" y="90829"/>
                  </a:lnTo>
                  <a:lnTo>
                    <a:pt x="360228" y="134637"/>
                  </a:lnTo>
                  <a:lnTo>
                    <a:pt x="366779" y="183389"/>
                  </a:lnTo>
                  <a:lnTo>
                    <a:pt x="360228" y="232141"/>
                  </a:lnTo>
                  <a:lnTo>
                    <a:pt x="341740" y="275949"/>
                  </a:lnTo>
                  <a:lnTo>
                    <a:pt x="313065" y="313065"/>
                  </a:lnTo>
                  <a:lnTo>
                    <a:pt x="275949" y="341740"/>
                  </a:lnTo>
                  <a:lnTo>
                    <a:pt x="232141" y="360228"/>
                  </a:lnTo>
                  <a:lnTo>
                    <a:pt x="183389" y="366779"/>
                  </a:lnTo>
                  <a:lnTo>
                    <a:pt x="134637" y="360228"/>
                  </a:lnTo>
                  <a:lnTo>
                    <a:pt x="90829" y="341740"/>
                  </a:lnTo>
                  <a:lnTo>
                    <a:pt x="53713" y="313065"/>
                  </a:lnTo>
                  <a:lnTo>
                    <a:pt x="25038" y="275949"/>
                  </a:lnTo>
                  <a:lnTo>
                    <a:pt x="6550" y="232141"/>
                  </a:lnTo>
                  <a:lnTo>
                    <a:pt x="0" y="183389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9008555" y="1127252"/>
            <a:ext cx="2633980" cy="5772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12700" marR="5080">
              <a:lnSpc>
                <a:spcPct val="103299"/>
              </a:lnSpc>
              <a:spcBef>
                <a:spcPts val="50"/>
              </a:spcBef>
            </a:pP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India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25">
                <a:solidFill>
                  <a:srgbClr val="7030A0"/>
                </a:solidFill>
                <a:latin typeface="Arial MT"/>
                <a:cs typeface="Arial MT"/>
              </a:rPr>
              <a:t>to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require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50">
                <a:solidFill>
                  <a:srgbClr val="7030A0"/>
                </a:solidFill>
                <a:latin typeface="Arial MT"/>
                <a:cs typeface="Arial MT"/>
              </a:rPr>
              <a:t>400,000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charging </a:t>
            </a: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stations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30">
                <a:solidFill>
                  <a:srgbClr val="7030A0"/>
                </a:solidFill>
                <a:latin typeface="Arial MT"/>
                <a:cs typeface="Arial MT"/>
              </a:rPr>
              <a:t>to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meet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5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need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05">
                <a:solidFill>
                  <a:srgbClr val="7030A0"/>
                </a:solidFill>
                <a:latin typeface="Arial MT"/>
                <a:cs typeface="Arial MT"/>
              </a:rPr>
              <a:t>of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2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7030A0"/>
                </a:solidFill>
                <a:latin typeface="Arial MT"/>
                <a:cs typeface="Arial MT"/>
              </a:rPr>
              <a:t>Mn.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415"/>
              </a:lnSpc>
            </a:pPr>
            <a:r>
              <a:rPr dirty="0" sz="1200">
                <a:solidFill>
                  <a:srgbClr val="7030A0"/>
                </a:solidFill>
                <a:latin typeface="Arial MT"/>
                <a:cs typeface="Arial MT"/>
              </a:rPr>
              <a:t>EVs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20">
                <a:solidFill>
                  <a:srgbClr val="7030A0"/>
                </a:solidFill>
                <a:latin typeface="Arial MT"/>
                <a:cs typeface="Arial MT"/>
              </a:rPr>
              <a:t>by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05">
                <a:solidFill>
                  <a:srgbClr val="7030A0"/>
                </a:solidFill>
                <a:latin typeface="Arial MT"/>
                <a:cs typeface="Arial MT"/>
              </a:rPr>
              <a:t>2026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0">
                <a:solidFill>
                  <a:srgbClr val="7030A0"/>
                </a:solidFill>
                <a:latin typeface="Arial MT"/>
                <a:cs typeface="Arial MT"/>
              </a:rPr>
              <a:t>driven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5">
                <a:solidFill>
                  <a:srgbClr val="7030A0"/>
                </a:solidFill>
                <a:latin typeface="Arial MT"/>
                <a:cs typeface="Arial MT"/>
              </a:rPr>
              <a:t>by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9283898" y="1828230"/>
            <a:ext cx="2191385" cy="59245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925"/>
              </a:spcBef>
            </a:pPr>
            <a:r>
              <a:rPr dirty="0" sz="1150" spc="-50">
                <a:solidFill>
                  <a:srgbClr val="7030A0"/>
                </a:solidFill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 spc="80">
                <a:latin typeface="Arial MT"/>
                <a:cs typeface="Arial MT"/>
              </a:rPr>
              <a:t>Aspiration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95">
                <a:latin typeface="Arial MT"/>
                <a:cs typeface="Arial MT"/>
              </a:rPr>
              <a:t>for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Clean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Mobility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9278472" y="2532317"/>
            <a:ext cx="2186305" cy="59245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25"/>
              </a:spcBef>
            </a:pPr>
            <a:r>
              <a:rPr dirty="0" sz="1150" spc="25">
                <a:solidFill>
                  <a:srgbClr val="7030A0"/>
                </a:solidFill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 spc="90">
                <a:latin typeface="Arial MT"/>
                <a:cs typeface="Arial MT"/>
              </a:rPr>
              <a:t>Affordable</a:t>
            </a:r>
            <a:r>
              <a:rPr dirty="0" sz="1200" spc="45">
                <a:latin typeface="Arial MT"/>
                <a:cs typeface="Arial MT"/>
              </a:rPr>
              <a:t> Personal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Mobility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9379963" y="3233417"/>
            <a:ext cx="1991995" cy="59880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1150" spc="45">
                <a:solidFill>
                  <a:srgbClr val="7030A0"/>
                </a:solidFill>
                <a:latin typeface="Arial MT"/>
                <a:cs typeface="Arial MT"/>
              </a:rPr>
              <a:t>3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1200" spc="95">
                <a:latin typeface="Arial MT"/>
                <a:cs typeface="Arial MT"/>
              </a:rPr>
              <a:t>Growth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105">
                <a:latin typeface="Arial MT"/>
                <a:cs typeface="Arial MT"/>
              </a:rPr>
              <a:t>of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55">
                <a:latin typeface="Arial MT"/>
                <a:cs typeface="Arial MT"/>
              </a:rPr>
              <a:t>Online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55">
                <a:latin typeface="Arial MT"/>
                <a:cs typeface="Arial MT"/>
              </a:rPr>
              <a:t>Delivery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9506643" y="3952745"/>
            <a:ext cx="1732280" cy="59880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4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1200" spc="55">
                <a:latin typeface="Arial MT"/>
                <a:cs typeface="Arial MT"/>
              </a:rPr>
              <a:t>Value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65">
                <a:latin typeface="Arial MT"/>
                <a:cs typeface="Arial MT"/>
              </a:rPr>
              <a:t>Driven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Purchase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375485" y="5020749"/>
            <a:ext cx="8376920" cy="1436370"/>
            <a:chOff x="375485" y="5020749"/>
            <a:chExt cx="8376920" cy="1436370"/>
          </a:xfrm>
        </p:grpSpPr>
        <p:sp>
          <p:nvSpPr>
            <p:cNvPr id="91" name="object 91" descr=""/>
            <p:cNvSpPr/>
            <p:nvPr/>
          </p:nvSpPr>
          <p:spPr>
            <a:xfrm>
              <a:off x="385010" y="5030274"/>
              <a:ext cx="8357870" cy="1417320"/>
            </a:xfrm>
            <a:custGeom>
              <a:avLst/>
              <a:gdLst/>
              <a:ahLst/>
              <a:cxnLst/>
              <a:rect l="l" t="t" r="r" b="b"/>
              <a:pathLst>
                <a:path w="8357870" h="1417320">
                  <a:moveTo>
                    <a:pt x="8121573" y="0"/>
                  </a:moveTo>
                  <a:lnTo>
                    <a:pt x="236200" y="0"/>
                  </a:lnTo>
                  <a:lnTo>
                    <a:pt x="188597" y="4798"/>
                  </a:lnTo>
                  <a:lnTo>
                    <a:pt x="144260" y="18561"/>
                  </a:lnTo>
                  <a:lnTo>
                    <a:pt x="104138" y="40339"/>
                  </a:lnTo>
                  <a:lnTo>
                    <a:pt x="69181" y="69181"/>
                  </a:lnTo>
                  <a:lnTo>
                    <a:pt x="40339" y="104138"/>
                  </a:lnTo>
                  <a:lnTo>
                    <a:pt x="18561" y="144260"/>
                  </a:lnTo>
                  <a:lnTo>
                    <a:pt x="4798" y="188598"/>
                  </a:lnTo>
                  <a:lnTo>
                    <a:pt x="0" y="236200"/>
                  </a:lnTo>
                  <a:lnTo>
                    <a:pt x="0" y="1180975"/>
                  </a:lnTo>
                  <a:lnTo>
                    <a:pt x="4798" y="1228578"/>
                  </a:lnTo>
                  <a:lnTo>
                    <a:pt x="18561" y="1272915"/>
                  </a:lnTo>
                  <a:lnTo>
                    <a:pt x="40339" y="1313037"/>
                  </a:lnTo>
                  <a:lnTo>
                    <a:pt x="69181" y="1347994"/>
                  </a:lnTo>
                  <a:lnTo>
                    <a:pt x="104138" y="1376837"/>
                  </a:lnTo>
                  <a:lnTo>
                    <a:pt x="144260" y="1398614"/>
                  </a:lnTo>
                  <a:lnTo>
                    <a:pt x="188597" y="1412377"/>
                  </a:lnTo>
                  <a:lnTo>
                    <a:pt x="236200" y="1417176"/>
                  </a:lnTo>
                  <a:lnTo>
                    <a:pt x="8121573" y="1417176"/>
                  </a:lnTo>
                  <a:lnTo>
                    <a:pt x="8169176" y="1412377"/>
                  </a:lnTo>
                  <a:lnTo>
                    <a:pt x="8213513" y="1398614"/>
                  </a:lnTo>
                  <a:lnTo>
                    <a:pt x="8253635" y="1376837"/>
                  </a:lnTo>
                  <a:lnTo>
                    <a:pt x="8288592" y="1347994"/>
                  </a:lnTo>
                  <a:lnTo>
                    <a:pt x="8317434" y="1313037"/>
                  </a:lnTo>
                  <a:lnTo>
                    <a:pt x="8339212" y="1272915"/>
                  </a:lnTo>
                  <a:lnTo>
                    <a:pt x="8352975" y="1228578"/>
                  </a:lnTo>
                  <a:lnTo>
                    <a:pt x="8357774" y="1180975"/>
                  </a:lnTo>
                  <a:lnTo>
                    <a:pt x="8357774" y="236200"/>
                  </a:lnTo>
                  <a:lnTo>
                    <a:pt x="8352975" y="188598"/>
                  </a:lnTo>
                  <a:lnTo>
                    <a:pt x="8339212" y="144260"/>
                  </a:lnTo>
                  <a:lnTo>
                    <a:pt x="8317434" y="104138"/>
                  </a:lnTo>
                  <a:lnTo>
                    <a:pt x="8288592" y="69181"/>
                  </a:lnTo>
                  <a:lnTo>
                    <a:pt x="8253635" y="40339"/>
                  </a:lnTo>
                  <a:lnTo>
                    <a:pt x="8213513" y="18561"/>
                  </a:lnTo>
                  <a:lnTo>
                    <a:pt x="8169176" y="4798"/>
                  </a:lnTo>
                  <a:lnTo>
                    <a:pt x="812157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85010" y="5030274"/>
              <a:ext cx="8357870" cy="1417320"/>
            </a:xfrm>
            <a:custGeom>
              <a:avLst/>
              <a:gdLst/>
              <a:ahLst/>
              <a:cxnLst/>
              <a:rect l="l" t="t" r="r" b="b"/>
              <a:pathLst>
                <a:path w="8357870" h="1417320">
                  <a:moveTo>
                    <a:pt x="0" y="236200"/>
                  </a:moveTo>
                  <a:lnTo>
                    <a:pt x="4798" y="188597"/>
                  </a:lnTo>
                  <a:lnTo>
                    <a:pt x="18561" y="144260"/>
                  </a:lnTo>
                  <a:lnTo>
                    <a:pt x="40339" y="104138"/>
                  </a:lnTo>
                  <a:lnTo>
                    <a:pt x="69181" y="69181"/>
                  </a:lnTo>
                  <a:lnTo>
                    <a:pt x="104138" y="40339"/>
                  </a:lnTo>
                  <a:lnTo>
                    <a:pt x="144260" y="18561"/>
                  </a:lnTo>
                  <a:lnTo>
                    <a:pt x="188597" y="4798"/>
                  </a:lnTo>
                  <a:lnTo>
                    <a:pt x="236200" y="0"/>
                  </a:lnTo>
                  <a:lnTo>
                    <a:pt x="8121574" y="0"/>
                  </a:lnTo>
                  <a:lnTo>
                    <a:pt x="8169176" y="4798"/>
                  </a:lnTo>
                  <a:lnTo>
                    <a:pt x="8213513" y="18561"/>
                  </a:lnTo>
                  <a:lnTo>
                    <a:pt x="8253635" y="40339"/>
                  </a:lnTo>
                  <a:lnTo>
                    <a:pt x="8288592" y="69181"/>
                  </a:lnTo>
                  <a:lnTo>
                    <a:pt x="8317434" y="104138"/>
                  </a:lnTo>
                  <a:lnTo>
                    <a:pt x="8339212" y="144260"/>
                  </a:lnTo>
                  <a:lnTo>
                    <a:pt x="8352975" y="188597"/>
                  </a:lnTo>
                  <a:lnTo>
                    <a:pt x="8357774" y="236200"/>
                  </a:lnTo>
                  <a:lnTo>
                    <a:pt x="8357774" y="1180975"/>
                  </a:lnTo>
                  <a:lnTo>
                    <a:pt x="8352975" y="1228577"/>
                  </a:lnTo>
                  <a:lnTo>
                    <a:pt x="8339212" y="1272915"/>
                  </a:lnTo>
                  <a:lnTo>
                    <a:pt x="8317434" y="1313037"/>
                  </a:lnTo>
                  <a:lnTo>
                    <a:pt x="8288592" y="1347994"/>
                  </a:lnTo>
                  <a:lnTo>
                    <a:pt x="8253635" y="1376836"/>
                  </a:lnTo>
                  <a:lnTo>
                    <a:pt x="8213513" y="1398614"/>
                  </a:lnTo>
                  <a:lnTo>
                    <a:pt x="8169176" y="1412377"/>
                  </a:lnTo>
                  <a:lnTo>
                    <a:pt x="8121574" y="1417176"/>
                  </a:lnTo>
                  <a:lnTo>
                    <a:pt x="236200" y="1417176"/>
                  </a:lnTo>
                  <a:lnTo>
                    <a:pt x="188597" y="1412377"/>
                  </a:lnTo>
                  <a:lnTo>
                    <a:pt x="144260" y="1398614"/>
                  </a:lnTo>
                  <a:lnTo>
                    <a:pt x="104138" y="1376836"/>
                  </a:lnTo>
                  <a:lnTo>
                    <a:pt x="69181" y="1347994"/>
                  </a:lnTo>
                  <a:lnTo>
                    <a:pt x="40339" y="1313037"/>
                  </a:lnTo>
                  <a:lnTo>
                    <a:pt x="18561" y="1272915"/>
                  </a:lnTo>
                  <a:lnTo>
                    <a:pt x="4798" y="1228577"/>
                  </a:lnTo>
                  <a:lnTo>
                    <a:pt x="0" y="1180975"/>
                  </a:lnTo>
                  <a:lnTo>
                    <a:pt x="0" y="236200"/>
                  </a:lnTo>
                  <a:close/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0936" y="5379719"/>
              <a:ext cx="2685288" cy="48158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7448" y="5431535"/>
              <a:ext cx="2020824" cy="417575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662467" y="5411751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2383503" y="0"/>
                  </a:moveTo>
                  <a:lnTo>
                    <a:pt x="0" y="0"/>
                  </a:lnTo>
                  <a:lnTo>
                    <a:pt x="0" y="364829"/>
                  </a:lnTo>
                  <a:lnTo>
                    <a:pt x="2383503" y="364829"/>
                  </a:lnTo>
                  <a:lnTo>
                    <a:pt x="2565919" y="182414"/>
                  </a:lnTo>
                  <a:lnTo>
                    <a:pt x="2383503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62467" y="5411751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257175" marR="5080">
              <a:lnSpc>
                <a:spcPct val="101899"/>
              </a:lnSpc>
              <a:spcBef>
                <a:spcPts val="80"/>
              </a:spcBef>
            </a:pPr>
            <a:r>
              <a:rPr dirty="0" spc="110"/>
              <a:t>The</a:t>
            </a:r>
            <a:r>
              <a:rPr dirty="0" spc="114"/>
              <a:t> </a:t>
            </a:r>
            <a:r>
              <a:rPr dirty="0" spc="130"/>
              <a:t>Electric</a:t>
            </a:r>
            <a:r>
              <a:rPr dirty="0" spc="125"/>
              <a:t> </a:t>
            </a:r>
            <a:r>
              <a:rPr dirty="0" spc="120"/>
              <a:t>Vehicle</a:t>
            </a:r>
            <a:r>
              <a:rPr dirty="0" spc="114"/>
              <a:t> </a:t>
            </a:r>
            <a:r>
              <a:rPr dirty="0" spc="150"/>
              <a:t>charging</a:t>
            </a:r>
            <a:r>
              <a:rPr dirty="0" spc="125"/>
              <a:t> </a:t>
            </a:r>
            <a:r>
              <a:rPr dirty="0" spc="165"/>
              <a:t>market</a:t>
            </a:r>
            <a:r>
              <a:rPr dirty="0" spc="114"/>
              <a:t> </a:t>
            </a:r>
            <a:r>
              <a:rPr dirty="0" spc="85"/>
              <a:t>size</a:t>
            </a:r>
            <a:r>
              <a:rPr dirty="0" spc="114"/>
              <a:t> </a:t>
            </a:r>
            <a:r>
              <a:rPr dirty="0" spc="105"/>
              <a:t>in</a:t>
            </a:r>
            <a:r>
              <a:rPr dirty="0" spc="114"/>
              <a:t> </a:t>
            </a:r>
            <a:r>
              <a:rPr dirty="0" spc="120"/>
              <a:t>India</a:t>
            </a:r>
            <a:r>
              <a:rPr dirty="0" spc="125"/>
              <a:t> </a:t>
            </a:r>
            <a:r>
              <a:rPr dirty="0" spc="55"/>
              <a:t>is</a:t>
            </a:r>
            <a:r>
              <a:rPr dirty="0" spc="114"/>
              <a:t> </a:t>
            </a:r>
            <a:r>
              <a:rPr dirty="0" spc="165"/>
              <a:t>expected</a:t>
            </a:r>
            <a:r>
              <a:rPr dirty="0" spc="125"/>
              <a:t> </a:t>
            </a:r>
            <a:r>
              <a:rPr dirty="0" spc="200"/>
              <a:t>to</a:t>
            </a:r>
            <a:r>
              <a:rPr dirty="0" spc="114"/>
              <a:t> </a:t>
            </a:r>
            <a:r>
              <a:rPr dirty="0" spc="100"/>
              <a:t>surpass</a:t>
            </a:r>
            <a:r>
              <a:rPr dirty="0" spc="114"/>
              <a:t> </a:t>
            </a:r>
            <a:r>
              <a:rPr dirty="0" spc="80"/>
              <a:t>USD</a:t>
            </a:r>
            <a:r>
              <a:rPr dirty="0" spc="130"/>
              <a:t> </a:t>
            </a:r>
            <a:r>
              <a:rPr dirty="0" spc="110"/>
              <a:t>5</a:t>
            </a:r>
            <a:r>
              <a:rPr dirty="0" spc="120"/>
              <a:t> </a:t>
            </a:r>
            <a:r>
              <a:rPr dirty="0" spc="85"/>
              <a:t>Bn.</a:t>
            </a:r>
            <a:r>
              <a:rPr dirty="0" spc="120"/>
              <a:t> </a:t>
            </a:r>
            <a:r>
              <a:rPr dirty="0" spc="195"/>
              <a:t>by</a:t>
            </a:r>
            <a:r>
              <a:rPr dirty="0" spc="114"/>
              <a:t> </a:t>
            </a:r>
            <a:r>
              <a:rPr dirty="0" spc="155"/>
              <a:t>2027</a:t>
            </a:r>
            <a:r>
              <a:rPr dirty="0" spc="120"/>
              <a:t> </a:t>
            </a:r>
            <a:r>
              <a:rPr dirty="0" spc="155"/>
              <a:t>propelled</a:t>
            </a:r>
            <a:r>
              <a:rPr dirty="0" spc="125"/>
              <a:t> </a:t>
            </a:r>
            <a:r>
              <a:rPr dirty="0" spc="195"/>
              <a:t>by</a:t>
            </a:r>
            <a:r>
              <a:rPr dirty="0" spc="114"/>
              <a:t> </a:t>
            </a:r>
            <a:r>
              <a:rPr dirty="0" spc="130"/>
              <a:t>the large</a:t>
            </a:r>
            <a:r>
              <a:rPr dirty="0" spc="114"/>
              <a:t> </a:t>
            </a:r>
            <a:r>
              <a:rPr dirty="0" spc="140"/>
              <a:t>underserved</a:t>
            </a:r>
            <a:r>
              <a:rPr dirty="0" spc="130"/>
              <a:t> </a:t>
            </a:r>
            <a:r>
              <a:rPr dirty="0" spc="140"/>
              <a:t>market,</a:t>
            </a:r>
            <a:r>
              <a:rPr dirty="0" spc="125"/>
              <a:t> </a:t>
            </a:r>
            <a:r>
              <a:rPr dirty="0" spc="150"/>
              <a:t>rapidly</a:t>
            </a:r>
            <a:r>
              <a:rPr dirty="0" spc="120"/>
              <a:t> </a:t>
            </a:r>
            <a:r>
              <a:rPr dirty="0" spc="185"/>
              <a:t>growing</a:t>
            </a:r>
            <a:r>
              <a:rPr dirty="0" spc="130"/>
              <a:t> </a:t>
            </a:r>
            <a:r>
              <a:rPr dirty="0" spc="105"/>
              <a:t>EV</a:t>
            </a:r>
            <a:r>
              <a:rPr dirty="0" spc="130"/>
              <a:t> </a:t>
            </a:r>
            <a:r>
              <a:rPr dirty="0" spc="175"/>
              <a:t>adoption</a:t>
            </a:r>
            <a:r>
              <a:rPr dirty="0" spc="114"/>
              <a:t> </a:t>
            </a:r>
            <a:r>
              <a:rPr dirty="0" spc="145"/>
              <a:t>and</a:t>
            </a:r>
            <a:r>
              <a:rPr dirty="0" spc="130"/>
              <a:t> </a:t>
            </a:r>
            <a:r>
              <a:rPr dirty="0" spc="160"/>
              <a:t>lower</a:t>
            </a:r>
            <a:r>
              <a:rPr dirty="0" spc="120"/>
              <a:t> </a:t>
            </a:r>
            <a:r>
              <a:rPr dirty="0" spc="170"/>
              <a:t>competitive</a:t>
            </a:r>
            <a:r>
              <a:rPr dirty="0" spc="114"/>
              <a:t> </a:t>
            </a:r>
            <a:r>
              <a:rPr dirty="0" spc="130"/>
              <a:t>intensity</a:t>
            </a:r>
          </a:p>
        </p:txBody>
      </p:sp>
      <p:sp>
        <p:nvSpPr>
          <p:cNvPr id="98" name="object 98" descr=""/>
          <p:cNvSpPr/>
          <p:nvPr/>
        </p:nvSpPr>
        <p:spPr>
          <a:xfrm>
            <a:off x="385011" y="4814317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 txBox="1"/>
          <p:nvPr/>
        </p:nvSpPr>
        <p:spPr>
          <a:xfrm>
            <a:off x="1017967" y="5488940"/>
            <a:ext cx="1764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0">
                <a:latin typeface="Arial MT"/>
                <a:cs typeface="Arial MT"/>
              </a:rPr>
              <a:t>Independent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75">
                <a:latin typeface="Arial MT"/>
                <a:cs typeface="Arial MT"/>
              </a:rPr>
              <a:t>Networks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0" name="object 100" descr=""/>
          <p:cNvGrpSpPr/>
          <p:nvPr/>
        </p:nvGrpSpPr>
        <p:grpSpPr>
          <a:xfrm>
            <a:off x="3282696" y="5379719"/>
            <a:ext cx="5337175" cy="487680"/>
            <a:chOff x="3282696" y="5379719"/>
            <a:chExt cx="5337175" cy="487680"/>
          </a:xfrm>
        </p:grpSpPr>
        <p:pic>
          <p:nvPicPr>
            <p:cNvPr id="101" name="object 10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82696" y="5379719"/>
              <a:ext cx="2685288" cy="48158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34512" y="5431535"/>
              <a:ext cx="2487167" cy="41757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3313765" y="5411751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2383504" y="0"/>
                  </a:moveTo>
                  <a:lnTo>
                    <a:pt x="0" y="0"/>
                  </a:lnTo>
                  <a:lnTo>
                    <a:pt x="0" y="364829"/>
                  </a:lnTo>
                  <a:lnTo>
                    <a:pt x="2383504" y="364829"/>
                  </a:lnTo>
                  <a:lnTo>
                    <a:pt x="2565918" y="182414"/>
                  </a:lnTo>
                  <a:lnTo>
                    <a:pt x="2383504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313765" y="5411751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34456" y="5382767"/>
              <a:ext cx="2685288" cy="484631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065520" y="5437631"/>
              <a:ext cx="2328672" cy="414528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5965063" y="541545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4" h="365125">
                  <a:moveTo>
                    <a:pt x="2383504" y="0"/>
                  </a:moveTo>
                  <a:lnTo>
                    <a:pt x="0" y="0"/>
                  </a:lnTo>
                  <a:lnTo>
                    <a:pt x="0" y="364829"/>
                  </a:lnTo>
                  <a:lnTo>
                    <a:pt x="2383504" y="364829"/>
                  </a:lnTo>
                  <a:lnTo>
                    <a:pt x="2565918" y="182414"/>
                  </a:lnTo>
                  <a:lnTo>
                    <a:pt x="2383504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965063" y="541545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4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3190383" y="5070347"/>
            <a:ext cx="5047615" cy="63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7030A0"/>
                </a:solidFill>
                <a:latin typeface="Arial MT"/>
                <a:cs typeface="Arial MT"/>
              </a:rPr>
              <a:t>Business</a:t>
            </a:r>
            <a:r>
              <a:rPr dirty="0" sz="1400" spc="12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7030A0"/>
                </a:solidFill>
                <a:latin typeface="Arial MT"/>
                <a:cs typeface="Arial MT"/>
              </a:rPr>
              <a:t>Models</a:t>
            </a:r>
            <a:r>
              <a:rPr dirty="0" sz="1400" spc="12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400" spc="110">
                <a:solidFill>
                  <a:srgbClr val="7030A0"/>
                </a:solidFill>
                <a:latin typeface="Arial MT"/>
                <a:cs typeface="Arial MT"/>
              </a:rPr>
              <a:t>Around</a:t>
            </a:r>
            <a:r>
              <a:rPr dirty="0" sz="1400" spc="114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400" spc="10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dirty="0" sz="1400" spc="114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7030A0"/>
                </a:solidFill>
                <a:latin typeface="Arial MT"/>
                <a:cs typeface="Arial MT"/>
              </a:rPr>
              <a:t>Globe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 MT"/>
              <a:cs typeface="Arial MT"/>
            </a:endParaRPr>
          </a:p>
          <a:p>
            <a:pPr marL="257810">
              <a:lnSpc>
                <a:spcPct val="100000"/>
              </a:lnSpc>
              <a:spcBef>
                <a:spcPts val="5"/>
              </a:spcBef>
              <a:tabLst>
                <a:tab pos="2989580" algn="l"/>
              </a:tabLst>
            </a:pPr>
            <a:r>
              <a:rPr dirty="0" baseline="2314" sz="1800" spc="172">
                <a:latin typeface="Arial MT"/>
                <a:cs typeface="Arial MT"/>
              </a:rPr>
              <a:t>Auto</a:t>
            </a:r>
            <a:r>
              <a:rPr dirty="0" baseline="2314" sz="1800" spc="44">
                <a:latin typeface="Arial MT"/>
                <a:cs typeface="Arial MT"/>
              </a:rPr>
              <a:t> </a:t>
            </a:r>
            <a:r>
              <a:rPr dirty="0" baseline="2314" sz="1800" spc="104">
                <a:latin typeface="Arial MT"/>
                <a:cs typeface="Arial MT"/>
              </a:rPr>
              <a:t>Manufacturer</a:t>
            </a:r>
            <a:r>
              <a:rPr dirty="0" baseline="2314" sz="1800" spc="52">
                <a:latin typeface="Arial MT"/>
                <a:cs typeface="Arial MT"/>
              </a:rPr>
              <a:t> </a:t>
            </a:r>
            <a:r>
              <a:rPr dirty="0" baseline="2314" sz="1800" spc="112">
                <a:latin typeface="Arial MT"/>
                <a:cs typeface="Arial MT"/>
              </a:rPr>
              <a:t>Networks</a:t>
            </a:r>
            <a:r>
              <a:rPr dirty="0" baseline="2314" sz="1800">
                <a:latin typeface="Arial MT"/>
                <a:cs typeface="Arial MT"/>
              </a:rPr>
              <a:t>	</a:t>
            </a:r>
            <a:r>
              <a:rPr dirty="0" sz="1200">
                <a:latin typeface="Arial MT"/>
                <a:cs typeface="Arial MT"/>
              </a:rPr>
              <a:t>Malls,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50">
                <a:latin typeface="Arial MT"/>
                <a:cs typeface="Arial MT"/>
              </a:rPr>
              <a:t>Restaurants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&amp;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50">
                <a:latin typeface="Arial MT"/>
                <a:cs typeface="Arial MT"/>
              </a:rPr>
              <a:t>Hotels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0" name="object 110" descr=""/>
          <p:cNvGrpSpPr/>
          <p:nvPr/>
        </p:nvGrpSpPr>
        <p:grpSpPr>
          <a:xfrm>
            <a:off x="637031" y="5864351"/>
            <a:ext cx="2685415" cy="485140"/>
            <a:chOff x="637031" y="5864351"/>
            <a:chExt cx="2685415" cy="485140"/>
          </a:xfrm>
        </p:grpSpPr>
        <p:pic>
          <p:nvPicPr>
            <p:cNvPr id="111" name="object 11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7031" y="5864351"/>
              <a:ext cx="2685288" cy="484631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61287" y="5919215"/>
              <a:ext cx="1545336" cy="414527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669611" y="589739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2383503" y="0"/>
                  </a:moveTo>
                  <a:lnTo>
                    <a:pt x="0" y="0"/>
                  </a:lnTo>
                  <a:lnTo>
                    <a:pt x="0" y="364830"/>
                  </a:lnTo>
                  <a:lnTo>
                    <a:pt x="2383503" y="364830"/>
                  </a:lnTo>
                  <a:lnTo>
                    <a:pt x="2565918" y="182415"/>
                  </a:lnTo>
                  <a:lnTo>
                    <a:pt x="2383503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669611" y="589739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1263235" y="5976620"/>
            <a:ext cx="1287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0">
                <a:latin typeface="Arial MT"/>
                <a:cs typeface="Arial MT"/>
              </a:rPr>
              <a:t>Fuelling </a:t>
            </a:r>
            <a:r>
              <a:rPr dirty="0" sz="1200" spc="50">
                <a:latin typeface="Arial MT"/>
                <a:cs typeface="Arial MT"/>
              </a:rPr>
              <a:t>Stations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3288791" y="5864351"/>
            <a:ext cx="2685415" cy="485140"/>
            <a:chOff x="3288791" y="5864351"/>
            <a:chExt cx="2685415" cy="485140"/>
          </a:xfrm>
        </p:grpSpPr>
        <p:pic>
          <p:nvPicPr>
            <p:cNvPr id="117" name="object 11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88791" y="5864351"/>
              <a:ext cx="2685288" cy="484631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76471" y="5919215"/>
              <a:ext cx="1618488" cy="414527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3320908" y="589739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2383504" y="0"/>
                  </a:moveTo>
                  <a:lnTo>
                    <a:pt x="0" y="0"/>
                  </a:lnTo>
                  <a:lnTo>
                    <a:pt x="0" y="364830"/>
                  </a:lnTo>
                  <a:lnTo>
                    <a:pt x="2383504" y="364830"/>
                  </a:lnTo>
                  <a:lnTo>
                    <a:pt x="2565919" y="182415"/>
                  </a:lnTo>
                  <a:lnTo>
                    <a:pt x="2383504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320908" y="5897395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5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 txBox="1"/>
          <p:nvPr/>
        </p:nvSpPr>
        <p:spPr>
          <a:xfrm>
            <a:off x="3877227" y="5976620"/>
            <a:ext cx="1361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5">
                <a:latin typeface="Arial MT"/>
                <a:cs typeface="Arial MT"/>
              </a:rPr>
              <a:t>Sharing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75">
                <a:latin typeface="Arial MT"/>
                <a:cs typeface="Arial MT"/>
              </a:rPr>
              <a:t>Economy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2" name="object 122" descr=""/>
          <p:cNvGrpSpPr/>
          <p:nvPr/>
        </p:nvGrpSpPr>
        <p:grpSpPr>
          <a:xfrm>
            <a:off x="5940552" y="5870447"/>
            <a:ext cx="2685415" cy="481965"/>
            <a:chOff x="5940552" y="5870447"/>
            <a:chExt cx="2685415" cy="481965"/>
          </a:xfrm>
        </p:grpSpPr>
        <p:pic>
          <p:nvPicPr>
            <p:cNvPr id="123" name="object 12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40552" y="5870447"/>
              <a:ext cx="2685288" cy="481583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57544" y="5922263"/>
              <a:ext cx="1956816" cy="414528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5972206" y="5901099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4" h="365125">
                  <a:moveTo>
                    <a:pt x="2383504" y="0"/>
                  </a:moveTo>
                  <a:lnTo>
                    <a:pt x="0" y="0"/>
                  </a:lnTo>
                  <a:lnTo>
                    <a:pt x="0" y="364829"/>
                  </a:lnTo>
                  <a:lnTo>
                    <a:pt x="2383504" y="364829"/>
                  </a:lnTo>
                  <a:lnTo>
                    <a:pt x="2565919" y="182414"/>
                  </a:lnTo>
                  <a:lnTo>
                    <a:pt x="2383504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972206" y="5901099"/>
              <a:ext cx="2566035" cy="365125"/>
            </a:xfrm>
            <a:custGeom>
              <a:avLst/>
              <a:gdLst/>
              <a:ahLst/>
              <a:cxnLst/>
              <a:rect l="l" t="t" r="r" b="b"/>
              <a:pathLst>
                <a:path w="2566034" h="365125">
                  <a:moveTo>
                    <a:pt x="0" y="0"/>
                  </a:moveTo>
                  <a:lnTo>
                    <a:pt x="2383504" y="0"/>
                  </a:lnTo>
                  <a:lnTo>
                    <a:pt x="2565919" y="182415"/>
                  </a:lnTo>
                  <a:lnTo>
                    <a:pt x="2383504" y="364830"/>
                  </a:lnTo>
                  <a:lnTo>
                    <a:pt x="0" y="36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6359456" y="5979667"/>
            <a:ext cx="1700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latin typeface="Arial MT"/>
                <a:cs typeface="Arial MT"/>
              </a:rPr>
              <a:t>Mobile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Charging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35">
                <a:latin typeface="Arial MT"/>
                <a:cs typeface="Arial MT"/>
              </a:rPr>
              <a:t>Units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8" name="object 128" descr=""/>
          <p:cNvSpPr/>
          <p:nvPr/>
        </p:nvSpPr>
        <p:spPr>
          <a:xfrm>
            <a:off x="9027386" y="5030274"/>
            <a:ext cx="2717165" cy="1417320"/>
          </a:xfrm>
          <a:custGeom>
            <a:avLst/>
            <a:gdLst/>
            <a:ahLst/>
            <a:cxnLst/>
            <a:rect l="l" t="t" r="r" b="b"/>
            <a:pathLst>
              <a:path w="2717165" h="1417320">
                <a:moveTo>
                  <a:pt x="0" y="236200"/>
                </a:moveTo>
                <a:lnTo>
                  <a:pt x="4798" y="188597"/>
                </a:lnTo>
                <a:lnTo>
                  <a:pt x="18561" y="144260"/>
                </a:lnTo>
                <a:lnTo>
                  <a:pt x="40339" y="104138"/>
                </a:lnTo>
                <a:lnTo>
                  <a:pt x="69181" y="69181"/>
                </a:lnTo>
                <a:lnTo>
                  <a:pt x="104138" y="40339"/>
                </a:lnTo>
                <a:lnTo>
                  <a:pt x="144260" y="18561"/>
                </a:lnTo>
                <a:lnTo>
                  <a:pt x="188597" y="4798"/>
                </a:lnTo>
                <a:lnTo>
                  <a:pt x="236200" y="0"/>
                </a:lnTo>
                <a:lnTo>
                  <a:pt x="2480619" y="0"/>
                </a:lnTo>
                <a:lnTo>
                  <a:pt x="2528221" y="4798"/>
                </a:lnTo>
                <a:lnTo>
                  <a:pt x="2572558" y="18561"/>
                </a:lnTo>
                <a:lnTo>
                  <a:pt x="2612680" y="40339"/>
                </a:lnTo>
                <a:lnTo>
                  <a:pt x="2647637" y="69181"/>
                </a:lnTo>
                <a:lnTo>
                  <a:pt x="2676479" y="104138"/>
                </a:lnTo>
                <a:lnTo>
                  <a:pt x="2698257" y="144260"/>
                </a:lnTo>
                <a:lnTo>
                  <a:pt x="2712020" y="188597"/>
                </a:lnTo>
                <a:lnTo>
                  <a:pt x="2716819" y="236200"/>
                </a:lnTo>
                <a:lnTo>
                  <a:pt x="2716819" y="1180976"/>
                </a:lnTo>
                <a:lnTo>
                  <a:pt x="2712020" y="1228578"/>
                </a:lnTo>
                <a:lnTo>
                  <a:pt x="2698257" y="1272915"/>
                </a:lnTo>
                <a:lnTo>
                  <a:pt x="2676479" y="1313037"/>
                </a:lnTo>
                <a:lnTo>
                  <a:pt x="2647637" y="1347994"/>
                </a:lnTo>
                <a:lnTo>
                  <a:pt x="2612680" y="1376836"/>
                </a:lnTo>
                <a:lnTo>
                  <a:pt x="2572558" y="1398614"/>
                </a:lnTo>
                <a:lnTo>
                  <a:pt x="2528221" y="1412377"/>
                </a:lnTo>
                <a:lnTo>
                  <a:pt x="2480619" y="1417176"/>
                </a:lnTo>
                <a:lnTo>
                  <a:pt x="236200" y="1417176"/>
                </a:lnTo>
                <a:lnTo>
                  <a:pt x="188597" y="1412377"/>
                </a:lnTo>
                <a:lnTo>
                  <a:pt x="144260" y="1398614"/>
                </a:lnTo>
                <a:lnTo>
                  <a:pt x="104138" y="1376836"/>
                </a:lnTo>
                <a:lnTo>
                  <a:pt x="69181" y="1347994"/>
                </a:lnTo>
                <a:lnTo>
                  <a:pt x="40339" y="1313037"/>
                </a:lnTo>
                <a:lnTo>
                  <a:pt x="18561" y="1272915"/>
                </a:lnTo>
                <a:lnTo>
                  <a:pt x="4798" y="1228578"/>
                </a:lnTo>
                <a:lnTo>
                  <a:pt x="0" y="1180976"/>
                </a:lnTo>
                <a:lnTo>
                  <a:pt x="0" y="236200"/>
                </a:lnTo>
                <a:close/>
              </a:path>
            </a:pathLst>
          </a:custGeom>
          <a:ln w="190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 txBox="1"/>
          <p:nvPr/>
        </p:nvSpPr>
        <p:spPr>
          <a:xfrm>
            <a:off x="9333669" y="5071364"/>
            <a:ext cx="2033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Major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5">
                <a:solidFill>
                  <a:srgbClr val="7030A0"/>
                </a:solidFill>
                <a:latin typeface="Arial MT"/>
                <a:cs typeface="Arial MT"/>
              </a:rPr>
              <a:t>Competitors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in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India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9242469" y="5375046"/>
            <a:ext cx="2343150" cy="972185"/>
            <a:chOff x="9242469" y="5375046"/>
            <a:chExt cx="2343150" cy="972185"/>
          </a:xfrm>
        </p:grpSpPr>
        <p:pic>
          <p:nvPicPr>
            <p:cNvPr id="131" name="object 13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43582" y="5375046"/>
              <a:ext cx="450502" cy="450500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95793" y="5392875"/>
              <a:ext cx="659187" cy="329593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797280" y="5379538"/>
              <a:ext cx="788191" cy="475555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42469" y="5963505"/>
              <a:ext cx="514847" cy="375839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870247" y="5980977"/>
              <a:ext cx="620216" cy="362552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763532" y="5819792"/>
              <a:ext cx="957359" cy="181896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096944" y="6077611"/>
              <a:ext cx="623947" cy="269479"/>
            </a:xfrm>
            <a:prstGeom prst="rect">
              <a:avLst/>
            </a:prstGeom>
          </p:spPr>
        </p:pic>
      </p:grpSp>
      <p:sp>
        <p:nvSpPr>
          <p:cNvPr id="138" name="object 138" descr=""/>
          <p:cNvSpPr/>
          <p:nvPr/>
        </p:nvSpPr>
        <p:spPr>
          <a:xfrm>
            <a:off x="8859282" y="4974099"/>
            <a:ext cx="0" cy="1473835"/>
          </a:xfrm>
          <a:custGeom>
            <a:avLst/>
            <a:gdLst/>
            <a:ahLst/>
            <a:cxnLst/>
            <a:rect l="l" t="t" r="r" b="b"/>
            <a:pathLst>
              <a:path w="0" h="1473835">
                <a:moveTo>
                  <a:pt x="0" y="0"/>
                </a:moveTo>
                <a:lnTo>
                  <a:pt x="1" y="1473351"/>
                </a:lnTo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 descr=""/>
          <p:cNvGrpSpPr/>
          <p:nvPr/>
        </p:nvGrpSpPr>
        <p:grpSpPr>
          <a:xfrm>
            <a:off x="-6096" y="-6096"/>
            <a:ext cx="12204700" cy="248285"/>
            <a:chOff x="-6096" y="-6096"/>
            <a:chExt cx="12204700" cy="248285"/>
          </a:xfrm>
        </p:grpSpPr>
        <p:sp>
          <p:nvSpPr>
            <p:cNvPr id="140" name="object 140" descr=""/>
            <p:cNvSpPr/>
            <p:nvPr/>
          </p:nvSpPr>
          <p:spPr>
            <a:xfrm>
              <a:off x="11517973" y="37959"/>
              <a:ext cx="46355" cy="65405"/>
            </a:xfrm>
            <a:custGeom>
              <a:avLst/>
              <a:gdLst/>
              <a:ahLst/>
              <a:cxnLst/>
              <a:rect l="l" t="t" r="r" b="b"/>
              <a:pathLst>
                <a:path w="46354" h="65405">
                  <a:moveTo>
                    <a:pt x="46355" y="47625"/>
                  </a:moveTo>
                  <a:lnTo>
                    <a:pt x="46316" y="44958"/>
                  </a:lnTo>
                  <a:lnTo>
                    <a:pt x="46139" y="44323"/>
                  </a:lnTo>
                  <a:lnTo>
                    <a:pt x="45504" y="43180"/>
                  </a:lnTo>
                  <a:lnTo>
                    <a:pt x="44996" y="42926"/>
                  </a:lnTo>
                  <a:lnTo>
                    <a:pt x="37236" y="42926"/>
                  </a:lnTo>
                  <a:lnTo>
                    <a:pt x="37236" y="7493"/>
                  </a:lnTo>
                  <a:lnTo>
                    <a:pt x="37122" y="1270"/>
                  </a:lnTo>
                  <a:lnTo>
                    <a:pt x="36741" y="889"/>
                  </a:lnTo>
                  <a:lnTo>
                    <a:pt x="36106" y="508"/>
                  </a:lnTo>
                  <a:lnTo>
                    <a:pt x="34455" y="127"/>
                  </a:lnTo>
                  <a:lnTo>
                    <a:pt x="33566" y="127"/>
                  </a:lnTo>
                  <a:lnTo>
                    <a:pt x="32804" y="0"/>
                  </a:lnTo>
                  <a:lnTo>
                    <a:pt x="28600" y="0"/>
                  </a:lnTo>
                  <a:lnTo>
                    <a:pt x="28600" y="7493"/>
                  </a:lnTo>
                  <a:lnTo>
                    <a:pt x="28600" y="42926"/>
                  </a:lnTo>
                  <a:lnTo>
                    <a:pt x="7772" y="42926"/>
                  </a:lnTo>
                  <a:lnTo>
                    <a:pt x="28473" y="7493"/>
                  </a:lnTo>
                  <a:lnTo>
                    <a:pt x="28600" y="7493"/>
                  </a:lnTo>
                  <a:lnTo>
                    <a:pt x="28600" y="0"/>
                  </a:lnTo>
                  <a:lnTo>
                    <a:pt x="28092" y="0"/>
                  </a:lnTo>
                  <a:lnTo>
                    <a:pt x="27330" y="127"/>
                  </a:lnTo>
                  <a:lnTo>
                    <a:pt x="26695" y="127"/>
                  </a:lnTo>
                  <a:lnTo>
                    <a:pt x="914" y="41148"/>
                  </a:lnTo>
                  <a:lnTo>
                    <a:pt x="787" y="41529"/>
                  </a:lnTo>
                  <a:lnTo>
                    <a:pt x="533" y="41910"/>
                  </a:lnTo>
                  <a:lnTo>
                    <a:pt x="127" y="43180"/>
                  </a:lnTo>
                  <a:lnTo>
                    <a:pt x="0" y="47498"/>
                  </a:lnTo>
                  <a:lnTo>
                    <a:pt x="88" y="48387"/>
                  </a:lnTo>
                  <a:lnTo>
                    <a:pt x="279" y="49022"/>
                  </a:lnTo>
                  <a:lnTo>
                    <a:pt x="533" y="49276"/>
                  </a:lnTo>
                  <a:lnTo>
                    <a:pt x="660" y="49530"/>
                  </a:lnTo>
                  <a:lnTo>
                    <a:pt x="1422" y="49911"/>
                  </a:lnTo>
                  <a:lnTo>
                    <a:pt x="28600" y="49911"/>
                  </a:lnTo>
                  <a:lnTo>
                    <a:pt x="28600" y="63754"/>
                  </a:lnTo>
                  <a:lnTo>
                    <a:pt x="28727" y="64008"/>
                  </a:lnTo>
                  <a:lnTo>
                    <a:pt x="28854" y="64389"/>
                  </a:lnTo>
                  <a:lnTo>
                    <a:pt x="29108" y="64516"/>
                  </a:lnTo>
                  <a:lnTo>
                    <a:pt x="29489" y="64643"/>
                  </a:lnTo>
                  <a:lnTo>
                    <a:pt x="29743" y="64770"/>
                  </a:lnTo>
                  <a:lnTo>
                    <a:pt x="30759" y="65024"/>
                  </a:lnTo>
                  <a:lnTo>
                    <a:pt x="34963" y="65024"/>
                  </a:lnTo>
                  <a:lnTo>
                    <a:pt x="35979" y="64770"/>
                  </a:lnTo>
                  <a:lnTo>
                    <a:pt x="36233" y="64643"/>
                  </a:lnTo>
                  <a:lnTo>
                    <a:pt x="36614" y="64516"/>
                  </a:lnTo>
                  <a:lnTo>
                    <a:pt x="36868" y="64389"/>
                  </a:lnTo>
                  <a:lnTo>
                    <a:pt x="37122" y="64008"/>
                  </a:lnTo>
                  <a:lnTo>
                    <a:pt x="37249" y="49911"/>
                  </a:lnTo>
                  <a:lnTo>
                    <a:pt x="45123" y="49911"/>
                  </a:lnTo>
                  <a:lnTo>
                    <a:pt x="45504" y="49657"/>
                  </a:lnTo>
                  <a:lnTo>
                    <a:pt x="45885" y="49022"/>
                  </a:lnTo>
                  <a:lnTo>
                    <a:pt x="46355" y="47625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2563368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563368" y="231648"/>
                  </a:lnTo>
                  <a:lnTo>
                    <a:pt x="2679192" y="115824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0" y="0"/>
                  </a:moveTo>
                  <a:lnTo>
                    <a:pt x="2563368" y="0"/>
                  </a:lnTo>
                  <a:lnTo>
                    <a:pt x="2679192" y="115824"/>
                  </a:lnTo>
                  <a:lnTo>
                    <a:pt x="2563368" y="231648"/>
                  </a:lnTo>
                  <a:lnTo>
                    <a:pt x="0" y="231648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2685288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5288" y="231648"/>
                  </a:lnTo>
                  <a:lnTo>
                    <a:pt x="2801112" y="115824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0" y="0"/>
                  </a:moveTo>
                  <a:lnTo>
                    <a:pt x="2685288" y="0"/>
                  </a:lnTo>
                  <a:lnTo>
                    <a:pt x="2801112" y="115824"/>
                  </a:lnTo>
                  <a:lnTo>
                    <a:pt x="2685288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2683764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3764" y="231648"/>
                  </a:lnTo>
                  <a:lnTo>
                    <a:pt x="2799588" y="11582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0" y="0"/>
                  </a:moveTo>
                  <a:lnTo>
                    <a:pt x="2683764" y="0"/>
                  </a:lnTo>
                  <a:lnTo>
                    <a:pt x="2799588" y="115824"/>
                  </a:lnTo>
                  <a:lnTo>
                    <a:pt x="2683764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8332" y="0"/>
                  </a:lnTo>
                  <a:lnTo>
                    <a:pt x="121920" y="113587"/>
                  </a:lnTo>
                  <a:lnTo>
                    <a:pt x="0" y="235507"/>
                  </a:lnTo>
                  <a:lnTo>
                    <a:pt x="2677668" y="235507"/>
                  </a:lnTo>
                  <a:lnTo>
                    <a:pt x="2799588" y="113587"/>
                  </a:lnTo>
                  <a:lnTo>
                    <a:pt x="2686000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2799588" y="113587"/>
                  </a:lnTo>
                  <a:lnTo>
                    <a:pt x="2677668" y="235507"/>
                  </a:lnTo>
                  <a:lnTo>
                    <a:pt x="0" y="235507"/>
                  </a:lnTo>
                  <a:lnTo>
                    <a:pt x="121920" y="113587"/>
                  </a:lnTo>
                  <a:lnTo>
                    <a:pt x="8332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5" y="0"/>
                  </a:moveTo>
                  <a:lnTo>
                    <a:pt x="6808" y="0"/>
                  </a:lnTo>
                  <a:lnTo>
                    <a:pt x="121156" y="114349"/>
                  </a:lnTo>
                  <a:lnTo>
                    <a:pt x="0" y="235507"/>
                  </a:lnTo>
                  <a:lnTo>
                    <a:pt x="2584704" y="235507"/>
                  </a:lnTo>
                  <a:lnTo>
                    <a:pt x="2584705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4" y="235507"/>
                  </a:moveTo>
                  <a:lnTo>
                    <a:pt x="0" y="235507"/>
                  </a:lnTo>
                  <a:lnTo>
                    <a:pt x="121157" y="114348"/>
                  </a:lnTo>
                  <a:lnTo>
                    <a:pt x="6808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 txBox="1"/>
          <p:nvPr/>
        </p:nvSpPr>
        <p:spPr>
          <a:xfrm>
            <a:off x="72915" y="9652"/>
            <a:ext cx="120846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EV</a:t>
            </a:r>
            <a:r>
              <a:rPr dirty="0" sz="10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Charging</a:t>
            </a:r>
            <a:r>
              <a:rPr dirty="0" sz="10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Industry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Revamped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Model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5">
                <a:latin typeface="Arial MT"/>
                <a:cs typeface="Arial MT"/>
              </a:rPr>
              <a:t>Implementation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Roadmap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Infrastructure </a:t>
            </a:r>
            <a:r>
              <a:rPr dirty="0" sz="1000" spc="-10">
                <a:latin typeface="Arial MT"/>
                <a:cs typeface="Arial MT"/>
              </a:rPr>
              <a:t>Analysis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20">
                <a:latin typeface="Arial MT"/>
                <a:cs typeface="Arial MT"/>
              </a:rPr>
              <a:t>Feasibility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&amp;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Policy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Recommendations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2" name="object 152" descr=""/>
          <p:cNvSpPr txBox="1"/>
          <p:nvPr/>
        </p:nvSpPr>
        <p:spPr>
          <a:xfrm>
            <a:off x="151655" y="6610604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9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945" y="282168"/>
            <a:ext cx="11485880" cy="2647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130"/>
              <a:t>Enhancing </a:t>
            </a:r>
            <a:r>
              <a:rPr dirty="0" spc="160"/>
              <a:t>customer</a:t>
            </a:r>
            <a:r>
              <a:rPr dirty="0" spc="125"/>
              <a:t> </a:t>
            </a:r>
            <a:r>
              <a:rPr dirty="0" spc="120"/>
              <a:t>value</a:t>
            </a:r>
            <a:r>
              <a:rPr dirty="0" spc="125"/>
              <a:t> </a:t>
            </a:r>
            <a:r>
              <a:rPr dirty="0" spc="200"/>
              <a:t>by</a:t>
            </a:r>
            <a:r>
              <a:rPr dirty="0" spc="130"/>
              <a:t> </a:t>
            </a:r>
            <a:r>
              <a:rPr dirty="0" spc="140"/>
              <a:t>leveraging</a:t>
            </a:r>
            <a:r>
              <a:rPr dirty="0" spc="130"/>
              <a:t> </a:t>
            </a:r>
            <a:r>
              <a:rPr dirty="0" spc="150"/>
              <a:t>strategic</a:t>
            </a:r>
            <a:r>
              <a:rPr dirty="0" spc="135"/>
              <a:t> partnerships</a:t>
            </a:r>
            <a:r>
              <a:rPr dirty="0" spc="125"/>
              <a:t> </a:t>
            </a:r>
            <a:r>
              <a:rPr dirty="0" spc="180"/>
              <a:t>with</a:t>
            </a:r>
            <a:r>
              <a:rPr dirty="0" spc="125"/>
              <a:t> </a:t>
            </a:r>
            <a:r>
              <a:rPr dirty="0" spc="135"/>
              <a:t>existing </a:t>
            </a:r>
            <a:r>
              <a:rPr dirty="0" spc="105"/>
              <a:t>EV</a:t>
            </a:r>
            <a:r>
              <a:rPr dirty="0" spc="130"/>
              <a:t> </a:t>
            </a:r>
            <a:r>
              <a:rPr dirty="0" spc="140"/>
              <a:t>related</a:t>
            </a:r>
            <a:r>
              <a:rPr dirty="0" spc="135"/>
              <a:t> </a:t>
            </a:r>
            <a:r>
              <a:rPr dirty="0" spc="130"/>
              <a:t>infra </a:t>
            </a:r>
            <a:r>
              <a:rPr dirty="0" spc="175"/>
              <a:t>network</a:t>
            </a:r>
            <a:r>
              <a:rPr dirty="0" spc="125"/>
              <a:t> </a:t>
            </a:r>
            <a:r>
              <a:rPr dirty="0" spc="135"/>
              <a:t>owners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7020" y="705261"/>
            <a:ext cx="3396615" cy="1200785"/>
          </a:xfrm>
          <a:prstGeom prst="rect">
            <a:avLst/>
          </a:prstGeom>
          <a:solidFill>
            <a:srgbClr val="8537BE"/>
          </a:solidFill>
          <a:ln w="12700">
            <a:solidFill>
              <a:srgbClr val="7030A0"/>
            </a:solidFill>
          </a:ln>
        </p:spPr>
        <p:txBody>
          <a:bodyPr wrap="square" lIns="0" tIns="130810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1030"/>
              </a:spcBef>
            </a:pP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XYZ</a:t>
            </a:r>
            <a:r>
              <a:rPr dirty="0" sz="11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Ltd</a:t>
            </a:r>
            <a:endParaRPr sz="1150">
              <a:latin typeface="Arial MT"/>
              <a:cs typeface="Arial MT"/>
            </a:endParaRPr>
          </a:p>
          <a:p>
            <a:pPr marL="121285" marR="410209" indent="89535">
              <a:lnSpc>
                <a:spcPct val="100000"/>
              </a:lnSpc>
              <a:spcBef>
                <a:spcPts val="105"/>
              </a:spcBef>
              <a:buChar char="-"/>
              <a:tabLst>
                <a:tab pos="210820" algn="l"/>
              </a:tabLst>
            </a:pP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Private</a:t>
            </a:r>
            <a:r>
              <a:rPr dirty="0" sz="10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70">
                <a:solidFill>
                  <a:srgbClr val="FFFFFF"/>
                </a:solidFill>
                <a:latin typeface="Arial MT"/>
                <a:cs typeface="Arial MT"/>
              </a:rPr>
              <a:t>corporate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75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8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oil</a:t>
            </a:r>
            <a:r>
              <a:rPr dirty="0" sz="10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refineries</a:t>
            </a:r>
            <a:r>
              <a:rPr dirty="0" sz="10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dirty="0" sz="1000" spc="45">
                <a:solidFill>
                  <a:srgbClr val="FFFFFF"/>
                </a:solidFill>
                <a:latin typeface="Arial MT"/>
                <a:cs typeface="Arial MT"/>
              </a:rPr>
              <a:t>Gujarat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Maharashtra</a:t>
            </a:r>
            <a:endParaRPr sz="1000">
              <a:latin typeface="Arial MT"/>
              <a:cs typeface="Arial MT"/>
            </a:endParaRPr>
          </a:p>
          <a:p>
            <a:pPr marL="210820" indent="-89535">
              <a:lnSpc>
                <a:spcPct val="100000"/>
              </a:lnSpc>
              <a:buChar char="-"/>
              <a:tabLst>
                <a:tab pos="210820" algn="l"/>
              </a:tabLst>
            </a:pP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Owns</a:t>
            </a:r>
            <a:r>
              <a:rPr dirty="0" sz="10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55">
                <a:solidFill>
                  <a:srgbClr val="FFFFFF"/>
                </a:solidFill>
                <a:latin typeface="Arial MT"/>
                <a:cs typeface="Arial MT"/>
              </a:rPr>
              <a:t>operates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125">
                <a:solidFill>
                  <a:srgbClr val="FFFFFF"/>
                </a:solidFill>
                <a:latin typeface="Arial MT"/>
                <a:cs typeface="Arial MT"/>
              </a:rPr>
              <a:t>500</a:t>
            </a:r>
            <a:r>
              <a:rPr dirty="0" sz="10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fuel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FFFFFF"/>
                </a:solidFill>
                <a:latin typeface="Arial MT"/>
                <a:cs typeface="Arial MT"/>
              </a:rPr>
              <a:t>stations</a:t>
            </a:r>
            <a:endParaRPr sz="1000">
              <a:latin typeface="Arial MT"/>
              <a:cs typeface="Arial MT"/>
            </a:endParaRPr>
          </a:p>
          <a:p>
            <a:pPr marL="121285" marR="162560" indent="89535">
              <a:lnSpc>
                <a:spcPct val="100000"/>
              </a:lnSpc>
              <a:buChar char="-"/>
              <a:tabLst>
                <a:tab pos="210820" algn="l"/>
              </a:tabLst>
            </a:pP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50%</a:t>
            </a:r>
            <a:r>
              <a:rPr dirty="0" sz="100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75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state/national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60">
                <a:solidFill>
                  <a:srgbClr val="FFFFFF"/>
                </a:solidFill>
                <a:latin typeface="Arial MT"/>
                <a:cs typeface="Arial MT"/>
              </a:rPr>
              <a:t>highways</a:t>
            </a:r>
            <a:r>
              <a:rPr dirty="0" sz="100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0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50%</a:t>
            </a:r>
            <a:r>
              <a:rPr dirty="0" sz="100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urban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areas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876837" y="819125"/>
            <a:ext cx="7978140" cy="1060450"/>
            <a:chOff x="3876837" y="819125"/>
            <a:chExt cx="7978140" cy="1060450"/>
          </a:xfrm>
        </p:grpSpPr>
        <p:sp>
          <p:nvSpPr>
            <p:cNvPr id="5" name="object 5" descr=""/>
            <p:cNvSpPr/>
            <p:nvPr/>
          </p:nvSpPr>
          <p:spPr>
            <a:xfrm>
              <a:off x="4499098" y="832389"/>
              <a:ext cx="3396615" cy="1042669"/>
            </a:xfrm>
            <a:custGeom>
              <a:avLst/>
              <a:gdLst/>
              <a:ahLst/>
              <a:cxnLst/>
              <a:rect l="l" t="t" r="r" b="b"/>
              <a:pathLst>
                <a:path w="3396615" h="1042669">
                  <a:moveTo>
                    <a:pt x="0" y="0"/>
                  </a:moveTo>
                  <a:lnTo>
                    <a:pt x="3396398" y="0"/>
                  </a:lnTo>
                  <a:lnTo>
                    <a:pt x="3396398" y="1042134"/>
                  </a:lnTo>
                  <a:lnTo>
                    <a:pt x="0" y="10421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76837" y="1352059"/>
              <a:ext cx="594995" cy="76200"/>
            </a:xfrm>
            <a:custGeom>
              <a:avLst/>
              <a:gdLst/>
              <a:ahLst/>
              <a:cxnLst/>
              <a:rect l="l" t="t" r="r" b="b"/>
              <a:pathLst>
                <a:path w="594995" h="76200">
                  <a:moveTo>
                    <a:pt x="518378" y="0"/>
                  </a:moveTo>
                  <a:lnTo>
                    <a:pt x="518378" y="76200"/>
                  </a:lnTo>
                  <a:lnTo>
                    <a:pt x="585053" y="42862"/>
                  </a:lnTo>
                  <a:lnTo>
                    <a:pt x="531078" y="42862"/>
                  </a:lnTo>
                  <a:lnTo>
                    <a:pt x="531078" y="33337"/>
                  </a:lnTo>
                  <a:lnTo>
                    <a:pt x="585053" y="33337"/>
                  </a:lnTo>
                  <a:lnTo>
                    <a:pt x="518378" y="0"/>
                  </a:lnTo>
                  <a:close/>
                </a:path>
                <a:path w="594995" h="76200">
                  <a:moveTo>
                    <a:pt x="518378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518378" y="42862"/>
                  </a:lnTo>
                  <a:lnTo>
                    <a:pt x="518378" y="33337"/>
                  </a:lnTo>
                  <a:close/>
                </a:path>
                <a:path w="594995" h="76200">
                  <a:moveTo>
                    <a:pt x="585053" y="33337"/>
                  </a:moveTo>
                  <a:lnTo>
                    <a:pt x="531078" y="33337"/>
                  </a:lnTo>
                  <a:lnTo>
                    <a:pt x="531078" y="42862"/>
                  </a:lnTo>
                  <a:lnTo>
                    <a:pt x="585053" y="42862"/>
                  </a:lnTo>
                  <a:lnTo>
                    <a:pt x="594578" y="38100"/>
                  </a:lnTo>
                  <a:lnTo>
                    <a:pt x="585053" y="3333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1063" y="954023"/>
              <a:ext cx="466343" cy="48767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082117" y="823888"/>
              <a:ext cx="3768090" cy="1044575"/>
            </a:xfrm>
            <a:custGeom>
              <a:avLst/>
              <a:gdLst/>
              <a:ahLst/>
              <a:cxnLst/>
              <a:rect l="l" t="t" r="r" b="b"/>
              <a:pathLst>
                <a:path w="3768090" h="1044575">
                  <a:moveTo>
                    <a:pt x="0" y="0"/>
                  </a:moveTo>
                  <a:lnTo>
                    <a:pt x="3767651" y="0"/>
                  </a:lnTo>
                  <a:lnTo>
                    <a:pt x="3767651" y="1044000"/>
                  </a:lnTo>
                  <a:lnTo>
                    <a:pt x="0" y="10440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5927" y="1143000"/>
              <a:ext cx="341375" cy="332232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1658358" y="1941818"/>
            <a:ext cx="76200" cy="276225"/>
          </a:xfrm>
          <a:custGeom>
            <a:avLst/>
            <a:gdLst/>
            <a:ahLst/>
            <a:cxnLst/>
            <a:rect l="l" t="t" r="r" b="b"/>
            <a:pathLst>
              <a:path w="76200" h="276225">
                <a:moveTo>
                  <a:pt x="33337" y="199490"/>
                </a:moveTo>
                <a:lnTo>
                  <a:pt x="0" y="199490"/>
                </a:lnTo>
                <a:lnTo>
                  <a:pt x="38100" y="275690"/>
                </a:lnTo>
                <a:lnTo>
                  <a:pt x="69850" y="212190"/>
                </a:lnTo>
                <a:lnTo>
                  <a:pt x="33337" y="212190"/>
                </a:lnTo>
                <a:lnTo>
                  <a:pt x="33337" y="199490"/>
                </a:lnTo>
                <a:close/>
              </a:path>
              <a:path w="76200" h="276225">
                <a:moveTo>
                  <a:pt x="42862" y="0"/>
                </a:moveTo>
                <a:lnTo>
                  <a:pt x="33337" y="0"/>
                </a:lnTo>
                <a:lnTo>
                  <a:pt x="33337" y="212190"/>
                </a:lnTo>
                <a:lnTo>
                  <a:pt x="42862" y="212190"/>
                </a:lnTo>
                <a:lnTo>
                  <a:pt x="42862" y="0"/>
                </a:lnTo>
                <a:close/>
              </a:path>
              <a:path w="76200" h="276225">
                <a:moveTo>
                  <a:pt x="76200" y="199490"/>
                </a:moveTo>
                <a:lnTo>
                  <a:pt x="42862" y="199490"/>
                </a:lnTo>
                <a:lnTo>
                  <a:pt x="42862" y="212190"/>
                </a:lnTo>
                <a:lnTo>
                  <a:pt x="69850" y="212190"/>
                </a:lnTo>
                <a:lnTo>
                  <a:pt x="76200" y="19949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837311" y="1932515"/>
            <a:ext cx="76200" cy="285115"/>
          </a:xfrm>
          <a:custGeom>
            <a:avLst/>
            <a:gdLst/>
            <a:ahLst/>
            <a:cxnLst/>
            <a:rect l="l" t="t" r="r" b="b"/>
            <a:pathLst>
              <a:path w="76200" h="285114">
                <a:moveTo>
                  <a:pt x="42862" y="63500"/>
                </a:moveTo>
                <a:lnTo>
                  <a:pt x="33337" y="63500"/>
                </a:lnTo>
                <a:lnTo>
                  <a:pt x="33337" y="284993"/>
                </a:lnTo>
                <a:lnTo>
                  <a:pt x="42862" y="284993"/>
                </a:lnTo>
                <a:lnTo>
                  <a:pt x="42862" y="63500"/>
                </a:lnTo>
                <a:close/>
              </a:path>
              <a:path w="76200" h="285114">
                <a:moveTo>
                  <a:pt x="38098" y="0"/>
                </a:moveTo>
                <a:lnTo>
                  <a:pt x="0" y="76200"/>
                </a:lnTo>
                <a:lnTo>
                  <a:pt x="33337" y="76200"/>
                </a:lnTo>
                <a:lnTo>
                  <a:pt x="33337" y="63500"/>
                </a:lnTo>
                <a:lnTo>
                  <a:pt x="69849" y="63500"/>
                </a:lnTo>
                <a:lnTo>
                  <a:pt x="38098" y="0"/>
                </a:lnTo>
                <a:close/>
              </a:path>
              <a:path w="76200" h="285114">
                <a:moveTo>
                  <a:pt x="69849" y="63500"/>
                </a:moveTo>
                <a:lnTo>
                  <a:pt x="42862" y="63500"/>
                </a:lnTo>
                <a:lnTo>
                  <a:pt x="42862" y="76200"/>
                </a:lnTo>
                <a:lnTo>
                  <a:pt x="76200" y="76200"/>
                </a:lnTo>
                <a:lnTo>
                  <a:pt x="69849" y="635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3535" y="1911095"/>
            <a:ext cx="213360" cy="28041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4351" y="1956816"/>
            <a:ext cx="210312" cy="262127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526399" y="865871"/>
            <a:ext cx="3265170" cy="520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150" spc="120">
                <a:latin typeface="Arial MT"/>
                <a:cs typeface="Arial MT"/>
              </a:rPr>
              <a:t>Target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 spc="120">
                <a:latin typeface="Arial MT"/>
                <a:cs typeface="Arial MT"/>
              </a:rPr>
              <a:t>Customer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70">
                <a:latin typeface="Arial MT"/>
                <a:cs typeface="Arial MT"/>
              </a:rPr>
              <a:t>Group</a:t>
            </a:r>
            <a:r>
              <a:rPr dirty="0" baseline="29629" sz="1125" spc="104">
                <a:latin typeface="Arial MT"/>
                <a:cs typeface="Arial MT"/>
              </a:rPr>
              <a:t>1</a:t>
            </a:r>
            <a:endParaRPr baseline="29629" sz="1125">
              <a:latin typeface="Arial MT"/>
              <a:cs typeface="Arial MT"/>
            </a:endParaRPr>
          </a:p>
          <a:p>
            <a:pPr marL="38100">
              <a:lnSpc>
                <a:spcPts val="1255"/>
              </a:lnSpc>
              <a:spcBef>
                <a:spcPts val="35"/>
              </a:spcBef>
            </a:pPr>
            <a:r>
              <a:rPr dirty="0" sz="1050" i="1">
                <a:latin typeface="Arial"/>
                <a:cs typeface="Arial"/>
              </a:rPr>
              <a:t>Urban</a:t>
            </a:r>
            <a:r>
              <a:rPr dirty="0" sz="1050" spc="114" i="1">
                <a:latin typeface="Arial"/>
                <a:cs typeface="Arial"/>
              </a:rPr>
              <a:t> </a:t>
            </a:r>
            <a:r>
              <a:rPr dirty="0" sz="1050" spc="-10" i="1">
                <a:latin typeface="Arial"/>
                <a:cs typeface="Arial"/>
              </a:rPr>
              <a:t>areas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1195"/>
              </a:lnSpc>
            </a:pPr>
            <a:r>
              <a:rPr dirty="0" sz="1000" spc="90">
                <a:latin typeface="Arial MT"/>
                <a:cs typeface="Arial MT"/>
              </a:rPr>
              <a:t>3W-</a:t>
            </a:r>
            <a:r>
              <a:rPr dirty="0" sz="1000">
                <a:latin typeface="Arial MT"/>
                <a:cs typeface="Arial MT"/>
              </a:rPr>
              <a:t>E-RICK</a:t>
            </a:r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(INR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140Bn),</a:t>
            </a:r>
            <a:r>
              <a:rPr dirty="0" sz="1000" spc="2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Personal</a:t>
            </a:r>
            <a:r>
              <a:rPr dirty="0" sz="1000" spc="18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car</a:t>
            </a:r>
            <a:r>
              <a:rPr dirty="0" sz="1000" spc="1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(INR</a:t>
            </a:r>
            <a:r>
              <a:rPr dirty="0" sz="1000" spc="190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100Bn)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51799" y="1505182"/>
            <a:ext cx="1595755" cy="337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255"/>
              </a:lnSpc>
              <a:spcBef>
                <a:spcPts val="105"/>
              </a:spcBef>
            </a:pPr>
            <a:r>
              <a:rPr dirty="0" sz="1050" spc="20" i="1">
                <a:latin typeface="Arial"/>
                <a:cs typeface="Arial"/>
              </a:rPr>
              <a:t>State/National</a:t>
            </a:r>
            <a:r>
              <a:rPr dirty="0" sz="1050" spc="280" i="1">
                <a:latin typeface="Arial"/>
                <a:cs typeface="Arial"/>
              </a:rPr>
              <a:t> </a:t>
            </a:r>
            <a:r>
              <a:rPr dirty="0" sz="1050" spc="-10" i="1">
                <a:latin typeface="Arial"/>
                <a:cs typeface="Arial"/>
              </a:rPr>
              <a:t>Highways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195"/>
              </a:lnSpc>
            </a:pPr>
            <a:r>
              <a:rPr dirty="0" sz="1000" spc="50">
                <a:latin typeface="Arial MT"/>
                <a:cs typeface="Arial MT"/>
              </a:rPr>
              <a:t>LCV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(INR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15Bn)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8651" y="2262732"/>
            <a:ext cx="3817620" cy="2120900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91440" marR="1488440">
              <a:lnSpc>
                <a:spcPct val="105300"/>
              </a:lnSpc>
              <a:spcBef>
                <a:spcPts val="550"/>
              </a:spcBef>
            </a:pPr>
            <a:r>
              <a:rPr dirty="0" sz="950" spc="100">
                <a:latin typeface="Arial MT"/>
                <a:cs typeface="Arial MT"/>
              </a:rPr>
              <a:t>Strategic</a:t>
            </a:r>
            <a:r>
              <a:rPr dirty="0" sz="950" spc="95">
                <a:latin typeface="Arial MT"/>
                <a:cs typeface="Arial MT"/>
              </a:rPr>
              <a:t> </a:t>
            </a:r>
            <a:r>
              <a:rPr dirty="0" sz="950" spc="75">
                <a:latin typeface="Arial MT"/>
                <a:cs typeface="Arial MT"/>
              </a:rPr>
              <a:t>alliance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120">
                <a:latin typeface="Arial MT"/>
                <a:cs typeface="Arial MT"/>
              </a:rPr>
              <a:t>with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75">
                <a:latin typeface="Arial MT"/>
                <a:cs typeface="Arial MT"/>
              </a:rPr>
              <a:t>EV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 spc="90">
                <a:latin typeface="Arial MT"/>
                <a:cs typeface="Arial MT"/>
              </a:rPr>
              <a:t>charger </a:t>
            </a:r>
            <a:r>
              <a:rPr dirty="0" sz="950" spc="100">
                <a:latin typeface="Arial MT"/>
                <a:cs typeface="Arial MT"/>
              </a:rPr>
              <a:t>Distributors/manufacturers</a:t>
            </a:r>
            <a:endParaRPr sz="95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25"/>
              </a:spcBef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10">
                <a:latin typeface="Arial MT"/>
                <a:cs typeface="Arial MT"/>
              </a:rPr>
              <a:t>Revenue</a:t>
            </a:r>
            <a:r>
              <a:rPr dirty="0" sz="1000" spc="150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&amp;</a:t>
            </a:r>
            <a:r>
              <a:rPr dirty="0" sz="1000" spc="165">
                <a:latin typeface="Arial MT"/>
                <a:cs typeface="Arial MT"/>
              </a:rPr>
              <a:t> </a:t>
            </a:r>
            <a:r>
              <a:rPr dirty="0" sz="1000" spc="10">
                <a:latin typeface="Arial MT"/>
                <a:cs typeface="Arial MT"/>
              </a:rPr>
              <a:t>Resource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sharing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model</a:t>
            </a:r>
            <a:endParaRPr sz="1000">
              <a:latin typeface="Arial MT"/>
              <a:cs typeface="Arial MT"/>
            </a:endParaRPr>
          </a:p>
          <a:p>
            <a:pPr marL="91440">
              <a:lnSpc>
                <a:spcPts val="1255"/>
              </a:lnSpc>
              <a:spcBef>
                <a:spcPts val="1150"/>
              </a:spcBef>
            </a:pPr>
            <a:r>
              <a:rPr dirty="0" sz="1050" spc="40" i="1">
                <a:latin typeface="Arial"/>
                <a:cs typeface="Arial"/>
              </a:rPr>
              <a:t>EV</a:t>
            </a:r>
            <a:r>
              <a:rPr dirty="0" sz="1050" spc="25" i="1">
                <a:latin typeface="Arial"/>
                <a:cs typeface="Arial"/>
              </a:rPr>
              <a:t> </a:t>
            </a:r>
            <a:r>
              <a:rPr dirty="0" sz="1050" spc="40" i="1">
                <a:latin typeface="Arial"/>
                <a:cs typeface="Arial"/>
              </a:rPr>
              <a:t>charger</a:t>
            </a:r>
            <a:r>
              <a:rPr dirty="0" sz="1050" spc="25" i="1">
                <a:latin typeface="Arial"/>
                <a:cs typeface="Arial"/>
              </a:rPr>
              <a:t> </a:t>
            </a:r>
            <a:r>
              <a:rPr dirty="0" sz="1050" spc="40" i="1">
                <a:latin typeface="Arial"/>
                <a:cs typeface="Arial"/>
              </a:rPr>
              <a:t>distributor/manufacturer</a:t>
            </a:r>
            <a:r>
              <a:rPr dirty="0" sz="1050" spc="20" i="1">
                <a:latin typeface="Arial"/>
                <a:cs typeface="Arial"/>
              </a:rPr>
              <a:t> </a:t>
            </a:r>
            <a:r>
              <a:rPr dirty="0" sz="1050" spc="-10" i="1">
                <a:latin typeface="Arial"/>
                <a:cs typeface="Arial"/>
              </a:rPr>
              <a:t>resources:</a:t>
            </a:r>
            <a:endParaRPr sz="1050">
              <a:latin typeface="Arial"/>
              <a:cs typeface="Arial"/>
            </a:endParaRPr>
          </a:p>
          <a:p>
            <a:pPr marL="91440">
              <a:lnSpc>
                <a:spcPts val="1195"/>
              </a:lnSpc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70">
                <a:latin typeface="Arial MT"/>
                <a:cs typeface="Arial MT"/>
              </a:rPr>
              <a:t>Equipment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&amp;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charger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Installment</a:t>
            </a:r>
            <a:endParaRPr sz="1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45">
                <a:latin typeface="Arial MT"/>
                <a:cs typeface="Arial MT"/>
              </a:rPr>
              <a:t>Maintenance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and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technical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expertise</a:t>
            </a:r>
            <a:endParaRPr sz="1000">
              <a:latin typeface="Arial MT"/>
              <a:cs typeface="Arial MT"/>
            </a:endParaRPr>
          </a:p>
          <a:p>
            <a:pPr marL="91440">
              <a:lnSpc>
                <a:spcPts val="1255"/>
              </a:lnSpc>
              <a:spcBef>
                <a:spcPts val="1150"/>
              </a:spcBef>
            </a:pPr>
            <a:r>
              <a:rPr dirty="0" sz="1050" i="1">
                <a:latin typeface="Arial"/>
                <a:cs typeface="Arial"/>
              </a:rPr>
              <a:t>XYZ</a:t>
            </a:r>
            <a:r>
              <a:rPr dirty="0" sz="1050" spc="120" i="1">
                <a:latin typeface="Arial"/>
                <a:cs typeface="Arial"/>
              </a:rPr>
              <a:t> </a:t>
            </a:r>
            <a:r>
              <a:rPr dirty="0" sz="1050" i="1">
                <a:latin typeface="Arial"/>
                <a:cs typeface="Arial"/>
              </a:rPr>
              <a:t>Ltd.</a:t>
            </a:r>
            <a:r>
              <a:rPr dirty="0" sz="1050" spc="135" i="1">
                <a:latin typeface="Arial"/>
                <a:cs typeface="Arial"/>
              </a:rPr>
              <a:t> </a:t>
            </a:r>
            <a:r>
              <a:rPr dirty="0" sz="1050" spc="-10" i="1">
                <a:latin typeface="Arial"/>
                <a:cs typeface="Arial"/>
              </a:rPr>
              <a:t>resources:</a:t>
            </a:r>
            <a:endParaRPr sz="1050">
              <a:latin typeface="Arial"/>
              <a:cs typeface="Arial"/>
            </a:endParaRPr>
          </a:p>
          <a:p>
            <a:pPr marL="91440" marR="441325">
              <a:lnSpc>
                <a:spcPts val="1200"/>
              </a:lnSpc>
              <a:spcBef>
                <a:spcPts val="35"/>
              </a:spcBef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110">
                <a:latin typeface="Arial MT"/>
                <a:cs typeface="Arial MT"/>
              </a:rPr>
              <a:t>App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development,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Land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and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promotions State/National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highways: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Utilizing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current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35">
                <a:latin typeface="Arial MT"/>
                <a:cs typeface="Arial MT"/>
              </a:rPr>
              <a:t>resources</a:t>
            </a:r>
            <a:endParaRPr sz="1000">
              <a:latin typeface="Arial MT"/>
              <a:cs typeface="Arial MT"/>
            </a:endParaRPr>
          </a:p>
          <a:p>
            <a:pPr marL="91440" marR="104139">
              <a:lnSpc>
                <a:spcPts val="1200"/>
              </a:lnSpc>
            </a:pPr>
            <a:r>
              <a:rPr dirty="0" sz="1000" spc="55">
                <a:latin typeface="Arial MT"/>
                <a:cs typeface="Arial MT"/>
              </a:rPr>
              <a:t>Urban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area: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Substituting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75">
                <a:latin typeface="Arial MT"/>
                <a:cs typeface="Arial MT"/>
              </a:rPr>
              <a:t>part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90">
                <a:latin typeface="Arial MT"/>
                <a:cs typeface="Arial MT"/>
              </a:rPr>
              <a:t>of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current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75">
                <a:latin typeface="Arial MT"/>
                <a:cs typeface="Arial MT"/>
              </a:rPr>
              <a:t>petrol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95">
                <a:latin typeface="Arial MT"/>
                <a:cs typeface="Arial MT"/>
              </a:rPr>
              <a:t>pump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with charging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station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98123" y="2627895"/>
            <a:ext cx="1415415" cy="523240"/>
            <a:chOff x="4598123" y="2627895"/>
            <a:chExt cx="1415415" cy="52324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8123" y="2658602"/>
              <a:ext cx="492367" cy="49236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79583" y="2627895"/>
              <a:ext cx="433795" cy="43379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127205" y="2869862"/>
              <a:ext cx="355600" cy="76200"/>
            </a:xfrm>
            <a:custGeom>
              <a:avLst/>
              <a:gdLst/>
              <a:ahLst/>
              <a:cxnLst/>
              <a:rect l="l" t="t" r="r" b="b"/>
              <a:pathLst>
                <a:path w="355600" h="76200">
                  <a:moveTo>
                    <a:pt x="278946" y="0"/>
                  </a:moveTo>
                  <a:lnTo>
                    <a:pt x="278946" y="76200"/>
                  </a:lnTo>
                  <a:lnTo>
                    <a:pt x="348796" y="41275"/>
                  </a:lnTo>
                  <a:lnTo>
                    <a:pt x="291646" y="41275"/>
                  </a:lnTo>
                  <a:lnTo>
                    <a:pt x="291646" y="34925"/>
                  </a:lnTo>
                  <a:lnTo>
                    <a:pt x="348796" y="34925"/>
                  </a:lnTo>
                  <a:lnTo>
                    <a:pt x="278946" y="0"/>
                  </a:lnTo>
                  <a:close/>
                </a:path>
                <a:path w="355600" h="76200">
                  <a:moveTo>
                    <a:pt x="27894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278946" y="41275"/>
                  </a:lnTo>
                  <a:lnTo>
                    <a:pt x="278946" y="34925"/>
                  </a:lnTo>
                  <a:close/>
                </a:path>
                <a:path w="355600" h="76200">
                  <a:moveTo>
                    <a:pt x="348796" y="34925"/>
                  </a:moveTo>
                  <a:lnTo>
                    <a:pt x="291646" y="34925"/>
                  </a:lnTo>
                  <a:lnTo>
                    <a:pt x="291646" y="41275"/>
                  </a:lnTo>
                  <a:lnTo>
                    <a:pt x="348796" y="41275"/>
                  </a:lnTo>
                  <a:lnTo>
                    <a:pt x="355146" y="38100"/>
                  </a:lnTo>
                  <a:lnTo>
                    <a:pt x="34879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484840" y="3200908"/>
            <a:ext cx="7607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048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Arial MT"/>
                <a:cs typeface="Arial MT"/>
              </a:rPr>
              <a:t>EV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45">
                <a:latin typeface="Arial MT"/>
                <a:cs typeface="Arial MT"/>
              </a:rPr>
              <a:t>discharging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500809" y="3094228"/>
            <a:ext cx="14389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Arial MT"/>
                <a:cs typeface="Arial MT"/>
              </a:rPr>
              <a:t>Location: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80">
                <a:latin typeface="Arial MT"/>
                <a:cs typeface="Arial MT"/>
              </a:rPr>
              <a:t>App/Google </a:t>
            </a:r>
            <a:r>
              <a:rPr dirty="0" sz="1000" spc="60">
                <a:latin typeface="Arial MT"/>
                <a:cs typeface="Arial MT"/>
              </a:rPr>
              <a:t>Availability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85">
                <a:latin typeface="Arial MT"/>
                <a:cs typeface="Arial MT"/>
              </a:rPr>
              <a:t>App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latin typeface="Arial MT"/>
                <a:cs typeface="Arial MT"/>
              </a:rPr>
              <a:t>Slot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booking: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85">
                <a:latin typeface="Arial MT"/>
                <a:cs typeface="Arial MT"/>
              </a:rPr>
              <a:t>App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909422" y="2837638"/>
            <a:ext cx="513080" cy="76200"/>
          </a:xfrm>
          <a:custGeom>
            <a:avLst/>
            <a:gdLst/>
            <a:ahLst/>
            <a:cxnLst/>
            <a:rect l="l" t="t" r="r" b="b"/>
            <a:pathLst>
              <a:path w="513079" h="76200">
                <a:moveTo>
                  <a:pt x="436620" y="0"/>
                </a:moveTo>
                <a:lnTo>
                  <a:pt x="436620" y="76200"/>
                </a:lnTo>
                <a:lnTo>
                  <a:pt x="506470" y="41275"/>
                </a:lnTo>
                <a:lnTo>
                  <a:pt x="449320" y="41275"/>
                </a:lnTo>
                <a:lnTo>
                  <a:pt x="449320" y="34925"/>
                </a:lnTo>
                <a:lnTo>
                  <a:pt x="506470" y="34925"/>
                </a:lnTo>
                <a:lnTo>
                  <a:pt x="436620" y="0"/>
                </a:lnTo>
                <a:close/>
              </a:path>
              <a:path w="513079" h="76200">
                <a:moveTo>
                  <a:pt x="436620" y="34925"/>
                </a:moveTo>
                <a:lnTo>
                  <a:pt x="1" y="34925"/>
                </a:lnTo>
                <a:lnTo>
                  <a:pt x="0" y="41275"/>
                </a:lnTo>
                <a:lnTo>
                  <a:pt x="436620" y="41275"/>
                </a:lnTo>
                <a:lnTo>
                  <a:pt x="436620" y="34925"/>
                </a:lnTo>
                <a:close/>
              </a:path>
              <a:path w="513079" h="76200">
                <a:moveTo>
                  <a:pt x="506470" y="34925"/>
                </a:moveTo>
                <a:lnTo>
                  <a:pt x="449320" y="34925"/>
                </a:lnTo>
                <a:lnTo>
                  <a:pt x="449320" y="41275"/>
                </a:lnTo>
                <a:lnTo>
                  <a:pt x="506470" y="41275"/>
                </a:lnTo>
                <a:lnTo>
                  <a:pt x="512820" y="38100"/>
                </a:lnTo>
                <a:lnTo>
                  <a:pt x="506470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88631" y="2564424"/>
            <a:ext cx="639288" cy="639288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7426185" y="3188715"/>
            <a:ext cx="14274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65">
                <a:latin typeface="Arial MT"/>
                <a:cs typeface="Arial MT"/>
              </a:rPr>
              <a:t>Engagement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activities </a:t>
            </a:r>
            <a:r>
              <a:rPr dirty="0" sz="1000" spc="70">
                <a:latin typeface="Arial MT"/>
                <a:cs typeface="Arial MT"/>
              </a:rPr>
              <a:t>at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charging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station</a:t>
            </a:r>
            <a:r>
              <a:rPr dirty="0" sz="1000" spc="105">
                <a:latin typeface="Arial MT"/>
                <a:cs typeface="Arial MT"/>
              </a:rPr>
              <a:t> (30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35">
                <a:latin typeface="Arial MT"/>
                <a:cs typeface="Arial MT"/>
              </a:rPr>
              <a:t>mins)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1398" y="2550984"/>
            <a:ext cx="587618" cy="587618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6511724" y="3592469"/>
            <a:ext cx="3445510" cy="255270"/>
          </a:xfrm>
          <a:custGeom>
            <a:avLst/>
            <a:gdLst/>
            <a:ahLst/>
            <a:cxnLst/>
            <a:rect l="l" t="t" r="r" b="b"/>
            <a:pathLst>
              <a:path w="3445509" h="255270">
                <a:moveTo>
                  <a:pt x="6350" y="23027"/>
                </a:moveTo>
                <a:lnTo>
                  <a:pt x="0" y="23027"/>
                </a:lnTo>
                <a:lnTo>
                  <a:pt x="0" y="73827"/>
                </a:lnTo>
                <a:lnTo>
                  <a:pt x="6350" y="73827"/>
                </a:lnTo>
                <a:lnTo>
                  <a:pt x="6350" y="23027"/>
                </a:lnTo>
                <a:close/>
              </a:path>
              <a:path w="3445509" h="255270">
                <a:moveTo>
                  <a:pt x="6350" y="92877"/>
                </a:moveTo>
                <a:lnTo>
                  <a:pt x="0" y="92877"/>
                </a:lnTo>
                <a:lnTo>
                  <a:pt x="0" y="143677"/>
                </a:lnTo>
                <a:lnTo>
                  <a:pt x="6350" y="143677"/>
                </a:lnTo>
                <a:lnTo>
                  <a:pt x="6350" y="92877"/>
                </a:lnTo>
                <a:close/>
              </a:path>
              <a:path w="3445509" h="255270">
                <a:moveTo>
                  <a:pt x="6350" y="162727"/>
                </a:moveTo>
                <a:lnTo>
                  <a:pt x="0" y="162727"/>
                </a:lnTo>
                <a:lnTo>
                  <a:pt x="0" y="213527"/>
                </a:lnTo>
                <a:lnTo>
                  <a:pt x="6350" y="213527"/>
                </a:lnTo>
                <a:lnTo>
                  <a:pt x="6350" y="162727"/>
                </a:lnTo>
                <a:close/>
              </a:path>
              <a:path w="3445509" h="255270">
                <a:moveTo>
                  <a:pt x="6350" y="232577"/>
                </a:moveTo>
                <a:lnTo>
                  <a:pt x="0" y="232577"/>
                </a:lnTo>
                <a:lnTo>
                  <a:pt x="0" y="254802"/>
                </a:lnTo>
                <a:lnTo>
                  <a:pt x="34925" y="254802"/>
                </a:lnTo>
                <a:lnTo>
                  <a:pt x="34925" y="251627"/>
                </a:lnTo>
                <a:lnTo>
                  <a:pt x="6350" y="251627"/>
                </a:lnTo>
                <a:lnTo>
                  <a:pt x="3175" y="248452"/>
                </a:lnTo>
                <a:lnTo>
                  <a:pt x="6350" y="248452"/>
                </a:lnTo>
                <a:lnTo>
                  <a:pt x="6350" y="232577"/>
                </a:lnTo>
                <a:close/>
              </a:path>
              <a:path w="3445509" h="255270">
                <a:moveTo>
                  <a:pt x="6350" y="248452"/>
                </a:moveTo>
                <a:lnTo>
                  <a:pt x="3175" y="248452"/>
                </a:lnTo>
                <a:lnTo>
                  <a:pt x="6350" y="251627"/>
                </a:lnTo>
                <a:lnTo>
                  <a:pt x="6350" y="248452"/>
                </a:lnTo>
                <a:close/>
              </a:path>
              <a:path w="3445509" h="255270">
                <a:moveTo>
                  <a:pt x="34925" y="248452"/>
                </a:moveTo>
                <a:lnTo>
                  <a:pt x="6350" y="248452"/>
                </a:lnTo>
                <a:lnTo>
                  <a:pt x="6350" y="251627"/>
                </a:lnTo>
                <a:lnTo>
                  <a:pt x="34925" y="251627"/>
                </a:lnTo>
                <a:lnTo>
                  <a:pt x="34925" y="248452"/>
                </a:lnTo>
                <a:close/>
              </a:path>
              <a:path w="3445509" h="255270">
                <a:moveTo>
                  <a:pt x="104775" y="248452"/>
                </a:moveTo>
                <a:lnTo>
                  <a:pt x="53975" y="248452"/>
                </a:lnTo>
                <a:lnTo>
                  <a:pt x="53975" y="254802"/>
                </a:lnTo>
                <a:lnTo>
                  <a:pt x="104775" y="254802"/>
                </a:lnTo>
                <a:lnTo>
                  <a:pt x="104775" y="248452"/>
                </a:lnTo>
                <a:close/>
              </a:path>
              <a:path w="3445509" h="255270">
                <a:moveTo>
                  <a:pt x="174625" y="248452"/>
                </a:moveTo>
                <a:lnTo>
                  <a:pt x="123825" y="248452"/>
                </a:lnTo>
                <a:lnTo>
                  <a:pt x="123825" y="254802"/>
                </a:lnTo>
                <a:lnTo>
                  <a:pt x="174625" y="254802"/>
                </a:lnTo>
                <a:lnTo>
                  <a:pt x="174625" y="248452"/>
                </a:lnTo>
                <a:close/>
              </a:path>
              <a:path w="3445509" h="255270">
                <a:moveTo>
                  <a:pt x="244475" y="248452"/>
                </a:moveTo>
                <a:lnTo>
                  <a:pt x="193675" y="248452"/>
                </a:lnTo>
                <a:lnTo>
                  <a:pt x="193675" y="254802"/>
                </a:lnTo>
                <a:lnTo>
                  <a:pt x="244475" y="254802"/>
                </a:lnTo>
                <a:lnTo>
                  <a:pt x="244475" y="248452"/>
                </a:lnTo>
                <a:close/>
              </a:path>
              <a:path w="3445509" h="255270">
                <a:moveTo>
                  <a:pt x="314325" y="248452"/>
                </a:moveTo>
                <a:lnTo>
                  <a:pt x="263525" y="248452"/>
                </a:lnTo>
                <a:lnTo>
                  <a:pt x="263525" y="254802"/>
                </a:lnTo>
                <a:lnTo>
                  <a:pt x="314325" y="254802"/>
                </a:lnTo>
                <a:lnTo>
                  <a:pt x="314325" y="248452"/>
                </a:lnTo>
                <a:close/>
              </a:path>
              <a:path w="3445509" h="255270">
                <a:moveTo>
                  <a:pt x="384175" y="248452"/>
                </a:moveTo>
                <a:lnTo>
                  <a:pt x="333375" y="248452"/>
                </a:lnTo>
                <a:lnTo>
                  <a:pt x="333375" y="254802"/>
                </a:lnTo>
                <a:lnTo>
                  <a:pt x="384175" y="254802"/>
                </a:lnTo>
                <a:lnTo>
                  <a:pt x="384175" y="248452"/>
                </a:lnTo>
                <a:close/>
              </a:path>
              <a:path w="3445509" h="255270">
                <a:moveTo>
                  <a:pt x="454025" y="248452"/>
                </a:moveTo>
                <a:lnTo>
                  <a:pt x="403225" y="248452"/>
                </a:lnTo>
                <a:lnTo>
                  <a:pt x="403225" y="254802"/>
                </a:lnTo>
                <a:lnTo>
                  <a:pt x="454025" y="254802"/>
                </a:lnTo>
                <a:lnTo>
                  <a:pt x="454025" y="248452"/>
                </a:lnTo>
                <a:close/>
              </a:path>
              <a:path w="3445509" h="255270">
                <a:moveTo>
                  <a:pt x="523875" y="248452"/>
                </a:moveTo>
                <a:lnTo>
                  <a:pt x="473075" y="248452"/>
                </a:lnTo>
                <a:lnTo>
                  <a:pt x="473075" y="254802"/>
                </a:lnTo>
                <a:lnTo>
                  <a:pt x="523875" y="254802"/>
                </a:lnTo>
                <a:lnTo>
                  <a:pt x="523875" y="248452"/>
                </a:lnTo>
                <a:close/>
              </a:path>
              <a:path w="3445509" h="255270">
                <a:moveTo>
                  <a:pt x="593725" y="248452"/>
                </a:moveTo>
                <a:lnTo>
                  <a:pt x="542925" y="248452"/>
                </a:lnTo>
                <a:lnTo>
                  <a:pt x="542925" y="254802"/>
                </a:lnTo>
                <a:lnTo>
                  <a:pt x="593725" y="254802"/>
                </a:lnTo>
                <a:lnTo>
                  <a:pt x="593725" y="248452"/>
                </a:lnTo>
                <a:close/>
              </a:path>
              <a:path w="3445509" h="255270">
                <a:moveTo>
                  <a:pt x="663575" y="248452"/>
                </a:moveTo>
                <a:lnTo>
                  <a:pt x="612775" y="248452"/>
                </a:lnTo>
                <a:lnTo>
                  <a:pt x="612775" y="254802"/>
                </a:lnTo>
                <a:lnTo>
                  <a:pt x="663575" y="254802"/>
                </a:lnTo>
                <a:lnTo>
                  <a:pt x="663575" y="248452"/>
                </a:lnTo>
                <a:close/>
              </a:path>
              <a:path w="3445509" h="255270">
                <a:moveTo>
                  <a:pt x="733425" y="248452"/>
                </a:moveTo>
                <a:lnTo>
                  <a:pt x="682625" y="248452"/>
                </a:lnTo>
                <a:lnTo>
                  <a:pt x="682625" y="254802"/>
                </a:lnTo>
                <a:lnTo>
                  <a:pt x="733425" y="254802"/>
                </a:lnTo>
                <a:lnTo>
                  <a:pt x="733425" y="248452"/>
                </a:lnTo>
                <a:close/>
              </a:path>
              <a:path w="3445509" h="255270">
                <a:moveTo>
                  <a:pt x="803275" y="248452"/>
                </a:moveTo>
                <a:lnTo>
                  <a:pt x="752475" y="248452"/>
                </a:lnTo>
                <a:lnTo>
                  <a:pt x="752475" y="254802"/>
                </a:lnTo>
                <a:lnTo>
                  <a:pt x="803275" y="254802"/>
                </a:lnTo>
                <a:lnTo>
                  <a:pt x="803275" y="248452"/>
                </a:lnTo>
                <a:close/>
              </a:path>
              <a:path w="3445509" h="255270">
                <a:moveTo>
                  <a:pt x="873125" y="248452"/>
                </a:moveTo>
                <a:lnTo>
                  <a:pt x="822325" y="248452"/>
                </a:lnTo>
                <a:lnTo>
                  <a:pt x="822325" y="254802"/>
                </a:lnTo>
                <a:lnTo>
                  <a:pt x="873125" y="254802"/>
                </a:lnTo>
                <a:lnTo>
                  <a:pt x="873125" y="248452"/>
                </a:lnTo>
                <a:close/>
              </a:path>
              <a:path w="3445509" h="255270">
                <a:moveTo>
                  <a:pt x="942975" y="248452"/>
                </a:moveTo>
                <a:lnTo>
                  <a:pt x="892175" y="248452"/>
                </a:lnTo>
                <a:lnTo>
                  <a:pt x="892175" y="254802"/>
                </a:lnTo>
                <a:lnTo>
                  <a:pt x="942975" y="254802"/>
                </a:lnTo>
                <a:lnTo>
                  <a:pt x="942975" y="248452"/>
                </a:lnTo>
                <a:close/>
              </a:path>
              <a:path w="3445509" h="255270">
                <a:moveTo>
                  <a:pt x="1012825" y="248452"/>
                </a:moveTo>
                <a:lnTo>
                  <a:pt x="962025" y="248452"/>
                </a:lnTo>
                <a:lnTo>
                  <a:pt x="962025" y="254802"/>
                </a:lnTo>
                <a:lnTo>
                  <a:pt x="1012825" y="254802"/>
                </a:lnTo>
                <a:lnTo>
                  <a:pt x="1012825" y="248452"/>
                </a:lnTo>
                <a:close/>
              </a:path>
              <a:path w="3445509" h="255270">
                <a:moveTo>
                  <a:pt x="1082675" y="248452"/>
                </a:moveTo>
                <a:lnTo>
                  <a:pt x="1031875" y="248452"/>
                </a:lnTo>
                <a:lnTo>
                  <a:pt x="1031875" y="254802"/>
                </a:lnTo>
                <a:lnTo>
                  <a:pt x="1082675" y="254802"/>
                </a:lnTo>
                <a:lnTo>
                  <a:pt x="1082675" y="248452"/>
                </a:lnTo>
                <a:close/>
              </a:path>
              <a:path w="3445509" h="255270">
                <a:moveTo>
                  <a:pt x="1152525" y="248452"/>
                </a:moveTo>
                <a:lnTo>
                  <a:pt x="1101725" y="248452"/>
                </a:lnTo>
                <a:lnTo>
                  <a:pt x="1101725" y="254802"/>
                </a:lnTo>
                <a:lnTo>
                  <a:pt x="1152525" y="254802"/>
                </a:lnTo>
                <a:lnTo>
                  <a:pt x="1152525" y="248452"/>
                </a:lnTo>
                <a:close/>
              </a:path>
              <a:path w="3445509" h="255270">
                <a:moveTo>
                  <a:pt x="1222375" y="248452"/>
                </a:moveTo>
                <a:lnTo>
                  <a:pt x="1171575" y="248452"/>
                </a:lnTo>
                <a:lnTo>
                  <a:pt x="1171575" y="254802"/>
                </a:lnTo>
                <a:lnTo>
                  <a:pt x="1222375" y="254802"/>
                </a:lnTo>
                <a:lnTo>
                  <a:pt x="1222375" y="248452"/>
                </a:lnTo>
                <a:close/>
              </a:path>
              <a:path w="3445509" h="255270">
                <a:moveTo>
                  <a:pt x="1292225" y="248452"/>
                </a:moveTo>
                <a:lnTo>
                  <a:pt x="1241425" y="248452"/>
                </a:lnTo>
                <a:lnTo>
                  <a:pt x="1241425" y="254802"/>
                </a:lnTo>
                <a:lnTo>
                  <a:pt x="1292225" y="254802"/>
                </a:lnTo>
                <a:lnTo>
                  <a:pt x="1292225" y="248452"/>
                </a:lnTo>
                <a:close/>
              </a:path>
              <a:path w="3445509" h="255270">
                <a:moveTo>
                  <a:pt x="1362075" y="248452"/>
                </a:moveTo>
                <a:lnTo>
                  <a:pt x="1311275" y="248452"/>
                </a:lnTo>
                <a:lnTo>
                  <a:pt x="1311275" y="254802"/>
                </a:lnTo>
                <a:lnTo>
                  <a:pt x="1362075" y="254802"/>
                </a:lnTo>
                <a:lnTo>
                  <a:pt x="1362075" y="248452"/>
                </a:lnTo>
                <a:close/>
              </a:path>
              <a:path w="3445509" h="255270">
                <a:moveTo>
                  <a:pt x="1431925" y="248452"/>
                </a:moveTo>
                <a:lnTo>
                  <a:pt x="1381125" y="248452"/>
                </a:lnTo>
                <a:lnTo>
                  <a:pt x="1381125" y="254802"/>
                </a:lnTo>
                <a:lnTo>
                  <a:pt x="1431925" y="254802"/>
                </a:lnTo>
                <a:lnTo>
                  <a:pt x="1431925" y="248452"/>
                </a:lnTo>
                <a:close/>
              </a:path>
              <a:path w="3445509" h="255270">
                <a:moveTo>
                  <a:pt x="1501775" y="248452"/>
                </a:moveTo>
                <a:lnTo>
                  <a:pt x="1450975" y="248452"/>
                </a:lnTo>
                <a:lnTo>
                  <a:pt x="1450975" y="254802"/>
                </a:lnTo>
                <a:lnTo>
                  <a:pt x="1501775" y="254802"/>
                </a:lnTo>
                <a:lnTo>
                  <a:pt x="1501775" y="248452"/>
                </a:lnTo>
                <a:close/>
              </a:path>
              <a:path w="3445509" h="255270">
                <a:moveTo>
                  <a:pt x="1571625" y="248452"/>
                </a:moveTo>
                <a:lnTo>
                  <a:pt x="1520825" y="248452"/>
                </a:lnTo>
                <a:lnTo>
                  <a:pt x="1520825" y="254802"/>
                </a:lnTo>
                <a:lnTo>
                  <a:pt x="1571625" y="254802"/>
                </a:lnTo>
                <a:lnTo>
                  <a:pt x="1571625" y="248452"/>
                </a:lnTo>
                <a:close/>
              </a:path>
              <a:path w="3445509" h="255270">
                <a:moveTo>
                  <a:pt x="1641475" y="248452"/>
                </a:moveTo>
                <a:lnTo>
                  <a:pt x="1590675" y="248452"/>
                </a:lnTo>
                <a:lnTo>
                  <a:pt x="1590675" y="254802"/>
                </a:lnTo>
                <a:lnTo>
                  <a:pt x="1641475" y="254802"/>
                </a:lnTo>
                <a:lnTo>
                  <a:pt x="1641475" y="248452"/>
                </a:lnTo>
                <a:close/>
              </a:path>
              <a:path w="3445509" h="255270">
                <a:moveTo>
                  <a:pt x="1711325" y="248452"/>
                </a:moveTo>
                <a:lnTo>
                  <a:pt x="1660525" y="248452"/>
                </a:lnTo>
                <a:lnTo>
                  <a:pt x="1660525" y="254802"/>
                </a:lnTo>
                <a:lnTo>
                  <a:pt x="1711325" y="254802"/>
                </a:lnTo>
                <a:lnTo>
                  <a:pt x="1711325" y="248452"/>
                </a:lnTo>
                <a:close/>
              </a:path>
              <a:path w="3445509" h="255270">
                <a:moveTo>
                  <a:pt x="1781175" y="248452"/>
                </a:moveTo>
                <a:lnTo>
                  <a:pt x="1730375" y="248452"/>
                </a:lnTo>
                <a:lnTo>
                  <a:pt x="1730375" y="254802"/>
                </a:lnTo>
                <a:lnTo>
                  <a:pt x="1781175" y="254802"/>
                </a:lnTo>
                <a:lnTo>
                  <a:pt x="1781175" y="248452"/>
                </a:lnTo>
                <a:close/>
              </a:path>
              <a:path w="3445509" h="255270">
                <a:moveTo>
                  <a:pt x="1851025" y="248452"/>
                </a:moveTo>
                <a:lnTo>
                  <a:pt x="1800225" y="248452"/>
                </a:lnTo>
                <a:lnTo>
                  <a:pt x="1800225" y="254802"/>
                </a:lnTo>
                <a:lnTo>
                  <a:pt x="1851025" y="254802"/>
                </a:lnTo>
                <a:lnTo>
                  <a:pt x="1851025" y="248452"/>
                </a:lnTo>
                <a:close/>
              </a:path>
              <a:path w="3445509" h="255270">
                <a:moveTo>
                  <a:pt x="1920875" y="248452"/>
                </a:moveTo>
                <a:lnTo>
                  <a:pt x="1870075" y="248452"/>
                </a:lnTo>
                <a:lnTo>
                  <a:pt x="1870075" y="254802"/>
                </a:lnTo>
                <a:lnTo>
                  <a:pt x="1920875" y="254802"/>
                </a:lnTo>
                <a:lnTo>
                  <a:pt x="1920875" y="248452"/>
                </a:lnTo>
                <a:close/>
              </a:path>
              <a:path w="3445509" h="255270">
                <a:moveTo>
                  <a:pt x="1990725" y="248452"/>
                </a:moveTo>
                <a:lnTo>
                  <a:pt x="1939925" y="248452"/>
                </a:lnTo>
                <a:lnTo>
                  <a:pt x="1939925" y="254802"/>
                </a:lnTo>
                <a:lnTo>
                  <a:pt x="1990725" y="254802"/>
                </a:lnTo>
                <a:lnTo>
                  <a:pt x="1990725" y="248452"/>
                </a:lnTo>
                <a:close/>
              </a:path>
              <a:path w="3445509" h="255270">
                <a:moveTo>
                  <a:pt x="2060575" y="248452"/>
                </a:moveTo>
                <a:lnTo>
                  <a:pt x="2009775" y="248452"/>
                </a:lnTo>
                <a:lnTo>
                  <a:pt x="2009775" y="254802"/>
                </a:lnTo>
                <a:lnTo>
                  <a:pt x="2060575" y="254802"/>
                </a:lnTo>
                <a:lnTo>
                  <a:pt x="2060575" y="248452"/>
                </a:lnTo>
                <a:close/>
              </a:path>
              <a:path w="3445509" h="255270">
                <a:moveTo>
                  <a:pt x="2130425" y="248452"/>
                </a:moveTo>
                <a:lnTo>
                  <a:pt x="2079625" y="248452"/>
                </a:lnTo>
                <a:lnTo>
                  <a:pt x="2079625" y="254802"/>
                </a:lnTo>
                <a:lnTo>
                  <a:pt x="2130425" y="254802"/>
                </a:lnTo>
                <a:lnTo>
                  <a:pt x="2130425" y="248452"/>
                </a:lnTo>
                <a:close/>
              </a:path>
              <a:path w="3445509" h="255270">
                <a:moveTo>
                  <a:pt x="2200275" y="248452"/>
                </a:moveTo>
                <a:lnTo>
                  <a:pt x="2149475" y="248452"/>
                </a:lnTo>
                <a:lnTo>
                  <a:pt x="2149475" y="254802"/>
                </a:lnTo>
                <a:lnTo>
                  <a:pt x="2200275" y="254802"/>
                </a:lnTo>
                <a:lnTo>
                  <a:pt x="2200275" y="248452"/>
                </a:lnTo>
                <a:close/>
              </a:path>
              <a:path w="3445509" h="255270">
                <a:moveTo>
                  <a:pt x="2270125" y="248452"/>
                </a:moveTo>
                <a:lnTo>
                  <a:pt x="2219325" y="248452"/>
                </a:lnTo>
                <a:lnTo>
                  <a:pt x="2219325" y="254802"/>
                </a:lnTo>
                <a:lnTo>
                  <a:pt x="2270125" y="254802"/>
                </a:lnTo>
                <a:lnTo>
                  <a:pt x="2270125" y="248452"/>
                </a:lnTo>
                <a:close/>
              </a:path>
              <a:path w="3445509" h="255270">
                <a:moveTo>
                  <a:pt x="2339975" y="248452"/>
                </a:moveTo>
                <a:lnTo>
                  <a:pt x="2289175" y="248452"/>
                </a:lnTo>
                <a:lnTo>
                  <a:pt x="2289175" y="254802"/>
                </a:lnTo>
                <a:lnTo>
                  <a:pt x="2339975" y="254802"/>
                </a:lnTo>
                <a:lnTo>
                  <a:pt x="2339975" y="248452"/>
                </a:lnTo>
                <a:close/>
              </a:path>
              <a:path w="3445509" h="255270">
                <a:moveTo>
                  <a:pt x="2409825" y="248452"/>
                </a:moveTo>
                <a:lnTo>
                  <a:pt x="2359025" y="248452"/>
                </a:lnTo>
                <a:lnTo>
                  <a:pt x="2359025" y="254802"/>
                </a:lnTo>
                <a:lnTo>
                  <a:pt x="2409825" y="254802"/>
                </a:lnTo>
                <a:lnTo>
                  <a:pt x="2409825" y="248452"/>
                </a:lnTo>
                <a:close/>
              </a:path>
              <a:path w="3445509" h="255270">
                <a:moveTo>
                  <a:pt x="2479675" y="248452"/>
                </a:moveTo>
                <a:lnTo>
                  <a:pt x="2428875" y="248452"/>
                </a:lnTo>
                <a:lnTo>
                  <a:pt x="2428875" y="254802"/>
                </a:lnTo>
                <a:lnTo>
                  <a:pt x="2479675" y="254802"/>
                </a:lnTo>
                <a:lnTo>
                  <a:pt x="2479675" y="248452"/>
                </a:lnTo>
                <a:close/>
              </a:path>
              <a:path w="3445509" h="255270">
                <a:moveTo>
                  <a:pt x="2549525" y="248452"/>
                </a:moveTo>
                <a:lnTo>
                  <a:pt x="2498725" y="248452"/>
                </a:lnTo>
                <a:lnTo>
                  <a:pt x="2498725" y="254802"/>
                </a:lnTo>
                <a:lnTo>
                  <a:pt x="2549525" y="254802"/>
                </a:lnTo>
                <a:lnTo>
                  <a:pt x="2549525" y="248452"/>
                </a:lnTo>
                <a:close/>
              </a:path>
              <a:path w="3445509" h="255270">
                <a:moveTo>
                  <a:pt x="2619375" y="248452"/>
                </a:moveTo>
                <a:lnTo>
                  <a:pt x="2568575" y="248452"/>
                </a:lnTo>
                <a:lnTo>
                  <a:pt x="2568575" y="254802"/>
                </a:lnTo>
                <a:lnTo>
                  <a:pt x="2619375" y="254802"/>
                </a:lnTo>
                <a:lnTo>
                  <a:pt x="2619375" y="248452"/>
                </a:lnTo>
                <a:close/>
              </a:path>
              <a:path w="3445509" h="255270">
                <a:moveTo>
                  <a:pt x="2689225" y="248452"/>
                </a:moveTo>
                <a:lnTo>
                  <a:pt x="2638425" y="248452"/>
                </a:lnTo>
                <a:lnTo>
                  <a:pt x="2638425" y="254802"/>
                </a:lnTo>
                <a:lnTo>
                  <a:pt x="2689225" y="254802"/>
                </a:lnTo>
                <a:lnTo>
                  <a:pt x="2689225" y="248452"/>
                </a:lnTo>
                <a:close/>
              </a:path>
              <a:path w="3445509" h="255270">
                <a:moveTo>
                  <a:pt x="2759075" y="248452"/>
                </a:moveTo>
                <a:lnTo>
                  <a:pt x="2708275" y="248452"/>
                </a:lnTo>
                <a:lnTo>
                  <a:pt x="2708275" y="254802"/>
                </a:lnTo>
                <a:lnTo>
                  <a:pt x="2759075" y="254802"/>
                </a:lnTo>
                <a:lnTo>
                  <a:pt x="2759075" y="248452"/>
                </a:lnTo>
                <a:close/>
              </a:path>
              <a:path w="3445509" h="255270">
                <a:moveTo>
                  <a:pt x="2828925" y="248452"/>
                </a:moveTo>
                <a:lnTo>
                  <a:pt x="2778125" y="248452"/>
                </a:lnTo>
                <a:lnTo>
                  <a:pt x="2778125" y="254802"/>
                </a:lnTo>
                <a:lnTo>
                  <a:pt x="2828925" y="254802"/>
                </a:lnTo>
                <a:lnTo>
                  <a:pt x="2828925" y="248452"/>
                </a:lnTo>
                <a:close/>
              </a:path>
              <a:path w="3445509" h="255270">
                <a:moveTo>
                  <a:pt x="2898775" y="248452"/>
                </a:moveTo>
                <a:lnTo>
                  <a:pt x="2847975" y="248452"/>
                </a:lnTo>
                <a:lnTo>
                  <a:pt x="2847975" y="254802"/>
                </a:lnTo>
                <a:lnTo>
                  <a:pt x="2898775" y="254802"/>
                </a:lnTo>
                <a:lnTo>
                  <a:pt x="2898775" y="248452"/>
                </a:lnTo>
                <a:close/>
              </a:path>
              <a:path w="3445509" h="255270">
                <a:moveTo>
                  <a:pt x="2968625" y="248452"/>
                </a:moveTo>
                <a:lnTo>
                  <a:pt x="2917825" y="248452"/>
                </a:lnTo>
                <a:lnTo>
                  <a:pt x="2917825" y="254802"/>
                </a:lnTo>
                <a:lnTo>
                  <a:pt x="2968625" y="254802"/>
                </a:lnTo>
                <a:lnTo>
                  <a:pt x="2968625" y="248452"/>
                </a:lnTo>
                <a:close/>
              </a:path>
              <a:path w="3445509" h="255270">
                <a:moveTo>
                  <a:pt x="3038475" y="248452"/>
                </a:moveTo>
                <a:lnTo>
                  <a:pt x="2987675" y="248452"/>
                </a:lnTo>
                <a:lnTo>
                  <a:pt x="2987675" y="254802"/>
                </a:lnTo>
                <a:lnTo>
                  <a:pt x="3038475" y="254802"/>
                </a:lnTo>
                <a:lnTo>
                  <a:pt x="3038475" y="248452"/>
                </a:lnTo>
                <a:close/>
              </a:path>
              <a:path w="3445509" h="255270">
                <a:moveTo>
                  <a:pt x="3108325" y="248452"/>
                </a:moveTo>
                <a:lnTo>
                  <a:pt x="3057525" y="248452"/>
                </a:lnTo>
                <a:lnTo>
                  <a:pt x="3057525" y="254802"/>
                </a:lnTo>
                <a:lnTo>
                  <a:pt x="3108325" y="254802"/>
                </a:lnTo>
                <a:lnTo>
                  <a:pt x="3108325" y="248452"/>
                </a:lnTo>
                <a:close/>
              </a:path>
              <a:path w="3445509" h="255270">
                <a:moveTo>
                  <a:pt x="3178175" y="248452"/>
                </a:moveTo>
                <a:lnTo>
                  <a:pt x="3127375" y="248452"/>
                </a:lnTo>
                <a:lnTo>
                  <a:pt x="3127375" y="254802"/>
                </a:lnTo>
                <a:lnTo>
                  <a:pt x="3178175" y="254802"/>
                </a:lnTo>
                <a:lnTo>
                  <a:pt x="3178175" y="248452"/>
                </a:lnTo>
                <a:close/>
              </a:path>
              <a:path w="3445509" h="255270">
                <a:moveTo>
                  <a:pt x="3248025" y="248452"/>
                </a:moveTo>
                <a:lnTo>
                  <a:pt x="3197225" y="248452"/>
                </a:lnTo>
                <a:lnTo>
                  <a:pt x="3197225" y="254802"/>
                </a:lnTo>
                <a:lnTo>
                  <a:pt x="3248025" y="254802"/>
                </a:lnTo>
                <a:lnTo>
                  <a:pt x="3248025" y="248452"/>
                </a:lnTo>
                <a:close/>
              </a:path>
              <a:path w="3445509" h="255270">
                <a:moveTo>
                  <a:pt x="3317875" y="248452"/>
                </a:moveTo>
                <a:lnTo>
                  <a:pt x="3267075" y="248452"/>
                </a:lnTo>
                <a:lnTo>
                  <a:pt x="3267075" y="254802"/>
                </a:lnTo>
                <a:lnTo>
                  <a:pt x="3317875" y="254802"/>
                </a:lnTo>
                <a:lnTo>
                  <a:pt x="3317875" y="248452"/>
                </a:lnTo>
                <a:close/>
              </a:path>
              <a:path w="3445509" h="255270">
                <a:moveTo>
                  <a:pt x="3387725" y="248452"/>
                </a:moveTo>
                <a:lnTo>
                  <a:pt x="3336925" y="248452"/>
                </a:lnTo>
                <a:lnTo>
                  <a:pt x="3336925" y="254802"/>
                </a:lnTo>
                <a:lnTo>
                  <a:pt x="3387725" y="254802"/>
                </a:lnTo>
                <a:lnTo>
                  <a:pt x="3387725" y="248452"/>
                </a:lnTo>
                <a:close/>
              </a:path>
              <a:path w="3445509" h="255270">
                <a:moveTo>
                  <a:pt x="3410197" y="248452"/>
                </a:moveTo>
                <a:lnTo>
                  <a:pt x="3407022" y="248452"/>
                </a:lnTo>
                <a:lnTo>
                  <a:pt x="3406775" y="248700"/>
                </a:lnTo>
                <a:lnTo>
                  <a:pt x="3406775" y="254802"/>
                </a:lnTo>
                <a:lnTo>
                  <a:pt x="3410197" y="254802"/>
                </a:lnTo>
                <a:lnTo>
                  <a:pt x="3410197" y="248452"/>
                </a:lnTo>
                <a:close/>
              </a:path>
              <a:path w="3445509" h="255270">
                <a:moveTo>
                  <a:pt x="3410197" y="201074"/>
                </a:moveTo>
                <a:lnTo>
                  <a:pt x="3403847" y="201074"/>
                </a:lnTo>
                <a:lnTo>
                  <a:pt x="3403847" y="251627"/>
                </a:lnTo>
                <a:lnTo>
                  <a:pt x="3406775" y="248700"/>
                </a:lnTo>
                <a:lnTo>
                  <a:pt x="3406775" y="248452"/>
                </a:lnTo>
                <a:lnTo>
                  <a:pt x="3410197" y="248452"/>
                </a:lnTo>
                <a:lnTo>
                  <a:pt x="3410197" y="201074"/>
                </a:lnTo>
                <a:close/>
              </a:path>
              <a:path w="3445509" h="255270">
                <a:moveTo>
                  <a:pt x="3407022" y="248452"/>
                </a:moveTo>
                <a:lnTo>
                  <a:pt x="3406775" y="248452"/>
                </a:lnTo>
                <a:lnTo>
                  <a:pt x="3406775" y="248700"/>
                </a:lnTo>
                <a:lnTo>
                  <a:pt x="3407022" y="248452"/>
                </a:lnTo>
                <a:close/>
              </a:path>
              <a:path w="3445509" h="255270">
                <a:moveTo>
                  <a:pt x="3410197" y="131224"/>
                </a:moveTo>
                <a:lnTo>
                  <a:pt x="3403847" y="131224"/>
                </a:lnTo>
                <a:lnTo>
                  <a:pt x="3403847" y="182024"/>
                </a:lnTo>
                <a:lnTo>
                  <a:pt x="3410197" y="182024"/>
                </a:lnTo>
                <a:lnTo>
                  <a:pt x="3410197" y="131224"/>
                </a:lnTo>
                <a:close/>
              </a:path>
              <a:path w="3445509" h="255270">
                <a:moveTo>
                  <a:pt x="3410197" y="63500"/>
                </a:moveTo>
                <a:lnTo>
                  <a:pt x="3403847" y="63500"/>
                </a:lnTo>
                <a:lnTo>
                  <a:pt x="3403847" y="112174"/>
                </a:lnTo>
                <a:lnTo>
                  <a:pt x="3410197" y="112174"/>
                </a:lnTo>
                <a:lnTo>
                  <a:pt x="3410197" y="63500"/>
                </a:lnTo>
                <a:close/>
              </a:path>
              <a:path w="3445509" h="255270">
                <a:moveTo>
                  <a:pt x="3407022" y="0"/>
                </a:moveTo>
                <a:lnTo>
                  <a:pt x="3368922" y="76200"/>
                </a:lnTo>
                <a:lnTo>
                  <a:pt x="3403847" y="76200"/>
                </a:lnTo>
                <a:lnTo>
                  <a:pt x="3403847" y="63500"/>
                </a:lnTo>
                <a:lnTo>
                  <a:pt x="3438772" y="63500"/>
                </a:lnTo>
                <a:lnTo>
                  <a:pt x="3407022" y="0"/>
                </a:lnTo>
                <a:close/>
              </a:path>
              <a:path w="3445509" h="255270">
                <a:moveTo>
                  <a:pt x="3438772" y="63500"/>
                </a:moveTo>
                <a:lnTo>
                  <a:pt x="3410197" y="63500"/>
                </a:lnTo>
                <a:lnTo>
                  <a:pt x="3410197" y="76200"/>
                </a:lnTo>
                <a:lnTo>
                  <a:pt x="3445122" y="76200"/>
                </a:lnTo>
                <a:lnTo>
                  <a:pt x="3438772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4806207" y="2332650"/>
            <a:ext cx="3005455" cy="735965"/>
            <a:chOff x="4806207" y="2332650"/>
            <a:chExt cx="3005455" cy="735965"/>
          </a:xfrm>
        </p:grpSpPr>
        <p:sp>
          <p:nvSpPr>
            <p:cNvPr id="29" name="object 29" descr=""/>
            <p:cNvSpPr/>
            <p:nvPr/>
          </p:nvSpPr>
          <p:spPr>
            <a:xfrm>
              <a:off x="4806207" y="2332650"/>
              <a:ext cx="3005455" cy="326390"/>
            </a:xfrm>
            <a:custGeom>
              <a:avLst/>
              <a:gdLst/>
              <a:ahLst/>
              <a:cxnLst/>
              <a:rect l="l" t="t" r="r" b="b"/>
              <a:pathLst>
                <a:path w="3005454" h="326389">
                  <a:moveTo>
                    <a:pt x="3005242" y="180973"/>
                  </a:moveTo>
                  <a:lnTo>
                    <a:pt x="2998892" y="180973"/>
                  </a:lnTo>
                  <a:lnTo>
                    <a:pt x="2998892" y="231773"/>
                  </a:lnTo>
                  <a:lnTo>
                    <a:pt x="3005242" y="231773"/>
                  </a:lnTo>
                  <a:lnTo>
                    <a:pt x="3005242" y="180973"/>
                  </a:lnTo>
                  <a:close/>
                </a:path>
                <a:path w="3005454" h="326389">
                  <a:moveTo>
                    <a:pt x="3005242" y="111123"/>
                  </a:moveTo>
                  <a:lnTo>
                    <a:pt x="2998892" y="111123"/>
                  </a:lnTo>
                  <a:lnTo>
                    <a:pt x="2998892" y="161923"/>
                  </a:lnTo>
                  <a:lnTo>
                    <a:pt x="3005242" y="161923"/>
                  </a:lnTo>
                  <a:lnTo>
                    <a:pt x="3005242" y="111123"/>
                  </a:lnTo>
                  <a:close/>
                </a:path>
                <a:path w="3005454" h="326389">
                  <a:moveTo>
                    <a:pt x="3005242" y="41273"/>
                  </a:moveTo>
                  <a:lnTo>
                    <a:pt x="2998892" y="41273"/>
                  </a:lnTo>
                  <a:lnTo>
                    <a:pt x="2998892" y="92073"/>
                  </a:lnTo>
                  <a:lnTo>
                    <a:pt x="3005242" y="92073"/>
                  </a:lnTo>
                  <a:lnTo>
                    <a:pt x="3005242" y="41273"/>
                  </a:lnTo>
                  <a:close/>
                </a:path>
                <a:path w="3005454" h="326389">
                  <a:moveTo>
                    <a:pt x="2998892" y="3175"/>
                  </a:moveTo>
                  <a:lnTo>
                    <a:pt x="2998892" y="22223"/>
                  </a:lnTo>
                  <a:lnTo>
                    <a:pt x="3005242" y="22223"/>
                  </a:lnTo>
                  <a:lnTo>
                    <a:pt x="3005242" y="6350"/>
                  </a:lnTo>
                  <a:lnTo>
                    <a:pt x="3002067" y="6350"/>
                  </a:lnTo>
                  <a:lnTo>
                    <a:pt x="2998892" y="3175"/>
                  </a:lnTo>
                  <a:close/>
                </a:path>
                <a:path w="3005454" h="326389">
                  <a:moveTo>
                    <a:pt x="3005242" y="0"/>
                  </a:moveTo>
                  <a:lnTo>
                    <a:pt x="2970317" y="0"/>
                  </a:lnTo>
                  <a:lnTo>
                    <a:pt x="2970317" y="6350"/>
                  </a:lnTo>
                  <a:lnTo>
                    <a:pt x="2998892" y="6350"/>
                  </a:lnTo>
                  <a:lnTo>
                    <a:pt x="2998892" y="3175"/>
                  </a:lnTo>
                  <a:lnTo>
                    <a:pt x="3005242" y="3175"/>
                  </a:lnTo>
                  <a:lnTo>
                    <a:pt x="3005242" y="0"/>
                  </a:lnTo>
                  <a:close/>
                </a:path>
                <a:path w="3005454" h="326389">
                  <a:moveTo>
                    <a:pt x="3005242" y="3175"/>
                  </a:moveTo>
                  <a:lnTo>
                    <a:pt x="2998892" y="3175"/>
                  </a:lnTo>
                  <a:lnTo>
                    <a:pt x="3002067" y="6350"/>
                  </a:lnTo>
                  <a:lnTo>
                    <a:pt x="3005242" y="6350"/>
                  </a:lnTo>
                  <a:lnTo>
                    <a:pt x="3005242" y="3175"/>
                  </a:lnTo>
                  <a:close/>
                </a:path>
                <a:path w="3005454" h="326389">
                  <a:moveTo>
                    <a:pt x="2951267" y="0"/>
                  </a:moveTo>
                  <a:lnTo>
                    <a:pt x="2900467" y="0"/>
                  </a:lnTo>
                  <a:lnTo>
                    <a:pt x="2900467" y="6350"/>
                  </a:lnTo>
                  <a:lnTo>
                    <a:pt x="2951267" y="6350"/>
                  </a:lnTo>
                  <a:lnTo>
                    <a:pt x="2951267" y="0"/>
                  </a:lnTo>
                  <a:close/>
                </a:path>
                <a:path w="3005454" h="326389">
                  <a:moveTo>
                    <a:pt x="2881417" y="0"/>
                  </a:moveTo>
                  <a:lnTo>
                    <a:pt x="2830617" y="0"/>
                  </a:lnTo>
                  <a:lnTo>
                    <a:pt x="2830617" y="6350"/>
                  </a:lnTo>
                  <a:lnTo>
                    <a:pt x="2881417" y="6350"/>
                  </a:lnTo>
                  <a:lnTo>
                    <a:pt x="2881417" y="0"/>
                  </a:lnTo>
                  <a:close/>
                </a:path>
                <a:path w="3005454" h="326389">
                  <a:moveTo>
                    <a:pt x="2811567" y="0"/>
                  </a:moveTo>
                  <a:lnTo>
                    <a:pt x="2760767" y="0"/>
                  </a:lnTo>
                  <a:lnTo>
                    <a:pt x="2760767" y="6350"/>
                  </a:lnTo>
                  <a:lnTo>
                    <a:pt x="2811567" y="6350"/>
                  </a:lnTo>
                  <a:lnTo>
                    <a:pt x="2811567" y="0"/>
                  </a:lnTo>
                  <a:close/>
                </a:path>
                <a:path w="3005454" h="326389">
                  <a:moveTo>
                    <a:pt x="2741717" y="0"/>
                  </a:moveTo>
                  <a:lnTo>
                    <a:pt x="2690917" y="0"/>
                  </a:lnTo>
                  <a:lnTo>
                    <a:pt x="2690917" y="6350"/>
                  </a:lnTo>
                  <a:lnTo>
                    <a:pt x="2741717" y="6350"/>
                  </a:lnTo>
                  <a:lnTo>
                    <a:pt x="2741717" y="0"/>
                  </a:lnTo>
                  <a:close/>
                </a:path>
                <a:path w="3005454" h="326389">
                  <a:moveTo>
                    <a:pt x="2671867" y="0"/>
                  </a:moveTo>
                  <a:lnTo>
                    <a:pt x="2621067" y="0"/>
                  </a:lnTo>
                  <a:lnTo>
                    <a:pt x="2621067" y="6350"/>
                  </a:lnTo>
                  <a:lnTo>
                    <a:pt x="2671867" y="6350"/>
                  </a:lnTo>
                  <a:lnTo>
                    <a:pt x="2671867" y="0"/>
                  </a:lnTo>
                  <a:close/>
                </a:path>
                <a:path w="3005454" h="326389">
                  <a:moveTo>
                    <a:pt x="2602017" y="0"/>
                  </a:moveTo>
                  <a:lnTo>
                    <a:pt x="2551217" y="0"/>
                  </a:lnTo>
                  <a:lnTo>
                    <a:pt x="2551217" y="6350"/>
                  </a:lnTo>
                  <a:lnTo>
                    <a:pt x="2602017" y="6350"/>
                  </a:lnTo>
                  <a:lnTo>
                    <a:pt x="2602017" y="0"/>
                  </a:lnTo>
                  <a:close/>
                </a:path>
                <a:path w="3005454" h="326389">
                  <a:moveTo>
                    <a:pt x="2532167" y="0"/>
                  </a:moveTo>
                  <a:lnTo>
                    <a:pt x="2481367" y="0"/>
                  </a:lnTo>
                  <a:lnTo>
                    <a:pt x="2481367" y="6350"/>
                  </a:lnTo>
                  <a:lnTo>
                    <a:pt x="2532167" y="6350"/>
                  </a:lnTo>
                  <a:lnTo>
                    <a:pt x="2532167" y="0"/>
                  </a:lnTo>
                  <a:close/>
                </a:path>
                <a:path w="3005454" h="326389">
                  <a:moveTo>
                    <a:pt x="2462317" y="0"/>
                  </a:moveTo>
                  <a:lnTo>
                    <a:pt x="2411517" y="0"/>
                  </a:lnTo>
                  <a:lnTo>
                    <a:pt x="2411517" y="6350"/>
                  </a:lnTo>
                  <a:lnTo>
                    <a:pt x="2462317" y="6350"/>
                  </a:lnTo>
                  <a:lnTo>
                    <a:pt x="2462317" y="0"/>
                  </a:lnTo>
                  <a:close/>
                </a:path>
                <a:path w="3005454" h="326389">
                  <a:moveTo>
                    <a:pt x="2392467" y="0"/>
                  </a:moveTo>
                  <a:lnTo>
                    <a:pt x="2341667" y="0"/>
                  </a:lnTo>
                  <a:lnTo>
                    <a:pt x="2341667" y="6350"/>
                  </a:lnTo>
                  <a:lnTo>
                    <a:pt x="2392467" y="6350"/>
                  </a:lnTo>
                  <a:lnTo>
                    <a:pt x="2392467" y="0"/>
                  </a:lnTo>
                  <a:close/>
                </a:path>
                <a:path w="3005454" h="326389">
                  <a:moveTo>
                    <a:pt x="2322617" y="0"/>
                  </a:moveTo>
                  <a:lnTo>
                    <a:pt x="2271817" y="0"/>
                  </a:lnTo>
                  <a:lnTo>
                    <a:pt x="2271817" y="6350"/>
                  </a:lnTo>
                  <a:lnTo>
                    <a:pt x="2322617" y="6350"/>
                  </a:lnTo>
                  <a:lnTo>
                    <a:pt x="2322617" y="0"/>
                  </a:lnTo>
                  <a:close/>
                </a:path>
                <a:path w="3005454" h="326389">
                  <a:moveTo>
                    <a:pt x="2252767" y="0"/>
                  </a:moveTo>
                  <a:lnTo>
                    <a:pt x="2201967" y="0"/>
                  </a:lnTo>
                  <a:lnTo>
                    <a:pt x="2201967" y="6350"/>
                  </a:lnTo>
                  <a:lnTo>
                    <a:pt x="2252767" y="6350"/>
                  </a:lnTo>
                  <a:lnTo>
                    <a:pt x="2252767" y="0"/>
                  </a:lnTo>
                  <a:close/>
                </a:path>
                <a:path w="3005454" h="326389">
                  <a:moveTo>
                    <a:pt x="2182917" y="0"/>
                  </a:moveTo>
                  <a:lnTo>
                    <a:pt x="2132117" y="0"/>
                  </a:lnTo>
                  <a:lnTo>
                    <a:pt x="2132117" y="6350"/>
                  </a:lnTo>
                  <a:lnTo>
                    <a:pt x="2182917" y="6350"/>
                  </a:lnTo>
                  <a:lnTo>
                    <a:pt x="2182917" y="0"/>
                  </a:lnTo>
                  <a:close/>
                </a:path>
                <a:path w="3005454" h="326389">
                  <a:moveTo>
                    <a:pt x="2113067" y="0"/>
                  </a:moveTo>
                  <a:lnTo>
                    <a:pt x="2062267" y="0"/>
                  </a:lnTo>
                  <a:lnTo>
                    <a:pt x="2062267" y="6350"/>
                  </a:lnTo>
                  <a:lnTo>
                    <a:pt x="2113067" y="6350"/>
                  </a:lnTo>
                  <a:lnTo>
                    <a:pt x="2113067" y="0"/>
                  </a:lnTo>
                  <a:close/>
                </a:path>
                <a:path w="3005454" h="326389">
                  <a:moveTo>
                    <a:pt x="2043217" y="0"/>
                  </a:moveTo>
                  <a:lnTo>
                    <a:pt x="1992417" y="0"/>
                  </a:lnTo>
                  <a:lnTo>
                    <a:pt x="1992417" y="6350"/>
                  </a:lnTo>
                  <a:lnTo>
                    <a:pt x="2043217" y="6350"/>
                  </a:lnTo>
                  <a:lnTo>
                    <a:pt x="2043217" y="0"/>
                  </a:lnTo>
                  <a:close/>
                </a:path>
                <a:path w="3005454" h="326389">
                  <a:moveTo>
                    <a:pt x="1973367" y="0"/>
                  </a:moveTo>
                  <a:lnTo>
                    <a:pt x="1922567" y="0"/>
                  </a:lnTo>
                  <a:lnTo>
                    <a:pt x="1922567" y="6350"/>
                  </a:lnTo>
                  <a:lnTo>
                    <a:pt x="1973367" y="6350"/>
                  </a:lnTo>
                  <a:lnTo>
                    <a:pt x="1973367" y="0"/>
                  </a:lnTo>
                  <a:close/>
                </a:path>
                <a:path w="3005454" h="326389">
                  <a:moveTo>
                    <a:pt x="1903517" y="0"/>
                  </a:moveTo>
                  <a:lnTo>
                    <a:pt x="1852717" y="0"/>
                  </a:lnTo>
                  <a:lnTo>
                    <a:pt x="1852717" y="6350"/>
                  </a:lnTo>
                  <a:lnTo>
                    <a:pt x="1903517" y="6350"/>
                  </a:lnTo>
                  <a:lnTo>
                    <a:pt x="1903517" y="0"/>
                  </a:lnTo>
                  <a:close/>
                </a:path>
                <a:path w="3005454" h="326389">
                  <a:moveTo>
                    <a:pt x="1833667" y="0"/>
                  </a:moveTo>
                  <a:lnTo>
                    <a:pt x="1782867" y="0"/>
                  </a:lnTo>
                  <a:lnTo>
                    <a:pt x="1782867" y="6350"/>
                  </a:lnTo>
                  <a:lnTo>
                    <a:pt x="1833667" y="6350"/>
                  </a:lnTo>
                  <a:lnTo>
                    <a:pt x="1833667" y="0"/>
                  </a:lnTo>
                  <a:close/>
                </a:path>
                <a:path w="3005454" h="326389">
                  <a:moveTo>
                    <a:pt x="1763817" y="0"/>
                  </a:moveTo>
                  <a:lnTo>
                    <a:pt x="1713017" y="0"/>
                  </a:lnTo>
                  <a:lnTo>
                    <a:pt x="1713017" y="6350"/>
                  </a:lnTo>
                  <a:lnTo>
                    <a:pt x="1763817" y="6350"/>
                  </a:lnTo>
                  <a:lnTo>
                    <a:pt x="1763817" y="0"/>
                  </a:lnTo>
                  <a:close/>
                </a:path>
                <a:path w="3005454" h="326389">
                  <a:moveTo>
                    <a:pt x="1693967" y="0"/>
                  </a:moveTo>
                  <a:lnTo>
                    <a:pt x="1643167" y="0"/>
                  </a:lnTo>
                  <a:lnTo>
                    <a:pt x="1643167" y="6350"/>
                  </a:lnTo>
                  <a:lnTo>
                    <a:pt x="1693967" y="6350"/>
                  </a:lnTo>
                  <a:lnTo>
                    <a:pt x="1693967" y="0"/>
                  </a:lnTo>
                  <a:close/>
                </a:path>
                <a:path w="3005454" h="326389">
                  <a:moveTo>
                    <a:pt x="1624117" y="0"/>
                  </a:moveTo>
                  <a:lnTo>
                    <a:pt x="1573317" y="0"/>
                  </a:lnTo>
                  <a:lnTo>
                    <a:pt x="1573317" y="6350"/>
                  </a:lnTo>
                  <a:lnTo>
                    <a:pt x="1624117" y="6350"/>
                  </a:lnTo>
                  <a:lnTo>
                    <a:pt x="1624117" y="0"/>
                  </a:lnTo>
                  <a:close/>
                </a:path>
                <a:path w="3005454" h="326389">
                  <a:moveTo>
                    <a:pt x="1554267" y="0"/>
                  </a:moveTo>
                  <a:lnTo>
                    <a:pt x="1503467" y="0"/>
                  </a:lnTo>
                  <a:lnTo>
                    <a:pt x="1503467" y="6350"/>
                  </a:lnTo>
                  <a:lnTo>
                    <a:pt x="1554267" y="6350"/>
                  </a:lnTo>
                  <a:lnTo>
                    <a:pt x="1554267" y="0"/>
                  </a:lnTo>
                  <a:close/>
                </a:path>
                <a:path w="3005454" h="326389">
                  <a:moveTo>
                    <a:pt x="1484417" y="0"/>
                  </a:moveTo>
                  <a:lnTo>
                    <a:pt x="1433617" y="0"/>
                  </a:lnTo>
                  <a:lnTo>
                    <a:pt x="1433617" y="6350"/>
                  </a:lnTo>
                  <a:lnTo>
                    <a:pt x="1484417" y="6350"/>
                  </a:lnTo>
                  <a:lnTo>
                    <a:pt x="1484417" y="0"/>
                  </a:lnTo>
                  <a:close/>
                </a:path>
                <a:path w="3005454" h="326389">
                  <a:moveTo>
                    <a:pt x="1414567" y="0"/>
                  </a:moveTo>
                  <a:lnTo>
                    <a:pt x="1363767" y="0"/>
                  </a:lnTo>
                  <a:lnTo>
                    <a:pt x="1363767" y="6350"/>
                  </a:lnTo>
                  <a:lnTo>
                    <a:pt x="1414567" y="6350"/>
                  </a:lnTo>
                  <a:lnTo>
                    <a:pt x="1414567" y="0"/>
                  </a:lnTo>
                  <a:close/>
                </a:path>
                <a:path w="3005454" h="326389">
                  <a:moveTo>
                    <a:pt x="1344717" y="0"/>
                  </a:moveTo>
                  <a:lnTo>
                    <a:pt x="1293917" y="0"/>
                  </a:lnTo>
                  <a:lnTo>
                    <a:pt x="1293917" y="6350"/>
                  </a:lnTo>
                  <a:lnTo>
                    <a:pt x="1344717" y="6350"/>
                  </a:lnTo>
                  <a:lnTo>
                    <a:pt x="1344717" y="0"/>
                  </a:lnTo>
                  <a:close/>
                </a:path>
                <a:path w="3005454" h="326389">
                  <a:moveTo>
                    <a:pt x="1274867" y="0"/>
                  </a:moveTo>
                  <a:lnTo>
                    <a:pt x="1224067" y="0"/>
                  </a:lnTo>
                  <a:lnTo>
                    <a:pt x="1224067" y="6350"/>
                  </a:lnTo>
                  <a:lnTo>
                    <a:pt x="1274867" y="6350"/>
                  </a:lnTo>
                  <a:lnTo>
                    <a:pt x="1274867" y="0"/>
                  </a:lnTo>
                  <a:close/>
                </a:path>
                <a:path w="3005454" h="326389">
                  <a:moveTo>
                    <a:pt x="1205017" y="0"/>
                  </a:moveTo>
                  <a:lnTo>
                    <a:pt x="1154217" y="0"/>
                  </a:lnTo>
                  <a:lnTo>
                    <a:pt x="1154217" y="6350"/>
                  </a:lnTo>
                  <a:lnTo>
                    <a:pt x="1205017" y="6350"/>
                  </a:lnTo>
                  <a:lnTo>
                    <a:pt x="1205017" y="0"/>
                  </a:lnTo>
                  <a:close/>
                </a:path>
                <a:path w="3005454" h="326389">
                  <a:moveTo>
                    <a:pt x="1135167" y="0"/>
                  </a:moveTo>
                  <a:lnTo>
                    <a:pt x="1084367" y="0"/>
                  </a:lnTo>
                  <a:lnTo>
                    <a:pt x="1084367" y="6350"/>
                  </a:lnTo>
                  <a:lnTo>
                    <a:pt x="1135167" y="6350"/>
                  </a:lnTo>
                  <a:lnTo>
                    <a:pt x="1135167" y="0"/>
                  </a:lnTo>
                  <a:close/>
                </a:path>
                <a:path w="3005454" h="326389">
                  <a:moveTo>
                    <a:pt x="1065317" y="0"/>
                  </a:moveTo>
                  <a:lnTo>
                    <a:pt x="1014517" y="0"/>
                  </a:lnTo>
                  <a:lnTo>
                    <a:pt x="1014517" y="6350"/>
                  </a:lnTo>
                  <a:lnTo>
                    <a:pt x="1065317" y="6350"/>
                  </a:lnTo>
                  <a:lnTo>
                    <a:pt x="1065317" y="0"/>
                  </a:lnTo>
                  <a:close/>
                </a:path>
                <a:path w="3005454" h="326389">
                  <a:moveTo>
                    <a:pt x="995467" y="0"/>
                  </a:moveTo>
                  <a:lnTo>
                    <a:pt x="944667" y="0"/>
                  </a:lnTo>
                  <a:lnTo>
                    <a:pt x="944667" y="6350"/>
                  </a:lnTo>
                  <a:lnTo>
                    <a:pt x="995467" y="6350"/>
                  </a:lnTo>
                  <a:lnTo>
                    <a:pt x="995467" y="0"/>
                  </a:lnTo>
                  <a:close/>
                </a:path>
                <a:path w="3005454" h="326389">
                  <a:moveTo>
                    <a:pt x="925617" y="0"/>
                  </a:moveTo>
                  <a:lnTo>
                    <a:pt x="874817" y="0"/>
                  </a:lnTo>
                  <a:lnTo>
                    <a:pt x="874817" y="6350"/>
                  </a:lnTo>
                  <a:lnTo>
                    <a:pt x="925617" y="6350"/>
                  </a:lnTo>
                  <a:lnTo>
                    <a:pt x="925617" y="0"/>
                  </a:lnTo>
                  <a:close/>
                </a:path>
                <a:path w="3005454" h="326389">
                  <a:moveTo>
                    <a:pt x="855767" y="0"/>
                  </a:moveTo>
                  <a:lnTo>
                    <a:pt x="804967" y="0"/>
                  </a:lnTo>
                  <a:lnTo>
                    <a:pt x="804967" y="6350"/>
                  </a:lnTo>
                  <a:lnTo>
                    <a:pt x="855767" y="6350"/>
                  </a:lnTo>
                  <a:lnTo>
                    <a:pt x="855767" y="0"/>
                  </a:lnTo>
                  <a:close/>
                </a:path>
                <a:path w="3005454" h="326389">
                  <a:moveTo>
                    <a:pt x="785917" y="0"/>
                  </a:moveTo>
                  <a:lnTo>
                    <a:pt x="735117" y="0"/>
                  </a:lnTo>
                  <a:lnTo>
                    <a:pt x="735117" y="6350"/>
                  </a:lnTo>
                  <a:lnTo>
                    <a:pt x="785917" y="6350"/>
                  </a:lnTo>
                  <a:lnTo>
                    <a:pt x="785917" y="0"/>
                  </a:lnTo>
                  <a:close/>
                </a:path>
                <a:path w="3005454" h="326389">
                  <a:moveTo>
                    <a:pt x="716067" y="0"/>
                  </a:moveTo>
                  <a:lnTo>
                    <a:pt x="665267" y="0"/>
                  </a:lnTo>
                  <a:lnTo>
                    <a:pt x="665267" y="6350"/>
                  </a:lnTo>
                  <a:lnTo>
                    <a:pt x="716067" y="6350"/>
                  </a:lnTo>
                  <a:lnTo>
                    <a:pt x="716067" y="0"/>
                  </a:lnTo>
                  <a:close/>
                </a:path>
                <a:path w="3005454" h="326389">
                  <a:moveTo>
                    <a:pt x="646217" y="0"/>
                  </a:moveTo>
                  <a:lnTo>
                    <a:pt x="595417" y="0"/>
                  </a:lnTo>
                  <a:lnTo>
                    <a:pt x="595417" y="6350"/>
                  </a:lnTo>
                  <a:lnTo>
                    <a:pt x="646217" y="6350"/>
                  </a:lnTo>
                  <a:lnTo>
                    <a:pt x="646217" y="0"/>
                  </a:lnTo>
                  <a:close/>
                </a:path>
                <a:path w="3005454" h="326389">
                  <a:moveTo>
                    <a:pt x="576367" y="0"/>
                  </a:moveTo>
                  <a:lnTo>
                    <a:pt x="525567" y="0"/>
                  </a:lnTo>
                  <a:lnTo>
                    <a:pt x="525567" y="6350"/>
                  </a:lnTo>
                  <a:lnTo>
                    <a:pt x="576367" y="6350"/>
                  </a:lnTo>
                  <a:lnTo>
                    <a:pt x="576367" y="0"/>
                  </a:lnTo>
                  <a:close/>
                </a:path>
                <a:path w="3005454" h="326389">
                  <a:moveTo>
                    <a:pt x="506517" y="0"/>
                  </a:moveTo>
                  <a:lnTo>
                    <a:pt x="455717" y="0"/>
                  </a:lnTo>
                  <a:lnTo>
                    <a:pt x="455717" y="6350"/>
                  </a:lnTo>
                  <a:lnTo>
                    <a:pt x="506517" y="6350"/>
                  </a:lnTo>
                  <a:lnTo>
                    <a:pt x="506517" y="0"/>
                  </a:lnTo>
                  <a:close/>
                </a:path>
                <a:path w="3005454" h="326389">
                  <a:moveTo>
                    <a:pt x="436667" y="0"/>
                  </a:moveTo>
                  <a:lnTo>
                    <a:pt x="385867" y="0"/>
                  </a:lnTo>
                  <a:lnTo>
                    <a:pt x="385867" y="6350"/>
                  </a:lnTo>
                  <a:lnTo>
                    <a:pt x="436667" y="6350"/>
                  </a:lnTo>
                  <a:lnTo>
                    <a:pt x="436667" y="0"/>
                  </a:lnTo>
                  <a:close/>
                </a:path>
                <a:path w="3005454" h="326389">
                  <a:moveTo>
                    <a:pt x="366817" y="0"/>
                  </a:moveTo>
                  <a:lnTo>
                    <a:pt x="316017" y="0"/>
                  </a:lnTo>
                  <a:lnTo>
                    <a:pt x="316017" y="6350"/>
                  </a:lnTo>
                  <a:lnTo>
                    <a:pt x="366817" y="6350"/>
                  </a:lnTo>
                  <a:lnTo>
                    <a:pt x="366817" y="0"/>
                  </a:lnTo>
                  <a:close/>
                </a:path>
                <a:path w="3005454" h="326389">
                  <a:moveTo>
                    <a:pt x="296967" y="0"/>
                  </a:moveTo>
                  <a:lnTo>
                    <a:pt x="246167" y="0"/>
                  </a:lnTo>
                  <a:lnTo>
                    <a:pt x="246167" y="6350"/>
                  </a:lnTo>
                  <a:lnTo>
                    <a:pt x="296967" y="6350"/>
                  </a:lnTo>
                  <a:lnTo>
                    <a:pt x="296967" y="0"/>
                  </a:lnTo>
                  <a:close/>
                </a:path>
                <a:path w="3005454" h="326389">
                  <a:moveTo>
                    <a:pt x="227117" y="0"/>
                  </a:moveTo>
                  <a:lnTo>
                    <a:pt x="176317" y="0"/>
                  </a:lnTo>
                  <a:lnTo>
                    <a:pt x="176317" y="6350"/>
                  </a:lnTo>
                  <a:lnTo>
                    <a:pt x="227117" y="6350"/>
                  </a:lnTo>
                  <a:lnTo>
                    <a:pt x="227117" y="0"/>
                  </a:lnTo>
                  <a:close/>
                </a:path>
                <a:path w="3005454" h="326389">
                  <a:moveTo>
                    <a:pt x="157267" y="0"/>
                  </a:moveTo>
                  <a:lnTo>
                    <a:pt x="106467" y="0"/>
                  </a:lnTo>
                  <a:lnTo>
                    <a:pt x="106467" y="6350"/>
                  </a:lnTo>
                  <a:lnTo>
                    <a:pt x="157267" y="6350"/>
                  </a:lnTo>
                  <a:lnTo>
                    <a:pt x="157267" y="0"/>
                  </a:lnTo>
                  <a:close/>
                </a:path>
                <a:path w="3005454" h="326389">
                  <a:moveTo>
                    <a:pt x="41275" y="3175"/>
                  </a:moveTo>
                  <a:lnTo>
                    <a:pt x="38100" y="6350"/>
                  </a:lnTo>
                  <a:lnTo>
                    <a:pt x="87417" y="6350"/>
                  </a:lnTo>
                  <a:lnTo>
                    <a:pt x="87417" y="4658"/>
                  </a:lnTo>
                  <a:lnTo>
                    <a:pt x="41275" y="4658"/>
                  </a:lnTo>
                  <a:lnTo>
                    <a:pt x="41275" y="3175"/>
                  </a:lnTo>
                  <a:close/>
                </a:path>
                <a:path w="3005454" h="326389">
                  <a:moveTo>
                    <a:pt x="87417" y="0"/>
                  </a:moveTo>
                  <a:lnTo>
                    <a:pt x="34925" y="0"/>
                  </a:lnTo>
                  <a:lnTo>
                    <a:pt x="34925" y="4658"/>
                  </a:lnTo>
                  <a:lnTo>
                    <a:pt x="39791" y="4658"/>
                  </a:lnTo>
                  <a:lnTo>
                    <a:pt x="41275" y="3175"/>
                  </a:lnTo>
                  <a:lnTo>
                    <a:pt x="87417" y="3175"/>
                  </a:lnTo>
                  <a:lnTo>
                    <a:pt x="87417" y="0"/>
                  </a:lnTo>
                  <a:close/>
                </a:path>
                <a:path w="3005454" h="326389">
                  <a:moveTo>
                    <a:pt x="87417" y="3175"/>
                  </a:moveTo>
                  <a:lnTo>
                    <a:pt x="41275" y="3175"/>
                  </a:lnTo>
                  <a:lnTo>
                    <a:pt x="41275" y="4658"/>
                  </a:lnTo>
                  <a:lnTo>
                    <a:pt x="87417" y="4658"/>
                  </a:lnTo>
                  <a:lnTo>
                    <a:pt x="87417" y="3175"/>
                  </a:lnTo>
                  <a:close/>
                </a:path>
                <a:path w="3005454" h="326389">
                  <a:moveTo>
                    <a:pt x="41275" y="23708"/>
                  </a:moveTo>
                  <a:lnTo>
                    <a:pt x="34925" y="23708"/>
                  </a:lnTo>
                  <a:lnTo>
                    <a:pt x="34925" y="74508"/>
                  </a:lnTo>
                  <a:lnTo>
                    <a:pt x="41275" y="74508"/>
                  </a:lnTo>
                  <a:lnTo>
                    <a:pt x="41275" y="23708"/>
                  </a:lnTo>
                  <a:close/>
                </a:path>
                <a:path w="3005454" h="326389">
                  <a:moveTo>
                    <a:pt x="41275" y="93558"/>
                  </a:moveTo>
                  <a:lnTo>
                    <a:pt x="34925" y="93558"/>
                  </a:lnTo>
                  <a:lnTo>
                    <a:pt x="34925" y="144358"/>
                  </a:lnTo>
                  <a:lnTo>
                    <a:pt x="41275" y="144358"/>
                  </a:lnTo>
                  <a:lnTo>
                    <a:pt x="41275" y="93558"/>
                  </a:lnTo>
                  <a:close/>
                </a:path>
                <a:path w="3005454" h="326389">
                  <a:moveTo>
                    <a:pt x="41275" y="163408"/>
                  </a:moveTo>
                  <a:lnTo>
                    <a:pt x="34925" y="163408"/>
                  </a:lnTo>
                  <a:lnTo>
                    <a:pt x="34925" y="214208"/>
                  </a:lnTo>
                  <a:lnTo>
                    <a:pt x="41275" y="214208"/>
                  </a:lnTo>
                  <a:lnTo>
                    <a:pt x="41275" y="163408"/>
                  </a:lnTo>
                  <a:close/>
                </a:path>
                <a:path w="3005454" h="326389">
                  <a:moveTo>
                    <a:pt x="34925" y="249751"/>
                  </a:moveTo>
                  <a:lnTo>
                    <a:pt x="0" y="249751"/>
                  </a:lnTo>
                  <a:lnTo>
                    <a:pt x="38100" y="325951"/>
                  </a:lnTo>
                  <a:lnTo>
                    <a:pt x="69850" y="262451"/>
                  </a:lnTo>
                  <a:lnTo>
                    <a:pt x="34925" y="262451"/>
                  </a:lnTo>
                  <a:lnTo>
                    <a:pt x="34925" y="249751"/>
                  </a:lnTo>
                  <a:close/>
                </a:path>
                <a:path w="3005454" h="326389">
                  <a:moveTo>
                    <a:pt x="41275" y="233258"/>
                  </a:moveTo>
                  <a:lnTo>
                    <a:pt x="34925" y="233258"/>
                  </a:lnTo>
                  <a:lnTo>
                    <a:pt x="34925" y="262451"/>
                  </a:lnTo>
                  <a:lnTo>
                    <a:pt x="41275" y="262451"/>
                  </a:lnTo>
                  <a:lnTo>
                    <a:pt x="41275" y="233258"/>
                  </a:lnTo>
                  <a:close/>
                </a:path>
                <a:path w="3005454" h="326389">
                  <a:moveTo>
                    <a:pt x="76200" y="249751"/>
                  </a:moveTo>
                  <a:lnTo>
                    <a:pt x="41275" y="249751"/>
                  </a:lnTo>
                  <a:lnTo>
                    <a:pt x="41275" y="262451"/>
                  </a:lnTo>
                  <a:lnTo>
                    <a:pt x="69850" y="262451"/>
                  </a:lnTo>
                  <a:lnTo>
                    <a:pt x="76200" y="2497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39575" y="2634632"/>
              <a:ext cx="433787" cy="43378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981" y="2739489"/>
              <a:ext cx="276099" cy="276099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9318967" y="3225291"/>
            <a:ext cx="10502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35">
                <a:latin typeface="Arial MT"/>
                <a:cs typeface="Arial MT"/>
              </a:rPr>
              <a:t>Unreachable </a:t>
            </a:r>
            <a:r>
              <a:rPr dirty="0" sz="1000" spc="65">
                <a:latin typeface="Arial MT"/>
                <a:cs typeface="Arial MT"/>
              </a:rPr>
              <a:t>charging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station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0084446" y="2541991"/>
            <a:ext cx="1130935" cy="588010"/>
            <a:chOff x="10084446" y="2541991"/>
            <a:chExt cx="1130935" cy="588010"/>
          </a:xfrm>
        </p:grpSpPr>
        <p:sp>
          <p:nvSpPr>
            <p:cNvPr id="34" name="object 34" descr=""/>
            <p:cNvSpPr/>
            <p:nvPr/>
          </p:nvSpPr>
          <p:spPr>
            <a:xfrm>
              <a:off x="10084446" y="2866687"/>
              <a:ext cx="513080" cy="76200"/>
            </a:xfrm>
            <a:custGeom>
              <a:avLst/>
              <a:gdLst/>
              <a:ahLst/>
              <a:cxnLst/>
              <a:rect l="l" t="t" r="r" b="b"/>
              <a:pathLst>
                <a:path w="513079" h="76200">
                  <a:moveTo>
                    <a:pt x="436620" y="0"/>
                  </a:moveTo>
                  <a:lnTo>
                    <a:pt x="436620" y="76200"/>
                  </a:lnTo>
                  <a:lnTo>
                    <a:pt x="506473" y="41275"/>
                  </a:lnTo>
                  <a:lnTo>
                    <a:pt x="449320" y="41275"/>
                  </a:lnTo>
                  <a:lnTo>
                    <a:pt x="449320" y="34925"/>
                  </a:lnTo>
                  <a:lnTo>
                    <a:pt x="506468" y="34925"/>
                  </a:lnTo>
                  <a:lnTo>
                    <a:pt x="436620" y="0"/>
                  </a:lnTo>
                  <a:close/>
                </a:path>
                <a:path w="513079" h="76200">
                  <a:moveTo>
                    <a:pt x="436620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436620" y="41275"/>
                  </a:lnTo>
                  <a:lnTo>
                    <a:pt x="436620" y="34925"/>
                  </a:lnTo>
                  <a:close/>
                </a:path>
                <a:path w="513079" h="76200">
                  <a:moveTo>
                    <a:pt x="506468" y="34925"/>
                  </a:moveTo>
                  <a:lnTo>
                    <a:pt x="449320" y="34925"/>
                  </a:lnTo>
                  <a:lnTo>
                    <a:pt x="449320" y="41275"/>
                  </a:lnTo>
                  <a:lnTo>
                    <a:pt x="506473" y="41275"/>
                  </a:lnTo>
                  <a:lnTo>
                    <a:pt x="512820" y="38101"/>
                  </a:lnTo>
                  <a:lnTo>
                    <a:pt x="506468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27296" y="2541991"/>
              <a:ext cx="587618" cy="587618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571469" y="3185667"/>
            <a:ext cx="12471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Call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Mobile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EV </a:t>
            </a:r>
            <a:r>
              <a:rPr dirty="0" sz="1000" spc="60">
                <a:latin typeface="Arial MT"/>
                <a:cs typeface="Arial MT"/>
              </a:rPr>
              <a:t>charger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1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radius</a:t>
            </a:r>
            <a:r>
              <a:rPr dirty="0" sz="1000" spc="15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of </a:t>
            </a:r>
            <a:r>
              <a:rPr dirty="0" sz="1000" spc="110">
                <a:latin typeface="Arial MT"/>
                <a:cs typeface="Arial MT"/>
              </a:rPr>
              <a:t>50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km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171266" y="917687"/>
            <a:ext cx="223583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20">
                <a:latin typeface="Arial MT"/>
                <a:cs typeface="Arial MT"/>
              </a:rPr>
              <a:t>Customer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 spc="100">
                <a:latin typeface="Arial MT"/>
                <a:cs typeface="Arial MT"/>
              </a:rPr>
              <a:t>Value</a:t>
            </a:r>
            <a:r>
              <a:rPr dirty="0" sz="1150" spc="105">
                <a:latin typeface="Arial MT"/>
                <a:cs typeface="Arial MT"/>
              </a:rPr>
              <a:t> Proposition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171266" y="1286764"/>
            <a:ext cx="31978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60">
                <a:latin typeface="Arial MT"/>
                <a:cs typeface="Arial MT"/>
              </a:rPr>
              <a:t>Well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established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80">
                <a:latin typeface="Arial MT"/>
                <a:cs typeface="Arial MT"/>
              </a:rPr>
              <a:t>network </a:t>
            </a:r>
            <a:r>
              <a:rPr dirty="0" sz="1000" spc="85">
                <a:latin typeface="Arial MT"/>
                <a:cs typeface="Arial MT"/>
              </a:rPr>
              <a:t>with</a:t>
            </a:r>
            <a:r>
              <a:rPr dirty="0" sz="1000" spc="65">
                <a:latin typeface="Arial MT"/>
                <a:cs typeface="Arial MT"/>
              </a:rPr>
              <a:t> mobile </a:t>
            </a:r>
            <a:r>
              <a:rPr dirty="0" sz="1000" spc="50">
                <a:latin typeface="Arial MT"/>
                <a:cs typeface="Arial MT"/>
              </a:rPr>
              <a:t>application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55">
                <a:latin typeface="Arial MT"/>
                <a:cs typeface="Arial MT"/>
              </a:rPr>
              <a:t>Subscription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based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model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105">
                <a:latin typeface="Arial MT"/>
                <a:cs typeface="Arial MT"/>
              </a:rPr>
              <a:t>to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reduce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runtime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cost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000" spc="65">
                <a:latin typeface="Arial MT"/>
                <a:cs typeface="Arial MT"/>
              </a:rPr>
              <a:t>-</a:t>
            </a:r>
            <a:r>
              <a:rPr dirty="0" sz="1000" spc="50">
                <a:latin typeface="Arial MT"/>
                <a:cs typeface="Arial MT"/>
              </a:rPr>
              <a:t>Mobile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charging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80">
                <a:latin typeface="Arial MT"/>
                <a:cs typeface="Arial MT"/>
              </a:rPr>
              <a:t>for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en-</a:t>
            </a:r>
            <a:r>
              <a:rPr dirty="0" sz="1000" spc="75">
                <a:latin typeface="Arial MT"/>
                <a:cs typeface="Arial MT"/>
              </a:rPr>
              <a:t>route</a:t>
            </a:r>
            <a:r>
              <a:rPr dirty="0" sz="1000" spc="40">
                <a:latin typeface="Arial MT"/>
                <a:cs typeface="Arial MT"/>
              </a:rPr>
              <a:t> discharge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215732" y="1952694"/>
            <a:ext cx="164846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5080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400"/>
              </a:spcBef>
            </a:pP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Journey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4449310" y="4869290"/>
            <a:ext cx="277495" cy="1266825"/>
          </a:xfrm>
          <a:custGeom>
            <a:avLst/>
            <a:gdLst/>
            <a:ahLst/>
            <a:cxnLst/>
            <a:rect l="l" t="t" r="r" b="b"/>
            <a:pathLst>
              <a:path w="277495" h="1266825">
                <a:moveTo>
                  <a:pt x="276999" y="0"/>
                </a:moveTo>
                <a:lnTo>
                  <a:pt x="0" y="0"/>
                </a:lnTo>
                <a:lnTo>
                  <a:pt x="0" y="1266692"/>
                </a:lnTo>
                <a:lnTo>
                  <a:pt x="276999" y="1266692"/>
                </a:lnTo>
                <a:lnTo>
                  <a:pt x="276999" y="0"/>
                </a:lnTo>
                <a:close/>
              </a:path>
            </a:pathLst>
          </a:custGeom>
          <a:solidFill>
            <a:srgbClr val="8537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4496973" y="4959806"/>
            <a:ext cx="185420" cy="1097280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175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18736" y="4521153"/>
            <a:ext cx="1205865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84"/>
              </a:spcBef>
            </a:pP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85">
                <a:solidFill>
                  <a:srgbClr val="FFFFFF"/>
                </a:solidFill>
                <a:latin typeface="Arial MT"/>
                <a:cs typeface="Arial MT"/>
              </a:rPr>
              <a:t>Partners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8314189" y="4425038"/>
            <a:ext cx="277495" cy="1957705"/>
          </a:xfrm>
          <a:custGeom>
            <a:avLst/>
            <a:gdLst/>
            <a:ahLst/>
            <a:cxnLst/>
            <a:rect l="l" t="t" r="r" b="b"/>
            <a:pathLst>
              <a:path w="277495" h="1957704">
                <a:moveTo>
                  <a:pt x="276999" y="0"/>
                </a:moveTo>
                <a:lnTo>
                  <a:pt x="0" y="0"/>
                </a:lnTo>
                <a:lnTo>
                  <a:pt x="0" y="1957586"/>
                </a:lnTo>
                <a:lnTo>
                  <a:pt x="276999" y="1957586"/>
                </a:lnTo>
                <a:lnTo>
                  <a:pt x="276999" y="0"/>
                </a:lnTo>
                <a:close/>
              </a:path>
            </a:pathLst>
          </a:custGeom>
          <a:solidFill>
            <a:srgbClr val="8537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8361857" y="4525771"/>
            <a:ext cx="185420" cy="1778000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Engagement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activities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7050" y="5218967"/>
            <a:ext cx="795288" cy="250654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2564" y="5566962"/>
            <a:ext cx="719638" cy="128755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85290" y="5218967"/>
            <a:ext cx="586529" cy="263676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369406" y="4843779"/>
            <a:ext cx="15995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charger </a:t>
            </a:r>
            <a:r>
              <a:rPr dirty="0" sz="1000" spc="60">
                <a:latin typeface="Arial MT"/>
                <a:cs typeface="Arial MT"/>
              </a:rPr>
              <a:t>distributor/manufacturer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03780" y="5755132"/>
            <a:ext cx="15011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>
                <a:latin typeface="Arial MT"/>
                <a:cs typeface="Arial MT"/>
              </a:rPr>
              <a:t>Commercial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partner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0" name="object 5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4388" y="5997209"/>
            <a:ext cx="680223" cy="238078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90885" y="6295018"/>
            <a:ext cx="492579" cy="298274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39795" y="6197984"/>
            <a:ext cx="452842" cy="393435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5457111" y="4187952"/>
            <a:ext cx="1665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Nearest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charging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40">
                <a:latin typeface="Arial MT"/>
                <a:cs typeface="Arial MT"/>
              </a:rPr>
              <a:t>station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99245" y="4027482"/>
            <a:ext cx="479125" cy="479124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4826947" y="3569429"/>
            <a:ext cx="6432550" cy="511175"/>
            <a:chOff x="4826947" y="3569429"/>
            <a:chExt cx="6432550" cy="511175"/>
          </a:xfrm>
        </p:grpSpPr>
        <p:sp>
          <p:nvSpPr>
            <p:cNvPr id="56" name="object 56" descr=""/>
            <p:cNvSpPr/>
            <p:nvPr/>
          </p:nvSpPr>
          <p:spPr>
            <a:xfrm>
              <a:off x="4826947" y="3569429"/>
              <a:ext cx="6432550" cy="370205"/>
            </a:xfrm>
            <a:custGeom>
              <a:avLst/>
              <a:gdLst/>
              <a:ahLst/>
              <a:cxnLst/>
              <a:rect l="l" t="t" r="r" b="b"/>
              <a:pathLst>
                <a:path w="6432550" h="370204">
                  <a:moveTo>
                    <a:pt x="6432123" y="138182"/>
                  </a:moveTo>
                  <a:lnTo>
                    <a:pt x="6425773" y="138182"/>
                  </a:lnTo>
                  <a:lnTo>
                    <a:pt x="6425773" y="188982"/>
                  </a:lnTo>
                  <a:lnTo>
                    <a:pt x="6432123" y="188982"/>
                  </a:lnTo>
                  <a:lnTo>
                    <a:pt x="6432123" y="138182"/>
                  </a:lnTo>
                  <a:close/>
                </a:path>
                <a:path w="6432550" h="370204">
                  <a:moveTo>
                    <a:pt x="6432123" y="208032"/>
                  </a:moveTo>
                  <a:lnTo>
                    <a:pt x="6425773" y="208032"/>
                  </a:lnTo>
                  <a:lnTo>
                    <a:pt x="6425773" y="258832"/>
                  </a:lnTo>
                  <a:lnTo>
                    <a:pt x="6432123" y="258832"/>
                  </a:lnTo>
                  <a:lnTo>
                    <a:pt x="6432123" y="208032"/>
                  </a:lnTo>
                  <a:close/>
                </a:path>
                <a:path w="6432550" h="370204">
                  <a:moveTo>
                    <a:pt x="6432123" y="277882"/>
                  </a:moveTo>
                  <a:lnTo>
                    <a:pt x="6425773" y="277882"/>
                  </a:lnTo>
                  <a:lnTo>
                    <a:pt x="6425773" y="328682"/>
                  </a:lnTo>
                  <a:lnTo>
                    <a:pt x="6432123" y="328682"/>
                  </a:lnTo>
                  <a:lnTo>
                    <a:pt x="6432123" y="277882"/>
                  </a:lnTo>
                  <a:close/>
                </a:path>
                <a:path w="6432550" h="370204">
                  <a:moveTo>
                    <a:pt x="6425773" y="363609"/>
                  </a:moveTo>
                  <a:lnTo>
                    <a:pt x="6397199" y="363609"/>
                  </a:lnTo>
                  <a:lnTo>
                    <a:pt x="6397199" y="369959"/>
                  </a:lnTo>
                  <a:lnTo>
                    <a:pt x="6432123" y="369959"/>
                  </a:lnTo>
                  <a:lnTo>
                    <a:pt x="6432123" y="366784"/>
                  </a:lnTo>
                  <a:lnTo>
                    <a:pt x="6425773" y="366784"/>
                  </a:lnTo>
                  <a:lnTo>
                    <a:pt x="6425773" y="363609"/>
                  </a:lnTo>
                  <a:close/>
                </a:path>
                <a:path w="6432550" h="370204">
                  <a:moveTo>
                    <a:pt x="6432123" y="347732"/>
                  </a:moveTo>
                  <a:lnTo>
                    <a:pt x="6425773" y="347732"/>
                  </a:lnTo>
                  <a:lnTo>
                    <a:pt x="6425773" y="366784"/>
                  </a:lnTo>
                  <a:lnTo>
                    <a:pt x="6428948" y="363609"/>
                  </a:lnTo>
                  <a:lnTo>
                    <a:pt x="6432123" y="363609"/>
                  </a:lnTo>
                  <a:lnTo>
                    <a:pt x="6432123" y="347732"/>
                  </a:lnTo>
                  <a:close/>
                </a:path>
                <a:path w="6432550" h="370204">
                  <a:moveTo>
                    <a:pt x="6432123" y="363609"/>
                  </a:moveTo>
                  <a:lnTo>
                    <a:pt x="6428948" y="363609"/>
                  </a:lnTo>
                  <a:lnTo>
                    <a:pt x="6425773" y="366784"/>
                  </a:lnTo>
                  <a:lnTo>
                    <a:pt x="6432123" y="366784"/>
                  </a:lnTo>
                  <a:lnTo>
                    <a:pt x="6432123" y="363609"/>
                  </a:lnTo>
                  <a:close/>
                </a:path>
                <a:path w="6432550" h="370204">
                  <a:moveTo>
                    <a:pt x="6378149" y="363609"/>
                  </a:moveTo>
                  <a:lnTo>
                    <a:pt x="6327349" y="363609"/>
                  </a:lnTo>
                  <a:lnTo>
                    <a:pt x="6327349" y="369959"/>
                  </a:lnTo>
                  <a:lnTo>
                    <a:pt x="6378149" y="369959"/>
                  </a:lnTo>
                  <a:lnTo>
                    <a:pt x="6378149" y="363609"/>
                  </a:lnTo>
                  <a:close/>
                </a:path>
                <a:path w="6432550" h="370204">
                  <a:moveTo>
                    <a:pt x="6308299" y="363609"/>
                  </a:moveTo>
                  <a:lnTo>
                    <a:pt x="6257499" y="363609"/>
                  </a:lnTo>
                  <a:lnTo>
                    <a:pt x="6257499" y="369959"/>
                  </a:lnTo>
                  <a:lnTo>
                    <a:pt x="6308299" y="369959"/>
                  </a:lnTo>
                  <a:lnTo>
                    <a:pt x="6308299" y="363609"/>
                  </a:lnTo>
                  <a:close/>
                </a:path>
                <a:path w="6432550" h="370204">
                  <a:moveTo>
                    <a:pt x="6238449" y="363609"/>
                  </a:moveTo>
                  <a:lnTo>
                    <a:pt x="6187649" y="363609"/>
                  </a:lnTo>
                  <a:lnTo>
                    <a:pt x="6187649" y="369959"/>
                  </a:lnTo>
                  <a:lnTo>
                    <a:pt x="6238449" y="369959"/>
                  </a:lnTo>
                  <a:lnTo>
                    <a:pt x="6238449" y="363609"/>
                  </a:lnTo>
                  <a:close/>
                </a:path>
                <a:path w="6432550" h="370204">
                  <a:moveTo>
                    <a:pt x="6168599" y="363609"/>
                  </a:moveTo>
                  <a:lnTo>
                    <a:pt x="6117799" y="363609"/>
                  </a:lnTo>
                  <a:lnTo>
                    <a:pt x="6117799" y="369959"/>
                  </a:lnTo>
                  <a:lnTo>
                    <a:pt x="6168599" y="369959"/>
                  </a:lnTo>
                  <a:lnTo>
                    <a:pt x="6168599" y="363609"/>
                  </a:lnTo>
                  <a:close/>
                </a:path>
                <a:path w="6432550" h="370204">
                  <a:moveTo>
                    <a:pt x="6098749" y="363609"/>
                  </a:moveTo>
                  <a:lnTo>
                    <a:pt x="6047949" y="363609"/>
                  </a:lnTo>
                  <a:lnTo>
                    <a:pt x="6047949" y="369959"/>
                  </a:lnTo>
                  <a:lnTo>
                    <a:pt x="6098749" y="369959"/>
                  </a:lnTo>
                  <a:lnTo>
                    <a:pt x="6098749" y="363609"/>
                  </a:lnTo>
                  <a:close/>
                </a:path>
                <a:path w="6432550" h="370204">
                  <a:moveTo>
                    <a:pt x="6028899" y="363609"/>
                  </a:moveTo>
                  <a:lnTo>
                    <a:pt x="5978099" y="363609"/>
                  </a:lnTo>
                  <a:lnTo>
                    <a:pt x="5978099" y="369959"/>
                  </a:lnTo>
                  <a:lnTo>
                    <a:pt x="6028899" y="369959"/>
                  </a:lnTo>
                  <a:lnTo>
                    <a:pt x="6028899" y="363609"/>
                  </a:lnTo>
                  <a:close/>
                </a:path>
                <a:path w="6432550" h="370204">
                  <a:moveTo>
                    <a:pt x="5959049" y="363609"/>
                  </a:moveTo>
                  <a:lnTo>
                    <a:pt x="5908249" y="363609"/>
                  </a:lnTo>
                  <a:lnTo>
                    <a:pt x="5908249" y="369959"/>
                  </a:lnTo>
                  <a:lnTo>
                    <a:pt x="5959049" y="369959"/>
                  </a:lnTo>
                  <a:lnTo>
                    <a:pt x="5959049" y="363609"/>
                  </a:lnTo>
                  <a:close/>
                </a:path>
                <a:path w="6432550" h="370204">
                  <a:moveTo>
                    <a:pt x="5889199" y="363609"/>
                  </a:moveTo>
                  <a:lnTo>
                    <a:pt x="5838399" y="363609"/>
                  </a:lnTo>
                  <a:lnTo>
                    <a:pt x="5838399" y="369959"/>
                  </a:lnTo>
                  <a:lnTo>
                    <a:pt x="5889199" y="369959"/>
                  </a:lnTo>
                  <a:lnTo>
                    <a:pt x="5889199" y="363609"/>
                  </a:lnTo>
                  <a:close/>
                </a:path>
                <a:path w="6432550" h="370204">
                  <a:moveTo>
                    <a:pt x="5819349" y="363609"/>
                  </a:moveTo>
                  <a:lnTo>
                    <a:pt x="5768549" y="363609"/>
                  </a:lnTo>
                  <a:lnTo>
                    <a:pt x="5768549" y="369959"/>
                  </a:lnTo>
                  <a:lnTo>
                    <a:pt x="5819349" y="369959"/>
                  </a:lnTo>
                  <a:lnTo>
                    <a:pt x="5819349" y="363609"/>
                  </a:lnTo>
                  <a:close/>
                </a:path>
                <a:path w="6432550" h="370204">
                  <a:moveTo>
                    <a:pt x="5749499" y="363609"/>
                  </a:moveTo>
                  <a:lnTo>
                    <a:pt x="5698699" y="363609"/>
                  </a:lnTo>
                  <a:lnTo>
                    <a:pt x="5698699" y="369959"/>
                  </a:lnTo>
                  <a:lnTo>
                    <a:pt x="5749499" y="369959"/>
                  </a:lnTo>
                  <a:lnTo>
                    <a:pt x="5749499" y="363609"/>
                  </a:lnTo>
                  <a:close/>
                </a:path>
                <a:path w="6432550" h="370204">
                  <a:moveTo>
                    <a:pt x="5679649" y="363609"/>
                  </a:moveTo>
                  <a:lnTo>
                    <a:pt x="5628849" y="363609"/>
                  </a:lnTo>
                  <a:lnTo>
                    <a:pt x="5628849" y="369959"/>
                  </a:lnTo>
                  <a:lnTo>
                    <a:pt x="5679649" y="369959"/>
                  </a:lnTo>
                  <a:lnTo>
                    <a:pt x="5679649" y="363609"/>
                  </a:lnTo>
                  <a:close/>
                </a:path>
                <a:path w="6432550" h="370204">
                  <a:moveTo>
                    <a:pt x="5609799" y="363609"/>
                  </a:moveTo>
                  <a:lnTo>
                    <a:pt x="5558999" y="363609"/>
                  </a:lnTo>
                  <a:lnTo>
                    <a:pt x="5558999" y="369959"/>
                  </a:lnTo>
                  <a:lnTo>
                    <a:pt x="5609799" y="369959"/>
                  </a:lnTo>
                  <a:lnTo>
                    <a:pt x="5609799" y="363609"/>
                  </a:lnTo>
                  <a:close/>
                </a:path>
                <a:path w="6432550" h="370204">
                  <a:moveTo>
                    <a:pt x="5539949" y="363609"/>
                  </a:moveTo>
                  <a:lnTo>
                    <a:pt x="5489149" y="363609"/>
                  </a:lnTo>
                  <a:lnTo>
                    <a:pt x="5489149" y="369959"/>
                  </a:lnTo>
                  <a:lnTo>
                    <a:pt x="5539949" y="369959"/>
                  </a:lnTo>
                  <a:lnTo>
                    <a:pt x="5539949" y="363609"/>
                  </a:lnTo>
                  <a:close/>
                </a:path>
                <a:path w="6432550" h="370204">
                  <a:moveTo>
                    <a:pt x="5470099" y="363609"/>
                  </a:moveTo>
                  <a:lnTo>
                    <a:pt x="5419299" y="363609"/>
                  </a:lnTo>
                  <a:lnTo>
                    <a:pt x="5419299" y="369959"/>
                  </a:lnTo>
                  <a:lnTo>
                    <a:pt x="5470099" y="369959"/>
                  </a:lnTo>
                  <a:lnTo>
                    <a:pt x="5470099" y="363609"/>
                  </a:lnTo>
                  <a:close/>
                </a:path>
                <a:path w="6432550" h="370204">
                  <a:moveTo>
                    <a:pt x="5400249" y="363609"/>
                  </a:moveTo>
                  <a:lnTo>
                    <a:pt x="5349449" y="363609"/>
                  </a:lnTo>
                  <a:lnTo>
                    <a:pt x="5349449" y="369959"/>
                  </a:lnTo>
                  <a:lnTo>
                    <a:pt x="5400249" y="369959"/>
                  </a:lnTo>
                  <a:lnTo>
                    <a:pt x="5400249" y="363609"/>
                  </a:lnTo>
                  <a:close/>
                </a:path>
                <a:path w="6432550" h="370204">
                  <a:moveTo>
                    <a:pt x="5330399" y="363609"/>
                  </a:moveTo>
                  <a:lnTo>
                    <a:pt x="5279599" y="363609"/>
                  </a:lnTo>
                  <a:lnTo>
                    <a:pt x="5279599" y="369959"/>
                  </a:lnTo>
                  <a:lnTo>
                    <a:pt x="5330399" y="369959"/>
                  </a:lnTo>
                  <a:lnTo>
                    <a:pt x="5330399" y="363609"/>
                  </a:lnTo>
                  <a:close/>
                </a:path>
                <a:path w="6432550" h="370204">
                  <a:moveTo>
                    <a:pt x="5260549" y="363609"/>
                  </a:moveTo>
                  <a:lnTo>
                    <a:pt x="5209749" y="363609"/>
                  </a:lnTo>
                  <a:lnTo>
                    <a:pt x="5209749" y="369959"/>
                  </a:lnTo>
                  <a:lnTo>
                    <a:pt x="5260549" y="369959"/>
                  </a:lnTo>
                  <a:lnTo>
                    <a:pt x="5260549" y="363609"/>
                  </a:lnTo>
                  <a:close/>
                </a:path>
                <a:path w="6432550" h="370204">
                  <a:moveTo>
                    <a:pt x="5190699" y="363609"/>
                  </a:moveTo>
                  <a:lnTo>
                    <a:pt x="5139899" y="363609"/>
                  </a:lnTo>
                  <a:lnTo>
                    <a:pt x="5139899" y="369959"/>
                  </a:lnTo>
                  <a:lnTo>
                    <a:pt x="5190699" y="369959"/>
                  </a:lnTo>
                  <a:lnTo>
                    <a:pt x="5190699" y="363609"/>
                  </a:lnTo>
                  <a:close/>
                </a:path>
                <a:path w="6432550" h="370204">
                  <a:moveTo>
                    <a:pt x="5120849" y="363609"/>
                  </a:moveTo>
                  <a:lnTo>
                    <a:pt x="5070049" y="363609"/>
                  </a:lnTo>
                  <a:lnTo>
                    <a:pt x="5070049" y="369959"/>
                  </a:lnTo>
                  <a:lnTo>
                    <a:pt x="5120849" y="369959"/>
                  </a:lnTo>
                  <a:lnTo>
                    <a:pt x="5120849" y="363609"/>
                  </a:lnTo>
                  <a:close/>
                </a:path>
                <a:path w="6432550" h="370204">
                  <a:moveTo>
                    <a:pt x="5050999" y="363609"/>
                  </a:moveTo>
                  <a:lnTo>
                    <a:pt x="5000199" y="363609"/>
                  </a:lnTo>
                  <a:lnTo>
                    <a:pt x="5000199" y="369959"/>
                  </a:lnTo>
                  <a:lnTo>
                    <a:pt x="5050999" y="369959"/>
                  </a:lnTo>
                  <a:lnTo>
                    <a:pt x="5050999" y="363609"/>
                  </a:lnTo>
                  <a:close/>
                </a:path>
                <a:path w="6432550" h="370204">
                  <a:moveTo>
                    <a:pt x="4981149" y="363609"/>
                  </a:moveTo>
                  <a:lnTo>
                    <a:pt x="4930349" y="363609"/>
                  </a:lnTo>
                  <a:lnTo>
                    <a:pt x="4930349" y="369959"/>
                  </a:lnTo>
                  <a:lnTo>
                    <a:pt x="4981149" y="369959"/>
                  </a:lnTo>
                  <a:lnTo>
                    <a:pt x="4981149" y="363609"/>
                  </a:lnTo>
                  <a:close/>
                </a:path>
                <a:path w="6432550" h="370204">
                  <a:moveTo>
                    <a:pt x="4911299" y="363609"/>
                  </a:moveTo>
                  <a:lnTo>
                    <a:pt x="4860499" y="363609"/>
                  </a:lnTo>
                  <a:lnTo>
                    <a:pt x="4860499" y="369959"/>
                  </a:lnTo>
                  <a:lnTo>
                    <a:pt x="4911299" y="369959"/>
                  </a:lnTo>
                  <a:lnTo>
                    <a:pt x="4911299" y="363609"/>
                  </a:lnTo>
                  <a:close/>
                </a:path>
                <a:path w="6432550" h="370204">
                  <a:moveTo>
                    <a:pt x="4841449" y="363609"/>
                  </a:moveTo>
                  <a:lnTo>
                    <a:pt x="4790649" y="363609"/>
                  </a:lnTo>
                  <a:lnTo>
                    <a:pt x="4790649" y="369959"/>
                  </a:lnTo>
                  <a:lnTo>
                    <a:pt x="4841449" y="369959"/>
                  </a:lnTo>
                  <a:lnTo>
                    <a:pt x="4841449" y="363609"/>
                  </a:lnTo>
                  <a:close/>
                </a:path>
                <a:path w="6432550" h="370204">
                  <a:moveTo>
                    <a:pt x="4771599" y="363609"/>
                  </a:moveTo>
                  <a:lnTo>
                    <a:pt x="4720799" y="363609"/>
                  </a:lnTo>
                  <a:lnTo>
                    <a:pt x="4720799" y="369959"/>
                  </a:lnTo>
                  <a:lnTo>
                    <a:pt x="4771599" y="369959"/>
                  </a:lnTo>
                  <a:lnTo>
                    <a:pt x="4771599" y="363609"/>
                  </a:lnTo>
                  <a:close/>
                </a:path>
                <a:path w="6432550" h="370204">
                  <a:moveTo>
                    <a:pt x="4701749" y="363609"/>
                  </a:moveTo>
                  <a:lnTo>
                    <a:pt x="4650949" y="363609"/>
                  </a:lnTo>
                  <a:lnTo>
                    <a:pt x="4650949" y="369959"/>
                  </a:lnTo>
                  <a:lnTo>
                    <a:pt x="4701749" y="369959"/>
                  </a:lnTo>
                  <a:lnTo>
                    <a:pt x="4701749" y="363609"/>
                  </a:lnTo>
                  <a:close/>
                </a:path>
                <a:path w="6432550" h="370204">
                  <a:moveTo>
                    <a:pt x="4631899" y="363609"/>
                  </a:moveTo>
                  <a:lnTo>
                    <a:pt x="4581099" y="363609"/>
                  </a:lnTo>
                  <a:lnTo>
                    <a:pt x="4581099" y="369959"/>
                  </a:lnTo>
                  <a:lnTo>
                    <a:pt x="4631899" y="369959"/>
                  </a:lnTo>
                  <a:lnTo>
                    <a:pt x="4631899" y="363609"/>
                  </a:lnTo>
                  <a:close/>
                </a:path>
                <a:path w="6432550" h="370204">
                  <a:moveTo>
                    <a:pt x="4562049" y="363609"/>
                  </a:moveTo>
                  <a:lnTo>
                    <a:pt x="4511249" y="363609"/>
                  </a:lnTo>
                  <a:lnTo>
                    <a:pt x="4511249" y="369959"/>
                  </a:lnTo>
                  <a:lnTo>
                    <a:pt x="4562049" y="369959"/>
                  </a:lnTo>
                  <a:lnTo>
                    <a:pt x="4562049" y="363609"/>
                  </a:lnTo>
                  <a:close/>
                </a:path>
                <a:path w="6432550" h="370204">
                  <a:moveTo>
                    <a:pt x="4492199" y="363609"/>
                  </a:moveTo>
                  <a:lnTo>
                    <a:pt x="4441399" y="363609"/>
                  </a:lnTo>
                  <a:lnTo>
                    <a:pt x="4441399" y="369959"/>
                  </a:lnTo>
                  <a:lnTo>
                    <a:pt x="4492199" y="369959"/>
                  </a:lnTo>
                  <a:lnTo>
                    <a:pt x="4492199" y="363609"/>
                  </a:lnTo>
                  <a:close/>
                </a:path>
                <a:path w="6432550" h="370204">
                  <a:moveTo>
                    <a:pt x="4422349" y="363609"/>
                  </a:moveTo>
                  <a:lnTo>
                    <a:pt x="4371549" y="363609"/>
                  </a:lnTo>
                  <a:lnTo>
                    <a:pt x="4371549" y="369959"/>
                  </a:lnTo>
                  <a:lnTo>
                    <a:pt x="4422349" y="369959"/>
                  </a:lnTo>
                  <a:lnTo>
                    <a:pt x="4422349" y="363609"/>
                  </a:lnTo>
                  <a:close/>
                </a:path>
                <a:path w="6432550" h="370204">
                  <a:moveTo>
                    <a:pt x="4352499" y="363609"/>
                  </a:moveTo>
                  <a:lnTo>
                    <a:pt x="4301699" y="363609"/>
                  </a:lnTo>
                  <a:lnTo>
                    <a:pt x="4301699" y="369959"/>
                  </a:lnTo>
                  <a:lnTo>
                    <a:pt x="4352499" y="369959"/>
                  </a:lnTo>
                  <a:lnTo>
                    <a:pt x="4352499" y="363609"/>
                  </a:lnTo>
                  <a:close/>
                </a:path>
                <a:path w="6432550" h="370204">
                  <a:moveTo>
                    <a:pt x="4282649" y="363609"/>
                  </a:moveTo>
                  <a:lnTo>
                    <a:pt x="4231849" y="363609"/>
                  </a:lnTo>
                  <a:lnTo>
                    <a:pt x="4231849" y="369959"/>
                  </a:lnTo>
                  <a:lnTo>
                    <a:pt x="4282649" y="369959"/>
                  </a:lnTo>
                  <a:lnTo>
                    <a:pt x="4282649" y="363609"/>
                  </a:lnTo>
                  <a:close/>
                </a:path>
                <a:path w="6432550" h="370204">
                  <a:moveTo>
                    <a:pt x="4212799" y="363609"/>
                  </a:moveTo>
                  <a:lnTo>
                    <a:pt x="4161999" y="363609"/>
                  </a:lnTo>
                  <a:lnTo>
                    <a:pt x="4161999" y="369959"/>
                  </a:lnTo>
                  <a:lnTo>
                    <a:pt x="4212799" y="369959"/>
                  </a:lnTo>
                  <a:lnTo>
                    <a:pt x="4212799" y="363609"/>
                  </a:lnTo>
                  <a:close/>
                </a:path>
                <a:path w="6432550" h="370204">
                  <a:moveTo>
                    <a:pt x="4142949" y="363609"/>
                  </a:moveTo>
                  <a:lnTo>
                    <a:pt x="4092149" y="363609"/>
                  </a:lnTo>
                  <a:lnTo>
                    <a:pt x="4092149" y="369959"/>
                  </a:lnTo>
                  <a:lnTo>
                    <a:pt x="4142949" y="369959"/>
                  </a:lnTo>
                  <a:lnTo>
                    <a:pt x="4142949" y="363609"/>
                  </a:lnTo>
                  <a:close/>
                </a:path>
                <a:path w="6432550" h="370204">
                  <a:moveTo>
                    <a:pt x="4073099" y="363609"/>
                  </a:moveTo>
                  <a:lnTo>
                    <a:pt x="4022299" y="363609"/>
                  </a:lnTo>
                  <a:lnTo>
                    <a:pt x="4022299" y="369959"/>
                  </a:lnTo>
                  <a:lnTo>
                    <a:pt x="4073099" y="369959"/>
                  </a:lnTo>
                  <a:lnTo>
                    <a:pt x="4073099" y="363609"/>
                  </a:lnTo>
                  <a:close/>
                </a:path>
                <a:path w="6432550" h="370204">
                  <a:moveTo>
                    <a:pt x="4003249" y="363609"/>
                  </a:moveTo>
                  <a:lnTo>
                    <a:pt x="3952449" y="363609"/>
                  </a:lnTo>
                  <a:lnTo>
                    <a:pt x="3952449" y="369959"/>
                  </a:lnTo>
                  <a:lnTo>
                    <a:pt x="4003249" y="369959"/>
                  </a:lnTo>
                  <a:lnTo>
                    <a:pt x="4003249" y="363609"/>
                  </a:lnTo>
                  <a:close/>
                </a:path>
                <a:path w="6432550" h="370204">
                  <a:moveTo>
                    <a:pt x="3933399" y="363609"/>
                  </a:moveTo>
                  <a:lnTo>
                    <a:pt x="3882599" y="363609"/>
                  </a:lnTo>
                  <a:lnTo>
                    <a:pt x="3882599" y="369959"/>
                  </a:lnTo>
                  <a:lnTo>
                    <a:pt x="3933399" y="369959"/>
                  </a:lnTo>
                  <a:lnTo>
                    <a:pt x="3933399" y="363609"/>
                  </a:lnTo>
                  <a:close/>
                </a:path>
                <a:path w="6432550" h="370204">
                  <a:moveTo>
                    <a:pt x="3863549" y="363609"/>
                  </a:moveTo>
                  <a:lnTo>
                    <a:pt x="3812749" y="363609"/>
                  </a:lnTo>
                  <a:lnTo>
                    <a:pt x="3812749" y="369959"/>
                  </a:lnTo>
                  <a:lnTo>
                    <a:pt x="3863549" y="369959"/>
                  </a:lnTo>
                  <a:lnTo>
                    <a:pt x="3863549" y="363609"/>
                  </a:lnTo>
                  <a:close/>
                </a:path>
                <a:path w="6432550" h="370204">
                  <a:moveTo>
                    <a:pt x="3793699" y="363609"/>
                  </a:moveTo>
                  <a:lnTo>
                    <a:pt x="3742899" y="363609"/>
                  </a:lnTo>
                  <a:lnTo>
                    <a:pt x="3742899" y="369959"/>
                  </a:lnTo>
                  <a:lnTo>
                    <a:pt x="3793699" y="369959"/>
                  </a:lnTo>
                  <a:lnTo>
                    <a:pt x="3793699" y="363609"/>
                  </a:lnTo>
                  <a:close/>
                </a:path>
                <a:path w="6432550" h="370204">
                  <a:moveTo>
                    <a:pt x="3723849" y="363609"/>
                  </a:moveTo>
                  <a:lnTo>
                    <a:pt x="3673049" y="363609"/>
                  </a:lnTo>
                  <a:lnTo>
                    <a:pt x="3673049" y="369959"/>
                  </a:lnTo>
                  <a:lnTo>
                    <a:pt x="3723849" y="369959"/>
                  </a:lnTo>
                  <a:lnTo>
                    <a:pt x="3723849" y="363609"/>
                  </a:lnTo>
                  <a:close/>
                </a:path>
                <a:path w="6432550" h="370204">
                  <a:moveTo>
                    <a:pt x="3653999" y="363609"/>
                  </a:moveTo>
                  <a:lnTo>
                    <a:pt x="3603199" y="363609"/>
                  </a:lnTo>
                  <a:lnTo>
                    <a:pt x="3603199" y="369959"/>
                  </a:lnTo>
                  <a:lnTo>
                    <a:pt x="3653999" y="369959"/>
                  </a:lnTo>
                  <a:lnTo>
                    <a:pt x="3653999" y="363609"/>
                  </a:lnTo>
                  <a:close/>
                </a:path>
                <a:path w="6432550" h="370204">
                  <a:moveTo>
                    <a:pt x="3584149" y="363609"/>
                  </a:moveTo>
                  <a:lnTo>
                    <a:pt x="3533349" y="363609"/>
                  </a:lnTo>
                  <a:lnTo>
                    <a:pt x="3533349" y="369959"/>
                  </a:lnTo>
                  <a:lnTo>
                    <a:pt x="3584149" y="369959"/>
                  </a:lnTo>
                  <a:lnTo>
                    <a:pt x="3584149" y="363609"/>
                  </a:lnTo>
                  <a:close/>
                </a:path>
                <a:path w="6432550" h="370204">
                  <a:moveTo>
                    <a:pt x="3514299" y="363609"/>
                  </a:moveTo>
                  <a:lnTo>
                    <a:pt x="3463499" y="363609"/>
                  </a:lnTo>
                  <a:lnTo>
                    <a:pt x="3463499" y="369959"/>
                  </a:lnTo>
                  <a:lnTo>
                    <a:pt x="3514299" y="369959"/>
                  </a:lnTo>
                  <a:lnTo>
                    <a:pt x="3514299" y="363609"/>
                  </a:lnTo>
                  <a:close/>
                </a:path>
                <a:path w="6432550" h="370204">
                  <a:moveTo>
                    <a:pt x="3444449" y="363609"/>
                  </a:moveTo>
                  <a:lnTo>
                    <a:pt x="3393649" y="363609"/>
                  </a:lnTo>
                  <a:lnTo>
                    <a:pt x="3393649" y="369959"/>
                  </a:lnTo>
                  <a:lnTo>
                    <a:pt x="3444449" y="369959"/>
                  </a:lnTo>
                  <a:lnTo>
                    <a:pt x="3444449" y="363609"/>
                  </a:lnTo>
                  <a:close/>
                </a:path>
                <a:path w="6432550" h="370204">
                  <a:moveTo>
                    <a:pt x="3374599" y="363609"/>
                  </a:moveTo>
                  <a:lnTo>
                    <a:pt x="3323799" y="363609"/>
                  </a:lnTo>
                  <a:lnTo>
                    <a:pt x="3323799" y="369959"/>
                  </a:lnTo>
                  <a:lnTo>
                    <a:pt x="3374599" y="369959"/>
                  </a:lnTo>
                  <a:lnTo>
                    <a:pt x="3374599" y="363609"/>
                  </a:lnTo>
                  <a:close/>
                </a:path>
                <a:path w="6432550" h="370204">
                  <a:moveTo>
                    <a:pt x="3304749" y="363609"/>
                  </a:moveTo>
                  <a:lnTo>
                    <a:pt x="3253949" y="363609"/>
                  </a:lnTo>
                  <a:lnTo>
                    <a:pt x="3253949" y="369959"/>
                  </a:lnTo>
                  <a:lnTo>
                    <a:pt x="3304749" y="369959"/>
                  </a:lnTo>
                  <a:lnTo>
                    <a:pt x="3304749" y="363609"/>
                  </a:lnTo>
                  <a:close/>
                </a:path>
                <a:path w="6432550" h="370204">
                  <a:moveTo>
                    <a:pt x="3234899" y="363609"/>
                  </a:moveTo>
                  <a:lnTo>
                    <a:pt x="3184099" y="363609"/>
                  </a:lnTo>
                  <a:lnTo>
                    <a:pt x="3184099" y="369959"/>
                  </a:lnTo>
                  <a:lnTo>
                    <a:pt x="3234899" y="369959"/>
                  </a:lnTo>
                  <a:lnTo>
                    <a:pt x="3234899" y="363609"/>
                  </a:lnTo>
                  <a:close/>
                </a:path>
                <a:path w="6432550" h="370204">
                  <a:moveTo>
                    <a:pt x="3165049" y="363609"/>
                  </a:moveTo>
                  <a:lnTo>
                    <a:pt x="3114249" y="363609"/>
                  </a:lnTo>
                  <a:lnTo>
                    <a:pt x="3114249" y="369959"/>
                  </a:lnTo>
                  <a:lnTo>
                    <a:pt x="3165049" y="369959"/>
                  </a:lnTo>
                  <a:lnTo>
                    <a:pt x="3165049" y="363609"/>
                  </a:lnTo>
                  <a:close/>
                </a:path>
                <a:path w="6432550" h="370204">
                  <a:moveTo>
                    <a:pt x="3095199" y="363609"/>
                  </a:moveTo>
                  <a:lnTo>
                    <a:pt x="3044399" y="363609"/>
                  </a:lnTo>
                  <a:lnTo>
                    <a:pt x="3044399" y="369959"/>
                  </a:lnTo>
                  <a:lnTo>
                    <a:pt x="3095199" y="369959"/>
                  </a:lnTo>
                  <a:lnTo>
                    <a:pt x="3095199" y="363609"/>
                  </a:lnTo>
                  <a:close/>
                </a:path>
                <a:path w="6432550" h="370204">
                  <a:moveTo>
                    <a:pt x="3025349" y="363609"/>
                  </a:moveTo>
                  <a:lnTo>
                    <a:pt x="2974549" y="363609"/>
                  </a:lnTo>
                  <a:lnTo>
                    <a:pt x="2974549" y="369959"/>
                  </a:lnTo>
                  <a:lnTo>
                    <a:pt x="3025349" y="369959"/>
                  </a:lnTo>
                  <a:lnTo>
                    <a:pt x="3025349" y="363609"/>
                  </a:lnTo>
                  <a:close/>
                </a:path>
                <a:path w="6432550" h="370204">
                  <a:moveTo>
                    <a:pt x="2955499" y="363609"/>
                  </a:moveTo>
                  <a:lnTo>
                    <a:pt x="2904699" y="363609"/>
                  </a:lnTo>
                  <a:lnTo>
                    <a:pt x="2904699" y="369959"/>
                  </a:lnTo>
                  <a:lnTo>
                    <a:pt x="2955499" y="369959"/>
                  </a:lnTo>
                  <a:lnTo>
                    <a:pt x="2955499" y="363609"/>
                  </a:lnTo>
                  <a:close/>
                </a:path>
                <a:path w="6432550" h="370204">
                  <a:moveTo>
                    <a:pt x="2885649" y="363609"/>
                  </a:moveTo>
                  <a:lnTo>
                    <a:pt x="2834849" y="363609"/>
                  </a:lnTo>
                  <a:lnTo>
                    <a:pt x="2834849" y="369959"/>
                  </a:lnTo>
                  <a:lnTo>
                    <a:pt x="2885649" y="369959"/>
                  </a:lnTo>
                  <a:lnTo>
                    <a:pt x="2885649" y="363609"/>
                  </a:lnTo>
                  <a:close/>
                </a:path>
                <a:path w="6432550" h="370204">
                  <a:moveTo>
                    <a:pt x="2815799" y="363609"/>
                  </a:moveTo>
                  <a:lnTo>
                    <a:pt x="2764999" y="363609"/>
                  </a:lnTo>
                  <a:lnTo>
                    <a:pt x="2764999" y="369959"/>
                  </a:lnTo>
                  <a:lnTo>
                    <a:pt x="2815799" y="369959"/>
                  </a:lnTo>
                  <a:lnTo>
                    <a:pt x="2815799" y="363609"/>
                  </a:lnTo>
                  <a:close/>
                </a:path>
                <a:path w="6432550" h="370204">
                  <a:moveTo>
                    <a:pt x="2745949" y="363609"/>
                  </a:moveTo>
                  <a:lnTo>
                    <a:pt x="2695149" y="363609"/>
                  </a:lnTo>
                  <a:lnTo>
                    <a:pt x="2695149" y="369959"/>
                  </a:lnTo>
                  <a:lnTo>
                    <a:pt x="2745949" y="369959"/>
                  </a:lnTo>
                  <a:lnTo>
                    <a:pt x="2745949" y="363609"/>
                  </a:lnTo>
                  <a:close/>
                </a:path>
                <a:path w="6432550" h="370204">
                  <a:moveTo>
                    <a:pt x="2676099" y="363609"/>
                  </a:moveTo>
                  <a:lnTo>
                    <a:pt x="2625299" y="363609"/>
                  </a:lnTo>
                  <a:lnTo>
                    <a:pt x="2625299" y="369959"/>
                  </a:lnTo>
                  <a:lnTo>
                    <a:pt x="2676099" y="369959"/>
                  </a:lnTo>
                  <a:lnTo>
                    <a:pt x="2676099" y="363609"/>
                  </a:lnTo>
                  <a:close/>
                </a:path>
                <a:path w="6432550" h="370204">
                  <a:moveTo>
                    <a:pt x="2606249" y="363609"/>
                  </a:moveTo>
                  <a:lnTo>
                    <a:pt x="2555449" y="363609"/>
                  </a:lnTo>
                  <a:lnTo>
                    <a:pt x="2555449" y="369959"/>
                  </a:lnTo>
                  <a:lnTo>
                    <a:pt x="2606249" y="369959"/>
                  </a:lnTo>
                  <a:lnTo>
                    <a:pt x="2606249" y="363609"/>
                  </a:lnTo>
                  <a:close/>
                </a:path>
                <a:path w="6432550" h="370204">
                  <a:moveTo>
                    <a:pt x="2536399" y="363609"/>
                  </a:moveTo>
                  <a:lnTo>
                    <a:pt x="2485599" y="363609"/>
                  </a:lnTo>
                  <a:lnTo>
                    <a:pt x="2485599" y="369959"/>
                  </a:lnTo>
                  <a:lnTo>
                    <a:pt x="2536399" y="369959"/>
                  </a:lnTo>
                  <a:lnTo>
                    <a:pt x="2536399" y="363609"/>
                  </a:lnTo>
                  <a:close/>
                </a:path>
                <a:path w="6432550" h="370204">
                  <a:moveTo>
                    <a:pt x="2466549" y="363609"/>
                  </a:moveTo>
                  <a:lnTo>
                    <a:pt x="2415749" y="363609"/>
                  </a:lnTo>
                  <a:lnTo>
                    <a:pt x="2415749" y="369959"/>
                  </a:lnTo>
                  <a:lnTo>
                    <a:pt x="2466549" y="369959"/>
                  </a:lnTo>
                  <a:lnTo>
                    <a:pt x="2466549" y="363609"/>
                  </a:lnTo>
                  <a:close/>
                </a:path>
                <a:path w="6432550" h="370204">
                  <a:moveTo>
                    <a:pt x="2396699" y="363609"/>
                  </a:moveTo>
                  <a:lnTo>
                    <a:pt x="2345899" y="363609"/>
                  </a:lnTo>
                  <a:lnTo>
                    <a:pt x="2345899" y="369959"/>
                  </a:lnTo>
                  <a:lnTo>
                    <a:pt x="2396699" y="369959"/>
                  </a:lnTo>
                  <a:lnTo>
                    <a:pt x="2396699" y="363609"/>
                  </a:lnTo>
                  <a:close/>
                </a:path>
                <a:path w="6432550" h="370204">
                  <a:moveTo>
                    <a:pt x="2326849" y="363609"/>
                  </a:moveTo>
                  <a:lnTo>
                    <a:pt x="2276049" y="363609"/>
                  </a:lnTo>
                  <a:lnTo>
                    <a:pt x="2276049" y="369959"/>
                  </a:lnTo>
                  <a:lnTo>
                    <a:pt x="2326849" y="369959"/>
                  </a:lnTo>
                  <a:lnTo>
                    <a:pt x="2326849" y="363609"/>
                  </a:lnTo>
                  <a:close/>
                </a:path>
                <a:path w="6432550" h="370204">
                  <a:moveTo>
                    <a:pt x="2256999" y="363609"/>
                  </a:moveTo>
                  <a:lnTo>
                    <a:pt x="2206199" y="363609"/>
                  </a:lnTo>
                  <a:lnTo>
                    <a:pt x="2206199" y="369959"/>
                  </a:lnTo>
                  <a:lnTo>
                    <a:pt x="2256999" y="369959"/>
                  </a:lnTo>
                  <a:lnTo>
                    <a:pt x="2256999" y="363609"/>
                  </a:lnTo>
                  <a:close/>
                </a:path>
                <a:path w="6432550" h="370204">
                  <a:moveTo>
                    <a:pt x="2187149" y="363609"/>
                  </a:moveTo>
                  <a:lnTo>
                    <a:pt x="2136349" y="363609"/>
                  </a:lnTo>
                  <a:lnTo>
                    <a:pt x="2136349" y="369959"/>
                  </a:lnTo>
                  <a:lnTo>
                    <a:pt x="2187149" y="369959"/>
                  </a:lnTo>
                  <a:lnTo>
                    <a:pt x="2187149" y="363609"/>
                  </a:lnTo>
                  <a:close/>
                </a:path>
                <a:path w="6432550" h="370204">
                  <a:moveTo>
                    <a:pt x="2117299" y="363609"/>
                  </a:moveTo>
                  <a:lnTo>
                    <a:pt x="2066499" y="363609"/>
                  </a:lnTo>
                  <a:lnTo>
                    <a:pt x="2066499" y="369959"/>
                  </a:lnTo>
                  <a:lnTo>
                    <a:pt x="2117299" y="369959"/>
                  </a:lnTo>
                  <a:lnTo>
                    <a:pt x="2117299" y="363609"/>
                  </a:lnTo>
                  <a:close/>
                </a:path>
                <a:path w="6432550" h="370204">
                  <a:moveTo>
                    <a:pt x="2047449" y="363609"/>
                  </a:moveTo>
                  <a:lnTo>
                    <a:pt x="1996649" y="363609"/>
                  </a:lnTo>
                  <a:lnTo>
                    <a:pt x="1996649" y="369959"/>
                  </a:lnTo>
                  <a:lnTo>
                    <a:pt x="2047449" y="369959"/>
                  </a:lnTo>
                  <a:lnTo>
                    <a:pt x="2047449" y="363609"/>
                  </a:lnTo>
                  <a:close/>
                </a:path>
                <a:path w="6432550" h="370204">
                  <a:moveTo>
                    <a:pt x="1977599" y="363609"/>
                  </a:moveTo>
                  <a:lnTo>
                    <a:pt x="1926799" y="363609"/>
                  </a:lnTo>
                  <a:lnTo>
                    <a:pt x="1926799" y="369959"/>
                  </a:lnTo>
                  <a:lnTo>
                    <a:pt x="1977599" y="369959"/>
                  </a:lnTo>
                  <a:lnTo>
                    <a:pt x="1977599" y="363609"/>
                  </a:lnTo>
                  <a:close/>
                </a:path>
                <a:path w="6432550" h="370204">
                  <a:moveTo>
                    <a:pt x="1907749" y="363609"/>
                  </a:moveTo>
                  <a:lnTo>
                    <a:pt x="1856949" y="363609"/>
                  </a:lnTo>
                  <a:lnTo>
                    <a:pt x="1856949" y="369959"/>
                  </a:lnTo>
                  <a:lnTo>
                    <a:pt x="1907749" y="369959"/>
                  </a:lnTo>
                  <a:lnTo>
                    <a:pt x="1907749" y="363609"/>
                  </a:lnTo>
                  <a:close/>
                </a:path>
                <a:path w="6432550" h="370204">
                  <a:moveTo>
                    <a:pt x="1837899" y="363609"/>
                  </a:moveTo>
                  <a:lnTo>
                    <a:pt x="1787099" y="363609"/>
                  </a:lnTo>
                  <a:lnTo>
                    <a:pt x="1787099" y="369959"/>
                  </a:lnTo>
                  <a:lnTo>
                    <a:pt x="1837899" y="369959"/>
                  </a:lnTo>
                  <a:lnTo>
                    <a:pt x="1837899" y="363609"/>
                  </a:lnTo>
                  <a:close/>
                </a:path>
                <a:path w="6432550" h="370204">
                  <a:moveTo>
                    <a:pt x="1768049" y="363609"/>
                  </a:moveTo>
                  <a:lnTo>
                    <a:pt x="1717249" y="363609"/>
                  </a:lnTo>
                  <a:lnTo>
                    <a:pt x="1717249" y="369959"/>
                  </a:lnTo>
                  <a:lnTo>
                    <a:pt x="1768049" y="369959"/>
                  </a:lnTo>
                  <a:lnTo>
                    <a:pt x="1768049" y="363609"/>
                  </a:lnTo>
                  <a:close/>
                </a:path>
                <a:path w="6432550" h="370204">
                  <a:moveTo>
                    <a:pt x="1698199" y="363609"/>
                  </a:moveTo>
                  <a:lnTo>
                    <a:pt x="1647399" y="363609"/>
                  </a:lnTo>
                  <a:lnTo>
                    <a:pt x="1647399" y="369959"/>
                  </a:lnTo>
                  <a:lnTo>
                    <a:pt x="1698199" y="369959"/>
                  </a:lnTo>
                  <a:lnTo>
                    <a:pt x="1698199" y="363609"/>
                  </a:lnTo>
                  <a:close/>
                </a:path>
                <a:path w="6432550" h="370204">
                  <a:moveTo>
                    <a:pt x="1628349" y="363609"/>
                  </a:moveTo>
                  <a:lnTo>
                    <a:pt x="1577549" y="363609"/>
                  </a:lnTo>
                  <a:lnTo>
                    <a:pt x="1577549" y="369959"/>
                  </a:lnTo>
                  <a:lnTo>
                    <a:pt x="1628349" y="369959"/>
                  </a:lnTo>
                  <a:lnTo>
                    <a:pt x="1628349" y="363609"/>
                  </a:lnTo>
                  <a:close/>
                </a:path>
                <a:path w="6432550" h="370204">
                  <a:moveTo>
                    <a:pt x="1558499" y="363609"/>
                  </a:moveTo>
                  <a:lnTo>
                    <a:pt x="1507699" y="363609"/>
                  </a:lnTo>
                  <a:lnTo>
                    <a:pt x="1507699" y="369959"/>
                  </a:lnTo>
                  <a:lnTo>
                    <a:pt x="1558499" y="369959"/>
                  </a:lnTo>
                  <a:lnTo>
                    <a:pt x="1558499" y="363609"/>
                  </a:lnTo>
                  <a:close/>
                </a:path>
                <a:path w="6432550" h="370204">
                  <a:moveTo>
                    <a:pt x="1488649" y="363609"/>
                  </a:moveTo>
                  <a:lnTo>
                    <a:pt x="1437849" y="363609"/>
                  </a:lnTo>
                  <a:lnTo>
                    <a:pt x="1437849" y="369959"/>
                  </a:lnTo>
                  <a:lnTo>
                    <a:pt x="1488649" y="369959"/>
                  </a:lnTo>
                  <a:lnTo>
                    <a:pt x="1488649" y="363609"/>
                  </a:lnTo>
                  <a:close/>
                </a:path>
                <a:path w="6432550" h="370204">
                  <a:moveTo>
                    <a:pt x="1418799" y="363609"/>
                  </a:moveTo>
                  <a:lnTo>
                    <a:pt x="1367999" y="363609"/>
                  </a:lnTo>
                  <a:lnTo>
                    <a:pt x="1367999" y="369959"/>
                  </a:lnTo>
                  <a:lnTo>
                    <a:pt x="1418799" y="369959"/>
                  </a:lnTo>
                  <a:lnTo>
                    <a:pt x="1418799" y="363609"/>
                  </a:lnTo>
                  <a:close/>
                </a:path>
                <a:path w="6432550" h="370204">
                  <a:moveTo>
                    <a:pt x="1348949" y="363609"/>
                  </a:moveTo>
                  <a:lnTo>
                    <a:pt x="1298149" y="363609"/>
                  </a:lnTo>
                  <a:lnTo>
                    <a:pt x="1298149" y="369959"/>
                  </a:lnTo>
                  <a:lnTo>
                    <a:pt x="1348949" y="369959"/>
                  </a:lnTo>
                  <a:lnTo>
                    <a:pt x="1348949" y="363609"/>
                  </a:lnTo>
                  <a:close/>
                </a:path>
                <a:path w="6432550" h="370204">
                  <a:moveTo>
                    <a:pt x="1279099" y="363609"/>
                  </a:moveTo>
                  <a:lnTo>
                    <a:pt x="1228299" y="363609"/>
                  </a:lnTo>
                  <a:lnTo>
                    <a:pt x="1228299" y="369959"/>
                  </a:lnTo>
                  <a:lnTo>
                    <a:pt x="1279099" y="369959"/>
                  </a:lnTo>
                  <a:lnTo>
                    <a:pt x="1279099" y="363609"/>
                  </a:lnTo>
                  <a:close/>
                </a:path>
                <a:path w="6432550" h="370204">
                  <a:moveTo>
                    <a:pt x="1209249" y="363609"/>
                  </a:moveTo>
                  <a:lnTo>
                    <a:pt x="1158449" y="363609"/>
                  </a:lnTo>
                  <a:lnTo>
                    <a:pt x="1158449" y="369959"/>
                  </a:lnTo>
                  <a:lnTo>
                    <a:pt x="1209249" y="369959"/>
                  </a:lnTo>
                  <a:lnTo>
                    <a:pt x="1209249" y="363609"/>
                  </a:lnTo>
                  <a:close/>
                </a:path>
                <a:path w="6432550" h="370204">
                  <a:moveTo>
                    <a:pt x="1139399" y="363609"/>
                  </a:moveTo>
                  <a:lnTo>
                    <a:pt x="1088599" y="363609"/>
                  </a:lnTo>
                  <a:lnTo>
                    <a:pt x="1088599" y="369959"/>
                  </a:lnTo>
                  <a:lnTo>
                    <a:pt x="1139399" y="369959"/>
                  </a:lnTo>
                  <a:lnTo>
                    <a:pt x="1139399" y="363609"/>
                  </a:lnTo>
                  <a:close/>
                </a:path>
                <a:path w="6432550" h="370204">
                  <a:moveTo>
                    <a:pt x="1069549" y="363609"/>
                  </a:moveTo>
                  <a:lnTo>
                    <a:pt x="1018749" y="363609"/>
                  </a:lnTo>
                  <a:lnTo>
                    <a:pt x="1018749" y="369959"/>
                  </a:lnTo>
                  <a:lnTo>
                    <a:pt x="1069549" y="369959"/>
                  </a:lnTo>
                  <a:lnTo>
                    <a:pt x="1069549" y="363609"/>
                  </a:lnTo>
                  <a:close/>
                </a:path>
                <a:path w="6432550" h="370204">
                  <a:moveTo>
                    <a:pt x="999699" y="363609"/>
                  </a:moveTo>
                  <a:lnTo>
                    <a:pt x="948899" y="363609"/>
                  </a:lnTo>
                  <a:lnTo>
                    <a:pt x="948899" y="369959"/>
                  </a:lnTo>
                  <a:lnTo>
                    <a:pt x="999699" y="369959"/>
                  </a:lnTo>
                  <a:lnTo>
                    <a:pt x="999699" y="363609"/>
                  </a:lnTo>
                  <a:close/>
                </a:path>
                <a:path w="6432550" h="370204">
                  <a:moveTo>
                    <a:pt x="929849" y="363609"/>
                  </a:moveTo>
                  <a:lnTo>
                    <a:pt x="879049" y="363609"/>
                  </a:lnTo>
                  <a:lnTo>
                    <a:pt x="879049" y="369959"/>
                  </a:lnTo>
                  <a:lnTo>
                    <a:pt x="929849" y="369959"/>
                  </a:lnTo>
                  <a:lnTo>
                    <a:pt x="929849" y="363609"/>
                  </a:lnTo>
                  <a:close/>
                </a:path>
                <a:path w="6432550" h="370204">
                  <a:moveTo>
                    <a:pt x="859999" y="363609"/>
                  </a:moveTo>
                  <a:lnTo>
                    <a:pt x="809199" y="363609"/>
                  </a:lnTo>
                  <a:lnTo>
                    <a:pt x="809199" y="369959"/>
                  </a:lnTo>
                  <a:lnTo>
                    <a:pt x="859999" y="369959"/>
                  </a:lnTo>
                  <a:lnTo>
                    <a:pt x="859999" y="363609"/>
                  </a:lnTo>
                  <a:close/>
                </a:path>
                <a:path w="6432550" h="370204">
                  <a:moveTo>
                    <a:pt x="790149" y="363609"/>
                  </a:moveTo>
                  <a:lnTo>
                    <a:pt x="739349" y="363609"/>
                  </a:lnTo>
                  <a:lnTo>
                    <a:pt x="739349" y="369959"/>
                  </a:lnTo>
                  <a:lnTo>
                    <a:pt x="790149" y="369959"/>
                  </a:lnTo>
                  <a:lnTo>
                    <a:pt x="790149" y="363609"/>
                  </a:lnTo>
                  <a:close/>
                </a:path>
                <a:path w="6432550" h="370204">
                  <a:moveTo>
                    <a:pt x="720299" y="363609"/>
                  </a:moveTo>
                  <a:lnTo>
                    <a:pt x="669499" y="363609"/>
                  </a:lnTo>
                  <a:lnTo>
                    <a:pt x="669499" y="369959"/>
                  </a:lnTo>
                  <a:lnTo>
                    <a:pt x="720299" y="369959"/>
                  </a:lnTo>
                  <a:lnTo>
                    <a:pt x="720299" y="363609"/>
                  </a:lnTo>
                  <a:close/>
                </a:path>
                <a:path w="6432550" h="370204">
                  <a:moveTo>
                    <a:pt x="650449" y="363609"/>
                  </a:moveTo>
                  <a:lnTo>
                    <a:pt x="599649" y="363609"/>
                  </a:lnTo>
                  <a:lnTo>
                    <a:pt x="599649" y="369959"/>
                  </a:lnTo>
                  <a:lnTo>
                    <a:pt x="650449" y="369959"/>
                  </a:lnTo>
                  <a:lnTo>
                    <a:pt x="650449" y="363609"/>
                  </a:lnTo>
                  <a:close/>
                </a:path>
                <a:path w="6432550" h="370204">
                  <a:moveTo>
                    <a:pt x="580599" y="363609"/>
                  </a:moveTo>
                  <a:lnTo>
                    <a:pt x="529799" y="363609"/>
                  </a:lnTo>
                  <a:lnTo>
                    <a:pt x="529799" y="369959"/>
                  </a:lnTo>
                  <a:lnTo>
                    <a:pt x="580599" y="369959"/>
                  </a:lnTo>
                  <a:lnTo>
                    <a:pt x="580599" y="363609"/>
                  </a:lnTo>
                  <a:close/>
                </a:path>
                <a:path w="6432550" h="370204">
                  <a:moveTo>
                    <a:pt x="510749" y="363609"/>
                  </a:moveTo>
                  <a:lnTo>
                    <a:pt x="459949" y="363609"/>
                  </a:lnTo>
                  <a:lnTo>
                    <a:pt x="459949" y="369959"/>
                  </a:lnTo>
                  <a:lnTo>
                    <a:pt x="510749" y="369959"/>
                  </a:lnTo>
                  <a:lnTo>
                    <a:pt x="510749" y="363609"/>
                  </a:lnTo>
                  <a:close/>
                </a:path>
                <a:path w="6432550" h="370204">
                  <a:moveTo>
                    <a:pt x="440899" y="363609"/>
                  </a:moveTo>
                  <a:lnTo>
                    <a:pt x="390099" y="363609"/>
                  </a:lnTo>
                  <a:lnTo>
                    <a:pt x="390099" y="369959"/>
                  </a:lnTo>
                  <a:lnTo>
                    <a:pt x="440899" y="369959"/>
                  </a:lnTo>
                  <a:lnTo>
                    <a:pt x="440899" y="363609"/>
                  </a:lnTo>
                  <a:close/>
                </a:path>
                <a:path w="6432550" h="370204">
                  <a:moveTo>
                    <a:pt x="371049" y="363609"/>
                  </a:moveTo>
                  <a:lnTo>
                    <a:pt x="320249" y="363609"/>
                  </a:lnTo>
                  <a:lnTo>
                    <a:pt x="320249" y="369959"/>
                  </a:lnTo>
                  <a:lnTo>
                    <a:pt x="371049" y="369959"/>
                  </a:lnTo>
                  <a:lnTo>
                    <a:pt x="371049" y="363609"/>
                  </a:lnTo>
                  <a:close/>
                </a:path>
                <a:path w="6432550" h="370204">
                  <a:moveTo>
                    <a:pt x="301199" y="363609"/>
                  </a:moveTo>
                  <a:lnTo>
                    <a:pt x="250399" y="363609"/>
                  </a:lnTo>
                  <a:lnTo>
                    <a:pt x="250399" y="369959"/>
                  </a:lnTo>
                  <a:lnTo>
                    <a:pt x="301199" y="369959"/>
                  </a:lnTo>
                  <a:lnTo>
                    <a:pt x="301199" y="363609"/>
                  </a:lnTo>
                  <a:close/>
                </a:path>
                <a:path w="6432550" h="370204">
                  <a:moveTo>
                    <a:pt x="231349" y="363609"/>
                  </a:moveTo>
                  <a:lnTo>
                    <a:pt x="180549" y="363609"/>
                  </a:lnTo>
                  <a:lnTo>
                    <a:pt x="180549" y="369959"/>
                  </a:lnTo>
                  <a:lnTo>
                    <a:pt x="231349" y="369959"/>
                  </a:lnTo>
                  <a:lnTo>
                    <a:pt x="231349" y="363609"/>
                  </a:lnTo>
                  <a:close/>
                </a:path>
                <a:path w="6432550" h="370204">
                  <a:moveTo>
                    <a:pt x="161499" y="363609"/>
                  </a:moveTo>
                  <a:lnTo>
                    <a:pt x="110699" y="363609"/>
                  </a:lnTo>
                  <a:lnTo>
                    <a:pt x="110699" y="369959"/>
                  </a:lnTo>
                  <a:lnTo>
                    <a:pt x="161499" y="369959"/>
                  </a:lnTo>
                  <a:lnTo>
                    <a:pt x="161499" y="363609"/>
                  </a:lnTo>
                  <a:close/>
                </a:path>
                <a:path w="6432550" h="370204">
                  <a:moveTo>
                    <a:pt x="91649" y="363609"/>
                  </a:moveTo>
                  <a:lnTo>
                    <a:pt x="40849" y="363609"/>
                  </a:lnTo>
                  <a:lnTo>
                    <a:pt x="40849" y="369959"/>
                  </a:lnTo>
                  <a:lnTo>
                    <a:pt x="91649" y="369959"/>
                  </a:lnTo>
                  <a:lnTo>
                    <a:pt x="91649" y="363609"/>
                  </a:lnTo>
                  <a:close/>
                </a:path>
                <a:path w="6432550" h="370204">
                  <a:moveTo>
                    <a:pt x="41275" y="299684"/>
                  </a:moveTo>
                  <a:lnTo>
                    <a:pt x="34925" y="299684"/>
                  </a:lnTo>
                  <a:lnTo>
                    <a:pt x="34925" y="350484"/>
                  </a:lnTo>
                  <a:lnTo>
                    <a:pt x="41275" y="350484"/>
                  </a:lnTo>
                  <a:lnTo>
                    <a:pt x="41275" y="299684"/>
                  </a:lnTo>
                  <a:close/>
                </a:path>
                <a:path w="6432550" h="370204">
                  <a:moveTo>
                    <a:pt x="41275" y="229834"/>
                  </a:moveTo>
                  <a:lnTo>
                    <a:pt x="34925" y="229834"/>
                  </a:lnTo>
                  <a:lnTo>
                    <a:pt x="34925" y="280634"/>
                  </a:lnTo>
                  <a:lnTo>
                    <a:pt x="41275" y="280634"/>
                  </a:lnTo>
                  <a:lnTo>
                    <a:pt x="41275" y="229834"/>
                  </a:lnTo>
                  <a:close/>
                </a:path>
                <a:path w="6432550" h="370204">
                  <a:moveTo>
                    <a:pt x="41275" y="159984"/>
                  </a:moveTo>
                  <a:lnTo>
                    <a:pt x="34925" y="159984"/>
                  </a:lnTo>
                  <a:lnTo>
                    <a:pt x="34925" y="210784"/>
                  </a:lnTo>
                  <a:lnTo>
                    <a:pt x="41275" y="210784"/>
                  </a:lnTo>
                  <a:lnTo>
                    <a:pt x="41275" y="159984"/>
                  </a:lnTo>
                  <a:close/>
                </a:path>
                <a:path w="6432550" h="370204">
                  <a:moveTo>
                    <a:pt x="41275" y="90134"/>
                  </a:moveTo>
                  <a:lnTo>
                    <a:pt x="34925" y="90134"/>
                  </a:lnTo>
                  <a:lnTo>
                    <a:pt x="34925" y="140934"/>
                  </a:lnTo>
                  <a:lnTo>
                    <a:pt x="41275" y="140934"/>
                  </a:lnTo>
                  <a:lnTo>
                    <a:pt x="41275" y="90134"/>
                  </a:lnTo>
                  <a:close/>
                </a:path>
                <a:path w="6432550" h="370204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73642" y="71084"/>
                  </a:lnTo>
                  <a:lnTo>
                    <a:pt x="34925" y="71084"/>
                  </a:lnTo>
                  <a:lnTo>
                    <a:pt x="3492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6432550" h="370204">
                  <a:moveTo>
                    <a:pt x="41275" y="63500"/>
                  </a:moveTo>
                  <a:lnTo>
                    <a:pt x="34925" y="63500"/>
                  </a:lnTo>
                  <a:lnTo>
                    <a:pt x="34925" y="71084"/>
                  </a:lnTo>
                  <a:lnTo>
                    <a:pt x="41275" y="71084"/>
                  </a:lnTo>
                  <a:lnTo>
                    <a:pt x="41275" y="63500"/>
                  </a:lnTo>
                  <a:close/>
                </a:path>
                <a:path w="6432550" h="370204">
                  <a:moveTo>
                    <a:pt x="69850" y="63500"/>
                  </a:moveTo>
                  <a:lnTo>
                    <a:pt x="41275" y="63500"/>
                  </a:lnTo>
                  <a:lnTo>
                    <a:pt x="41275" y="71084"/>
                  </a:lnTo>
                  <a:lnTo>
                    <a:pt x="73642" y="71084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894407" y="3634555"/>
              <a:ext cx="201930" cy="440055"/>
            </a:xfrm>
            <a:custGeom>
              <a:avLst/>
              <a:gdLst/>
              <a:ahLst/>
              <a:cxnLst/>
              <a:rect l="l" t="t" r="r" b="b"/>
              <a:pathLst>
                <a:path w="201929" h="440054">
                  <a:moveTo>
                    <a:pt x="151193" y="0"/>
                  </a:moveTo>
                  <a:lnTo>
                    <a:pt x="50397" y="0"/>
                  </a:lnTo>
                  <a:lnTo>
                    <a:pt x="50397" y="338654"/>
                  </a:lnTo>
                  <a:lnTo>
                    <a:pt x="0" y="338654"/>
                  </a:lnTo>
                  <a:lnTo>
                    <a:pt x="100796" y="439450"/>
                  </a:lnTo>
                  <a:lnTo>
                    <a:pt x="201592" y="338654"/>
                  </a:lnTo>
                  <a:lnTo>
                    <a:pt x="151193" y="338654"/>
                  </a:lnTo>
                  <a:lnTo>
                    <a:pt x="151193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894407" y="3634555"/>
              <a:ext cx="201930" cy="440055"/>
            </a:xfrm>
            <a:custGeom>
              <a:avLst/>
              <a:gdLst/>
              <a:ahLst/>
              <a:cxnLst/>
              <a:rect l="l" t="t" r="r" b="b"/>
              <a:pathLst>
                <a:path w="201929" h="440054">
                  <a:moveTo>
                    <a:pt x="0" y="338654"/>
                  </a:moveTo>
                  <a:lnTo>
                    <a:pt x="50397" y="338654"/>
                  </a:lnTo>
                  <a:lnTo>
                    <a:pt x="50397" y="0"/>
                  </a:lnTo>
                  <a:lnTo>
                    <a:pt x="151194" y="0"/>
                  </a:lnTo>
                  <a:lnTo>
                    <a:pt x="151194" y="338654"/>
                  </a:lnTo>
                  <a:lnTo>
                    <a:pt x="201592" y="338654"/>
                  </a:lnTo>
                  <a:lnTo>
                    <a:pt x="100796" y="439450"/>
                  </a:lnTo>
                  <a:lnTo>
                    <a:pt x="0" y="338654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264076" y="3615497"/>
              <a:ext cx="201930" cy="459105"/>
            </a:xfrm>
            <a:custGeom>
              <a:avLst/>
              <a:gdLst/>
              <a:ahLst/>
              <a:cxnLst/>
              <a:rect l="l" t="t" r="r" b="b"/>
              <a:pathLst>
                <a:path w="201929" h="459104">
                  <a:moveTo>
                    <a:pt x="151193" y="0"/>
                  </a:moveTo>
                  <a:lnTo>
                    <a:pt x="50397" y="0"/>
                  </a:lnTo>
                  <a:lnTo>
                    <a:pt x="50397" y="357713"/>
                  </a:lnTo>
                  <a:lnTo>
                    <a:pt x="0" y="357713"/>
                  </a:lnTo>
                  <a:lnTo>
                    <a:pt x="100796" y="458509"/>
                  </a:lnTo>
                  <a:lnTo>
                    <a:pt x="201592" y="357713"/>
                  </a:lnTo>
                  <a:lnTo>
                    <a:pt x="151193" y="357713"/>
                  </a:lnTo>
                  <a:lnTo>
                    <a:pt x="151193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264076" y="3615497"/>
              <a:ext cx="201930" cy="459105"/>
            </a:xfrm>
            <a:custGeom>
              <a:avLst/>
              <a:gdLst/>
              <a:ahLst/>
              <a:cxnLst/>
              <a:rect l="l" t="t" r="r" b="b"/>
              <a:pathLst>
                <a:path w="201929" h="459104">
                  <a:moveTo>
                    <a:pt x="0" y="357713"/>
                  </a:moveTo>
                  <a:lnTo>
                    <a:pt x="50398" y="357713"/>
                  </a:lnTo>
                  <a:lnTo>
                    <a:pt x="50398" y="0"/>
                  </a:lnTo>
                  <a:lnTo>
                    <a:pt x="151194" y="0"/>
                  </a:lnTo>
                  <a:lnTo>
                    <a:pt x="151194" y="357713"/>
                  </a:lnTo>
                  <a:lnTo>
                    <a:pt x="201592" y="357713"/>
                  </a:lnTo>
                  <a:lnTo>
                    <a:pt x="100796" y="458509"/>
                  </a:lnTo>
                  <a:lnTo>
                    <a:pt x="0" y="357713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1" name="object 6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70818" y="4958152"/>
            <a:ext cx="276998" cy="276998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5457111" y="4965700"/>
            <a:ext cx="8293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latin typeface="Arial MT"/>
                <a:cs typeface="Arial MT"/>
              </a:rPr>
              <a:t>Slot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booking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3" name="object 6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945156" y="4575442"/>
            <a:ext cx="262827" cy="262826"/>
          </a:xfrm>
          <a:prstGeom prst="rect">
            <a:avLst/>
          </a:prstGeom>
        </p:spPr>
      </p:pic>
      <p:sp>
        <p:nvSpPr>
          <p:cNvPr id="64" name="object 64" descr=""/>
          <p:cNvSpPr txBox="1"/>
          <p:nvPr/>
        </p:nvSpPr>
        <p:spPr>
          <a:xfrm>
            <a:off x="5434496" y="4606035"/>
            <a:ext cx="1667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Arial MT"/>
                <a:cs typeface="Arial MT"/>
              </a:rPr>
              <a:t>Availability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&amp;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waiting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time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945156" y="5350919"/>
            <a:ext cx="331408" cy="331408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5392167" y="5322316"/>
            <a:ext cx="256730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7470" marR="319405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latin typeface="Arial MT"/>
                <a:cs typeface="Arial MT"/>
              </a:rPr>
              <a:t>SafeTour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feature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105">
                <a:latin typeface="Arial MT"/>
                <a:cs typeface="Arial MT"/>
              </a:rPr>
              <a:t>to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call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mobile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EV </a:t>
            </a:r>
            <a:r>
              <a:rPr dirty="0" sz="1000" spc="50">
                <a:latin typeface="Arial MT"/>
                <a:cs typeface="Arial MT"/>
              </a:rPr>
              <a:t>charger</a:t>
            </a:r>
            <a:endParaRPr sz="1000">
              <a:latin typeface="Arial MT"/>
              <a:cs typeface="Arial MT"/>
            </a:endParaRPr>
          </a:p>
          <a:p>
            <a:pPr algn="just" marL="34925">
              <a:lnSpc>
                <a:spcPct val="100000"/>
              </a:lnSpc>
              <a:spcBef>
                <a:spcPts val="620"/>
              </a:spcBef>
            </a:pPr>
            <a:r>
              <a:rPr dirty="0" sz="1000" spc="50">
                <a:latin typeface="Arial MT"/>
                <a:cs typeface="Arial MT"/>
              </a:rPr>
              <a:t>Payments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Platform</a:t>
            </a:r>
            <a:endParaRPr sz="1000">
              <a:latin typeface="Arial MT"/>
              <a:cs typeface="Arial MT"/>
            </a:endParaRPr>
          </a:p>
          <a:p>
            <a:pPr algn="just" marL="34925" marR="50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(RMDP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model:</a:t>
            </a:r>
            <a:r>
              <a:rPr dirty="0" sz="1000" spc="75">
                <a:latin typeface="Arial MT"/>
                <a:cs typeface="Arial MT"/>
              </a:rPr>
              <a:t> grid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capacity/solar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panel </a:t>
            </a:r>
            <a:r>
              <a:rPr dirty="0" sz="1000" spc="80">
                <a:latin typeface="Arial MT"/>
                <a:cs typeface="Arial MT"/>
              </a:rPr>
              <a:t>capacity/time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90">
                <a:latin typeface="Arial MT"/>
                <a:cs typeface="Arial MT"/>
              </a:rPr>
              <a:t>of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day/subscriber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offers/ </a:t>
            </a: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114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manufacturer)</a:t>
            </a:r>
            <a:endParaRPr sz="1000">
              <a:latin typeface="Arial MT"/>
              <a:cs typeface="Arial MT"/>
            </a:endParaRPr>
          </a:p>
          <a:p>
            <a:pPr algn="just" marL="12700" marR="164465">
              <a:lnSpc>
                <a:spcPct val="100000"/>
              </a:lnSpc>
              <a:spcBef>
                <a:spcPts val="580"/>
              </a:spcBef>
            </a:pPr>
            <a:r>
              <a:rPr dirty="0" sz="1000" spc="50">
                <a:latin typeface="Arial MT"/>
                <a:cs typeface="Arial MT"/>
              </a:rPr>
              <a:t>Offers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(exclusive </a:t>
            </a:r>
            <a:r>
              <a:rPr dirty="0" sz="1000" spc="80">
                <a:latin typeface="Arial MT"/>
                <a:cs typeface="Arial MT"/>
              </a:rPr>
              <a:t>for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manufacturer </a:t>
            </a:r>
            <a:r>
              <a:rPr dirty="0" sz="1000" spc="35">
                <a:latin typeface="Arial MT"/>
                <a:cs typeface="Arial MT"/>
              </a:rPr>
              <a:t>Partners)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7" name="object 6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83320" y="5784217"/>
            <a:ext cx="433787" cy="433787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904075" y="6389461"/>
            <a:ext cx="343742" cy="343742"/>
          </a:xfrm>
          <a:prstGeom prst="rect">
            <a:avLst/>
          </a:prstGeom>
        </p:spPr>
      </p:pic>
      <p:sp>
        <p:nvSpPr>
          <p:cNvPr id="69" name="object 69" descr=""/>
          <p:cNvSpPr txBox="1"/>
          <p:nvPr/>
        </p:nvSpPr>
        <p:spPr>
          <a:xfrm>
            <a:off x="9564475" y="6416547"/>
            <a:ext cx="2520950" cy="381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10">
                <a:latin typeface="Arial MT"/>
                <a:cs typeface="Arial MT"/>
              </a:rPr>
              <a:t>App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integrated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video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games</a:t>
            </a:r>
            <a:endParaRPr sz="1000">
              <a:latin typeface="Arial MT"/>
              <a:cs typeface="Arial MT"/>
            </a:endParaRPr>
          </a:p>
          <a:p>
            <a:pPr marL="1320800">
              <a:lnSpc>
                <a:spcPct val="100000"/>
              </a:lnSpc>
              <a:spcBef>
                <a:spcPts val="755"/>
              </a:spcBef>
            </a:pPr>
            <a:r>
              <a:rPr dirty="0" sz="700" spc="-90" i="1">
                <a:latin typeface="Arial"/>
                <a:cs typeface="Arial"/>
              </a:rPr>
              <a:t>1:</a:t>
            </a:r>
            <a:r>
              <a:rPr dirty="0" sz="700" spc="22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Avendus</a:t>
            </a:r>
            <a:r>
              <a:rPr dirty="0" sz="700" spc="2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Industry</a:t>
            </a:r>
            <a:r>
              <a:rPr dirty="0" sz="700" spc="225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Report</a:t>
            </a:r>
            <a:endParaRPr sz="700">
              <a:latin typeface="Arial"/>
              <a:cs typeface="Arial"/>
            </a:endParaRPr>
          </a:p>
        </p:txBody>
      </p:sp>
      <p:pic>
        <p:nvPicPr>
          <p:cNvPr id="70" name="object 7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953121" y="6345144"/>
            <a:ext cx="276998" cy="276998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935007" y="5969900"/>
            <a:ext cx="263368" cy="263368"/>
          </a:xfrm>
          <a:prstGeom prst="rect">
            <a:avLst/>
          </a:prstGeom>
        </p:spPr>
      </p:pic>
      <p:sp>
        <p:nvSpPr>
          <p:cNvPr id="72" name="object 72" descr=""/>
          <p:cNvSpPr txBox="1"/>
          <p:nvPr/>
        </p:nvSpPr>
        <p:spPr>
          <a:xfrm>
            <a:off x="9518837" y="6026403"/>
            <a:ext cx="22212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OTT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partnership-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110">
                <a:latin typeface="Arial MT"/>
                <a:cs typeface="Arial MT"/>
              </a:rPr>
              <a:t>30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min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short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film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17154" y="4147275"/>
            <a:ext cx="356706" cy="356706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9410472" y="4124452"/>
            <a:ext cx="21088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latin typeface="Arial MT"/>
                <a:cs typeface="Arial MT"/>
              </a:rPr>
              <a:t>Convenience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store-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travel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&amp;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75">
                <a:latin typeface="Arial MT"/>
                <a:cs typeface="Arial MT"/>
              </a:rPr>
              <a:t>food </a:t>
            </a:r>
            <a:r>
              <a:rPr dirty="0" sz="1000" spc="-10">
                <a:latin typeface="Arial MT"/>
                <a:cs typeface="Arial MT"/>
              </a:rPr>
              <a:t>essentials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892339" y="4663301"/>
            <a:ext cx="281522" cy="281523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9451738" y="4697476"/>
            <a:ext cx="16541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95">
                <a:latin typeface="Arial MT"/>
                <a:cs typeface="Arial MT"/>
              </a:rPr>
              <a:t>Window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beverage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outlets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848221" y="5560649"/>
            <a:ext cx="450005" cy="296932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9518837" y="5508244"/>
            <a:ext cx="18230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80">
                <a:latin typeface="Arial MT"/>
                <a:cs typeface="Arial MT"/>
              </a:rPr>
              <a:t>Food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delivery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85">
                <a:latin typeface="Arial MT"/>
                <a:cs typeface="Arial MT"/>
              </a:rPr>
              <a:t>option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75">
                <a:latin typeface="Arial MT"/>
                <a:cs typeface="Arial MT"/>
              </a:rPr>
              <a:t>on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app </a:t>
            </a:r>
            <a:r>
              <a:rPr dirty="0" sz="1000" spc="65">
                <a:latin typeface="Arial MT"/>
                <a:cs typeface="Arial MT"/>
              </a:rPr>
              <a:t>(urban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outlets)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9" name="object 7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898798" y="5096652"/>
            <a:ext cx="369065" cy="384347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9500971" y="5136388"/>
            <a:ext cx="15043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Arial MT"/>
                <a:cs typeface="Arial MT"/>
              </a:rPr>
              <a:t>Newspaper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40">
                <a:latin typeface="Arial MT"/>
                <a:cs typeface="Arial MT"/>
              </a:rPr>
              <a:t> magazine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2154170" y="4813300"/>
            <a:ext cx="20878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EV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manufactures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80">
                <a:latin typeface="Arial MT"/>
                <a:cs typeface="Arial MT"/>
              </a:rPr>
              <a:t>for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promotions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233513" y="5755132"/>
            <a:ext cx="13925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5">
                <a:latin typeface="Arial MT"/>
                <a:cs typeface="Arial MT"/>
              </a:rPr>
              <a:t>Engagement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partners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2290385" y="5114973"/>
            <a:ext cx="1672589" cy="428625"/>
            <a:chOff x="2290385" y="5114973"/>
            <a:chExt cx="1672589" cy="428625"/>
          </a:xfrm>
        </p:grpSpPr>
        <p:pic>
          <p:nvPicPr>
            <p:cNvPr id="84" name="object 8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90385" y="5121056"/>
              <a:ext cx="431515" cy="383274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657384" y="5114973"/>
              <a:ext cx="760330" cy="428319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84213" y="5158177"/>
              <a:ext cx="578755" cy="326031"/>
            </a:xfrm>
            <a:prstGeom prst="rect">
              <a:avLst/>
            </a:prstGeom>
          </p:spPr>
        </p:pic>
      </p:grpSp>
      <p:pic>
        <p:nvPicPr>
          <p:cNvPr id="87" name="object 87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215120" y="6100938"/>
            <a:ext cx="427937" cy="417668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815526" y="6100938"/>
            <a:ext cx="295981" cy="419832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73393" y="6202046"/>
            <a:ext cx="560252" cy="159382"/>
          </a:xfrm>
          <a:prstGeom prst="rect">
            <a:avLst/>
          </a:prstGeom>
        </p:spPr>
      </p:pic>
      <p:sp>
        <p:nvSpPr>
          <p:cNvPr id="90" name="object 90" descr=""/>
          <p:cNvSpPr/>
          <p:nvPr/>
        </p:nvSpPr>
        <p:spPr>
          <a:xfrm>
            <a:off x="0" y="608290"/>
            <a:ext cx="12192000" cy="13335"/>
          </a:xfrm>
          <a:custGeom>
            <a:avLst/>
            <a:gdLst/>
            <a:ahLst/>
            <a:cxnLst/>
            <a:rect l="l" t="t" r="r" b="b"/>
            <a:pathLst>
              <a:path w="12192000" h="13334">
                <a:moveTo>
                  <a:pt x="0" y="0"/>
                </a:moveTo>
                <a:lnTo>
                  <a:pt x="12192000" y="12947"/>
                </a:lnTo>
              </a:path>
            </a:pathLst>
          </a:custGeom>
          <a:ln w="63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1" name="object 91" descr=""/>
          <p:cNvGrpSpPr/>
          <p:nvPr/>
        </p:nvGrpSpPr>
        <p:grpSpPr>
          <a:xfrm>
            <a:off x="-6096" y="-6096"/>
            <a:ext cx="12204700" cy="248285"/>
            <a:chOff x="-6096" y="-6096"/>
            <a:chExt cx="12204700" cy="248285"/>
          </a:xfrm>
        </p:grpSpPr>
        <p:sp>
          <p:nvSpPr>
            <p:cNvPr id="92" name="object 92" descr=""/>
            <p:cNvSpPr/>
            <p:nvPr/>
          </p:nvSpPr>
          <p:spPr>
            <a:xfrm>
              <a:off x="11517973" y="37959"/>
              <a:ext cx="46355" cy="65405"/>
            </a:xfrm>
            <a:custGeom>
              <a:avLst/>
              <a:gdLst/>
              <a:ahLst/>
              <a:cxnLst/>
              <a:rect l="l" t="t" r="r" b="b"/>
              <a:pathLst>
                <a:path w="46354" h="65405">
                  <a:moveTo>
                    <a:pt x="46355" y="47625"/>
                  </a:moveTo>
                  <a:lnTo>
                    <a:pt x="46316" y="44958"/>
                  </a:lnTo>
                  <a:lnTo>
                    <a:pt x="46139" y="44323"/>
                  </a:lnTo>
                  <a:lnTo>
                    <a:pt x="45504" y="43180"/>
                  </a:lnTo>
                  <a:lnTo>
                    <a:pt x="44996" y="42926"/>
                  </a:lnTo>
                  <a:lnTo>
                    <a:pt x="37236" y="42926"/>
                  </a:lnTo>
                  <a:lnTo>
                    <a:pt x="37236" y="7493"/>
                  </a:lnTo>
                  <a:lnTo>
                    <a:pt x="37122" y="1270"/>
                  </a:lnTo>
                  <a:lnTo>
                    <a:pt x="36741" y="889"/>
                  </a:lnTo>
                  <a:lnTo>
                    <a:pt x="36106" y="508"/>
                  </a:lnTo>
                  <a:lnTo>
                    <a:pt x="34455" y="127"/>
                  </a:lnTo>
                  <a:lnTo>
                    <a:pt x="33566" y="127"/>
                  </a:lnTo>
                  <a:lnTo>
                    <a:pt x="32804" y="0"/>
                  </a:lnTo>
                  <a:lnTo>
                    <a:pt x="28600" y="0"/>
                  </a:lnTo>
                  <a:lnTo>
                    <a:pt x="28600" y="7493"/>
                  </a:lnTo>
                  <a:lnTo>
                    <a:pt x="28600" y="42926"/>
                  </a:lnTo>
                  <a:lnTo>
                    <a:pt x="7772" y="42926"/>
                  </a:lnTo>
                  <a:lnTo>
                    <a:pt x="28473" y="7493"/>
                  </a:lnTo>
                  <a:lnTo>
                    <a:pt x="28600" y="7493"/>
                  </a:lnTo>
                  <a:lnTo>
                    <a:pt x="28600" y="0"/>
                  </a:lnTo>
                  <a:lnTo>
                    <a:pt x="28092" y="0"/>
                  </a:lnTo>
                  <a:lnTo>
                    <a:pt x="27330" y="127"/>
                  </a:lnTo>
                  <a:lnTo>
                    <a:pt x="26695" y="127"/>
                  </a:lnTo>
                  <a:lnTo>
                    <a:pt x="914" y="41148"/>
                  </a:lnTo>
                  <a:lnTo>
                    <a:pt x="787" y="41529"/>
                  </a:lnTo>
                  <a:lnTo>
                    <a:pt x="533" y="41910"/>
                  </a:lnTo>
                  <a:lnTo>
                    <a:pt x="127" y="43180"/>
                  </a:lnTo>
                  <a:lnTo>
                    <a:pt x="0" y="47498"/>
                  </a:lnTo>
                  <a:lnTo>
                    <a:pt x="88" y="48387"/>
                  </a:lnTo>
                  <a:lnTo>
                    <a:pt x="279" y="49022"/>
                  </a:lnTo>
                  <a:lnTo>
                    <a:pt x="533" y="49276"/>
                  </a:lnTo>
                  <a:lnTo>
                    <a:pt x="660" y="49530"/>
                  </a:lnTo>
                  <a:lnTo>
                    <a:pt x="1422" y="49911"/>
                  </a:lnTo>
                  <a:lnTo>
                    <a:pt x="28600" y="49911"/>
                  </a:lnTo>
                  <a:lnTo>
                    <a:pt x="28600" y="63754"/>
                  </a:lnTo>
                  <a:lnTo>
                    <a:pt x="28727" y="64008"/>
                  </a:lnTo>
                  <a:lnTo>
                    <a:pt x="28854" y="64389"/>
                  </a:lnTo>
                  <a:lnTo>
                    <a:pt x="29108" y="64516"/>
                  </a:lnTo>
                  <a:lnTo>
                    <a:pt x="29489" y="64643"/>
                  </a:lnTo>
                  <a:lnTo>
                    <a:pt x="29743" y="64770"/>
                  </a:lnTo>
                  <a:lnTo>
                    <a:pt x="30759" y="65024"/>
                  </a:lnTo>
                  <a:lnTo>
                    <a:pt x="34963" y="65024"/>
                  </a:lnTo>
                  <a:lnTo>
                    <a:pt x="35979" y="64770"/>
                  </a:lnTo>
                  <a:lnTo>
                    <a:pt x="36233" y="64643"/>
                  </a:lnTo>
                  <a:lnTo>
                    <a:pt x="36614" y="64516"/>
                  </a:lnTo>
                  <a:lnTo>
                    <a:pt x="36868" y="64389"/>
                  </a:lnTo>
                  <a:lnTo>
                    <a:pt x="37122" y="64008"/>
                  </a:lnTo>
                  <a:lnTo>
                    <a:pt x="37249" y="49911"/>
                  </a:lnTo>
                  <a:lnTo>
                    <a:pt x="45123" y="49911"/>
                  </a:lnTo>
                  <a:lnTo>
                    <a:pt x="45504" y="49657"/>
                  </a:lnTo>
                  <a:lnTo>
                    <a:pt x="45885" y="49022"/>
                  </a:lnTo>
                  <a:lnTo>
                    <a:pt x="46355" y="47625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2563368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563368" y="231648"/>
                  </a:lnTo>
                  <a:lnTo>
                    <a:pt x="2679192" y="115824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0" y="0"/>
                  </a:moveTo>
                  <a:lnTo>
                    <a:pt x="2563368" y="0"/>
                  </a:lnTo>
                  <a:lnTo>
                    <a:pt x="2679192" y="115824"/>
                  </a:lnTo>
                  <a:lnTo>
                    <a:pt x="2563368" y="231648"/>
                  </a:lnTo>
                  <a:lnTo>
                    <a:pt x="0" y="231648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2685288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5288" y="231648"/>
                  </a:lnTo>
                  <a:lnTo>
                    <a:pt x="2801112" y="115824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0" y="0"/>
                  </a:moveTo>
                  <a:lnTo>
                    <a:pt x="2685288" y="0"/>
                  </a:lnTo>
                  <a:lnTo>
                    <a:pt x="2801112" y="115824"/>
                  </a:lnTo>
                  <a:lnTo>
                    <a:pt x="2685288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2683764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3764" y="231648"/>
                  </a:lnTo>
                  <a:lnTo>
                    <a:pt x="2799588" y="11582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0" y="0"/>
                  </a:moveTo>
                  <a:lnTo>
                    <a:pt x="2683764" y="0"/>
                  </a:lnTo>
                  <a:lnTo>
                    <a:pt x="2799588" y="115824"/>
                  </a:lnTo>
                  <a:lnTo>
                    <a:pt x="2683764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166227" y="2655"/>
              <a:ext cx="2799715" cy="230504"/>
            </a:xfrm>
            <a:custGeom>
              <a:avLst/>
              <a:gdLst/>
              <a:ahLst/>
              <a:cxnLst/>
              <a:rect l="l" t="t" r="r" b="b"/>
              <a:pathLst>
                <a:path w="2799715" h="230504">
                  <a:moveTo>
                    <a:pt x="2677668" y="0"/>
                  </a:moveTo>
                  <a:lnTo>
                    <a:pt x="0" y="0"/>
                  </a:lnTo>
                  <a:lnTo>
                    <a:pt x="121920" y="115199"/>
                  </a:lnTo>
                  <a:lnTo>
                    <a:pt x="0" y="230399"/>
                  </a:lnTo>
                  <a:lnTo>
                    <a:pt x="2677668" y="230399"/>
                  </a:lnTo>
                  <a:lnTo>
                    <a:pt x="2799587" y="115199"/>
                  </a:lnTo>
                  <a:lnTo>
                    <a:pt x="26776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159303" y="3078"/>
              <a:ext cx="2799715" cy="230504"/>
            </a:xfrm>
            <a:custGeom>
              <a:avLst/>
              <a:gdLst/>
              <a:ahLst/>
              <a:cxnLst/>
              <a:rect l="l" t="t" r="r" b="b"/>
              <a:pathLst>
                <a:path w="2799715" h="230504">
                  <a:moveTo>
                    <a:pt x="0" y="0"/>
                  </a:moveTo>
                  <a:lnTo>
                    <a:pt x="2677668" y="0"/>
                  </a:lnTo>
                  <a:lnTo>
                    <a:pt x="2799588" y="115200"/>
                  </a:lnTo>
                  <a:lnTo>
                    <a:pt x="2677668" y="230400"/>
                  </a:lnTo>
                  <a:lnTo>
                    <a:pt x="0" y="230400"/>
                  </a:lnTo>
                  <a:lnTo>
                    <a:pt x="121920" y="11520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9607296" y="0"/>
              <a:ext cx="2585085" cy="224154"/>
            </a:xfrm>
            <a:custGeom>
              <a:avLst/>
              <a:gdLst/>
              <a:ahLst/>
              <a:cxnLst/>
              <a:rect l="l" t="t" r="r" b="b"/>
              <a:pathLst>
                <a:path w="2585084" h="224154">
                  <a:moveTo>
                    <a:pt x="2584705" y="0"/>
                  </a:moveTo>
                  <a:lnTo>
                    <a:pt x="6722" y="0"/>
                  </a:lnTo>
                  <a:lnTo>
                    <a:pt x="121156" y="108692"/>
                  </a:lnTo>
                  <a:lnTo>
                    <a:pt x="0" y="223774"/>
                  </a:lnTo>
                  <a:lnTo>
                    <a:pt x="2584704" y="223774"/>
                  </a:lnTo>
                  <a:lnTo>
                    <a:pt x="2584705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607296" y="0"/>
              <a:ext cx="2585085" cy="223520"/>
            </a:xfrm>
            <a:custGeom>
              <a:avLst/>
              <a:gdLst/>
              <a:ahLst/>
              <a:cxnLst/>
              <a:rect l="l" t="t" r="r" b="b"/>
              <a:pathLst>
                <a:path w="2585084" h="223520">
                  <a:moveTo>
                    <a:pt x="2584704" y="223350"/>
                  </a:moveTo>
                  <a:lnTo>
                    <a:pt x="0" y="223350"/>
                  </a:lnTo>
                  <a:lnTo>
                    <a:pt x="121157" y="108269"/>
                  </a:lnTo>
                  <a:lnTo>
                    <a:pt x="7168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86297" y="21843"/>
            <a:ext cx="120846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4560" algn="l"/>
                <a:tab pos="7395209" algn="l"/>
                <a:tab pos="9692640" algn="l"/>
              </a:tabLst>
            </a:pPr>
            <a:r>
              <a:rPr dirty="0" sz="1000" spc="20">
                <a:latin typeface="Arial MT"/>
                <a:cs typeface="Arial MT"/>
              </a:rPr>
              <a:t>EV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Charging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Industry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Revamped</a:t>
            </a:r>
            <a:r>
              <a:rPr dirty="0" sz="10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dirty="0" sz="100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00" spc="55">
                <a:latin typeface="Arial MT"/>
                <a:cs typeface="Arial MT"/>
              </a:rPr>
              <a:t>Implementation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Roadmap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Infrastructure </a:t>
            </a:r>
            <a:r>
              <a:rPr dirty="0" sz="1000" spc="-10">
                <a:latin typeface="Arial MT"/>
                <a:cs typeface="Arial MT"/>
              </a:rPr>
              <a:t>Analysis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20">
                <a:latin typeface="Arial MT"/>
                <a:cs typeface="Arial MT"/>
              </a:rPr>
              <a:t>Feasibility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&amp;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Policy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Recommendations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24177" y="6598411"/>
            <a:ext cx="1168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5009" y="2175052"/>
            <a:ext cx="1243965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243840" marR="236854" indent="7620">
              <a:lnSpc>
                <a:spcPct val="105000"/>
              </a:lnSpc>
              <a:spcBef>
                <a:spcPts val="535"/>
              </a:spcBef>
            </a:pP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Customer </a:t>
            </a:r>
            <a:r>
              <a:rPr dirty="0" sz="1200" spc="55">
                <a:solidFill>
                  <a:srgbClr val="FFFFFF"/>
                </a:solidFill>
                <a:latin typeface="Arial MT"/>
                <a:cs typeface="Arial MT"/>
              </a:rPr>
              <a:t>Segments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5010" y="2785088"/>
            <a:ext cx="1240155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388620" marR="284480" indent="-97155">
              <a:lnSpc>
                <a:spcPct val="103299"/>
              </a:lnSpc>
              <a:spcBef>
                <a:spcPts val="580"/>
              </a:spcBef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Business </a:t>
            </a: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006" y="4010718"/>
            <a:ext cx="1240155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109855" marR="102235" indent="127000">
              <a:lnSpc>
                <a:spcPct val="103299"/>
              </a:lnSpc>
              <a:spcBef>
                <a:spcPts val="580"/>
              </a:spcBef>
            </a:pP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Capability </a:t>
            </a:r>
            <a:r>
              <a:rPr dirty="0" sz="1200" spc="75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5006" y="4623536"/>
            <a:ext cx="1259840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17081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345"/>
              </a:spcBef>
            </a:pPr>
            <a:r>
              <a:rPr dirty="0" sz="1200" spc="75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Supply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7060" y="3395043"/>
            <a:ext cx="1256030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283845" marR="234315" indent="-42545">
              <a:lnSpc>
                <a:spcPct val="103299"/>
              </a:lnSpc>
              <a:spcBef>
                <a:spcPts val="580"/>
              </a:spcBef>
            </a:pPr>
            <a:r>
              <a:rPr dirty="0" sz="1200" spc="50">
                <a:solidFill>
                  <a:srgbClr val="FFFFFF"/>
                </a:solidFill>
                <a:latin typeface="Arial MT"/>
                <a:cs typeface="Arial MT"/>
              </a:rPr>
              <a:t>Consumer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Personas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3024" y="5831751"/>
            <a:ext cx="1265555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69215" rIns="0" bIns="0" rtlCol="0" vert="horz">
            <a:spAutoFit/>
          </a:bodyPr>
          <a:lstStyle/>
          <a:p>
            <a:pPr marL="304800" marR="296545" indent="57785">
              <a:lnSpc>
                <a:spcPct val="105000"/>
              </a:lnSpc>
              <a:spcBef>
                <a:spcPts val="545"/>
              </a:spcBef>
            </a:pPr>
            <a:r>
              <a:rPr dirty="0" sz="1200" spc="60">
                <a:solidFill>
                  <a:srgbClr val="FFFFFF"/>
                </a:solidFill>
                <a:latin typeface="Arial MT"/>
                <a:cs typeface="Arial MT"/>
              </a:rPr>
              <a:t>Energy </a:t>
            </a:r>
            <a:r>
              <a:rPr dirty="0" sz="1200" spc="70">
                <a:solidFill>
                  <a:srgbClr val="FFFFFF"/>
                </a:solidFill>
                <a:latin typeface="Arial MT"/>
                <a:cs typeface="Arial MT"/>
              </a:rPr>
              <a:t>Portfolio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59408" y="2200827"/>
            <a:ext cx="9159240" cy="2869565"/>
            <a:chOff x="1959408" y="2200827"/>
            <a:chExt cx="9159240" cy="2869565"/>
          </a:xfrm>
        </p:grpSpPr>
        <p:sp>
          <p:nvSpPr>
            <p:cNvPr id="9" name="object 9" descr=""/>
            <p:cNvSpPr/>
            <p:nvPr/>
          </p:nvSpPr>
          <p:spPr>
            <a:xfrm>
              <a:off x="2520546" y="2216496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69" h="400685">
                  <a:moveTo>
                    <a:pt x="222670" y="0"/>
                  </a:moveTo>
                  <a:lnTo>
                    <a:pt x="171613" y="5285"/>
                  </a:lnTo>
                  <a:lnTo>
                    <a:pt x="124745" y="20342"/>
                  </a:lnTo>
                  <a:lnTo>
                    <a:pt x="83401" y="43969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9"/>
                  </a:lnTo>
                  <a:lnTo>
                    <a:pt x="48918" y="325321"/>
                  </a:lnTo>
                  <a:lnTo>
                    <a:pt x="83401" y="356315"/>
                  </a:lnTo>
                  <a:lnTo>
                    <a:pt x="124745" y="379942"/>
                  </a:lnTo>
                  <a:lnTo>
                    <a:pt x="171613" y="394999"/>
                  </a:lnTo>
                  <a:lnTo>
                    <a:pt x="222670" y="400284"/>
                  </a:lnTo>
                  <a:lnTo>
                    <a:pt x="273726" y="394999"/>
                  </a:lnTo>
                  <a:lnTo>
                    <a:pt x="320595" y="379942"/>
                  </a:lnTo>
                  <a:lnTo>
                    <a:pt x="361939" y="356315"/>
                  </a:lnTo>
                  <a:lnTo>
                    <a:pt x="396422" y="325321"/>
                  </a:lnTo>
                  <a:lnTo>
                    <a:pt x="422708" y="288159"/>
                  </a:lnTo>
                  <a:lnTo>
                    <a:pt x="439459" y="246032"/>
                  </a:lnTo>
                  <a:lnTo>
                    <a:pt x="445340" y="200141"/>
                  </a:lnTo>
                  <a:lnTo>
                    <a:pt x="439459" y="154251"/>
                  </a:lnTo>
                  <a:lnTo>
                    <a:pt x="422708" y="112124"/>
                  </a:lnTo>
                  <a:lnTo>
                    <a:pt x="396422" y="74963"/>
                  </a:lnTo>
                  <a:lnTo>
                    <a:pt x="361939" y="43969"/>
                  </a:lnTo>
                  <a:lnTo>
                    <a:pt x="320595" y="20342"/>
                  </a:lnTo>
                  <a:lnTo>
                    <a:pt x="273726" y="5285"/>
                  </a:lnTo>
                  <a:lnTo>
                    <a:pt x="222670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20546" y="2216496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69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0990" y="2256111"/>
              <a:ext cx="321052" cy="32105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713972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0" y="0"/>
                  </a:moveTo>
                  <a:lnTo>
                    <a:pt x="171614" y="5285"/>
                  </a:lnTo>
                  <a:lnTo>
                    <a:pt x="124745" y="20342"/>
                  </a:lnTo>
                  <a:lnTo>
                    <a:pt x="83401" y="43968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9"/>
                  </a:lnTo>
                  <a:lnTo>
                    <a:pt x="48918" y="325320"/>
                  </a:lnTo>
                  <a:lnTo>
                    <a:pt x="83401" y="356314"/>
                  </a:lnTo>
                  <a:lnTo>
                    <a:pt x="124745" y="379941"/>
                  </a:lnTo>
                  <a:lnTo>
                    <a:pt x="171614" y="394997"/>
                  </a:lnTo>
                  <a:lnTo>
                    <a:pt x="222670" y="400283"/>
                  </a:lnTo>
                  <a:lnTo>
                    <a:pt x="273726" y="394997"/>
                  </a:lnTo>
                  <a:lnTo>
                    <a:pt x="320595" y="379941"/>
                  </a:lnTo>
                  <a:lnTo>
                    <a:pt x="361939" y="356314"/>
                  </a:lnTo>
                  <a:lnTo>
                    <a:pt x="396422" y="325320"/>
                  </a:lnTo>
                  <a:lnTo>
                    <a:pt x="422708" y="288159"/>
                  </a:lnTo>
                  <a:lnTo>
                    <a:pt x="439459" y="246032"/>
                  </a:lnTo>
                  <a:lnTo>
                    <a:pt x="445340" y="200141"/>
                  </a:lnTo>
                  <a:lnTo>
                    <a:pt x="439459" y="154251"/>
                  </a:lnTo>
                  <a:lnTo>
                    <a:pt x="422708" y="112124"/>
                  </a:lnTo>
                  <a:lnTo>
                    <a:pt x="396422" y="74963"/>
                  </a:lnTo>
                  <a:lnTo>
                    <a:pt x="361939" y="43968"/>
                  </a:lnTo>
                  <a:lnTo>
                    <a:pt x="320595" y="20342"/>
                  </a:lnTo>
                  <a:lnTo>
                    <a:pt x="273726" y="5285"/>
                  </a:lnTo>
                  <a:lnTo>
                    <a:pt x="222670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713972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4418" y="2255737"/>
              <a:ext cx="321052" cy="32105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122608" y="2216123"/>
              <a:ext cx="434975" cy="400685"/>
            </a:xfrm>
            <a:custGeom>
              <a:avLst/>
              <a:gdLst/>
              <a:ahLst/>
              <a:cxnLst/>
              <a:rect l="l" t="t" r="r" b="b"/>
              <a:pathLst>
                <a:path w="434975" h="400685">
                  <a:moveTo>
                    <a:pt x="217248" y="0"/>
                  </a:moveTo>
                  <a:lnTo>
                    <a:pt x="167435" y="5285"/>
                  </a:lnTo>
                  <a:lnTo>
                    <a:pt x="121708" y="20342"/>
                  </a:lnTo>
                  <a:lnTo>
                    <a:pt x="81370" y="43968"/>
                  </a:lnTo>
                  <a:lnTo>
                    <a:pt x="47727" y="74963"/>
                  </a:lnTo>
                  <a:lnTo>
                    <a:pt x="22081" y="112124"/>
                  </a:lnTo>
                  <a:lnTo>
                    <a:pt x="5737" y="154251"/>
                  </a:lnTo>
                  <a:lnTo>
                    <a:pt x="0" y="200141"/>
                  </a:lnTo>
                  <a:lnTo>
                    <a:pt x="5737" y="246032"/>
                  </a:lnTo>
                  <a:lnTo>
                    <a:pt x="22081" y="288159"/>
                  </a:lnTo>
                  <a:lnTo>
                    <a:pt x="47727" y="325320"/>
                  </a:lnTo>
                  <a:lnTo>
                    <a:pt x="81370" y="356314"/>
                  </a:lnTo>
                  <a:lnTo>
                    <a:pt x="121708" y="379941"/>
                  </a:lnTo>
                  <a:lnTo>
                    <a:pt x="167435" y="394997"/>
                  </a:lnTo>
                  <a:lnTo>
                    <a:pt x="217248" y="400283"/>
                  </a:lnTo>
                  <a:lnTo>
                    <a:pt x="267061" y="394997"/>
                  </a:lnTo>
                  <a:lnTo>
                    <a:pt x="312788" y="379941"/>
                  </a:lnTo>
                  <a:lnTo>
                    <a:pt x="353125" y="356314"/>
                  </a:lnTo>
                  <a:lnTo>
                    <a:pt x="386769" y="325320"/>
                  </a:lnTo>
                  <a:lnTo>
                    <a:pt x="412414" y="288159"/>
                  </a:lnTo>
                  <a:lnTo>
                    <a:pt x="428758" y="246032"/>
                  </a:lnTo>
                  <a:lnTo>
                    <a:pt x="434496" y="200141"/>
                  </a:lnTo>
                  <a:lnTo>
                    <a:pt x="217248" y="200141"/>
                  </a:lnTo>
                  <a:lnTo>
                    <a:pt x="350612" y="42150"/>
                  </a:lnTo>
                  <a:lnTo>
                    <a:pt x="320480" y="24038"/>
                  </a:lnTo>
                  <a:lnTo>
                    <a:pt x="287745" y="10830"/>
                  </a:lnTo>
                  <a:lnTo>
                    <a:pt x="253103" y="2744"/>
                  </a:lnTo>
                  <a:lnTo>
                    <a:pt x="217248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22608" y="2216123"/>
              <a:ext cx="434975" cy="400685"/>
            </a:xfrm>
            <a:custGeom>
              <a:avLst/>
              <a:gdLst/>
              <a:ahLst/>
              <a:cxnLst/>
              <a:rect l="l" t="t" r="r" b="b"/>
              <a:pathLst>
                <a:path w="434975" h="400685">
                  <a:moveTo>
                    <a:pt x="434496" y="200142"/>
                  </a:moveTo>
                  <a:lnTo>
                    <a:pt x="428758" y="246032"/>
                  </a:lnTo>
                  <a:lnTo>
                    <a:pt x="412414" y="288159"/>
                  </a:lnTo>
                  <a:lnTo>
                    <a:pt x="386769" y="325320"/>
                  </a:lnTo>
                  <a:lnTo>
                    <a:pt x="353125" y="356315"/>
                  </a:lnTo>
                  <a:lnTo>
                    <a:pt x="312788" y="379941"/>
                  </a:lnTo>
                  <a:lnTo>
                    <a:pt x="267060" y="394998"/>
                  </a:lnTo>
                  <a:lnTo>
                    <a:pt x="217248" y="400284"/>
                  </a:lnTo>
                  <a:lnTo>
                    <a:pt x="167435" y="394998"/>
                  </a:lnTo>
                  <a:lnTo>
                    <a:pt x="121707" y="379941"/>
                  </a:lnTo>
                  <a:lnTo>
                    <a:pt x="81370" y="356315"/>
                  </a:lnTo>
                  <a:lnTo>
                    <a:pt x="47726" y="325320"/>
                  </a:lnTo>
                  <a:lnTo>
                    <a:pt x="22081" y="288159"/>
                  </a:lnTo>
                  <a:lnTo>
                    <a:pt x="5737" y="246032"/>
                  </a:lnTo>
                  <a:lnTo>
                    <a:pt x="0" y="200142"/>
                  </a:lnTo>
                  <a:lnTo>
                    <a:pt x="5737" y="154251"/>
                  </a:lnTo>
                  <a:lnTo>
                    <a:pt x="22081" y="112124"/>
                  </a:lnTo>
                  <a:lnTo>
                    <a:pt x="47726" y="74963"/>
                  </a:lnTo>
                  <a:lnTo>
                    <a:pt x="81370" y="43968"/>
                  </a:lnTo>
                  <a:lnTo>
                    <a:pt x="121707" y="20342"/>
                  </a:lnTo>
                  <a:lnTo>
                    <a:pt x="167435" y="5285"/>
                  </a:lnTo>
                  <a:lnTo>
                    <a:pt x="217248" y="0"/>
                  </a:lnTo>
                  <a:lnTo>
                    <a:pt x="253102" y="2744"/>
                  </a:lnTo>
                  <a:lnTo>
                    <a:pt x="287745" y="10830"/>
                  </a:lnTo>
                  <a:lnTo>
                    <a:pt x="320480" y="24039"/>
                  </a:lnTo>
                  <a:lnTo>
                    <a:pt x="350612" y="42150"/>
                  </a:lnTo>
                  <a:lnTo>
                    <a:pt x="217248" y="200142"/>
                  </a:lnTo>
                  <a:lnTo>
                    <a:pt x="434496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5069" y="2278908"/>
              <a:ext cx="321052" cy="321053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666545" y="2207177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1" y="0"/>
                  </a:moveTo>
                  <a:lnTo>
                    <a:pt x="171615" y="5285"/>
                  </a:lnTo>
                  <a:lnTo>
                    <a:pt x="124746" y="20342"/>
                  </a:lnTo>
                  <a:lnTo>
                    <a:pt x="83401" y="43969"/>
                  </a:lnTo>
                  <a:lnTo>
                    <a:pt x="48918" y="74963"/>
                  </a:lnTo>
                  <a:lnTo>
                    <a:pt x="22632" y="112125"/>
                  </a:lnTo>
                  <a:lnTo>
                    <a:pt x="5880" y="154252"/>
                  </a:lnTo>
                  <a:lnTo>
                    <a:pt x="0" y="200143"/>
                  </a:lnTo>
                  <a:lnTo>
                    <a:pt x="5880" y="246033"/>
                  </a:lnTo>
                  <a:lnTo>
                    <a:pt x="22632" y="288160"/>
                  </a:lnTo>
                  <a:lnTo>
                    <a:pt x="48918" y="325321"/>
                  </a:lnTo>
                  <a:lnTo>
                    <a:pt x="83401" y="356315"/>
                  </a:lnTo>
                  <a:lnTo>
                    <a:pt x="124746" y="379942"/>
                  </a:lnTo>
                  <a:lnTo>
                    <a:pt x="171615" y="394999"/>
                  </a:lnTo>
                  <a:lnTo>
                    <a:pt x="222671" y="400284"/>
                  </a:lnTo>
                  <a:lnTo>
                    <a:pt x="273727" y="394999"/>
                  </a:lnTo>
                  <a:lnTo>
                    <a:pt x="320596" y="379942"/>
                  </a:lnTo>
                  <a:lnTo>
                    <a:pt x="361940" y="356315"/>
                  </a:lnTo>
                  <a:lnTo>
                    <a:pt x="396423" y="325321"/>
                  </a:lnTo>
                  <a:lnTo>
                    <a:pt x="422709" y="288160"/>
                  </a:lnTo>
                  <a:lnTo>
                    <a:pt x="439461" y="246033"/>
                  </a:lnTo>
                  <a:lnTo>
                    <a:pt x="445342" y="200143"/>
                  </a:lnTo>
                  <a:lnTo>
                    <a:pt x="439461" y="154252"/>
                  </a:lnTo>
                  <a:lnTo>
                    <a:pt x="422709" y="112125"/>
                  </a:lnTo>
                  <a:lnTo>
                    <a:pt x="396423" y="74963"/>
                  </a:lnTo>
                  <a:lnTo>
                    <a:pt x="361940" y="43969"/>
                  </a:lnTo>
                  <a:lnTo>
                    <a:pt x="320596" y="20342"/>
                  </a:lnTo>
                  <a:lnTo>
                    <a:pt x="273727" y="5285"/>
                  </a:lnTo>
                  <a:lnTo>
                    <a:pt x="222671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666545" y="2207177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33301" y="2246792"/>
              <a:ext cx="321052" cy="32105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9182285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0" y="0"/>
                  </a:moveTo>
                  <a:lnTo>
                    <a:pt x="171614" y="5285"/>
                  </a:lnTo>
                  <a:lnTo>
                    <a:pt x="124745" y="20342"/>
                  </a:lnTo>
                  <a:lnTo>
                    <a:pt x="83401" y="43968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9"/>
                  </a:lnTo>
                  <a:lnTo>
                    <a:pt x="48918" y="325320"/>
                  </a:lnTo>
                  <a:lnTo>
                    <a:pt x="83401" y="356314"/>
                  </a:lnTo>
                  <a:lnTo>
                    <a:pt x="124745" y="379941"/>
                  </a:lnTo>
                  <a:lnTo>
                    <a:pt x="171614" y="394997"/>
                  </a:lnTo>
                  <a:lnTo>
                    <a:pt x="222670" y="400283"/>
                  </a:lnTo>
                  <a:lnTo>
                    <a:pt x="273726" y="394997"/>
                  </a:lnTo>
                  <a:lnTo>
                    <a:pt x="320595" y="379941"/>
                  </a:lnTo>
                  <a:lnTo>
                    <a:pt x="361940" y="356314"/>
                  </a:lnTo>
                  <a:lnTo>
                    <a:pt x="396423" y="325320"/>
                  </a:lnTo>
                  <a:lnTo>
                    <a:pt x="422709" y="288159"/>
                  </a:lnTo>
                  <a:lnTo>
                    <a:pt x="439461" y="246032"/>
                  </a:lnTo>
                  <a:lnTo>
                    <a:pt x="445342" y="200141"/>
                  </a:lnTo>
                  <a:lnTo>
                    <a:pt x="439461" y="154251"/>
                  </a:lnTo>
                  <a:lnTo>
                    <a:pt x="422709" y="112124"/>
                  </a:lnTo>
                  <a:lnTo>
                    <a:pt x="396423" y="74963"/>
                  </a:lnTo>
                  <a:lnTo>
                    <a:pt x="361940" y="43968"/>
                  </a:lnTo>
                  <a:lnTo>
                    <a:pt x="320595" y="20342"/>
                  </a:lnTo>
                  <a:lnTo>
                    <a:pt x="273726" y="5285"/>
                  </a:lnTo>
                  <a:lnTo>
                    <a:pt x="222670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182285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42730" y="2255737"/>
              <a:ext cx="321052" cy="32105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927124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1" y="0"/>
                  </a:moveTo>
                  <a:lnTo>
                    <a:pt x="171615" y="5285"/>
                  </a:lnTo>
                  <a:lnTo>
                    <a:pt x="124746" y="20342"/>
                  </a:lnTo>
                  <a:lnTo>
                    <a:pt x="83401" y="43968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9"/>
                  </a:lnTo>
                  <a:lnTo>
                    <a:pt x="48918" y="325320"/>
                  </a:lnTo>
                  <a:lnTo>
                    <a:pt x="83401" y="356314"/>
                  </a:lnTo>
                  <a:lnTo>
                    <a:pt x="124746" y="379941"/>
                  </a:lnTo>
                  <a:lnTo>
                    <a:pt x="171615" y="394997"/>
                  </a:lnTo>
                  <a:lnTo>
                    <a:pt x="222671" y="400283"/>
                  </a:lnTo>
                  <a:lnTo>
                    <a:pt x="273727" y="394997"/>
                  </a:lnTo>
                  <a:lnTo>
                    <a:pt x="320596" y="379941"/>
                  </a:lnTo>
                  <a:lnTo>
                    <a:pt x="361940" y="356314"/>
                  </a:lnTo>
                  <a:lnTo>
                    <a:pt x="396423" y="325320"/>
                  </a:lnTo>
                  <a:lnTo>
                    <a:pt x="422709" y="288159"/>
                  </a:lnTo>
                  <a:lnTo>
                    <a:pt x="439461" y="246032"/>
                  </a:lnTo>
                  <a:lnTo>
                    <a:pt x="445342" y="200141"/>
                  </a:lnTo>
                  <a:lnTo>
                    <a:pt x="439461" y="154251"/>
                  </a:lnTo>
                  <a:lnTo>
                    <a:pt x="422709" y="112124"/>
                  </a:lnTo>
                  <a:lnTo>
                    <a:pt x="396423" y="74963"/>
                  </a:lnTo>
                  <a:lnTo>
                    <a:pt x="361940" y="43968"/>
                  </a:lnTo>
                  <a:lnTo>
                    <a:pt x="320596" y="20342"/>
                  </a:lnTo>
                  <a:lnTo>
                    <a:pt x="273727" y="5285"/>
                  </a:lnTo>
                  <a:lnTo>
                    <a:pt x="222671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927124" y="2216123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4974" y="2255737"/>
              <a:ext cx="321052" cy="32105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959408" y="4732624"/>
              <a:ext cx="1122680" cy="330200"/>
            </a:xfrm>
            <a:custGeom>
              <a:avLst/>
              <a:gdLst/>
              <a:ahLst/>
              <a:cxnLst/>
              <a:rect l="l" t="t" r="r" b="b"/>
              <a:pathLst>
                <a:path w="1122680" h="330200">
                  <a:moveTo>
                    <a:pt x="1122276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1122276" y="329859"/>
                  </a:lnTo>
                  <a:lnTo>
                    <a:pt x="112227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15601" y="4739994"/>
              <a:ext cx="584835" cy="330200"/>
            </a:xfrm>
            <a:custGeom>
              <a:avLst/>
              <a:gdLst/>
              <a:ahLst/>
              <a:cxnLst/>
              <a:rect l="l" t="t" r="r" b="b"/>
              <a:pathLst>
                <a:path w="584835" h="330200">
                  <a:moveTo>
                    <a:pt x="584608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584608" y="329859"/>
                  </a:lnTo>
                  <a:lnTo>
                    <a:pt x="584608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174657" y="4820919"/>
              <a:ext cx="153670" cy="163830"/>
            </a:xfrm>
            <a:custGeom>
              <a:avLst/>
              <a:gdLst/>
              <a:ahLst/>
              <a:cxnLst/>
              <a:rect l="l" t="t" r="r" b="b"/>
              <a:pathLst>
                <a:path w="153670" h="163829">
                  <a:moveTo>
                    <a:pt x="153212" y="57150"/>
                  </a:moveTo>
                  <a:lnTo>
                    <a:pt x="101117" y="57150"/>
                  </a:lnTo>
                  <a:lnTo>
                    <a:pt x="101117" y="0"/>
                  </a:lnTo>
                  <a:lnTo>
                    <a:pt x="52095" y="0"/>
                  </a:lnTo>
                  <a:lnTo>
                    <a:pt x="52095" y="57150"/>
                  </a:lnTo>
                  <a:lnTo>
                    <a:pt x="0" y="57150"/>
                  </a:lnTo>
                  <a:lnTo>
                    <a:pt x="0" y="106680"/>
                  </a:lnTo>
                  <a:lnTo>
                    <a:pt x="52095" y="106680"/>
                  </a:lnTo>
                  <a:lnTo>
                    <a:pt x="52095" y="163830"/>
                  </a:lnTo>
                  <a:lnTo>
                    <a:pt x="101117" y="163830"/>
                  </a:lnTo>
                  <a:lnTo>
                    <a:pt x="101117" y="106680"/>
                  </a:lnTo>
                  <a:lnTo>
                    <a:pt x="153212" y="106680"/>
                  </a:lnTo>
                  <a:lnTo>
                    <a:pt x="153212" y="5715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2064218" y="4098035"/>
            <a:ext cx="6959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4">
                <a:solidFill>
                  <a:srgbClr val="7030A0"/>
                </a:solidFill>
                <a:latin typeface="Trebuchet MS"/>
                <a:cs typeface="Trebuchet MS"/>
              </a:rPr>
              <a:t>~50%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911886" y="4172204"/>
            <a:ext cx="1369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0">
                <a:latin typeface="Arial MT"/>
                <a:cs typeface="Arial MT"/>
              </a:rPr>
              <a:t>Shared </a:t>
            </a:r>
            <a:r>
              <a:rPr dirty="0" sz="1200" spc="60">
                <a:latin typeface="Arial MT"/>
                <a:cs typeface="Arial MT"/>
              </a:rPr>
              <a:t>Capability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44801" y="4098035"/>
            <a:ext cx="6959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4">
                <a:solidFill>
                  <a:srgbClr val="7030A0"/>
                </a:solidFill>
                <a:latin typeface="Trebuchet MS"/>
                <a:cs typeface="Trebuchet MS"/>
              </a:rPr>
              <a:t>~20%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143323" y="4184395"/>
            <a:ext cx="1369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0">
                <a:latin typeface="Arial MT"/>
                <a:cs typeface="Arial MT"/>
              </a:rPr>
              <a:t>Shared </a:t>
            </a:r>
            <a:r>
              <a:rPr dirty="0" sz="1200" spc="60">
                <a:latin typeface="Arial MT"/>
                <a:cs typeface="Arial MT"/>
              </a:rPr>
              <a:t>Capability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846268" y="4101084"/>
            <a:ext cx="5575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65">
                <a:solidFill>
                  <a:srgbClr val="7030A0"/>
                </a:solidFill>
                <a:latin typeface="Trebuchet MS"/>
                <a:cs typeface="Trebuchet MS"/>
              </a:rPr>
              <a:t>~0%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9523695" y="4187444"/>
            <a:ext cx="1369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0">
                <a:latin typeface="Arial MT"/>
                <a:cs typeface="Arial MT"/>
              </a:rPr>
              <a:t>Shared </a:t>
            </a:r>
            <a:r>
              <a:rPr dirty="0" sz="1200" spc="60">
                <a:latin typeface="Arial MT"/>
                <a:cs typeface="Arial MT"/>
              </a:rPr>
              <a:t>Capability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959406" y="4743772"/>
            <a:ext cx="957580" cy="33020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7874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620"/>
              </a:spcBef>
            </a:pPr>
            <a:r>
              <a:rPr dirty="0" sz="1150" spc="80">
                <a:latin typeface="Arial MT"/>
                <a:cs typeface="Arial MT"/>
              </a:rPr>
              <a:t>Fossil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75">
                <a:latin typeface="Arial MT"/>
                <a:cs typeface="Arial MT"/>
              </a:rPr>
              <a:t>Fuel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916867" y="4743772"/>
            <a:ext cx="165100" cy="330200"/>
          </a:xfrm>
          <a:prstGeom prst="rect">
            <a:avLst/>
          </a:prstGeom>
          <a:solidFill>
            <a:srgbClr val="BFBFBF"/>
          </a:solidFill>
        </p:spPr>
        <p:txBody>
          <a:bodyPr wrap="square" lIns="0" tIns="787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dirty="0" sz="1150" spc="-50">
                <a:latin typeface="Arial MT"/>
                <a:cs typeface="Arial MT"/>
              </a:rPr>
              <a:t>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494189" y="4797792"/>
            <a:ext cx="96710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0">
                <a:latin typeface="Arial MT"/>
                <a:cs typeface="Arial MT"/>
              </a:rPr>
              <a:t>Renewables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528082" y="4752052"/>
            <a:ext cx="1379855" cy="330200"/>
            <a:chOff x="6528082" y="4752052"/>
            <a:chExt cx="1379855" cy="330200"/>
          </a:xfrm>
        </p:grpSpPr>
        <p:sp>
          <p:nvSpPr>
            <p:cNvPr id="40" name="object 40" descr=""/>
            <p:cNvSpPr/>
            <p:nvPr/>
          </p:nvSpPr>
          <p:spPr>
            <a:xfrm>
              <a:off x="7628572" y="4752052"/>
              <a:ext cx="279400" cy="330200"/>
            </a:xfrm>
            <a:custGeom>
              <a:avLst/>
              <a:gdLst/>
              <a:ahLst/>
              <a:cxnLst/>
              <a:rect l="l" t="t" r="r" b="b"/>
              <a:pathLst>
                <a:path w="279400" h="330200">
                  <a:moveTo>
                    <a:pt x="0" y="329858"/>
                  </a:moveTo>
                  <a:lnTo>
                    <a:pt x="279333" y="329858"/>
                  </a:lnTo>
                  <a:lnTo>
                    <a:pt x="279333" y="0"/>
                  </a:lnTo>
                  <a:lnTo>
                    <a:pt x="0" y="0"/>
                  </a:lnTo>
                  <a:lnTo>
                    <a:pt x="0" y="329858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769017" y="4752052"/>
              <a:ext cx="859790" cy="330200"/>
            </a:xfrm>
            <a:custGeom>
              <a:avLst/>
              <a:gdLst/>
              <a:ahLst/>
              <a:cxnLst/>
              <a:rect l="l" t="t" r="r" b="b"/>
              <a:pathLst>
                <a:path w="859790" h="330200">
                  <a:moveTo>
                    <a:pt x="859555" y="0"/>
                  </a:moveTo>
                  <a:lnTo>
                    <a:pt x="0" y="0"/>
                  </a:lnTo>
                  <a:lnTo>
                    <a:pt x="0" y="329858"/>
                  </a:lnTo>
                  <a:lnTo>
                    <a:pt x="859555" y="329858"/>
                  </a:lnTo>
                  <a:lnTo>
                    <a:pt x="85955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28079" y="4833619"/>
              <a:ext cx="153670" cy="162560"/>
            </a:xfrm>
            <a:custGeom>
              <a:avLst/>
              <a:gdLst/>
              <a:ahLst/>
              <a:cxnLst/>
              <a:rect l="l" t="t" r="r" b="b"/>
              <a:pathLst>
                <a:path w="153670" h="162560">
                  <a:moveTo>
                    <a:pt x="153200" y="57150"/>
                  </a:moveTo>
                  <a:lnTo>
                    <a:pt x="101117" y="57150"/>
                  </a:lnTo>
                  <a:lnTo>
                    <a:pt x="101117" y="0"/>
                  </a:lnTo>
                  <a:lnTo>
                    <a:pt x="52082" y="0"/>
                  </a:lnTo>
                  <a:lnTo>
                    <a:pt x="52082" y="57150"/>
                  </a:lnTo>
                  <a:lnTo>
                    <a:pt x="0" y="57150"/>
                  </a:lnTo>
                  <a:lnTo>
                    <a:pt x="0" y="105410"/>
                  </a:lnTo>
                  <a:lnTo>
                    <a:pt x="52082" y="105410"/>
                  </a:lnTo>
                  <a:lnTo>
                    <a:pt x="52082" y="162560"/>
                  </a:lnTo>
                  <a:lnTo>
                    <a:pt x="101117" y="162560"/>
                  </a:lnTo>
                  <a:lnTo>
                    <a:pt x="101117" y="105410"/>
                  </a:lnTo>
                  <a:lnTo>
                    <a:pt x="153200" y="105410"/>
                  </a:lnTo>
                  <a:lnTo>
                    <a:pt x="153200" y="5715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5230356" y="4744683"/>
            <a:ext cx="602615" cy="33020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8699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685"/>
              </a:spcBef>
            </a:pPr>
            <a:r>
              <a:rPr dirty="0" sz="1150" spc="70">
                <a:latin typeface="Arial MT"/>
                <a:cs typeface="Arial MT"/>
              </a:rPr>
              <a:t>Fossil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832713" y="4744683"/>
            <a:ext cx="602615" cy="330200"/>
          </a:xfrm>
          <a:prstGeom prst="rect">
            <a:avLst/>
          </a:prstGeom>
          <a:solidFill>
            <a:srgbClr val="BFBFBF"/>
          </a:solidFill>
        </p:spPr>
        <p:txBody>
          <a:bodyPr wrap="square" lIns="0" tIns="869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r>
              <a:rPr dirty="0" sz="1150" spc="75">
                <a:latin typeface="Arial MT"/>
                <a:cs typeface="Arial MT"/>
              </a:rPr>
              <a:t>Fuels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949936" y="4782551"/>
            <a:ext cx="96710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0">
                <a:latin typeface="Arial MT"/>
                <a:cs typeface="Arial MT"/>
              </a:rPr>
              <a:t>Renewables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9802492" y="4743774"/>
            <a:ext cx="1532255" cy="330200"/>
            <a:chOff x="9802492" y="4743774"/>
            <a:chExt cx="1532255" cy="330200"/>
          </a:xfrm>
        </p:grpSpPr>
        <p:sp>
          <p:nvSpPr>
            <p:cNvPr id="47" name="object 47" descr=""/>
            <p:cNvSpPr/>
            <p:nvPr/>
          </p:nvSpPr>
          <p:spPr>
            <a:xfrm>
              <a:off x="11169535" y="4743774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329859"/>
                  </a:moveTo>
                  <a:lnTo>
                    <a:pt x="165027" y="329859"/>
                  </a:lnTo>
                  <a:lnTo>
                    <a:pt x="165027" y="0"/>
                  </a:lnTo>
                  <a:lnTo>
                    <a:pt x="0" y="0"/>
                  </a:lnTo>
                  <a:lnTo>
                    <a:pt x="0" y="329859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802482" y="4836160"/>
              <a:ext cx="153670" cy="163830"/>
            </a:xfrm>
            <a:custGeom>
              <a:avLst/>
              <a:gdLst/>
              <a:ahLst/>
              <a:cxnLst/>
              <a:rect l="l" t="t" r="r" b="b"/>
              <a:pathLst>
                <a:path w="153670" h="163829">
                  <a:moveTo>
                    <a:pt x="153212" y="58420"/>
                  </a:moveTo>
                  <a:lnTo>
                    <a:pt x="101117" y="58420"/>
                  </a:lnTo>
                  <a:lnTo>
                    <a:pt x="101117" y="0"/>
                  </a:lnTo>
                  <a:lnTo>
                    <a:pt x="52095" y="0"/>
                  </a:lnTo>
                  <a:lnTo>
                    <a:pt x="52095" y="58420"/>
                  </a:lnTo>
                  <a:lnTo>
                    <a:pt x="0" y="58420"/>
                  </a:lnTo>
                  <a:lnTo>
                    <a:pt x="0" y="106680"/>
                  </a:lnTo>
                  <a:lnTo>
                    <a:pt x="52095" y="106680"/>
                  </a:lnTo>
                  <a:lnTo>
                    <a:pt x="52095" y="163830"/>
                  </a:lnTo>
                  <a:lnTo>
                    <a:pt x="101117" y="163830"/>
                  </a:lnTo>
                  <a:lnTo>
                    <a:pt x="101117" y="106680"/>
                  </a:lnTo>
                  <a:lnTo>
                    <a:pt x="153212" y="106680"/>
                  </a:lnTo>
                  <a:lnTo>
                    <a:pt x="153212" y="5842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8484638" y="4744444"/>
            <a:ext cx="1122680" cy="330200"/>
          </a:xfrm>
          <a:prstGeom prst="rect">
            <a:avLst/>
          </a:prstGeom>
          <a:solidFill>
            <a:srgbClr val="BFBFBF"/>
          </a:solidFill>
        </p:spPr>
        <p:txBody>
          <a:bodyPr wrap="square" lIns="0" tIns="84455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665"/>
              </a:spcBef>
            </a:pPr>
            <a:r>
              <a:rPr dirty="0" sz="1150" spc="80">
                <a:latin typeface="Arial MT"/>
                <a:cs typeface="Arial MT"/>
              </a:rPr>
              <a:t>Fossil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65">
                <a:latin typeface="Arial MT"/>
                <a:cs typeface="Arial MT"/>
              </a:rPr>
              <a:t>Fuels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030645" y="4743774"/>
            <a:ext cx="1151890" cy="330200"/>
          </a:xfrm>
          <a:prstGeom prst="rect">
            <a:avLst/>
          </a:prstGeom>
          <a:solidFill>
            <a:srgbClr val="A9D18E"/>
          </a:solidFill>
        </p:spPr>
        <p:txBody>
          <a:bodyPr wrap="square" lIns="0" tIns="6985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550"/>
              </a:spcBef>
            </a:pPr>
            <a:r>
              <a:rPr dirty="0" sz="1150" spc="90">
                <a:latin typeface="Arial MT"/>
                <a:cs typeface="Arial MT"/>
              </a:rPr>
              <a:t>Renewables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911126" y="5920263"/>
            <a:ext cx="2848610" cy="338455"/>
            <a:chOff x="1911126" y="5920263"/>
            <a:chExt cx="2848610" cy="338455"/>
          </a:xfrm>
        </p:grpSpPr>
        <p:sp>
          <p:nvSpPr>
            <p:cNvPr id="52" name="object 52" descr=""/>
            <p:cNvSpPr/>
            <p:nvPr/>
          </p:nvSpPr>
          <p:spPr>
            <a:xfrm>
              <a:off x="2916867" y="592026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329859"/>
                  </a:moveTo>
                  <a:lnTo>
                    <a:pt x="164816" y="329859"/>
                  </a:lnTo>
                  <a:lnTo>
                    <a:pt x="164816" y="0"/>
                  </a:lnTo>
                  <a:lnTo>
                    <a:pt x="0" y="0"/>
                  </a:lnTo>
                  <a:lnTo>
                    <a:pt x="0" y="329859"/>
                  </a:lnTo>
                  <a:close/>
                </a:path>
              </a:pathLst>
            </a:custGeom>
            <a:solidFill>
              <a:srgbClr val="ADB9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755231" y="5930762"/>
              <a:ext cx="1004569" cy="327660"/>
            </a:xfrm>
            <a:custGeom>
              <a:avLst/>
              <a:gdLst/>
              <a:ahLst/>
              <a:cxnLst/>
              <a:rect l="l" t="t" r="r" b="b"/>
              <a:pathLst>
                <a:path w="1004570" h="327660">
                  <a:moveTo>
                    <a:pt x="0" y="327528"/>
                  </a:moveTo>
                  <a:lnTo>
                    <a:pt x="1004295" y="327528"/>
                  </a:lnTo>
                  <a:lnTo>
                    <a:pt x="1004295" y="0"/>
                  </a:lnTo>
                  <a:lnTo>
                    <a:pt x="0" y="0"/>
                  </a:lnTo>
                  <a:lnTo>
                    <a:pt x="0" y="327528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911126" y="5920263"/>
              <a:ext cx="1005840" cy="330200"/>
            </a:xfrm>
            <a:custGeom>
              <a:avLst/>
              <a:gdLst/>
              <a:ahLst/>
              <a:cxnLst/>
              <a:rect l="l" t="t" r="r" b="b"/>
              <a:pathLst>
                <a:path w="1005839" h="330200">
                  <a:moveTo>
                    <a:pt x="1005740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1005740" y="329859"/>
                  </a:lnTo>
                  <a:lnTo>
                    <a:pt x="1005740" y="0"/>
                  </a:lnTo>
                  <a:close/>
                </a:path>
              </a:pathLst>
            </a:custGeom>
            <a:solidFill>
              <a:srgbClr val="8497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481410" y="5928432"/>
              <a:ext cx="274320" cy="330200"/>
            </a:xfrm>
            <a:custGeom>
              <a:avLst/>
              <a:gdLst/>
              <a:ahLst/>
              <a:cxnLst/>
              <a:rect l="l" t="t" r="r" b="b"/>
              <a:pathLst>
                <a:path w="274320" h="330200">
                  <a:moveTo>
                    <a:pt x="273820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273820" y="329859"/>
                  </a:lnTo>
                  <a:lnTo>
                    <a:pt x="273820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174657" y="6008370"/>
              <a:ext cx="153670" cy="163830"/>
            </a:xfrm>
            <a:custGeom>
              <a:avLst/>
              <a:gdLst/>
              <a:ahLst/>
              <a:cxnLst/>
              <a:rect l="l" t="t" r="r" b="b"/>
              <a:pathLst>
                <a:path w="153670" h="163829">
                  <a:moveTo>
                    <a:pt x="153212" y="57150"/>
                  </a:moveTo>
                  <a:lnTo>
                    <a:pt x="101117" y="57150"/>
                  </a:lnTo>
                  <a:lnTo>
                    <a:pt x="101117" y="0"/>
                  </a:lnTo>
                  <a:lnTo>
                    <a:pt x="52095" y="0"/>
                  </a:lnTo>
                  <a:lnTo>
                    <a:pt x="52095" y="57150"/>
                  </a:lnTo>
                  <a:lnTo>
                    <a:pt x="0" y="57150"/>
                  </a:lnTo>
                  <a:lnTo>
                    <a:pt x="0" y="106680"/>
                  </a:lnTo>
                  <a:lnTo>
                    <a:pt x="52095" y="106680"/>
                  </a:lnTo>
                  <a:lnTo>
                    <a:pt x="52095" y="163830"/>
                  </a:lnTo>
                  <a:lnTo>
                    <a:pt x="101117" y="163830"/>
                  </a:lnTo>
                  <a:lnTo>
                    <a:pt x="101117" y="106680"/>
                  </a:lnTo>
                  <a:lnTo>
                    <a:pt x="153212" y="106680"/>
                  </a:lnTo>
                  <a:lnTo>
                    <a:pt x="153212" y="5715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2051935" y="5992607"/>
            <a:ext cx="950594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5">
                <a:latin typeface="Arial MT"/>
                <a:cs typeface="Arial MT"/>
              </a:rPr>
              <a:t>Fuel </a:t>
            </a:r>
            <a:r>
              <a:rPr dirty="0" sz="1150" spc="105">
                <a:latin typeface="Arial MT"/>
                <a:cs typeface="Arial MT"/>
              </a:rPr>
              <a:t>Supply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3592426" y="5980415"/>
            <a:ext cx="10128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0">
                <a:latin typeface="Arial MT"/>
                <a:cs typeface="Arial MT"/>
              </a:rPr>
              <a:t>EV</a:t>
            </a:r>
            <a:r>
              <a:rPr dirty="0" sz="1150" spc="95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Charging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5312822" y="5923391"/>
            <a:ext cx="2595245" cy="337820"/>
            <a:chOff x="5312822" y="5923391"/>
            <a:chExt cx="2595245" cy="337820"/>
          </a:xfrm>
        </p:grpSpPr>
        <p:sp>
          <p:nvSpPr>
            <p:cNvPr id="60" name="object 60" descr=""/>
            <p:cNvSpPr/>
            <p:nvPr/>
          </p:nvSpPr>
          <p:spPr>
            <a:xfrm>
              <a:off x="6051455" y="5923391"/>
              <a:ext cx="384175" cy="330200"/>
            </a:xfrm>
            <a:custGeom>
              <a:avLst/>
              <a:gdLst/>
              <a:ahLst/>
              <a:cxnLst/>
              <a:rect l="l" t="t" r="r" b="b"/>
              <a:pathLst>
                <a:path w="384175" h="330200">
                  <a:moveTo>
                    <a:pt x="0" y="329859"/>
                  </a:moveTo>
                  <a:lnTo>
                    <a:pt x="383644" y="329859"/>
                  </a:lnTo>
                  <a:lnTo>
                    <a:pt x="383644" y="0"/>
                  </a:lnTo>
                  <a:lnTo>
                    <a:pt x="0" y="0"/>
                  </a:lnTo>
                  <a:lnTo>
                    <a:pt x="0" y="329859"/>
                  </a:lnTo>
                  <a:close/>
                </a:path>
              </a:pathLst>
            </a:custGeom>
            <a:solidFill>
              <a:srgbClr val="ADB9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437931" y="5930761"/>
              <a:ext cx="470534" cy="330200"/>
            </a:xfrm>
            <a:custGeom>
              <a:avLst/>
              <a:gdLst/>
              <a:ahLst/>
              <a:cxnLst/>
              <a:rect l="l" t="t" r="r" b="b"/>
              <a:pathLst>
                <a:path w="470534" h="330200">
                  <a:moveTo>
                    <a:pt x="0" y="329859"/>
                  </a:moveTo>
                  <a:lnTo>
                    <a:pt x="469974" y="329859"/>
                  </a:lnTo>
                  <a:lnTo>
                    <a:pt x="469974" y="0"/>
                  </a:lnTo>
                  <a:lnTo>
                    <a:pt x="0" y="0"/>
                  </a:lnTo>
                  <a:lnTo>
                    <a:pt x="0" y="329859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312822" y="5923391"/>
              <a:ext cx="739140" cy="330200"/>
            </a:xfrm>
            <a:custGeom>
              <a:avLst/>
              <a:gdLst/>
              <a:ahLst/>
              <a:cxnLst/>
              <a:rect l="l" t="t" r="r" b="b"/>
              <a:pathLst>
                <a:path w="739139" h="330200">
                  <a:moveTo>
                    <a:pt x="738633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738633" y="329859"/>
                  </a:lnTo>
                  <a:lnTo>
                    <a:pt x="738633" y="0"/>
                  </a:lnTo>
                  <a:close/>
                </a:path>
              </a:pathLst>
            </a:custGeom>
            <a:solidFill>
              <a:srgbClr val="8497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769017" y="5930761"/>
              <a:ext cx="669290" cy="330200"/>
            </a:xfrm>
            <a:custGeom>
              <a:avLst/>
              <a:gdLst/>
              <a:ahLst/>
              <a:cxnLst/>
              <a:rect l="l" t="t" r="r" b="b"/>
              <a:pathLst>
                <a:path w="669290" h="330200">
                  <a:moveTo>
                    <a:pt x="668914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668914" y="329859"/>
                  </a:lnTo>
                  <a:lnTo>
                    <a:pt x="668914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528079" y="6012179"/>
              <a:ext cx="153670" cy="163830"/>
            </a:xfrm>
            <a:custGeom>
              <a:avLst/>
              <a:gdLst/>
              <a:ahLst/>
              <a:cxnLst/>
              <a:rect l="l" t="t" r="r" b="b"/>
              <a:pathLst>
                <a:path w="153670" h="163829">
                  <a:moveTo>
                    <a:pt x="153200" y="57150"/>
                  </a:moveTo>
                  <a:lnTo>
                    <a:pt x="101117" y="57150"/>
                  </a:lnTo>
                  <a:lnTo>
                    <a:pt x="101117" y="0"/>
                  </a:lnTo>
                  <a:lnTo>
                    <a:pt x="52082" y="0"/>
                  </a:lnTo>
                  <a:lnTo>
                    <a:pt x="52082" y="57150"/>
                  </a:lnTo>
                  <a:lnTo>
                    <a:pt x="0" y="57150"/>
                  </a:lnTo>
                  <a:lnTo>
                    <a:pt x="0" y="105410"/>
                  </a:lnTo>
                  <a:lnTo>
                    <a:pt x="52082" y="105410"/>
                  </a:lnTo>
                  <a:lnTo>
                    <a:pt x="52082" y="163830"/>
                  </a:lnTo>
                  <a:lnTo>
                    <a:pt x="101117" y="163830"/>
                  </a:lnTo>
                  <a:lnTo>
                    <a:pt x="101117" y="105410"/>
                  </a:lnTo>
                  <a:lnTo>
                    <a:pt x="153200" y="105410"/>
                  </a:lnTo>
                  <a:lnTo>
                    <a:pt x="153200" y="5715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5463788" y="5971271"/>
            <a:ext cx="950594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5">
                <a:latin typeface="Arial MT"/>
                <a:cs typeface="Arial MT"/>
              </a:rPr>
              <a:t>Fuel </a:t>
            </a:r>
            <a:r>
              <a:rPr dirty="0" sz="1150" spc="105">
                <a:latin typeface="Arial MT"/>
                <a:cs typeface="Arial MT"/>
              </a:rPr>
              <a:t>Supply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893647" y="5980415"/>
            <a:ext cx="10128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0">
                <a:latin typeface="Arial MT"/>
                <a:cs typeface="Arial MT"/>
              </a:rPr>
              <a:t>EV</a:t>
            </a:r>
            <a:r>
              <a:rPr dirty="0" sz="1150" spc="95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Charging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9796798" y="5930953"/>
            <a:ext cx="1379855" cy="330200"/>
            <a:chOff x="9796798" y="5930953"/>
            <a:chExt cx="1379855" cy="330200"/>
          </a:xfrm>
        </p:grpSpPr>
        <p:sp>
          <p:nvSpPr>
            <p:cNvPr id="68" name="object 68" descr=""/>
            <p:cNvSpPr/>
            <p:nvPr/>
          </p:nvSpPr>
          <p:spPr>
            <a:xfrm>
              <a:off x="11048651" y="5930953"/>
              <a:ext cx="128270" cy="330200"/>
            </a:xfrm>
            <a:custGeom>
              <a:avLst/>
              <a:gdLst/>
              <a:ahLst/>
              <a:cxnLst/>
              <a:rect l="l" t="t" r="r" b="b"/>
              <a:pathLst>
                <a:path w="128270" h="330200">
                  <a:moveTo>
                    <a:pt x="0" y="329859"/>
                  </a:moveTo>
                  <a:lnTo>
                    <a:pt x="127971" y="329859"/>
                  </a:lnTo>
                  <a:lnTo>
                    <a:pt x="127971" y="0"/>
                  </a:lnTo>
                  <a:lnTo>
                    <a:pt x="0" y="0"/>
                  </a:lnTo>
                  <a:lnTo>
                    <a:pt x="0" y="329859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037733" y="5930953"/>
              <a:ext cx="1010919" cy="330200"/>
            </a:xfrm>
            <a:custGeom>
              <a:avLst/>
              <a:gdLst/>
              <a:ahLst/>
              <a:cxnLst/>
              <a:rect l="l" t="t" r="r" b="b"/>
              <a:pathLst>
                <a:path w="1010920" h="330200">
                  <a:moveTo>
                    <a:pt x="1010918" y="0"/>
                  </a:moveTo>
                  <a:lnTo>
                    <a:pt x="0" y="0"/>
                  </a:lnTo>
                  <a:lnTo>
                    <a:pt x="0" y="329859"/>
                  </a:lnTo>
                  <a:lnTo>
                    <a:pt x="1010918" y="329859"/>
                  </a:lnTo>
                  <a:lnTo>
                    <a:pt x="1010918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796793" y="6012179"/>
              <a:ext cx="153670" cy="163830"/>
            </a:xfrm>
            <a:custGeom>
              <a:avLst/>
              <a:gdLst/>
              <a:ahLst/>
              <a:cxnLst/>
              <a:rect l="l" t="t" r="r" b="b"/>
              <a:pathLst>
                <a:path w="153670" h="163829">
                  <a:moveTo>
                    <a:pt x="153200" y="57150"/>
                  </a:moveTo>
                  <a:lnTo>
                    <a:pt x="101117" y="57150"/>
                  </a:lnTo>
                  <a:lnTo>
                    <a:pt x="101117" y="0"/>
                  </a:lnTo>
                  <a:lnTo>
                    <a:pt x="52082" y="0"/>
                  </a:lnTo>
                  <a:lnTo>
                    <a:pt x="52082" y="57150"/>
                  </a:lnTo>
                  <a:lnTo>
                    <a:pt x="0" y="57150"/>
                  </a:lnTo>
                  <a:lnTo>
                    <a:pt x="0" y="106680"/>
                  </a:lnTo>
                  <a:lnTo>
                    <a:pt x="52082" y="106680"/>
                  </a:lnTo>
                  <a:lnTo>
                    <a:pt x="52082" y="163830"/>
                  </a:lnTo>
                  <a:lnTo>
                    <a:pt x="101117" y="163830"/>
                  </a:lnTo>
                  <a:lnTo>
                    <a:pt x="101117" y="106680"/>
                  </a:lnTo>
                  <a:lnTo>
                    <a:pt x="153200" y="106680"/>
                  </a:lnTo>
                  <a:lnTo>
                    <a:pt x="153200" y="5715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8581538" y="5923583"/>
            <a:ext cx="385445" cy="330200"/>
          </a:xfrm>
          <a:prstGeom prst="rect">
            <a:avLst/>
          </a:prstGeom>
          <a:solidFill>
            <a:srgbClr val="8497B0"/>
          </a:solidFill>
        </p:spPr>
        <p:txBody>
          <a:bodyPr wrap="square" lIns="0" tIns="7874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20"/>
              </a:spcBef>
            </a:pPr>
            <a:r>
              <a:rPr dirty="0" sz="1150" spc="75">
                <a:latin typeface="Arial MT"/>
                <a:cs typeface="Arial MT"/>
              </a:rPr>
              <a:t>Fue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8966717" y="5923583"/>
            <a:ext cx="737235" cy="330200"/>
          </a:xfrm>
          <a:prstGeom prst="rect">
            <a:avLst/>
          </a:prstGeom>
          <a:solidFill>
            <a:srgbClr val="ADB9CA"/>
          </a:solidFill>
        </p:spPr>
        <p:txBody>
          <a:bodyPr wrap="square" lIns="0" tIns="787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0"/>
              </a:spcBef>
            </a:pPr>
            <a:r>
              <a:rPr dirty="0" sz="1150" spc="65">
                <a:latin typeface="Arial MT"/>
                <a:cs typeface="Arial MT"/>
              </a:rPr>
              <a:t>l</a:t>
            </a:r>
            <a:r>
              <a:rPr dirty="0" sz="1150" spc="85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Supply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0171629" y="5980415"/>
            <a:ext cx="10128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0">
                <a:latin typeface="Arial MT"/>
                <a:cs typeface="Arial MT"/>
              </a:rPr>
              <a:t>EV</a:t>
            </a:r>
            <a:r>
              <a:rPr dirty="0" sz="1150" spc="95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Charging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377060" y="5226264"/>
            <a:ext cx="1259840" cy="523240"/>
          </a:xfrm>
          <a:prstGeom prst="rect">
            <a:avLst/>
          </a:prstGeom>
          <a:solidFill>
            <a:srgbClr val="A365D1"/>
          </a:solidFill>
          <a:ln w="19050">
            <a:solidFill>
              <a:srgbClr val="7030A0"/>
            </a:solidFill>
          </a:ln>
        </p:spPr>
        <p:txBody>
          <a:bodyPr wrap="square" lIns="0" tIns="16827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1325"/>
              </a:spcBef>
            </a:pPr>
            <a:r>
              <a:rPr dirty="0" sz="1200" spc="70">
                <a:solidFill>
                  <a:srgbClr val="FFFFFF"/>
                </a:solidFill>
                <a:latin typeface="Arial MT"/>
                <a:cs typeface="Arial MT"/>
              </a:rPr>
              <a:t>Location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801130" y="5394452"/>
            <a:ext cx="8870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Urban</a:t>
            </a:r>
            <a:r>
              <a:rPr dirty="0" sz="1200" spc="2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Only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2140287" y="2929368"/>
            <a:ext cx="241363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05">
                <a:latin typeface="Arial MT"/>
                <a:cs typeface="Arial MT"/>
              </a:rPr>
              <a:t>Reallocation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130">
                <a:latin typeface="Arial MT"/>
                <a:cs typeface="Arial MT"/>
              </a:rPr>
              <a:t>of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Existing</a:t>
            </a:r>
            <a:r>
              <a:rPr dirty="0" sz="1150" spc="110">
                <a:latin typeface="Arial MT"/>
                <a:cs typeface="Arial MT"/>
              </a:rPr>
              <a:t> </a:t>
            </a:r>
            <a:r>
              <a:rPr dirty="0" sz="1150" spc="75">
                <a:latin typeface="Arial MT"/>
                <a:cs typeface="Arial MT"/>
              </a:rPr>
              <a:t>Space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5444789" y="2935463"/>
            <a:ext cx="222123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95">
                <a:latin typeface="Arial MT"/>
                <a:cs typeface="Arial MT"/>
              </a:rPr>
              <a:t>Fuel</a:t>
            </a:r>
            <a:r>
              <a:rPr dirty="0" sz="1150" spc="90">
                <a:latin typeface="Arial MT"/>
                <a:cs typeface="Arial MT"/>
              </a:rPr>
              <a:t> </a:t>
            </a:r>
            <a:r>
              <a:rPr dirty="0" sz="1150" spc="85">
                <a:latin typeface="Arial MT"/>
                <a:cs typeface="Arial MT"/>
              </a:rPr>
              <a:t>+</a:t>
            </a:r>
            <a:r>
              <a:rPr dirty="0" sz="1150" spc="95">
                <a:latin typeface="Arial MT"/>
                <a:cs typeface="Arial MT"/>
              </a:rPr>
              <a:t> EV</a:t>
            </a:r>
            <a:r>
              <a:rPr dirty="0" sz="1150" spc="100">
                <a:latin typeface="Arial MT"/>
                <a:cs typeface="Arial MT"/>
              </a:rPr>
              <a:t> </a:t>
            </a:r>
            <a:r>
              <a:rPr dirty="0" sz="1150" spc="130">
                <a:latin typeface="Arial MT"/>
                <a:cs typeface="Arial MT"/>
              </a:rPr>
              <a:t>Hybrid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 spc="95">
                <a:latin typeface="Arial MT"/>
                <a:cs typeface="Arial MT"/>
              </a:rPr>
              <a:t>Expansion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8336195" y="2959848"/>
            <a:ext cx="31972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30">
                <a:latin typeface="Arial MT"/>
                <a:cs typeface="Arial MT"/>
              </a:rPr>
              <a:t>Battery</a:t>
            </a:r>
            <a:r>
              <a:rPr dirty="0" sz="1150" spc="110">
                <a:latin typeface="Arial MT"/>
                <a:cs typeface="Arial MT"/>
              </a:rPr>
              <a:t> </a:t>
            </a:r>
            <a:r>
              <a:rPr dirty="0" sz="1150" spc="125">
                <a:latin typeface="Arial MT"/>
                <a:cs typeface="Arial MT"/>
              </a:rPr>
              <a:t>Swapping</a:t>
            </a:r>
            <a:r>
              <a:rPr dirty="0" sz="1150" spc="110">
                <a:latin typeface="Arial MT"/>
                <a:cs typeface="Arial MT"/>
              </a:rPr>
              <a:t> </a:t>
            </a:r>
            <a:r>
              <a:rPr dirty="0" sz="1150" spc="85">
                <a:latin typeface="Arial MT"/>
                <a:cs typeface="Arial MT"/>
              </a:rPr>
              <a:t>+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 spc="90">
                <a:latin typeface="Arial MT"/>
                <a:cs typeface="Arial MT"/>
              </a:rPr>
              <a:t>EV</a:t>
            </a:r>
            <a:r>
              <a:rPr dirty="0" sz="1150" spc="105">
                <a:latin typeface="Arial MT"/>
                <a:cs typeface="Arial MT"/>
              </a:rPr>
              <a:t> </a:t>
            </a:r>
            <a:r>
              <a:rPr dirty="0" sz="1150" spc="120">
                <a:latin typeface="Arial MT"/>
                <a:cs typeface="Arial MT"/>
              </a:rPr>
              <a:t>charging</a:t>
            </a:r>
            <a:r>
              <a:rPr dirty="0" sz="1150" spc="110">
                <a:latin typeface="Arial MT"/>
                <a:cs typeface="Arial MT"/>
              </a:rPr>
              <a:t> </a:t>
            </a:r>
            <a:r>
              <a:rPr dirty="0" sz="1150" spc="105">
                <a:latin typeface="Arial MT"/>
                <a:cs typeface="Arial MT"/>
              </a:rPr>
              <a:t>station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6022804" y="5394452"/>
            <a:ext cx="141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Urban</a:t>
            </a:r>
            <a:r>
              <a:rPr dirty="0" sz="1200" spc="2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+</a:t>
            </a:r>
            <a:r>
              <a:rPr dirty="0" sz="1200" spc="2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Highways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8892566" y="5412740"/>
            <a:ext cx="1997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Urban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+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Highways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+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7030A0"/>
                </a:solidFill>
                <a:latin typeface="Arial MT"/>
                <a:cs typeface="Arial MT"/>
              </a:rPr>
              <a:t>Rural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3200839" y="2204284"/>
            <a:ext cx="3693160" cy="451484"/>
            <a:chOff x="3200839" y="2204284"/>
            <a:chExt cx="3693160" cy="451484"/>
          </a:xfrm>
        </p:grpSpPr>
        <p:sp>
          <p:nvSpPr>
            <p:cNvPr id="82" name="object 82" descr=""/>
            <p:cNvSpPr/>
            <p:nvPr/>
          </p:nvSpPr>
          <p:spPr>
            <a:xfrm>
              <a:off x="3207189" y="2228429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0" y="0"/>
                  </a:moveTo>
                  <a:lnTo>
                    <a:pt x="171613" y="5285"/>
                  </a:lnTo>
                  <a:lnTo>
                    <a:pt x="124745" y="20342"/>
                  </a:lnTo>
                  <a:lnTo>
                    <a:pt x="83401" y="43969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9"/>
                  </a:lnTo>
                  <a:lnTo>
                    <a:pt x="48918" y="325320"/>
                  </a:lnTo>
                  <a:lnTo>
                    <a:pt x="83401" y="356314"/>
                  </a:lnTo>
                  <a:lnTo>
                    <a:pt x="124745" y="379941"/>
                  </a:lnTo>
                  <a:lnTo>
                    <a:pt x="171613" y="394997"/>
                  </a:lnTo>
                  <a:lnTo>
                    <a:pt x="222670" y="400283"/>
                  </a:lnTo>
                  <a:lnTo>
                    <a:pt x="273726" y="394997"/>
                  </a:lnTo>
                  <a:lnTo>
                    <a:pt x="320595" y="379941"/>
                  </a:lnTo>
                  <a:lnTo>
                    <a:pt x="361939" y="356314"/>
                  </a:lnTo>
                  <a:lnTo>
                    <a:pt x="396422" y="325320"/>
                  </a:lnTo>
                  <a:lnTo>
                    <a:pt x="422708" y="288159"/>
                  </a:lnTo>
                  <a:lnTo>
                    <a:pt x="439459" y="246032"/>
                  </a:lnTo>
                  <a:lnTo>
                    <a:pt x="445340" y="200141"/>
                  </a:lnTo>
                  <a:lnTo>
                    <a:pt x="439459" y="154251"/>
                  </a:lnTo>
                  <a:lnTo>
                    <a:pt x="422708" y="112124"/>
                  </a:lnTo>
                  <a:lnTo>
                    <a:pt x="396422" y="74963"/>
                  </a:lnTo>
                  <a:lnTo>
                    <a:pt x="361939" y="43969"/>
                  </a:lnTo>
                  <a:lnTo>
                    <a:pt x="320595" y="20342"/>
                  </a:lnTo>
                  <a:lnTo>
                    <a:pt x="273726" y="5285"/>
                  </a:lnTo>
                  <a:lnTo>
                    <a:pt x="222670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207189" y="2228429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5039" y="2268044"/>
              <a:ext cx="321052" cy="321053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441849" y="2210634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222670" y="0"/>
                  </a:moveTo>
                  <a:lnTo>
                    <a:pt x="171613" y="5285"/>
                  </a:lnTo>
                  <a:lnTo>
                    <a:pt x="124745" y="20342"/>
                  </a:lnTo>
                  <a:lnTo>
                    <a:pt x="83401" y="43968"/>
                  </a:lnTo>
                  <a:lnTo>
                    <a:pt x="48918" y="74963"/>
                  </a:lnTo>
                  <a:lnTo>
                    <a:pt x="22632" y="112124"/>
                  </a:lnTo>
                  <a:lnTo>
                    <a:pt x="5880" y="154251"/>
                  </a:lnTo>
                  <a:lnTo>
                    <a:pt x="0" y="200141"/>
                  </a:lnTo>
                  <a:lnTo>
                    <a:pt x="5880" y="246032"/>
                  </a:lnTo>
                  <a:lnTo>
                    <a:pt x="22632" y="288158"/>
                  </a:lnTo>
                  <a:lnTo>
                    <a:pt x="48918" y="325320"/>
                  </a:lnTo>
                  <a:lnTo>
                    <a:pt x="83401" y="356314"/>
                  </a:lnTo>
                  <a:lnTo>
                    <a:pt x="124745" y="379940"/>
                  </a:lnTo>
                  <a:lnTo>
                    <a:pt x="171613" y="394997"/>
                  </a:lnTo>
                  <a:lnTo>
                    <a:pt x="222670" y="400283"/>
                  </a:lnTo>
                  <a:lnTo>
                    <a:pt x="273726" y="394997"/>
                  </a:lnTo>
                  <a:lnTo>
                    <a:pt x="320595" y="379940"/>
                  </a:lnTo>
                  <a:lnTo>
                    <a:pt x="361939" y="356314"/>
                  </a:lnTo>
                  <a:lnTo>
                    <a:pt x="396422" y="325320"/>
                  </a:lnTo>
                  <a:lnTo>
                    <a:pt x="422708" y="288158"/>
                  </a:lnTo>
                  <a:lnTo>
                    <a:pt x="439459" y="246032"/>
                  </a:lnTo>
                  <a:lnTo>
                    <a:pt x="445340" y="200141"/>
                  </a:lnTo>
                  <a:lnTo>
                    <a:pt x="439459" y="154251"/>
                  </a:lnTo>
                  <a:lnTo>
                    <a:pt x="422708" y="112124"/>
                  </a:lnTo>
                  <a:lnTo>
                    <a:pt x="396422" y="74963"/>
                  </a:lnTo>
                  <a:lnTo>
                    <a:pt x="361939" y="43968"/>
                  </a:lnTo>
                  <a:lnTo>
                    <a:pt x="320595" y="20342"/>
                  </a:lnTo>
                  <a:lnTo>
                    <a:pt x="273726" y="5285"/>
                  </a:lnTo>
                  <a:lnTo>
                    <a:pt x="222670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441849" y="2210634"/>
              <a:ext cx="445770" cy="400685"/>
            </a:xfrm>
            <a:custGeom>
              <a:avLst/>
              <a:gdLst/>
              <a:ahLst/>
              <a:cxnLst/>
              <a:rect l="l" t="t" r="r" b="b"/>
              <a:pathLst>
                <a:path w="445770" h="400685">
                  <a:moveTo>
                    <a:pt x="0" y="200142"/>
                  </a:moveTo>
                  <a:lnTo>
                    <a:pt x="5880" y="154251"/>
                  </a:lnTo>
                  <a:lnTo>
                    <a:pt x="22632" y="112124"/>
                  </a:lnTo>
                  <a:lnTo>
                    <a:pt x="48918" y="74963"/>
                  </a:lnTo>
                  <a:lnTo>
                    <a:pt x="83401" y="43968"/>
                  </a:lnTo>
                  <a:lnTo>
                    <a:pt x="124745" y="20342"/>
                  </a:lnTo>
                  <a:lnTo>
                    <a:pt x="171614" y="5285"/>
                  </a:lnTo>
                  <a:lnTo>
                    <a:pt x="222670" y="0"/>
                  </a:lnTo>
                  <a:lnTo>
                    <a:pt x="273726" y="5285"/>
                  </a:lnTo>
                  <a:lnTo>
                    <a:pt x="320595" y="20342"/>
                  </a:lnTo>
                  <a:lnTo>
                    <a:pt x="361939" y="43968"/>
                  </a:lnTo>
                  <a:lnTo>
                    <a:pt x="396422" y="74963"/>
                  </a:lnTo>
                  <a:lnTo>
                    <a:pt x="422708" y="112124"/>
                  </a:lnTo>
                  <a:lnTo>
                    <a:pt x="439460" y="154251"/>
                  </a:lnTo>
                  <a:lnTo>
                    <a:pt x="445341" y="200142"/>
                  </a:lnTo>
                  <a:lnTo>
                    <a:pt x="439460" y="246032"/>
                  </a:lnTo>
                  <a:lnTo>
                    <a:pt x="422708" y="288159"/>
                  </a:lnTo>
                  <a:lnTo>
                    <a:pt x="396422" y="325320"/>
                  </a:lnTo>
                  <a:lnTo>
                    <a:pt x="361939" y="356315"/>
                  </a:lnTo>
                  <a:lnTo>
                    <a:pt x="320595" y="379941"/>
                  </a:lnTo>
                  <a:lnTo>
                    <a:pt x="273726" y="394998"/>
                  </a:lnTo>
                  <a:lnTo>
                    <a:pt x="222670" y="400284"/>
                  </a:lnTo>
                  <a:lnTo>
                    <a:pt x="171614" y="394998"/>
                  </a:lnTo>
                  <a:lnTo>
                    <a:pt x="124745" y="379941"/>
                  </a:lnTo>
                  <a:lnTo>
                    <a:pt x="83401" y="356315"/>
                  </a:lnTo>
                  <a:lnTo>
                    <a:pt x="48918" y="325320"/>
                  </a:lnTo>
                  <a:lnTo>
                    <a:pt x="22632" y="288159"/>
                  </a:lnTo>
                  <a:lnTo>
                    <a:pt x="5880" y="246032"/>
                  </a:lnTo>
                  <a:lnTo>
                    <a:pt x="0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9698" y="2250248"/>
              <a:ext cx="321052" cy="321053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3883177" y="2248720"/>
              <a:ext cx="434975" cy="400685"/>
            </a:xfrm>
            <a:custGeom>
              <a:avLst/>
              <a:gdLst/>
              <a:ahLst/>
              <a:cxnLst/>
              <a:rect l="l" t="t" r="r" b="b"/>
              <a:pathLst>
                <a:path w="434975" h="400685">
                  <a:moveTo>
                    <a:pt x="217248" y="0"/>
                  </a:moveTo>
                  <a:lnTo>
                    <a:pt x="167435" y="5285"/>
                  </a:lnTo>
                  <a:lnTo>
                    <a:pt x="121708" y="20342"/>
                  </a:lnTo>
                  <a:lnTo>
                    <a:pt x="81370" y="43968"/>
                  </a:lnTo>
                  <a:lnTo>
                    <a:pt x="47727" y="74963"/>
                  </a:lnTo>
                  <a:lnTo>
                    <a:pt x="22081" y="112124"/>
                  </a:lnTo>
                  <a:lnTo>
                    <a:pt x="5737" y="154251"/>
                  </a:lnTo>
                  <a:lnTo>
                    <a:pt x="0" y="200141"/>
                  </a:lnTo>
                  <a:lnTo>
                    <a:pt x="5737" y="246032"/>
                  </a:lnTo>
                  <a:lnTo>
                    <a:pt x="22081" y="288159"/>
                  </a:lnTo>
                  <a:lnTo>
                    <a:pt x="47727" y="325320"/>
                  </a:lnTo>
                  <a:lnTo>
                    <a:pt x="81370" y="356314"/>
                  </a:lnTo>
                  <a:lnTo>
                    <a:pt x="121708" y="379941"/>
                  </a:lnTo>
                  <a:lnTo>
                    <a:pt x="167435" y="394997"/>
                  </a:lnTo>
                  <a:lnTo>
                    <a:pt x="217248" y="400283"/>
                  </a:lnTo>
                  <a:lnTo>
                    <a:pt x="267061" y="394997"/>
                  </a:lnTo>
                  <a:lnTo>
                    <a:pt x="312788" y="379941"/>
                  </a:lnTo>
                  <a:lnTo>
                    <a:pt x="353125" y="356314"/>
                  </a:lnTo>
                  <a:lnTo>
                    <a:pt x="386769" y="325320"/>
                  </a:lnTo>
                  <a:lnTo>
                    <a:pt x="412414" y="288159"/>
                  </a:lnTo>
                  <a:lnTo>
                    <a:pt x="428758" y="246032"/>
                  </a:lnTo>
                  <a:lnTo>
                    <a:pt x="434496" y="200141"/>
                  </a:lnTo>
                  <a:lnTo>
                    <a:pt x="217248" y="200141"/>
                  </a:lnTo>
                  <a:lnTo>
                    <a:pt x="350612" y="42150"/>
                  </a:lnTo>
                  <a:lnTo>
                    <a:pt x="320480" y="24038"/>
                  </a:lnTo>
                  <a:lnTo>
                    <a:pt x="287745" y="10830"/>
                  </a:lnTo>
                  <a:lnTo>
                    <a:pt x="253103" y="2744"/>
                  </a:lnTo>
                  <a:lnTo>
                    <a:pt x="217248" y="0"/>
                  </a:lnTo>
                  <a:close/>
                </a:path>
              </a:pathLst>
            </a:custGeom>
            <a:solidFill>
              <a:srgbClr val="F3E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883177" y="2248720"/>
              <a:ext cx="434975" cy="400685"/>
            </a:xfrm>
            <a:custGeom>
              <a:avLst/>
              <a:gdLst/>
              <a:ahLst/>
              <a:cxnLst/>
              <a:rect l="l" t="t" r="r" b="b"/>
              <a:pathLst>
                <a:path w="434975" h="400685">
                  <a:moveTo>
                    <a:pt x="434496" y="200142"/>
                  </a:moveTo>
                  <a:lnTo>
                    <a:pt x="428758" y="246032"/>
                  </a:lnTo>
                  <a:lnTo>
                    <a:pt x="412414" y="288159"/>
                  </a:lnTo>
                  <a:lnTo>
                    <a:pt x="386769" y="325320"/>
                  </a:lnTo>
                  <a:lnTo>
                    <a:pt x="353125" y="356315"/>
                  </a:lnTo>
                  <a:lnTo>
                    <a:pt x="312788" y="379941"/>
                  </a:lnTo>
                  <a:lnTo>
                    <a:pt x="267060" y="394998"/>
                  </a:lnTo>
                  <a:lnTo>
                    <a:pt x="217248" y="400284"/>
                  </a:lnTo>
                  <a:lnTo>
                    <a:pt x="167435" y="394998"/>
                  </a:lnTo>
                  <a:lnTo>
                    <a:pt x="121707" y="379941"/>
                  </a:lnTo>
                  <a:lnTo>
                    <a:pt x="81370" y="356315"/>
                  </a:lnTo>
                  <a:lnTo>
                    <a:pt x="47726" y="325320"/>
                  </a:lnTo>
                  <a:lnTo>
                    <a:pt x="22081" y="288159"/>
                  </a:lnTo>
                  <a:lnTo>
                    <a:pt x="5737" y="246032"/>
                  </a:lnTo>
                  <a:lnTo>
                    <a:pt x="0" y="200142"/>
                  </a:lnTo>
                  <a:lnTo>
                    <a:pt x="5737" y="154251"/>
                  </a:lnTo>
                  <a:lnTo>
                    <a:pt x="22081" y="112124"/>
                  </a:lnTo>
                  <a:lnTo>
                    <a:pt x="47726" y="74963"/>
                  </a:lnTo>
                  <a:lnTo>
                    <a:pt x="81370" y="43968"/>
                  </a:lnTo>
                  <a:lnTo>
                    <a:pt x="121707" y="20342"/>
                  </a:lnTo>
                  <a:lnTo>
                    <a:pt x="167435" y="5285"/>
                  </a:lnTo>
                  <a:lnTo>
                    <a:pt x="217248" y="0"/>
                  </a:lnTo>
                  <a:lnTo>
                    <a:pt x="253102" y="2744"/>
                  </a:lnTo>
                  <a:lnTo>
                    <a:pt x="287745" y="10830"/>
                  </a:lnTo>
                  <a:lnTo>
                    <a:pt x="320480" y="24039"/>
                  </a:lnTo>
                  <a:lnTo>
                    <a:pt x="350612" y="42150"/>
                  </a:lnTo>
                  <a:lnTo>
                    <a:pt x="217248" y="200142"/>
                  </a:lnTo>
                  <a:lnTo>
                    <a:pt x="434496" y="20014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5638" y="2311505"/>
              <a:ext cx="321052" cy="321053"/>
            </a:xfrm>
            <a:prstGeom prst="rect">
              <a:avLst/>
            </a:prstGeom>
          </p:spPr>
        </p:pic>
      </p:grpSp>
      <p:sp>
        <p:nvSpPr>
          <p:cNvPr id="91" name="object 91" descr=""/>
          <p:cNvSpPr txBox="1"/>
          <p:nvPr/>
        </p:nvSpPr>
        <p:spPr>
          <a:xfrm>
            <a:off x="3496368" y="3503171"/>
            <a:ext cx="857250" cy="288290"/>
          </a:xfrm>
          <a:prstGeom prst="rect">
            <a:avLst/>
          </a:prstGeom>
          <a:solidFill>
            <a:srgbClr val="A9D18E"/>
          </a:solidFill>
        </p:spPr>
        <p:txBody>
          <a:bodyPr wrap="square" lIns="0" tIns="57785" rIns="0" bIns="0" rtlCol="0" vert="horz">
            <a:spAutoFit/>
          </a:bodyPr>
          <a:lstStyle/>
          <a:p>
            <a:pPr marL="161290">
              <a:lnSpc>
                <a:spcPct val="100000"/>
              </a:lnSpc>
              <a:spcBef>
                <a:spcPts val="455"/>
              </a:spcBef>
            </a:pPr>
            <a:r>
              <a:rPr dirty="0" sz="1150" spc="80">
                <a:latin typeface="Arial MT"/>
                <a:cs typeface="Arial MT"/>
              </a:rPr>
              <a:t>Green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-6096" y="-6096"/>
            <a:ext cx="12204700" cy="248285"/>
            <a:chOff x="-6096" y="-6096"/>
            <a:chExt cx="12204700" cy="248285"/>
          </a:xfrm>
        </p:grpSpPr>
        <p:sp>
          <p:nvSpPr>
            <p:cNvPr id="93" name="object 93" descr=""/>
            <p:cNvSpPr/>
            <p:nvPr/>
          </p:nvSpPr>
          <p:spPr>
            <a:xfrm>
              <a:off x="11517973" y="37959"/>
              <a:ext cx="46355" cy="65405"/>
            </a:xfrm>
            <a:custGeom>
              <a:avLst/>
              <a:gdLst/>
              <a:ahLst/>
              <a:cxnLst/>
              <a:rect l="l" t="t" r="r" b="b"/>
              <a:pathLst>
                <a:path w="46354" h="65405">
                  <a:moveTo>
                    <a:pt x="46355" y="47625"/>
                  </a:moveTo>
                  <a:lnTo>
                    <a:pt x="46316" y="44958"/>
                  </a:lnTo>
                  <a:lnTo>
                    <a:pt x="46139" y="44323"/>
                  </a:lnTo>
                  <a:lnTo>
                    <a:pt x="45504" y="43180"/>
                  </a:lnTo>
                  <a:lnTo>
                    <a:pt x="44996" y="42926"/>
                  </a:lnTo>
                  <a:lnTo>
                    <a:pt x="37236" y="42926"/>
                  </a:lnTo>
                  <a:lnTo>
                    <a:pt x="37236" y="7493"/>
                  </a:lnTo>
                  <a:lnTo>
                    <a:pt x="37122" y="1270"/>
                  </a:lnTo>
                  <a:lnTo>
                    <a:pt x="36741" y="889"/>
                  </a:lnTo>
                  <a:lnTo>
                    <a:pt x="36106" y="508"/>
                  </a:lnTo>
                  <a:lnTo>
                    <a:pt x="34455" y="127"/>
                  </a:lnTo>
                  <a:lnTo>
                    <a:pt x="33566" y="127"/>
                  </a:lnTo>
                  <a:lnTo>
                    <a:pt x="32804" y="0"/>
                  </a:lnTo>
                  <a:lnTo>
                    <a:pt x="28600" y="0"/>
                  </a:lnTo>
                  <a:lnTo>
                    <a:pt x="28600" y="7493"/>
                  </a:lnTo>
                  <a:lnTo>
                    <a:pt x="28600" y="42926"/>
                  </a:lnTo>
                  <a:lnTo>
                    <a:pt x="7772" y="42926"/>
                  </a:lnTo>
                  <a:lnTo>
                    <a:pt x="28473" y="7493"/>
                  </a:lnTo>
                  <a:lnTo>
                    <a:pt x="28600" y="7493"/>
                  </a:lnTo>
                  <a:lnTo>
                    <a:pt x="28600" y="0"/>
                  </a:lnTo>
                  <a:lnTo>
                    <a:pt x="28092" y="0"/>
                  </a:lnTo>
                  <a:lnTo>
                    <a:pt x="27330" y="127"/>
                  </a:lnTo>
                  <a:lnTo>
                    <a:pt x="26695" y="127"/>
                  </a:lnTo>
                  <a:lnTo>
                    <a:pt x="914" y="41148"/>
                  </a:lnTo>
                  <a:lnTo>
                    <a:pt x="787" y="41529"/>
                  </a:lnTo>
                  <a:lnTo>
                    <a:pt x="533" y="41910"/>
                  </a:lnTo>
                  <a:lnTo>
                    <a:pt x="127" y="43180"/>
                  </a:lnTo>
                  <a:lnTo>
                    <a:pt x="0" y="47498"/>
                  </a:lnTo>
                  <a:lnTo>
                    <a:pt x="88" y="48387"/>
                  </a:lnTo>
                  <a:lnTo>
                    <a:pt x="279" y="49022"/>
                  </a:lnTo>
                  <a:lnTo>
                    <a:pt x="533" y="49276"/>
                  </a:lnTo>
                  <a:lnTo>
                    <a:pt x="660" y="49530"/>
                  </a:lnTo>
                  <a:lnTo>
                    <a:pt x="1422" y="49911"/>
                  </a:lnTo>
                  <a:lnTo>
                    <a:pt x="28600" y="49911"/>
                  </a:lnTo>
                  <a:lnTo>
                    <a:pt x="28600" y="63754"/>
                  </a:lnTo>
                  <a:lnTo>
                    <a:pt x="28727" y="64008"/>
                  </a:lnTo>
                  <a:lnTo>
                    <a:pt x="28854" y="64389"/>
                  </a:lnTo>
                  <a:lnTo>
                    <a:pt x="29108" y="64516"/>
                  </a:lnTo>
                  <a:lnTo>
                    <a:pt x="29489" y="64643"/>
                  </a:lnTo>
                  <a:lnTo>
                    <a:pt x="29743" y="64770"/>
                  </a:lnTo>
                  <a:lnTo>
                    <a:pt x="30759" y="65024"/>
                  </a:lnTo>
                  <a:lnTo>
                    <a:pt x="34963" y="65024"/>
                  </a:lnTo>
                  <a:lnTo>
                    <a:pt x="35979" y="64770"/>
                  </a:lnTo>
                  <a:lnTo>
                    <a:pt x="36233" y="64643"/>
                  </a:lnTo>
                  <a:lnTo>
                    <a:pt x="36614" y="64516"/>
                  </a:lnTo>
                  <a:lnTo>
                    <a:pt x="36868" y="64389"/>
                  </a:lnTo>
                  <a:lnTo>
                    <a:pt x="37122" y="64008"/>
                  </a:lnTo>
                  <a:lnTo>
                    <a:pt x="37249" y="49911"/>
                  </a:lnTo>
                  <a:lnTo>
                    <a:pt x="45123" y="49911"/>
                  </a:lnTo>
                  <a:lnTo>
                    <a:pt x="45504" y="49657"/>
                  </a:lnTo>
                  <a:lnTo>
                    <a:pt x="45885" y="49022"/>
                  </a:lnTo>
                  <a:lnTo>
                    <a:pt x="46355" y="47625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2563368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563368" y="231648"/>
                  </a:lnTo>
                  <a:lnTo>
                    <a:pt x="2679192" y="115824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0" y="0"/>
                  </a:moveTo>
                  <a:lnTo>
                    <a:pt x="2563368" y="0"/>
                  </a:lnTo>
                  <a:lnTo>
                    <a:pt x="2679192" y="115824"/>
                  </a:lnTo>
                  <a:lnTo>
                    <a:pt x="2563368" y="231648"/>
                  </a:lnTo>
                  <a:lnTo>
                    <a:pt x="0" y="231648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2685288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5288" y="231648"/>
                  </a:lnTo>
                  <a:lnTo>
                    <a:pt x="2801112" y="115824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0" y="0"/>
                  </a:moveTo>
                  <a:lnTo>
                    <a:pt x="2685288" y="0"/>
                  </a:lnTo>
                  <a:lnTo>
                    <a:pt x="2801112" y="115824"/>
                  </a:lnTo>
                  <a:lnTo>
                    <a:pt x="2685288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2683764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3764" y="231648"/>
                  </a:lnTo>
                  <a:lnTo>
                    <a:pt x="2799588" y="11582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0" y="0"/>
                  </a:moveTo>
                  <a:lnTo>
                    <a:pt x="2683764" y="0"/>
                  </a:lnTo>
                  <a:lnTo>
                    <a:pt x="2799588" y="115824"/>
                  </a:lnTo>
                  <a:lnTo>
                    <a:pt x="2683764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8332" y="0"/>
                  </a:lnTo>
                  <a:lnTo>
                    <a:pt x="121920" y="113587"/>
                  </a:lnTo>
                  <a:lnTo>
                    <a:pt x="0" y="235507"/>
                  </a:lnTo>
                  <a:lnTo>
                    <a:pt x="2677668" y="235507"/>
                  </a:lnTo>
                  <a:lnTo>
                    <a:pt x="2799588" y="113587"/>
                  </a:lnTo>
                  <a:lnTo>
                    <a:pt x="2686000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2799588" y="113587"/>
                  </a:lnTo>
                  <a:lnTo>
                    <a:pt x="2677668" y="235507"/>
                  </a:lnTo>
                  <a:lnTo>
                    <a:pt x="0" y="235507"/>
                  </a:lnTo>
                  <a:lnTo>
                    <a:pt x="121920" y="113587"/>
                  </a:lnTo>
                  <a:lnTo>
                    <a:pt x="8332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5" y="0"/>
                  </a:moveTo>
                  <a:lnTo>
                    <a:pt x="6808" y="0"/>
                  </a:lnTo>
                  <a:lnTo>
                    <a:pt x="121156" y="114349"/>
                  </a:lnTo>
                  <a:lnTo>
                    <a:pt x="0" y="235507"/>
                  </a:lnTo>
                  <a:lnTo>
                    <a:pt x="2584704" y="235507"/>
                  </a:lnTo>
                  <a:lnTo>
                    <a:pt x="2584705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4" y="235507"/>
                  </a:moveTo>
                  <a:lnTo>
                    <a:pt x="0" y="235507"/>
                  </a:lnTo>
                  <a:lnTo>
                    <a:pt x="121157" y="114348"/>
                  </a:lnTo>
                  <a:lnTo>
                    <a:pt x="6808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72915" y="9652"/>
            <a:ext cx="12084685" cy="1772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4560" algn="l"/>
                <a:tab pos="7395209" algn="l"/>
                <a:tab pos="9692640" algn="l"/>
              </a:tabLst>
            </a:pPr>
            <a:r>
              <a:rPr dirty="0" sz="1000" spc="20">
                <a:latin typeface="Arial MT"/>
                <a:cs typeface="Arial MT"/>
              </a:rPr>
              <a:t>EV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Charging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Industry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Revamped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Model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5">
                <a:solidFill>
                  <a:srgbClr val="FFFFFF"/>
                </a:solidFill>
                <a:latin typeface="Arial MT"/>
                <a:cs typeface="Arial MT"/>
              </a:rPr>
              <a:t>Implementation</a:t>
            </a:r>
            <a:r>
              <a:rPr dirty="0" sz="10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FFFFFF"/>
                </a:solidFill>
                <a:latin typeface="Arial MT"/>
                <a:cs typeface="Arial MT"/>
              </a:rPr>
              <a:t>Roadmap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Infrastructure </a:t>
            </a:r>
            <a:r>
              <a:rPr dirty="0" sz="1000" spc="-10">
                <a:latin typeface="Arial MT"/>
                <a:cs typeface="Arial MT"/>
              </a:rPr>
              <a:t>Analysis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20">
                <a:latin typeface="Arial MT"/>
                <a:cs typeface="Arial MT"/>
              </a:rPr>
              <a:t>Feasibility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&amp;</a:t>
            </a:r>
            <a:r>
              <a:rPr dirty="0" sz="1000" spc="16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Policy</a:t>
            </a:r>
            <a:r>
              <a:rPr dirty="0" sz="1000" spc="14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Recommendations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Arial MT"/>
              <a:cs typeface="Arial MT"/>
            </a:endParaRPr>
          </a:p>
          <a:p>
            <a:pPr marL="403225" marR="664210">
              <a:lnSpc>
                <a:spcPct val="101899"/>
              </a:lnSpc>
            </a:pPr>
            <a:r>
              <a:rPr dirty="0" sz="1550" spc="140">
                <a:latin typeface="Arial MT"/>
                <a:cs typeface="Arial MT"/>
              </a:rPr>
              <a:t>Company’s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00">
                <a:latin typeface="Arial MT"/>
                <a:cs typeface="Arial MT"/>
              </a:rPr>
              <a:t>business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70">
                <a:latin typeface="Arial MT"/>
                <a:cs typeface="Arial MT"/>
              </a:rPr>
              <a:t>model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55">
                <a:latin typeface="Arial MT"/>
                <a:cs typeface="Arial MT"/>
              </a:rPr>
              <a:t>is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60">
                <a:latin typeface="Arial MT"/>
                <a:cs typeface="Arial MT"/>
              </a:rPr>
              <a:t>expected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200">
                <a:latin typeface="Arial MT"/>
                <a:cs typeface="Arial MT"/>
              </a:rPr>
              <a:t>to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40">
                <a:latin typeface="Arial MT"/>
                <a:cs typeface="Arial MT"/>
              </a:rPr>
              <a:t>evolve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05">
                <a:latin typeface="Arial MT"/>
                <a:cs typeface="Arial MT"/>
              </a:rPr>
              <a:t>in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45">
                <a:latin typeface="Arial MT"/>
                <a:cs typeface="Arial MT"/>
              </a:rPr>
              <a:t>three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05">
                <a:latin typeface="Arial MT"/>
                <a:cs typeface="Arial MT"/>
              </a:rPr>
              <a:t>phases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200">
                <a:latin typeface="Arial MT"/>
                <a:cs typeface="Arial MT"/>
              </a:rPr>
              <a:t>to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55">
                <a:latin typeface="Arial MT"/>
                <a:cs typeface="Arial MT"/>
              </a:rPr>
              <a:t>develop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 spc="155">
                <a:latin typeface="Arial MT"/>
                <a:cs typeface="Arial MT"/>
              </a:rPr>
              <a:t>capacity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05">
                <a:latin typeface="Arial MT"/>
                <a:cs typeface="Arial MT"/>
              </a:rPr>
              <a:t>in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 spc="165">
                <a:latin typeface="Arial MT"/>
                <a:cs typeface="Arial MT"/>
              </a:rPr>
              <a:t>time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200">
                <a:latin typeface="Arial MT"/>
                <a:cs typeface="Arial MT"/>
              </a:rPr>
              <a:t>to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70">
                <a:latin typeface="Arial MT"/>
                <a:cs typeface="Arial MT"/>
              </a:rPr>
              <a:t>meet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30">
                <a:latin typeface="Arial MT"/>
                <a:cs typeface="Arial MT"/>
              </a:rPr>
              <a:t>the </a:t>
            </a:r>
            <a:r>
              <a:rPr dirty="0" sz="1550" spc="170">
                <a:latin typeface="Arial MT"/>
                <a:cs typeface="Arial MT"/>
              </a:rPr>
              <a:t>demand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75">
                <a:latin typeface="Arial MT"/>
                <a:cs typeface="Arial MT"/>
              </a:rPr>
              <a:t>of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55">
                <a:latin typeface="Arial MT"/>
                <a:cs typeface="Arial MT"/>
              </a:rPr>
              <a:t>the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25">
                <a:latin typeface="Arial MT"/>
                <a:cs typeface="Arial MT"/>
              </a:rPr>
              <a:t>Indian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40">
                <a:latin typeface="Arial MT"/>
                <a:cs typeface="Arial MT"/>
              </a:rPr>
              <a:t>Government’s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35">
                <a:latin typeface="Arial MT"/>
                <a:cs typeface="Arial MT"/>
              </a:rPr>
              <a:t>resolution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 spc="175">
                <a:latin typeface="Arial MT"/>
                <a:cs typeface="Arial MT"/>
              </a:rPr>
              <a:t>of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20">
                <a:latin typeface="Arial MT"/>
                <a:cs typeface="Arial MT"/>
              </a:rPr>
              <a:t>increasing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155">
                <a:latin typeface="Arial MT"/>
                <a:cs typeface="Arial MT"/>
              </a:rPr>
              <a:t>the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00">
                <a:latin typeface="Arial MT"/>
                <a:cs typeface="Arial MT"/>
              </a:rPr>
              <a:t>share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75">
                <a:latin typeface="Arial MT"/>
                <a:cs typeface="Arial MT"/>
              </a:rPr>
              <a:t>of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90">
                <a:latin typeface="Arial MT"/>
                <a:cs typeface="Arial MT"/>
              </a:rPr>
              <a:t>EVs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200">
                <a:latin typeface="Arial MT"/>
                <a:cs typeface="Arial MT"/>
              </a:rPr>
              <a:t>to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35">
                <a:latin typeface="Arial MT"/>
                <a:cs typeface="Arial MT"/>
              </a:rPr>
              <a:t>30%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195">
                <a:latin typeface="Arial MT"/>
                <a:cs typeface="Arial MT"/>
              </a:rPr>
              <a:t>by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190">
                <a:latin typeface="Arial MT"/>
                <a:cs typeface="Arial MT"/>
              </a:rPr>
              <a:t>2030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550">
              <a:latin typeface="Arial MT"/>
              <a:cs typeface="Arial MT"/>
            </a:endParaRPr>
          </a:p>
          <a:p>
            <a:pPr algn="ctr" marL="950594">
              <a:lnSpc>
                <a:spcPct val="100000"/>
              </a:lnSpc>
              <a:tabLst>
                <a:tab pos="4127500" algn="l"/>
                <a:tab pos="7321550" algn="l"/>
              </a:tabLst>
            </a:pPr>
            <a:r>
              <a:rPr dirty="0" sz="1250" i="1">
                <a:solidFill>
                  <a:srgbClr val="7030A0"/>
                </a:solidFill>
                <a:latin typeface="Arial"/>
                <a:cs typeface="Arial"/>
              </a:rPr>
              <a:t>PHASE</a:t>
            </a:r>
            <a:r>
              <a:rPr dirty="0" sz="1250" spc="-40" i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250" spc="-325" i="1">
                <a:solidFill>
                  <a:srgbClr val="7030A0"/>
                </a:solidFill>
                <a:latin typeface="Arial"/>
                <a:cs typeface="Arial"/>
              </a:rPr>
              <a:t>1</a:t>
            </a:r>
            <a:r>
              <a:rPr dirty="0" sz="1250" i="1">
                <a:solidFill>
                  <a:srgbClr val="7030A0"/>
                </a:solidFill>
                <a:latin typeface="Arial"/>
                <a:cs typeface="Arial"/>
              </a:rPr>
              <a:t>	PHASE</a:t>
            </a:r>
            <a:r>
              <a:rPr dirty="0" sz="1250" spc="-40" i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250" spc="-50" i="1">
                <a:solidFill>
                  <a:srgbClr val="7030A0"/>
                </a:solidFill>
                <a:latin typeface="Arial"/>
                <a:cs typeface="Arial"/>
              </a:rPr>
              <a:t>2</a:t>
            </a:r>
            <a:r>
              <a:rPr dirty="0" sz="1250" i="1">
                <a:solidFill>
                  <a:srgbClr val="7030A0"/>
                </a:solidFill>
                <a:latin typeface="Arial"/>
                <a:cs typeface="Arial"/>
              </a:rPr>
              <a:t>	PHASE</a:t>
            </a:r>
            <a:r>
              <a:rPr dirty="0" sz="1250" spc="-40" i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250" spc="-50" i="1">
                <a:solidFill>
                  <a:srgbClr val="7030A0"/>
                </a:solidFill>
                <a:latin typeface="Arial"/>
                <a:cs typeface="Arial"/>
              </a:rPr>
              <a:t>3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Arial"/>
              <a:cs typeface="Arial"/>
            </a:endParaRPr>
          </a:p>
          <a:p>
            <a:pPr algn="ctr" marL="960119">
              <a:lnSpc>
                <a:spcPct val="100000"/>
              </a:lnSpc>
              <a:tabLst>
                <a:tab pos="2023110" algn="l"/>
                <a:tab pos="3086100" algn="l"/>
                <a:tab pos="4149090" algn="l"/>
                <a:tab pos="5212080" algn="l"/>
                <a:tab pos="6275070" algn="l"/>
                <a:tab pos="7338059" algn="l"/>
                <a:tab pos="8401050" algn="l"/>
                <a:tab pos="9464040" algn="l"/>
              </a:tabLst>
            </a:pP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2022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2023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2024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2026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2027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2028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2029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2030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1740353" y="3503171"/>
            <a:ext cx="1756410" cy="288290"/>
          </a:xfrm>
          <a:prstGeom prst="rect">
            <a:avLst/>
          </a:prstGeom>
          <a:solidFill>
            <a:srgbClr val="8497B0"/>
          </a:solidFill>
        </p:spPr>
        <p:txBody>
          <a:bodyPr wrap="square" lIns="0" tIns="51435" rIns="0" bIns="0" rtlCol="0" vert="horz">
            <a:spAutoFit/>
          </a:bodyPr>
          <a:lstStyle/>
          <a:p>
            <a:pPr marL="504825">
              <a:lnSpc>
                <a:spcPct val="100000"/>
              </a:lnSpc>
              <a:spcBef>
                <a:spcPts val="405"/>
              </a:spcBef>
            </a:pPr>
            <a:r>
              <a:rPr dirty="0" sz="1150" spc="100">
                <a:latin typeface="Arial MT"/>
                <a:cs typeface="Arial MT"/>
              </a:rPr>
              <a:t>Innovators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4353317" y="3503171"/>
            <a:ext cx="473075" cy="28829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5461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430"/>
              </a:spcBef>
            </a:pPr>
            <a:r>
              <a:rPr dirty="0" sz="1150" spc="95">
                <a:latin typeface="Arial MT"/>
                <a:cs typeface="Arial MT"/>
              </a:rPr>
              <a:t>Cost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6357621" y="3518123"/>
            <a:ext cx="1240790" cy="288290"/>
          </a:xfrm>
          <a:prstGeom prst="rect">
            <a:avLst/>
          </a:prstGeom>
          <a:solidFill>
            <a:srgbClr val="A9D18E"/>
          </a:solidFill>
        </p:spPr>
        <p:txBody>
          <a:bodyPr wrap="square" lIns="0" tIns="45720" rIns="0" bIns="0" rtlCol="0" vert="horz">
            <a:spAutoFit/>
          </a:bodyPr>
          <a:lstStyle/>
          <a:p>
            <a:pPr marL="352425">
              <a:lnSpc>
                <a:spcPct val="100000"/>
              </a:lnSpc>
              <a:spcBef>
                <a:spcPts val="360"/>
              </a:spcBef>
            </a:pPr>
            <a:r>
              <a:rPr dirty="0" sz="1150" spc="80">
                <a:latin typeface="Arial MT"/>
                <a:cs typeface="Arial MT"/>
              </a:rPr>
              <a:t>Green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5125789" y="3518123"/>
            <a:ext cx="1231900" cy="288290"/>
          </a:xfrm>
          <a:prstGeom prst="rect">
            <a:avLst/>
          </a:prstGeom>
          <a:solidFill>
            <a:srgbClr val="8497B0"/>
          </a:solidFill>
        </p:spPr>
        <p:txBody>
          <a:bodyPr wrap="square" lIns="0" tIns="45720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360"/>
              </a:spcBef>
            </a:pPr>
            <a:r>
              <a:rPr dirty="0" sz="1150" spc="100">
                <a:latin typeface="Arial MT"/>
                <a:cs typeface="Arial MT"/>
              </a:rPr>
              <a:t>Innovators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7598177" y="3518123"/>
            <a:ext cx="467995" cy="28829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52069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409"/>
              </a:spcBef>
            </a:pPr>
            <a:r>
              <a:rPr dirty="0" sz="1150" spc="95">
                <a:latin typeface="Arial MT"/>
                <a:cs typeface="Arial MT"/>
              </a:rPr>
              <a:t>Cost</a:t>
            </a:r>
            <a:endParaRPr sz="1150">
              <a:latin typeface="Arial MT"/>
              <a:cs typeface="Arial MT"/>
            </a:endParaRPr>
          </a:p>
        </p:txBody>
      </p:sp>
      <p:graphicFrame>
        <p:nvGraphicFramePr>
          <p:cNvPr id="110" name="object 110" descr=""/>
          <p:cNvGraphicFramePr>
            <a:graphicFrameLocks noGrp="1"/>
          </p:cNvGraphicFramePr>
          <p:nvPr/>
        </p:nvGraphicFramePr>
        <p:xfrm>
          <a:off x="8385972" y="3513973"/>
          <a:ext cx="2941320" cy="28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420"/>
                <a:gridCol w="876300"/>
                <a:gridCol w="53975"/>
                <a:gridCol w="861059"/>
              </a:tblGrid>
              <a:tr h="287655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50" spc="100">
                          <a:latin typeface="Arial MT"/>
                          <a:cs typeface="Arial MT"/>
                        </a:rPr>
                        <a:t>Innovators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150" spc="80">
                          <a:latin typeface="Arial MT"/>
                          <a:cs typeface="Arial MT"/>
                        </a:rPr>
                        <a:t>Green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50165"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150" spc="95">
                          <a:latin typeface="Arial MT"/>
                          <a:cs typeface="Arial MT"/>
                        </a:rPr>
                        <a:t>Cost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111" name="object 111" descr=""/>
          <p:cNvSpPr txBox="1"/>
          <p:nvPr/>
        </p:nvSpPr>
        <p:spPr>
          <a:xfrm>
            <a:off x="151655" y="6601459"/>
            <a:ext cx="119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2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7175" y="5014037"/>
            <a:ext cx="11558905" cy="1661160"/>
          </a:xfrm>
          <a:custGeom>
            <a:avLst/>
            <a:gdLst/>
            <a:ahLst/>
            <a:cxnLst/>
            <a:rect l="l" t="t" r="r" b="b"/>
            <a:pathLst>
              <a:path w="11558905" h="1661159">
                <a:moveTo>
                  <a:pt x="0" y="276767"/>
                </a:moveTo>
                <a:lnTo>
                  <a:pt x="4459" y="227018"/>
                </a:lnTo>
                <a:lnTo>
                  <a:pt x="17315" y="180194"/>
                </a:lnTo>
                <a:lnTo>
                  <a:pt x="37786" y="137077"/>
                </a:lnTo>
                <a:lnTo>
                  <a:pt x="65092" y="98449"/>
                </a:lnTo>
                <a:lnTo>
                  <a:pt x="98449" y="65092"/>
                </a:lnTo>
                <a:lnTo>
                  <a:pt x="137077" y="37786"/>
                </a:lnTo>
                <a:lnTo>
                  <a:pt x="180193" y="17315"/>
                </a:lnTo>
                <a:lnTo>
                  <a:pt x="227017" y="4459"/>
                </a:lnTo>
                <a:lnTo>
                  <a:pt x="276766" y="0"/>
                </a:lnTo>
                <a:lnTo>
                  <a:pt x="11281820" y="0"/>
                </a:lnTo>
                <a:lnTo>
                  <a:pt x="11331569" y="4459"/>
                </a:lnTo>
                <a:lnTo>
                  <a:pt x="11378393" y="17315"/>
                </a:lnTo>
                <a:lnTo>
                  <a:pt x="11421509" y="37786"/>
                </a:lnTo>
                <a:lnTo>
                  <a:pt x="11460137" y="65092"/>
                </a:lnTo>
                <a:lnTo>
                  <a:pt x="11493494" y="98449"/>
                </a:lnTo>
                <a:lnTo>
                  <a:pt x="11520800" y="137077"/>
                </a:lnTo>
                <a:lnTo>
                  <a:pt x="11541271" y="180194"/>
                </a:lnTo>
                <a:lnTo>
                  <a:pt x="11554128" y="227018"/>
                </a:lnTo>
                <a:lnTo>
                  <a:pt x="11558587" y="276767"/>
                </a:lnTo>
                <a:lnTo>
                  <a:pt x="11558587" y="1383824"/>
                </a:lnTo>
                <a:lnTo>
                  <a:pt x="11554128" y="1433573"/>
                </a:lnTo>
                <a:lnTo>
                  <a:pt x="11541271" y="1480396"/>
                </a:lnTo>
                <a:lnTo>
                  <a:pt x="11520800" y="1523513"/>
                </a:lnTo>
                <a:lnTo>
                  <a:pt x="11493494" y="1562141"/>
                </a:lnTo>
                <a:lnTo>
                  <a:pt x="11460137" y="1595498"/>
                </a:lnTo>
                <a:lnTo>
                  <a:pt x="11421509" y="1622804"/>
                </a:lnTo>
                <a:lnTo>
                  <a:pt x="11378393" y="1643275"/>
                </a:lnTo>
                <a:lnTo>
                  <a:pt x="11331569" y="1656131"/>
                </a:lnTo>
                <a:lnTo>
                  <a:pt x="11281820" y="1660591"/>
                </a:lnTo>
                <a:lnTo>
                  <a:pt x="276766" y="1660591"/>
                </a:lnTo>
                <a:lnTo>
                  <a:pt x="227017" y="1656131"/>
                </a:lnTo>
                <a:lnTo>
                  <a:pt x="180193" y="1643275"/>
                </a:lnTo>
                <a:lnTo>
                  <a:pt x="137077" y="1622804"/>
                </a:lnTo>
                <a:lnTo>
                  <a:pt x="98449" y="1595498"/>
                </a:lnTo>
                <a:lnTo>
                  <a:pt x="65092" y="1562141"/>
                </a:lnTo>
                <a:lnTo>
                  <a:pt x="37786" y="1523513"/>
                </a:lnTo>
                <a:lnTo>
                  <a:pt x="17315" y="1480396"/>
                </a:lnTo>
                <a:lnTo>
                  <a:pt x="4459" y="1433573"/>
                </a:lnTo>
                <a:lnTo>
                  <a:pt x="0" y="1383824"/>
                </a:lnTo>
                <a:lnTo>
                  <a:pt x="0" y="276767"/>
                </a:lnTo>
                <a:close/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633" y="3831928"/>
            <a:ext cx="870917" cy="3669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85064" y="3794907"/>
            <a:ext cx="429021" cy="4323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8453" y="3843802"/>
            <a:ext cx="1384985" cy="4158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0837" y="1517454"/>
            <a:ext cx="536477" cy="44898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22353" y="2686752"/>
            <a:ext cx="253960" cy="57862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2643" y="3630499"/>
            <a:ext cx="621912" cy="65829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8107" y="1320459"/>
            <a:ext cx="667643" cy="65395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345823" y="3523562"/>
            <a:ext cx="11667490" cy="991235"/>
            <a:chOff x="345823" y="3523562"/>
            <a:chExt cx="11667490" cy="991235"/>
          </a:xfrm>
        </p:grpSpPr>
        <p:sp>
          <p:nvSpPr>
            <p:cNvPr id="11" name="object 11" descr=""/>
            <p:cNvSpPr/>
            <p:nvPr/>
          </p:nvSpPr>
          <p:spPr>
            <a:xfrm>
              <a:off x="352173" y="3529912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11491655" y="0"/>
                  </a:moveTo>
                  <a:lnTo>
                    <a:pt x="163082" y="0"/>
                  </a:lnTo>
                  <a:lnTo>
                    <a:pt x="119728" y="5825"/>
                  </a:lnTo>
                  <a:lnTo>
                    <a:pt x="80771" y="22265"/>
                  </a:lnTo>
                  <a:lnTo>
                    <a:pt x="47765" y="47765"/>
                  </a:lnTo>
                  <a:lnTo>
                    <a:pt x="22265" y="80772"/>
                  </a:lnTo>
                  <a:lnTo>
                    <a:pt x="5825" y="119729"/>
                  </a:lnTo>
                  <a:lnTo>
                    <a:pt x="0" y="163083"/>
                  </a:lnTo>
                  <a:lnTo>
                    <a:pt x="0" y="815393"/>
                  </a:lnTo>
                  <a:lnTo>
                    <a:pt x="5825" y="858747"/>
                  </a:lnTo>
                  <a:lnTo>
                    <a:pt x="22265" y="897704"/>
                  </a:lnTo>
                  <a:lnTo>
                    <a:pt x="47765" y="930710"/>
                  </a:lnTo>
                  <a:lnTo>
                    <a:pt x="80771" y="956210"/>
                  </a:lnTo>
                  <a:lnTo>
                    <a:pt x="119728" y="972651"/>
                  </a:lnTo>
                  <a:lnTo>
                    <a:pt x="163082" y="978476"/>
                  </a:lnTo>
                  <a:lnTo>
                    <a:pt x="11491655" y="978476"/>
                  </a:lnTo>
                  <a:lnTo>
                    <a:pt x="11535009" y="972651"/>
                  </a:lnTo>
                  <a:lnTo>
                    <a:pt x="11573966" y="956210"/>
                  </a:lnTo>
                  <a:lnTo>
                    <a:pt x="11606972" y="930710"/>
                  </a:lnTo>
                  <a:lnTo>
                    <a:pt x="11632473" y="897704"/>
                  </a:lnTo>
                  <a:lnTo>
                    <a:pt x="11648913" y="858747"/>
                  </a:lnTo>
                  <a:lnTo>
                    <a:pt x="11654738" y="815393"/>
                  </a:lnTo>
                  <a:lnTo>
                    <a:pt x="11654738" y="163083"/>
                  </a:lnTo>
                  <a:lnTo>
                    <a:pt x="11648913" y="119729"/>
                  </a:lnTo>
                  <a:lnTo>
                    <a:pt x="11632473" y="80772"/>
                  </a:lnTo>
                  <a:lnTo>
                    <a:pt x="11606972" y="47765"/>
                  </a:lnTo>
                  <a:lnTo>
                    <a:pt x="11573966" y="22265"/>
                  </a:lnTo>
                  <a:lnTo>
                    <a:pt x="11535009" y="5825"/>
                  </a:lnTo>
                  <a:lnTo>
                    <a:pt x="11491655" y="0"/>
                  </a:lnTo>
                  <a:close/>
                </a:path>
              </a:pathLst>
            </a:custGeom>
            <a:solidFill>
              <a:srgbClr val="4472C4">
                <a:alpha val="1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2173" y="3529912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0" y="163083"/>
                  </a:moveTo>
                  <a:lnTo>
                    <a:pt x="5825" y="119729"/>
                  </a:lnTo>
                  <a:lnTo>
                    <a:pt x="22265" y="80772"/>
                  </a:lnTo>
                  <a:lnTo>
                    <a:pt x="47765" y="47766"/>
                  </a:lnTo>
                  <a:lnTo>
                    <a:pt x="80771" y="22265"/>
                  </a:lnTo>
                  <a:lnTo>
                    <a:pt x="119728" y="5825"/>
                  </a:lnTo>
                  <a:lnTo>
                    <a:pt x="163082" y="0"/>
                  </a:lnTo>
                  <a:lnTo>
                    <a:pt x="11491656" y="0"/>
                  </a:lnTo>
                  <a:lnTo>
                    <a:pt x="11535010" y="5825"/>
                  </a:lnTo>
                  <a:lnTo>
                    <a:pt x="11573967" y="22265"/>
                  </a:lnTo>
                  <a:lnTo>
                    <a:pt x="11606973" y="47766"/>
                  </a:lnTo>
                  <a:lnTo>
                    <a:pt x="11632473" y="80772"/>
                  </a:lnTo>
                  <a:lnTo>
                    <a:pt x="11648913" y="119729"/>
                  </a:lnTo>
                  <a:lnTo>
                    <a:pt x="11654739" y="163083"/>
                  </a:lnTo>
                  <a:lnTo>
                    <a:pt x="11654739" y="815393"/>
                  </a:lnTo>
                  <a:lnTo>
                    <a:pt x="11648913" y="858747"/>
                  </a:lnTo>
                  <a:lnTo>
                    <a:pt x="11632473" y="897704"/>
                  </a:lnTo>
                  <a:lnTo>
                    <a:pt x="11606973" y="930710"/>
                  </a:lnTo>
                  <a:lnTo>
                    <a:pt x="11573967" y="956211"/>
                  </a:lnTo>
                  <a:lnTo>
                    <a:pt x="11535010" y="972651"/>
                  </a:lnTo>
                  <a:lnTo>
                    <a:pt x="11491656" y="978477"/>
                  </a:lnTo>
                  <a:lnTo>
                    <a:pt x="163082" y="978477"/>
                  </a:lnTo>
                  <a:lnTo>
                    <a:pt x="119728" y="972651"/>
                  </a:lnTo>
                  <a:lnTo>
                    <a:pt x="80771" y="956211"/>
                  </a:lnTo>
                  <a:lnTo>
                    <a:pt x="47765" y="930710"/>
                  </a:lnTo>
                  <a:lnTo>
                    <a:pt x="22265" y="897704"/>
                  </a:lnTo>
                  <a:lnTo>
                    <a:pt x="5825" y="858747"/>
                  </a:lnTo>
                  <a:lnTo>
                    <a:pt x="0" y="815393"/>
                  </a:lnTo>
                  <a:lnTo>
                    <a:pt x="0" y="163083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45824" y="1261002"/>
            <a:ext cx="11667490" cy="991235"/>
            <a:chOff x="345824" y="1261002"/>
            <a:chExt cx="11667490" cy="991235"/>
          </a:xfrm>
        </p:grpSpPr>
        <p:sp>
          <p:nvSpPr>
            <p:cNvPr id="14" name="object 14" descr=""/>
            <p:cNvSpPr/>
            <p:nvPr/>
          </p:nvSpPr>
          <p:spPr>
            <a:xfrm>
              <a:off x="352174" y="1267352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11491655" y="0"/>
                  </a:moveTo>
                  <a:lnTo>
                    <a:pt x="163082" y="0"/>
                  </a:lnTo>
                  <a:lnTo>
                    <a:pt x="119728" y="5825"/>
                  </a:lnTo>
                  <a:lnTo>
                    <a:pt x="80771" y="22265"/>
                  </a:lnTo>
                  <a:lnTo>
                    <a:pt x="47765" y="47765"/>
                  </a:lnTo>
                  <a:lnTo>
                    <a:pt x="22265" y="80772"/>
                  </a:lnTo>
                  <a:lnTo>
                    <a:pt x="5825" y="119729"/>
                  </a:lnTo>
                  <a:lnTo>
                    <a:pt x="0" y="163083"/>
                  </a:lnTo>
                  <a:lnTo>
                    <a:pt x="0" y="815393"/>
                  </a:lnTo>
                  <a:lnTo>
                    <a:pt x="5825" y="858747"/>
                  </a:lnTo>
                  <a:lnTo>
                    <a:pt x="22265" y="897704"/>
                  </a:lnTo>
                  <a:lnTo>
                    <a:pt x="47765" y="930710"/>
                  </a:lnTo>
                  <a:lnTo>
                    <a:pt x="80771" y="956210"/>
                  </a:lnTo>
                  <a:lnTo>
                    <a:pt x="119728" y="972651"/>
                  </a:lnTo>
                  <a:lnTo>
                    <a:pt x="163082" y="978476"/>
                  </a:lnTo>
                  <a:lnTo>
                    <a:pt x="11491655" y="978476"/>
                  </a:lnTo>
                  <a:lnTo>
                    <a:pt x="11535009" y="972651"/>
                  </a:lnTo>
                  <a:lnTo>
                    <a:pt x="11573966" y="956210"/>
                  </a:lnTo>
                  <a:lnTo>
                    <a:pt x="11606972" y="930710"/>
                  </a:lnTo>
                  <a:lnTo>
                    <a:pt x="11632472" y="897704"/>
                  </a:lnTo>
                  <a:lnTo>
                    <a:pt x="11648912" y="858747"/>
                  </a:lnTo>
                  <a:lnTo>
                    <a:pt x="11654737" y="815393"/>
                  </a:lnTo>
                  <a:lnTo>
                    <a:pt x="11654737" y="163083"/>
                  </a:lnTo>
                  <a:lnTo>
                    <a:pt x="11648912" y="119729"/>
                  </a:lnTo>
                  <a:lnTo>
                    <a:pt x="11632472" y="80772"/>
                  </a:lnTo>
                  <a:lnTo>
                    <a:pt x="11606972" y="47765"/>
                  </a:lnTo>
                  <a:lnTo>
                    <a:pt x="11573966" y="22265"/>
                  </a:lnTo>
                  <a:lnTo>
                    <a:pt x="11535009" y="5825"/>
                  </a:lnTo>
                  <a:lnTo>
                    <a:pt x="11491655" y="0"/>
                  </a:lnTo>
                  <a:close/>
                </a:path>
              </a:pathLst>
            </a:custGeom>
            <a:solidFill>
              <a:srgbClr val="4472C4">
                <a:alpha val="1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2174" y="1267352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0" y="163083"/>
                  </a:moveTo>
                  <a:lnTo>
                    <a:pt x="5825" y="119729"/>
                  </a:lnTo>
                  <a:lnTo>
                    <a:pt x="22265" y="80772"/>
                  </a:lnTo>
                  <a:lnTo>
                    <a:pt x="47765" y="47766"/>
                  </a:lnTo>
                  <a:lnTo>
                    <a:pt x="80771" y="22265"/>
                  </a:lnTo>
                  <a:lnTo>
                    <a:pt x="119728" y="5825"/>
                  </a:lnTo>
                  <a:lnTo>
                    <a:pt x="163082" y="0"/>
                  </a:lnTo>
                  <a:lnTo>
                    <a:pt x="11491656" y="0"/>
                  </a:lnTo>
                  <a:lnTo>
                    <a:pt x="11535010" y="5825"/>
                  </a:lnTo>
                  <a:lnTo>
                    <a:pt x="11573967" y="22265"/>
                  </a:lnTo>
                  <a:lnTo>
                    <a:pt x="11606973" y="47766"/>
                  </a:lnTo>
                  <a:lnTo>
                    <a:pt x="11632473" y="80772"/>
                  </a:lnTo>
                  <a:lnTo>
                    <a:pt x="11648913" y="119729"/>
                  </a:lnTo>
                  <a:lnTo>
                    <a:pt x="11654739" y="163083"/>
                  </a:lnTo>
                  <a:lnTo>
                    <a:pt x="11654739" y="815393"/>
                  </a:lnTo>
                  <a:lnTo>
                    <a:pt x="11648913" y="858747"/>
                  </a:lnTo>
                  <a:lnTo>
                    <a:pt x="11632473" y="897704"/>
                  </a:lnTo>
                  <a:lnTo>
                    <a:pt x="11606973" y="930710"/>
                  </a:lnTo>
                  <a:lnTo>
                    <a:pt x="11573967" y="956211"/>
                  </a:lnTo>
                  <a:lnTo>
                    <a:pt x="11535010" y="972651"/>
                  </a:lnTo>
                  <a:lnTo>
                    <a:pt x="11491656" y="978477"/>
                  </a:lnTo>
                  <a:lnTo>
                    <a:pt x="163082" y="978477"/>
                  </a:lnTo>
                  <a:lnTo>
                    <a:pt x="119728" y="972651"/>
                  </a:lnTo>
                  <a:lnTo>
                    <a:pt x="80771" y="956211"/>
                  </a:lnTo>
                  <a:lnTo>
                    <a:pt x="47765" y="930710"/>
                  </a:lnTo>
                  <a:lnTo>
                    <a:pt x="22265" y="897704"/>
                  </a:lnTo>
                  <a:lnTo>
                    <a:pt x="5825" y="858747"/>
                  </a:lnTo>
                  <a:lnTo>
                    <a:pt x="0" y="815393"/>
                  </a:lnTo>
                  <a:lnTo>
                    <a:pt x="0" y="163083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0201" y="12805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90">
                  <a:moveTo>
                    <a:pt x="143999" y="0"/>
                  </a:moveTo>
                  <a:lnTo>
                    <a:pt x="98484" y="7341"/>
                  </a:lnTo>
                  <a:lnTo>
                    <a:pt x="58955" y="27783"/>
                  </a:lnTo>
                  <a:lnTo>
                    <a:pt x="27783" y="58954"/>
                  </a:lnTo>
                  <a:lnTo>
                    <a:pt x="7341" y="98484"/>
                  </a:lnTo>
                  <a:lnTo>
                    <a:pt x="0" y="143998"/>
                  </a:lnTo>
                  <a:lnTo>
                    <a:pt x="7341" y="189514"/>
                  </a:lnTo>
                  <a:lnTo>
                    <a:pt x="27783" y="229043"/>
                  </a:lnTo>
                  <a:lnTo>
                    <a:pt x="58955" y="260215"/>
                  </a:lnTo>
                  <a:lnTo>
                    <a:pt x="98484" y="280658"/>
                  </a:lnTo>
                  <a:lnTo>
                    <a:pt x="143999" y="287999"/>
                  </a:lnTo>
                  <a:lnTo>
                    <a:pt x="189515" y="280658"/>
                  </a:lnTo>
                  <a:lnTo>
                    <a:pt x="229044" y="260215"/>
                  </a:lnTo>
                  <a:lnTo>
                    <a:pt x="260216" y="229043"/>
                  </a:lnTo>
                  <a:lnTo>
                    <a:pt x="280658" y="189514"/>
                  </a:lnTo>
                  <a:lnTo>
                    <a:pt x="287999" y="143998"/>
                  </a:lnTo>
                  <a:lnTo>
                    <a:pt x="280658" y="98484"/>
                  </a:lnTo>
                  <a:lnTo>
                    <a:pt x="260216" y="58954"/>
                  </a:lnTo>
                  <a:lnTo>
                    <a:pt x="229044" y="27783"/>
                  </a:lnTo>
                  <a:lnTo>
                    <a:pt x="189515" y="7341"/>
                  </a:lnTo>
                  <a:lnTo>
                    <a:pt x="143999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0201" y="12805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90">
                  <a:moveTo>
                    <a:pt x="0" y="144000"/>
                  </a:moveTo>
                  <a:lnTo>
                    <a:pt x="7341" y="98484"/>
                  </a:lnTo>
                  <a:lnTo>
                    <a:pt x="27783" y="58955"/>
                  </a:lnTo>
                  <a:lnTo>
                    <a:pt x="58955" y="27783"/>
                  </a:lnTo>
                  <a:lnTo>
                    <a:pt x="98484" y="7341"/>
                  </a:lnTo>
                  <a:lnTo>
                    <a:pt x="144000" y="0"/>
                  </a:lnTo>
                  <a:lnTo>
                    <a:pt x="189515" y="7341"/>
                  </a:lnTo>
                  <a:lnTo>
                    <a:pt x="229044" y="27783"/>
                  </a:lnTo>
                  <a:lnTo>
                    <a:pt x="260216" y="58955"/>
                  </a:lnTo>
                  <a:lnTo>
                    <a:pt x="280658" y="98484"/>
                  </a:lnTo>
                  <a:lnTo>
                    <a:pt x="288000" y="144000"/>
                  </a:lnTo>
                  <a:lnTo>
                    <a:pt x="280658" y="189515"/>
                  </a:lnTo>
                  <a:lnTo>
                    <a:pt x="260216" y="229044"/>
                  </a:lnTo>
                  <a:lnTo>
                    <a:pt x="229044" y="260216"/>
                  </a:lnTo>
                  <a:lnTo>
                    <a:pt x="189515" y="280658"/>
                  </a:lnTo>
                  <a:lnTo>
                    <a:pt x="144000" y="288000"/>
                  </a:lnTo>
                  <a:lnTo>
                    <a:pt x="98484" y="280658"/>
                  </a:lnTo>
                  <a:lnTo>
                    <a:pt x="58955" y="260216"/>
                  </a:lnTo>
                  <a:lnTo>
                    <a:pt x="27783" y="229044"/>
                  </a:lnTo>
                  <a:lnTo>
                    <a:pt x="7341" y="189515"/>
                  </a:lnTo>
                  <a:lnTo>
                    <a:pt x="0" y="14400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30496" y="4313544"/>
            <a:ext cx="40195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-20">
                <a:solidFill>
                  <a:srgbClr val="7030A0"/>
                </a:solidFill>
                <a:latin typeface="Arial MT"/>
                <a:cs typeface="Arial MT"/>
              </a:rPr>
              <a:t>EVSE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45823" y="2377536"/>
            <a:ext cx="11667490" cy="991235"/>
            <a:chOff x="345823" y="2377536"/>
            <a:chExt cx="11667490" cy="991235"/>
          </a:xfrm>
        </p:grpSpPr>
        <p:sp>
          <p:nvSpPr>
            <p:cNvPr id="20" name="object 20" descr=""/>
            <p:cNvSpPr/>
            <p:nvPr/>
          </p:nvSpPr>
          <p:spPr>
            <a:xfrm>
              <a:off x="352173" y="2383886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11491655" y="0"/>
                  </a:moveTo>
                  <a:lnTo>
                    <a:pt x="163082" y="0"/>
                  </a:lnTo>
                  <a:lnTo>
                    <a:pt x="119728" y="5825"/>
                  </a:lnTo>
                  <a:lnTo>
                    <a:pt x="80771" y="22265"/>
                  </a:lnTo>
                  <a:lnTo>
                    <a:pt x="47765" y="47766"/>
                  </a:lnTo>
                  <a:lnTo>
                    <a:pt x="22265" y="80772"/>
                  </a:lnTo>
                  <a:lnTo>
                    <a:pt x="5825" y="119730"/>
                  </a:lnTo>
                  <a:lnTo>
                    <a:pt x="0" y="163084"/>
                  </a:lnTo>
                  <a:lnTo>
                    <a:pt x="0" y="815393"/>
                  </a:lnTo>
                  <a:lnTo>
                    <a:pt x="5825" y="858747"/>
                  </a:lnTo>
                  <a:lnTo>
                    <a:pt x="22265" y="897704"/>
                  </a:lnTo>
                  <a:lnTo>
                    <a:pt x="47765" y="930711"/>
                  </a:lnTo>
                  <a:lnTo>
                    <a:pt x="80771" y="956211"/>
                  </a:lnTo>
                  <a:lnTo>
                    <a:pt x="119728" y="972652"/>
                  </a:lnTo>
                  <a:lnTo>
                    <a:pt x="163082" y="978477"/>
                  </a:lnTo>
                  <a:lnTo>
                    <a:pt x="11491655" y="978477"/>
                  </a:lnTo>
                  <a:lnTo>
                    <a:pt x="11535009" y="972652"/>
                  </a:lnTo>
                  <a:lnTo>
                    <a:pt x="11573966" y="956211"/>
                  </a:lnTo>
                  <a:lnTo>
                    <a:pt x="11606972" y="930711"/>
                  </a:lnTo>
                  <a:lnTo>
                    <a:pt x="11632473" y="897704"/>
                  </a:lnTo>
                  <a:lnTo>
                    <a:pt x="11648913" y="858747"/>
                  </a:lnTo>
                  <a:lnTo>
                    <a:pt x="11654738" y="815393"/>
                  </a:lnTo>
                  <a:lnTo>
                    <a:pt x="11654738" y="163084"/>
                  </a:lnTo>
                  <a:lnTo>
                    <a:pt x="11648913" y="119730"/>
                  </a:lnTo>
                  <a:lnTo>
                    <a:pt x="11632473" y="80772"/>
                  </a:lnTo>
                  <a:lnTo>
                    <a:pt x="11606972" y="47766"/>
                  </a:lnTo>
                  <a:lnTo>
                    <a:pt x="11573966" y="22265"/>
                  </a:lnTo>
                  <a:lnTo>
                    <a:pt x="11535009" y="5825"/>
                  </a:lnTo>
                  <a:lnTo>
                    <a:pt x="11491655" y="0"/>
                  </a:lnTo>
                  <a:close/>
                </a:path>
              </a:pathLst>
            </a:custGeom>
            <a:solidFill>
              <a:srgbClr val="4472C4">
                <a:alpha val="1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52173" y="2383886"/>
              <a:ext cx="11654790" cy="978535"/>
            </a:xfrm>
            <a:custGeom>
              <a:avLst/>
              <a:gdLst/>
              <a:ahLst/>
              <a:cxnLst/>
              <a:rect l="l" t="t" r="r" b="b"/>
              <a:pathLst>
                <a:path w="11654790" h="978535">
                  <a:moveTo>
                    <a:pt x="0" y="163083"/>
                  </a:moveTo>
                  <a:lnTo>
                    <a:pt x="5825" y="119729"/>
                  </a:lnTo>
                  <a:lnTo>
                    <a:pt x="22265" y="80772"/>
                  </a:lnTo>
                  <a:lnTo>
                    <a:pt x="47765" y="47766"/>
                  </a:lnTo>
                  <a:lnTo>
                    <a:pt x="80771" y="22265"/>
                  </a:lnTo>
                  <a:lnTo>
                    <a:pt x="119728" y="5825"/>
                  </a:lnTo>
                  <a:lnTo>
                    <a:pt x="163082" y="0"/>
                  </a:lnTo>
                  <a:lnTo>
                    <a:pt x="11491656" y="0"/>
                  </a:lnTo>
                  <a:lnTo>
                    <a:pt x="11535010" y="5825"/>
                  </a:lnTo>
                  <a:lnTo>
                    <a:pt x="11573967" y="22265"/>
                  </a:lnTo>
                  <a:lnTo>
                    <a:pt x="11606973" y="47766"/>
                  </a:lnTo>
                  <a:lnTo>
                    <a:pt x="11632473" y="80772"/>
                  </a:lnTo>
                  <a:lnTo>
                    <a:pt x="11648913" y="119729"/>
                  </a:lnTo>
                  <a:lnTo>
                    <a:pt x="11654739" y="163083"/>
                  </a:lnTo>
                  <a:lnTo>
                    <a:pt x="11654739" y="815393"/>
                  </a:lnTo>
                  <a:lnTo>
                    <a:pt x="11648913" y="858747"/>
                  </a:lnTo>
                  <a:lnTo>
                    <a:pt x="11632473" y="897704"/>
                  </a:lnTo>
                  <a:lnTo>
                    <a:pt x="11606973" y="930710"/>
                  </a:lnTo>
                  <a:lnTo>
                    <a:pt x="11573967" y="956211"/>
                  </a:lnTo>
                  <a:lnTo>
                    <a:pt x="11535010" y="972651"/>
                  </a:lnTo>
                  <a:lnTo>
                    <a:pt x="11491656" y="978477"/>
                  </a:lnTo>
                  <a:lnTo>
                    <a:pt x="163082" y="978477"/>
                  </a:lnTo>
                  <a:lnTo>
                    <a:pt x="119728" y="972651"/>
                  </a:lnTo>
                  <a:lnTo>
                    <a:pt x="80771" y="956211"/>
                  </a:lnTo>
                  <a:lnTo>
                    <a:pt x="47765" y="930710"/>
                  </a:lnTo>
                  <a:lnTo>
                    <a:pt x="22265" y="897704"/>
                  </a:lnTo>
                  <a:lnTo>
                    <a:pt x="5825" y="858747"/>
                  </a:lnTo>
                  <a:lnTo>
                    <a:pt x="0" y="815393"/>
                  </a:lnTo>
                  <a:lnTo>
                    <a:pt x="0" y="163083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9748" y="2464763"/>
              <a:ext cx="461545" cy="648154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246" rIns="0" bIns="0" rtlCol="0" vert="horz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25"/>
              </a:spcBef>
            </a:pPr>
            <a:r>
              <a:rPr dirty="0" spc="114"/>
              <a:t>Using</a:t>
            </a:r>
            <a:r>
              <a:rPr dirty="0" spc="135"/>
              <a:t> </a:t>
            </a:r>
            <a:r>
              <a:rPr dirty="0" spc="165"/>
              <a:t>communication</a:t>
            </a:r>
            <a:r>
              <a:rPr dirty="0" spc="130"/>
              <a:t> </a:t>
            </a:r>
            <a:r>
              <a:rPr dirty="0" spc="160"/>
              <a:t>protocols</a:t>
            </a:r>
            <a:r>
              <a:rPr dirty="0" spc="130"/>
              <a:t> </a:t>
            </a:r>
            <a:r>
              <a:rPr dirty="0" spc="200"/>
              <a:t>to</a:t>
            </a:r>
            <a:r>
              <a:rPr dirty="0" spc="135"/>
              <a:t> </a:t>
            </a:r>
            <a:r>
              <a:rPr dirty="0" spc="125"/>
              <a:t>address </a:t>
            </a:r>
            <a:r>
              <a:rPr dirty="0" spc="150"/>
              <a:t>bottlenecks</a:t>
            </a:r>
            <a:r>
              <a:rPr dirty="0" spc="130"/>
              <a:t> </a:t>
            </a:r>
            <a:r>
              <a:rPr dirty="0" spc="110"/>
              <a:t>across</a:t>
            </a:r>
            <a:r>
              <a:rPr dirty="0" spc="130"/>
              <a:t> </a:t>
            </a:r>
            <a:r>
              <a:rPr dirty="0" spc="105"/>
              <a:t>EV</a:t>
            </a:r>
            <a:r>
              <a:rPr dirty="0" spc="140"/>
              <a:t> </a:t>
            </a:r>
            <a:r>
              <a:rPr dirty="0" spc="150"/>
              <a:t>charging</a:t>
            </a:r>
            <a:r>
              <a:rPr dirty="0" spc="140"/>
              <a:t> </a:t>
            </a:r>
            <a:r>
              <a:rPr dirty="0" spc="145"/>
              <a:t>infrastructure</a:t>
            </a:r>
            <a:r>
              <a:rPr dirty="0" spc="125"/>
              <a:t> </a:t>
            </a:r>
            <a:r>
              <a:rPr dirty="0" spc="135"/>
              <a:t>enhancing</a:t>
            </a:r>
            <a:r>
              <a:rPr dirty="0" spc="140"/>
              <a:t> </a:t>
            </a:r>
            <a:r>
              <a:rPr dirty="0" spc="110"/>
              <a:t>value </a:t>
            </a:r>
            <a:r>
              <a:rPr dirty="0" spc="145"/>
              <a:t>creation</a:t>
            </a:r>
            <a:r>
              <a:rPr dirty="0" spc="114"/>
              <a:t> </a:t>
            </a:r>
            <a:r>
              <a:rPr dirty="0" spc="170"/>
              <a:t>for</a:t>
            </a:r>
            <a:r>
              <a:rPr dirty="0" spc="120"/>
              <a:t> </a:t>
            </a:r>
            <a:r>
              <a:rPr dirty="0" spc="85"/>
              <a:t>all</a:t>
            </a:r>
            <a:r>
              <a:rPr dirty="0" spc="114"/>
              <a:t> </a:t>
            </a:r>
            <a:r>
              <a:rPr dirty="0" spc="120"/>
              <a:t>stakeholders</a:t>
            </a:r>
          </a:p>
        </p:txBody>
      </p:sp>
      <p:sp>
        <p:nvSpPr>
          <p:cNvPr id="24" name="object 24" descr=""/>
          <p:cNvSpPr/>
          <p:nvPr/>
        </p:nvSpPr>
        <p:spPr>
          <a:xfrm>
            <a:off x="0" y="7886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1"/>
                </a:lnTo>
              </a:path>
            </a:pathLst>
          </a:custGeom>
          <a:ln w="635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52174" y="900112"/>
            <a:ext cx="164338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4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384"/>
              </a:spcBef>
            </a:pP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element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338137" y="900111"/>
            <a:ext cx="164338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4" rIns="0" bIns="0" rtlCol="0" vert="horz">
            <a:spAutoFit/>
          </a:bodyPr>
          <a:lstStyle/>
          <a:p>
            <a:pPr marL="308610">
              <a:lnSpc>
                <a:spcPct val="100000"/>
              </a:lnSpc>
              <a:spcBef>
                <a:spcPts val="384"/>
              </a:spcBef>
            </a:pP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Stakeholders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234514" y="900111"/>
            <a:ext cx="195707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4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384"/>
              </a:spcBef>
            </a:pP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challenges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881563" y="900111"/>
            <a:ext cx="502920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Solutions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45162" y="1102884"/>
            <a:ext cx="85725" cy="3556000"/>
          </a:xfrm>
          <a:custGeom>
            <a:avLst/>
            <a:gdLst/>
            <a:ahLst/>
            <a:cxnLst/>
            <a:rect l="l" t="t" r="r" b="b"/>
            <a:pathLst>
              <a:path w="85725" h="3556000">
                <a:moveTo>
                  <a:pt x="28574" y="3469885"/>
                </a:moveTo>
                <a:lnTo>
                  <a:pt x="0" y="3469885"/>
                </a:lnTo>
                <a:lnTo>
                  <a:pt x="42862" y="3555610"/>
                </a:lnTo>
                <a:lnTo>
                  <a:pt x="78575" y="3484184"/>
                </a:lnTo>
                <a:lnTo>
                  <a:pt x="28575" y="3484184"/>
                </a:lnTo>
                <a:lnTo>
                  <a:pt x="28574" y="3469885"/>
                </a:lnTo>
                <a:close/>
              </a:path>
              <a:path w="85725" h="3556000">
                <a:moveTo>
                  <a:pt x="57148" y="0"/>
                </a:moveTo>
                <a:lnTo>
                  <a:pt x="28573" y="0"/>
                </a:lnTo>
                <a:lnTo>
                  <a:pt x="28575" y="3484184"/>
                </a:lnTo>
                <a:lnTo>
                  <a:pt x="57150" y="3484184"/>
                </a:lnTo>
                <a:lnTo>
                  <a:pt x="57148" y="0"/>
                </a:lnTo>
                <a:close/>
              </a:path>
              <a:path w="85725" h="3556000">
                <a:moveTo>
                  <a:pt x="85724" y="3469885"/>
                </a:moveTo>
                <a:lnTo>
                  <a:pt x="57149" y="3469885"/>
                </a:lnTo>
                <a:lnTo>
                  <a:pt x="57150" y="3484184"/>
                </a:lnTo>
                <a:lnTo>
                  <a:pt x="78575" y="3484184"/>
                </a:lnTo>
                <a:lnTo>
                  <a:pt x="85724" y="346988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552200" y="3152255"/>
            <a:ext cx="1245870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60">
                <a:solidFill>
                  <a:srgbClr val="7030A0"/>
                </a:solidFill>
                <a:latin typeface="Arial MT"/>
                <a:cs typeface="Arial MT"/>
              </a:rPr>
              <a:t>Transmission</a:t>
            </a:r>
            <a:r>
              <a:rPr dirty="0" sz="1050" spc="80">
                <a:solidFill>
                  <a:srgbClr val="7030A0"/>
                </a:solidFill>
                <a:latin typeface="Arial MT"/>
                <a:cs typeface="Arial MT"/>
              </a:rPr>
              <a:t> grid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64988" y="1289811"/>
            <a:ext cx="984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7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44077" y="2381557"/>
            <a:ext cx="300990" cy="300990"/>
            <a:chOff x="344077" y="2381557"/>
            <a:chExt cx="300990" cy="300990"/>
          </a:xfrm>
        </p:grpSpPr>
        <p:sp>
          <p:nvSpPr>
            <p:cNvPr id="33" name="object 33" descr=""/>
            <p:cNvSpPr/>
            <p:nvPr/>
          </p:nvSpPr>
          <p:spPr>
            <a:xfrm>
              <a:off x="350427" y="238790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999" y="0"/>
                  </a:moveTo>
                  <a:lnTo>
                    <a:pt x="98484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4"/>
                  </a:lnTo>
                  <a:lnTo>
                    <a:pt x="0" y="144000"/>
                  </a:lnTo>
                  <a:lnTo>
                    <a:pt x="7341" y="189515"/>
                  </a:lnTo>
                  <a:lnTo>
                    <a:pt x="27783" y="229044"/>
                  </a:lnTo>
                  <a:lnTo>
                    <a:pt x="58955" y="260215"/>
                  </a:lnTo>
                  <a:lnTo>
                    <a:pt x="98484" y="280658"/>
                  </a:lnTo>
                  <a:lnTo>
                    <a:pt x="143999" y="287999"/>
                  </a:lnTo>
                  <a:lnTo>
                    <a:pt x="189515" y="280658"/>
                  </a:lnTo>
                  <a:lnTo>
                    <a:pt x="229044" y="260215"/>
                  </a:lnTo>
                  <a:lnTo>
                    <a:pt x="260216" y="229044"/>
                  </a:lnTo>
                  <a:lnTo>
                    <a:pt x="280658" y="189515"/>
                  </a:lnTo>
                  <a:lnTo>
                    <a:pt x="287999" y="144000"/>
                  </a:lnTo>
                  <a:lnTo>
                    <a:pt x="280658" y="98484"/>
                  </a:lnTo>
                  <a:lnTo>
                    <a:pt x="260216" y="58955"/>
                  </a:lnTo>
                  <a:lnTo>
                    <a:pt x="229044" y="27783"/>
                  </a:lnTo>
                  <a:lnTo>
                    <a:pt x="189515" y="7341"/>
                  </a:lnTo>
                  <a:lnTo>
                    <a:pt x="143999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50427" y="238790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144000"/>
                  </a:moveTo>
                  <a:lnTo>
                    <a:pt x="7341" y="98484"/>
                  </a:lnTo>
                  <a:lnTo>
                    <a:pt x="27783" y="58955"/>
                  </a:lnTo>
                  <a:lnTo>
                    <a:pt x="58955" y="27783"/>
                  </a:lnTo>
                  <a:lnTo>
                    <a:pt x="98484" y="7341"/>
                  </a:lnTo>
                  <a:lnTo>
                    <a:pt x="144000" y="0"/>
                  </a:lnTo>
                  <a:lnTo>
                    <a:pt x="189515" y="7341"/>
                  </a:lnTo>
                  <a:lnTo>
                    <a:pt x="229044" y="27783"/>
                  </a:lnTo>
                  <a:lnTo>
                    <a:pt x="260216" y="58955"/>
                  </a:lnTo>
                  <a:lnTo>
                    <a:pt x="280658" y="98484"/>
                  </a:lnTo>
                  <a:lnTo>
                    <a:pt x="288000" y="144000"/>
                  </a:lnTo>
                  <a:lnTo>
                    <a:pt x="280658" y="189515"/>
                  </a:lnTo>
                  <a:lnTo>
                    <a:pt x="260216" y="229044"/>
                  </a:lnTo>
                  <a:lnTo>
                    <a:pt x="229044" y="260216"/>
                  </a:lnTo>
                  <a:lnTo>
                    <a:pt x="189515" y="280658"/>
                  </a:lnTo>
                  <a:lnTo>
                    <a:pt x="144000" y="288000"/>
                  </a:lnTo>
                  <a:lnTo>
                    <a:pt x="98484" y="280658"/>
                  </a:lnTo>
                  <a:lnTo>
                    <a:pt x="58955" y="260216"/>
                  </a:lnTo>
                  <a:lnTo>
                    <a:pt x="27783" y="229044"/>
                  </a:lnTo>
                  <a:lnTo>
                    <a:pt x="7341" y="189515"/>
                  </a:lnTo>
                  <a:lnTo>
                    <a:pt x="0" y="14400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420607" y="2396235"/>
            <a:ext cx="1473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53692" y="3531848"/>
            <a:ext cx="300990" cy="300990"/>
            <a:chOff x="353692" y="3531848"/>
            <a:chExt cx="300990" cy="300990"/>
          </a:xfrm>
        </p:grpSpPr>
        <p:sp>
          <p:nvSpPr>
            <p:cNvPr id="37" name="object 37" descr=""/>
            <p:cNvSpPr/>
            <p:nvPr/>
          </p:nvSpPr>
          <p:spPr>
            <a:xfrm>
              <a:off x="360042" y="353819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999" y="0"/>
                  </a:moveTo>
                  <a:lnTo>
                    <a:pt x="98484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0"/>
                  </a:lnTo>
                  <a:lnTo>
                    <a:pt x="7341" y="189515"/>
                  </a:lnTo>
                  <a:lnTo>
                    <a:pt x="27783" y="229044"/>
                  </a:lnTo>
                  <a:lnTo>
                    <a:pt x="58955" y="260216"/>
                  </a:lnTo>
                  <a:lnTo>
                    <a:pt x="98484" y="280659"/>
                  </a:lnTo>
                  <a:lnTo>
                    <a:pt x="143999" y="288000"/>
                  </a:lnTo>
                  <a:lnTo>
                    <a:pt x="189515" y="280659"/>
                  </a:lnTo>
                  <a:lnTo>
                    <a:pt x="229044" y="260216"/>
                  </a:lnTo>
                  <a:lnTo>
                    <a:pt x="260216" y="229044"/>
                  </a:lnTo>
                  <a:lnTo>
                    <a:pt x="280658" y="189515"/>
                  </a:lnTo>
                  <a:lnTo>
                    <a:pt x="288000" y="144000"/>
                  </a:lnTo>
                  <a:lnTo>
                    <a:pt x="280658" y="98485"/>
                  </a:lnTo>
                  <a:lnTo>
                    <a:pt x="260216" y="58955"/>
                  </a:lnTo>
                  <a:lnTo>
                    <a:pt x="229044" y="27783"/>
                  </a:lnTo>
                  <a:lnTo>
                    <a:pt x="189515" y="7341"/>
                  </a:lnTo>
                  <a:lnTo>
                    <a:pt x="143999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60042" y="353819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144000"/>
                  </a:moveTo>
                  <a:lnTo>
                    <a:pt x="7341" y="98484"/>
                  </a:lnTo>
                  <a:lnTo>
                    <a:pt x="27783" y="58955"/>
                  </a:lnTo>
                  <a:lnTo>
                    <a:pt x="58955" y="27783"/>
                  </a:lnTo>
                  <a:lnTo>
                    <a:pt x="98484" y="7341"/>
                  </a:lnTo>
                  <a:lnTo>
                    <a:pt x="144000" y="0"/>
                  </a:lnTo>
                  <a:lnTo>
                    <a:pt x="189515" y="7341"/>
                  </a:lnTo>
                  <a:lnTo>
                    <a:pt x="229044" y="27783"/>
                  </a:lnTo>
                  <a:lnTo>
                    <a:pt x="260216" y="58955"/>
                  </a:lnTo>
                  <a:lnTo>
                    <a:pt x="280658" y="98484"/>
                  </a:lnTo>
                  <a:lnTo>
                    <a:pt x="288000" y="144000"/>
                  </a:lnTo>
                  <a:lnTo>
                    <a:pt x="280658" y="189515"/>
                  </a:lnTo>
                  <a:lnTo>
                    <a:pt x="260216" y="229044"/>
                  </a:lnTo>
                  <a:lnTo>
                    <a:pt x="229044" y="260216"/>
                  </a:lnTo>
                  <a:lnTo>
                    <a:pt x="189515" y="280658"/>
                  </a:lnTo>
                  <a:lnTo>
                    <a:pt x="144000" y="288000"/>
                  </a:lnTo>
                  <a:lnTo>
                    <a:pt x="98484" y="280658"/>
                  </a:lnTo>
                  <a:lnTo>
                    <a:pt x="58955" y="260216"/>
                  </a:lnTo>
                  <a:lnTo>
                    <a:pt x="27783" y="229044"/>
                  </a:lnTo>
                  <a:lnTo>
                    <a:pt x="7341" y="189515"/>
                  </a:lnTo>
                  <a:lnTo>
                    <a:pt x="0" y="14400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429430" y="3548379"/>
            <a:ext cx="1504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35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47920" y="2006207"/>
            <a:ext cx="96710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85">
                <a:solidFill>
                  <a:srgbClr val="7030A0"/>
                </a:solidFill>
                <a:latin typeface="Arial MT"/>
                <a:cs typeface="Arial MT"/>
              </a:rPr>
              <a:t>Power</a:t>
            </a:r>
            <a:r>
              <a:rPr dirty="0" sz="105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050" spc="60">
                <a:solidFill>
                  <a:srgbClr val="7030A0"/>
                </a:solidFill>
                <a:latin typeface="Arial MT"/>
                <a:cs typeface="Arial MT"/>
              </a:rPr>
              <a:t>source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47036" y="4641143"/>
            <a:ext cx="4406265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5080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400"/>
              </a:spcBef>
            </a:pP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 protocols: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Bridge</a:t>
            </a: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5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smart 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charging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2533191" y="1522045"/>
            <a:ext cx="1253490" cy="459740"/>
          </a:xfrm>
          <a:custGeom>
            <a:avLst/>
            <a:gdLst/>
            <a:ahLst/>
            <a:cxnLst/>
            <a:rect l="l" t="t" r="r" b="b"/>
            <a:pathLst>
              <a:path w="1253489" h="459739">
                <a:moveTo>
                  <a:pt x="0" y="76617"/>
                </a:moveTo>
                <a:lnTo>
                  <a:pt x="6020" y="46794"/>
                </a:lnTo>
                <a:lnTo>
                  <a:pt x="22440" y="22440"/>
                </a:lnTo>
                <a:lnTo>
                  <a:pt x="46794" y="6020"/>
                </a:lnTo>
                <a:lnTo>
                  <a:pt x="76617" y="0"/>
                </a:lnTo>
                <a:lnTo>
                  <a:pt x="1176338" y="0"/>
                </a:lnTo>
                <a:lnTo>
                  <a:pt x="1206160" y="6020"/>
                </a:lnTo>
                <a:lnTo>
                  <a:pt x="1230514" y="22440"/>
                </a:lnTo>
                <a:lnTo>
                  <a:pt x="1246934" y="46794"/>
                </a:lnTo>
                <a:lnTo>
                  <a:pt x="1252955" y="76617"/>
                </a:lnTo>
                <a:lnTo>
                  <a:pt x="1252955" y="383082"/>
                </a:lnTo>
                <a:lnTo>
                  <a:pt x="1246934" y="412905"/>
                </a:lnTo>
                <a:lnTo>
                  <a:pt x="1230514" y="437259"/>
                </a:lnTo>
                <a:lnTo>
                  <a:pt x="1206160" y="453679"/>
                </a:lnTo>
                <a:lnTo>
                  <a:pt x="1176338" y="459700"/>
                </a:lnTo>
                <a:lnTo>
                  <a:pt x="76617" y="459700"/>
                </a:lnTo>
                <a:lnTo>
                  <a:pt x="46794" y="453679"/>
                </a:lnTo>
                <a:lnTo>
                  <a:pt x="22440" y="437259"/>
                </a:lnTo>
                <a:lnTo>
                  <a:pt x="6020" y="412905"/>
                </a:lnTo>
                <a:lnTo>
                  <a:pt x="0" y="383082"/>
                </a:lnTo>
                <a:lnTo>
                  <a:pt x="0" y="766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2750887" y="1579487"/>
            <a:ext cx="817880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1230"/>
              </a:lnSpc>
              <a:spcBef>
                <a:spcPts val="125"/>
              </a:spcBef>
            </a:pPr>
            <a:r>
              <a:rPr dirty="0" sz="1050" spc="-10">
                <a:latin typeface="Arial MT"/>
                <a:cs typeface="Arial MT"/>
              </a:rPr>
              <a:t>DISCOMs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ts val="1230"/>
              </a:lnSpc>
            </a:pPr>
            <a:r>
              <a:rPr dirty="0" sz="1050" spc="75">
                <a:latin typeface="Arial MT"/>
                <a:cs typeface="Arial MT"/>
              </a:rPr>
              <a:t>State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 spc="90">
                <a:latin typeface="Arial MT"/>
                <a:cs typeface="Arial MT"/>
              </a:rPr>
              <a:t>govts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2533190" y="2650840"/>
            <a:ext cx="1253490" cy="459740"/>
          </a:xfrm>
          <a:custGeom>
            <a:avLst/>
            <a:gdLst/>
            <a:ahLst/>
            <a:cxnLst/>
            <a:rect l="l" t="t" r="r" b="b"/>
            <a:pathLst>
              <a:path w="1253489" h="459739">
                <a:moveTo>
                  <a:pt x="0" y="76617"/>
                </a:moveTo>
                <a:lnTo>
                  <a:pt x="6020" y="46794"/>
                </a:lnTo>
                <a:lnTo>
                  <a:pt x="22440" y="22440"/>
                </a:lnTo>
                <a:lnTo>
                  <a:pt x="46794" y="6020"/>
                </a:lnTo>
                <a:lnTo>
                  <a:pt x="76617" y="0"/>
                </a:lnTo>
                <a:lnTo>
                  <a:pt x="1176338" y="0"/>
                </a:lnTo>
                <a:lnTo>
                  <a:pt x="1206160" y="6020"/>
                </a:lnTo>
                <a:lnTo>
                  <a:pt x="1230514" y="22440"/>
                </a:lnTo>
                <a:lnTo>
                  <a:pt x="1246934" y="46794"/>
                </a:lnTo>
                <a:lnTo>
                  <a:pt x="1252955" y="76617"/>
                </a:lnTo>
                <a:lnTo>
                  <a:pt x="1252955" y="383082"/>
                </a:lnTo>
                <a:lnTo>
                  <a:pt x="1246934" y="412905"/>
                </a:lnTo>
                <a:lnTo>
                  <a:pt x="1230514" y="437259"/>
                </a:lnTo>
                <a:lnTo>
                  <a:pt x="1206160" y="453679"/>
                </a:lnTo>
                <a:lnTo>
                  <a:pt x="1176338" y="459700"/>
                </a:lnTo>
                <a:lnTo>
                  <a:pt x="76617" y="459700"/>
                </a:lnTo>
                <a:lnTo>
                  <a:pt x="46794" y="453679"/>
                </a:lnTo>
                <a:lnTo>
                  <a:pt x="22440" y="437259"/>
                </a:lnTo>
                <a:lnTo>
                  <a:pt x="6020" y="412905"/>
                </a:lnTo>
                <a:lnTo>
                  <a:pt x="0" y="383082"/>
                </a:lnTo>
                <a:lnTo>
                  <a:pt x="0" y="766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2717548" y="2707247"/>
            <a:ext cx="883919" cy="3422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5720" marR="5080" indent="-33655">
              <a:lnSpc>
                <a:spcPts val="1200"/>
              </a:lnSpc>
              <a:spcBef>
                <a:spcPts val="215"/>
              </a:spcBef>
            </a:pPr>
            <a:r>
              <a:rPr dirty="0" sz="1050" spc="65">
                <a:latin typeface="Arial MT"/>
                <a:cs typeface="Arial MT"/>
              </a:rPr>
              <a:t>Central</a:t>
            </a:r>
            <a:r>
              <a:rPr dirty="0" sz="1050" spc="80">
                <a:latin typeface="Arial MT"/>
                <a:cs typeface="Arial MT"/>
              </a:rPr>
              <a:t> </a:t>
            </a:r>
            <a:r>
              <a:rPr dirty="0" sz="1050" spc="100">
                <a:latin typeface="Arial MT"/>
                <a:cs typeface="Arial MT"/>
              </a:rPr>
              <a:t>govt </a:t>
            </a:r>
            <a:r>
              <a:rPr dirty="0" sz="1050" spc="75">
                <a:latin typeface="Arial MT"/>
                <a:cs typeface="Arial MT"/>
              </a:rPr>
              <a:t>State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 spc="90">
                <a:latin typeface="Arial MT"/>
                <a:cs typeface="Arial MT"/>
              </a:rPr>
              <a:t>govts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2533190" y="3753684"/>
            <a:ext cx="1253490" cy="459740"/>
          </a:xfrm>
          <a:custGeom>
            <a:avLst/>
            <a:gdLst/>
            <a:ahLst/>
            <a:cxnLst/>
            <a:rect l="l" t="t" r="r" b="b"/>
            <a:pathLst>
              <a:path w="1253489" h="459739">
                <a:moveTo>
                  <a:pt x="0" y="76617"/>
                </a:moveTo>
                <a:lnTo>
                  <a:pt x="6020" y="46794"/>
                </a:lnTo>
                <a:lnTo>
                  <a:pt x="22440" y="22440"/>
                </a:lnTo>
                <a:lnTo>
                  <a:pt x="46794" y="6020"/>
                </a:lnTo>
                <a:lnTo>
                  <a:pt x="76617" y="0"/>
                </a:lnTo>
                <a:lnTo>
                  <a:pt x="1176338" y="0"/>
                </a:lnTo>
                <a:lnTo>
                  <a:pt x="1206160" y="6020"/>
                </a:lnTo>
                <a:lnTo>
                  <a:pt x="1230514" y="22440"/>
                </a:lnTo>
                <a:lnTo>
                  <a:pt x="1246934" y="46794"/>
                </a:lnTo>
                <a:lnTo>
                  <a:pt x="1252955" y="76617"/>
                </a:lnTo>
                <a:lnTo>
                  <a:pt x="1252955" y="383082"/>
                </a:lnTo>
                <a:lnTo>
                  <a:pt x="1246934" y="412905"/>
                </a:lnTo>
                <a:lnTo>
                  <a:pt x="1230514" y="437259"/>
                </a:lnTo>
                <a:lnTo>
                  <a:pt x="1206160" y="453679"/>
                </a:lnTo>
                <a:lnTo>
                  <a:pt x="1176338" y="459700"/>
                </a:lnTo>
                <a:lnTo>
                  <a:pt x="76617" y="459700"/>
                </a:lnTo>
                <a:lnTo>
                  <a:pt x="46794" y="453679"/>
                </a:lnTo>
                <a:lnTo>
                  <a:pt x="22440" y="437259"/>
                </a:lnTo>
                <a:lnTo>
                  <a:pt x="6020" y="412905"/>
                </a:lnTo>
                <a:lnTo>
                  <a:pt x="0" y="383082"/>
                </a:lnTo>
                <a:lnTo>
                  <a:pt x="0" y="766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2773110" y="3810623"/>
            <a:ext cx="772795" cy="3422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98425" marR="5080" indent="-85725">
              <a:lnSpc>
                <a:spcPts val="1200"/>
              </a:lnSpc>
              <a:spcBef>
                <a:spcPts val="215"/>
              </a:spcBef>
            </a:pPr>
            <a:r>
              <a:rPr dirty="0" sz="1050" spc="75">
                <a:latin typeface="Arial MT"/>
                <a:cs typeface="Arial MT"/>
              </a:rPr>
              <a:t>Equipment </a:t>
            </a:r>
            <a:r>
              <a:rPr dirty="0" sz="1050" spc="70">
                <a:latin typeface="Arial MT"/>
                <a:cs typeface="Arial MT"/>
              </a:rPr>
              <a:t>partners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657472" y="1439279"/>
            <a:ext cx="978535" cy="50736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 indent="-1905">
              <a:lnSpc>
                <a:spcPct val="99000"/>
              </a:lnSpc>
              <a:spcBef>
                <a:spcPts val="140"/>
              </a:spcBef>
            </a:pPr>
            <a:r>
              <a:rPr dirty="0" sz="1050" spc="80">
                <a:latin typeface="Arial MT"/>
                <a:cs typeface="Arial MT"/>
              </a:rPr>
              <a:t>High</a:t>
            </a:r>
            <a:r>
              <a:rPr dirty="0" sz="1050" spc="40">
                <a:latin typeface="Arial MT"/>
                <a:cs typeface="Arial MT"/>
              </a:rPr>
              <a:t> </a:t>
            </a:r>
            <a:r>
              <a:rPr dirty="0" sz="1050" spc="65">
                <a:latin typeface="Arial MT"/>
                <a:cs typeface="Arial MT"/>
              </a:rPr>
              <a:t>coal </a:t>
            </a:r>
            <a:r>
              <a:rPr dirty="0" sz="1050" spc="75">
                <a:latin typeface="Arial MT"/>
                <a:cs typeface="Arial MT"/>
              </a:rPr>
              <a:t>mix </a:t>
            </a:r>
            <a:r>
              <a:rPr dirty="0" sz="1050">
                <a:latin typeface="Arial MT"/>
                <a:cs typeface="Arial MT"/>
              </a:rPr>
              <a:t>(~75%)</a:t>
            </a:r>
            <a:r>
              <a:rPr dirty="0" sz="1050" spc="150">
                <a:latin typeface="Arial MT"/>
                <a:cs typeface="Arial MT"/>
              </a:rPr>
              <a:t> </a:t>
            </a:r>
            <a:r>
              <a:rPr dirty="0" sz="1050" spc="70">
                <a:latin typeface="Arial MT"/>
                <a:cs typeface="Arial MT"/>
              </a:rPr>
              <a:t>in</a:t>
            </a:r>
            <a:r>
              <a:rPr dirty="0" sz="1050" spc="140">
                <a:latin typeface="Arial MT"/>
                <a:cs typeface="Arial MT"/>
              </a:rPr>
              <a:t> </a:t>
            </a:r>
            <a:r>
              <a:rPr dirty="0" sz="1050" spc="80">
                <a:latin typeface="Arial MT"/>
                <a:cs typeface="Arial MT"/>
              </a:rPr>
              <a:t>grid </a:t>
            </a:r>
            <a:r>
              <a:rPr dirty="0" sz="1050" spc="90">
                <a:latin typeface="Arial MT"/>
                <a:cs typeface="Arial MT"/>
              </a:rPr>
              <a:t>power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527297" y="2472551"/>
            <a:ext cx="1238250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80">
                <a:latin typeface="Arial MT"/>
                <a:cs typeface="Arial MT"/>
              </a:rPr>
              <a:t>Demand</a:t>
            </a:r>
            <a:r>
              <a:rPr dirty="0" sz="1050" spc="40">
                <a:latin typeface="Arial MT"/>
                <a:cs typeface="Arial MT"/>
              </a:rPr>
              <a:t> </a:t>
            </a:r>
            <a:r>
              <a:rPr dirty="0" sz="1050" spc="80">
                <a:latin typeface="Arial MT"/>
                <a:cs typeface="Arial MT"/>
              </a:rPr>
              <a:t>volatility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279647" y="2789543"/>
            <a:ext cx="1732280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60">
                <a:latin typeface="Arial MT"/>
                <a:cs typeface="Arial MT"/>
              </a:rPr>
              <a:t>Transmission</a:t>
            </a:r>
            <a:r>
              <a:rPr dirty="0" sz="1050" spc="80">
                <a:latin typeface="Arial MT"/>
                <a:cs typeface="Arial MT"/>
              </a:rPr>
              <a:t> </a:t>
            </a:r>
            <a:r>
              <a:rPr dirty="0" sz="1050" spc="70">
                <a:latin typeface="Arial MT"/>
                <a:cs typeface="Arial MT"/>
              </a:rPr>
              <a:t>constraints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358260" y="3106535"/>
            <a:ext cx="157543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60">
                <a:latin typeface="Arial MT"/>
                <a:cs typeface="Arial MT"/>
              </a:rPr>
              <a:t>HT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75">
                <a:latin typeface="Arial MT"/>
                <a:cs typeface="Arial MT"/>
              </a:rPr>
              <a:t>infra</a:t>
            </a:r>
            <a:r>
              <a:rPr dirty="0" sz="1050" spc="40">
                <a:latin typeface="Arial MT"/>
                <a:cs typeface="Arial MT"/>
              </a:rPr>
              <a:t> </a:t>
            </a:r>
            <a:r>
              <a:rPr dirty="0" sz="1050" spc="75">
                <a:latin typeface="Arial MT"/>
                <a:cs typeface="Arial MT"/>
              </a:rPr>
              <a:t>concentration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4211836" y="3725279"/>
            <a:ext cx="200342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75">
                <a:latin typeface="Arial MT"/>
                <a:cs typeface="Arial MT"/>
              </a:rPr>
              <a:t>Charging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100">
                <a:latin typeface="Arial MT"/>
                <a:cs typeface="Arial MT"/>
              </a:rPr>
              <a:t>point</a:t>
            </a:r>
            <a:r>
              <a:rPr dirty="0" sz="1050" spc="60">
                <a:latin typeface="Arial MT"/>
                <a:cs typeface="Arial MT"/>
              </a:rPr>
              <a:t> </a:t>
            </a:r>
            <a:r>
              <a:rPr dirty="0" sz="1050" spc="85">
                <a:latin typeface="Arial MT"/>
                <a:cs typeface="Arial MT"/>
              </a:rPr>
              <a:t>compatibility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323787" y="4042271"/>
            <a:ext cx="1778000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 spc="60">
                <a:latin typeface="Arial MT"/>
                <a:cs typeface="Arial MT"/>
              </a:rPr>
              <a:t>Capable</a:t>
            </a:r>
            <a:r>
              <a:rPr dirty="0" sz="1050" spc="65">
                <a:latin typeface="Arial MT"/>
                <a:cs typeface="Arial MT"/>
              </a:rPr>
              <a:t> </a:t>
            </a:r>
            <a:r>
              <a:rPr dirty="0" sz="1050" spc="105">
                <a:latin typeface="Arial MT"/>
                <a:cs typeface="Arial MT"/>
              </a:rPr>
              <a:t>for</a:t>
            </a:r>
            <a:r>
              <a:rPr dirty="0" sz="1050" spc="9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CMS</a:t>
            </a:r>
            <a:r>
              <a:rPr dirty="0" sz="1050" spc="70">
                <a:latin typeface="Arial MT"/>
                <a:cs typeface="Arial MT"/>
              </a:rPr>
              <a:t> </a:t>
            </a:r>
            <a:r>
              <a:rPr dirty="0" sz="1050" spc="50">
                <a:latin typeface="Arial MT"/>
                <a:cs typeface="Arial MT"/>
              </a:rPr>
              <a:t>services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512592" y="1262111"/>
            <a:ext cx="3764279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25">
                <a:solidFill>
                  <a:srgbClr val="7030A0"/>
                </a:solidFill>
                <a:latin typeface="Arial MT"/>
                <a:cs typeface="Arial MT"/>
              </a:rPr>
              <a:t>Net</a:t>
            </a:r>
            <a:r>
              <a:rPr dirty="0" sz="1150" spc="10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metering:</a:t>
            </a:r>
            <a:r>
              <a:rPr dirty="0" sz="1150" spc="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85">
                <a:solidFill>
                  <a:srgbClr val="7030A0"/>
                </a:solidFill>
                <a:latin typeface="Arial MT"/>
                <a:cs typeface="Arial MT"/>
              </a:rPr>
              <a:t>Solar</a:t>
            </a:r>
            <a:r>
              <a:rPr dirty="0" sz="1150" spc="10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55">
                <a:solidFill>
                  <a:srgbClr val="7030A0"/>
                </a:solidFill>
                <a:latin typeface="Arial MT"/>
                <a:cs typeface="Arial MT"/>
              </a:rPr>
              <a:t>to</a:t>
            </a:r>
            <a:r>
              <a:rPr dirty="0" sz="1150" spc="105">
                <a:solidFill>
                  <a:srgbClr val="7030A0"/>
                </a:solidFill>
                <a:latin typeface="Arial MT"/>
                <a:cs typeface="Arial MT"/>
              </a:rPr>
              <a:t> balance</a:t>
            </a:r>
            <a:r>
              <a:rPr dirty="0" sz="1150" spc="10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20">
                <a:solidFill>
                  <a:srgbClr val="7030A0"/>
                </a:solidFill>
                <a:latin typeface="Arial MT"/>
                <a:cs typeface="Arial MT"/>
              </a:rPr>
              <a:t>energy</a:t>
            </a:r>
            <a:r>
              <a:rPr dirty="0" sz="1150" spc="10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25">
                <a:solidFill>
                  <a:srgbClr val="7030A0"/>
                </a:solidFill>
                <a:latin typeface="Arial MT"/>
                <a:cs typeface="Arial MT"/>
              </a:rPr>
              <a:t>portfolio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8186942" y="1386839"/>
            <a:ext cx="2344420" cy="664845"/>
            <a:chOff x="8186942" y="1386839"/>
            <a:chExt cx="2344420" cy="664845"/>
          </a:xfrm>
        </p:grpSpPr>
        <p:sp>
          <p:nvSpPr>
            <p:cNvPr id="56" name="object 56" descr=""/>
            <p:cNvSpPr/>
            <p:nvPr/>
          </p:nvSpPr>
          <p:spPr>
            <a:xfrm>
              <a:off x="8193290" y="1596389"/>
              <a:ext cx="299720" cy="298450"/>
            </a:xfrm>
            <a:custGeom>
              <a:avLst/>
              <a:gdLst/>
              <a:ahLst/>
              <a:cxnLst/>
              <a:rect l="l" t="t" r="r" b="b"/>
              <a:pathLst>
                <a:path w="299720" h="298450">
                  <a:moveTo>
                    <a:pt x="299669" y="101600"/>
                  </a:moveTo>
                  <a:lnTo>
                    <a:pt x="197675" y="101600"/>
                  </a:lnTo>
                  <a:lnTo>
                    <a:pt x="197675" y="0"/>
                  </a:lnTo>
                  <a:lnTo>
                    <a:pt x="101993" y="0"/>
                  </a:lnTo>
                  <a:lnTo>
                    <a:pt x="101993" y="101600"/>
                  </a:lnTo>
                  <a:lnTo>
                    <a:pt x="0" y="101600"/>
                  </a:lnTo>
                  <a:lnTo>
                    <a:pt x="0" y="196850"/>
                  </a:lnTo>
                  <a:lnTo>
                    <a:pt x="101993" y="196850"/>
                  </a:lnTo>
                  <a:lnTo>
                    <a:pt x="101993" y="298450"/>
                  </a:lnTo>
                  <a:lnTo>
                    <a:pt x="197675" y="298450"/>
                  </a:lnTo>
                  <a:lnTo>
                    <a:pt x="197675" y="196850"/>
                  </a:lnTo>
                  <a:lnTo>
                    <a:pt x="299669" y="196850"/>
                  </a:lnTo>
                  <a:lnTo>
                    <a:pt x="299669" y="10160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193292" y="1596397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01639"/>
                  </a:moveTo>
                  <a:lnTo>
                    <a:pt x="101996" y="101639"/>
                  </a:lnTo>
                  <a:lnTo>
                    <a:pt x="101996" y="0"/>
                  </a:lnTo>
                  <a:lnTo>
                    <a:pt x="197675" y="0"/>
                  </a:lnTo>
                  <a:lnTo>
                    <a:pt x="197675" y="101639"/>
                  </a:lnTo>
                  <a:lnTo>
                    <a:pt x="299672" y="101639"/>
                  </a:lnTo>
                  <a:lnTo>
                    <a:pt x="299672" y="197318"/>
                  </a:lnTo>
                  <a:lnTo>
                    <a:pt x="197675" y="197318"/>
                  </a:lnTo>
                  <a:lnTo>
                    <a:pt x="197675" y="298957"/>
                  </a:lnTo>
                  <a:lnTo>
                    <a:pt x="101996" y="298957"/>
                  </a:lnTo>
                  <a:lnTo>
                    <a:pt x="101996" y="197318"/>
                  </a:lnTo>
                  <a:lnTo>
                    <a:pt x="0" y="197318"/>
                  </a:lnTo>
                  <a:lnTo>
                    <a:pt x="0" y="101639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89847" y="1386839"/>
              <a:ext cx="664464" cy="664463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9555238" y="1576069"/>
              <a:ext cx="299720" cy="298450"/>
            </a:xfrm>
            <a:custGeom>
              <a:avLst/>
              <a:gdLst/>
              <a:ahLst/>
              <a:cxnLst/>
              <a:rect l="l" t="t" r="r" b="b"/>
              <a:pathLst>
                <a:path w="299720" h="298450">
                  <a:moveTo>
                    <a:pt x="299681" y="101600"/>
                  </a:moveTo>
                  <a:lnTo>
                    <a:pt x="197675" y="101600"/>
                  </a:lnTo>
                  <a:lnTo>
                    <a:pt x="197675" y="0"/>
                  </a:lnTo>
                  <a:lnTo>
                    <a:pt x="102006" y="0"/>
                  </a:lnTo>
                  <a:lnTo>
                    <a:pt x="102006" y="101600"/>
                  </a:lnTo>
                  <a:lnTo>
                    <a:pt x="0" y="101600"/>
                  </a:lnTo>
                  <a:lnTo>
                    <a:pt x="0" y="196850"/>
                  </a:lnTo>
                  <a:lnTo>
                    <a:pt x="102006" y="196850"/>
                  </a:lnTo>
                  <a:lnTo>
                    <a:pt x="102006" y="298450"/>
                  </a:lnTo>
                  <a:lnTo>
                    <a:pt x="197675" y="298450"/>
                  </a:lnTo>
                  <a:lnTo>
                    <a:pt x="197675" y="196850"/>
                  </a:lnTo>
                  <a:lnTo>
                    <a:pt x="299681" y="196850"/>
                  </a:lnTo>
                  <a:lnTo>
                    <a:pt x="299681" y="10160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555250" y="1575967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01639"/>
                  </a:moveTo>
                  <a:lnTo>
                    <a:pt x="101996" y="101639"/>
                  </a:lnTo>
                  <a:lnTo>
                    <a:pt x="101996" y="0"/>
                  </a:lnTo>
                  <a:lnTo>
                    <a:pt x="197675" y="0"/>
                  </a:lnTo>
                  <a:lnTo>
                    <a:pt x="197675" y="101639"/>
                  </a:lnTo>
                  <a:lnTo>
                    <a:pt x="299672" y="101639"/>
                  </a:lnTo>
                  <a:lnTo>
                    <a:pt x="299672" y="197318"/>
                  </a:lnTo>
                  <a:lnTo>
                    <a:pt x="197675" y="197318"/>
                  </a:lnTo>
                  <a:lnTo>
                    <a:pt x="197675" y="298957"/>
                  </a:lnTo>
                  <a:lnTo>
                    <a:pt x="101996" y="298957"/>
                  </a:lnTo>
                  <a:lnTo>
                    <a:pt x="101996" y="197318"/>
                  </a:lnTo>
                  <a:lnTo>
                    <a:pt x="0" y="197318"/>
                  </a:lnTo>
                  <a:lnTo>
                    <a:pt x="0" y="101639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7377" y="1504720"/>
              <a:ext cx="503739" cy="503739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10604525" y="1512315"/>
            <a:ext cx="8121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55">
                <a:latin typeface="Arial MT"/>
                <a:cs typeface="Arial MT"/>
              </a:rPr>
              <a:t>Smart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60">
                <a:latin typeface="Arial MT"/>
                <a:cs typeface="Arial MT"/>
              </a:rPr>
              <a:t>meter </a:t>
            </a:r>
            <a:r>
              <a:rPr dirty="0" sz="1000" spc="105">
                <a:latin typeface="Arial MT"/>
                <a:cs typeface="Arial MT"/>
              </a:rPr>
              <a:t>to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70">
                <a:latin typeface="Arial MT"/>
                <a:cs typeface="Arial MT"/>
              </a:rPr>
              <a:t>monitor </a:t>
            </a:r>
            <a:r>
              <a:rPr dirty="0" sz="1000" spc="75">
                <a:latin typeface="Arial MT"/>
                <a:cs typeface="Arial MT"/>
              </a:rPr>
              <a:t>grid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&amp;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solar </a:t>
            </a:r>
            <a:r>
              <a:rPr dirty="0" sz="1000" spc="-25">
                <a:latin typeface="Arial MT"/>
                <a:cs typeface="Arial MT"/>
              </a:rPr>
              <a:t>use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7236328" y="2027428"/>
            <a:ext cx="234696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dirty="0" sz="1000">
                <a:latin typeface="Arial MT"/>
                <a:cs typeface="Arial MT"/>
              </a:rPr>
              <a:t>Solar</a:t>
            </a:r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panel</a:t>
            </a:r>
            <a:r>
              <a:rPr dirty="0" sz="1000">
                <a:latin typeface="Arial MT"/>
                <a:cs typeface="Arial MT"/>
              </a:rPr>
              <a:t>	In-</a:t>
            </a:r>
            <a:r>
              <a:rPr dirty="0" sz="1000" spc="60">
                <a:latin typeface="Arial MT"/>
                <a:cs typeface="Arial MT"/>
              </a:rPr>
              <a:t>station</a:t>
            </a:r>
            <a:r>
              <a:rPr dirty="0" sz="1000" spc="17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battery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Arial MT"/>
              <a:cs typeface="Arial MT"/>
            </a:endParaRPr>
          </a:p>
          <a:p>
            <a:pPr marL="112395">
              <a:lnSpc>
                <a:spcPct val="100000"/>
              </a:lnSpc>
            </a:pPr>
            <a:r>
              <a:rPr dirty="0" sz="1150" spc="135">
                <a:solidFill>
                  <a:srgbClr val="7030A0"/>
                </a:solidFill>
                <a:latin typeface="Arial MT"/>
                <a:cs typeface="Arial MT"/>
              </a:rPr>
              <a:t>Active</a:t>
            </a:r>
            <a:r>
              <a:rPr dirty="0" sz="1150" spc="10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load</a:t>
            </a:r>
            <a:r>
              <a:rPr dirty="0" sz="1150" spc="11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20">
                <a:solidFill>
                  <a:srgbClr val="7030A0"/>
                </a:solidFill>
                <a:latin typeface="Arial MT"/>
                <a:cs typeface="Arial MT"/>
              </a:rPr>
              <a:t>management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802048" y="2371583"/>
            <a:ext cx="207962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70">
                <a:solidFill>
                  <a:srgbClr val="7030A0"/>
                </a:solidFill>
                <a:latin typeface="Arial MT"/>
                <a:cs typeface="Arial MT"/>
              </a:rPr>
              <a:t>Passive</a:t>
            </a:r>
            <a:r>
              <a:rPr dirty="0" sz="1150" spc="11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load </a:t>
            </a:r>
            <a:r>
              <a:rPr dirty="0" sz="1150" spc="120">
                <a:solidFill>
                  <a:srgbClr val="7030A0"/>
                </a:solidFill>
                <a:latin typeface="Arial MT"/>
                <a:cs typeface="Arial MT"/>
              </a:rPr>
              <a:t>management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0834796" y="2707132"/>
            <a:ext cx="7321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latin typeface="Arial MT"/>
                <a:cs typeface="Arial MT"/>
              </a:rPr>
              <a:t>Time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of </a:t>
            </a:r>
            <a:r>
              <a:rPr dirty="0" sz="1000" spc="70">
                <a:latin typeface="Arial MT"/>
                <a:cs typeface="Arial MT"/>
              </a:rPr>
              <a:t>day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55">
                <a:latin typeface="Arial MT"/>
                <a:cs typeface="Arial MT"/>
              </a:rPr>
              <a:t>pricing (static)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8496110" y="2655230"/>
            <a:ext cx="2281555" cy="622935"/>
            <a:chOff x="8496110" y="2655230"/>
            <a:chExt cx="2281555" cy="622935"/>
          </a:xfrm>
        </p:grpSpPr>
        <p:pic>
          <p:nvPicPr>
            <p:cNvPr id="67" name="object 6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2302" y="2662465"/>
              <a:ext cx="615281" cy="615282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96110" y="2655230"/>
              <a:ext cx="572717" cy="572717"/>
            </a:xfrm>
            <a:prstGeom prst="rect">
              <a:avLst/>
            </a:prstGeom>
          </p:spPr>
        </p:pic>
      </p:grpSp>
      <p:sp>
        <p:nvSpPr>
          <p:cNvPr id="69" name="object 69" descr=""/>
          <p:cNvSpPr txBox="1"/>
          <p:nvPr/>
        </p:nvSpPr>
        <p:spPr>
          <a:xfrm>
            <a:off x="7630748" y="2725420"/>
            <a:ext cx="5797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dirty="0" sz="1000" spc="35">
                <a:latin typeface="Arial MT"/>
                <a:cs typeface="Arial MT"/>
              </a:rPr>
              <a:t>Variable </a:t>
            </a:r>
            <a:r>
              <a:rPr dirty="0" sz="1000" spc="55">
                <a:latin typeface="Arial MT"/>
                <a:cs typeface="Arial MT"/>
              </a:rPr>
              <a:t>charging </a:t>
            </a:r>
            <a:r>
              <a:rPr dirty="0" sz="1000" spc="-10">
                <a:latin typeface="Arial MT"/>
                <a:cs typeface="Arial MT"/>
              </a:rPr>
              <a:t>Speed*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9102508" y="2774188"/>
            <a:ext cx="5772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 marR="5080" indent="-7747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latin typeface="Arial MT"/>
                <a:cs typeface="Arial MT"/>
              </a:rPr>
              <a:t>Dynamic </a:t>
            </a:r>
            <a:r>
              <a:rPr dirty="0" sz="1000" spc="55">
                <a:latin typeface="Arial MT"/>
                <a:cs typeface="Arial MT"/>
              </a:rPr>
              <a:t>pricing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409239" y="3572495"/>
            <a:ext cx="170688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Multi-</a:t>
            </a:r>
            <a:r>
              <a:rPr dirty="0" sz="1150" spc="120">
                <a:solidFill>
                  <a:srgbClr val="7030A0"/>
                </a:solidFill>
                <a:latin typeface="Arial MT"/>
                <a:cs typeface="Arial MT"/>
              </a:rPr>
              <a:t>charging </a:t>
            </a: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points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9994159" y="3563351"/>
            <a:ext cx="151320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10">
                <a:solidFill>
                  <a:srgbClr val="7030A0"/>
                </a:solidFill>
                <a:latin typeface="Arial MT"/>
                <a:cs typeface="Arial MT"/>
              </a:rPr>
              <a:t>Smart </a:t>
            </a:r>
            <a:r>
              <a:rPr dirty="0" sz="1150" spc="120">
                <a:solidFill>
                  <a:srgbClr val="7030A0"/>
                </a:solidFill>
                <a:latin typeface="Arial MT"/>
                <a:cs typeface="Arial MT"/>
              </a:rPr>
              <a:t>connectivity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287586" y="4301235"/>
            <a:ext cx="18053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5555" sz="1500" spc="82">
                <a:latin typeface="Arial MT"/>
                <a:cs typeface="Arial MT"/>
              </a:rPr>
              <a:t>CHAdeMo</a:t>
            </a:r>
            <a:r>
              <a:rPr dirty="0" baseline="5555" sz="1500" spc="330">
                <a:latin typeface="Arial MT"/>
                <a:cs typeface="Arial MT"/>
              </a:rPr>
              <a:t> </a:t>
            </a:r>
            <a:r>
              <a:rPr dirty="0" sz="1000" spc="75">
                <a:latin typeface="Arial MT"/>
                <a:cs typeface="Arial MT"/>
              </a:rPr>
              <a:t>Combo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</a:t>
            </a:r>
            <a:r>
              <a:rPr dirty="0" sz="1000" spc="310">
                <a:latin typeface="Arial MT"/>
                <a:cs typeface="Arial MT"/>
              </a:rPr>
              <a:t> </a:t>
            </a:r>
            <a:r>
              <a:rPr dirty="0" baseline="2777" sz="1500" spc="89">
                <a:latin typeface="Arial MT"/>
                <a:cs typeface="Arial MT"/>
              </a:rPr>
              <a:t>Type</a:t>
            </a:r>
            <a:r>
              <a:rPr dirty="0" baseline="2777" sz="1500" spc="52">
                <a:latin typeface="Arial MT"/>
                <a:cs typeface="Arial MT"/>
              </a:rPr>
              <a:t> </a:t>
            </a:r>
            <a:r>
              <a:rPr dirty="0" baseline="2777" sz="1500" spc="-75">
                <a:latin typeface="Arial MT"/>
                <a:cs typeface="Arial MT"/>
              </a:rPr>
              <a:t>2</a:t>
            </a:r>
            <a:endParaRPr baseline="2777" sz="1500">
              <a:latin typeface="Arial MT"/>
              <a:cs typeface="Arial MT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10764132" y="3909633"/>
            <a:ext cx="312420" cy="311785"/>
            <a:chOff x="10764132" y="3909633"/>
            <a:chExt cx="312420" cy="311785"/>
          </a:xfrm>
        </p:grpSpPr>
        <p:sp>
          <p:nvSpPr>
            <p:cNvPr id="75" name="object 75" descr=""/>
            <p:cNvSpPr/>
            <p:nvPr/>
          </p:nvSpPr>
          <p:spPr>
            <a:xfrm>
              <a:off x="10770476" y="3915409"/>
              <a:ext cx="299720" cy="299720"/>
            </a:xfrm>
            <a:custGeom>
              <a:avLst/>
              <a:gdLst/>
              <a:ahLst/>
              <a:cxnLst/>
              <a:rect l="l" t="t" r="r" b="b"/>
              <a:pathLst>
                <a:path w="299720" h="299720">
                  <a:moveTo>
                    <a:pt x="299669" y="101600"/>
                  </a:moveTo>
                  <a:lnTo>
                    <a:pt x="197675" y="101600"/>
                  </a:lnTo>
                  <a:lnTo>
                    <a:pt x="197675" y="0"/>
                  </a:lnTo>
                  <a:lnTo>
                    <a:pt x="101993" y="0"/>
                  </a:lnTo>
                  <a:lnTo>
                    <a:pt x="101993" y="101600"/>
                  </a:lnTo>
                  <a:lnTo>
                    <a:pt x="0" y="101600"/>
                  </a:lnTo>
                  <a:lnTo>
                    <a:pt x="0" y="198120"/>
                  </a:lnTo>
                  <a:lnTo>
                    <a:pt x="101993" y="198120"/>
                  </a:lnTo>
                  <a:lnTo>
                    <a:pt x="101993" y="299720"/>
                  </a:lnTo>
                  <a:lnTo>
                    <a:pt x="197675" y="299720"/>
                  </a:lnTo>
                  <a:lnTo>
                    <a:pt x="197675" y="198120"/>
                  </a:lnTo>
                  <a:lnTo>
                    <a:pt x="299669" y="198120"/>
                  </a:lnTo>
                  <a:lnTo>
                    <a:pt x="299669" y="10160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770482" y="3915983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01639"/>
                  </a:moveTo>
                  <a:lnTo>
                    <a:pt x="101996" y="101639"/>
                  </a:lnTo>
                  <a:lnTo>
                    <a:pt x="101996" y="0"/>
                  </a:lnTo>
                  <a:lnTo>
                    <a:pt x="197675" y="0"/>
                  </a:lnTo>
                  <a:lnTo>
                    <a:pt x="197675" y="101639"/>
                  </a:lnTo>
                  <a:lnTo>
                    <a:pt x="299672" y="101639"/>
                  </a:lnTo>
                  <a:lnTo>
                    <a:pt x="299672" y="197318"/>
                  </a:lnTo>
                  <a:lnTo>
                    <a:pt x="197675" y="197318"/>
                  </a:lnTo>
                  <a:lnTo>
                    <a:pt x="197675" y="298957"/>
                  </a:lnTo>
                  <a:lnTo>
                    <a:pt x="101996" y="298957"/>
                  </a:lnTo>
                  <a:lnTo>
                    <a:pt x="101996" y="197318"/>
                  </a:lnTo>
                  <a:lnTo>
                    <a:pt x="0" y="197318"/>
                  </a:lnTo>
                  <a:lnTo>
                    <a:pt x="0" y="101639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10067841" y="4295140"/>
            <a:ext cx="397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latin typeface="Arial MT"/>
                <a:cs typeface="Arial MT"/>
              </a:rPr>
              <a:t>Cloud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1311394" y="4313428"/>
            <a:ext cx="2070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25">
                <a:latin typeface="Arial MT"/>
                <a:cs typeface="Arial MT"/>
              </a:rPr>
              <a:t>EV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5239511" y="5058990"/>
            <a:ext cx="622300" cy="1416685"/>
            <a:chOff x="5239511" y="5058990"/>
            <a:chExt cx="622300" cy="1416685"/>
          </a:xfrm>
        </p:grpSpPr>
        <p:pic>
          <p:nvPicPr>
            <p:cNvPr id="80" name="object 8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17774" y="5058990"/>
              <a:ext cx="396221" cy="39191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29182" y="6087016"/>
              <a:ext cx="396241" cy="388119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39511" y="5425439"/>
              <a:ext cx="621791" cy="624840"/>
            </a:xfrm>
            <a:prstGeom prst="rect">
              <a:avLst/>
            </a:prstGeom>
          </p:spPr>
        </p:pic>
      </p:grpSp>
      <p:sp>
        <p:nvSpPr>
          <p:cNvPr id="83" name="object 83" descr=""/>
          <p:cNvSpPr txBox="1"/>
          <p:nvPr/>
        </p:nvSpPr>
        <p:spPr>
          <a:xfrm>
            <a:off x="409044" y="5145804"/>
            <a:ext cx="321564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5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385"/>
              </a:spcBef>
            </a:pPr>
            <a:r>
              <a:rPr dirty="0" sz="1150" spc="130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Charge</a:t>
            </a: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30">
                <a:solidFill>
                  <a:srgbClr val="FFFFFF"/>
                </a:solidFill>
                <a:latin typeface="Arial MT"/>
                <a:cs typeface="Arial MT"/>
              </a:rPr>
              <a:t>Protocol</a:t>
            </a: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(OCPP)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3844385" y="5185271"/>
            <a:ext cx="137350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>
                <a:solidFill>
                  <a:srgbClr val="7030A0"/>
                </a:solidFill>
                <a:latin typeface="Arial MT"/>
                <a:cs typeface="Arial MT"/>
              </a:rPr>
              <a:t>EVSE-CMS</a:t>
            </a:r>
            <a:r>
              <a:rPr dirty="0" sz="1050" spc="3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050" spc="90">
                <a:solidFill>
                  <a:srgbClr val="7030A0"/>
                </a:solidFill>
                <a:latin typeface="Arial MT"/>
                <a:cs typeface="Arial MT"/>
              </a:rPr>
              <a:t>network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09878" y="5523939"/>
            <a:ext cx="3215640" cy="462280"/>
          </a:xfrm>
          <a:prstGeom prst="rect">
            <a:avLst/>
          </a:prstGeom>
          <a:solidFill>
            <a:srgbClr val="8537BE"/>
          </a:solidFill>
        </p:spPr>
        <p:txBody>
          <a:bodyPr wrap="square" lIns="0" tIns="31750" rIns="0" bIns="0" rtlCol="0" vert="horz">
            <a:spAutoFit/>
          </a:bodyPr>
          <a:lstStyle/>
          <a:p>
            <a:pPr marL="1336675" marR="112395" indent="-1220470">
              <a:lnSpc>
                <a:spcPct val="109600"/>
              </a:lnSpc>
              <a:spcBef>
                <a:spcPts val="250"/>
              </a:spcBef>
            </a:pPr>
            <a:r>
              <a:rPr dirty="0" sz="1150" spc="130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Charge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Protocol </a:t>
            </a: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(OCPI)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409878" y="6103824"/>
            <a:ext cx="3215640" cy="462280"/>
          </a:xfrm>
          <a:prstGeom prst="rect">
            <a:avLst/>
          </a:prstGeom>
          <a:solidFill>
            <a:srgbClr val="8537BE"/>
          </a:solidFill>
        </p:spPr>
        <p:txBody>
          <a:bodyPr wrap="square" lIns="0" tIns="37465" rIns="0" bIns="0" rtlCol="0" vert="horz">
            <a:spAutoFit/>
          </a:bodyPr>
          <a:lstStyle/>
          <a:p>
            <a:pPr marL="1143635" marR="160020" indent="-979805">
              <a:lnSpc>
                <a:spcPct val="107800"/>
              </a:lnSpc>
              <a:spcBef>
                <a:spcPts val="295"/>
              </a:spcBef>
            </a:pPr>
            <a:r>
              <a:rPr dirty="0" sz="1150" spc="130">
                <a:solidFill>
                  <a:srgbClr val="FFFFFF"/>
                </a:solidFill>
                <a:latin typeface="Arial MT"/>
                <a:cs typeface="Arial MT"/>
              </a:rPr>
              <a:t>Open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50">
                <a:solidFill>
                  <a:srgbClr val="FFFFFF"/>
                </a:solidFill>
                <a:latin typeface="Arial MT"/>
                <a:cs typeface="Arial MT"/>
              </a:rPr>
              <a:t>Automated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85">
                <a:solidFill>
                  <a:srgbClr val="FFFFFF"/>
                </a:solidFill>
                <a:latin typeface="Arial MT"/>
                <a:cs typeface="Arial MT"/>
              </a:rPr>
              <a:t>Response 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(OpenADR)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3873581" y="5554079"/>
            <a:ext cx="1184910" cy="3422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99085" marR="5080" indent="-287020">
              <a:lnSpc>
                <a:spcPts val="1200"/>
              </a:lnSpc>
              <a:spcBef>
                <a:spcPts val="215"/>
              </a:spcBef>
            </a:pPr>
            <a:r>
              <a:rPr dirty="0" sz="1050">
                <a:solidFill>
                  <a:srgbClr val="7030A0"/>
                </a:solidFill>
                <a:latin typeface="Arial MT"/>
                <a:cs typeface="Arial MT"/>
              </a:rPr>
              <a:t>EVSE-</a:t>
            </a:r>
            <a:r>
              <a:rPr dirty="0" sz="1050" spc="65">
                <a:solidFill>
                  <a:srgbClr val="7030A0"/>
                </a:solidFill>
                <a:latin typeface="Arial MT"/>
                <a:cs typeface="Arial MT"/>
              </a:rPr>
              <a:t>EV</a:t>
            </a:r>
            <a:r>
              <a:rPr dirty="0" sz="1050" spc="2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050" spc="55">
                <a:solidFill>
                  <a:srgbClr val="7030A0"/>
                </a:solidFill>
                <a:latin typeface="Arial MT"/>
                <a:cs typeface="Arial MT"/>
              </a:rPr>
              <a:t>service </a:t>
            </a:r>
            <a:r>
              <a:rPr dirty="0" sz="1050" spc="80">
                <a:solidFill>
                  <a:srgbClr val="7030A0"/>
                </a:solidFill>
                <a:latin typeface="Arial MT"/>
                <a:cs typeface="Arial MT"/>
              </a:rPr>
              <a:t>provider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3906918" y="6169775"/>
            <a:ext cx="1118235" cy="18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50">
                <a:solidFill>
                  <a:srgbClr val="7030A0"/>
                </a:solidFill>
                <a:latin typeface="Arial MT"/>
                <a:cs typeface="Arial MT"/>
              </a:rPr>
              <a:t>EVSE-</a:t>
            </a:r>
            <a:r>
              <a:rPr dirty="0" sz="1050" spc="-10">
                <a:solidFill>
                  <a:srgbClr val="7030A0"/>
                </a:solidFill>
                <a:latin typeface="Arial MT"/>
                <a:cs typeface="Arial MT"/>
              </a:rPr>
              <a:t>DISCOMS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6066582" y="5040586"/>
            <a:ext cx="1562100" cy="548005"/>
            <a:chOff x="6066582" y="5040586"/>
            <a:chExt cx="1562100" cy="548005"/>
          </a:xfrm>
        </p:grpSpPr>
        <p:sp>
          <p:nvSpPr>
            <p:cNvPr id="90" name="object 90" descr=""/>
            <p:cNvSpPr/>
            <p:nvPr/>
          </p:nvSpPr>
          <p:spPr>
            <a:xfrm>
              <a:off x="6072932" y="5046936"/>
              <a:ext cx="1549400" cy="535305"/>
            </a:xfrm>
            <a:custGeom>
              <a:avLst/>
              <a:gdLst/>
              <a:ahLst/>
              <a:cxnLst/>
              <a:rect l="l" t="t" r="r" b="b"/>
              <a:pathLst>
                <a:path w="1549400" h="535304">
                  <a:moveTo>
                    <a:pt x="1281379" y="0"/>
                  </a:moveTo>
                  <a:lnTo>
                    <a:pt x="1281379" y="133753"/>
                  </a:lnTo>
                  <a:lnTo>
                    <a:pt x="0" y="133753"/>
                  </a:lnTo>
                  <a:lnTo>
                    <a:pt x="0" y="401260"/>
                  </a:lnTo>
                  <a:lnTo>
                    <a:pt x="1281379" y="401260"/>
                  </a:lnTo>
                  <a:lnTo>
                    <a:pt x="1281379" y="535015"/>
                  </a:lnTo>
                  <a:lnTo>
                    <a:pt x="1548885" y="267508"/>
                  </a:lnTo>
                  <a:lnTo>
                    <a:pt x="1281379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072932" y="5046936"/>
              <a:ext cx="1549400" cy="535305"/>
            </a:xfrm>
            <a:custGeom>
              <a:avLst/>
              <a:gdLst/>
              <a:ahLst/>
              <a:cxnLst/>
              <a:rect l="l" t="t" r="r" b="b"/>
              <a:pathLst>
                <a:path w="1549400" h="535304">
                  <a:moveTo>
                    <a:pt x="0" y="133754"/>
                  </a:moveTo>
                  <a:lnTo>
                    <a:pt x="1281380" y="133754"/>
                  </a:lnTo>
                  <a:lnTo>
                    <a:pt x="1281380" y="0"/>
                  </a:lnTo>
                  <a:lnTo>
                    <a:pt x="1548886" y="267508"/>
                  </a:lnTo>
                  <a:lnTo>
                    <a:pt x="1281380" y="535015"/>
                  </a:lnTo>
                  <a:lnTo>
                    <a:pt x="1281380" y="401260"/>
                  </a:lnTo>
                  <a:lnTo>
                    <a:pt x="0" y="401260"/>
                  </a:lnTo>
                  <a:lnTo>
                    <a:pt x="0" y="133754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6205029" y="5221223"/>
            <a:ext cx="11550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dirty="0" sz="110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enabled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732575" y="5083054"/>
            <a:ext cx="1929764" cy="580390"/>
            <a:chOff x="7732575" y="5083054"/>
            <a:chExt cx="1929764" cy="580390"/>
          </a:xfrm>
        </p:grpSpPr>
        <p:pic>
          <p:nvPicPr>
            <p:cNvPr id="94" name="object 9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8975" y="5148071"/>
              <a:ext cx="1853183" cy="515112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7897933" y="5222590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751625" y="5102104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0" y="99364"/>
                  </a:lnTo>
                  <a:lnTo>
                    <a:pt x="0" y="145285"/>
                  </a:lnTo>
                  <a:lnTo>
                    <a:pt x="8020" y="191207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0"/>
                  </a:lnTo>
                  <a:lnTo>
                    <a:pt x="207063" y="283164"/>
                  </a:lnTo>
                  <a:lnTo>
                    <a:pt x="250253" y="262539"/>
                  </a:lnTo>
                  <a:lnTo>
                    <a:pt x="284311" y="231089"/>
                  </a:lnTo>
                  <a:lnTo>
                    <a:pt x="306646" y="191207"/>
                  </a:lnTo>
                  <a:lnTo>
                    <a:pt x="314667" y="145285"/>
                  </a:lnTo>
                  <a:lnTo>
                    <a:pt x="306646" y="99364"/>
                  </a:lnTo>
                  <a:lnTo>
                    <a:pt x="284311" y="59481"/>
                  </a:lnTo>
                  <a:lnTo>
                    <a:pt x="250253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751625" y="5102104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 txBox="1"/>
          <p:nvPr/>
        </p:nvSpPr>
        <p:spPr>
          <a:xfrm>
            <a:off x="7867683" y="5145263"/>
            <a:ext cx="8001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65">
                <a:solidFill>
                  <a:srgbClr val="7030A0"/>
                </a:solidFill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99" name="object 99" descr=""/>
          <p:cNvGrpSpPr/>
          <p:nvPr/>
        </p:nvGrpSpPr>
        <p:grpSpPr>
          <a:xfrm>
            <a:off x="9794923" y="5045984"/>
            <a:ext cx="1931035" cy="581025"/>
            <a:chOff x="9794923" y="5045984"/>
            <a:chExt cx="1931035" cy="581025"/>
          </a:xfrm>
        </p:grpSpPr>
        <p:pic>
          <p:nvPicPr>
            <p:cNvPr id="100" name="object 10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72471" y="5111495"/>
              <a:ext cx="1853183" cy="515112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9960280" y="5185520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813973" y="5065034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0" y="99363"/>
                  </a:lnTo>
                  <a:lnTo>
                    <a:pt x="0" y="145285"/>
                  </a:lnTo>
                  <a:lnTo>
                    <a:pt x="8020" y="191206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0"/>
                  </a:lnTo>
                  <a:lnTo>
                    <a:pt x="207063" y="283164"/>
                  </a:lnTo>
                  <a:lnTo>
                    <a:pt x="250252" y="262539"/>
                  </a:lnTo>
                  <a:lnTo>
                    <a:pt x="284311" y="231089"/>
                  </a:lnTo>
                  <a:lnTo>
                    <a:pt x="306646" y="191206"/>
                  </a:lnTo>
                  <a:lnTo>
                    <a:pt x="314667" y="145285"/>
                  </a:lnTo>
                  <a:lnTo>
                    <a:pt x="306646" y="99363"/>
                  </a:lnTo>
                  <a:lnTo>
                    <a:pt x="284311" y="59481"/>
                  </a:lnTo>
                  <a:lnTo>
                    <a:pt x="250252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813973" y="5065034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9906219" y="5105639"/>
            <a:ext cx="12827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14">
                <a:solidFill>
                  <a:srgbClr val="7030A0"/>
                </a:solidFill>
                <a:latin typeface="Arial MT"/>
                <a:cs typeface="Arial MT"/>
              </a:rPr>
              <a:t>4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7732575" y="5617748"/>
            <a:ext cx="1929764" cy="582295"/>
            <a:chOff x="7732575" y="5617748"/>
            <a:chExt cx="1929764" cy="582295"/>
          </a:xfrm>
        </p:grpSpPr>
        <p:pic>
          <p:nvPicPr>
            <p:cNvPr id="106" name="object 10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08975" y="5681471"/>
              <a:ext cx="1853183" cy="518159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7897933" y="5757285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7751625" y="5636798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0" y="99364"/>
                  </a:lnTo>
                  <a:lnTo>
                    <a:pt x="0" y="145285"/>
                  </a:lnTo>
                  <a:lnTo>
                    <a:pt x="8020" y="191206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1"/>
                  </a:lnTo>
                  <a:lnTo>
                    <a:pt x="207063" y="283164"/>
                  </a:lnTo>
                  <a:lnTo>
                    <a:pt x="250253" y="262539"/>
                  </a:lnTo>
                  <a:lnTo>
                    <a:pt x="284311" y="231089"/>
                  </a:lnTo>
                  <a:lnTo>
                    <a:pt x="306646" y="191206"/>
                  </a:lnTo>
                  <a:lnTo>
                    <a:pt x="314667" y="145285"/>
                  </a:lnTo>
                  <a:lnTo>
                    <a:pt x="306646" y="99364"/>
                  </a:lnTo>
                  <a:lnTo>
                    <a:pt x="284311" y="59481"/>
                  </a:lnTo>
                  <a:lnTo>
                    <a:pt x="250253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7751625" y="5636798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7849427" y="5678663"/>
            <a:ext cx="116839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25">
                <a:solidFill>
                  <a:srgbClr val="7030A0"/>
                </a:solidFill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9794923" y="5580677"/>
            <a:ext cx="1931035" cy="582930"/>
            <a:chOff x="9794923" y="5580677"/>
            <a:chExt cx="1931035" cy="582930"/>
          </a:xfrm>
        </p:grpSpPr>
        <p:pic>
          <p:nvPicPr>
            <p:cNvPr id="112" name="object 11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72471" y="5644895"/>
              <a:ext cx="1853183" cy="518159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9960280" y="5720213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813973" y="5599727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0" y="99364"/>
                  </a:lnTo>
                  <a:lnTo>
                    <a:pt x="0" y="145285"/>
                  </a:lnTo>
                  <a:lnTo>
                    <a:pt x="8020" y="191206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0"/>
                  </a:lnTo>
                  <a:lnTo>
                    <a:pt x="207063" y="283164"/>
                  </a:lnTo>
                  <a:lnTo>
                    <a:pt x="250252" y="262539"/>
                  </a:lnTo>
                  <a:lnTo>
                    <a:pt x="284311" y="231089"/>
                  </a:lnTo>
                  <a:lnTo>
                    <a:pt x="306646" y="191206"/>
                  </a:lnTo>
                  <a:lnTo>
                    <a:pt x="314667" y="145285"/>
                  </a:lnTo>
                  <a:lnTo>
                    <a:pt x="306646" y="99364"/>
                  </a:lnTo>
                  <a:lnTo>
                    <a:pt x="284311" y="59481"/>
                  </a:lnTo>
                  <a:lnTo>
                    <a:pt x="250252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9813973" y="5599727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 descr=""/>
          <p:cNvSpPr txBox="1"/>
          <p:nvPr/>
        </p:nvSpPr>
        <p:spPr>
          <a:xfrm>
            <a:off x="9910188" y="5642087"/>
            <a:ext cx="11874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45">
                <a:solidFill>
                  <a:srgbClr val="7030A0"/>
                </a:solidFill>
                <a:latin typeface="Arial MT"/>
                <a:cs typeface="Arial MT"/>
              </a:rPr>
              <a:t>5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7" name="object 117" descr=""/>
          <p:cNvGrpSpPr/>
          <p:nvPr/>
        </p:nvGrpSpPr>
        <p:grpSpPr>
          <a:xfrm>
            <a:off x="7747489" y="6090385"/>
            <a:ext cx="1930400" cy="582295"/>
            <a:chOff x="7747489" y="6090385"/>
            <a:chExt cx="1930400" cy="582295"/>
          </a:xfrm>
        </p:grpSpPr>
        <p:pic>
          <p:nvPicPr>
            <p:cNvPr id="118" name="object 11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24215" y="6153911"/>
              <a:ext cx="1853183" cy="518159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7912848" y="6229921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766539" y="6109435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0" y="99364"/>
                  </a:lnTo>
                  <a:lnTo>
                    <a:pt x="0" y="145285"/>
                  </a:lnTo>
                  <a:lnTo>
                    <a:pt x="8020" y="191206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0"/>
                  </a:lnTo>
                  <a:lnTo>
                    <a:pt x="207063" y="283164"/>
                  </a:lnTo>
                  <a:lnTo>
                    <a:pt x="250253" y="262539"/>
                  </a:lnTo>
                  <a:lnTo>
                    <a:pt x="284311" y="231089"/>
                  </a:lnTo>
                  <a:lnTo>
                    <a:pt x="306646" y="191206"/>
                  </a:lnTo>
                  <a:lnTo>
                    <a:pt x="314667" y="145285"/>
                  </a:lnTo>
                  <a:lnTo>
                    <a:pt x="306646" y="99364"/>
                  </a:lnTo>
                  <a:lnTo>
                    <a:pt x="284311" y="59481"/>
                  </a:lnTo>
                  <a:lnTo>
                    <a:pt x="250253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766539" y="6109435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 txBox="1"/>
          <p:nvPr/>
        </p:nvSpPr>
        <p:spPr>
          <a:xfrm>
            <a:off x="7862755" y="6151104"/>
            <a:ext cx="11938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45">
                <a:solidFill>
                  <a:srgbClr val="7030A0"/>
                </a:solidFill>
                <a:latin typeface="Arial MT"/>
                <a:cs typeface="Arial MT"/>
              </a:rPr>
              <a:t>3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9809978" y="6090385"/>
            <a:ext cx="1931035" cy="582295"/>
            <a:chOff x="9809978" y="6090385"/>
            <a:chExt cx="1931035" cy="582295"/>
          </a:xfrm>
        </p:grpSpPr>
        <p:pic>
          <p:nvPicPr>
            <p:cNvPr id="124" name="object 12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87711" y="6153911"/>
              <a:ext cx="1853183" cy="518159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9975337" y="6229921"/>
              <a:ext cx="1677670" cy="367030"/>
            </a:xfrm>
            <a:custGeom>
              <a:avLst/>
              <a:gdLst/>
              <a:ahLst/>
              <a:cxnLst/>
              <a:rect l="l" t="t" r="r" b="b"/>
              <a:pathLst>
                <a:path w="1677670" h="367029">
                  <a:moveTo>
                    <a:pt x="0" y="47871"/>
                  </a:moveTo>
                  <a:lnTo>
                    <a:pt x="3761" y="29237"/>
                  </a:lnTo>
                  <a:lnTo>
                    <a:pt x="14021" y="14021"/>
                  </a:lnTo>
                  <a:lnTo>
                    <a:pt x="29237" y="3761"/>
                  </a:lnTo>
                  <a:lnTo>
                    <a:pt x="47871" y="0"/>
                  </a:lnTo>
                  <a:lnTo>
                    <a:pt x="1629464" y="0"/>
                  </a:lnTo>
                  <a:lnTo>
                    <a:pt x="1648097" y="3761"/>
                  </a:lnTo>
                  <a:lnTo>
                    <a:pt x="1663313" y="14021"/>
                  </a:lnTo>
                  <a:lnTo>
                    <a:pt x="1673573" y="29237"/>
                  </a:lnTo>
                  <a:lnTo>
                    <a:pt x="1677335" y="47871"/>
                  </a:lnTo>
                  <a:lnTo>
                    <a:pt x="1677335" y="318907"/>
                  </a:lnTo>
                  <a:lnTo>
                    <a:pt x="1673573" y="337541"/>
                  </a:lnTo>
                  <a:lnTo>
                    <a:pt x="1663313" y="352757"/>
                  </a:lnTo>
                  <a:lnTo>
                    <a:pt x="1648097" y="363017"/>
                  </a:lnTo>
                  <a:lnTo>
                    <a:pt x="1629464" y="366779"/>
                  </a:lnTo>
                  <a:lnTo>
                    <a:pt x="47871" y="366779"/>
                  </a:lnTo>
                  <a:lnTo>
                    <a:pt x="29237" y="363017"/>
                  </a:lnTo>
                  <a:lnTo>
                    <a:pt x="14021" y="352757"/>
                  </a:lnTo>
                  <a:lnTo>
                    <a:pt x="3761" y="337541"/>
                  </a:lnTo>
                  <a:lnTo>
                    <a:pt x="0" y="318907"/>
                  </a:lnTo>
                  <a:lnTo>
                    <a:pt x="0" y="47871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9829028" y="6109435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157333" y="0"/>
                  </a:moveTo>
                  <a:lnTo>
                    <a:pt x="107604" y="7406"/>
                  </a:lnTo>
                  <a:lnTo>
                    <a:pt x="64414" y="28031"/>
                  </a:lnTo>
                  <a:lnTo>
                    <a:pt x="30356" y="59481"/>
                  </a:lnTo>
                  <a:lnTo>
                    <a:pt x="8021" y="99364"/>
                  </a:lnTo>
                  <a:lnTo>
                    <a:pt x="0" y="145285"/>
                  </a:lnTo>
                  <a:lnTo>
                    <a:pt x="8021" y="191206"/>
                  </a:lnTo>
                  <a:lnTo>
                    <a:pt x="30356" y="231089"/>
                  </a:lnTo>
                  <a:lnTo>
                    <a:pt x="64414" y="262539"/>
                  </a:lnTo>
                  <a:lnTo>
                    <a:pt x="107604" y="283164"/>
                  </a:lnTo>
                  <a:lnTo>
                    <a:pt x="157333" y="290570"/>
                  </a:lnTo>
                  <a:lnTo>
                    <a:pt x="207063" y="283164"/>
                  </a:lnTo>
                  <a:lnTo>
                    <a:pt x="250253" y="262539"/>
                  </a:lnTo>
                  <a:lnTo>
                    <a:pt x="284311" y="231089"/>
                  </a:lnTo>
                  <a:lnTo>
                    <a:pt x="306646" y="191206"/>
                  </a:lnTo>
                  <a:lnTo>
                    <a:pt x="314667" y="145285"/>
                  </a:lnTo>
                  <a:lnTo>
                    <a:pt x="306646" y="99364"/>
                  </a:lnTo>
                  <a:lnTo>
                    <a:pt x="284311" y="59481"/>
                  </a:lnTo>
                  <a:lnTo>
                    <a:pt x="250253" y="28031"/>
                  </a:lnTo>
                  <a:lnTo>
                    <a:pt x="207063" y="7406"/>
                  </a:lnTo>
                  <a:lnTo>
                    <a:pt x="157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829028" y="6109435"/>
              <a:ext cx="314960" cy="290830"/>
            </a:xfrm>
            <a:custGeom>
              <a:avLst/>
              <a:gdLst/>
              <a:ahLst/>
              <a:cxnLst/>
              <a:rect l="l" t="t" r="r" b="b"/>
              <a:pathLst>
                <a:path w="314959" h="290829">
                  <a:moveTo>
                    <a:pt x="0" y="145285"/>
                  </a:moveTo>
                  <a:lnTo>
                    <a:pt x="8020" y="99364"/>
                  </a:lnTo>
                  <a:lnTo>
                    <a:pt x="30356" y="59481"/>
                  </a:lnTo>
                  <a:lnTo>
                    <a:pt x="64414" y="28031"/>
                  </a:lnTo>
                  <a:lnTo>
                    <a:pt x="107604" y="7406"/>
                  </a:lnTo>
                  <a:lnTo>
                    <a:pt x="157334" y="0"/>
                  </a:lnTo>
                  <a:lnTo>
                    <a:pt x="207063" y="7406"/>
                  </a:lnTo>
                  <a:lnTo>
                    <a:pt x="250253" y="28031"/>
                  </a:lnTo>
                  <a:lnTo>
                    <a:pt x="284311" y="59481"/>
                  </a:lnTo>
                  <a:lnTo>
                    <a:pt x="306647" y="99364"/>
                  </a:lnTo>
                  <a:lnTo>
                    <a:pt x="314668" y="145285"/>
                  </a:lnTo>
                  <a:lnTo>
                    <a:pt x="306647" y="191206"/>
                  </a:lnTo>
                  <a:lnTo>
                    <a:pt x="284311" y="231089"/>
                  </a:lnTo>
                  <a:lnTo>
                    <a:pt x="250253" y="262539"/>
                  </a:lnTo>
                  <a:lnTo>
                    <a:pt x="207063" y="283164"/>
                  </a:lnTo>
                  <a:lnTo>
                    <a:pt x="157334" y="290571"/>
                  </a:lnTo>
                  <a:lnTo>
                    <a:pt x="107604" y="283164"/>
                  </a:lnTo>
                  <a:lnTo>
                    <a:pt x="64414" y="262539"/>
                  </a:lnTo>
                  <a:lnTo>
                    <a:pt x="30356" y="231089"/>
                  </a:lnTo>
                  <a:lnTo>
                    <a:pt x="8020" y="191206"/>
                  </a:lnTo>
                  <a:lnTo>
                    <a:pt x="0" y="145285"/>
                  </a:lnTo>
                  <a:close/>
                </a:path>
              </a:pathLst>
            </a:custGeom>
            <a:ln w="38100">
              <a:solidFill>
                <a:srgbClr val="D3B5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9922864" y="6151104"/>
            <a:ext cx="12446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80">
                <a:solidFill>
                  <a:srgbClr val="7030A0"/>
                </a:solidFill>
                <a:latin typeface="Arial MT"/>
                <a:cs typeface="Arial MT"/>
              </a:rPr>
              <a:t>6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8213462" y="5297932"/>
            <a:ext cx="9798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Arial MT"/>
                <a:cs typeface="Arial MT"/>
              </a:rPr>
              <a:t>Dynamic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tariffs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7997122" y="5825235"/>
            <a:ext cx="15678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5">
                <a:latin typeface="Arial MT"/>
                <a:cs typeface="Arial MT"/>
              </a:rPr>
              <a:t>Network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50">
                <a:latin typeface="Arial MT"/>
                <a:cs typeface="Arial MT"/>
              </a:rPr>
              <a:t>interoperability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8323371" y="6288532"/>
            <a:ext cx="8483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Online</a:t>
            </a:r>
            <a:r>
              <a:rPr dirty="0" sz="1000" spc="300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billing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10148457" y="5243067"/>
            <a:ext cx="13417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latin typeface="Arial MT"/>
                <a:cs typeface="Arial MT"/>
              </a:rPr>
              <a:t>Scheduling </a:t>
            </a:r>
            <a:r>
              <a:rPr dirty="0" sz="1000" spc="55">
                <a:latin typeface="Arial MT"/>
                <a:cs typeface="Arial MT"/>
              </a:rPr>
              <a:t>bookings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10140565" y="5819140"/>
            <a:ext cx="13182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>
                <a:latin typeface="Arial MT"/>
                <a:cs typeface="Arial MT"/>
              </a:rPr>
              <a:t>Availability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mapping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10190322" y="6273291"/>
            <a:ext cx="1349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BI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65">
                <a:latin typeface="Arial MT"/>
                <a:cs typeface="Arial MT"/>
              </a:rPr>
              <a:t>reports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90">
                <a:latin typeface="Arial MT"/>
                <a:cs typeface="Arial MT"/>
              </a:rPr>
              <a:t>of</a:t>
            </a:r>
            <a:r>
              <a:rPr dirty="0" sz="1000" spc="45">
                <a:latin typeface="Arial MT"/>
                <a:cs typeface="Arial MT"/>
              </a:rPr>
              <a:t> stations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5" name="object 135" descr=""/>
          <p:cNvSpPr/>
          <p:nvPr/>
        </p:nvSpPr>
        <p:spPr>
          <a:xfrm>
            <a:off x="6100028" y="5672813"/>
            <a:ext cx="1413510" cy="817244"/>
          </a:xfrm>
          <a:custGeom>
            <a:avLst/>
            <a:gdLst/>
            <a:ahLst/>
            <a:cxnLst/>
            <a:rect l="l" t="t" r="r" b="b"/>
            <a:pathLst>
              <a:path w="1413509" h="817245">
                <a:moveTo>
                  <a:pt x="0" y="136210"/>
                </a:moveTo>
                <a:lnTo>
                  <a:pt x="6944" y="93157"/>
                </a:lnTo>
                <a:lnTo>
                  <a:pt x="26280" y="55766"/>
                </a:lnTo>
                <a:lnTo>
                  <a:pt x="55766" y="26280"/>
                </a:lnTo>
                <a:lnTo>
                  <a:pt x="93157" y="6944"/>
                </a:lnTo>
                <a:lnTo>
                  <a:pt x="136210" y="0"/>
                </a:lnTo>
                <a:lnTo>
                  <a:pt x="1276681" y="0"/>
                </a:lnTo>
                <a:lnTo>
                  <a:pt x="1319734" y="6944"/>
                </a:lnTo>
                <a:lnTo>
                  <a:pt x="1357125" y="26280"/>
                </a:lnTo>
                <a:lnTo>
                  <a:pt x="1386610" y="55766"/>
                </a:lnTo>
                <a:lnTo>
                  <a:pt x="1405946" y="93157"/>
                </a:lnTo>
                <a:lnTo>
                  <a:pt x="1412891" y="136210"/>
                </a:lnTo>
                <a:lnTo>
                  <a:pt x="1412891" y="681034"/>
                </a:lnTo>
                <a:lnTo>
                  <a:pt x="1405946" y="724087"/>
                </a:lnTo>
                <a:lnTo>
                  <a:pt x="1386610" y="761478"/>
                </a:lnTo>
                <a:lnTo>
                  <a:pt x="1357125" y="790964"/>
                </a:lnTo>
                <a:lnTo>
                  <a:pt x="1319734" y="810300"/>
                </a:lnTo>
                <a:lnTo>
                  <a:pt x="1276681" y="817245"/>
                </a:lnTo>
                <a:lnTo>
                  <a:pt x="136210" y="817245"/>
                </a:lnTo>
                <a:lnTo>
                  <a:pt x="93157" y="810300"/>
                </a:lnTo>
                <a:lnTo>
                  <a:pt x="55766" y="790964"/>
                </a:lnTo>
                <a:lnTo>
                  <a:pt x="26280" y="761478"/>
                </a:lnTo>
                <a:lnTo>
                  <a:pt x="6944" y="724087"/>
                </a:lnTo>
                <a:lnTo>
                  <a:pt x="0" y="681034"/>
                </a:lnTo>
                <a:lnTo>
                  <a:pt x="0" y="1362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 txBox="1"/>
          <p:nvPr/>
        </p:nvSpPr>
        <p:spPr>
          <a:xfrm>
            <a:off x="6238149" y="5746103"/>
            <a:ext cx="1139190" cy="659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1230"/>
              </a:lnSpc>
              <a:spcBef>
                <a:spcPts val="125"/>
              </a:spcBef>
            </a:pPr>
            <a:r>
              <a:rPr dirty="0" sz="1050" spc="70">
                <a:latin typeface="Arial MT"/>
                <a:cs typeface="Arial MT"/>
              </a:rPr>
              <a:t>Consumer</a:t>
            </a:r>
            <a:r>
              <a:rPr dirty="0" sz="1050" spc="55">
                <a:latin typeface="Arial MT"/>
                <a:cs typeface="Arial MT"/>
              </a:rPr>
              <a:t> </a:t>
            </a:r>
            <a:r>
              <a:rPr dirty="0" sz="1050" spc="110">
                <a:latin typeface="Arial MT"/>
                <a:cs typeface="Arial MT"/>
              </a:rPr>
              <a:t>App</a:t>
            </a:r>
            <a:endParaRPr sz="1050">
              <a:latin typeface="Arial MT"/>
              <a:cs typeface="Arial MT"/>
            </a:endParaRPr>
          </a:p>
          <a:p>
            <a:pPr algn="ctr">
              <a:lnSpc>
                <a:spcPts val="1230"/>
              </a:lnSpc>
            </a:pPr>
            <a:r>
              <a:rPr dirty="0" sz="1050" spc="35">
                <a:latin typeface="Arial MT"/>
                <a:cs typeface="Arial MT"/>
              </a:rPr>
              <a:t>+</a:t>
            </a:r>
            <a:endParaRPr sz="1050">
              <a:latin typeface="Arial MT"/>
              <a:cs typeface="Arial MT"/>
            </a:endParaRPr>
          </a:p>
          <a:p>
            <a:pPr algn="ctr" marL="12700" marR="5080">
              <a:lnSpc>
                <a:spcPts val="1200"/>
              </a:lnSpc>
              <a:spcBef>
                <a:spcPts val="130"/>
              </a:spcBef>
            </a:pPr>
            <a:r>
              <a:rPr dirty="0" sz="1050" spc="120">
                <a:latin typeface="Arial MT"/>
                <a:cs typeface="Arial MT"/>
              </a:rPr>
              <a:t>Web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65">
                <a:latin typeface="Arial MT"/>
                <a:cs typeface="Arial MT"/>
              </a:rPr>
              <a:t>Dashboard </a:t>
            </a:r>
            <a:r>
              <a:rPr dirty="0" sz="1050" spc="105">
                <a:latin typeface="Arial MT"/>
                <a:cs typeface="Arial MT"/>
              </a:rPr>
              <a:t>for</a:t>
            </a:r>
            <a:r>
              <a:rPr dirty="0" sz="1050" spc="5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Businesses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7" name="object 137" descr=""/>
          <p:cNvGrpSpPr/>
          <p:nvPr/>
        </p:nvGrpSpPr>
        <p:grpSpPr>
          <a:xfrm>
            <a:off x="-6096" y="-6096"/>
            <a:ext cx="12204700" cy="248285"/>
            <a:chOff x="-6096" y="-6096"/>
            <a:chExt cx="12204700" cy="248285"/>
          </a:xfrm>
        </p:grpSpPr>
        <p:sp>
          <p:nvSpPr>
            <p:cNvPr id="138" name="object 138" descr=""/>
            <p:cNvSpPr/>
            <p:nvPr/>
          </p:nvSpPr>
          <p:spPr>
            <a:xfrm>
              <a:off x="11517973" y="37959"/>
              <a:ext cx="46355" cy="65405"/>
            </a:xfrm>
            <a:custGeom>
              <a:avLst/>
              <a:gdLst/>
              <a:ahLst/>
              <a:cxnLst/>
              <a:rect l="l" t="t" r="r" b="b"/>
              <a:pathLst>
                <a:path w="46354" h="65405">
                  <a:moveTo>
                    <a:pt x="46355" y="47625"/>
                  </a:moveTo>
                  <a:lnTo>
                    <a:pt x="46316" y="44958"/>
                  </a:lnTo>
                  <a:lnTo>
                    <a:pt x="46139" y="44323"/>
                  </a:lnTo>
                  <a:lnTo>
                    <a:pt x="45504" y="43180"/>
                  </a:lnTo>
                  <a:lnTo>
                    <a:pt x="44996" y="42926"/>
                  </a:lnTo>
                  <a:lnTo>
                    <a:pt x="37236" y="42926"/>
                  </a:lnTo>
                  <a:lnTo>
                    <a:pt x="37236" y="7493"/>
                  </a:lnTo>
                  <a:lnTo>
                    <a:pt x="37122" y="1270"/>
                  </a:lnTo>
                  <a:lnTo>
                    <a:pt x="36741" y="889"/>
                  </a:lnTo>
                  <a:lnTo>
                    <a:pt x="36106" y="508"/>
                  </a:lnTo>
                  <a:lnTo>
                    <a:pt x="34455" y="127"/>
                  </a:lnTo>
                  <a:lnTo>
                    <a:pt x="33566" y="127"/>
                  </a:lnTo>
                  <a:lnTo>
                    <a:pt x="32804" y="0"/>
                  </a:lnTo>
                  <a:lnTo>
                    <a:pt x="28600" y="0"/>
                  </a:lnTo>
                  <a:lnTo>
                    <a:pt x="28600" y="7493"/>
                  </a:lnTo>
                  <a:lnTo>
                    <a:pt x="28600" y="42926"/>
                  </a:lnTo>
                  <a:lnTo>
                    <a:pt x="7772" y="42926"/>
                  </a:lnTo>
                  <a:lnTo>
                    <a:pt x="28473" y="7493"/>
                  </a:lnTo>
                  <a:lnTo>
                    <a:pt x="28600" y="7493"/>
                  </a:lnTo>
                  <a:lnTo>
                    <a:pt x="28600" y="0"/>
                  </a:lnTo>
                  <a:lnTo>
                    <a:pt x="28092" y="0"/>
                  </a:lnTo>
                  <a:lnTo>
                    <a:pt x="27330" y="127"/>
                  </a:lnTo>
                  <a:lnTo>
                    <a:pt x="26695" y="127"/>
                  </a:lnTo>
                  <a:lnTo>
                    <a:pt x="914" y="41148"/>
                  </a:lnTo>
                  <a:lnTo>
                    <a:pt x="787" y="41529"/>
                  </a:lnTo>
                  <a:lnTo>
                    <a:pt x="533" y="41910"/>
                  </a:lnTo>
                  <a:lnTo>
                    <a:pt x="127" y="43180"/>
                  </a:lnTo>
                  <a:lnTo>
                    <a:pt x="0" y="47498"/>
                  </a:lnTo>
                  <a:lnTo>
                    <a:pt x="88" y="48387"/>
                  </a:lnTo>
                  <a:lnTo>
                    <a:pt x="279" y="49022"/>
                  </a:lnTo>
                  <a:lnTo>
                    <a:pt x="533" y="49276"/>
                  </a:lnTo>
                  <a:lnTo>
                    <a:pt x="660" y="49530"/>
                  </a:lnTo>
                  <a:lnTo>
                    <a:pt x="1422" y="49911"/>
                  </a:lnTo>
                  <a:lnTo>
                    <a:pt x="28600" y="49911"/>
                  </a:lnTo>
                  <a:lnTo>
                    <a:pt x="28600" y="63754"/>
                  </a:lnTo>
                  <a:lnTo>
                    <a:pt x="28727" y="64008"/>
                  </a:lnTo>
                  <a:lnTo>
                    <a:pt x="28854" y="64389"/>
                  </a:lnTo>
                  <a:lnTo>
                    <a:pt x="29108" y="64516"/>
                  </a:lnTo>
                  <a:lnTo>
                    <a:pt x="29489" y="64643"/>
                  </a:lnTo>
                  <a:lnTo>
                    <a:pt x="29743" y="64770"/>
                  </a:lnTo>
                  <a:lnTo>
                    <a:pt x="30759" y="65024"/>
                  </a:lnTo>
                  <a:lnTo>
                    <a:pt x="34963" y="65024"/>
                  </a:lnTo>
                  <a:lnTo>
                    <a:pt x="35979" y="64770"/>
                  </a:lnTo>
                  <a:lnTo>
                    <a:pt x="36233" y="64643"/>
                  </a:lnTo>
                  <a:lnTo>
                    <a:pt x="36614" y="64516"/>
                  </a:lnTo>
                  <a:lnTo>
                    <a:pt x="36868" y="64389"/>
                  </a:lnTo>
                  <a:lnTo>
                    <a:pt x="37122" y="64008"/>
                  </a:lnTo>
                  <a:lnTo>
                    <a:pt x="37249" y="49911"/>
                  </a:lnTo>
                  <a:lnTo>
                    <a:pt x="45123" y="49911"/>
                  </a:lnTo>
                  <a:lnTo>
                    <a:pt x="45504" y="49657"/>
                  </a:lnTo>
                  <a:lnTo>
                    <a:pt x="45885" y="49022"/>
                  </a:lnTo>
                  <a:lnTo>
                    <a:pt x="46355" y="47625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2563368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563368" y="231648"/>
                  </a:lnTo>
                  <a:lnTo>
                    <a:pt x="2679192" y="115824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0" y="0"/>
                  </a:moveTo>
                  <a:lnTo>
                    <a:pt x="2563368" y="0"/>
                  </a:lnTo>
                  <a:lnTo>
                    <a:pt x="2679192" y="115824"/>
                  </a:lnTo>
                  <a:lnTo>
                    <a:pt x="2563368" y="231648"/>
                  </a:lnTo>
                  <a:lnTo>
                    <a:pt x="0" y="231648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2685288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5288" y="231648"/>
                  </a:lnTo>
                  <a:lnTo>
                    <a:pt x="2801112" y="115824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0" y="0"/>
                  </a:moveTo>
                  <a:lnTo>
                    <a:pt x="2685288" y="0"/>
                  </a:lnTo>
                  <a:lnTo>
                    <a:pt x="2801112" y="115824"/>
                  </a:lnTo>
                  <a:lnTo>
                    <a:pt x="2685288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2683764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3764" y="231648"/>
                  </a:lnTo>
                  <a:lnTo>
                    <a:pt x="2799588" y="11582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0" y="0"/>
                  </a:moveTo>
                  <a:lnTo>
                    <a:pt x="2683764" y="0"/>
                  </a:lnTo>
                  <a:lnTo>
                    <a:pt x="2799588" y="115824"/>
                  </a:lnTo>
                  <a:lnTo>
                    <a:pt x="2683764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8332" y="0"/>
                  </a:lnTo>
                  <a:lnTo>
                    <a:pt x="121920" y="113587"/>
                  </a:lnTo>
                  <a:lnTo>
                    <a:pt x="0" y="235507"/>
                  </a:lnTo>
                  <a:lnTo>
                    <a:pt x="2677668" y="235507"/>
                  </a:lnTo>
                  <a:lnTo>
                    <a:pt x="2799588" y="113587"/>
                  </a:lnTo>
                  <a:lnTo>
                    <a:pt x="2686000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2799588" y="113587"/>
                  </a:lnTo>
                  <a:lnTo>
                    <a:pt x="2677668" y="235507"/>
                  </a:lnTo>
                  <a:lnTo>
                    <a:pt x="0" y="235507"/>
                  </a:lnTo>
                  <a:lnTo>
                    <a:pt x="121920" y="113587"/>
                  </a:lnTo>
                  <a:lnTo>
                    <a:pt x="8332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5" y="0"/>
                  </a:moveTo>
                  <a:lnTo>
                    <a:pt x="6808" y="0"/>
                  </a:lnTo>
                  <a:lnTo>
                    <a:pt x="121156" y="114349"/>
                  </a:lnTo>
                  <a:lnTo>
                    <a:pt x="0" y="235507"/>
                  </a:lnTo>
                  <a:lnTo>
                    <a:pt x="2584704" y="235507"/>
                  </a:lnTo>
                  <a:lnTo>
                    <a:pt x="2584705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4" y="235507"/>
                  </a:moveTo>
                  <a:lnTo>
                    <a:pt x="0" y="235507"/>
                  </a:lnTo>
                  <a:lnTo>
                    <a:pt x="121157" y="114348"/>
                  </a:lnTo>
                  <a:lnTo>
                    <a:pt x="6808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 descr=""/>
          <p:cNvSpPr txBox="1"/>
          <p:nvPr/>
        </p:nvSpPr>
        <p:spPr>
          <a:xfrm>
            <a:off x="72915" y="9652"/>
            <a:ext cx="120853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1370" algn="l"/>
              </a:tabLst>
            </a:pPr>
            <a:r>
              <a:rPr dirty="0" sz="1000" spc="20">
                <a:latin typeface="Arial MT"/>
                <a:cs typeface="Arial MT"/>
              </a:rPr>
              <a:t>EV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Charging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Industry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Revamped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Model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5">
                <a:latin typeface="Arial MT"/>
                <a:cs typeface="Arial MT"/>
              </a:rPr>
              <a:t>Implementation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Roadmap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solidFill>
                  <a:srgbClr val="FFFFFF"/>
                </a:solidFill>
                <a:latin typeface="Arial MT"/>
                <a:cs typeface="Arial MT"/>
              </a:rPr>
              <a:t>Infrastructure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000" spc="20">
                <a:latin typeface="Arial MT"/>
                <a:cs typeface="Arial MT"/>
              </a:rPr>
              <a:t>Feasibility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&amp;</a:t>
            </a:r>
            <a:r>
              <a:rPr dirty="0" sz="1000" spc="17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Policy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Recommendations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0" name="object 150" descr=""/>
          <p:cNvSpPr txBox="1"/>
          <p:nvPr/>
        </p:nvSpPr>
        <p:spPr>
          <a:xfrm>
            <a:off x="135156" y="6598411"/>
            <a:ext cx="128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5"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19374" y="3855350"/>
            <a:ext cx="6580505" cy="354330"/>
            <a:chOff x="3019374" y="3855350"/>
            <a:chExt cx="6580505" cy="354330"/>
          </a:xfrm>
        </p:grpSpPr>
        <p:sp>
          <p:nvSpPr>
            <p:cNvPr id="3" name="object 3" descr=""/>
            <p:cNvSpPr/>
            <p:nvPr/>
          </p:nvSpPr>
          <p:spPr>
            <a:xfrm>
              <a:off x="3025724" y="3861700"/>
              <a:ext cx="6567805" cy="341630"/>
            </a:xfrm>
            <a:custGeom>
              <a:avLst/>
              <a:gdLst/>
              <a:ahLst/>
              <a:cxnLst/>
              <a:rect l="l" t="t" r="r" b="b"/>
              <a:pathLst>
                <a:path w="6567805" h="341629">
                  <a:moveTo>
                    <a:pt x="6510613" y="0"/>
                  </a:moveTo>
                  <a:lnTo>
                    <a:pt x="56904" y="0"/>
                  </a:lnTo>
                  <a:lnTo>
                    <a:pt x="34755" y="4472"/>
                  </a:lnTo>
                  <a:lnTo>
                    <a:pt x="16667" y="16667"/>
                  </a:lnTo>
                  <a:lnTo>
                    <a:pt x="4471" y="34756"/>
                  </a:lnTo>
                  <a:lnTo>
                    <a:pt x="0" y="56906"/>
                  </a:lnTo>
                  <a:lnTo>
                    <a:pt x="0" y="284544"/>
                  </a:lnTo>
                  <a:lnTo>
                    <a:pt x="4471" y="306695"/>
                  </a:lnTo>
                  <a:lnTo>
                    <a:pt x="16667" y="324783"/>
                  </a:lnTo>
                  <a:lnTo>
                    <a:pt x="34755" y="336979"/>
                  </a:lnTo>
                  <a:lnTo>
                    <a:pt x="56904" y="341450"/>
                  </a:lnTo>
                  <a:lnTo>
                    <a:pt x="6510613" y="341450"/>
                  </a:lnTo>
                  <a:lnTo>
                    <a:pt x="6532763" y="336979"/>
                  </a:lnTo>
                  <a:lnTo>
                    <a:pt x="6550851" y="324783"/>
                  </a:lnTo>
                  <a:lnTo>
                    <a:pt x="6563047" y="306695"/>
                  </a:lnTo>
                  <a:lnTo>
                    <a:pt x="6567519" y="284544"/>
                  </a:lnTo>
                  <a:lnTo>
                    <a:pt x="6567519" y="56906"/>
                  </a:lnTo>
                  <a:lnTo>
                    <a:pt x="6563047" y="34756"/>
                  </a:lnTo>
                  <a:lnTo>
                    <a:pt x="6550851" y="16667"/>
                  </a:lnTo>
                  <a:lnTo>
                    <a:pt x="6532763" y="4472"/>
                  </a:lnTo>
                  <a:lnTo>
                    <a:pt x="6510613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025724" y="3861700"/>
              <a:ext cx="6567805" cy="341630"/>
            </a:xfrm>
            <a:custGeom>
              <a:avLst/>
              <a:gdLst/>
              <a:ahLst/>
              <a:cxnLst/>
              <a:rect l="l" t="t" r="r" b="b"/>
              <a:pathLst>
                <a:path w="6567805" h="341629">
                  <a:moveTo>
                    <a:pt x="0" y="56906"/>
                  </a:moveTo>
                  <a:lnTo>
                    <a:pt x="4471" y="34755"/>
                  </a:lnTo>
                  <a:lnTo>
                    <a:pt x="16667" y="16667"/>
                  </a:lnTo>
                  <a:lnTo>
                    <a:pt x="34755" y="4471"/>
                  </a:lnTo>
                  <a:lnTo>
                    <a:pt x="56905" y="0"/>
                  </a:lnTo>
                  <a:lnTo>
                    <a:pt x="6510614" y="0"/>
                  </a:lnTo>
                  <a:lnTo>
                    <a:pt x="6532764" y="4471"/>
                  </a:lnTo>
                  <a:lnTo>
                    <a:pt x="6550852" y="16667"/>
                  </a:lnTo>
                  <a:lnTo>
                    <a:pt x="6563047" y="34755"/>
                  </a:lnTo>
                  <a:lnTo>
                    <a:pt x="6567519" y="56906"/>
                  </a:lnTo>
                  <a:lnTo>
                    <a:pt x="6567519" y="284544"/>
                  </a:lnTo>
                  <a:lnTo>
                    <a:pt x="6563047" y="306695"/>
                  </a:lnTo>
                  <a:lnTo>
                    <a:pt x="6550852" y="324783"/>
                  </a:lnTo>
                  <a:lnTo>
                    <a:pt x="6532764" y="336979"/>
                  </a:lnTo>
                  <a:lnTo>
                    <a:pt x="6510614" y="341451"/>
                  </a:lnTo>
                  <a:lnTo>
                    <a:pt x="56905" y="341451"/>
                  </a:lnTo>
                  <a:lnTo>
                    <a:pt x="34755" y="336979"/>
                  </a:lnTo>
                  <a:lnTo>
                    <a:pt x="16667" y="324783"/>
                  </a:lnTo>
                  <a:lnTo>
                    <a:pt x="4471" y="306695"/>
                  </a:lnTo>
                  <a:lnTo>
                    <a:pt x="0" y="284544"/>
                  </a:lnTo>
                  <a:lnTo>
                    <a:pt x="0" y="56906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418929" y="3606425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85011" y="936457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815991" y="6628265"/>
            <a:ext cx="1256030" cy="154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20" i="1">
                <a:latin typeface="Arial"/>
                <a:cs typeface="Arial"/>
              </a:rPr>
              <a:t>1:</a:t>
            </a:r>
            <a:r>
              <a:rPr dirty="0" sz="850" spc="15" i="1">
                <a:latin typeface="Arial"/>
                <a:cs typeface="Arial"/>
              </a:rPr>
              <a:t> </a:t>
            </a:r>
            <a:r>
              <a:rPr dirty="0" sz="850" i="1">
                <a:latin typeface="Arial"/>
                <a:cs typeface="Arial"/>
              </a:rPr>
              <a:t>based</a:t>
            </a:r>
            <a:r>
              <a:rPr dirty="0" sz="850" spc="10" i="1">
                <a:latin typeface="Arial"/>
                <a:cs typeface="Arial"/>
              </a:rPr>
              <a:t> </a:t>
            </a:r>
            <a:r>
              <a:rPr dirty="0" sz="850" i="1">
                <a:latin typeface="Arial"/>
                <a:cs typeface="Arial"/>
              </a:rPr>
              <a:t>on</a:t>
            </a:r>
            <a:r>
              <a:rPr dirty="0" sz="850" spc="15" i="1">
                <a:latin typeface="Arial"/>
                <a:cs typeface="Arial"/>
              </a:rPr>
              <a:t> </a:t>
            </a:r>
            <a:r>
              <a:rPr dirty="0" sz="850" i="1">
                <a:latin typeface="Arial"/>
                <a:cs typeface="Arial"/>
              </a:rPr>
              <a:t>3P</a:t>
            </a:r>
            <a:r>
              <a:rPr dirty="0" sz="850" spc="20" i="1">
                <a:latin typeface="Arial"/>
                <a:cs typeface="Arial"/>
              </a:rPr>
              <a:t> </a:t>
            </a:r>
            <a:r>
              <a:rPr dirty="0" sz="850" spc="-10" i="1">
                <a:latin typeface="Arial"/>
                <a:cs typeface="Arial"/>
              </a:rPr>
              <a:t>estimates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60248" y="4455081"/>
            <a:ext cx="3305175" cy="878205"/>
            <a:chOff x="460248" y="4455081"/>
            <a:chExt cx="3305175" cy="87820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8" y="4468367"/>
              <a:ext cx="2877312" cy="85039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920480" y="4469368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415212" y="0"/>
                  </a:moveTo>
                  <a:lnTo>
                    <a:pt x="366790" y="2856"/>
                  </a:lnTo>
                  <a:lnTo>
                    <a:pt x="320008" y="11212"/>
                  </a:lnTo>
                  <a:lnTo>
                    <a:pt x="275178" y="24750"/>
                  </a:lnTo>
                  <a:lnTo>
                    <a:pt x="232612" y="43150"/>
                  </a:lnTo>
                  <a:lnTo>
                    <a:pt x="192622" y="66095"/>
                  </a:lnTo>
                  <a:lnTo>
                    <a:pt x="155518" y="93266"/>
                  </a:lnTo>
                  <a:lnTo>
                    <a:pt x="121613" y="124345"/>
                  </a:lnTo>
                  <a:lnTo>
                    <a:pt x="91217" y="159012"/>
                  </a:lnTo>
                  <a:lnTo>
                    <a:pt x="64643" y="196949"/>
                  </a:lnTo>
                  <a:lnTo>
                    <a:pt x="42202" y="237838"/>
                  </a:lnTo>
                  <a:lnTo>
                    <a:pt x="24206" y="281360"/>
                  </a:lnTo>
                  <a:lnTo>
                    <a:pt x="10966" y="327197"/>
                  </a:lnTo>
                  <a:lnTo>
                    <a:pt x="2793" y="375030"/>
                  </a:lnTo>
                  <a:lnTo>
                    <a:pt x="0" y="424540"/>
                  </a:lnTo>
                  <a:lnTo>
                    <a:pt x="2793" y="474051"/>
                  </a:lnTo>
                  <a:lnTo>
                    <a:pt x="10966" y="521883"/>
                  </a:lnTo>
                  <a:lnTo>
                    <a:pt x="24206" y="567720"/>
                  </a:lnTo>
                  <a:lnTo>
                    <a:pt x="42202" y="611242"/>
                  </a:lnTo>
                  <a:lnTo>
                    <a:pt x="64643" y="652131"/>
                  </a:lnTo>
                  <a:lnTo>
                    <a:pt x="91217" y="690069"/>
                  </a:lnTo>
                  <a:lnTo>
                    <a:pt x="121613" y="724736"/>
                  </a:lnTo>
                  <a:lnTo>
                    <a:pt x="155518" y="755814"/>
                  </a:lnTo>
                  <a:lnTo>
                    <a:pt x="192622" y="782985"/>
                  </a:lnTo>
                  <a:lnTo>
                    <a:pt x="232612" y="805930"/>
                  </a:lnTo>
                  <a:lnTo>
                    <a:pt x="275178" y="824331"/>
                  </a:lnTo>
                  <a:lnTo>
                    <a:pt x="320008" y="837868"/>
                  </a:lnTo>
                  <a:lnTo>
                    <a:pt x="366790" y="846225"/>
                  </a:lnTo>
                  <a:lnTo>
                    <a:pt x="415212" y="849081"/>
                  </a:lnTo>
                  <a:lnTo>
                    <a:pt x="463635" y="846225"/>
                  </a:lnTo>
                  <a:lnTo>
                    <a:pt x="510417" y="837868"/>
                  </a:lnTo>
                  <a:lnTo>
                    <a:pt x="555246" y="824331"/>
                  </a:lnTo>
                  <a:lnTo>
                    <a:pt x="597812" y="805930"/>
                  </a:lnTo>
                  <a:lnTo>
                    <a:pt x="637803" y="782985"/>
                  </a:lnTo>
                  <a:lnTo>
                    <a:pt x="674907" y="755814"/>
                  </a:lnTo>
                  <a:lnTo>
                    <a:pt x="708812" y="724736"/>
                  </a:lnTo>
                  <a:lnTo>
                    <a:pt x="739207" y="690069"/>
                  </a:lnTo>
                  <a:lnTo>
                    <a:pt x="765781" y="652131"/>
                  </a:lnTo>
                  <a:lnTo>
                    <a:pt x="788222" y="611242"/>
                  </a:lnTo>
                  <a:lnTo>
                    <a:pt x="806218" y="567720"/>
                  </a:lnTo>
                  <a:lnTo>
                    <a:pt x="819459" y="521883"/>
                  </a:lnTo>
                  <a:lnTo>
                    <a:pt x="827631" y="474051"/>
                  </a:lnTo>
                  <a:lnTo>
                    <a:pt x="830425" y="424540"/>
                  </a:lnTo>
                  <a:lnTo>
                    <a:pt x="827631" y="375030"/>
                  </a:lnTo>
                  <a:lnTo>
                    <a:pt x="819459" y="327197"/>
                  </a:lnTo>
                  <a:lnTo>
                    <a:pt x="806218" y="281360"/>
                  </a:lnTo>
                  <a:lnTo>
                    <a:pt x="788222" y="237838"/>
                  </a:lnTo>
                  <a:lnTo>
                    <a:pt x="765781" y="196949"/>
                  </a:lnTo>
                  <a:lnTo>
                    <a:pt x="739207" y="159012"/>
                  </a:lnTo>
                  <a:lnTo>
                    <a:pt x="708812" y="124345"/>
                  </a:lnTo>
                  <a:lnTo>
                    <a:pt x="674907" y="93266"/>
                  </a:lnTo>
                  <a:lnTo>
                    <a:pt x="637803" y="66095"/>
                  </a:lnTo>
                  <a:lnTo>
                    <a:pt x="597812" y="43150"/>
                  </a:lnTo>
                  <a:lnTo>
                    <a:pt x="555246" y="24750"/>
                  </a:lnTo>
                  <a:lnTo>
                    <a:pt x="510417" y="11212"/>
                  </a:lnTo>
                  <a:lnTo>
                    <a:pt x="463635" y="2856"/>
                  </a:lnTo>
                  <a:lnTo>
                    <a:pt x="415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20480" y="4469368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0" y="424541"/>
                  </a:moveTo>
                  <a:lnTo>
                    <a:pt x="2793" y="375030"/>
                  </a:lnTo>
                  <a:lnTo>
                    <a:pt x="10966" y="327197"/>
                  </a:lnTo>
                  <a:lnTo>
                    <a:pt x="24206" y="281360"/>
                  </a:lnTo>
                  <a:lnTo>
                    <a:pt x="42202" y="237838"/>
                  </a:lnTo>
                  <a:lnTo>
                    <a:pt x="64643" y="196949"/>
                  </a:lnTo>
                  <a:lnTo>
                    <a:pt x="91217" y="159012"/>
                  </a:lnTo>
                  <a:lnTo>
                    <a:pt x="121612" y="124345"/>
                  </a:lnTo>
                  <a:lnTo>
                    <a:pt x="155518" y="93266"/>
                  </a:lnTo>
                  <a:lnTo>
                    <a:pt x="192622" y="66095"/>
                  </a:lnTo>
                  <a:lnTo>
                    <a:pt x="232612" y="43150"/>
                  </a:lnTo>
                  <a:lnTo>
                    <a:pt x="275178" y="24750"/>
                  </a:lnTo>
                  <a:lnTo>
                    <a:pt x="320008" y="11212"/>
                  </a:lnTo>
                  <a:lnTo>
                    <a:pt x="366789" y="2856"/>
                  </a:lnTo>
                  <a:lnTo>
                    <a:pt x="415212" y="0"/>
                  </a:lnTo>
                  <a:lnTo>
                    <a:pt x="463635" y="2856"/>
                  </a:lnTo>
                  <a:lnTo>
                    <a:pt x="510416" y="11212"/>
                  </a:lnTo>
                  <a:lnTo>
                    <a:pt x="555246" y="24750"/>
                  </a:lnTo>
                  <a:lnTo>
                    <a:pt x="597812" y="43150"/>
                  </a:lnTo>
                  <a:lnTo>
                    <a:pt x="637803" y="66095"/>
                  </a:lnTo>
                  <a:lnTo>
                    <a:pt x="674906" y="93266"/>
                  </a:lnTo>
                  <a:lnTo>
                    <a:pt x="708812" y="124345"/>
                  </a:lnTo>
                  <a:lnTo>
                    <a:pt x="739207" y="159012"/>
                  </a:lnTo>
                  <a:lnTo>
                    <a:pt x="765781" y="196949"/>
                  </a:lnTo>
                  <a:lnTo>
                    <a:pt x="788222" y="237838"/>
                  </a:lnTo>
                  <a:lnTo>
                    <a:pt x="806218" y="281360"/>
                  </a:lnTo>
                  <a:lnTo>
                    <a:pt x="819458" y="327197"/>
                  </a:lnTo>
                  <a:lnTo>
                    <a:pt x="827631" y="375030"/>
                  </a:lnTo>
                  <a:lnTo>
                    <a:pt x="830425" y="424541"/>
                  </a:lnTo>
                  <a:lnTo>
                    <a:pt x="827631" y="474051"/>
                  </a:lnTo>
                  <a:lnTo>
                    <a:pt x="819458" y="521884"/>
                  </a:lnTo>
                  <a:lnTo>
                    <a:pt x="806218" y="567721"/>
                  </a:lnTo>
                  <a:lnTo>
                    <a:pt x="788222" y="611243"/>
                  </a:lnTo>
                  <a:lnTo>
                    <a:pt x="765781" y="652132"/>
                  </a:lnTo>
                  <a:lnTo>
                    <a:pt x="739207" y="690069"/>
                  </a:lnTo>
                  <a:lnTo>
                    <a:pt x="708812" y="724736"/>
                  </a:lnTo>
                  <a:lnTo>
                    <a:pt x="674906" y="755815"/>
                  </a:lnTo>
                  <a:lnTo>
                    <a:pt x="637803" y="782986"/>
                  </a:lnTo>
                  <a:lnTo>
                    <a:pt x="597812" y="805931"/>
                  </a:lnTo>
                  <a:lnTo>
                    <a:pt x="555246" y="824331"/>
                  </a:lnTo>
                  <a:lnTo>
                    <a:pt x="510416" y="837869"/>
                  </a:lnTo>
                  <a:lnTo>
                    <a:pt x="463635" y="846225"/>
                  </a:lnTo>
                  <a:lnTo>
                    <a:pt x="415212" y="849082"/>
                  </a:lnTo>
                  <a:lnTo>
                    <a:pt x="366789" y="846225"/>
                  </a:lnTo>
                  <a:lnTo>
                    <a:pt x="320008" y="837869"/>
                  </a:lnTo>
                  <a:lnTo>
                    <a:pt x="275178" y="824331"/>
                  </a:lnTo>
                  <a:lnTo>
                    <a:pt x="232612" y="805931"/>
                  </a:lnTo>
                  <a:lnTo>
                    <a:pt x="192622" y="782986"/>
                  </a:lnTo>
                  <a:lnTo>
                    <a:pt x="155518" y="755815"/>
                  </a:lnTo>
                  <a:lnTo>
                    <a:pt x="121612" y="724736"/>
                  </a:lnTo>
                  <a:lnTo>
                    <a:pt x="91217" y="690069"/>
                  </a:lnTo>
                  <a:lnTo>
                    <a:pt x="64643" y="652132"/>
                  </a:lnTo>
                  <a:lnTo>
                    <a:pt x="42202" y="611243"/>
                  </a:lnTo>
                  <a:lnTo>
                    <a:pt x="24206" y="567721"/>
                  </a:lnTo>
                  <a:lnTo>
                    <a:pt x="10966" y="521884"/>
                  </a:lnTo>
                  <a:lnTo>
                    <a:pt x="2793" y="474051"/>
                  </a:lnTo>
                  <a:lnTo>
                    <a:pt x="0" y="424541"/>
                  </a:lnTo>
                  <a:close/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1816" y="5318450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10" h="0">
                  <a:moveTo>
                    <a:pt x="0" y="2"/>
                  </a:moveTo>
                  <a:lnTo>
                    <a:pt x="2873877" y="0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377" y="4595902"/>
              <a:ext cx="544631" cy="544631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425696" y="4455081"/>
            <a:ext cx="3305810" cy="878205"/>
            <a:chOff x="4425696" y="4455081"/>
            <a:chExt cx="3305810" cy="87820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5696" y="4468367"/>
              <a:ext cx="2877311" cy="85039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886252" y="4469368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415212" y="0"/>
                  </a:moveTo>
                  <a:lnTo>
                    <a:pt x="366790" y="2856"/>
                  </a:lnTo>
                  <a:lnTo>
                    <a:pt x="320008" y="11212"/>
                  </a:lnTo>
                  <a:lnTo>
                    <a:pt x="275178" y="24750"/>
                  </a:lnTo>
                  <a:lnTo>
                    <a:pt x="232612" y="43150"/>
                  </a:lnTo>
                  <a:lnTo>
                    <a:pt x="192622" y="66095"/>
                  </a:lnTo>
                  <a:lnTo>
                    <a:pt x="155518" y="93266"/>
                  </a:lnTo>
                  <a:lnTo>
                    <a:pt x="121613" y="124345"/>
                  </a:lnTo>
                  <a:lnTo>
                    <a:pt x="91217" y="159012"/>
                  </a:lnTo>
                  <a:lnTo>
                    <a:pt x="64643" y="196949"/>
                  </a:lnTo>
                  <a:lnTo>
                    <a:pt x="42202" y="237838"/>
                  </a:lnTo>
                  <a:lnTo>
                    <a:pt x="24206" y="281360"/>
                  </a:lnTo>
                  <a:lnTo>
                    <a:pt x="10966" y="327197"/>
                  </a:lnTo>
                  <a:lnTo>
                    <a:pt x="2793" y="375030"/>
                  </a:lnTo>
                  <a:lnTo>
                    <a:pt x="0" y="424540"/>
                  </a:lnTo>
                  <a:lnTo>
                    <a:pt x="2793" y="474051"/>
                  </a:lnTo>
                  <a:lnTo>
                    <a:pt x="10966" y="521883"/>
                  </a:lnTo>
                  <a:lnTo>
                    <a:pt x="24206" y="567720"/>
                  </a:lnTo>
                  <a:lnTo>
                    <a:pt x="42202" y="611242"/>
                  </a:lnTo>
                  <a:lnTo>
                    <a:pt x="64643" y="652131"/>
                  </a:lnTo>
                  <a:lnTo>
                    <a:pt x="91217" y="690069"/>
                  </a:lnTo>
                  <a:lnTo>
                    <a:pt x="121613" y="724736"/>
                  </a:lnTo>
                  <a:lnTo>
                    <a:pt x="155518" y="755814"/>
                  </a:lnTo>
                  <a:lnTo>
                    <a:pt x="192622" y="782985"/>
                  </a:lnTo>
                  <a:lnTo>
                    <a:pt x="232612" y="805930"/>
                  </a:lnTo>
                  <a:lnTo>
                    <a:pt x="275178" y="824331"/>
                  </a:lnTo>
                  <a:lnTo>
                    <a:pt x="320008" y="837868"/>
                  </a:lnTo>
                  <a:lnTo>
                    <a:pt x="366790" y="846225"/>
                  </a:lnTo>
                  <a:lnTo>
                    <a:pt x="415212" y="849081"/>
                  </a:lnTo>
                  <a:lnTo>
                    <a:pt x="463635" y="846225"/>
                  </a:lnTo>
                  <a:lnTo>
                    <a:pt x="510417" y="837868"/>
                  </a:lnTo>
                  <a:lnTo>
                    <a:pt x="555246" y="824331"/>
                  </a:lnTo>
                  <a:lnTo>
                    <a:pt x="597812" y="805930"/>
                  </a:lnTo>
                  <a:lnTo>
                    <a:pt x="637803" y="782985"/>
                  </a:lnTo>
                  <a:lnTo>
                    <a:pt x="674907" y="755814"/>
                  </a:lnTo>
                  <a:lnTo>
                    <a:pt x="708812" y="724736"/>
                  </a:lnTo>
                  <a:lnTo>
                    <a:pt x="739207" y="690069"/>
                  </a:lnTo>
                  <a:lnTo>
                    <a:pt x="765781" y="652131"/>
                  </a:lnTo>
                  <a:lnTo>
                    <a:pt x="788222" y="611242"/>
                  </a:lnTo>
                  <a:lnTo>
                    <a:pt x="806218" y="567720"/>
                  </a:lnTo>
                  <a:lnTo>
                    <a:pt x="819459" y="521883"/>
                  </a:lnTo>
                  <a:lnTo>
                    <a:pt x="827631" y="474051"/>
                  </a:lnTo>
                  <a:lnTo>
                    <a:pt x="830425" y="424540"/>
                  </a:lnTo>
                  <a:lnTo>
                    <a:pt x="827631" y="375030"/>
                  </a:lnTo>
                  <a:lnTo>
                    <a:pt x="819459" y="327197"/>
                  </a:lnTo>
                  <a:lnTo>
                    <a:pt x="806218" y="281360"/>
                  </a:lnTo>
                  <a:lnTo>
                    <a:pt x="788222" y="237838"/>
                  </a:lnTo>
                  <a:lnTo>
                    <a:pt x="765781" y="196949"/>
                  </a:lnTo>
                  <a:lnTo>
                    <a:pt x="739207" y="159012"/>
                  </a:lnTo>
                  <a:lnTo>
                    <a:pt x="708812" y="124345"/>
                  </a:lnTo>
                  <a:lnTo>
                    <a:pt x="674907" y="93266"/>
                  </a:lnTo>
                  <a:lnTo>
                    <a:pt x="637803" y="66095"/>
                  </a:lnTo>
                  <a:lnTo>
                    <a:pt x="597812" y="43150"/>
                  </a:lnTo>
                  <a:lnTo>
                    <a:pt x="555246" y="24750"/>
                  </a:lnTo>
                  <a:lnTo>
                    <a:pt x="510417" y="11212"/>
                  </a:lnTo>
                  <a:lnTo>
                    <a:pt x="463635" y="2856"/>
                  </a:lnTo>
                  <a:lnTo>
                    <a:pt x="415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886252" y="4469368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0" y="424541"/>
                  </a:moveTo>
                  <a:lnTo>
                    <a:pt x="2793" y="375030"/>
                  </a:lnTo>
                  <a:lnTo>
                    <a:pt x="10966" y="327197"/>
                  </a:lnTo>
                  <a:lnTo>
                    <a:pt x="24206" y="281360"/>
                  </a:lnTo>
                  <a:lnTo>
                    <a:pt x="42202" y="237838"/>
                  </a:lnTo>
                  <a:lnTo>
                    <a:pt x="64643" y="196949"/>
                  </a:lnTo>
                  <a:lnTo>
                    <a:pt x="91217" y="159012"/>
                  </a:lnTo>
                  <a:lnTo>
                    <a:pt x="121612" y="124345"/>
                  </a:lnTo>
                  <a:lnTo>
                    <a:pt x="155518" y="93266"/>
                  </a:lnTo>
                  <a:lnTo>
                    <a:pt x="192622" y="66095"/>
                  </a:lnTo>
                  <a:lnTo>
                    <a:pt x="232612" y="43150"/>
                  </a:lnTo>
                  <a:lnTo>
                    <a:pt x="275178" y="24750"/>
                  </a:lnTo>
                  <a:lnTo>
                    <a:pt x="320008" y="11212"/>
                  </a:lnTo>
                  <a:lnTo>
                    <a:pt x="366789" y="2856"/>
                  </a:lnTo>
                  <a:lnTo>
                    <a:pt x="415212" y="0"/>
                  </a:lnTo>
                  <a:lnTo>
                    <a:pt x="463635" y="2856"/>
                  </a:lnTo>
                  <a:lnTo>
                    <a:pt x="510416" y="11212"/>
                  </a:lnTo>
                  <a:lnTo>
                    <a:pt x="555246" y="24750"/>
                  </a:lnTo>
                  <a:lnTo>
                    <a:pt x="597812" y="43150"/>
                  </a:lnTo>
                  <a:lnTo>
                    <a:pt x="637803" y="66095"/>
                  </a:lnTo>
                  <a:lnTo>
                    <a:pt x="674906" y="93266"/>
                  </a:lnTo>
                  <a:lnTo>
                    <a:pt x="708812" y="124345"/>
                  </a:lnTo>
                  <a:lnTo>
                    <a:pt x="739207" y="159012"/>
                  </a:lnTo>
                  <a:lnTo>
                    <a:pt x="765781" y="196949"/>
                  </a:lnTo>
                  <a:lnTo>
                    <a:pt x="788222" y="237838"/>
                  </a:lnTo>
                  <a:lnTo>
                    <a:pt x="806218" y="281360"/>
                  </a:lnTo>
                  <a:lnTo>
                    <a:pt x="819458" y="327197"/>
                  </a:lnTo>
                  <a:lnTo>
                    <a:pt x="827631" y="375030"/>
                  </a:lnTo>
                  <a:lnTo>
                    <a:pt x="830425" y="424541"/>
                  </a:lnTo>
                  <a:lnTo>
                    <a:pt x="827631" y="474051"/>
                  </a:lnTo>
                  <a:lnTo>
                    <a:pt x="819458" y="521884"/>
                  </a:lnTo>
                  <a:lnTo>
                    <a:pt x="806218" y="567721"/>
                  </a:lnTo>
                  <a:lnTo>
                    <a:pt x="788222" y="611243"/>
                  </a:lnTo>
                  <a:lnTo>
                    <a:pt x="765781" y="652132"/>
                  </a:lnTo>
                  <a:lnTo>
                    <a:pt x="739207" y="690069"/>
                  </a:lnTo>
                  <a:lnTo>
                    <a:pt x="708812" y="724736"/>
                  </a:lnTo>
                  <a:lnTo>
                    <a:pt x="674906" y="755815"/>
                  </a:lnTo>
                  <a:lnTo>
                    <a:pt x="637803" y="782986"/>
                  </a:lnTo>
                  <a:lnTo>
                    <a:pt x="597812" y="805931"/>
                  </a:lnTo>
                  <a:lnTo>
                    <a:pt x="555246" y="824331"/>
                  </a:lnTo>
                  <a:lnTo>
                    <a:pt x="510416" y="837869"/>
                  </a:lnTo>
                  <a:lnTo>
                    <a:pt x="463635" y="846225"/>
                  </a:lnTo>
                  <a:lnTo>
                    <a:pt x="415212" y="849082"/>
                  </a:lnTo>
                  <a:lnTo>
                    <a:pt x="366789" y="846225"/>
                  </a:lnTo>
                  <a:lnTo>
                    <a:pt x="320008" y="837869"/>
                  </a:lnTo>
                  <a:lnTo>
                    <a:pt x="275178" y="824331"/>
                  </a:lnTo>
                  <a:lnTo>
                    <a:pt x="232612" y="805931"/>
                  </a:lnTo>
                  <a:lnTo>
                    <a:pt x="192622" y="782986"/>
                  </a:lnTo>
                  <a:lnTo>
                    <a:pt x="155518" y="755815"/>
                  </a:lnTo>
                  <a:lnTo>
                    <a:pt x="121612" y="724736"/>
                  </a:lnTo>
                  <a:lnTo>
                    <a:pt x="91217" y="690069"/>
                  </a:lnTo>
                  <a:lnTo>
                    <a:pt x="64643" y="652132"/>
                  </a:lnTo>
                  <a:lnTo>
                    <a:pt x="42202" y="611243"/>
                  </a:lnTo>
                  <a:lnTo>
                    <a:pt x="24206" y="567721"/>
                  </a:lnTo>
                  <a:lnTo>
                    <a:pt x="10966" y="521884"/>
                  </a:lnTo>
                  <a:lnTo>
                    <a:pt x="2793" y="474051"/>
                  </a:lnTo>
                  <a:lnTo>
                    <a:pt x="0" y="424541"/>
                  </a:lnTo>
                  <a:close/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27589" y="5318450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09" h="0">
                  <a:moveTo>
                    <a:pt x="0" y="2"/>
                  </a:moveTo>
                  <a:lnTo>
                    <a:pt x="2873877" y="0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3905" y="4646348"/>
              <a:ext cx="495119" cy="495119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388095" y="4538824"/>
            <a:ext cx="3312160" cy="878205"/>
            <a:chOff x="8388095" y="4538824"/>
            <a:chExt cx="3312160" cy="878205"/>
          </a:xfrm>
        </p:grpSpPr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8095" y="4544567"/>
              <a:ext cx="2889504" cy="86563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855502" y="4553112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415212" y="0"/>
                  </a:moveTo>
                  <a:lnTo>
                    <a:pt x="366790" y="2856"/>
                  </a:lnTo>
                  <a:lnTo>
                    <a:pt x="320008" y="11212"/>
                  </a:lnTo>
                  <a:lnTo>
                    <a:pt x="275178" y="24750"/>
                  </a:lnTo>
                  <a:lnTo>
                    <a:pt x="232612" y="43150"/>
                  </a:lnTo>
                  <a:lnTo>
                    <a:pt x="192622" y="66095"/>
                  </a:lnTo>
                  <a:lnTo>
                    <a:pt x="155518" y="93266"/>
                  </a:lnTo>
                  <a:lnTo>
                    <a:pt x="121613" y="124345"/>
                  </a:lnTo>
                  <a:lnTo>
                    <a:pt x="91217" y="159012"/>
                  </a:lnTo>
                  <a:lnTo>
                    <a:pt x="64643" y="196949"/>
                  </a:lnTo>
                  <a:lnTo>
                    <a:pt x="42202" y="237838"/>
                  </a:lnTo>
                  <a:lnTo>
                    <a:pt x="24206" y="281360"/>
                  </a:lnTo>
                  <a:lnTo>
                    <a:pt x="10966" y="327197"/>
                  </a:lnTo>
                  <a:lnTo>
                    <a:pt x="2793" y="375030"/>
                  </a:lnTo>
                  <a:lnTo>
                    <a:pt x="0" y="424540"/>
                  </a:lnTo>
                  <a:lnTo>
                    <a:pt x="2793" y="474051"/>
                  </a:lnTo>
                  <a:lnTo>
                    <a:pt x="10966" y="521884"/>
                  </a:lnTo>
                  <a:lnTo>
                    <a:pt x="24206" y="567721"/>
                  </a:lnTo>
                  <a:lnTo>
                    <a:pt x="42202" y="611243"/>
                  </a:lnTo>
                  <a:lnTo>
                    <a:pt x="64643" y="652132"/>
                  </a:lnTo>
                  <a:lnTo>
                    <a:pt x="91217" y="690070"/>
                  </a:lnTo>
                  <a:lnTo>
                    <a:pt x="121613" y="724737"/>
                  </a:lnTo>
                  <a:lnTo>
                    <a:pt x="155518" y="755815"/>
                  </a:lnTo>
                  <a:lnTo>
                    <a:pt x="192622" y="782986"/>
                  </a:lnTo>
                  <a:lnTo>
                    <a:pt x="232612" y="805931"/>
                  </a:lnTo>
                  <a:lnTo>
                    <a:pt x="275178" y="824332"/>
                  </a:lnTo>
                  <a:lnTo>
                    <a:pt x="320008" y="837870"/>
                  </a:lnTo>
                  <a:lnTo>
                    <a:pt x="366790" y="846226"/>
                  </a:lnTo>
                  <a:lnTo>
                    <a:pt x="415212" y="849082"/>
                  </a:lnTo>
                  <a:lnTo>
                    <a:pt x="463635" y="846226"/>
                  </a:lnTo>
                  <a:lnTo>
                    <a:pt x="510417" y="837870"/>
                  </a:lnTo>
                  <a:lnTo>
                    <a:pt x="555246" y="824332"/>
                  </a:lnTo>
                  <a:lnTo>
                    <a:pt x="597812" y="805931"/>
                  </a:lnTo>
                  <a:lnTo>
                    <a:pt x="637803" y="782986"/>
                  </a:lnTo>
                  <a:lnTo>
                    <a:pt x="674907" y="755815"/>
                  </a:lnTo>
                  <a:lnTo>
                    <a:pt x="708812" y="724737"/>
                  </a:lnTo>
                  <a:lnTo>
                    <a:pt x="739207" y="690070"/>
                  </a:lnTo>
                  <a:lnTo>
                    <a:pt x="765781" y="652132"/>
                  </a:lnTo>
                  <a:lnTo>
                    <a:pt x="788222" y="611243"/>
                  </a:lnTo>
                  <a:lnTo>
                    <a:pt x="806218" y="567721"/>
                  </a:lnTo>
                  <a:lnTo>
                    <a:pt x="819459" y="521884"/>
                  </a:lnTo>
                  <a:lnTo>
                    <a:pt x="827631" y="474051"/>
                  </a:lnTo>
                  <a:lnTo>
                    <a:pt x="830425" y="424540"/>
                  </a:lnTo>
                  <a:lnTo>
                    <a:pt x="827631" y="375030"/>
                  </a:lnTo>
                  <a:lnTo>
                    <a:pt x="819459" y="327197"/>
                  </a:lnTo>
                  <a:lnTo>
                    <a:pt x="806218" y="281360"/>
                  </a:lnTo>
                  <a:lnTo>
                    <a:pt x="788222" y="237838"/>
                  </a:lnTo>
                  <a:lnTo>
                    <a:pt x="765781" y="196949"/>
                  </a:lnTo>
                  <a:lnTo>
                    <a:pt x="739207" y="159012"/>
                  </a:lnTo>
                  <a:lnTo>
                    <a:pt x="708812" y="124345"/>
                  </a:lnTo>
                  <a:lnTo>
                    <a:pt x="674907" y="93266"/>
                  </a:lnTo>
                  <a:lnTo>
                    <a:pt x="637803" y="66095"/>
                  </a:lnTo>
                  <a:lnTo>
                    <a:pt x="597812" y="43150"/>
                  </a:lnTo>
                  <a:lnTo>
                    <a:pt x="555246" y="24750"/>
                  </a:lnTo>
                  <a:lnTo>
                    <a:pt x="510417" y="11212"/>
                  </a:lnTo>
                  <a:lnTo>
                    <a:pt x="463635" y="2856"/>
                  </a:lnTo>
                  <a:lnTo>
                    <a:pt x="415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855502" y="4553112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0" y="424541"/>
                  </a:moveTo>
                  <a:lnTo>
                    <a:pt x="2793" y="375030"/>
                  </a:lnTo>
                  <a:lnTo>
                    <a:pt x="10966" y="327197"/>
                  </a:lnTo>
                  <a:lnTo>
                    <a:pt x="24206" y="281360"/>
                  </a:lnTo>
                  <a:lnTo>
                    <a:pt x="42202" y="237838"/>
                  </a:lnTo>
                  <a:lnTo>
                    <a:pt x="64643" y="196949"/>
                  </a:lnTo>
                  <a:lnTo>
                    <a:pt x="91217" y="159012"/>
                  </a:lnTo>
                  <a:lnTo>
                    <a:pt x="121612" y="124345"/>
                  </a:lnTo>
                  <a:lnTo>
                    <a:pt x="155518" y="93266"/>
                  </a:lnTo>
                  <a:lnTo>
                    <a:pt x="192622" y="66095"/>
                  </a:lnTo>
                  <a:lnTo>
                    <a:pt x="232612" y="43150"/>
                  </a:lnTo>
                  <a:lnTo>
                    <a:pt x="275178" y="24750"/>
                  </a:lnTo>
                  <a:lnTo>
                    <a:pt x="320008" y="11212"/>
                  </a:lnTo>
                  <a:lnTo>
                    <a:pt x="366789" y="2856"/>
                  </a:lnTo>
                  <a:lnTo>
                    <a:pt x="415212" y="0"/>
                  </a:lnTo>
                  <a:lnTo>
                    <a:pt x="463635" y="2856"/>
                  </a:lnTo>
                  <a:lnTo>
                    <a:pt x="510416" y="11212"/>
                  </a:lnTo>
                  <a:lnTo>
                    <a:pt x="555246" y="24750"/>
                  </a:lnTo>
                  <a:lnTo>
                    <a:pt x="597812" y="43150"/>
                  </a:lnTo>
                  <a:lnTo>
                    <a:pt x="637803" y="66095"/>
                  </a:lnTo>
                  <a:lnTo>
                    <a:pt x="674906" y="93266"/>
                  </a:lnTo>
                  <a:lnTo>
                    <a:pt x="708812" y="124345"/>
                  </a:lnTo>
                  <a:lnTo>
                    <a:pt x="739207" y="159012"/>
                  </a:lnTo>
                  <a:lnTo>
                    <a:pt x="765781" y="196949"/>
                  </a:lnTo>
                  <a:lnTo>
                    <a:pt x="788222" y="237838"/>
                  </a:lnTo>
                  <a:lnTo>
                    <a:pt x="806218" y="281360"/>
                  </a:lnTo>
                  <a:lnTo>
                    <a:pt x="819458" y="327197"/>
                  </a:lnTo>
                  <a:lnTo>
                    <a:pt x="827631" y="375030"/>
                  </a:lnTo>
                  <a:lnTo>
                    <a:pt x="830425" y="424541"/>
                  </a:lnTo>
                  <a:lnTo>
                    <a:pt x="827631" y="474051"/>
                  </a:lnTo>
                  <a:lnTo>
                    <a:pt x="819458" y="521884"/>
                  </a:lnTo>
                  <a:lnTo>
                    <a:pt x="806218" y="567721"/>
                  </a:lnTo>
                  <a:lnTo>
                    <a:pt x="788222" y="611243"/>
                  </a:lnTo>
                  <a:lnTo>
                    <a:pt x="765781" y="652132"/>
                  </a:lnTo>
                  <a:lnTo>
                    <a:pt x="739207" y="690069"/>
                  </a:lnTo>
                  <a:lnTo>
                    <a:pt x="708812" y="724736"/>
                  </a:lnTo>
                  <a:lnTo>
                    <a:pt x="674906" y="755815"/>
                  </a:lnTo>
                  <a:lnTo>
                    <a:pt x="637803" y="782986"/>
                  </a:lnTo>
                  <a:lnTo>
                    <a:pt x="597812" y="805931"/>
                  </a:lnTo>
                  <a:lnTo>
                    <a:pt x="555246" y="824331"/>
                  </a:lnTo>
                  <a:lnTo>
                    <a:pt x="510416" y="837869"/>
                  </a:lnTo>
                  <a:lnTo>
                    <a:pt x="463635" y="846225"/>
                  </a:lnTo>
                  <a:lnTo>
                    <a:pt x="415212" y="849082"/>
                  </a:lnTo>
                  <a:lnTo>
                    <a:pt x="366789" y="846225"/>
                  </a:lnTo>
                  <a:lnTo>
                    <a:pt x="320008" y="837869"/>
                  </a:lnTo>
                  <a:lnTo>
                    <a:pt x="275178" y="824331"/>
                  </a:lnTo>
                  <a:lnTo>
                    <a:pt x="232612" y="805931"/>
                  </a:lnTo>
                  <a:lnTo>
                    <a:pt x="192622" y="782986"/>
                  </a:lnTo>
                  <a:lnTo>
                    <a:pt x="155518" y="755815"/>
                  </a:lnTo>
                  <a:lnTo>
                    <a:pt x="121612" y="724736"/>
                  </a:lnTo>
                  <a:lnTo>
                    <a:pt x="91217" y="690069"/>
                  </a:lnTo>
                  <a:lnTo>
                    <a:pt x="64643" y="652132"/>
                  </a:lnTo>
                  <a:lnTo>
                    <a:pt x="42202" y="611243"/>
                  </a:lnTo>
                  <a:lnTo>
                    <a:pt x="24206" y="567721"/>
                  </a:lnTo>
                  <a:lnTo>
                    <a:pt x="10966" y="521884"/>
                  </a:lnTo>
                  <a:lnTo>
                    <a:pt x="2793" y="474051"/>
                  </a:lnTo>
                  <a:lnTo>
                    <a:pt x="0" y="424541"/>
                  </a:lnTo>
                  <a:close/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396838" y="5402194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09" h="0">
                  <a:moveTo>
                    <a:pt x="0" y="2"/>
                  </a:moveTo>
                  <a:lnTo>
                    <a:pt x="2873877" y="0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07138" y="4621592"/>
              <a:ext cx="544632" cy="544631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2139695" y="5529367"/>
            <a:ext cx="3303904" cy="878205"/>
            <a:chOff x="2139695" y="5529367"/>
            <a:chExt cx="3303904" cy="878205"/>
          </a:xfrm>
        </p:grpSpPr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5541263"/>
              <a:ext cx="2874263" cy="85344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4598360" y="5543655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415212" y="0"/>
                  </a:moveTo>
                  <a:lnTo>
                    <a:pt x="366789" y="2856"/>
                  </a:lnTo>
                  <a:lnTo>
                    <a:pt x="320007" y="11212"/>
                  </a:lnTo>
                  <a:lnTo>
                    <a:pt x="275178" y="24750"/>
                  </a:lnTo>
                  <a:lnTo>
                    <a:pt x="232612" y="43150"/>
                  </a:lnTo>
                  <a:lnTo>
                    <a:pt x="192621" y="66095"/>
                  </a:lnTo>
                  <a:lnTo>
                    <a:pt x="155517" y="93266"/>
                  </a:lnTo>
                  <a:lnTo>
                    <a:pt x="121612" y="124344"/>
                  </a:lnTo>
                  <a:lnTo>
                    <a:pt x="91217" y="159011"/>
                  </a:lnTo>
                  <a:lnTo>
                    <a:pt x="64643" y="196949"/>
                  </a:lnTo>
                  <a:lnTo>
                    <a:pt x="42202" y="237838"/>
                  </a:lnTo>
                  <a:lnTo>
                    <a:pt x="24206" y="281360"/>
                  </a:lnTo>
                  <a:lnTo>
                    <a:pt x="10966" y="327197"/>
                  </a:lnTo>
                  <a:lnTo>
                    <a:pt x="2793" y="375029"/>
                  </a:lnTo>
                  <a:lnTo>
                    <a:pt x="0" y="424540"/>
                  </a:lnTo>
                  <a:lnTo>
                    <a:pt x="2793" y="474050"/>
                  </a:lnTo>
                  <a:lnTo>
                    <a:pt x="10966" y="521883"/>
                  </a:lnTo>
                  <a:lnTo>
                    <a:pt x="24206" y="567720"/>
                  </a:lnTo>
                  <a:lnTo>
                    <a:pt x="42202" y="611242"/>
                  </a:lnTo>
                  <a:lnTo>
                    <a:pt x="64643" y="652131"/>
                  </a:lnTo>
                  <a:lnTo>
                    <a:pt x="91217" y="690069"/>
                  </a:lnTo>
                  <a:lnTo>
                    <a:pt x="121612" y="724736"/>
                  </a:lnTo>
                  <a:lnTo>
                    <a:pt x="155517" y="755814"/>
                  </a:lnTo>
                  <a:lnTo>
                    <a:pt x="192621" y="782985"/>
                  </a:lnTo>
                  <a:lnTo>
                    <a:pt x="232612" y="805930"/>
                  </a:lnTo>
                  <a:lnTo>
                    <a:pt x="275178" y="824331"/>
                  </a:lnTo>
                  <a:lnTo>
                    <a:pt x="320007" y="837868"/>
                  </a:lnTo>
                  <a:lnTo>
                    <a:pt x="366789" y="846225"/>
                  </a:lnTo>
                  <a:lnTo>
                    <a:pt x="415212" y="849081"/>
                  </a:lnTo>
                  <a:lnTo>
                    <a:pt x="463634" y="846225"/>
                  </a:lnTo>
                  <a:lnTo>
                    <a:pt x="510416" y="837868"/>
                  </a:lnTo>
                  <a:lnTo>
                    <a:pt x="555246" y="824331"/>
                  </a:lnTo>
                  <a:lnTo>
                    <a:pt x="597812" y="805930"/>
                  </a:lnTo>
                  <a:lnTo>
                    <a:pt x="637802" y="782985"/>
                  </a:lnTo>
                  <a:lnTo>
                    <a:pt x="674906" y="755814"/>
                  </a:lnTo>
                  <a:lnTo>
                    <a:pt x="708811" y="724736"/>
                  </a:lnTo>
                  <a:lnTo>
                    <a:pt x="739207" y="690069"/>
                  </a:lnTo>
                  <a:lnTo>
                    <a:pt x="765781" y="652131"/>
                  </a:lnTo>
                  <a:lnTo>
                    <a:pt x="788222" y="611242"/>
                  </a:lnTo>
                  <a:lnTo>
                    <a:pt x="806218" y="567720"/>
                  </a:lnTo>
                  <a:lnTo>
                    <a:pt x="819458" y="521883"/>
                  </a:lnTo>
                  <a:lnTo>
                    <a:pt x="827631" y="474050"/>
                  </a:lnTo>
                  <a:lnTo>
                    <a:pt x="830425" y="424540"/>
                  </a:lnTo>
                  <a:lnTo>
                    <a:pt x="827631" y="375029"/>
                  </a:lnTo>
                  <a:lnTo>
                    <a:pt x="819458" y="327197"/>
                  </a:lnTo>
                  <a:lnTo>
                    <a:pt x="806218" y="281360"/>
                  </a:lnTo>
                  <a:lnTo>
                    <a:pt x="788222" y="237838"/>
                  </a:lnTo>
                  <a:lnTo>
                    <a:pt x="765781" y="196949"/>
                  </a:lnTo>
                  <a:lnTo>
                    <a:pt x="739207" y="159011"/>
                  </a:lnTo>
                  <a:lnTo>
                    <a:pt x="708811" y="124344"/>
                  </a:lnTo>
                  <a:lnTo>
                    <a:pt x="674906" y="93266"/>
                  </a:lnTo>
                  <a:lnTo>
                    <a:pt x="637802" y="66095"/>
                  </a:lnTo>
                  <a:lnTo>
                    <a:pt x="597812" y="43150"/>
                  </a:lnTo>
                  <a:lnTo>
                    <a:pt x="555246" y="24750"/>
                  </a:lnTo>
                  <a:lnTo>
                    <a:pt x="510416" y="11212"/>
                  </a:lnTo>
                  <a:lnTo>
                    <a:pt x="463634" y="2856"/>
                  </a:lnTo>
                  <a:lnTo>
                    <a:pt x="415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598360" y="5543655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0" y="424541"/>
                  </a:moveTo>
                  <a:lnTo>
                    <a:pt x="2793" y="375030"/>
                  </a:lnTo>
                  <a:lnTo>
                    <a:pt x="10966" y="327197"/>
                  </a:lnTo>
                  <a:lnTo>
                    <a:pt x="24206" y="281360"/>
                  </a:lnTo>
                  <a:lnTo>
                    <a:pt x="42202" y="237838"/>
                  </a:lnTo>
                  <a:lnTo>
                    <a:pt x="64643" y="196949"/>
                  </a:lnTo>
                  <a:lnTo>
                    <a:pt x="91217" y="159012"/>
                  </a:lnTo>
                  <a:lnTo>
                    <a:pt x="121612" y="124345"/>
                  </a:lnTo>
                  <a:lnTo>
                    <a:pt x="155518" y="93266"/>
                  </a:lnTo>
                  <a:lnTo>
                    <a:pt x="192622" y="66095"/>
                  </a:lnTo>
                  <a:lnTo>
                    <a:pt x="232612" y="43150"/>
                  </a:lnTo>
                  <a:lnTo>
                    <a:pt x="275178" y="24750"/>
                  </a:lnTo>
                  <a:lnTo>
                    <a:pt x="320008" y="11212"/>
                  </a:lnTo>
                  <a:lnTo>
                    <a:pt x="366789" y="2856"/>
                  </a:lnTo>
                  <a:lnTo>
                    <a:pt x="415212" y="0"/>
                  </a:lnTo>
                  <a:lnTo>
                    <a:pt x="463635" y="2856"/>
                  </a:lnTo>
                  <a:lnTo>
                    <a:pt x="510416" y="11212"/>
                  </a:lnTo>
                  <a:lnTo>
                    <a:pt x="555246" y="24750"/>
                  </a:lnTo>
                  <a:lnTo>
                    <a:pt x="597812" y="43150"/>
                  </a:lnTo>
                  <a:lnTo>
                    <a:pt x="637803" y="66095"/>
                  </a:lnTo>
                  <a:lnTo>
                    <a:pt x="674906" y="93266"/>
                  </a:lnTo>
                  <a:lnTo>
                    <a:pt x="708812" y="124345"/>
                  </a:lnTo>
                  <a:lnTo>
                    <a:pt x="739207" y="159012"/>
                  </a:lnTo>
                  <a:lnTo>
                    <a:pt x="765781" y="196949"/>
                  </a:lnTo>
                  <a:lnTo>
                    <a:pt x="788222" y="237838"/>
                  </a:lnTo>
                  <a:lnTo>
                    <a:pt x="806218" y="281360"/>
                  </a:lnTo>
                  <a:lnTo>
                    <a:pt x="819458" y="327197"/>
                  </a:lnTo>
                  <a:lnTo>
                    <a:pt x="827631" y="375030"/>
                  </a:lnTo>
                  <a:lnTo>
                    <a:pt x="830425" y="424541"/>
                  </a:lnTo>
                  <a:lnTo>
                    <a:pt x="827631" y="474051"/>
                  </a:lnTo>
                  <a:lnTo>
                    <a:pt x="819458" y="521884"/>
                  </a:lnTo>
                  <a:lnTo>
                    <a:pt x="806218" y="567721"/>
                  </a:lnTo>
                  <a:lnTo>
                    <a:pt x="788222" y="611243"/>
                  </a:lnTo>
                  <a:lnTo>
                    <a:pt x="765781" y="652132"/>
                  </a:lnTo>
                  <a:lnTo>
                    <a:pt x="739207" y="690069"/>
                  </a:lnTo>
                  <a:lnTo>
                    <a:pt x="708812" y="724736"/>
                  </a:lnTo>
                  <a:lnTo>
                    <a:pt x="674906" y="755815"/>
                  </a:lnTo>
                  <a:lnTo>
                    <a:pt x="637803" y="782986"/>
                  </a:lnTo>
                  <a:lnTo>
                    <a:pt x="597812" y="805931"/>
                  </a:lnTo>
                  <a:lnTo>
                    <a:pt x="555246" y="824331"/>
                  </a:lnTo>
                  <a:lnTo>
                    <a:pt x="510416" y="837869"/>
                  </a:lnTo>
                  <a:lnTo>
                    <a:pt x="463635" y="846225"/>
                  </a:lnTo>
                  <a:lnTo>
                    <a:pt x="415212" y="849082"/>
                  </a:lnTo>
                  <a:lnTo>
                    <a:pt x="366789" y="846225"/>
                  </a:lnTo>
                  <a:lnTo>
                    <a:pt x="320008" y="837869"/>
                  </a:lnTo>
                  <a:lnTo>
                    <a:pt x="275178" y="824331"/>
                  </a:lnTo>
                  <a:lnTo>
                    <a:pt x="232612" y="805931"/>
                  </a:lnTo>
                  <a:lnTo>
                    <a:pt x="192622" y="782986"/>
                  </a:lnTo>
                  <a:lnTo>
                    <a:pt x="155518" y="755815"/>
                  </a:lnTo>
                  <a:lnTo>
                    <a:pt x="121612" y="724736"/>
                  </a:lnTo>
                  <a:lnTo>
                    <a:pt x="91217" y="690069"/>
                  </a:lnTo>
                  <a:lnTo>
                    <a:pt x="64643" y="652132"/>
                  </a:lnTo>
                  <a:lnTo>
                    <a:pt x="42202" y="611243"/>
                  </a:lnTo>
                  <a:lnTo>
                    <a:pt x="24206" y="567721"/>
                  </a:lnTo>
                  <a:lnTo>
                    <a:pt x="10966" y="521884"/>
                  </a:lnTo>
                  <a:lnTo>
                    <a:pt x="2793" y="474051"/>
                  </a:lnTo>
                  <a:lnTo>
                    <a:pt x="0" y="424541"/>
                  </a:lnTo>
                  <a:close/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139695" y="6392736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10" h="0">
                  <a:moveTo>
                    <a:pt x="0" y="2"/>
                  </a:moveTo>
                  <a:lnTo>
                    <a:pt x="2873877" y="0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19342" y="5700033"/>
              <a:ext cx="599094" cy="599094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6309359" y="5479314"/>
            <a:ext cx="3303904" cy="878205"/>
            <a:chOff x="6309359" y="5479314"/>
            <a:chExt cx="3303904" cy="878205"/>
          </a:xfrm>
        </p:grpSpPr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09359" y="5492495"/>
              <a:ext cx="2874264" cy="85039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8768147" y="5493602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415212" y="0"/>
                  </a:moveTo>
                  <a:lnTo>
                    <a:pt x="366790" y="2856"/>
                  </a:lnTo>
                  <a:lnTo>
                    <a:pt x="320008" y="11212"/>
                  </a:lnTo>
                  <a:lnTo>
                    <a:pt x="275178" y="24750"/>
                  </a:lnTo>
                  <a:lnTo>
                    <a:pt x="232612" y="43150"/>
                  </a:lnTo>
                  <a:lnTo>
                    <a:pt x="192622" y="66095"/>
                  </a:lnTo>
                  <a:lnTo>
                    <a:pt x="155518" y="93266"/>
                  </a:lnTo>
                  <a:lnTo>
                    <a:pt x="121613" y="124345"/>
                  </a:lnTo>
                  <a:lnTo>
                    <a:pt x="91217" y="159012"/>
                  </a:lnTo>
                  <a:lnTo>
                    <a:pt x="64643" y="196949"/>
                  </a:lnTo>
                  <a:lnTo>
                    <a:pt x="42202" y="237838"/>
                  </a:lnTo>
                  <a:lnTo>
                    <a:pt x="24206" y="281360"/>
                  </a:lnTo>
                  <a:lnTo>
                    <a:pt x="10966" y="327197"/>
                  </a:lnTo>
                  <a:lnTo>
                    <a:pt x="2793" y="375030"/>
                  </a:lnTo>
                  <a:lnTo>
                    <a:pt x="0" y="424540"/>
                  </a:lnTo>
                  <a:lnTo>
                    <a:pt x="2793" y="474051"/>
                  </a:lnTo>
                  <a:lnTo>
                    <a:pt x="10966" y="521884"/>
                  </a:lnTo>
                  <a:lnTo>
                    <a:pt x="24206" y="567720"/>
                  </a:lnTo>
                  <a:lnTo>
                    <a:pt x="42202" y="611243"/>
                  </a:lnTo>
                  <a:lnTo>
                    <a:pt x="64643" y="652132"/>
                  </a:lnTo>
                  <a:lnTo>
                    <a:pt x="91217" y="690069"/>
                  </a:lnTo>
                  <a:lnTo>
                    <a:pt x="121613" y="724736"/>
                  </a:lnTo>
                  <a:lnTo>
                    <a:pt x="155518" y="755814"/>
                  </a:lnTo>
                  <a:lnTo>
                    <a:pt x="192622" y="782985"/>
                  </a:lnTo>
                  <a:lnTo>
                    <a:pt x="232612" y="805931"/>
                  </a:lnTo>
                  <a:lnTo>
                    <a:pt x="275178" y="824331"/>
                  </a:lnTo>
                  <a:lnTo>
                    <a:pt x="320008" y="837869"/>
                  </a:lnTo>
                  <a:lnTo>
                    <a:pt x="366790" y="846225"/>
                  </a:lnTo>
                  <a:lnTo>
                    <a:pt x="415212" y="849081"/>
                  </a:lnTo>
                  <a:lnTo>
                    <a:pt x="463635" y="846225"/>
                  </a:lnTo>
                  <a:lnTo>
                    <a:pt x="510417" y="837869"/>
                  </a:lnTo>
                  <a:lnTo>
                    <a:pt x="555246" y="824331"/>
                  </a:lnTo>
                  <a:lnTo>
                    <a:pt x="597812" y="805931"/>
                  </a:lnTo>
                  <a:lnTo>
                    <a:pt x="637803" y="782985"/>
                  </a:lnTo>
                  <a:lnTo>
                    <a:pt x="674907" y="755814"/>
                  </a:lnTo>
                  <a:lnTo>
                    <a:pt x="708812" y="724736"/>
                  </a:lnTo>
                  <a:lnTo>
                    <a:pt x="739207" y="690069"/>
                  </a:lnTo>
                  <a:lnTo>
                    <a:pt x="765781" y="652132"/>
                  </a:lnTo>
                  <a:lnTo>
                    <a:pt x="788222" y="611243"/>
                  </a:lnTo>
                  <a:lnTo>
                    <a:pt x="806218" y="567720"/>
                  </a:lnTo>
                  <a:lnTo>
                    <a:pt x="819459" y="521884"/>
                  </a:lnTo>
                  <a:lnTo>
                    <a:pt x="827631" y="474051"/>
                  </a:lnTo>
                  <a:lnTo>
                    <a:pt x="830425" y="424540"/>
                  </a:lnTo>
                  <a:lnTo>
                    <a:pt x="827631" y="375030"/>
                  </a:lnTo>
                  <a:lnTo>
                    <a:pt x="819459" y="327197"/>
                  </a:lnTo>
                  <a:lnTo>
                    <a:pt x="806218" y="281360"/>
                  </a:lnTo>
                  <a:lnTo>
                    <a:pt x="788222" y="237838"/>
                  </a:lnTo>
                  <a:lnTo>
                    <a:pt x="765781" y="196949"/>
                  </a:lnTo>
                  <a:lnTo>
                    <a:pt x="739207" y="159012"/>
                  </a:lnTo>
                  <a:lnTo>
                    <a:pt x="708812" y="124345"/>
                  </a:lnTo>
                  <a:lnTo>
                    <a:pt x="674907" y="93266"/>
                  </a:lnTo>
                  <a:lnTo>
                    <a:pt x="637803" y="66095"/>
                  </a:lnTo>
                  <a:lnTo>
                    <a:pt x="597812" y="43150"/>
                  </a:lnTo>
                  <a:lnTo>
                    <a:pt x="555246" y="24750"/>
                  </a:lnTo>
                  <a:lnTo>
                    <a:pt x="510417" y="11212"/>
                  </a:lnTo>
                  <a:lnTo>
                    <a:pt x="463635" y="2856"/>
                  </a:lnTo>
                  <a:lnTo>
                    <a:pt x="415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768147" y="5493602"/>
              <a:ext cx="830580" cy="849630"/>
            </a:xfrm>
            <a:custGeom>
              <a:avLst/>
              <a:gdLst/>
              <a:ahLst/>
              <a:cxnLst/>
              <a:rect l="l" t="t" r="r" b="b"/>
              <a:pathLst>
                <a:path w="830579" h="849629">
                  <a:moveTo>
                    <a:pt x="0" y="424541"/>
                  </a:moveTo>
                  <a:lnTo>
                    <a:pt x="2793" y="375030"/>
                  </a:lnTo>
                  <a:lnTo>
                    <a:pt x="10966" y="327197"/>
                  </a:lnTo>
                  <a:lnTo>
                    <a:pt x="24206" y="281360"/>
                  </a:lnTo>
                  <a:lnTo>
                    <a:pt x="42202" y="237838"/>
                  </a:lnTo>
                  <a:lnTo>
                    <a:pt x="64643" y="196949"/>
                  </a:lnTo>
                  <a:lnTo>
                    <a:pt x="91217" y="159012"/>
                  </a:lnTo>
                  <a:lnTo>
                    <a:pt x="121612" y="124345"/>
                  </a:lnTo>
                  <a:lnTo>
                    <a:pt x="155518" y="93266"/>
                  </a:lnTo>
                  <a:lnTo>
                    <a:pt x="192622" y="66095"/>
                  </a:lnTo>
                  <a:lnTo>
                    <a:pt x="232612" y="43150"/>
                  </a:lnTo>
                  <a:lnTo>
                    <a:pt x="275178" y="24750"/>
                  </a:lnTo>
                  <a:lnTo>
                    <a:pt x="320008" y="11212"/>
                  </a:lnTo>
                  <a:lnTo>
                    <a:pt x="366789" y="2856"/>
                  </a:lnTo>
                  <a:lnTo>
                    <a:pt x="415212" y="0"/>
                  </a:lnTo>
                  <a:lnTo>
                    <a:pt x="463635" y="2856"/>
                  </a:lnTo>
                  <a:lnTo>
                    <a:pt x="510416" y="11212"/>
                  </a:lnTo>
                  <a:lnTo>
                    <a:pt x="555246" y="24750"/>
                  </a:lnTo>
                  <a:lnTo>
                    <a:pt x="597812" y="43150"/>
                  </a:lnTo>
                  <a:lnTo>
                    <a:pt x="637803" y="66095"/>
                  </a:lnTo>
                  <a:lnTo>
                    <a:pt x="674906" y="93266"/>
                  </a:lnTo>
                  <a:lnTo>
                    <a:pt x="708812" y="124345"/>
                  </a:lnTo>
                  <a:lnTo>
                    <a:pt x="739207" y="159012"/>
                  </a:lnTo>
                  <a:lnTo>
                    <a:pt x="765781" y="196949"/>
                  </a:lnTo>
                  <a:lnTo>
                    <a:pt x="788222" y="237838"/>
                  </a:lnTo>
                  <a:lnTo>
                    <a:pt x="806218" y="281360"/>
                  </a:lnTo>
                  <a:lnTo>
                    <a:pt x="819458" y="327197"/>
                  </a:lnTo>
                  <a:lnTo>
                    <a:pt x="827631" y="375030"/>
                  </a:lnTo>
                  <a:lnTo>
                    <a:pt x="830425" y="424541"/>
                  </a:lnTo>
                  <a:lnTo>
                    <a:pt x="827631" y="474051"/>
                  </a:lnTo>
                  <a:lnTo>
                    <a:pt x="819458" y="521884"/>
                  </a:lnTo>
                  <a:lnTo>
                    <a:pt x="806218" y="567721"/>
                  </a:lnTo>
                  <a:lnTo>
                    <a:pt x="788222" y="611243"/>
                  </a:lnTo>
                  <a:lnTo>
                    <a:pt x="765781" y="652132"/>
                  </a:lnTo>
                  <a:lnTo>
                    <a:pt x="739207" y="690069"/>
                  </a:lnTo>
                  <a:lnTo>
                    <a:pt x="708812" y="724736"/>
                  </a:lnTo>
                  <a:lnTo>
                    <a:pt x="674906" y="755815"/>
                  </a:lnTo>
                  <a:lnTo>
                    <a:pt x="637803" y="782986"/>
                  </a:lnTo>
                  <a:lnTo>
                    <a:pt x="597812" y="805931"/>
                  </a:lnTo>
                  <a:lnTo>
                    <a:pt x="555246" y="824331"/>
                  </a:lnTo>
                  <a:lnTo>
                    <a:pt x="510416" y="837869"/>
                  </a:lnTo>
                  <a:lnTo>
                    <a:pt x="463635" y="846225"/>
                  </a:lnTo>
                  <a:lnTo>
                    <a:pt x="415212" y="849082"/>
                  </a:lnTo>
                  <a:lnTo>
                    <a:pt x="366789" y="846225"/>
                  </a:lnTo>
                  <a:lnTo>
                    <a:pt x="320008" y="837869"/>
                  </a:lnTo>
                  <a:lnTo>
                    <a:pt x="275178" y="824331"/>
                  </a:lnTo>
                  <a:lnTo>
                    <a:pt x="232612" y="805931"/>
                  </a:lnTo>
                  <a:lnTo>
                    <a:pt x="192622" y="782986"/>
                  </a:lnTo>
                  <a:lnTo>
                    <a:pt x="155518" y="755815"/>
                  </a:lnTo>
                  <a:lnTo>
                    <a:pt x="121612" y="724736"/>
                  </a:lnTo>
                  <a:lnTo>
                    <a:pt x="91217" y="690069"/>
                  </a:lnTo>
                  <a:lnTo>
                    <a:pt x="64643" y="652132"/>
                  </a:lnTo>
                  <a:lnTo>
                    <a:pt x="42202" y="611243"/>
                  </a:lnTo>
                  <a:lnTo>
                    <a:pt x="24206" y="567721"/>
                  </a:lnTo>
                  <a:lnTo>
                    <a:pt x="10966" y="521884"/>
                  </a:lnTo>
                  <a:lnTo>
                    <a:pt x="2793" y="474051"/>
                  </a:lnTo>
                  <a:lnTo>
                    <a:pt x="0" y="424541"/>
                  </a:lnTo>
                  <a:close/>
                </a:path>
              </a:pathLst>
            </a:custGeom>
            <a:ln w="28575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09484" y="6342684"/>
              <a:ext cx="2874010" cy="0"/>
            </a:xfrm>
            <a:custGeom>
              <a:avLst/>
              <a:gdLst/>
              <a:ahLst/>
              <a:cxnLst/>
              <a:rect l="l" t="t" r="r" b="b"/>
              <a:pathLst>
                <a:path w="2874009" h="0">
                  <a:moveTo>
                    <a:pt x="0" y="2"/>
                  </a:moveTo>
                  <a:lnTo>
                    <a:pt x="2873877" y="0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11043" y="5645826"/>
              <a:ext cx="544631" cy="544632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656870" y="4669028"/>
            <a:ext cx="195707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Financial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support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policies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like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7030A0"/>
                </a:solidFill>
                <a:latin typeface="Arial MT"/>
                <a:cs typeface="Arial MT"/>
              </a:rPr>
              <a:t>capital</a:t>
            </a:r>
            <a:r>
              <a:rPr dirty="0" sz="1200" spc="2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subsidies</a:t>
            </a:r>
            <a:r>
              <a:rPr dirty="0" sz="1200" spc="3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00">
                <a:solidFill>
                  <a:srgbClr val="7030A0"/>
                </a:solidFill>
                <a:latin typeface="Arial MT"/>
                <a:cs typeface="Arial MT"/>
              </a:rPr>
              <a:t>to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enhance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viability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599194" y="4699507"/>
            <a:ext cx="225806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>
                <a:solidFill>
                  <a:srgbClr val="7030A0"/>
                </a:solidFill>
                <a:latin typeface="Arial MT"/>
                <a:cs typeface="Arial MT"/>
              </a:rPr>
              <a:t>Ease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00">
                <a:solidFill>
                  <a:srgbClr val="7030A0"/>
                </a:solidFill>
                <a:latin typeface="Arial MT"/>
                <a:cs typeface="Arial MT"/>
              </a:rPr>
              <a:t>of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Attaining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High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Power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Licensing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95">
                <a:solidFill>
                  <a:srgbClr val="7030A0"/>
                </a:solidFill>
                <a:latin typeface="Arial MT"/>
                <a:cs typeface="Arial MT"/>
              </a:rPr>
              <a:t>for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7030A0"/>
                </a:solidFill>
                <a:latin typeface="Arial MT"/>
                <a:cs typeface="Arial MT"/>
              </a:rPr>
              <a:t>EV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chargers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at </a:t>
            </a:r>
            <a:r>
              <a:rPr dirty="0" sz="1200" spc="100">
                <a:solidFill>
                  <a:srgbClr val="7030A0"/>
                </a:solidFill>
                <a:latin typeface="Arial MT"/>
                <a:cs typeface="Arial MT"/>
              </a:rPr>
              <a:t>low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513145" y="4720844"/>
            <a:ext cx="218376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Standardisation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00">
                <a:solidFill>
                  <a:srgbClr val="7030A0"/>
                </a:solidFill>
                <a:latin typeface="Arial MT"/>
                <a:cs typeface="Arial MT"/>
              </a:rPr>
              <a:t>of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Batteries, </a:t>
            </a:r>
            <a:r>
              <a:rPr dirty="0" sz="1200">
                <a:solidFill>
                  <a:srgbClr val="7030A0"/>
                </a:solidFill>
                <a:latin typeface="Arial MT"/>
                <a:cs typeface="Arial MT"/>
              </a:rPr>
              <a:t>APIs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25">
                <a:solidFill>
                  <a:srgbClr val="7030A0"/>
                </a:solidFill>
                <a:latin typeface="Arial MT"/>
                <a:cs typeface="Arial MT"/>
              </a:rPr>
              <a:t>to</a:t>
            </a:r>
            <a:r>
              <a:rPr dirty="0" sz="1200" spc="8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7030A0"/>
                </a:solidFill>
                <a:latin typeface="Arial MT"/>
                <a:cs typeface="Arial MT"/>
              </a:rPr>
              <a:t>Integrate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7030A0"/>
                </a:solidFill>
                <a:latin typeface="Arial MT"/>
                <a:cs typeface="Arial MT"/>
              </a:rPr>
              <a:t>EV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Ecosystem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196136" y="5799835"/>
            <a:ext cx="2170430" cy="4006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5"/>
              </a:spcBef>
            </a:pPr>
            <a:r>
              <a:rPr dirty="0" sz="1200" spc="80">
                <a:solidFill>
                  <a:srgbClr val="7030A0"/>
                </a:solidFill>
                <a:latin typeface="Arial MT"/>
                <a:cs typeface="Arial MT"/>
              </a:rPr>
              <a:t>Mandatory</a:t>
            </a:r>
            <a:r>
              <a:rPr dirty="0" sz="1200" spc="4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Charging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Infra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at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Commercial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Properties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529952" y="5680964"/>
            <a:ext cx="20815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Standardised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5">
                <a:solidFill>
                  <a:srgbClr val="7030A0"/>
                </a:solidFill>
                <a:latin typeface="Arial MT"/>
                <a:cs typeface="Arial MT"/>
              </a:rPr>
              <a:t>policy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frame- </a:t>
            </a:r>
            <a:r>
              <a:rPr dirty="0" sz="1200" spc="105">
                <a:solidFill>
                  <a:srgbClr val="7030A0"/>
                </a:solidFill>
                <a:latin typeface="Arial MT"/>
                <a:cs typeface="Arial MT"/>
              </a:rPr>
              <a:t>work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7030A0"/>
                </a:solidFill>
                <a:latin typeface="Arial MT"/>
                <a:cs typeface="Arial MT"/>
              </a:rPr>
              <a:t>pan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55">
                <a:solidFill>
                  <a:srgbClr val="7030A0"/>
                </a:solidFill>
                <a:latin typeface="Arial MT"/>
                <a:cs typeface="Arial MT"/>
              </a:rPr>
              <a:t>India</a:t>
            </a:r>
            <a:r>
              <a:rPr dirty="0" sz="1200" spc="4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125">
                <a:solidFill>
                  <a:srgbClr val="7030A0"/>
                </a:solidFill>
                <a:latin typeface="Arial MT"/>
                <a:cs typeface="Arial MT"/>
              </a:rPr>
              <a:t>to</a:t>
            </a:r>
            <a:r>
              <a:rPr dirty="0" sz="1200" spc="3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80">
                <a:solidFill>
                  <a:srgbClr val="7030A0"/>
                </a:solidFill>
                <a:latin typeface="Arial MT"/>
                <a:cs typeface="Arial MT"/>
              </a:rPr>
              <a:t>support </a:t>
            </a:r>
            <a:r>
              <a:rPr dirty="0" sz="1200" spc="90">
                <a:solidFill>
                  <a:srgbClr val="7030A0"/>
                </a:solidFill>
                <a:latin typeface="Arial MT"/>
                <a:cs typeface="Arial MT"/>
              </a:rPr>
              <a:t>smooth</a:t>
            </a:r>
            <a:r>
              <a:rPr dirty="0" sz="1200" spc="5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7030A0"/>
                </a:solidFill>
                <a:latin typeface="Arial MT"/>
                <a:cs typeface="Arial MT"/>
              </a:rPr>
              <a:t>planning</a:t>
            </a:r>
            <a:r>
              <a:rPr dirty="0" sz="1200" spc="6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7030A0"/>
                </a:solidFill>
                <a:latin typeface="Arial MT"/>
                <a:cs typeface="Arial MT"/>
              </a:rPr>
              <a:t>&amp;</a:t>
            </a:r>
            <a:r>
              <a:rPr dirty="0" sz="1200" spc="6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200" spc="75">
                <a:solidFill>
                  <a:srgbClr val="7030A0"/>
                </a:solidFill>
                <a:latin typeface="Arial MT"/>
                <a:cs typeface="Arial MT"/>
              </a:rPr>
              <a:t>rollout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117469" y="3860341"/>
            <a:ext cx="6430010" cy="30797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50165" rIns="0" bIns="0" rtlCol="0" vert="horz">
            <a:spAutoFit/>
          </a:bodyPr>
          <a:lstStyle/>
          <a:p>
            <a:pPr marL="157480">
              <a:lnSpc>
                <a:spcPct val="100000"/>
              </a:lnSpc>
              <a:spcBef>
                <a:spcPts val="395"/>
              </a:spcBef>
            </a:pPr>
            <a:r>
              <a:rPr dirty="0" sz="1350" spc="12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dirty="0" sz="13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35">
                <a:solidFill>
                  <a:srgbClr val="FFFFFF"/>
                </a:solidFill>
                <a:latin typeface="Arial MT"/>
                <a:cs typeface="Arial MT"/>
              </a:rPr>
              <a:t>Recommendations</a:t>
            </a:r>
            <a:r>
              <a:rPr dirty="0" sz="13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7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10">
                <a:solidFill>
                  <a:srgbClr val="FFFFFF"/>
                </a:solidFill>
                <a:latin typeface="Arial MT"/>
                <a:cs typeface="Arial MT"/>
              </a:rPr>
              <a:t>Steer</a:t>
            </a:r>
            <a:r>
              <a:rPr dirty="0" sz="1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3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10">
                <a:solidFill>
                  <a:srgbClr val="FFFFFF"/>
                </a:solidFill>
                <a:latin typeface="Arial MT"/>
                <a:cs typeface="Arial MT"/>
              </a:rPr>
              <a:t>Indian </a:t>
            </a:r>
            <a:r>
              <a:rPr dirty="0" sz="1350" spc="100">
                <a:solidFill>
                  <a:srgbClr val="FFFFFF"/>
                </a:solidFill>
                <a:latin typeface="Arial MT"/>
                <a:cs typeface="Arial MT"/>
              </a:rPr>
              <a:t>EV</a:t>
            </a:r>
            <a:r>
              <a:rPr dirty="0" sz="13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50" spc="125">
                <a:solidFill>
                  <a:srgbClr val="FFFFFF"/>
                </a:solidFill>
                <a:latin typeface="Arial MT"/>
                <a:cs typeface="Arial MT"/>
              </a:rPr>
              <a:t>Charging</a:t>
            </a:r>
            <a:r>
              <a:rPr dirty="0" sz="1350" spc="120">
                <a:solidFill>
                  <a:srgbClr val="FFFFFF"/>
                </a:solidFill>
                <a:latin typeface="Arial MT"/>
                <a:cs typeface="Arial MT"/>
              </a:rPr>
              <a:t> Industry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341" rIns="0" bIns="0" rtlCol="0" vert="horz">
            <a:spAutoFit/>
          </a:bodyPr>
          <a:lstStyle/>
          <a:p>
            <a:pPr marL="257175" marR="5080">
              <a:lnSpc>
                <a:spcPct val="104000"/>
              </a:lnSpc>
              <a:spcBef>
                <a:spcPts val="30"/>
              </a:spcBef>
            </a:pPr>
            <a:r>
              <a:rPr dirty="0" sz="1750" spc="150"/>
              <a:t>Healthy</a:t>
            </a:r>
            <a:r>
              <a:rPr dirty="0" sz="1750" spc="140"/>
              <a:t> </a:t>
            </a:r>
            <a:r>
              <a:rPr dirty="0" sz="1750" spc="170"/>
              <a:t>unit</a:t>
            </a:r>
            <a:r>
              <a:rPr dirty="0" sz="1750" spc="145"/>
              <a:t> </a:t>
            </a:r>
            <a:r>
              <a:rPr dirty="0" sz="1750" spc="165"/>
              <a:t>economics</a:t>
            </a:r>
            <a:r>
              <a:rPr dirty="0" sz="1750" spc="150"/>
              <a:t> </a:t>
            </a:r>
            <a:r>
              <a:rPr dirty="0" sz="1750" spc="155"/>
              <a:t>offers</a:t>
            </a:r>
            <a:r>
              <a:rPr dirty="0" sz="1750" spc="150"/>
              <a:t> </a:t>
            </a:r>
            <a:r>
              <a:rPr dirty="0" sz="1750" spc="170"/>
              <a:t>short</a:t>
            </a:r>
            <a:r>
              <a:rPr dirty="0" sz="1750" spc="145"/>
              <a:t> </a:t>
            </a:r>
            <a:r>
              <a:rPr dirty="0" sz="1750" spc="180"/>
              <a:t>path</a:t>
            </a:r>
            <a:r>
              <a:rPr dirty="0" sz="1750" spc="150"/>
              <a:t> </a:t>
            </a:r>
            <a:r>
              <a:rPr dirty="0" sz="1750" spc="225"/>
              <a:t>to</a:t>
            </a:r>
            <a:r>
              <a:rPr dirty="0" sz="1750" spc="145"/>
              <a:t> </a:t>
            </a:r>
            <a:r>
              <a:rPr dirty="0" sz="1750" spc="150"/>
              <a:t>breakeven</a:t>
            </a:r>
            <a:r>
              <a:rPr dirty="0" sz="1750" spc="145"/>
              <a:t> </a:t>
            </a:r>
            <a:r>
              <a:rPr dirty="0" sz="1750" spc="185"/>
              <a:t>equipment</a:t>
            </a:r>
            <a:r>
              <a:rPr dirty="0" sz="1750" spc="145"/>
              <a:t> </a:t>
            </a:r>
            <a:r>
              <a:rPr dirty="0" sz="1750" spc="130"/>
              <a:t>capex;</a:t>
            </a:r>
            <a:r>
              <a:rPr dirty="0" sz="1750" spc="150"/>
              <a:t> </a:t>
            </a:r>
            <a:r>
              <a:rPr dirty="0" sz="1750" spc="125"/>
              <a:t>subsidies</a:t>
            </a:r>
            <a:r>
              <a:rPr dirty="0" sz="1750" spc="150"/>
              <a:t> critical</a:t>
            </a:r>
            <a:r>
              <a:rPr dirty="0" sz="1750" spc="145"/>
              <a:t> </a:t>
            </a:r>
            <a:r>
              <a:rPr dirty="0" sz="1750" spc="160"/>
              <a:t>for </a:t>
            </a:r>
            <a:r>
              <a:rPr dirty="0" sz="1750" spc="140"/>
              <a:t>overall</a:t>
            </a:r>
            <a:r>
              <a:rPr dirty="0" sz="1750" spc="135"/>
              <a:t> </a:t>
            </a:r>
            <a:r>
              <a:rPr dirty="0" sz="1750" spc="185"/>
              <a:t>project</a:t>
            </a:r>
            <a:r>
              <a:rPr dirty="0" sz="1750" spc="130"/>
              <a:t> </a:t>
            </a:r>
            <a:r>
              <a:rPr dirty="0" sz="1750" spc="150"/>
              <a:t>viability</a:t>
            </a:r>
            <a:endParaRPr sz="1750"/>
          </a:p>
        </p:txBody>
      </p:sp>
      <p:sp>
        <p:nvSpPr>
          <p:cNvPr id="45" name="object 45" descr=""/>
          <p:cNvSpPr txBox="1"/>
          <p:nvPr/>
        </p:nvSpPr>
        <p:spPr>
          <a:xfrm>
            <a:off x="1036634" y="1064242"/>
            <a:ext cx="238379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5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385"/>
              </a:spcBef>
            </a:pP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Positive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unit 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economics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774191" y="2301239"/>
            <a:ext cx="1106805" cy="698500"/>
            <a:chOff x="774191" y="2301239"/>
            <a:chExt cx="1106805" cy="698500"/>
          </a:xfrm>
        </p:grpSpPr>
        <p:sp>
          <p:nvSpPr>
            <p:cNvPr id="47" name="object 47" descr=""/>
            <p:cNvSpPr/>
            <p:nvPr/>
          </p:nvSpPr>
          <p:spPr>
            <a:xfrm>
              <a:off x="1531619" y="2318003"/>
              <a:ext cx="344805" cy="0"/>
            </a:xfrm>
            <a:custGeom>
              <a:avLst/>
              <a:gdLst/>
              <a:ahLst/>
              <a:cxnLst/>
              <a:rect l="l" t="t" r="r" b="b"/>
              <a:pathLst>
                <a:path w="344805" h="0">
                  <a:moveTo>
                    <a:pt x="0" y="0"/>
                  </a:moveTo>
                  <a:lnTo>
                    <a:pt x="344423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191" y="2301239"/>
              <a:ext cx="822959" cy="697991"/>
            </a:xfrm>
            <a:prstGeom prst="rect">
              <a:avLst/>
            </a:prstGeom>
          </p:spPr>
        </p:pic>
      </p:grpSp>
      <p:sp>
        <p:nvSpPr>
          <p:cNvPr id="49" name="object 49" descr=""/>
          <p:cNvSpPr/>
          <p:nvPr/>
        </p:nvSpPr>
        <p:spPr>
          <a:xfrm>
            <a:off x="2570988" y="2040635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 h="0">
                <a:moveTo>
                  <a:pt x="0" y="0"/>
                </a:moveTo>
                <a:lnTo>
                  <a:pt x="344423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839724" y="2318004"/>
            <a:ext cx="692150" cy="66484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1092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0"/>
              </a:spcBef>
            </a:pPr>
            <a:endParaRPr sz="1000">
              <a:latin typeface="Times New Roman"/>
              <a:cs typeface="Times New Roman"/>
            </a:endParaRPr>
          </a:p>
          <a:p>
            <a:pPr marL="193040">
              <a:lnSpc>
                <a:spcPct val="100000"/>
              </a:lnSpc>
            </a:pP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1700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877567" y="2040635"/>
            <a:ext cx="69215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63500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500"/>
              </a:spcBef>
            </a:pPr>
            <a:r>
              <a:rPr dirty="0" sz="1000" spc="100">
                <a:solidFill>
                  <a:srgbClr val="FFFFFF"/>
                </a:solidFill>
                <a:latin typeface="Arial MT"/>
                <a:cs typeface="Arial MT"/>
              </a:rPr>
              <a:t>700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916935" y="2042160"/>
            <a:ext cx="692150" cy="93916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000">
              <a:latin typeface="Times New Roman"/>
              <a:cs typeface="Times New Roman"/>
            </a:endParaRPr>
          </a:p>
          <a:p>
            <a:pPr marL="173990">
              <a:lnSpc>
                <a:spcPct val="100000"/>
              </a:lnSpc>
              <a:spcBef>
                <a:spcPts val="5"/>
              </a:spcBef>
            </a:pPr>
            <a:r>
              <a:rPr dirty="0" sz="1000" spc="100">
                <a:solidFill>
                  <a:srgbClr val="FFFFFF"/>
                </a:solidFill>
                <a:latin typeface="Arial MT"/>
                <a:cs typeface="Arial MT"/>
              </a:rPr>
              <a:t>2400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665987" y="2982467"/>
            <a:ext cx="3115310" cy="0"/>
          </a:xfrm>
          <a:custGeom>
            <a:avLst/>
            <a:gdLst/>
            <a:ahLst/>
            <a:cxnLst/>
            <a:rect l="l" t="t" r="r" b="b"/>
            <a:pathLst>
              <a:path w="3115310" h="0">
                <a:moveTo>
                  <a:pt x="0" y="0"/>
                </a:moveTo>
                <a:lnTo>
                  <a:pt x="3115055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867886" y="3056635"/>
            <a:ext cx="63246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55">
                <a:solidFill>
                  <a:srgbClr val="595959"/>
                </a:solidFill>
                <a:latin typeface="Arial MT"/>
                <a:cs typeface="Arial MT"/>
              </a:rPr>
              <a:t>Fuel</a:t>
            </a:r>
            <a:r>
              <a:rPr dirty="0" sz="85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850" spc="90">
                <a:solidFill>
                  <a:srgbClr val="595959"/>
                </a:solidFill>
                <a:latin typeface="Arial MT"/>
                <a:cs typeface="Arial MT"/>
              </a:rPr>
              <a:t>pump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896682" y="3056635"/>
            <a:ext cx="65468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solidFill>
                  <a:srgbClr val="595959"/>
                </a:solidFill>
                <a:latin typeface="Arial MT"/>
                <a:cs typeface="Arial MT"/>
              </a:rPr>
              <a:t>Inc.</a:t>
            </a:r>
            <a:r>
              <a:rPr dirty="0" sz="850" spc="2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850" spc="70">
                <a:solidFill>
                  <a:srgbClr val="595959"/>
                </a:solidFill>
                <a:latin typeface="Arial MT"/>
                <a:cs typeface="Arial MT"/>
              </a:rPr>
              <a:t>margin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2824673" y="3056635"/>
            <a:ext cx="87630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70">
                <a:solidFill>
                  <a:srgbClr val="595959"/>
                </a:solidFill>
                <a:latin typeface="Arial MT"/>
                <a:cs typeface="Arial MT"/>
              </a:rPr>
              <a:t>Charging</a:t>
            </a:r>
            <a:r>
              <a:rPr dirty="0" sz="850" spc="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850" spc="80">
                <a:solidFill>
                  <a:srgbClr val="595959"/>
                </a:solidFill>
                <a:latin typeface="Arial MT"/>
                <a:cs typeface="Arial MT"/>
              </a:rPr>
              <a:t>point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090232" y="1569212"/>
            <a:ext cx="22669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Daily</a:t>
            </a:r>
            <a:r>
              <a:rPr dirty="0" sz="1100" spc="1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80">
                <a:solidFill>
                  <a:srgbClr val="595959"/>
                </a:solidFill>
                <a:latin typeface="Arial MT"/>
                <a:cs typeface="Arial MT"/>
              </a:rPr>
              <a:t>contribution</a:t>
            </a:r>
            <a:r>
              <a:rPr dirty="0" sz="1100" spc="1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analysis</a:t>
            </a:r>
            <a:r>
              <a:rPr dirty="0" sz="1100" spc="1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40">
                <a:solidFill>
                  <a:srgbClr val="595959"/>
                </a:solidFill>
                <a:latin typeface="Arial MT"/>
                <a:cs typeface="Arial MT"/>
              </a:rPr>
              <a:t>(INR)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4302678" y="1064240"/>
            <a:ext cx="238379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8895" rIns="0" bIns="0" rtlCol="0" vert="horz">
            <a:spAutoFit/>
          </a:bodyPr>
          <a:lstStyle/>
          <a:p>
            <a:pPr marL="542290">
              <a:lnSpc>
                <a:spcPct val="100000"/>
              </a:lnSpc>
              <a:spcBef>
                <a:spcPts val="385"/>
              </a:spcBef>
            </a:pP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Space </a:t>
            </a: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allocation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4390456" y="2617723"/>
            <a:ext cx="224472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 spc="85">
                <a:latin typeface="Arial MT"/>
                <a:cs typeface="Arial MT"/>
              </a:rPr>
              <a:t>Limited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allocation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125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40">
                <a:latin typeface="Arial MT"/>
                <a:cs typeface="Arial MT"/>
              </a:rPr>
              <a:t>ensure </a:t>
            </a:r>
            <a:r>
              <a:rPr dirty="0" sz="1200" spc="80">
                <a:latin typeface="Arial MT"/>
                <a:cs typeface="Arial MT"/>
              </a:rPr>
              <a:t>high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70">
                <a:latin typeface="Arial MT"/>
                <a:cs typeface="Arial MT"/>
              </a:rPr>
              <a:t>utilization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100">
                <a:latin typeface="Arial MT"/>
                <a:cs typeface="Arial MT"/>
              </a:rPr>
              <a:t>of</a:t>
            </a:r>
            <a:r>
              <a:rPr dirty="0" sz="1200" spc="45">
                <a:latin typeface="Arial MT"/>
                <a:cs typeface="Arial MT"/>
              </a:rPr>
              <a:t> facilities </a:t>
            </a:r>
            <a:r>
              <a:rPr dirty="0" sz="1200" spc="85">
                <a:latin typeface="Arial MT"/>
                <a:cs typeface="Arial MT"/>
              </a:rPr>
              <a:t>per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75">
                <a:latin typeface="Arial MT"/>
                <a:cs typeface="Arial MT"/>
              </a:rPr>
              <a:t>station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60">
                <a:latin typeface="Arial MT"/>
                <a:cs typeface="Arial MT"/>
              </a:rPr>
              <a:t>nascent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75">
                <a:latin typeface="Arial MT"/>
                <a:cs typeface="Arial MT"/>
              </a:rPr>
              <a:t>market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4375106" y="1599350"/>
            <a:ext cx="1556385" cy="277495"/>
          </a:xfrm>
          <a:prstGeom prst="rect">
            <a:avLst/>
          </a:prstGeom>
          <a:solidFill>
            <a:srgbClr val="8537BE"/>
          </a:solidFill>
          <a:ln w="10421">
            <a:solidFill>
              <a:srgbClr val="7030A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384"/>
              </a:spcBef>
            </a:pPr>
            <a:r>
              <a:rPr dirty="0" sz="950" spc="105">
                <a:solidFill>
                  <a:srgbClr val="FFFFFF"/>
                </a:solidFill>
                <a:latin typeface="Arial MT"/>
                <a:cs typeface="Arial MT"/>
              </a:rPr>
              <a:t>Avg.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80">
                <a:solidFill>
                  <a:srgbClr val="FFFFFF"/>
                </a:solidFill>
                <a:latin typeface="Arial MT"/>
                <a:cs typeface="Arial MT"/>
              </a:rPr>
              <a:t>Fuel</a:t>
            </a:r>
            <a:r>
              <a:rPr dirty="0" sz="9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Arial MT"/>
                <a:cs typeface="Arial MT"/>
              </a:rPr>
              <a:t>pumps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5931371" y="1599350"/>
            <a:ext cx="692785" cy="277495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375"/>
              </a:spcBef>
            </a:pPr>
            <a:r>
              <a:rPr dirty="0" sz="1150" spc="-25">
                <a:latin typeface="Arial MT"/>
                <a:cs typeface="Arial MT"/>
              </a:rPr>
              <a:t>12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375106" y="2009372"/>
            <a:ext cx="1556385" cy="277495"/>
          </a:xfrm>
          <a:prstGeom prst="rect">
            <a:avLst/>
          </a:prstGeom>
          <a:solidFill>
            <a:srgbClr val="8537BE"/>
          </a:solidFill>
          <a:ln w="10421">
            <a:solidFill>
              <a:srgbClr val="7030A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395"/>
              </a:spcBef>
            </a:pPr>
            <a:r>
              <a:rPr dirty="0" sz="950" spc="110">
                <a:solidFill>
                  <a:srgbClr val="FFFFFF"/>
                </a:solidFill>
                <a:latin typeface="Arial MT"/>
                <a:cs typeface="Arial MT"/>
              </a:rPr>
              <a:t>Convert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13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charger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5931371" y="2009372"/>
            <a:ext cx="692785" cy="277495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dirty="0" sz="1150" spc="114">
                <a:latin typeface="Arial MT"/>
                <a:cs typeface="Arial MT"/>
              </a:rPr>
              <a:t>4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7223836" y="1069807"/>
            <a:ext cx="3084195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9530" rIns="0" bIns="0" rtlCol="0" vert="horz">
            <a:spAutoFit/>
          </a:bodyPr>
          <a:lstStyle/>
          <a:p>
            <a:pPr marL="756920">
              <a:lnSpc>
                <a:spcPct val="100000"/>
              </a:lnSpc>
              <a:spcBef>
                <a:spcPts val="390"/>
              </a:spcBef>
            </a:pP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Breakeven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Estimate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7231106" y="1571911"/>
            <a:ext cx="1952625" cy="277495"/>
          </a:xfrm>
          <a:prstGeom prst="rect">
            <a:avLst/>
          </a:prstGeom>
          <a:solidFill>
            <a:srgbClr val="8537BE"/>
          </a:solidFill>
          <a:ln w="9525">
            <a:solidFill>
              <a:srgbClr val="7030A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385"/>
              </a:spcBef>
            </a:pPr>
            <a:r>
              <a:rPr dirty="0" sz="950" spc="105">
                <a:solidFill>
                  <a:srgbClr val="FFFFFF"/>
                </a:solidFill>
                <a:latin typeface="Arial MT"/>
                <a:cs typeface="Arial MT"/>
              </a:rPr>
              <a:t>Investment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110">
                <a:solidFill>
                  <a:srgbClr val="FFFFFF"/>
                </a:solidFill>
                <a:latin typeface="Arial MT"/>
                <a:cs typeface="Arial MT"/>
              </a:rPr>
              <a:t>per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75">
                <a:solidFill>
                  <a:srgbClr val="FFFFFF"/>
                </a:solidFill>
                <a:latin typeface="Arial MT"/>
                <a:cs typeface="Arial MT"/>
              </a:rPr>
              <a:t>EV</a:t>
            </a:r>
            <a:r>
              <a:rPr dirty="0" sz="9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charger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9183361" y="1571911"/>
            <a:ext cx="1124585" cy="277495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360"/>
              </a:spcBef>
            </a:pPr>
            <a:r>
              <a:rPr dirty="0" sz="950">
                <a:latin typeface="Arial MT"/>
                <a:cs typeface="Arial MT"/>
              </a:rPr>
              <a:t>Rs.2.5</a:t>
            </a:r>
            <a:r>
              <a:rPr dirty="0" sz="950" spc="325">
                <a:latin typeface="Arial MT"/>
                <a:cs typeface="Arial MT"/>
              </a:rPr>
              <a:t> </a:t>
            </a:r>
            <a:r>
              <a:rPr dirty="0" sz="950" spc="65">
                <a:latin typeface="Arial MT"/>
                <a:cs typeface="Arial MT"/>
              </a:rPr>
              <a:t>lakhs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7231106" y="2006892"/>
            <a:ext cx="1959610" cy="277495"/>
          </a:xfrm>
          <a:custGeom>
            <a:avLst/>
            <a:gdLst/>
            <a:ahLst/>
            <a:cxnLst/>
            <a:rect l="l" t="t" r="r" b="b"/>
            <a:pathLst>
              <a:path w="1959609" h="277494">
                <a:moveTo>
                  <a:pt x="0" y="0"/>
                </a:moveTo>
                <a:lnTo>
                  <a:pt x="1959524" y="0"/>
                </a:lnTo>
                <a:lnTo>
                  <a:pt x="1959524" y="277200"/>
                </a:lnTo>
                <a:lnTo>
                  <a:pt x="0" y="27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7231106" y="2006892"/>
            <a:ext cx="195961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9530" rIns="0" bIns="0" rtlCol="0" vert="horz">
            <a:spAutoFit/>
          </a:bodyPr>
          <a:lstStyle/>
          <a:p>
            <a:pPr marL="447675">
              <a:lnSpc>
                <a:spcPct val="100000"/>
              </a:lnSpc>
              <a:spcBef>
                <a:spcPts val="390"/>
              </a:spcBef>
            </a:pPr>
            <a:r>
              <a:rPr dirty="0" sz="950" spc="95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dirty="0" sz="9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95">
                <a:solidFill>
                  <a:srgbClr val="FFFFFF"/>
                </a:solidFill>
                <a:latin typeface="Arial MT"/>
                <a:cs typeface="Arial MT"/>
              </a:rPr>
              <a:t>investment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9160705" y="2005515"/>
            <a:ext cx="1147445" cy="246379"/>
          </a:xfrm>
          <a:custGeom>
            <a:avLst/>
            <a:gdLst/>
            <a:ahLst/>
            <a:cxnLst/>
            <a:rect l="l" t="t" r="r" b="b"/>
            <a:pathLst>
              <a:path w="1147445" h="246380">
                <a:moveTo>
                  <a:pt x="0" y="0"/>
                </a:moveTo>
                <a:lnTo>
                  <a:pt x="1147077" y="0"/>
                </a:lnTo>
                <a:lnTo>
                  <a:pt x="1147077" y="246221"/>
                </a:lnTo>
                <a:lnTo>
                  <a:pt x="0" y="24622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9180431" y="2040116"/>
            <a:ext cx="112268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30"/>
              </a:spcBef>
            </a:pPr>
            <a:r>
              <a:rPr dirty="0" sz="950" spc="80">
                <a:latin typeface="Arial MT"/>
                <a:cs typeface="Arial MT"/>
              </a:rPr>
              <a:t>Rs.10,00,000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160703" y="2418878"/>
            <a:ext cx="1147445" cy="277495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340"/>
              </a:spcBef>
            </a:pPr>
            <a:r>
              <a:rPr dirty="0" sz="950">
                <a:latin typeface="Arial MT"/>
                <a:cs typeface="Arial MT"/>
              </a:rPr>
              <a:t>Rs.</a:t>
            </a:r>
            <a:r>
              <a:rPr dirty="0" sz="950" spc="1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10.2</a:t>
            </a:r>
            <a:r>
              <a:rPr dirty="0" sz="950" spc="170">
                <a:latin typeface="Arial MT"/>
                <a:cs typeface="Arial MT"/>
              </a:rPr>
              <a:t> </a:t>
            </a:r>
            <a:r>
              <a:rPr dirty="0" sz="950" spc="65">
                <a:latin typeface="Arial MT"/>
                <a:cs typeface="Arial MT"/>
              </a:rPr>
              <a:t>lakhs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7231106" y="2418878"/>
            <a:ext cx="1929764" cy="277495"/>
          </a:xfrm>
          <a:prstGeom prst="rect">
            <a:avLst/>
          </a:prstGeom>
          <a:solidFill>
            <a:srgbClr val="8537BE"/>
          </a:solidFill>
          <a:ln w="9526">
            <a:solidFill>
              <a:srgbClr val="7030A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385"/>
              </a:spcBef>
            </a:pPr>
            <a:r>
              <a:rPr dirty="0" sz="950" spc="70">
                <a:solidFill>
                  <a:srgbClr val="FFFFFF"/>
                </a:solidFill>
                <a:latin typeface="Arial MT"/>
                <a:cs typeface="Arial MT"/>
              </a:rPr>
              <a:t>Incr.</a:t>
            </a:r>
            <a:r>
              <a:rPr dirty="0" sz="9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annual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 revenue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9160703" y="2892573"/>
            <a:ext cx="1147445" cy="246379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330"/>
              </a:spcBef>
            </a:pPr>
            <a:r>
              <a:rPr dirty="0" sz="950" spc="60">
                <a:latin typeface="Arial MT"/>
                <a:cs typeface="Arial MT"/>
              </a:rPr>
              <a:t>~358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75">
                <a:latin typeface="Arial MT"/>
                <a:cs typeface="Arial MT"/>
              </a:rPr>
              <a:t>days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7231106" y="2892573"/>
            <a:ext cx="1929764" cy="246379"/>
          </a:xfrm>
          <a:prstGeom prst="rect">
            <a:avLst/>
          </a:prstGeom>
          <a:solidFill>
            <a:srgbClr val="8537BE"/>
          </a:solidFill>
          <a:ln w="9526">
            <a:solidFill>
              <a:srgbClr val="7030A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400"/>
              </a:spcBef>
            </a:pPr>
            <a:r>
              <a:rPr dirty="0" sz="950" spc="95">
                <a:solidFill>
                  <a:srgbClr val="FFFFFF"/>
                </a:solidFill>
                <a:latin typeface="Arial MT"/>
                <a:cs typeface="Arial MT"/>
              </a:rPr>
              <a:t>Breakeven</a:t>
            </a:r>
            <a:r>
              <a:rPr dirty="0" sz="9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75">
                <a:solidFill>
                  <a:srgbClr val="FFFFFF"/>
                </a:solidFill>
                <a:latin typeface="Arial MT"/>
                <a:cs typeface="Arial MT"/>
              </a:rPr>
              <a:t>days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0485873" y="1068768"/>
            <a:ext cx="1243330" cy="27749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5080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400"/>
              </a:spcBef>
            </a:pP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Arial MT"/>
                <a:cs typeface="Arial MT"/>
              </a:rPr>
              <a:t>IRR</a:t>
            </a:r>
            <a:r>
              <a:rPr dirty="0" baseline="29629" sz="1125" spc="-3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baseline="29629" sz="1125">
              <a:latin typeface="Arial MT"/>
              <a:cs typeface="Arial MT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10562075" y="1548926"/>
            <a:ext cx="1147445" cy="400685"/>
          </a:xfrm>
          <a:custGeom>
            <a:avLst/>
            <a:gdLst/>
            <a:ahLst/>
            <a:cxnLst/>
            <a:rect l="l" t="t" r="r" b="b"/>
            <a:pathLst>
              <a:path w="1147445" h="400685">
                <a:moveTo>
                  <a:pt x="0" y="0"/>
                </a:moveTo>
                <a:lnTo>
                  <a:pt x="1147077" y="0"/>
                </a:lnTo>
                <a:lnTo>
                  <a:pt x="1147077" y="400110"/>
                </a:lnTo>
                <a:lnTo>
                  <a:pt x="0" y="40011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10562075" y="1548926"/>
            <a:ext cx="1147445" cy="400685"/>
          </a:xfrm>
          <a:prstGeom prst="rect">
            <a:avLst/>
          </a:prstGeom>
          <a:solidFill>
            <a:srgbClr val="8537BE"/>
          </a:solidFill>
        </p:spPr>
        <p:txBody>
          <a:bodyPr wrap="square" lIns="0" tIns="42545" rIns="0" bIns="0" rtlCol="0" vert="horz">
            <a:spAutoFit/>
          </a:bodyPr>
          <a:lstStyle/>
          <a:p>
            <a:pPr marL="272415" marR="149225" indent="-77470">
              <a:lnSpc>
                <a:spcPct val="105300"/>
              </a:lnSpc>
              <a:spcBef>
                <a:spcPts val="335"/>
              </a:spcBef>
            </a:pPr>
            <a:r>
              <a:rPr dirty="0" sz="950" spc="13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9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capital </a:t>
            </a:r>
            <a:r>
              <a:rPr dirty="0" sz="950" spc="70">
                <a:solidFill>
                  <a:srgbClr val="FFFFFF"/>
                </a:solidFill>
                <a:latin typeface="Arial MT"/>
                <a:cs typeface="Arial MT"/>
              </a:rPr>
              <a:t>subsidies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0581823" y="2405767"/>
            <a:ext cx="1147445" cy="553720"/>
          </a:xfrm>
          <a:prstGeom prst="rect">
            <a:avLst/>
          </a:prstGeom>
          <a:solidFill>
            <a:srgbClr val="8537BE"/>
          </a:solidFill>
          <a:ln w="9525">
            <a:solidFill>
              <a:srgbClr val="7030A0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algn="ctr" marL="272415" marR="266700" indent="40005">
              <a:lnSpc>
                <a:spcPct val="105300"/>
              </a:lnSpc>
              <a:spcBef>
                <a:spcPts val="334"/>
              </a:spcBef>
            </a:pPr>
            <a:r>
              <a:rPr dirty="0" sz="950" spc="125">
                <a:solidFill>
                  <a:srgbClr val="FFFFFF"/>
                </a:solidFill>
                <a:latin typeface="Arial MT"/>
                <a:cs typeface="Arial MT"/>
              </a:rPr>
              <a:t>Without </a:t>
            </a:r>
            <a:r>
              <a:rPr dirty="0" sz="950" spc="85">
                <a:solidFill>
                  <a:srgbClr val="FFFFFF"/>
                </a:solidFill>
                <a:latin typeface="Arial MT"/>
                <a:cs typeface="Arial MT"/>
              </a:rPr>
              <a:t>capital </a:t>
            </a:r>
            <a:r>
              <a:rPr dirty="0" sz="950" spc="70">
                <a:solidFill>
                  <a:srgbClr val="FFFFFF"/>
                </a:solidFill>
                <a:latin typeface="Arial MT"/>
                <a:cs typeface="Arial MT"/>
              </a:rPr>
              <a:t>subsidies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10562075" y="1952292"/>
            <a:ext cx="1143000" cy="277495"/>
          </a:xfrm>
          <a:custGeom>
            <a:avLst/>
            <a:gdLst/>
            <a:ahLst/>
            <a:cxnLst/>
            <a:rect l="l" t="t" r="r" b="b"/>
            <a:pathLst>
              <a:path w="1143000" h="277494">
                <a:moveTo>
                  <a:pt x="0" y="0"/>
                </a:moveTo>
                <a:lnTo>
                  <a:pt x="1142643" y="0"/>
                </a:lnTo>
                <a:lnTo>
                  <a:pt x="1142643" y="276999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10566837" y="1987536"/>
            <a:ext cx="113538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solidFill>
                  <a:srgbClr val="70AD47"/>
                </a:solidFill>
                <a:latin typeface="Arial MT"/>
                <a:cs typeface="Arial MT"/>
              </a:rPr>
              <a:t>~15.5%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0581823" y="2959449"/>
            <a:ext cx="1147445" cy="276860"/>
          </a:xfrm>
          <a:prstGeom prst="rect">
            <a:avLst/>
          </a:prstGeom>
          <a:ln w="9525">
            <a:solidFill>
              <a:srgbClr val="7030A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390"/>
              </a:spcBef>
            </a:pPr>
            <a:r>
              <a:rPr dirty="0" sz="1150" spc="50">
                <a:solidFill>
                  <a:srgbClr val="FF0000"/>
                </a:solidFill>
                <a:latin typeface="Arial MT"/>
                <a:cs typeface="Arial MT"/>
              </a:rPr>
              <a:t>~(5%)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4302678" y="2502066"/>
            <a:ext cx="2583815" cy="829944"/>
          </a:xfrm>
          <a:custGeom>
            <a:avLst/>
            <a:gdLst/>
            <a:ahLst/>
            <a:cxnLst/>
            <a:rect l="l" t="t" r="r" b="b"/>
            <a:pathLst>
              <a:path w="2583815" h="829945">
                <a:moveTo>
                  <a:pt x="0" y="138234"/>
                </a:moveTo>
                <a:lnTo>
                  <a:pt x="7047" y="94541"/>
                </a:lnTo>
                <a:lnTo>
                  <a:pt x="26671" y="56594"/>
                </a:lnTo>
                <a:lnTo>
                  <a:pt x="56594" y="26671"/>
                </a:lnTo>
                <a:lnTo>
                  <a:pt x="94541" y="7047"/>
                </a:lnTo>
                <a:lnTo>
                  <a:pt x="138234" y="0"/>
                </a:lnTo>
                <a:lnTo>
                  <a:pt x="2445340" y="0"/>
                </a:lnTo>
                <a:lnTo>
                  <a:pt x="2489032" y="7047"/>
                </a:lnTo>
                <a:lnTo>
                  <a:pt x="2526979" y="26671"/>
                </a:lnTo>
                <a:lnTo>
                  <a:pt x="2556903" y="56594"/>
                </a:lnTo>
                <a:lnTo>
                  <a:pt x="2576526" y="94541"/>
                </a:lnTo>
                <a:lnTo>
                  <a:pt x="2583574" y="138234"/>
                </a:lnTo>
                <a:lnTo>
                  <a:pt x="2583574" y="691157"/>
                </a:lnTo>
                <a:lnTo>
                  <a:pt x="2576526" y="734850"/>
                </a:lnTo>
                <a:lnTo>
                  <a:pt x="2556903" y="772797"/>
                </a:lnTo>
                <a:lnTo>
                  <a:pt x="2526979" y="802720"/>
                </a:lnTo>
                <a:lnTo>
                  <a:pt x="2489032" y="822344"/>
                </a:lnTo>
                <a:lnTo>
                  <a:pt x="2445340" y="829392"/>
                </a:lnTo>
                <a:lnTo>
                  <a:pt x="138234" y="829392"/>
                </a:lnTo>
                <a:lnTo>
                  <a:pt x="94541" y="822344"/>
                </a:lnTo>
                <a:lnTo>
                  <a:pt x="56594" y="802720"/>
                </a:lnTo>
                <a:lnTo>
                  <a:pt x="26671" y="772797"/>
                </a:lnTo>
                <a:lnTo>
                  <a:pt x="7047" y="734850"/>
                </a:lnTo>
                <a:lnTo>
                  <a:pt x="0" y="691157"/>
                </a:lnTo>
                <a:lnTo>
                  <a:pt x="0" y="138234"/>
                </a:lnTo>
                <a:close/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3" name="object 83" descr=""/>
          <p:cNvGrpSpPr/>
          <p:nvPr/>
        </p:nvGrpSpPr>
        <p:grpSpPr>
          <a:xfrm>
            <a:off x="-6096" y="-6096"/>
            <a:ext cx="12204700" cy="248285"/>
            <a:chOff x="-6096" y="-6096"/>
            <a:chExt cx="12204700" cy="248285"/>
          </a:xfrm>
        </p:grpSpPr>
        <p:sp>
          <p:nvSpPr>
            <p:cNvPr id="84" name="object 84" descr=""/>
            <p:cNvSpPr/>
            <p:nvPr/>
          </p:nvSpPr>
          <p:spPr>
            <a:xfrm>
              <a:off x="11517973" y="37959"/>
              <a:ext cx="46355" cy="65405"/>
            </a:xfrm>
            <a:custGeom>
              <a:avLst/>
              <a:gdLst/>
              <a:ahLst/>
              <a:cxnLst/>
              <a:rect l="l" t="t" r="r" b="b"/>
              <a:pathLst>
                <a:path w="46354" h="65405">
                  <a:moveTo>
                    <a:pt x="46355" y="47625"/>
                  </a:moveTo>
                  <a:lnTo>
                    <a:pt x="46316" y="44958"/>
                  </a:lnTo>
                  <a:lnTo>
                    <a:pt x="46139" y="44323"/>
                  </a:lnTo>
                  <a:lnTo>
                    <a:pt x="45504" y="43180"/>
                  </a:lnTo>
                  <a:lnTo>
                    <a:pt x="44996" y="42926"/>
                  </a:lnTo>
                  <a:lnTo>
                    <a:pt x="37236" y="42926"/>
                  </a:lnTo>
                  <a:lnTo>
                    <a:pt x="37236" y="7493"/>
                  </a:lnTo>
                  <a:lnTo>
                    <a:pt x="37122" y="1270"/>
                  </a:lnTo>
                  <a:lnTo>
                    <a:pt x="36741" y="889"/>
                  </a:lnTo>
                  <a:lnTo>
                    <a:pt x="36106" y="508"/>
                  </a:lnTo>
                  <a:lnTo>
                    <a:pt x="34455" y="127"/>
                  </a:lnTo>
                  <a:lnTo>
                    <a:pt x="33566" y="127"/>
                  </a:lnTo>
                  <a:lnTo>
                    <a:pt x="32804" y="0"/>
                  </a:lnTo>
                  <a:lnTo>
                    <a:pt x="28600" y="0"/>
                  </a:lnTo>
                  <a:lnTo>
                    <a:pt x="28600" y="7493"/>
                  </a:lnTo>
                  <a:lnTo>
                    <a:pt x="28600" y="42926"/>
                  </a:lnTo>
                  <a:lnTo>
                    <a:pt x="7772" y="42926"/>
                  </a:lnTo>
                  <a:lnTo>
                    <a:pt x="28473" y="7493"/>
                  </a:lnTo>
                  <a:lnTo>
                    <a:pt x="28600" y="7493"/>
                  </a:lnTo>
                  <a:lnTo>
                    <a:pt x="28600" y="0"/>
                  </a:lnTo>
                  <a:lnTo>
                    <a:pt x="28092" y="0"/>
                  </a:lnTo>
                  <a:lnTo>
                    <a:pt x="27330" y="127"/>
                  </a:lnTo>
                  <a:lnTo>
                    <a:pt x="26695" y="127"/>
                  </a:lnTo>
                  <a:lnTo>
                    <a:pt x="914" y="41148"/>
                  </a:lnTo>
                  <a:lnTo>
                    <a:pt x="787" y="41529"/>
                  </a:lnTo>
                  <a:lnTo>
                    <a:pt x="533" y="41910"/>
                  </a:lnTo>
                  <a:lnTo>
                    <a:pt x="127" y="43180"/>
                  </a:lnTo>
                  <a:lnTo>
                    <a:pt x="0" y="47498"/>
                  </a:lnTo>
                  <a:lnTo>
                    <a:pt x="88" y="48387"/>
                  </a:lnTo>
                  <a:lnTo>
                    <a:pt x="279" y="49022"/>
                  </a:lnTo>
                  <a:lnTo>
                    <a:pt x="533" y="49276"/>
                  </a:lnTo>
                  <a:lnTo>
                    <a:pt x="660" y="49530"/>
                  </a:lnTo>
                  <a:lnTo>
                    <a:pt x="1422" y="49911"/>
                  </a:lnTo>
                  <a:lnTo>
                    <a:pt x="28600" y="49911"/>
                  </a:lnTo>
                  <a:lnTo>
                    <a:pt x="28600" y="63754"/>
                  </a:lnTo>
                  <a:lnTo>
                    <a:pt x="28727" y="64008"/>
                  </a:lnTo>
                  <a:lnTo>
                    <a:pt x="28854" y="64389"/>
                  </a:lnTo>
                  <a:lnTo>
                    <a:pt x="29108" y="64516"/>
                  </a:lnTo>
                  <a:lnTo>
                    <a:pt x="29489" y="64643"/>
                  </a:lnTo>
                  <a:lnTo>
                    <a:pt x="29743" y="64770"/>
                  </a:lnTo>
                  <a:lnTo>
                    <a:pt x="30759" y="65024"/>
                  </a:lnTo>
                  <a:lnTo>
                    <a:pt x="34963" y="65024"/>
                  </a:lnTo>
                  <a:lnTo>
                    <a:pt x="35979" y="64770"/>
                  </a:lnTo>
                  <a:lnTo>
                    <a:pt x="36233" y="64643"/>
                  </a:lnTo>
                  <a:lnTo>
                    <a:pt x="36614" y="64516"/>
                  </a:lnTo>
                  <a:lnTo>
                    <a:pt x="36868" y="64389"/>
                  </a:lnTo>
                  <a:lnTo>
                    <a:pt x="37122" y="64008"/>
                  </a:lnTo>
                  <a:lnTo>
                    <a:pt x="37249" y="49911"/>
                  </a:lnTo>
                  <a:lnTo>
                    <a:pt x="45123" y="49911"/>
                  </a:lnTo>
                  <a:lnTo>
                    <a:pt x="45504" y="49657"/>
                  </a:lnTo>
                  <a:lnTo>
                    <a:pt x="45885" y="49022"/>
                  </a:lnTo>
                  <a:lnTo>
                    <a:pt x="46355" y="47625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2563368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563368" y="231648"/>
                  </a:lnTo>
                  <a:lnTo>
                    <a:pt x="2679192" y="115824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0" y="4047"/>
              <a:ext cx="2679700" cy="231775"/>
            </a:xfrm>
            <a:custGeom>
              <a:avLst/>
              <a:gdLst/>
              <a:ahLst/>
              <a:cxnLst/>
              <a:rect l="l" t="t" r="r" b="b"/>
              <a:pathLst>
                <a:path w="2679700" h="231775">
                  <a:moveTo>
                    <a:pt x="0" y="0"/>
                  </a:moveTo>
                  <a:lnTo>
                    <a:pt x="2563368" y="0"/>
                  </a:lnTo>
                  <a:lnTo>
                    <a:pt x="2679192" y="115824"/>
                  </a:lnTo>
                  <a:lnTo>
                    <a:pt x="2563368" y="231648"/>
                  </a:lnTo>
                  <a:lnTo>
                    <a:pt x="0" y="231648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2685288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5288" y="231648"/>
                  </a:lnTo>
                  <a:lnTo>
                    <a:pt x="2801112" y="115824"/>
                  </a:lnTo>
                  <a:lnTo>
                    <a:pt x="2685288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139696" y="4047"/>
              <a:ext cx="2801620" cy="231775"/>
            </a:xfrm>
            <a:custGeom>
              <a:avLst/>
              <a:gdLst/>
              <a:ahLst/>
              <a:cxnLst/>
              <a:rect l="l" t="t" r="r" b="b"/>
              <a:pathLst>
                <a:path w="2801620" h="231775">
                  <a:moveTo>
                    <a:pt x="0" y="0"/>
                  </a:moveTo>
                  <a:lnTo>
                    <a:pt x="2685288" y="0"/>
                  </a:lnTo>
                  <a:lnTo>
                    <a:pt x="2801112" y="115824"/>
                  </a:lnTo>
                  <a:lnTo>
                    <a:pt x="2685288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2683764" y="0"/>
                  </a:moveTo>
                  <a:lnTo>
                    <a:pt x="0" y="0"/>
                  </a:lnTo>
                  <a:lnTo>
                    <a:pt x="115824" y="115824"/>
                  </a:lnTo>
                  <a:lnTo>
                    <a:pt x="0" y="231648"/>
                  </a:lnTo>
                  <a:lnTo>
                    <a:pt x="2683764" y="231648"/>
                  </a:lnTo>
                  <a:lnTo>
                    <a:pt x="2799588" y="115824"/>
                  </a:lnTo>
                  <a:lnTo>
                    <a:pt x="2683764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482082" y="4047"/>
              <a:ext cx="2799715" cy="231775"/>
            </a:xfrm>
            <a:custGeom>
              <a:avLst/>
              <a:gdLst/>
              <a:ahLst/>
              <a:cxnLst/>
              <a:rect l="l" t="t" r="r" b="b"/>
              <a:pathLst>
                <a:path w="2799715" h="231775">
                  <a:moveTo>
                    <a:pt x="0" y="0"/>
                  </a:moveTo>
                  <a:lnTo>
                    <a:pt x="2683764" y="0"/>
                  </a:lnTo>
                  <a:lnTo>
                    <a:pt x="2799588" y="115824"/>
                  </a:lnTo>
                  <a:lnTo>
                    <a:pt x="2683764" y="231648"/>
                  </a:lnTo>
                  <a:lnTo>
                    <a:pt x="0" y="231648"/>
                  </a:lnTo>
                  <a:lnTo>
                    <a:pt x="115824" y="115824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8332" y="0"/>
                  </a:lnTo>
                  <a:lnTo>
                    <a:pt x="121920" y="113587"/>
                  </a:lnTo>
                  <a:lnTo>
                    <a:pt x="0" y="235507"/>
                  </a:lnTo>
                  <a:lnTo>
                    <a:pt x="2677668" y="235507"/>
                  </a:lnTo>
                  <a:lnTo>
                    <a:pt x="2799588" y="113587"/>
                  </a:lnTo>
                  <a:lnTo>
                    <a:pt x="2686000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152132" y="0"/>
              <a:ext cx="2799715" cy="235585"/>
            </a:xfrm>
            <a:custGeom>
              <a:avLst/>
              <a:gdLst/>
              <a:ahLst/>
              <a:cxnLst/>
              <a:rect l="l" t="t" r="r" b="b"/>
              <a:pathLst>
                <a:path w="2799715" h="235585">
                  <a:moveTo>
                    <a:pt x="2686000" y="0"/>
                  </a:moveTo>
                  <a:lnTo>
                    <a:pt x="2799588" y="113587"/>
                  </a:lnTo>
                  <a:lnTo>
                    <a:pt x="2677668" y="235507"/>
                  </a:lnTo>
                  <a:lnTo>
                    <a:pt x="0" y="235507"/>
                  </a:lnTo>
                  <a:lnTo>
                    <a:pt x="121920" y="113587"/>
                  </a:lnTo>
                  <a:lnTo>
                    <a:pt x="8332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5" y="0"/>
                  </a:moveTo>
                  <a:lnTo>
                    <a:pt x="6808" y="0"/>
                  </a:lnTo>
                  <a:lnTo>
                    <a:pt x="121156" y="114349"/>
                  </a:lnTo>
                  <a:lnTo>
                    <a:pt x="0" y="235507"/>
                  </a:lnTo>
                  <a:lnTo>
                    <a:pt x="2584704" y="235507"/>
                  </a:lnTo>
                  <a:lnTo>
                    <a:pt x="2584705" y="0"/>
                  </a:lnTo>
                  <a:close/>
                </a:path>
              </a:pathLst>
            </a:custGeom>
            <a:solidFill>
              <a:srgbClr val="AF6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9607296" y="0"/>
              <a:ext cx="2585085" cy="235585"/>
            </a:xfrm>
            <a:custGeom>
              <a:avLst/>
              <a:gdLst/>
              <a:ahLst/>
              <a:cxnLst/>
              <a:rect l="l" t="t" r="r" b="b"/>
              <a:pathLst>
                <a:path w="2585084" h="235585">
                  <a:moveTo>
                    <a:pt x="2584704" y="235507"/>
                  </a:moveTo>
                  <a:lnTo>
                    <a:pt x="0" y="235507"/>
                  </a:lnTo>
                  <a:lnTo>
                    <a:pt x="121157" y="114348"/>
                  </a:lnTo>
                  <a:lnTo>
                    <a:pt x="6808" y="0"/>
                  </a:lnTo>
                </a:path>
              </a:pathLst>
            </a:custGeom>
            <a:ln w="12192">
              <a:solidFill>
                <a:srgbClr val="750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2915" y="9652"/>
            <a:ext cx="120853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1370" algn="l"/>
              </a:tabLst>
            </a:pPr>
            <a:r>
              <a:rPr dirty="0" sz="1000" spc="20">
                <a:latin typeface="Arial MT"/>
                <a:cs typeface="Arial MT"/>
              </a:rPr>
              <a:t>EV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Charging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Industry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Revamped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40">
                <a:latin typeface="Arial MT"/>
                <a:cs typeface="Arial MT"/>
              </a:rPr>
              <a:t>Model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5">
                <a:latin typeface="Arial MT"/>
                <a:cs typeface="Arial MT"/>
              </a:rPr>
              <a:t>Implementation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 spc="45">
                <a:latin typeface="Arial MT"/>
                <a:cs typeface="Arial MT"/>
              </a:rPr>
              <a:t>Roadmap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50">
                <a:latin typeface="Arial MT"/>
                <a:cs typeface="Arial MT"/>
              </a:rPr>
              <a:t>Infrastructure </a:t>
            </a:r>
            <a:r>
              <a:rPr dirty="0" sz="1000" spc="-10">
                <a:latin typeface="Arial MT"/>
                <a:cs typeface="Arial MT"/>
              </a:rPr>
              <a:t>Analysis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Feasibility</a:t>
            </a:r>
            <a:r>
              <a:rPr dirty="0" sz="10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00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dirty="0" sz="10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45">
                <a:solidFill>
                  <a:srgbClr val="FFFFFF"/>
                </a:solidFill>
                <a:latin typeface="Arial MT"/>
                <a:cs typeface="Arial MT"/>
              </a:rPr>
              <a:t>Recommendations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51655" y="6601459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"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2504" y="1420367"/>
            <a:ext cx="11673840" cy="1237615"/>
            <a:chOff x="222504" y="1420367"/>
            <a:chExt cx="11673840" cy="12376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504" y="1420367"/>
              <a:ext cx="11673840" cy="123748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6872" y="1524407"/>
              <a:ext cx="11467465" cy="1031240"/>
            </a:xfrm>
            <a:custGeom>
              <a:avLst/>
              <a:gdLst/>
              <a:ahLst/>
              <a:cxnLst/>
              <a:rect l="l" t="t" r="r" b="b"/>
              <a:pathLst>
                <a:path w="11467465" h="1031239">
                  <a:moveTo>
                    <a:pt x="11295228" y="0"/>
                  </a:moveTo>
                  <a:lnTo>
                    <a:pt x="171792" y="0"/>
                  </a:lnTo>
                  <a:lnTo>
                    <a:pt x="126122" y="6136"/>
                  </a:lnTo>
                  <a:lnTo>
                    <a:pt x="85085" y="23454"/>
                  </a:lnTo>
                  <a:lnTo>
                    <a:pt x="50316" y="50317"/>
                  </a:lnTo>
                  <a:lnTo>
                    <a:pt x="23454" y="85086"/>
                  </a:lnTo>
                  <a:lnTo>
                    <a:pt x="6136" y="126124"/>
                  </a:lnTo>
                  <a:lnTo>
                    <a:pt x="0" y="171794"/>
                  </a:lnTo>
                  <a:lnTo>
                    <a:pt x="0" y="858946"/>
                  </a:lnTo>
                  <a:lnTo>
                    <a:pt x="6136" y="904616"/>
                  </a:lnTo>
                  <a:lnTo>
                    <a:pt x="23454" y="945654"/>
                  </a:lnTo>
                  <a:lnTo>
                    <a:pt x="50316" y="980423"/>
                  </a:lnTo>
                  <a:lnTo>
                    <a:pt x="85085" y="1007285"/>
                  </a:lnTo>
                  <a:lnTo>
                    <a:pt x="126122" y="1024604"/>
                  </a:lnTo>
                  <a:lnTo>
                    <a:pt x="171792" y="1030740"/>
                  </a:lnTo>
                  <a:lnTo>
                    <a:pt x="11295228" y="1030740"/>
                  </a:lnTo>
                  <a:lnTo>
                    <a:pt x="11340897" y="1024604"/>
                  </a:lnTo>
                  <a:lnTo>
                    <a:pt x="11381935" y="1007285"/>
                  </a:lnTo>
                  <a:lnTo>
                    <a:pt x="11416703" y="980423"/>
                  </a:lnTo>
                  <a:lnTo>
                    <a:pt x="11443565" y="945654"/>
                  </a:lnTo>
                  <a:lnTo>
                    <a:pt x="11460883" y="904616"/>
                  </a:lnTo>
                  <a:lnTo>
                    <a:pt x="11467020" y="858946"/>
                  </a:lnTo>
                  <a:lnTo>
                    <a:pt x="11467020" y="171794"/>
                  </a:lnTo>
                  <a:lnTo>
                    <a:pt x="11460883" y="126124"/>
                  </a:lnTo>
                  <a:lnTo>
                    <a:pt x="11443565" y="85086"/>
                  </a:lnTo>
                  <a:lnTo>
                    <a:pt x="11416703" y="50317"/>
                  </a:lnTo>
                  <a:lnTo>
                    <a:pt x="11381935" y="23454"/>
                  </a:lnTo>
                  <a:lnTo>
                    <a:pt x="11340897" y="6136"/>
                  </a:lnTo>
                  <a:lnTo>
                    <a:pt x="11295228" y="0"/>
                  </a:lnTo>
                  <a:close/>
                </a:path>
              </a:pathLst>
            </a:custGeom>
            <a:solidFill>
              <a:srgbClr val="E7E6E6">
                <a:alpha val="7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40" y="1784096"/>
              <a:ext cx="381092" cy="483927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385011" y="936457"/>
            <a:ext cx="11320145" cy="0"/>
          </a:xfrm>
          <a:custGeom>
            <a:avLst/>
            <a:gdLst/>
            <a:ahLst/>
            <a:cxnLst/>
            <a:rect l="l" t="t" r="r" b="b"/>
            <a:pathLst>
              <a:path w="11320145" h="0">
                <a:moveTo>
                  <a:pt x="0" y="0"/>
                </a:moveTo>
                <a:lnTo>
                  <a:pt x="11319709" y="1"/>
                </a:lnTo>
              </a:path>
            </a:pathLst>
          </a:custGeom>
          <a:ln w="127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57175" marR="5080">
              <a:lnSpc>
                <a:spcPct val="101899"/>
              </a:lnSpc>
              <a:spcBef>
                <a:spcPts val="80"/>
              </a:spcBef>
            </a:pPr>
            <a:r>
              <a:rPr dirty="0" spc="114"/>
              <a:t>Conclusion: </a:t>
            </a:r>
            <a:r>
              <a:rPr dirty="0"/>
              <a:t>:</a:t>
            </a:r>
            <a:r>
              <a:rPr dirty="0" spc="120"/>
              <a:t> </a:t>
            </a:r>
            <a:r>
              <a:rPr dirty="0" spc="140"/>
              <a:t>XYZ</a:t>
            </a:r>
            <a:r>
              <a:rPr dirty="0" spc="120"/>
              <a:t> </a:t>
            </a:r>
            <a:r>
              <a:rPr dirty="0" spc="195"/>
              <a:t>Ltd</a:t>
            </a:r>
            <a:r>
              <a:rPr dirty="0" spc="130"/>
              <a:t> </a:t>
            </a:r>
            <a:r>
              <a:rPr dirty="0" spc="135"/>
              <a:t>should</a:t>
            </a:r>
            <a:r>
              <a:rPr dirty="0" spc="130"/>
              <a:t> </a:t>
            </a:r>
            <a:r>
              <a:rPr dirty="0" spc="140"/>
              <a:t>focus</a:t>
            </a:r>
            <a:r>
              <a:rPr dirty="0" spc="120"/>
              <a:t> </a:t>
            </a:r>
            <a:r>
              <a:rPr dirty="0" spc="150"/>
              <a:t>on</a:t>
            </a:r>
            <a:r>
              <a:rPr dirty="0" spc="114"/>
              <a:t> </a:t>
            </a:r>
            <a:r>
              <a:rPr dirty="0" spc="105"/>
              <a:t>VISION</a:t>
            </a:r>
            <a:r>
              <a:rPr dirty="0" spc="125"/>
              <a:t> </a:t>
            </a:r>
            <a:r>
              <a:rPr dirty="0" spc="170"/>
              <a:t>2030–</a:t>
            </a:r>
            <a:r>
              <a:rPr dirty="0" spc="120"/>
              <a:t> </a:t>
            </a:r>
            <a:r>
              <a:rPr dirty="0" spc="195"/>
              <a:t>Adoption</a:t>
            </a:r>
            <a:r>
              <a:rPr dirty="0" spc="114"/>
              <a:t> </a:t>
            </a:r>
            <a:r>
              <a:rPr dirty="0" spc="175"/>
              <a:t>of</a:t>
            </a:r>
            <a:r>
              <a:rPr dirty="0" spc="125"/>
              <a:t> </a:t>
            </a:r>
            <a:r>
              <a:rPr dirty="0" spc="105"/>
              <a:t>EV</a:t>
            </a:r>
            <a:r>
              <a:rPr dirty="0" spc="125"/>
              <a:t> </a:t>
            </a:r>
            <a:r>
              <a:rPr dirty="0" spc="150"/>
              <a:t>charging</a:t>
            </a:r>
            <a:r>
              <a:rPr dirty="0" spc="125"/>
              <a:t> solutions</a:t>
            </a:r>
            <a:r>
              <a:rPr dirty="0" spc="120"/>
              <a:t> </a:t>
            </a:r>
            <a:r>
              <a:rPr dirty="0" spc="200"/>
              <a:t>to</a:t>
            </a:r>
            <a:r>
              <a:rPr dirty="0" spc="120"/>
              <a:t> </a:t>
            </a:r>
            <a:r>
              <a:rPr dirty="0" spc="150"/>
              <a:t>drive</a:t>
            </a:r>
            <a:r>
              <a:rPr dirty="0" spc="120"/>
              <a:t> </a:t>
            </a:r>
            <a:r>
              <a:rPr dirty="0" spc="150"/>
              <a:t>carbon neutrality</a:t>
            </a:r>
            <a:r>
              <a:rPr dirty="0" spc="125"/>
              <a:t> </a:t>
            </a:r>
            <a:r>
              <a:rPr dirty="0" spc="140"/>
              <a:t>and</a:t>
            </a:r>
            <a:r>
              <a:rPr dirty="0" spc="135"/>
              <a:t> </a:t>
            </a:r>
            <a:r>
              <a:rPr dirty="0" spc="155"/>
              <a:t>developing</a:t>
            </a:r>
            <a:r>
              <a:rPr dirty="0" spc="135"/>
              <a:t> </a:t>
            </a:r>
            <a:r>
              <a:rPr dirty="0" spc="60"/>
              <a:t>a</a:t>
            </a:r>
            <a:r>
              <a:rPr dirty="0" spc="130"/>
              <a:t> </a:t>
            </a:r>
            <a:r>
              <a:rPr dirty="0" spc="160"/>
              <a:t>future</a:t>
            </a:r>
            <a:r>
              <a:rPr dirty="0" spc="125"/>
              <a:t> </a:t>
            </a:r>
            <a:r>
              <a:rPr dirty="0" spc="150"/>
              <a:t>ready</a:t>
            </a:r>
            <a:r>
              <a:rPr dirty="0" spc="125"/>
              <a:t> </a:t>
            </a:r>
            <a:r>
              <a:rPr dirty="0" spc="190"/>
              <a:t>product</a:t>
            </a:r>
            <a:r>
              <a:rPr dirty="0" spc="125"/>
              <a:t> </a:t>
            </a:r>
            <a:r>
              <a:rPr dirty="0" spc="140"/>
              <a:t>mix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709701" y="1041119"/>
            <a:ext cx="1278890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120">
                <a:latin typeface="Arial MT"/>
                <a:cs typeface="Arial MT"/>
              </a:rPr>
              <a:t>Vision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 spc="190">
                <a:latin typeface="Arial MT"/>
                <a:cs typeface="Arial MT"/>
              </a:rPr>
              <a:t>2030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54397" y="4663440"/>
            <a:ext cx="1598930" cy="3581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dirty="0" sz="1100" spc="60">
                <a:latin typeface="Arial MT"/>
                <a:cs typeface="Arial MT"/>
              </a:rPr>
              <a:t>Incremental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annual </a:t>
            </a:r>
            <a:r>
              <a:rPr dirty="0" sz="1100" spc="50">
                <a:latin typeface="Arial MT"/>
                <a:cs typeface="Arial MT"/>
              </a:rPr>
              <a:t>revenue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per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fuel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80">
                <a:latin typeface="Arial MT"/>
                <a:cs typeface="Arial MT"/>
              </a:rPr>
              <a:t>pump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55508" y="6016752"/>
            <a:ext cx="130683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55">
                <a:latin typeface="Arial MT"/>
                <a:cs typeface="Arial MT"/>
              </a:rPr>
              <a:t>Standardisation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95">
                <a:latin typeface="Arial MT"/>
                <a:cs typeface="Arial MT"/>
              </a:rPr>
              <a:t>to </a:t>
            </a:r>
            <a:r>
              <a:rPr dirty="0" sz="1100">
                <a:latin typeface="Arial MT"/>
                <a:cs typeface="Arial MT"/>
              </a:rPr>
              <a:t>Reduce</a:t>
            </a:r>
            <a:r>
              <a:rPr dirty="0" sz="1100" spc="305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cost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055513" y="2707590"/>
            <a:ext cx="2542540" cy="3841750"/>
            <a:chOff x="9055513" y="2707590"/>
            <a:chExt cx="2542540" cy="3841750"/>
          </a:xfrm>
        </p:grpSpPr>
        <p:sp>
          <p:nvSpPr>
            <p:cNvPr id="12" name="object 12" descr=""/>
            <p:cNvSpPr/>
            <p:nvPr/>
          </p:nvSpPr>
          <p:spPr>
            <a:xfrm>
              <a:off x="9061863" y="2713940"/>
              <a:ext cx="2529840" cy="3829050"/>
            </a:xfrm>
            <a:custGeom>
              <a:avLst/>
              <a:gdLst/>
              <a:ahLst/>
              <a:cxnLst/>
              <a:rect l="l" t="t" r="r" b="b"/>
              <a:pathLst>
                <a:path w="2529840" h="3829050">
                  <a:moveTo>
                    <a:pt x="0" y="421582"/>
                  </a:moveTo>
                  <a:lnTo>
                    <a:pt x="2836" y="372417"/>
                  </a:lnTo>
                  <a:lnTo>
                    <a:pt x="11134" y="324917"/>
                  </a:lnTo>
                  <a:lnTo>
                    <a:pt x="24577" y="279400"/>
                  </a:lnTo>
                  <a:lnTo>
                    <a:pt x="42850" y="236181"/>
                  </a:lnTo>
                  <a:lnTo>
                    <a:pt x="65635" y="195577"/>
                  </a:lnTo>
                  <a:lnTo>
                    <a:pt x="92617" y="157904"/>
                  </a:lnTo>
                  <a:lnTo>
                    <a:pt x="123478" y="123478"/>
                  </a:lnTo>
                  <a:lnTo>
                    <a:pt x="157904" y="92617"/>
                  </a:lnTo>
                  <a:lnTo>
                    <a:pt x="195577" y="65635"/>
                  </a:lnTo>
                  <a:lnTo>
                    <a:pt x="236181" y="42850"/>
                  </a:lnTo>
                  <a:lnTo>
                    <a:pt x="279400" y="24577"/>
                  </a:lnTo>
                  <a:lnTo>
                    <a:pt x="324917" y="11134"/>
                  </a:lnTo>
                  <a:lnTo>
                    <a:pt x="372417" y="2836"/>
                  </a:lnTo>
                  <a:lnTo>
                    <a:pt x="421583" y="0"/>
                  </a:lnTo>
                  <a:lnTo>
                    <a:pt x="2107861" y="0"/>
                  </a:lnTo>
                  <a:lnTo>
                    <a:pt x="2157026" y="2836"/>
                  </a:lnTo>
                  <a:lnTo>
                    <a:pt x="2204526" y="11134"/>
                  </a:lnTo>
                  <a:lnTo>
                    <a:pt x="2250043" y="24577"/>
                  </a:lnTo>
                  <a:lnTo>
                    <a:pt x="2293262" y="42850"/>
                  </a:lnTo>
                  <a:lnTo>
                    <a:pt x="2333866" y="65635"/>
                  </a:lnTo>
                  <a:lnTo>
                    <a:pt x="2371539" y="92617"/>
                  </a:lnTo>
                  <a:lnTo>
                    <a:pt x="2405965" y="123478"/>
                  </a:lnTo>
                  <a:lnTo>
                    <a:pt x="2436827" y="157904"/>
                  </a:lnTo>
                  <a:lnTo>
                    <a:pt x="2463808" y="195577"/>
                  </a:lnTo>
                  <a:lnTo>
                    <a:pt x="2486593" y="236181"/>
                  </a:lnTo>
                  <a:lnTo>
                    <a:pt x="2504866" y="279400"/>
                  </a:lnTo>
                  <a:lnTo>
                    <a:pt x="2518309" y="324917"/>
                  </a:lnTo>
                  <a:lnTo>
                    <a:pt x="2526607" y="372417"/>
                  </a:lnTo>
                  <a:lnTo>
                    <a:pt x="2529444" y="421582"/>
                  </a:lnTo>
                  <a:lnTo>
                    <a:pt x="2529444" y="3407334"/>
                  </a:lnTo>
                  <a:lnTo>
                    <a:pt x="2526607" y="3456499"/>
                  </a:lnTo>
                  <a:lnTo>
                    <a:pt x="2518309" y="3503999"/>
                  </a:lnTo>
                  <a:lnTo>
                    <a:pt x="2504866" y="3549516"/>
                  </a:lnTo>
                  <a:lnTo>
                    <a:pt x="2486593" y="3592735"/>
                  </a:lnTo>
                  <a:lnTo>
                    <a:pt x="2463808" y="3633339"/>
                  </a:lnTo>
                  <a:lnTo>
                    <a:pt x="2436827" y="3671012"/>
                  </a:lnTo>
                  <a:lnTo>
                    <a:pt x="2405965" y="3705438"/>
                  </a:lnTo>
                  <a:lnTo>
                    <a:pt x="2371539" y="3736300"/>
                  </a:lnTo>
                  <a:lnTo>
                    <a:pt x="2333866" y="3763281"/>
                  </a:lnTo>
                  <a:lnTo>
                    <a:pt x="2293262" y="3786066"/>
                  </a:lnTo>
                  <a:lnTo>
                    <a:pt x="2250043" y="3804339"/>
                  </a:lnTo>
                  <a:lnTo>
                    <a:pt x="2204526" y="3817782"/>
                  </a:lnTo>
                  <a:lnTo>
                    <a:pt x="2157026" y="3826080"/>
                  </a:lnTo>
                  <a:lnTo>
                    <a:pt x="2107861" y="3828917"/>
                  </a:lnTo>
                  <a:lnTo>
                    <a:pt x="421583" y="3828917"/>
                  </a:lnTo>
                  <a:lnTo>
                    <a:pt x="372417" y="3826080"/>
                  </a:lnTo>
                  <a:lnTo>
                    <a:pt x="324917" y="3817782"/>
                  </a:lnTo>
                  <a:lnTo>
                    <a:pt x="279400" y="3804339"/>
                  </a:lnTo>
                  <a:lnTo>
                    <a:pt x="236181" y="3786066"/>
                  </a:lnTo>
                  <a:lnTo>
                    <a:pt x="195577" y="3763281"/>
                  </a:lnTo>
                  <a:lnTo>
                    <a:pt x="157904" y="3736300"/>
                  </a:lnTo>
                  <a:lnTo>
                    <a:pt x="123478" y="3705438"/>
                  </a:lnTo>
                  <a:lnTo>
                    <a:pt x="92617" y="3671012"/>
                  </a:lnTo>
                  <a:lnTo>
                    <a:pt x="65635" y="3633339"/>
                  </a:lnTo>
                  <a:lnTo>
                    <a:pt x="42850" y="3592735"/>
                  </a:lnTo>
                  <a:lnTo>
                    <a:pt x="24577" y="3549516"/>
                  </a:lnTo>
                  <a:lnTo>
                    <a:pt x="11134" y="3503999"/>
                  </a:lnTo>
                  <a:lnTo>
                    <a:pt x="2836" y="3456499"/>
                  </a:lnTo>
                  <a:lnTo>
                    <a:pt x="0" y="3407334"/>
                  </a:lnTo>
                  <a:lnTo>
                    <a:pt x="0" y="421582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663" y="2734056"/>
              <a:ext cx="2350007" cy="98450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193777" y="2805620"/>
              <a:ext cx="2208530" cy="842010"/>
            </a:xfrm>
            <a:custGeom>
              <a:avLst/>
              <a:gdLst/>
              <a:ahLst/>
              <a:cxnLst/>
              <a:rect l="l" t="t" r="r" b="b"/>
              <a:pathLst>
                <a:path w="2208529" h="842010">
                  <a:moveTo>
                    <a:pt x="1787499" y="0"/>
                  </a:moveTo>
                  <a:lnTo>
                    <a:pt x="420950" y="0"/>
                  </a:lnTo>
                  <a:lnTo>
                    <a:pt x="371858" y="2832"/>
                  </a:lnTo>
                  <a:lnTo>
                    <a:pt x="324430" y="11117"/>
                  </a:lnTo>
                  <a:lnTo>
                    <a:pt x="278980" y="24540"/>
                  </a:lnTo>
                  <a:lnTo>
                    <a:pt x="235826" y="42786"/>
                  </a:lnTo>
                  <a:lnTo>
                    <a:pt x="195283" y="65537"/>
                  </a:lnTo>
                  <a:lnTo>
                    <a:pt x="157667" y="92478"/>
                  </a:lnTo>
                  <a:lnTo>
                    <a:pt x="123293" y="123293"/>
                  </a:lnTo>
                  <a:lnTo>
                    <a:pt x="92477" y="157667"/>
                  </a:lnTo>
                  <a:lnTo>
                    <a:pt x="65536" y="195284"/>
                  </a:lnTo>
                  <a:lnTo>
                    <a:pt x="42785" y="235827"/>
                  </a:lnTo>
                  <a:lnTo>
                    <a:pt x="24540" y="278982"/>
                  </a:lnTo>
                  <a:lnTo>
                    <a:pt x="11117" y="324431"/>
                  </a:lnTo>
                  <a:lnTo>
                    <a:pt x="2832" y="371859"/>
                  </a:lnTo>
                  <a:lnTo>
                    <a:pt x="0" y="420949"/>
                  </a:lnTo>
                  <a:lnTo>
                    <a:pt x="2832" y="470040"/>
                  </a:lnTo>
                  <a:lnTo>
                    <a:pt x="11117" y="517468"/>
                  </a:lnTo>
                  <a:lnTo>
                    <a:pt x="24540" y="562918"/>
                  </a:lnTo>
                  <a:lnTo>
                    <a:pt x="42785" y="606072"/>
                  </a:lnTo>
                  <a:lnTo>
                    <a:pt x="65536" y="646615"/>
                  </a:lnTo>
                  <a:lnTo>
                    <a:pt x="92477" y="684231"/>
                  </a:lnTo>
                  <a:lnTo>
                    <a:pt x="123293" y="718605"/>
                  </a:lnTo>
                  <a:lnTo>
                    <a:pt x="157667" y="749421"/>
                  </a:lnTo>
                  <a:lnTo>
                    <a:pt x="195283" y="776362"/>
                  </a:lnTo>
                  <a:lnTo>
                    <a:pt x="235826" y="799113"/>
                  </a:lnTo>
                  <a:lnTo>
                    <a:pt x="278980" y="817358"/>
                  </a:lnTo>
                  <a:lnTo>
                    <a:pt x="324430" y="830781"/>
                  </a:lnTo>
                  <a:lnTo>
                    <a:pt x="371858" y="839067"/>
                  </a:lnTo>
                  <a:lnTo>
                    <a:pt x="420950" y="841899"/>
                  </a:lnTo>
                  <a:lnTo>
                    <a:pt x="1787497" y="841902"/>
                  </a:lnTo>
                  <a:lnTo>
                    <a:pt x="1836588" y="839069"/>
                  </a:lnTo>
                  <a:lnTo>
                    <a:pt x="1884017" y="830784"/>
                  </a:lnTo>
                  <a:lnTo>
                    <a:pt x="1929466" y="817361"/>
                  </a:lnTo>
                  <a:lnTo>
                    <a:pt x="1972620" y="799116"/>
                  </a:lnTo>
                  <a:lnTo>
                    <a:pt x="2013163" y="776364"/>
                  </a:lnTo>
                  <a:lnTo>
                    <a:pt x="2050780" y="749423"/>
                  </a:lnTo>
                  <a:lnTo>
                    <a:pt x="2085154" y="718608"/>
                  </a:lnTo>
                  <a:lnTo>
                    <a:pt x="2115969" y="684234"/>
                  </a:lnTo>
                  <a:lnTo>
                    <a:pt x="2142910" y="646617"/>
                  </a:lnTo>
                  <a:lnTo>
                    <a:pt x="2165661" y="606074"/>
                  </a:lnTo>
                  <a:lnTo>
                    <a:pt x="2183906" y="562920"/>
                  </a:lnTo>
                  <a:lnTo>
                    <a:pt x="2197329" y="517471"/>
                  </a:lnTo>
                  <a:lnTo>
                    <a:pt x="2205615" y="470043"/>
                  </a:lnTo>
                  <a:lnTo>
                    <a:pt x="2208447" y="420951"/>
                  </a:lnTo>
                  <a:lnTo>
                    <a:pt x="2205617" y="371859"/>
                  </a:lnTo>
                  <a:lnTo>
                    <a:pt x="2197332" y="324431"/>
                  </a:lnTo>
                  <a:lnTo>
                    <a:pt x="2183909" y="278982"/>
                  </a:lnTo>
                  <a:lnTo>
                    <a:pt x="2165664" y="235827"/>
                  </a:lnTo>
                  <a:lnTo>
                    <a:pt x="2142913" y="195284"/>
                  </a:lnTo>
                  <a:lnTo>
                    <a:pt x="2115972" y="157667"/>
                  </a:lnTo>
                  <a:lnTo>
                    <a:pt x="2085156" y="123293"/>
                  </a:lnTo>
                  <a:lnTo>
                    <a:pt x="2050782" y="92478"/>
                  </a:lnTo>
                  <a:lnTo>
                    <a:pt x="2013166" y="65537"/>
                  </a:lnTo>
                  <a:lnTo>
                    <a:pt x="1972623" y="42786"/>
                  </a:lnTo>
                  <a:lnTo>
                    <a:pt x="1929468" y="24540"/>
                  </a:lnTo>
                  <a:lnTo>
                    <a:pt x="1884019" y="11117"/>
                  </a:lnTo>
                  <a:lnTo>
                    <a:pt x="1836591" y="2832"/>
                  </a:lnTo>
                  <a:lnTo>
                    <a:pt x="1787499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93777" y="2805620"/>
              <a:ext cx="2208530" cy="842010"/>
            </a:xfrm>
            <a:custGeom>
              <a:avLst/>
              <a:gdLst/>
              <a:ahLst/>
              <a:cxnLst/>
              <a:rect l="l" t="t" r="r" b="b"/>
              <a:pathLst>
                <a:path w="2208529" h="842010">
                  <a:moveTo>
                    <a:pt x="0" y="420950"/>
                  </a:moveTo>
                  <a:lnTo>
                    <a:pt x="2832" y="371858"/>
                  </a:lnTo>
                  <a:lnTo>
                    <a:pt x="11117" y="324430"/>
                  </a:lnTo>
                  <a:lnTo>
                    <a:pt x="24540" y="278981"/>
                  </a:lnTo>
                  <a:lnTo>
                    <a:pt x="42785" y="235827"/>
                  </a:lnTo>
                  <a:lnTo>
                    <a:pt x="65536" y="195283"/>
                  </a:lnTo>
                  <a:lnTo>
                    <a:pt x="92478" y="157667"/>
                  </a:lnTo>
                  <a:lnTo>
                    <a:pt x="123293" y="123293"/>
                  </a:lnTo>
                  <a:lnTo>
                    <a:pt x="157667" y="92478"/>
                  </a:lnTo>
                  <a:lnTo>
                    <a:pt x="195283" y="65536"/>
                  </a:lnTo>
                  <a:lnTo>
                    <a:pt x="235827" y="42785"/>
                  </a:lnTo>
                  <a:lnTo>
                    <a:pt x="278981" y="24540"/>
                  </a:lnTo>
                  <a:lnTo>
                    <a:pt x="324430" y="11117"/>
                  </a:lnTo>
                  <a:lnTo>
                    <a:pt x="371858" y="2832"/>
                  </a:lnTo>
                  <a:lnTo>
                    <a:pt x="420950" y="0"/>
                  </a:lnTo>
                  <a:lnTo>
                    <a:pt x="1787500" y="0"/>
                  </a:lnTo>
                  <a:lnTo>
                    <a:pt x="1836591" y="2832"/>
                  </a:lnTo>
                  <a:lnTo>
                    <a:pt x="1884020" y="11117"/>
                  </a:lnTo>
                  <a:lnTo>
                    <a:pt x="1929469" y="24540"/>
                  </a:lnTo>
                  <a:lnTo>
                    <a:pt x="1972623" y="42785"/>
                  </a:lnTo>
                  <a:lnTo>
                    <a:pt x="2013166" y="65536"/>
                  </a:lnTo>
                  <a:lnTo>
                    <a:pt x="2050783" y="92478"/>
                  </a:lnTo>
                  <a:lnTo>
                    <a:pt x="2085156" y="123293"/>
                  </a:lnTo>
                  <a:lnTo>
                    <a:pt x="2115972" y="157667"/>
                  </a:lnTo>
                  <a:lnTo>
                    <a:pt x="2142913" y="195283"/>
                  </a:lnTo>
                  <a:lnTo>
                    <a:pt x="2165664" y="235827"/>
                  </a:lnTo>
                  <a:lnTo>
                    <a:pt x="2183909" y="278981"/>
                  </a:lnTo>
                  <a:lnTo>
                    <a:pt x="2197332" y="324430"/>
                  </a:lnTo>
                  <a:lnTo>
                    <a:pt x="2205618" y="371858"/>
                  </a:lnTo>
                  <a:lnTo>
                    <a:pt x="2208450" y="420950"/>
                  </a:lnTo>
                  <a:lnTo>
                    <a:pt x="2205615" y="470042"/>
                  </a:lnTo>
                  <a:lnTo>
                    <a:pt x="2197330" y="517470"/>
                  </a:lnTo>
                  <a:lnTo>
                    <a:pt x="2183907" y="562920"/>
                  </a:lnTo>
                  <a:lnTo>
                    <a:pt x="2165662" y="606074"/>
                  </a:lnTo>
                  <a:lnTo>
                    <a:pt x="2142911" y="646617"/>
                  </a:lnTo>
                  <a:lnTo>
                    <a:pt x="2115969" y="684233"/>
                  </a:lnTo>
                  <a:lnTo>
                    <a:pt x="2085154" y="718607"/>
                  </a:lnTo>
                  <a:lnTo>
                    <a:pt x="2050780" y="749423"/>
                  </a:lnTo>
                  <a:lnTo>
                    <a:pt x="2013164" y="776364"/>
                  </a:lnTo>
                  <a:lnTo>
                    <a:pt x="1972621" y="799115"/>
                  </a:lnTo>
                  <a:lnTo>
                    <a:pt x="1929467" y="817360"/>
                  </a:lnTo>
                  <a:lnTo>
                    <a:pt x="1884017" y="830783"/>
                  </a:lnTo>
                  <a:lnTo>
                    <a:pt x="1836589" y="839069"/>
                  </a:lnTo>
                  <a:lnTo>
                    <a:pt x="1787498" y="841901"/>
                  </a:lnTo>
                  <a:lnTo>
                    <a:pt x="420950" y="841899"/>
                  </a:lnTo>
                  <a:lnTo>
                    <a:pt x="371858" y="839066"/>
                  </a:lnTo>
                  <a:lnTo>
                    <a:pt x="324430" y="830781"/>
                  </a:lnTo>
                  <a:lnTo>
                    <a:pt x="278981" y="817358"/>
                  </a:lnTo>
                  <a:lnTo>
                    <a:pt x="235827" y="799113"/>
                  </a:lnTo>
                  <a:lnTo>
                    <a:pt x="195283" y="776362"/>
                  </a:lnTo>
                  <a:lnTo>
                    <a:pt x="157667" y="749420"/>
                  </a:lnTo>
                  <a:lnTo>
                    <a:pt x="123293" y="718605"/>
                  </a:lnTo>
                  <a:lnTo>
                    <a:pt x="92478" y="684231"/>
                  </a:lnTo>
                  <a:lnTo>
                    <a:pt x="65536" y="646615"/>
                  </a:lnTo>
                  <a:lnTo>
                    <a:pt x="42785" y="606071"/>
                  </a:lnTo>
                  <a:lnTo>
                    <a:pt x="24540" y="562917"/>
                  </a:lnTo>
                  <a:lnTo>
                    <a:pt x="11117" y="517468"/>
                  </a:lnTo>
                  <a:lnTo>
                    <a:pt x="2832" y="470040"/>
                  </a:lnTo>
                  <a:lnTo>
                    <a:pt x="0" y="420948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230605" y="3784210"/>
              <a:ext cx="2208530" cy="12065"/>
            </a:xfrm>
            <a:custGeom>
              <a:avLst/>
              <a:gdLst/>
              <a:ahLst/>
              <a:cxnLst/>
              <a:rect l="l" t="t" r="r" b="b"/>
              <a:pathLst>
                <a:path w="2208529" h="12064">
                  <a:moveTo>
                    <a:pt x="0" y="0"/>
                  </a:moveTo>
                  <a:lnTo>
                    <a:pt x="2208448" y="12014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730133" y="2886157"/>
            <a:ext cx="1494155" cy="58674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700" marR="5080">
              <a:lnSpc>
                <a:spcPct val="105200"/>
              </a:lnSpc>
              <a:spcBef>
                <a:spcPts val="155"/>
              </a:spcBef>
            </a:pP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Feasibility</a:t>
            </a: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70">
                <a:solidFill>
                  <a:srgbClr val="FFFFFF"/>
                </a:solidFill>
                <a:latin typeface="Arial MT"/>
                <a:cs typeface="Arial MT"/>
              </a:rPr>
              <a:t>analysis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policy recommendations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225778" y="4703064"/>
            <a:ext cx="423545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>
              <a:lnSpc>
                <a:spcPts val="1310"/>
              </a:lnSpc>
              <a:spcBef>
                <a:spcPts val="100"/>
              </a:spcBef>
            </a:pPr>
            <a:r>
              <a:rPr dirty="0" sz="1100" spc="-25">
                <a:latin typeface="Arial MT"/>
                <a:cs typeface="Arial MT"/>
              </a:rPr>
              <a:t>INR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10"/>
              </a:lnSpc>
            </a:pPr>
            <a:r>
              <a:rPr dirty="0" sz="1100">
                <a:latin typeface="Arial MT"/>
                <a:cs typeface="Arial MT"/>
              </a:rPr>
              <a:t>10.2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15">
                <a:latin typeface="Arial MT"/>
                <a:cs typeface="Arial MT"/>
              </a:rPr>
              <a:t>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140604" y="3844519"/>
            <a:ext cx="2185035" cy="71691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74650" marR="5080" indent="-66040">
              <a:lnSpc>
                <a:spcPts val="1490"/>
              </a:lnSpc>
              <a:spcBef>
                <a:spcPts val="150"/>
              </a:spcBef>
            </a:pPr>
            <a:r>
              <a:rPr dirty="0" sz="1250" spc="55" i="1">
                <a:latin typeface="Arial"/>
                <a:cs typeface="Arial"/>
              </a:rPr>
              <a:t>Positive</a:t>
            </a:r>
            <a:r>
              <a:rPr dirty="0" sz="1250" spc="70" i="1">
                <a:latin typeface="Arial"/>
                <a:cs typeface="Arial"/>
              </a:rPr>
              <a:t> </a:t>
            </a:r>
            <a:r>
              <a:rPr dirty="0" sz="1250" spc="75" i="1">
                <a:latin typeface="Arial"/>
                <a:cs typeface="Arial"/>
              </a:rPr>
              <a:t>unit</a:t>
            </a:r>
            <a:r>
              <a:rPr dirty="0" sz="1250" spc="70" i="1">
                <a:latin typeface="Arial"/>
                <a:cs typeface="Arial"/>
              </a:rPr>
              <a:t> </a:t>
            </a:r>
            <a:r>
              <a:rPr dirty="0" sz="1250" spc="50" i="1">
                <a:latin typeface="Arial"/>
                <a:cs typeface="Arial"/>
              </a:rPr>
              <a:t>economics </a:t>
            </a:r>
            <a:r>
              <a:rPr dirty="0" sz="1250" spc="60" i="1">
                <a:latin typeface="Arial"/>
                <a:cs typeface="Arial"/>
              </a:rPr>
              <a:t>vis-</a:t>
            </a:r>
            <a:r>
              <a:rPr dirty="0" sz="1250" spc="55" i="1">
                <a:latin typeface="Arial"/>
                <a:cs typeface="Arial"/>
              </a:rPr>
              <a:t>a-</a:t>
            </a:r>
            <a:r>
              <a:rPr dirty="0" sz="1250" i="1">
                <a:latin typeface="Arial"/>
                <a:cs typeface="Arial"/>
              </a:rPr>
              <a:t>vis</a:t>
            </a:r>
            <a:r>
              <a:rPr dirty="0" sz="1250" spc="140" i="1">
                <a:latin typeface="Arial"/>
                <a:cs typeface="Arial"/>
              </a:rPr>
              <a:t> </a:t>
            </a:r>
            <a:r>
              <a:rPr dirty="0" sz="1250" spc="55" i="1">
                <a:latin typeface="Arial"/>
                <a:cs typeface="Arial"/>
              </a:rPr>
              <a:t>fuel</a:t>
            </a:r>
            <a:r>
              <a:rPr dirty="0" sz="1250" spc="135" i="1">
                <a:latin typeface="Arial"/>
                <a:cs typeface="Arial"/>
              </a:rPr>
              <a:t> </a:t>
            </a:r>
            <a:r>
              <a:rPr dirty="0" sz="1250" spc="60" i="1">
                <a:latin typeface="Arial"/>
                <a:cs typeface="Arial"/>
              </a:rPr>
              <a:t>charging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626745" algn="l"/>
              </a:tabLst>
            </a:pPr>
            <a:r>
              <a:rPr dirty="0" sz="1100" spc="-130">
                <a:latin typeface="Arial MT"/>
                <a:cs typeface="Arial MT"/>
              </a:rPr>
              <a:t>~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40">
                <a:latin typeface="Arial MT"/>
                <a:cs typeface="Arial MT"/>
              </a:rPr>
              <a:t>358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55">
                <a:latin typeface="Arial MT"/>
                <a:cs typeface="Arial MT"/>
              </a:rPr>
              <a:t>Break-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even</a:t>
            </a:r>
            <a:r>
              <a:rPr dirty="0" sz="1100" spc="30">
                <a:latin typeface="Arial MT"/>
                <a:cs typeface="Arial MT"/>
              </a:rPr>
              <a:t> days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20477" y="5231359"/>
            <a:ext cx="2017395" cy="649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55" i="1">
                <a:latin typeface="Arial"/>
                <a:cs typeface="Arial"/>
              </a:rPr>
              <a:t>Policy</a:t>
            </a:r>
            <a:r>
              <a:rPr dirty="0" sz="1250" spc="85" i="1">
                <a:latin typeface="Arial"/>
                <a:cs typeface="Arial"/>
              </a:rPr>
              <a:t> </a:t>
            </a:r>
            <a:r>
              <a:rPr dirty="0" sz="1250" spc="55" i="1">
                <a:latin typeface="Arial"/>
                <a:cs typeface="Arial"/>
              </a:rPr>
              <a:t>Recommendations</a:t>
            </a:r>
            <a:endParaRPr sz="1250">
              <a:latin typeface="Arial"/>
              <a:cs typeface="Arial"/>
            </a:endParaRPr>
          </a:p>
          <a:p>
            <a:pPr marL="396875" marR="298450">
              <a:lnSpc>
                <a:spcPts val="1300"/>
              </a:lnSpc>
              <a:spcBef>
                <a:spcPts val="865"/>
              </a:spcBef>
            </a:pPr>
            <a:r>
              <a:rPr dirty="0" sz="1100" spc="50">
                <a:latin typeface="Arial MT"/>
                <a:cs typeface="Arial MT"/>
              </a:rPr>
              <a:t>Focus </a:t>
            </a:r>
            <a:r>
              <a:rPr dirty="0" sz="1100" spc="75">
                <a:latin typeface="Arial MT"/>
                <a:cs typeface="Arial MT"/>
              </a:rPr>
              <a:t>on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Pan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India </a:t>
            </a:r>
            <a:r>
              <a:rPr dirty="0" sz="1100" spc="45">
                <a:latin typeface="Arial MT"/>
                <a:cs typeface="Arial MT"/>
              </a:rPr>
              <a:t>Initiatives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270946" y="3010437"/>
            <a:ext cx="1623695" cy="3351529"/>
            <a:chOff x="9270946" y="3010437"/>
            <a:chExt cx="1623695" cy="3351529"/>
          </a:xfrm>
        </p:grpSpPr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1236" y="5611696"/>
              <a:ext cx="324934" cy="32493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4513" y="6065252"/>
              <a:ext cx="296626" cy="29662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596171" y="5166545"/>
              <a:ext cx="1295400" cy="8890"/>
            </a:xfrm>
            <a:custGeom>
              <a:avLst/>
              <a:gdLst/>
              <a:ahLst/>
              <a:cxnLst/>
              <a:rect l="l" t="t" r="r" b="b"/>
              <a:pathLst>
                <a:path w="1295400" h="8889">
                  <a:moveTo>
                    <a:pt x="0" y="8523"/>
                  </a:moveTo>
                  <a:lnTo>
                    <a:pt x="1294989" y="0"/>
                  </a:lnTo>
                </a:path>
              </a:pathLst>
            </a:custGeom>
            <a:ln w="63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70946" y="3010437"/>
              <a:ext cx="422040" cy="422040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5122961" y="2715836"/>
            <a:ext cx="2542540" cy="3858260"/>
            <a:chOff x="5122961" y="2715836"/>
            <a:chExt cx="2542540" cy="3858260"/>
          </a:xfrm>
        </p:grpSpPr>
        <p:sp>
          <p:nvSpPr>
            <p:cNvPr id="27" name="object 27" descr=""/>
            <p:cNvSpPr/>
            <p:nvPr/>
          </p:nvSpPr>
          <p:spPr>
            <a:xfrm>
              <a:off x="5129311" y="2722186"/>
              <a:ext cx="2529840" cy="3845560"/>
            </a:xfrm>
            <a:custGeom>
              <a:avLst/>
              <a:gdLst/>
              <a:ahLst/>
              <a:cxnLst/>
              <a:rect l="l" t="t" r="r" b="b"/>
              <a:pathLst>
                <a:path w="2529840" h="3845559">
                  <a:moveTo>
                    <a:pt x="0" y="421581"/>
                  </a:moveTo>
                  <a:lnTo>
                    <a:pt x="2836" y="372416"/>
                  </a:lnTo>
                  <a:lnTo>
                    <a:pt x="11134" y="324916"/>
                  </a:lnTo>
                  <a:lnTo>
                    <a:pt x="24577" y="279399"/>
                  </a:lnTo>
                  <a:lnTo>
                    <a:pt x="42850" y="236180"/>
                  </a:lnTo>
                  <a:lnTo>
                    <a:pt x="65635" y="195576"/>
                  </a:lnTo>
                  <a:lnTo>
                    <a:pt x="92616" y="157903"/>
                  </a:lnTo>
                  <a:lnTo>
                    <a:pt x="123478" y="123478"/>
                  </a:lnTo>
                  <a:lnTo>
                    <a:pt x="157903" y="92616"/>
                  </a:lnTo>
                  <a:lnTo>
                    <a:pt x="195576" y="65635"/>
                  </a:lnTo>
                  <a:lnTo>
                    <a:pt x="236180" y="42850"/>
                  </a:lnTo>
                  <a:lnTo>
                    <a:pt x="279399" y="24577"/>
                  </a:lnTo>
                  <a:lnTo>
                    <a:pt x="324916" y="11134"/>
                  </a:lnTo>
                  <a:lnTo>
                    <a:pt x="372416" y="2836"/>
                  </a:lnTo>
                  <a:lnTo>
                    <a:pt x="421581" y="0"/>
                  </a:lnTo>
                  <a:lnTo>
                    <a:pt x="2107862" y="0"/>
                  </a:lnTo>
                  <a:lnTo>
                    <a:pt x="2157027" y="2836"/>
                  </a:lnTo>
                  <a:lnTo>
                    <a:pt x="2204526" y="11134"/>
                  </a:lnTo>
                  <a:lnTo>
                    <a:pt x="2250044" y="24577"/>
                  </a:lnTo>
                  <a:lnTo>
                    <a:pt x="2293262" y="42850"/>
                  </a:lnTo>
                  <a:lnTo>
                    <a:pt x="2333867" y="65635"/>
                  </a:lnTo>
                  <a:lnTo>
                    <a:pt x="2371539" y="92616"/>
                  </a:lnTo>
                  <a:lnTo>
                    <a:pt x="2405965" y="123478"/>
                  </a:lnTo>
                  <a:lnTo>
                    <a:pt x="2436827" y="157903"/>
                  </a:lnTo>
                  <a:lnTo>
                    <a:pt x="2463808" y="195576"/>
                  </a:lnTo>
                  <a:lnTo>
                    <a:pt x="2486593" y="236180"/>
                  </a:lnTo>
                  <a:lnTo>
                    <a:pt x="2504866" y="279399"/>
                  </a:lnTo>
                  <a:lnTo>
                    <a:pt x="2518309" y="324916"/>
                  </a:lnTo>
                  <a:lnTo>
                    <a:pt x="2526607" y="372416"/>
                  </a:lnTo>
                  <a:lnTo>
                    <a:pt x="2529444" y="421581"/>
                  </a:lnTo>
                  <a:lnTo>
                    <a:pt x="2529444" y="3423899"/>
                  </a:lnTo>
                  <a:lnTo>
                    <a:pt x="2526607" y="3473064"/>
                  </a:lnTo>
                  <a:lnTo>
                    <a:pt x="2518309" y="3520563"/>
                  </a:lnTo>
                  <a:lnTo>
                    <a:pt x="2504866" y="3566081"/>
                  </a:lnTo>
                  <a:lnTo>
                    <a:pt x="2486593" y="3609299"/>
                  </a:lnTo>
                  <a:lnTo>
                    <a:pt x="2463808" y="3649903"/>
                  </a:lnTo>
                  <a:lnTo>
                    <a:pt x="2436827" y="3687576"/>
                  </a:lnTo>
                  <a:lnTo>
                    <a:pt x="2405965" y="3722001"/>
                  </a:lnTo>
                  <a:lnTo>
                    <a:pt x="2371539" y="3752863"/>
                  </a:lnTo>
                  <a:lnTo>
                    <a:pt x="2333867" y="3779845"/>
                  </a:lnTo>
                  <a:lnTo>
                    <a:pt x="2293262" y="3802630"/>
                  </a:lnTo>
                  <a:lnTo>
                    <a:pt x="2250044" y="3820902"/>
                  </a:lnTo>
                  <a:lnTo>
                    <a:pt x="2204526" y="3834345"/>
                  </a:lnTo>
                  <a:lnTo>
                    <a:pt x="2157027" y="3842643"/>
                  </a:lnTo>
                  <a:lnTo>
                    <a:pt x="2107862" y="3845480"/>
                  </a:lnTo>
                  <a:lnTo>
                    <a:pt x="421581" y="3845480"/>
                  </a:lnTo>
                  <a:lnTo>
                    <a:pt x="372416" y="3842643"/>
                  </a:lnTo>
                  <a:lnTo>
                    <a:pt x="324916" y="3834345"/>
                  </a:lnTo>
                  <a:lnTo>
                    <a:pt x="279399" y="3820902"/>
                  </a:lnTo>
                  <a:lnTo>
                    <a:pt x="236180" y="3802630"/>
                  </a:lnTo>
                  <a:lnTo>
                    <a:pt x="195576" y="3779845"/>
                  </a:lnTo>
                  <a:lnTo>
                    <a:pt x="157903" y="3752863"/>
                  </a:lnTo>
                  <a:lnTo>
                    <a:pt x="123478" y="3722001"/>
                  </a:lnTo>
                  <a:lnTo>
                    <a:pt x="92616" y="3687576"/>
                  </a:lnTo>
                  <a:lnTo>
                    <a:pt x="65635" y="3649903"/>
                  </a:lnTo>
                  <a:lnTo>
                    <a:pt x="42850" y="3609299"/>
                  </a:lnTo>
                  <a:lnTo>
                    <a:pt x="24577" y="3566081"/>
                  </a:lnTo>
                  <a:lnTo>
                    <a:pt x="11134" y="3520563"/>
                  </a:lnTo>
                  <a:lnTo>
                    <a:pt x="2836" y="3473064"/>
                  </a:lnTo>
                  <a:lnTo>
                    <a:pt x="0" y="3423899"/>
                  </a:lnTo>
                  <a:lnTo>
                    <a:pt x="0" y="421581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51120" y="2758439"/>
              <a:ext cx="2505455" cy="98450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221675" y="2830884"/>
              <a:ext cx="2364105" cy="842010"/>
            </a:xfrm>
            <a:custGeom>
              <a:avLst/>
              <a:gdLst/>
              <a:ahLst/>
              <a:cxnLst/>
              <a:rect l="l" t="t" r="r" b="b"/>
              <a:pathLst>
                <a:path w="2364104" h="842010">
                  <a:moveTo>
                    <a:pt x="2021728" y="0"/>
                  </a:moveTo>
                  <a:lnTo>
                    <a:pt x="342197" y="0"/>
                  </a:lnTo>
                  <a:lnTo>
                    <a:pt x="295763" y="3123"/>
                  </a:lnTo>
                  <a:lnTo>
                    <a:pt x="251228" y="12223"/>
                  </a:lnTo>
                  <a:lnTo>
                    <a:pt x="208999" y="26891"/>
                  </a:lnTo>
                  <a:lnTo>
                    <a:pt x="169484" y="46720"/>
                  </a:lnTo>
                  <a:lnTo>
                    <a:pt x="133091" y="71301"/>
                  </a:lnTo>
                  <a:lnTo>
                    <a:pt x="100227" y="100227"/>
                  </a:lnTo>
                  <a:lnTo>
                    <a:pt x="71301" y="133091"/>
                  </a:lnTo>
                  <a:lnTo>
                    <a:pt x="46720" y="169484"/>
                  </a:lnTo>
                  <a:lnTo>
                    <a:pt x="26891" y="208999"/>
                  </a:lnTo>
                  <a:lnTo>
                    <a:pt x="12223" y="251228"/>
                  </a:lnTo>
                  <a:lnTo>
                    <a:pt x="3123" y="295764"/>
                  </a:lnTo>
                  <a:lnTo>
                    <a:pt x="0" y="342198"/>
                  </a:lnTo>
                  <a:lnTo>
                    <a:pt x="0" y="499700"/>
                  </a:lnTo>
                  <a:lnTo>
                    <a:pt x="3123" y="546134"/>
                  </a:lnTo>
                  <a:lnTo>
                    <a:pt x="12223" y="590670"/>
                  </a:lnTo>
                  <a:lnTo>
                    <a:pt x="26891" y="632899"/>
                  </a:lnTo>
                  <a:lnTo>
                    <a:pt x="46720" y="672414"/>
                  </a:lnTo>
                  <a:lnTo>
                    <a:pt x="71301" y="708808"/>
                  </a:lnTo>
                  <a:lnTo>
                    <a:pt x="100227" y="741671"/>
                  </a:lnTo>
                  <a:lnTo>
                    <a:pt x="133091" y="770598"/>
                  </a:lnTo>
                  <a:lnTo>
                    <a:pt x="169484" y="795179"/>
                  </a:lnTo>
                  <a:lnTo>
                    <a:pt x="208999" y="815007"/>
                  </a:lnTo>
                  <a:lnTo>
                    <a:pt x="251228" y="829675"/>
                  </a:lnTo>
                  <a:lnTo>
                    <a:pt x="295763" y="838775"/>
                  </a:lnTo>
                  <a:lnTo>
                    <a:pt x="342197" y="841899"/>
                  </a:lnTo>
                  <a:lnTo>
                    <a:pt x="2021728" y="841899"/>
                  </a:lnTo>
                  <a:lnTo>
                    <a:pt x="2068162" y="838775"/>
                  </a:lnTo>
                  <a:lnTo>
                    <a:pt x="2112697" y="829675"/>
                  </a:lnTo>
                  <a:lnTo>
                    <a:pt x="2154926" y="815007"/>
                  </a:lnTo>
                  <a:lnTo>
                    <a:pt x="2194441" y="795179"/>
                  </a:lnTo>
                  <a:lnTo>
                    <a:pt x="2230834" y="770598"/>
                  </a:lnTo>
                  <a:lnTo>
                    <a:pt x="2263698" y="741671"/>
                  </a:lnTo>
                  <a:lnTo>
                    <a:pt x="2292624" y="708808"/>
                  </a:lnTo>
                  <a:lnTo>
                    <a:pt x="2317205" y="672414"/>
                  </a:lnTo>
                  <a:lnTo>
                    <a:pt x="2337034" y="632899"/>
                  </a:lnTo>
                  <a:lnTo>
                    <a:pt x="2351702" y="590670"/>
                  </a:lnTo>
                  <a:lnTo>
                    <a:pt x="2360802" y="546134"/>
                  </a:lnTo>
                  <a:lnTo>
                    <a:pt x="2363925" y="499700"/>
                  </a:lnTo>
                  <a:lnTo>
                    <a:pt x="2363925" y="342198"/>
                  </a:lnTo>
                  <a:lnTo>
                    <a:pt x="2360802" y="295764"/>
                  </a:lnTo>
                  <a:lnTo>
                    <a:pt x="2351702" y="251228"/>
                  </a:lnTo>
                  <a:lnTo>
                    <a:pt x="2337034" y="208999"/>
                  </a:lnTo>
                  <a:lnTo>
                    <a:pt x="2317205" y="169484"/>
                  </a:lnTo>
                  <a:lnTo>
                    <a:pt x="2292624" y="133091"/>
                  </a:lnTo>
                  <a:lnTo>
                    <a:pt x="2263698" y="100227"/>
                  </a:lnTo>
                  <a:lnTo>
                    <a:pt x="2230834" y="71301"/>
                  </a:lnTo>
                  <a:lnTo>
                    <a:pt x="2194441" y="46720"/>
                  </a:lnTo>
                  <a:lnTo>
                    <a:pt x="2154926" y="26891"/>
                  </a:lnTo>
                  <a:lnTo>
                    <a:pt x="2112697" y="12223"/>
                  </a:lnTo>
                  <a:lnTo>
                    <a:pt x="2068162" y="3123"/>
                  </a:lnTo>
                  <a:lnTo>
                    <a:pt x="2021728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221675" y="2830884"/>
              <a:ext cx="2364105" cy="842010"/>
            </a:xfrm>
            <a:custGeom>
              <a:avLst/>
              <a:gdLst/>
              <a:ahLst/>
              <a:cxnLst/>
              <a:rect l="l" t="t" r="r" b="b"/>
              <a:pathLst>
                <a:path w="2364104" h="842010">
                  <a:moveTo>
                    <a:pt x="0" y="342198"/>
                  </a:moveTo>
                  <a:lnTo>
                    <a:pt x="3123" y="295764"/>
                  </a:lnTo>
                  <a:lnTo>
                    <a:pt x="12223" y="251228"/>
                  </a:lnTo>
                  <a:lnTo>
                    <a:pt x="26891" y="208999"/>
                  </a:lnTo>
                  <a:lnTo>
                    <a:pt x="46720" y="169484"/>
                  </a:lnTo>
                  <a:lnTo>
                    <a:pt x="71301" y="133091"/>
                  </a:lnTo>
                  <a:lnTo>
                    <a:pt x="100227" y="100227"/>
                  </a:lnTo>
                  <a:lnTo>
                    <a:pt x="133090" y="71301"/>
                  </a:lnTo>
                  <a:lnTo>
                    <a:pt x="169484" y="46720"/>
                  </a:lnTo>
                  <a:lnTo>
                    <a:pt x="208999" y="26891"/>
                  </a:lnTo>
                  <a:lnTo>
                    <a:pt x="251228" y="12223"/>
                  </a:lnTo>
                  <a:lnTo>
                    <a:pt x="295763" y="3123"/>
                  </a:lnTo>
                  <a:lnTo>
                    <a:pt x="342197" y="0"/>
                  </a:lnTo>
                  <a:lnTo>
                    <a:pt x="2021728" y="0"/>
                  </a:lnTo>
                  <a:lnTo>
                    <a:pt x="2068162" y="3123"/>
                  </a:lnTo>
                  <a:lnTo>
                    <a:pt x="2112697" y="12223"/>
                  </a:lnTo>
                  <a:lnTo>
                    <a:pt x="2154927" y="26891"/>
                  </a:lnTo>
                  <a:lnTo>
                    <a:pt x="2194442" y="46720"/>
                  </a:lnTo>
                  <a:lnTo>
                    <a:pt x="2230835" y="71301"/>
                  </a:lnTo>
                  <a:lnTo>
                    <a:pt x="2263698" y="100227"/>
                  </a:lnTo>
                  <a:lnTo>
                    <a:pt x="2292624" y="133091"/>
                  </a:lnTo>
                  <a:lnTo>
                    <a:pt x="2317206" y="169484"/>
                  </a:lnTo>
                  <a:lnTo>
                    <a:pt x="2337034" y="208999"/>
                  </a:lnTo>
                  <a:lnTo>
                    <a:pt x="2351702" y="251228"/>
                  </a:lnTo>
                  <a:lnTo>
                    <a:pt x="2360802" y="295764"/>
                  </a:lnTo>
                  <a:lnTo>
                    <a:pt x="2363926" y="342198"/>
                  </a:lnTo>
                  <a:lnTo>
                    <a:pt x="2363926" y="499700"/>
                  </a:lnTo>
                  <a:lnTo>
                    <a:pt x="2360802" y="546134"/>
                  </a:lnTo>
                  <a:lnTo>
                    <a:pt x="2351702" y="590670"/>
                  </a:lnTo>
                  <a:lnTo>
                    <a:pt x="2337034" y="632899"/>
                  </a:lnTo>
                  <a:lnTo>
                    <a:pt x="2317206" y="672414"/>
                  </a:lnTo>
                  <a:lnTo>
                    <a:pt x="2292624" y="708807"/>
                  </a:lnTo>
                  <a:lnTo>
                    <a:pt x="2263698" y="741671"/>
                  </a:lnTo>
                  <a:lnTo>
                    <a:pt x="2230835" y="770597"/>
                  </a:lnTo>
                  <a:lnTo>
                    <a:pt x="2194442" y="795178"/>
                  </a:lnTo>
                  <a:lnTo>
                    <a:pt x="2154927" y="815007"/>
                  </a:lnTo>
                  <a:lnTo>
                    <a:pt x="2112697" y="829675"/>
                  </a:lnTo>
                  <a:lnTo>
                    <a:pt x="2068162" y="838775"/>
                  </a:lnTo>
                  <a:lnTo>
                    <a:pt x="2021728" y="841899"/>
                  </a:lnTo>
                  <a:lnTo>
                    <a:pt x="342197" y="841899"/>
                  </a:lnTo>
                  <a:lnTo>
                    <a:pt x="295763" y="838775"/>
                  </a:lnTo>
                  <a:lnTo>
                    <a:pt x="251228" y="829675"/>
                  </a:lnTo>
                  <a:lnTo>
                    <a:pt x="208999" y="815007"/>
                  </a:lnTo>
                  <a:lnTo>
                    <a:pt x="169484" y="795178"/>
                  </a:lnTo>
                  <a:lnTo>
                    <a:pt x="133090" y="770597"/>
                  </a:lnTo>
                  <a:lnTo>
                    <a:pt x="100227" y="741671"/>
                  </a:lnTo>
                  <a:lnTo>
                    <a:pt x="71301" y="708807"/>
                  </a:lnTo>
                  <a:lnTo>
                    <a:pt x="46720" y="672414"/>
                  </a:lnTo>
                  <a:lnTo>
                    <a:pt x="26891" y="632899"/>
                  </a:lnTo>
                  <a:lnTo>
                    <a:pt x="12223" y="590670"/>
                  </a:lnTo>
                  <a:lnTo>
                    <a:pt x="3123" y="546134"/>
                  </a:lnTo>
                  <a:lnTo>
                    <a:pt x="0" y="499700"/>
                  </a:lnTo>
                  <a:lnTo>
                    <a:pt x="0" y="342198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221676" y="3803722"/>
              <a:ext cx="2208530" cy="12065"/>
            </a:xfrm>
            <a:custGeom>
              <a:avLst/>
              <a:gdLst/>
              <a:ahLst/>
              <a:cxnLst/>
              <a:rect l="l" t="t" r="r" b="b"/>
              <a:pathLst>
                <a:path w="2208529" h="12064">
                  <a:moveTo>
                    <a:pt x="0" y="0"/>
                  </a:moveTo>
                  <a:lnTo>
                    <a:pt x="2208448" y="12014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5529820" y="2916637"/>
            <a:ext cx="2037080" cy="5835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700" marR="5080" indent="-635">
              <a:lnSpc>
                <a:spcPct val="105200"/>
              </a:lnSpc>
              <a:spcBef>
                <a:spcPts val="130"/>
              </a:spcBef>
            </a:pPr>
            <a:r>
              <a:rPr dirty="0" sz="1150" spc="90">
                <a:solidFill>
                  <a:srgbClr val="FFFFFF"/>
                </a:solidFill>
                <a:latin typeface="Arial MT"/>
                <a:cs typeface="Arial MT"/>
              </a:rPr>
              <a:t>EV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charging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25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dirty="0" sz="1150" spc="130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dirty="0" sz="1150" spc="120">
                <a:solidFill>
                  <a:srgbClr val="FFFFFF"/>
                </a:solidFill>
                <a:latin typeface="Arial MT"/>
                <a:cs typeface="Arial MT"/>
              </a:rPr>
              <a:t> protocols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607453" y="3896335"/>
            <a:ext cx="1878330" cy="481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90"/>
              </a:spcBef>
            </a:pPr>
            <a:r>
              <a:rPr dirty="0" sz="1250" spc="60" i="1">
                <a:latin typeface="Arial"/>
                <a:cs typeface="Arial"/>
              </a:rPr>
              <a:t>Infrastructure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100" spc="45">
                <a:latin typeface="Arial MT"/>
                <a:cs typeface="Arial MT"/>
              </a:rPr>
              <a:t>Renewable </a:t>
            </a:r>
            <a:r>
              <a:rPr dirty="0" sz="1100" spc="75">
                <a:latin typeface="Arial MT"/>
                <a:cs typeface="Arial MT"/>
              </a:rPr>
              <a:t>primary</a:t>
            </a:r>
            <a:r>
              <a:rPr dirty="0" sz="1100" spc="50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source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604880" y="4541520"/>
            <a:ext cx="1510665" cy="3581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53975" marR="5080" indent="-41275">
              <a:lnSpc>
                <a:spcPts val="1300"/>
              </a:lnSpc>
              <a:spcBef>
                <a:spcPts val="160"/>
              </a:spcBef>
            </a:pPr>
            <a:r>
              <a:rPr dirty="0" sz="1100" spc="85">
                <a:latin typeface="Arial MT"/>
                <a:cs typeface="Arial MT"/>
              </a:rPr>
              <a:t>Active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&amp;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passive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load </a:t>
            </a:r>
            <a:r>
              <a:rPr dirty="0" sz="1100" spc="60">
                <a:latin typeface="Arial MT"/>
                <a:cs typeface="Arial MT"/>
              </a:rPr>
              <a:t>management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646971" y="4995672"/>
            <a:ext cx="16973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0">
                <a:latin typeface="Arial MT"/>
                <a:cs typeface="Arial MT"/>
              </a:rPr>
              <a:t>Multiple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charging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points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280988" y="2961107"/>
            <a:ext cx="1794510" cy="3552190"/>
            <a:chOff x="5280988" y="2961107"/>
            <a:chExt cx="1794510" cy="3552190"/>
          </a:xfrm>
        </p:grpSpPr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2398" y="4152238"/>
              <a:ext cx="272473" cy="27247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6325" y="4621400"/>
              <a:ext cx="219782" cy="21978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87693" y="4977335"/>
              <a:ext cx="281885" cy="28188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26270" y="5705082"/>
              <a:ext cx="208080" cy="205817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0326" y="6291233"/>
              <a:ext cx="226195" cy="221559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776824" y="5266740"/>
              <a:ext cx="1295400" cy="8890"/>
            </a:xfrm>
            <a:custGeom>
              <a:avLst/>
              <a:gdLst/>
              <a:ahLst/>
              <a:cxnLst/>
              <a:rect l="l" t="t" r="r" b="b"/>
              <a:pathLst>
                <a:path w="1295400" h="8889">
                  <a:moveTo>
                    <a:pt x="0" y="8523"/>
                  </a:moveTo>
                  <a:lnTo>
                    <a:pt x="1294989" y="0"/>
                  </a:lnTo>
                </a:path>
              </a:pathLst>
            </a:custGeom>
            <a:ln w="63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91327" y="5952743"/>
              <a:ext cx="310896" cy="31394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0988" y="2961107"/>
              <a:ext cx="413104" cy="413104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5381196" y="5331943"/>
            <a:ext cx="198310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70" i="1">
                <a:latin typeface="Arial"/>
                <a:cs typeface="Arial"/>
              </a:rPr>
              <a:t>Communication</a:t>
            </a:r>
            <a:r>
              <a:rPr dirty="0" sz="1250" spc="85" i="1">
                <a:latin typeface="Arial"/>
                <a:cs typeface="Arial"/>
              </a:rPr>
              <a:t> protocol</a:t>
            </a:r>
            <a:endParaRPr sz="125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705447" y="5964935"/>
            <a:ext cx="13601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0">
                <a:latin typeface="Arial MT"/>
                <a:cs typeface="Arial MT"/>
              </a:rPr>
              <a:t>Scheduled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booking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758265" y="6281928"/>
            <a:ext cx="14173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BI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85">
                <a:latin typeface="Arial MT"/>
                <a:cs typeface="Arial MT"/>
              </a:rPr>
              <a:t>report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100">
                <a:latin typeface="Arial MT"/>
                <a:cs typeface="Arial MT"/>
              </a:rPr>
              <a:t>of</a:t>
            </a:r>
            <a:r>
              <a:rPr dirty="0" sz="1100" spc="50">
                <a:latin typeface="Arial MT"/>
                <a:cs typeface="Arial MT"/>
              </a:rPr>
              <a:t> stations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71654" y="2715836"/>
            <a:ext cx="2661285" cy="3955415"/>
            <a:chOff x="1071654" y="2715836"/>
            <a:chExt cx="2661285" cy="3955415"/>
          </a:xfrm>
        </p:grpSpPr>
        <p:sp>
          <p:nvSpPr>
            <p:cNvPr id="49" name="object 49" descr=""/>
            <p:cNvSpPr/>
            <p:nvPr/>
          </p:nvSpPr>
          <p:spPr>
            <a:xfrm>
              <a:off x="1078004" y="2722186"/>
              <a:ext cx="2648585" cy="3942715"/>
            </a:xfrm>
            <a:custGeom>
              <a:avLst/>
              <a:gdLst/>
              <a:ahLst/>
              <a:cxnLst/>
              <a:rect l="l" t="t" r="r" b="b"/>
              <a:pathLst>
                <a:path w="2648585" h="3942715">
                  <a:moveTo>
                    <a:pt x="0" y="441374"/>
                  </a:moveTo>
                  <a:lnTo>
                    <a:pt x="2589" y="393281"/>
                  </a:lnTo>
                  <a:lnTo>
                    <a:pt x="10180" y="346689"/>
                  </a:lnTo>
                  <a:lnTo>
                    <a:pt x="22501" y="301866"/>
                  </a:lnTo>
                  <a:lnTo>
                    <a:pt x="39284" y="259081"/>
                  </a:lnTo>
                  <a:lnTo>
                    <a:pt x="60260" y="218604"/>
                  </a:lnTo>
                  <a:lnTo>
                    <a:pt x="85159" y="180704"/>
                  </a:lnTo>
                  <a:lnTo>
                    <a:pt x="113712" y="145650"/>
                  </a:lnTo>
                  <a:lnTo>
                    <a:pt x="145651" y="113712"/>
                  </a:lnTo>
                  <a:lnTo>
                    <a:pt x="180704" y="85159"/>
                  </a:lnTo>
                  <a:lnTo>
                    <a:pt x="218604" y="60260"/>
                  </a:lnTo>
                  <a:lnTo>
                    <a:pt x="259081" y="39284"/>
                  </a:lnTo>
                  <a:lnTo>
                    <a:pt x="301866" y="22501"/>
                  </a:lnTo>
                  <a:lnTo>
                    <a:pt x="346689" y="10180"/>
                  </a:lnTo>
                  <a:lnTo>
                    <a:pt x="393282" y="2589"/>
                  </a:lnTo>
                  <a:lnTo>
                    <a:pt x="441375" y="0"/>
                  </a:lnTo>
                  <a:lnTo>
                    <a:pt x="2206823" y="0"/>
                  </a:lnTo>
                  <a:lnTo>
                    <a:pt x="2254915" y="2589"/>
                  </a:lnTo>
                  <a:lnTo>
                    <a:pt x="2301508" y="10180"/>
                  </a:lnTo>
                  <a:lnTo>
                    <a:pt x="2346331" y="22501"/>
                  </a:lnTo>
                  <a:lnTo>
                    <a:pt x="2389116" y="39284"/>
                  </a:lnTo>
                  <a:lnTo>
                    <a:pt x="2429593" y="60260"/>
                  </a:lnTo>
                  <a:lnTo>
                    <a:pt x="2467493" y="85159"/>
                  </a:lnTo>
                  <a:lnTo>
                    <a:pt x="2502547" y="113712"/>
                  </a:lnTo>
                  <a:lnTo>
                    <a:pt x="2534485" y="145650"/>
                  </a:lnTo>
                  <a:lnTo>
                    <a:pt x="2563038" y="180704"/>
                  </a:lnTo>
                  <a:lnTo>
                    <a:pt x="2587937" y="218604"/>
                  </a:lnTo>
                  <a:lnTo>
                    <a:pt x="2608913" y="259081"/>
                  </a:lnTo>
                  <a:lnTo>
                    <a:pt x="2625696" y="301866"/>
                  </a:lnTo>
                  <a:lnTo>
                    <a:pt x="2638017" y="346689"/>
                  </a:lnTo>
                  <a:lnTo>
                    <a:pt x="2645608" y="393281"/>
                  </a:lnTo>
                  <a:lnTo>
                    <a:pt x="2648198" y="441374"/>
                  </a:lnTo>
                  <a:lnTo>
                    <a:pt x="2648198" y="3501233"/>
                  </a:lnTo>
                  <a:lnTo>
                    <a:pt x="2645608" y="3549325"/>
                  </a:lnTo>
                  <a:lnTo>
                    <a:pt x="2638017" y="3595918"/>
                  </a:lnTo>
                  <a:lnTo>
                    <a:pt x="2625696" y="3640741"/>
                  </a:lnTo>
                  <a:lnTo>
                    <a:pt x="2608913" y="3683526"/>
                  </a:lnTo>
                  <a:lnTo>
                    <a:pt x="2587937" y="3724003"/>
                  </a:lnTo>
                  <a:lnTo>
                    <a:pt x="2563038" y="3761903"/>
                  </a:lnTo>
                  <a:lnTo>
                    <a:pt x="2534485" y="3796957"/>
                  </a:lnTo>
                  <a:lnTo>
                    <a:pt x="2502547" y="3828895"/>
                  </a:lnTo>
                  <a:lnTo>
                    <a:pt x="2467493" y="3857448"/>
                  </a:lnTo>
                  <a:lnTo>
                    <a:pt x="2429593" y="3882347"/>
                  </a:lnTo>
                  <a:lnTo>
                    <a:pt x="2389116" y="3903323"/>
                  </a:lnTo>
                  <a:lnTo>
                    <a:pt x="2346331" y="3920106"/>
                  </a:lnTo>
                  <a:lnTo>
                    <a:pt x="2301508" y="3932427"/>
                  </a:lnTo>
                  <a:lnTo>
                    <a:pt x="2254915" y="3940018"/>
                  </a:lnTo>
                  <a:lnTo>
                    <a:pt x="2206823" y="3942608"/>
                  </a:lnTo>
                  <a:lnTo>
                    <a:pt x="441375" y="3942608"/>
                  </a:lnTo>
                  <a:lnTo>
                    <a:pt x="393282" y="3940018"/>
                  </a:lnTo>
                  <a:lnTo>
                    <a:pt x="346689" y="3932427"/>
                  </a:lnTo>
                  <a:lnTo>
                    <a:pt x="301866" y="3920106"/>
                  </a:lnTo>
                  <a:lnTo>
                    <a:pt x="259081" y="3903323"/>
                  </a:lnTo>
                  <a:lnTo>
                    <a:pt x="218604" y="3882347"/>
                  </a:lnTo>
                  <a:lnTo>
                    <a:pt x="180704" y="3857448"/>
                  </a:lnTo>
                  <a:lnTo>
                    <a:pt x="145651" y="3828895"/>
                  </a:lnTo>
                  <a:lnTo>
                    <a:pt x="113712" y="3796957"/>
                  </a:lnTo>
                  <a:lnTo>
                    <a:pt x="85159" y="3761903"/>
                  </a:lnTo>
                  <a:lnTo>
                    <a:pt x="60260" y="3724003"/>
                  </a:lnTo>
                  <a:lnTo>
                    <a:pt x="39284" y="3683526"/>
                  </a:lnTo>
                  <a:lnTo>
                    <a:pt x="22501" y="3640741"/>
                  </a:lnTo>
                  <a:lnTo>
                    <a:pt x="10180" y="3595918"/>
                  </a:lnTo>
                  <a:lnTo>
                    <a:pt x="2589" y="3549325"/>
                  </a:lnTo>
                  <a:lnTo>
                    <a:pt x="0" y="3501233"/>
                  </a:lnTo>
                  <a:lnTo>
                    <a:pt x="0" y="441374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09471" y="2782823"/>
              <a:ext cx="2569464" cy="98450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2105920" y="0"/>
                  </a:moveTo>
                  <a:lnTo>
                    <a:pt x="318447" y="0"/>
                  </a:lnTo>
                  <a:lnTo>
                    <a:pt x="271390" y="3452"/>
                  </a:lnTo>
                  <a:lnTo>
                    <a:pt x="226476" y="13482"/>
                  </a:lnTo>
                  <a:lnTo>
                    <a:pt x="184198" y="29597"/>
                  </a:lnTo>
                  <a:lnTo>
                    <a:pt x="145049" y="51303"/>
                  </a:lnTo>
                  <a:lnTo>
                    <a:pt x="109522" y="78109"/>
                  </a:lnTo>
                  <a:lnTo>
                    <a:pt x="78110" y="109522"/>
                  </a:lnTo>
                  <a:lnTo>
                    <a:pt x="51304" y="145049"/>
                  </a:lnTo>
                  <a:lnTo>
                    <a:pt x="29597" y="184198"/>
                  </a:lnTo>
                  <a:lnTo>
                    <a:pt x="13482" y="226476"/>
                  </a:lnTo>
                  <a:lnTo>
                    <a:pt x="3452" y="271390"/>
                  </a:lnTo>
                  <a:lnTo>
                    <a:pt x="0" y="318448"/>
                  </a:lnTo>
                  <a:lnTo>
                    <a:pt x="0" y="523452"/>
                  </a:lnTo>
                  <a:lnTo>
                    <a:pt x="3452" y="570509"/>
                  </a:lnTo>
                  <a:lnTo>
                    <a:pt x="13482" y="615423"/>
                  </a:lnTo>
                  <a:lnTo>
                    <a:pt x="29597" y="657701"/>
                  </a:lnTo>
                  <a:lnTo>
                    <a:pt x="51304" y="696849"/>
                  </a:lnTo>
                  <a:lnTo>
                    <a:pt x="78110" y="732376"/>
                  </a:lnTo>
                  <a:lnTo>
                    <a:pt x="109522" y="763789"/>
                  </a:lnTo>
                  <a:lnTo>
                    <a:pt x="145049" y="790595"/>
                  </a:lnTo>
                  <a:lnTo>
                    <a:pt x="184198" y="812302"/>
                  </a:lnTo>
                  <a:lnTo>
                    <a:pt x="226476" y="828416"/>
                  </a:lnTo>
                  <a:lnTo>
                    <a:pt x="271390" y="838446"/>
                  </a:lnTo>
                  <a:lnTo>
                    <a:pt x="318447" y="841899"/>
                  </a:lnTo>
                  <a:lnTo>
                    <a:pt x="2105920" y="841899"/>
                  </a:lnTo>
                  <a:lnTo>
                    <a:pt x="2152978" y="838446"/>
                  </a:lnTo>
                  <a:lnTo>
                    <a:pt x="2197892" y="828416"/>
                  </a:lnTo>
                  <a:lnTo>
                    <a:pt x="2240170" y="812302"/>
                  </a:lnTo>
                  <a:lnTo>
                    <a:pt x="2279318" y="790595"/>
                  </a:lnTo>
                  <a:lnTo>
                    <a:pt x="2314845" y="763789"/>
                  </a:lnTo>
                  <a:lnTo>
                    <a:pt x="2346258" y="732376"/>
                  </a:lnTo>
                  <a:lnTo>
                    <a:pt x="2373064" y="696849"/>
                  </a:lnTo>
                  <a:lnTo>
                    <a:pt x="2394770" y="657701"/>
                  </a:lnTo>
                  <a:lnTo>
                    <a:pt x="2410885" y="615423"/>
                  </a:lnTo>
                  <a:lnTo>
                    <a:pt x="2420915" y="570509"/>
                  </a:lnTo>
                  <a:lnTo>
                    <a:pt x="2424368" y="523452"/>
                  </a:lnTo>
                  <a:lnTo>
                    <a:pt x="2424368" y="318448"/>
                  </a:lnTo>
                  <a:lnTo>
                    <a:pt x="2420915" y="271390"/>
                  </a:lnTo>
                  <a:lnTo>
                    <a:pt x="2410885" y="226476"/>
                  </a:lnTo>
                  <a:lnTo>
                    <a:pt x="2394770" y="184198"/>
                  </a:lnTo>
                  <a:lnTo>
                    <a:pt x="2373064" y="145049"/>
                  </a:lnTo>
                  <a:lnTo>
                    <a:pt x="2346258" y="109522"/>
                  </a:lnTo>
                  <a:lnTo>
                    <a:pt x="2314845" y="78109"/>
                  </a:lnTo>
                  <a:lnTo>
                    <a:pt x="2279318" y="51303"/>
                  </a:lnTo>
                  <a:lnTo>
                    <a:pt x="2240170" y="29597"/>
                  </a:lnTo>
                  <a:lnTo>
                    <a:pt x="2197892" y="13482"/>
                  </a:lnTo>
                  <a:lnTo>
                    <a:pt x="2152978" y="3452"/>
                  </a:lnTo>
                  <a:lnTo>
                    <a:pt x="2105920" y="0"/>
                  </a:lnTo>
                  <a:close/>
                </a:path>
              </a:pathLst>
            </a:custGeom>
            <a:solidFill>
              <a:srgbClr val="8537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81920" y="2854646"/>
              <a:ext cx="2424430" cy="842010"/>
            </a:xfrm>
            <a:custGeom>
              <a:avLst/>
              <a:gdLst/>
              <a:ahLst/>
              <a:cxnLst/>
              <a:rect l="l" t="t" r="r" b="b"/>
              <a:pathLst>
                <a:path w="2424429" h="842010">
                  <a:moveTo>
                    <a:pt x="0" y="318448"/>
                  </a:moveTo>
                  <a:lnTo>
                    <a:pt x="3452" y="271390"/>
                  </a:lnTo>
                  <a:lnTo>
                    <a:pt x="13482" y="226476"/>
                  </a:lnTo>
                  <a:lnTo>
                    <a:pt x="29597" y="184198"/>
                  </a:lnTo>
                  <a:lnTo>
                    <a:pt x="51303" y="145049"/>
                  </a:lnTo>
                  <a:lnTo>
                    <a:pt x="78109" y="109522"/>
                  </a:lnTo>
                  <a:lnTo>
                    <a:pt x="109522" y="78109"/>
                  </a:lnTo>
                  <a:lnTo>
                    <a:pt x="145049" y="51303"/>
                  </a:lnTo>
                  <a:lnTo>
                    <a:pt x="184198" y="29597"/>
                  </a:lnTo>
                  <a:lnTo>
                    <a:pt x="226475" y="13482"/>
                  </a:lnTo>
                  <a:lnTo>
                    <a:pt x="271389" y="3452"/>
                  </a:lnTo>
                  <a:lnTo>
                    <a:pt x="318447" y="0"/>
                  </a:lnTo>
                  <a:lnTo>
                    <a:pt x="2105921" y="0"/>
                  </a:lnTo>
                  <a:lnTo>
                    <a:pt x="2152978" y="3452"/>
                  </a:lnTo>
                  <a:lnTo>
                    <a:pt x="2197892" y="13482"/>
                  </a:lnTo>
                  <a:lnTo>
                    <a:pt x="2240170" y="29597"/>
                  </a:lnTo>
                  <a:lnTo>
                    <a:pt x="2279318" y="51303"/>
                  </a:lnTo>
                  <a:lnTo>
                    <a:pt x="2314845" y="78109"/>
                  </a:lnTo>
                  <a:lnTo>
                    <a:pt x="2346258" y="109522"/>
                  </a:lnTo>
                  <a:lnTo>
                    <a:pt x="2373064" y="145049"/>
                  </a:lnTo>
                  <a:lnTo>
                    <a:pt x="2394770" y="184198"/>
                  </a:lnTo>
                  <a:lnTo>
                    <a:pt x="2410885" y="226476"/>
                  </a:lnTo>
                  <a:lnTo>
                    <a:pt x="2420915" y="271390"/>
                  </a:lnTo>
                  <a:lnTo>
                    <a:pt x="2424368" y="318448"/>
                  </a:lnTo>
                  <a:lnTo>
                    <a:pt x="2424368" y="523451"/>
                  </a:lnTo>
                  <a:lnTo>
                    <a:pt x="2420915" y="570508"/>
                  </a:lnTo>
                  <a:lnTo>
                    <a:pt x="2410885" y="615423"/>
                  </a:lnTo>
                  <a:lnTo>
                    <a:pt x="2394770" y="657700"/>
                  </a:lnTo>
                  <a:lnTo>
                    <a:pt x="2373064" y="696849"/>
                  </a:lnTo>
                  <a:lnTo>
                    <a:pt x="2346258" y="732376"/>
                  </a:lnTo>
                  <a:lnTo>
                    <a:pt x="2314845" y="763789"/>
                  </a:lnTo>
                  <a:lnTo>
                    <a:pt x="2279318" y="790595"/>
                  </a:lnTo>
                  <a:lnTo>
                    <a:pt x="2240170" y="812301"/>
                  </a:lnTo>
                  <a:lnTo>
                    <a:pt x="2197892" y="828416"/>
                  </a:lnTo>
                  <a:lnTo>
                    <a:pt x="2152978" y="838446"/>
                  </a:lnTo>
                  <a:lnTo>
                    <a:pt x="2105921" y="841899"/>
                  </a:lnTo>
                  <a:lnTo>
                    <a:pt x="318447" y="841899"/>
                  </a:lnTo>
                  <a:lnTo>
                    <a:pt x="271389" y="838446"/>
                  </a:lnTo>
                  <a:lnTo>
                    <a:pt x="226475" y="828416"/>
                  </a:lnTo>
                  <a:lnTo>
                    <a:pt x="184198" y="812301"/>
                  </a:lnTo>
                  <a:lnTo>
                    <a:pt x="145049" y="790595"/>
                  </a:lnTo>
                  <a:lnTo>
                    <a:pt x="109522" y="763789"/>
                  </a:lnTo>
                  <a:lnTo>
                    <a:pt x="78109" y="732376"/>
                  </a:lnTo>
                  <a:lnTo>
                    <a:pt x="51303" y="696849"/>
                  </a:lnTo>
                  <a:lnTo>
                    <a:pt x="29597" y="657700"/>
                  </a:lnTo>
                  <a:lnTo>
                    <a:pt x="13482" y="615423"/>
                  </a:lnTo>
                  <a:lnTo>
                    <a:pt x="3452" y="570508"/>
                  </a:lnTo>
                  <a:lnTo>
                    <a:pt x="0" y="523451"/>
                  </a:lnTo>
                  <a:lnTo>
                    <a:pt x="0" y="318448"/>
                  </a:lnTo>
                  <a:close/>
                </a:path>
              </a:pathLst>
            </a:custGeom>
            <a:ln w="127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762398" y="2907494"/>
            <a:ext cx="1384935" cy="76644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ctr" marL="12700" marR="5080">
              <a:lnSpc>
                <a:spcPct val="104299"/>
              </a:lnSpc>
              <a:spcBef>
                <a:spcPts val="165"/>
              </a:spcBef>
            </a:pP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Strategic </a:t>
            </a:r>
            <a:r>
              <a:rPr dirty="0" sz="1150" spc="80">
                <a:solidFill>
                  <a:srgbClr val="FFFFFF"/>
                </a:solidFill>
                <a:latin typeface="Arial MT"/>
                <a:cs typeface="Arial MT"/>
              </a:rPr>
              <a:t>alliance </a:t>
            </a:r>
            <a:r>
              <a:rPr dirty="0" sz="1150" spc="145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1150" spc="95">
                <a:solidFill>
                  <a:srgbClr val="FFFFFF"/>
                </a:solidFill>
                <a:latin typeface="Arial MT"/>
                <a:cs typeface="Arial MT"/>
              </a:rPr>
              <a:t> EV</a:t>
            </a: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5">
                <a:solidFill>
                  <a:srgbClr val="FFFFFF"/>
                </a:solidFill>
                <a:latin typeface="Arial MT"/>
                <a:cs typeface="Arial MT"/>
              </a:rPr>
              <a:t>charger </a:t>
            </a:r>
            <a:r>
              <a:rPr dirty="0" sz="1150" spc="110">
                <a:solidFill>
                  <a:srgbClr val="FFFFFF"/>
                </a:solidFill>
                <a:latin typeface="Arial MT"/>
                <a:cs typeface="Arial MT"/>
              </a:rPr>
              <a:t>Manufacturer</a:t>
            </a:r>
            <a:r>
              <a:rPr dirty="0" sz="11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50" spc="100">
                <a:solidFill>
                  <a:srgbClr val="FFFFFF"/>
                </a:solidFill>
                <a:latin typeface="Arial MT"/>
                <a:cs typeface="Arial MT"/>
              </a:rPr>
              <a:t>or </a:t>
            </a:r>
            <a:r>
              <a:rPr dirty="0" sz="1150" spc="114">
                <a:solidFill>
                  <a:srgbClr val="FFFFFF"/>
                </a:solidFill>
                <a:latin typeface="Arial MT"/>
                <a:cs typeface="Arial MT"/>
              </a:rPr>
              <a:t>Distributor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085630" y="3117229"/>
            <a:ext cx="2430780" cy="3408045"/>
            <a:chOff x="1085630" y="3117229"/>
            <a:chExt cx="2430780" cy="3408045"/>
          </a:xfrm>
        </p:grpSpPr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9311" y="3117229"/>
              <a:ext cx="345704" cy="345704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75054" y="3979011"/>
              <a:ext cx="345704" cy="34570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81049" y="4506631"/>
              <a:ext cx="345703" cy="34570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5630" y="4943761"/>
              <a:ext cx="480789" cy="48078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13997" y="5635999"/>
              <a:ext cx="480791" cy="480791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31538" y="6125732"/>
              <a:ext cx="399473" cy="399473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297923" y="3815735"/>
              <a:ext cx="2208530" cy="12065"/>
            </a:xfrm>
            <a:custGeom>
              <a:avLst/>
              <a:gdLst/>
              <a:ahLst/>
              <a:cxnLst/>
              <a:rect l="l" t="t" r="r" b="b"/>
              <a:pathLst>
                <a:path w="2208529" h="12064">
                  <a:moveTo>
                    <a:pt x="0" y="0"/>
                  </a:moveTo>
                  <a:lnTo>
                    <a:pt x="2208448" y="12014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1740927" y="3989832"/>
            <a:ext cx="15068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00">
                <a:latin typeface="Arial MT"/>
                <a:cs typeface="Arial MT"/>
              </a:rPr>
              <a:t>3W-</a:t>
            </a:r>
            <a:r>
              <a:rPr dirty="0" sz="1100">
                <a:latin typeface="Arial MT"/>
                <a:cs typeface="Arial MT"/>
              </a:rPr>
              <a:t>E-RICK,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Car,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LCV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716148" y="4389120"/>
            <a:ext cx="1782445" cy="537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just" marL="12700" marR="5080">
              <a:lnSpc>
                <a:spcPct val="102699"/>
              </a:lnSpc>
              <a:spcBef>
                <a:spcPts val="65"/>
              </a:spcBef>
            </a:pPr>
            <a:r>
              <a:rPr dirty="0" sz="1100" spc="55">
                <a:latin typeface="Arial MT"/>
                <a:cs typeface="Arial MT"/>
              </a:rPr>
              <a:t>Mobile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80">
                <a:latin typeface="Arial MT"/>
                <a:cs typeface="Arial MT"/>
              </a:rPr>
              <a:t>app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+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partnership </a:t>
            </a:r>
            <a:r>
              <a:rPr dirty="0" sz="1100" spc="95">
                <a:latin typeface="Arial MT"/>
                <a:cs typeface="Arial MT"/>
              </a:rPr>
              <a:t>with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manufacturer</a:t>
            </a:r>
            <a:r>
              <a:rPr dirty="0" sz="1100" spc="4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for </a:t>
            </a:r>
            <a:r>
              <a:rPr dirty="0" sz="1100" spc="70">
                <a:latin typeface="Arial MT"/>
                <a:cs typeface="Arial MT"/>
              </a:rPr>
              <a:t>promotions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809319" y="5151120"/>
            <a:ext cx="1376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>
                <a:latin typeface="Arial MT"/>
                <a:cs typeface="Arial MT"/>
              </a:rPr>
              <a:t>Mobile </a:t>
            </a:r>
            <a:r>
              <a:rPr dirty="0" sz="1100">
                <a:latin typeface="Arial MT"/>
                <a:cs typeface="Arial MT"/>
              </a:rPr>
              <a:t>EV</a:t>
            </a:r>
            <a:r>
              <a:rPr dirty="0" sz="1100" spc="55">
                <a:latin typeface="Arial MT"/>
                <a:cs typeface="Arial MT"/>
              </a:rPr>
              <a:t> charging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760983" y="5541264"/>
            <a:ext cx="1832610" cy="5346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5"/>
              </a:spcBef>
            </a:pPr>
            <a:r>
              <a:rPr dirty="0" sz="1100" spc="60">
                <a:latin typeface="Arial MT"/>
                <a:cs typeface="Arial MT"/>
              </a:rPr>
              <a:t>Subscription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based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model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addition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120">
                <a:latin typeface="Arial MT"/>
                <a:cs typeface="Arial MT"/>
              </a:rPr>
              <a:t>to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regular </a:t>
            </a:r>
            <a:r>
              <a:rPr dirty="0" sz="1100" spc="70">
                <a:latin typeface="Arial MT"/>
                <a:cs typeface="Arial MT"/>
              </a:rPr>
              <a:t>pricing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model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809319" y="6227064"/>
            <a:ext cx="15716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5">
                <a:latin typeface="Arial MT"/>
                <a:cs typeface="Arial MT"/>
              </a:rPr>
              <a:t>Engagement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50">
                <a:latin typeface="Arial MT"/>
                <a:cs typeface="Arial MT"/>
              </a:rPr>
              <a:t>activities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707452" y="5666232"/>
            <a:ext cx="17348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90">
                <a:latin typeface="Arial MT"/>
                <a:cs typeface="Arial MT"/>
              </a:rPr>
              <a:t>Network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Interoperability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8" name="object 6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80988" y="1003721"/>
            <a:ext cx="352751" cy="352752"/>
          </a:xfrm>
          <a:prstGeom prst="rect">
            <a:avLst/>
          </a:prstGeom>
        </p:spPr>
      </p:pic>
      <p:sp>
        <p:nvSpPr>
          <p:cNvPr id="69" name="object 69" descr=""/>
          <p:cNvSpPr txBox="1"/>
          <p:nvPr/>
        </p:nvSpPr>
        <p:spPr>
          <a:xfrm>
            <a:off x="1432991" y="1621333"/>
            <a:ext cx="2046605" cy="86423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778510">
              <a:lnSpc>
                <a:spcPct val="100000"/>
              </a:lnSpc>
              <a:spcBef>
                <a:spcPts val="645"/>
              </a:spcBef>
            </a:pPr>
            <a:r>
              <a:rPr dirty="0" sz="1350">
                <a:latin typeface="Arial MT"/>
                <a:cs typeface="Arial MT"/>
              </a:rPr>
              <a:t>1.4</a:t>
            </a:r>
            <a:r>
              <a:rPr dirty="0" sz="1350" spc="50">
                <a:latin typeface="Arial MT"/>
                <a:cs typeface="Arial MT"/>
              </a:rPr>
              <a:t> </a:t>
            </a:r>
            <a:r>
              <a:rPr dirty="0" sz="1350" spc="65">
                <a:latin typeface="Arial MT"/>
                <a:cs typeface="Arial MT"/>
              </a:rPr>
              <a:t>MT</a:t>
            </a:r>
            <a:endParaRPr sz="1350">
              <a:latin typeface="Arial MT"/>
              <a:cs typeface="Arial MT"/>
            </a:endParaRPr>
          </a:p>
          <a:p>
            <a:pPr algn="ctr" marL="12700" marR="5080" indent="-1270">
              <a:lnSpc>
                <a:spcPct val="101800"/>
              </a:lnSpc>
              <a:spcBef>
                <a:spcPts val="405"/>
              </a:spcBef>
            </a:pPr>
            <a:r>
              <a:rPr dirty="0" sz="1100" spc="60">
                <a:latin typeface="Arial MT"/>
                <a:cs typeface="Arial MT"/>
              </a:rPr>
              <a:t>Carbon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emissions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75">
                <a:latin typeface="Arial MT"/>
                <a:cs typeface="Arial MT"/>
              </a:rPr>
              <a:t>offset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per </a:t>
            </a:r>
            <a:r>
              <a:rPr dirty="0" sz="1100" spc="50">
                <a:latin typeface="Arial MT"/>
                <a:cs typeface="Arial MT"/>
              </a:rPr>
              <a:t>vehicle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per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year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100">
                <a:latin typeface="Arial MT"/>
                <a:cs typeface="Arial MT"/>
              </a:rPr>
              <a:t>by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100">
                <a:latin typeface="Arial MT"/>
                <a:cs typeface="Arial MT"/>
              </a:rPr>
              <a:t>of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EV </a:t>
            </a:r>
            <a:r>
              <a:rPr dirty="0" sz="1100" spc="70">
                <a:latin typeface="Arial MT"/>
                <a:cs typeface="Arial MT"/>
              </a:rPr>
              <a:t>technology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916621" y="1636546"/>
            <a:ext cx="2705735" cy="8369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285750">
              <a:lnSpc>
                <a:spcPct val="100000"/>
              </a:lnSpc>
              <a:spcBef>
                <a:spcPts val="525"/>
              </a:spcBef>
            </a:pPr>
            <a:r>
              <a:rPr dirty="0" sz="1350" spc="130">
                <a:latin typeface="Arial MT"/>
                <a:cs typeface="Arial MT"/>
              </a:rPr>
              <a:t>38</a:t>
            </a:r>
            <a:r>
              <a:rPr dirty="0" sz="1350" spc="110">
                <a:latin typeface="Arial MT"/>
                <a:cs typeface="Arial MT"/>
              </a:rPr>
              <a:t> </a:t>
            </a:r>
            <a:r>
              <a:rPr dirty="0" sz="1350" spc="120">
                <a:latin typeface="Arial MT"/>
                <a:cs typeface="Arial MT"/>
              </a:rPr>
              <a:t>kg</a:t>
            </a:r>
            <a:endParaRPr sz="1350">
              <a:latin typeface="Arial MT"/>
              <a:cs typeface="Arial MT"/>
            </a:endParaRPr>
          </a:p>
          <a:p>
            <a:pPr algn="ctr" marL="38100" marR="30480" indent="-635">
              <a:lnSpc>
                <a:spcPct val="101800"/>
              </a:lnSpc>
              <a:spcBef>
                <a:spcPts val="309"/>
              </a:spcBef>
            </a:pPr>
            <a:r>
              <a:rPr dirty="0" sz="1100" spc="10">
                <a:latin typeface="Arial MT"/>
                <a:cs typeface="Arial MT"/>
              </a:rPr>
              <a:t>CO</a:t>
            </a:r>
            <a:r>
              <a:rPr dirty="0" baseline="-18518" sz="1350" spc="15">
                <a:latin typeface="Arial MT"/>
                <a:cs typeface="Arial MT"/>
              </a:rPr>
              <a:t>2</a:t>
            </a:r>
            <a:r>
              <a:rPr dirty="0" baseline="-18518" sz="1350" spc="322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emissions</a:t>
            </a:r>
            <a:r>
              <a:rPr dirty="0" sz="1100" spc="135">
                <a:latin typeface="Arial MT"/>
                <a:cs typeface="Arial MT"/>
              </a:rPr>
              <a:t> </a:t>
            </a:r>
            <a:r>
              <a:rPr dirty="0" sz="1100" spc="10">
                <a:latin typeface="Arial MT"/>
                <a:cs typeface="Arial MT"/>
              </a:rPr>
              <a:t>saved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per</a:t>
            </a:r>
            <a:r>
              <a:rPr dirty="0" sz="1100" spc="135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recharge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 spc="75">
                <a:latin typeface="Arial MT"/>
                <a:cs typeface="Arial MT"/>
              </a:rPr>
              <a:t>by </a:t>
            </a:r>
            <a:r>
              <a:rPr dirty="0" sz="1100" spc="70">
                <a:latin typeface="Arial MT"/>
                <a:cs typeface="Arial MT"/>
              </a:rPr>
              <a:t>deploying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inhouse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solar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infrastructure </a:t>
            </a:r>
            <a:r>
              <a:rPr dirty="0" sz="1100" spc="50">
                <a:latin typeface="Arial MT"/>
                <a:cs typeface="Arial MT"/>
              </a:rPr>
              <a:t>using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75">
                <a:latin typeface="Arial MT"/>
                <a:cs typeface="Arial MT"/>
              </a:rPr>
              <a:t>net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metering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014363" y="1712448"/>
            <a:ext cx="2585720" cy="7550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350" spc="60">
                <a:latin typeface="Arial MT"/>
                <a:cs typeface="Arial MT"/>
              </a:rPr>
              <a:t>67%</a:t>
            </a:r>
            <a:endParaRPr sz="1350">
              <a:latin typeface="Arial MT"/>
              <a:cs typeface="Arial MT"/>
            </a:endParaRPr>
          </a:p>
          <a:p>
            <a:pPr algn="ctr" marL="12065" marR="5080">
              <a:lnSpc>
                <a:spcPct val="102699"/>
              </a:lnSpc>
              <a:spcBef>
                <a:spcPts val="30"/>
              </a:spcBef>
            </a:pPr>
            <a:r>
              <a:rPr dirty="0" sz="1100" spc="65">
                <a:latin typeface="Arial MT"/>
                <a:cs typeface="Arial MT"/>
              </a:rPr>
              <a:t>Estimated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 spc="75">
                <a:latin typeface="Arial MT"/>
                <a:cs typeface="Arial MT"/>
              </a:rPr>
              <a:t>reduction</a:t>
            </a:r>
            <a:r>
              <a:rPr dirty="0" sz="1100" spc="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55">
                <a:latin typeface="Arial MT"/>
                <a:cs typeface="Arial MT"/>
              </a:rPr>
              <a:t>infrastructure </a:t>
            </a:r>
            <a:r>
              <a:rPr dirty="0" sz="1100" spc="60">
                <a:latin typeface="Arial MT"/>
                <a:cs typeface="Arial MT"/>
              </a:rPr>
              <a:t>requirements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100">
                <a:latin typeface="Arial MT"/>
                <a:cs typeface="Arial MT"/>
              </a:rPr>
              <a:t>by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75">
                <a:latin typeface="Arial MT"/>
                <a:cs typeface="Arial MT"/>
              </a:rPr>
              <a:t>implementing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45">
                <a:latin typeface="Arial MT"/>
                <a:cs typeface="Arial MT"/>
              </a:rPr>
              <a:t>AI </a:t>
            </a:r>
            <a:r>
              <a:rPr dirty="0" sz="1100" spc="50">
                <a:latin typeface="Arial MT"/>
                <a:cs typeface="Arial MT"/>
              </a:rPr>
              <a:t>based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70">
                <a:latin typeface="Arial MT"/>
                <a:cs typeface="Arial MT"/>
              </a:rPr>
              <a:t>smart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65">
                <a:latin typeface="Arial MT"/>
                <a:cs typeface="Arial MT"/>
              </a:rPr>
              <a:t>charging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60">
                <a:latin typeface="Arial MT"/>
                <a:cs typeface="Arial MT"/>
              </a:rPr>
              <a:t>tools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2458643" y="1166122"/>
            <a:ext cx="2670810" cy="489584"/>
          </a:xfrm>
          <a:custGeom>
            <a:avLst/>
            <a:gdLst/>
            <a:ahLst/>
            <a:cxnLst/>
            <a:rect l="l" t="t" r="r" b="b"/>
            <a:pathLst>
              <a:path w="2670810" h="489585">
                <a:moveTo>
                  <a:pt x="28575" y="413080"/>
                </a:moveTo>
                <a:lnTo>
                  <a:pt x="0" y="413080"/>
                </a:lnTo>
                <a:lnTo>
                  <a:pt x="38100" y="489280"/>
                </a:lnTo>
                <a:lnTo>
                  <a:pt x="69850" y="425780"/>
                </a:lnTo>
                <a:lnTo>
                  <a:pt x="28575" y="425780"/>
                </a:lnTo>
                <a:lnTo>
                  <a:pt x="28575" y="413080"/>
                </a:lnTo>
                <a:close/>
              </a:path>
              <a:path w="2670810" h="489585">
                <a:moveTo>
                  <a:pt x="2670667" y="0"/>
                </a:moveTo>
                <a:lnTo>
                  <a:pt x="28575" y="0"/>
                </a:lnTo>
                <a:lnTo>
                  <a:pt x="28575" y="425780"/>
                </a:lnTo>
                <a:lnTo>
                  <a:pt x="47625" y="425780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2670667" y="9525"/>
                </a:lnTo>
                <a:lnTo>
                  <a:pt x="2670667" y="0"/>
                </a:lnTo>
                <a:close/>
              </a:path>
              <a:path w="2670810" h="489585">
                <a:moveTo>
                  <a:pt x="76200" y="413080"/>
                </a:moveTo>
                <a:lnTo>
                  <a:pt x="47625" y="413080"/>
                </a:lnTo>
                <a:lnTo>
                  <a:pt x="47625" y="425780"/>
                </a:lnTo>
                <a:lnTo>
                  <a:pt x="69850" y="425780"/>
                </a:lnTo>
                <a:lnTo>
                  <a:pt x="76200" y="413080"/>
                </a:lnTo>
                <a:close/>
              </a:path>
              <a:path w="2670810" h="489585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2670810" h="489585">
                <a:moveTo>
                  <a:pt x="2670667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2670667" y="19050"/>
                </a:lnTo>
                <a:lnTo>
                  <a:pt x="2670667" y="9525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7071813" y="1169299"/>
            <a:ext cx="3246755" cy="508000"/>
          </a:xfrm>
          <a:custGeom>
            <a:avLst/>
            <a:gdLst/>
            <a:ahLst/>
            <a:cxnLst/>
            <a:rect l="l" t="t" r="r" b="b"/>
            <a:pathLst>
              <a:path w="3246754" h="508000">
                <a:moveTo>
                  <a:pt x="3201709" y="431802"/>
                </a:moveTo>
                <a:lnTo>
                  <a:pt x="3169959" y="431802"/>
                </a:lnTo>
                <a:lnTo>
                  <a:pt x="3208059" y="508002"/>
                </a:lnTo>
                <a:lnTo>
                  <a:pt x="3239809" y="444502"/>
                </a:lnTo>
                <a:lnTo>
                  <a:pt x="3201709" y="444502"/>
                </a:lnTo>
                <a:lnTo>
                  <a:pt x="3201709" y="431802"/>
                </a:lnTo>
                <a:close/>
              </a:path>
              <a:path w="3246754" h="508000">
                <a:moveTo>
                  <a:pt x="3201709" y="6350"/>
                </a:moveTo>
                <a:lnTo>
                  <a:pt x="3201709" y="444502"/>
                </a:lnTo>
                <a:lnTo>
                  <a:pt x="3214409" y="444502"/>
                </a:lnTo>
                <a:lnTo>
                  <a:pt x="3214409" y="12700"/>
                </a:lnTo>
                <a:lnTo>
                  <a:pt x="3208059" y="12700"/>
                </a:lnTo>
                <a:lnTo>
                  <a:pt x="3201709" y="6350"/>
                </a:lnTo>
                <a:close/>
              </a:path>
              <a:path w="3246754" h="508000">
                <a:moveTo>
                  <a:pt x="3246159" y="431802"/>
                </a:moveTo>
                <a:lnTo>
                  <a:pt x="3214409" y="431802"/>
                </a:lnTo>
                <a:lnTo>
                  <a:pt x="3214409" y="444502"/>
                </a:lnTo>
                <a:lnTo>
                  <a:pt x="3239809" y="444502"/>
                </a:lnTo>
                <a:lnTo>
                  <a:pt x="3246159" y="431802"/>
                </a:lnTo>
                <a:close/>
              </a:path>
              <a:path w="3246754" h="508000">
                <a:moveTo>
                  <a:pt x="3214409" y="0"/>
                </a:moveTo>
                <a:lnTo>
                  <a:pt x="0" y="0"/>
                </a:lnTo>
                <a:lnTo>
                  <a:pt x="0" y="12700"/>
                </a:lnTo>
                <a:lnTo>
                  <a:pt x="3201709" y="12700"/>
                </a:lnTo>
                <a:lnTo>
                  <a:pt x="3201709" y="6350"/>
                </a:lnTo>
                <a:lnTo>
                  <a:pt x="3214409" y="6350"/>
                </a:lnTo>
                <a:lnTo>
                  <a:pt x="3214409" y="0"/>
                </a:lnTo>
                <a:close/>
              </a:path>
              <a:path w="3246754" h="508000">
                <a:moveTo>
                  <a:pt x="3214409" y="6350"/>
                </a:moveTo>
                <a:lnTo>
                  <a:pt x="3201709" y="6350"/>
                </a:lnTo>
                <a:lnTo>
                  <a:pt x="3208059" y="12700"/>
                </a:lnTo>
                <a:lnTo>
                  <a:pt x="3214409" y="12700"/>
                </a:lnTo>
                <a:lnTo>
                  <a:pt x="3214409" y="635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6059029" y="1344832"/>
            <a:ext cx="76200" cy="309880"/>
          </a:xfrm>
          <a:custGeom>
            <a:avLst/>
            <a:gdLst/>
            <a:ahLst/>
            <a:cxnLst/>
            <a:rect l="l" t="t" r="r" b="b"/>
            <a:pathLst>
              <a:path w="76200" h="309880">
                <a:moveTo>
                  <a:pt x="0" y="232511"/>
                </a:moveTo>
                <a:lnTo>
                  <a:pt x="36970" y="309265"/>
                </a:lnTo>
                <a:lnTo>
                  <a:pt x="69848" y="245866"/>
                </a:lnTo>
                <a:lnTo>
                  <a:pt x="44256" y="245866"/>
                </a:lnTo>
                <a:lnTo>
                  <a:pt x="31558" y="245678"/>
                </a:lnTo>
                <a:lnTo>
                  <a:pt x="31735" y="233636"/>
                </a:lnTo>
                <a:lnTo>
                  <a:pt x="31745" y="232980"/>
                </a:lnTo>
                <a:lnTo>
                  <a:pt x="0" y="232511"/>
                </a:lnTo>
                <a:close/>
              </a:path>
              <a:path w="76200" h="309880">
                <a:moveTo>
                  <a:pt x="31745" y="232980"/>
                </a:moveTo>
                <a:lnTo>
                  <a:pt x="31558" y="245678"/>
                </a:lnTo>
                <a:lnTo>
                  <a:pt x="44256" y="245866"/>
                </a:lnTo>
                <a:lnTo>
                  <a:pt x="44437" y="233636"/>
                </a:lnTo>
                <a:lnTo>
                  <a:pt x="44444" y="233167"/>
                </a:lnTo>
                <a:lnTo>
                  <a:pt x="31745" y="232980"/>
                </a:lnTo>
                <a:close/>
              </a:path>
              <a:path w="76200" h="309880">
                <a:moveTo>
                  <a:pt x="44444" y="233167"/>
                </a:moveTo>
                <a:lnTo>
                  <a:pt x="44259" y="245678"/>
                </a:lnTo>
                <a:lnTo>
                  <a:pt x="44256" y="245866"/>
                </a:lnTo>
                <a:lnTo>
                  <a:pt x="69848" y="245866"/>
                </a:lnTo>
                <a:lnTo>
                  <a:pt x="76191" y="233636"/>
                </a:lnTo>
                <a:lnTo>
                  <a:pt x="44444" y="233167"/>
                </a:lnTo>
                <a:close/>
              </a:path>
              <a:path w="76200" h="309880">
                <a:moveTo>
                  <a:pt x="35184" y="0"/>
                </a:moveTo>
                <a:lnTo>
                  <a:pt x="31752" y="232511"/>
                </a:lnTo>
                <a:lnTo>
                  <a:pt x="31745" y="232980"/>
                </a:lnTo>
                <a:lnTo>
                  <a:pt x="44444" y="233167"/>
                </a:lnTo>
                <a:lnTo>
                  <a:pt x="47882" y="187"/>
                </a:lnTo>
                <a:lnTo>
                  <a:pt x="35184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5" name="object 7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224992" y="1754125"/>
            <a:ext cx="415497" cy="415498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83613" y="1793859"/>
            <a:ext cx="464400" cy="464400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151655" y="6601459"/>
            <a:ext cx="12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0"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2025-09-04T17:45:42Z</dcterms:created>
  <dcterms:modified xsi:type="dcterms:W3CDTF">2025-09-04T17:45:42Z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2025-09-04T00:00:00Z</vt:filetime>
  </property>
  <property fmtid="{D5CDD505-2E9C-101B-9397-08002B2CF9AE}" pid="3" name="LastSaved">
    <vt:filetime>2025-09-04T00:00:00Z</vt:filetime>
  </property>
</Properties>
</file>