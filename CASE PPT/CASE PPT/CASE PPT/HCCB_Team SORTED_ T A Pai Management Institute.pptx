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2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Ex3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4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0009"/>
    <a:srgbClr val="00B0F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Book2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Book2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Gotham"/>
                <a:ea typeface="+mn-ea"/>
                <a:cs typeface="+mn-cs"/>
              </a:defRPr>
            </a:pPr>
            <a:r>
              <a:rPr lang="en-IN" b="1">
                <a:solidFill>
                  <a:schemeClr val="tx1"/>
                </a:solidFill>
              </a:rPr>
              <a:t>Fuel Consumption per day and # of units required over the years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Gotham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3992293944529538E-2"/>
          <c:y val="0.20971066442767322"/>
          <c:w val="0.94437624627258798"/>
          <c:h val="0.53041627601974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'Intra Unit'!$F$3</c:f>
              <c:strCache>
                <c:ptCount val="1"/>
                <c:pt idx="0">
                  <c:v>Fuel Consumption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'Intra Unit'!$E$4:$E$12</c:f>
              <c:numCache>
                <c:formatCode>General</c:formatCode>
                <c:ptCount val="9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</c:numCache>
            </c:numRef>
          </c:cat>
          <c:val>
            <c:numRef>
              <c:f>'Intra Unit'!$F$4:$F$12</c:f>
              <c:numCache>
                <c:formatCode>0.00</c:formatCode>
                <c:ptCount val="9"/>
                <c:pt idx="0">
                  <c:v>1700</c:v>
                </c:pt>
                <c:pt idx="1">
                  <c:v>2040</c:v>
                </c:pt>
                <c:pt idx="2">
                  <c:v>2448</c:v>
                </c:pt>
                <c:pt idx="3">
                  <c:v>2937.6</c:v>
                </c:pt>
                <c:pt idx="4">
                  <c:v>3525.1199999999994</c:v>
                </c:pt>
                <c:pt idx="5">
                  <c:v>4230.1439999999993</c:v>
                </c:pt>
                <c:pt idx="6">
                  <c:v>5076.1727999999994</c:v>
                </c:pt>
                <c:pt idx="7">
                  <c:v>6091.4073599999992</c:v>
                </c:pt>
                <c:pt idx="8">
                  <c:v>7309.6888319999989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B6-407A-ABAD-45A78A974187}"/>
            </c:ext>
          </c:extLst>
        </c:ser>
        <c:ser>
          <c:idx val="1"/>
          <c:order val="1"/>
          <c:tx>
            <c:strRef>
              <c:f>'Intra Unit'!$H$3</c:f>
              <c:strCache>
                <c:ptCount val="1"/>
                <c:pt idx="0">
                  <c:v># of units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r"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'Intra Unit'!$E$4:$E$12</c:f>
              <c:numCache>
                <c:formatCode>General</c:formatCode>
                <c:ptCount val="9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</c:numCache>
            </c:numRef>
          </c:cat>
          <c:val>
            <c:numRef>
              <c:f>'Intra Unit'!$H$4:$H$12</c:f>
              <c:numCache>
                <c:formatCode>0</c:formatCode>
                <c:ptCount val="9"/>
                <c:pt idx="0">
                  <c:v>255</c:v>
                </c:pt>
                <c:pt idx="1">
                  <c:v>306</c:v>
                </c:pt>
                <c:pt idx="2">
                  <c:v>367.2</c:v>
                </c:pt>
                <c:pt idx="3">
                  <c:v>440.64</c:v>
                </c:pt>
                <c:pt idx="4">
                  <c:v>528.76799999999992</c:v>
                </c:pt>
                <c:pt idx="5">
                  <c:v>634.52159999999992</c:v>
                </c:pt>
                <c:pt idx="6">
                  <c:v>761.42591999999991</c:v>
                </c:pt>
                <c:pt idx="7">
                  <c:v>913.71110399999986</c:v>
                </c:pt>
                <c:pt idx="8">
                  <c:v>1096.4533247999998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B6-407A-ABAD-45A78A9741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09178159"/>
        <c:axId val="1509183983"/>
      </c:barChart>
      <c:catAx>
        <c:axId val="1509178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otham"/>
                <a:ea typeface="+mn-ea"/>
                <a:cs typeface="+mn-cs"/>
              </a:defRPr>
            </a:pPr>
            <a:endParaRPr lang="en-US"/>
          </a:p>
        </c:txPr>
        <c:crossAx val="1509183983"/>
        <c:crosses val="autoZero"/>
        <c:auto val="1"/>
        <c:lblAlgn val="ctr"/>
        <c:lblOffset val="100"/>
        <c:noMultiLvlLbl val="0"/>
      </c:catAx>
      <c:valAx>
        <c:axId val="1509183983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509178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otham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latin typeface="Gotham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Gotham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Gotham"/>
              </a:rPr>
              <a:t>Fuel Consumption per day(in</a:t>
            </a:r>
            <a:r>
              <a:rPr lang="en-US" b="1" baseline="0" dirty="0">
                <a:solidFill>
                  <a:schemeClr val="tx1"/>
                </a:solidFill>
                <a:latin typeface="Gotham"/>
              </a:rPr>
              <a:t> </a:t>
            </a:r>
            <a:r>
              <a:rPr lang="en-US" b="1" baseline="0" dirty="0" err="1">
                <a:solidFill>
                  <a:schemeClr val="tx1"/>
                </a:solidFill>
                <a:latin typeface="Gotham"/>
              </a:rPr>
              <a:t>litres</a:t>
            </a:r>
            <a:r>
              <a:rPr lang="en-US" b="1" baseline="0" dirty="0">
                <a:solidFill>
                  <a:schemeClr val="tx1"/>
                </a:solidFill>
                <a:latin typeface="Gotham"/>
              </a:rPr>
              <a:t>)</a:t>
            </a:r>
            <a:endParaRPr lang="en-US" b="1" dirty="0">
              <a:solidFill>
                <a:schemeClr val="tx1"/>
              </a:solidFill>
              <a:latin typeface="Gotham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Gotham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'Inter Unit'!$F$2</c:f>
              <c:strCache>
                <c:ptCount val="1"/>
                <c:pt idx="0">
                  <c:v>Fuel Consumption per day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cat>
            <c:numRef>
              <c:f>'Inter Unit'!$E$3:$E$11</c:f>
              <c:numCache>
                <c:formatCode>General</c:formatCode>
                <c:ptCount val="9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</c:numCache>
            </c:numRef>
          </c:cat>
          <c:val>
            <c:numRef>
              <c:f>'Inter Unit'!$F$3:$F$11</c:f>
              <c:numCache>
                <c:formatCode>0.00</c:formatCode>
                <c:ptCount val="9"/>
                <c:pt idx="0">
                  <c:v>95060</c:v>
                </c:pt>
                <c:pt idx="1">
                  <c:v>114072</c:v>
                </c:pt>
                <c:pt idx="2">
                  <c:v>136886.39999999999</c:v>
                </c:pt>
                <c:pt idx="3">
                  <c:v>164263.67999999999</c:v>
                </c:pt>
                <c:pt idx="4">
                  <c:v>197116.41599999997</c:v>
                </c:pt>
                <c:pt idx="5">
                  <c:v>236539.69919999994</c:v>
                </c:pt>
                <c:pt idx="6">
                  <c:v>283847.63903999992</c:v>
                </c:pt>
                <c:pt idx="7">
                  <c:v>340617.16684799991</c:v>
                </c:pt>
                <c:pt idx="8">
                  <c:v>408740.60021759989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F5-4E89-845F-F0372F8C0D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09162591"/>
        <c:axId val="1509163007"/>
      </c:barChart>
      <c:catAx>
        <c:axId val="1509162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9163007"/>
        <c:crosses val="autoZero"/>
        <c:auto val="1"/>
        <c:lblAlgn val="ctr"/>
        <c:lblOffset val="100"/>
        <c:noMultiLvlLbl val="0"/>
      </c:catAx>
      <c:valAx>
        <c:axId val="1509163007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509162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Gotham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Gotham"/>
              </a:rPr>
              <a:t>Fuel Consumption per day</a:t>
            </a:r>
            <a:r>
              <a:rPr lang="en-US" b="1" baseline="0" dirty="0">
                <a:solidFill>
                  <a:schemeClr val="tx1"/>
                </a:solidFill>
                <a:latin typeface="Gotham"/>
              </a:rPr>
              <a:t> (in </a:t>
            </a:r>
            <a:r>
              <a:rPr lang="en-US" b="1" baseline="0" dirty="0" err="1">
                <a:solidFill>
                  <a:schemeClr val="tx1"/>
                </a:solidFill>
                <a:latin typeface="Gotham"/>
              </a:rPr>
              <a:t>litres</a:t>
            </a:r>
            <a:r>
              <a:rPr lang="en-US" b="1" baseline="0" dirty="0">
                <a:solidFill>
                  <a:schemeClr val="tx1"/>
                </a:solidFill>
                <a:latin typeface="Gotham"/>
              </a:rPr>
              <a:t>)</a:t>
            </a:r>
            <a:endParaRPr lang="en-US" b="1" dirty="0">
              <a:solidFill>
                <a:schemeClr val="tx1"/>
              </a:solidFill>
              <a:latin typeface="Gotham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Gotham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'Customer Movement'!$F$2</c:f>
              <c:strCache>
                <c:ptCount val="1"/>
                <c:pt idx="0">
                  <c:v>Fuel Consumption per day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cat>
            <c:numRef>
              <c:f>'Customer Movement'!$E$3:$E$11</c:f>
              <c:numCache>
                <c:formatCode>General</c:formatCode>
                <c:ptCount val="9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</c:numCache>
            </c:numRef>
          </c:cat>
          <c:val>
            <c:numRef>
              <c:f>'Customer Movement'!$F$3:$F$11</c:f>
              <c:numCache>
                <c:formatCode>General</c:formatCode>
                <c:ptCount val="9"/>
                <c:pt idx="0">
                  <c:v>103644.44444444444</c:v>
                </c:pt>
                <c:pt idx="1">
                  <c:v>124373.33333333333</c:v>
                </c:pt>
                <c:pt idx="2">
                  <c:v>149248</c:v>
                </c:pt>
                <c:pt idx="3">
                  <c:v>179097.60000000001</c:v>
                </c:pt>
                <c:pt idx="4">
                  <c:v>214917.12</c:v>
                </c:pt>
                <c:pt idx="5">
                  <c:v>257900.54399999997</c:v>
                </c:pt>
                <c:pt idx="6">
                  <c:v>309480.65279999998</c:v>
                </c:pt>
                <c:pt idx="7">
                  <c:v>371376.78335999994</c:v>
                </c:pt>
                <c:pt idx="8">
                  <c:v>445652.14003199991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3C-49E4-B603-3AA6B2BCD7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57927359"/>
        <c:axId val="1257926943"/>
      </c:barChart>
      <c:catAx>
        <c:axId val="1257927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926943"/>
        <c:crosses val="autoZero"/>
        <c:auto val="1"/>
        <c:lblAlgn val="ctr"/>
        <c:lblOffset val="100"/>
        <c:noMultiLvlLbl val="0"/>
      </c:catAx>
      <c:valAx>
        <c:axId val="12579269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927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Gotham"/>
                <a:ea typeface="+mn-ea"/>
                <a:cs typeface="+mn-cs"/>
              </a:defRPr>
            </a:pPr>
            <a:r>
              <a:rPr lang="en-IN" b="1">
                <a:solidFill>
                  <a:schemeClr val="tx1"/>
                </a:solidFill>
                <a:latin typeface="Gotham"/>
              </a:rPr>
              <a:t>Carbon emissions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Gotham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'Carbon Emission '!$A$15</c:f>
              <c:strCache>
                <c:ptCount val="1"/>
                <c:pt idx="0">
                  <c:v>Current Scenario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'Carbon Emission '!$B$14:$J$14</c:f>
              <c:numCache>
                <c:formatCode>General</c:formatCode>
                <c:ptCount val="9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</c:numCache>
            </c:numRef>
          </c:cat>
          <c:val>
            <c:numRef>
              <c:f>'Carbon Emission '!$B$15:$J$15</c:f>
              <c:numCache>
                <c:formatCode>0%</c:formatCode>
                <c:ptCount val="9"/>
                <c:pt idx="0">
                  <c:v>1</c:v>
                </c:pt>
                <c:pt idx="1">
                  <c:v>1.1499999999999999</c:v>
                </c:pt>
                <c:pt idx="2">
                  <c:v>1.3224999999999998</c:v>
                </c:pt>
                <c:pt idx="3">
                  <c:v>1.5208749999999995</c:v>
                </c:pt>
                <c:pt idx="4">
                  <c:v>1.7490062499999994</c:v>
                </c:pt>
                <c:pt idx="5">
                  <c:v>2.0113571874999994</c:v>
                </c:pt>
                <c:pt idx="6">
                  <c:v>2.3130607656249991</c:v>
                </c:pt>
                <c:pt idx="7">
                  <c:v>2.6600198804687487</c:v>
                </c:pt>
                <c:pt idx="8">
                  <c:v>3.0590228625390607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8A-428B-B7A7-52684790E135}"/>
            </c:ext>
          </c:extLst>
        </c:ser>
        <c:ser>
          <c:idx val="1"/>
          <c:order val="1"/>
          <c:tx>
            <c:strRef>
              <c:f>'Carbon Emission '!$A$16</c:f>
              <c:strCache>
                <c:ptCount val="1"/>
                <c:pt idx="0">
                  <c:v>Post implmentation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'Carbon Emission '!$B$14:$J$14</c:f>
              <c:numCache>
                <c:formatCode>General</c:formatCode>
                <c:ptCount val="9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</c:numCache>
            </c:numRef>
          </c:cat>
          <c:val>
            <c:numRef>
              <c:f>'Carbon Emission '!$B$16:$J$16</c:f>
              <c:numCache>
                <c:formatCode>0.0000%</c:formatCode>
                <c:ptCount val="9"/>
                <c:pt idx="0" formatCode="0%">
                  <c:v>1</c:v>
                </c:pt>
                <c:pt idx="1">
                  <c:v>1.1384999999999998</c:v>
                </c:pt>
                <c:pt idx="2">
                  <c:v>1.2563749999999998</c:v>
                </c:pt>
                <c:pt idx="3">
                  <c:v>1.3687874999999996</c:v>
                </c:pt>
                <c:pt idx="4">
                  <c:v>1.4866553124999995</c:v>
                </c:pt>
                <c:pt idx="5">
                  <c:v>1.6090857499999995</c:v>
                </c:pt>
                <c:pt idx="6">
                  <c:v>1.7347955742187493</c:v>
                </c:pt>
                <c:pt idx="7">
                  <c:v>1.7290129223046866</c:v>
                </c:pt>
                <c:pt idx="8">
                  <c:v>1.6824625743964836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8A-428B-B7A7-52684790E1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49316927"/>
        <c:axId val="1347593135"/>
      </c:areaChart>
      <c:catAx>
        <c:axId val="134931692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7593135"/>
        <c:crosses val="autoZero"/>
        <c:auto val="1"/>
        <c:lblAlgn val="ctr"/>
        <c:lblOffset val="100"/>
        <c:noMultiLvlLbl val="0"/>
      </c:catAx>
      <c:valAx>
        <c:axId val="134759313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3493169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'Intra Unit'!$E$4:$E$12</cx:f>
        <cx:lvl ptCount="9" formatCode="General">
          <cx:pt idx="0">2022</cx:pt>
          <cx:pt idx="1">2023</cx:pt>
          <cx:pt idx="2">2024</cx:pt>
          <cx:pt idx="3">2025</cx:pt>
          <cx:pt idx="4">2026</cx:pt>
          <cx:pt idx="5">2027</cx:pt>
          <cx:pt idx="6">2028</cx:pt>
          <cx:pt idx="7">2029</cx:pt>
          <cx:pt idx="8">2030</cx:pt>
        </cx:lvl>
      </cx:numDim>
    </cx:data>
    <cx:data id="1">
      <cx:numDim type="val">
        <cx:f>'Intra Unit'!$G$4:$G$12</cx:f>
        <cx:lvl ptCount="9" formatCode="0.00">
          <cx:pt idx="0">4590</cx:pt>
          <cx:pt idx="1">5508</cx:pt>
          <cx:pt idx="2">6609.5999999999995</cx:pt>
          <cx:pt idx="3">7931.5199999999995</cx:pt>
          <cx:pt idx="4">9517.8239999999987</cx:pt>
          <cx:pt idx="5">11421.388799999999</cx:pt>
          <cx:pt idx="6">13705.666559999998</cx:pt>
          <cx:pt idx="7">16446.799871999996</cx:pt>
          <cx:pt idx="8">19736.159846399998</cx:pt>
        </cx:lvl>
      </cx:numDim>
    </cx:data>
  </cx:chartData>
  <cx:chart>
    <cx:title pos="t" align="ctr" overlay="0">
      <cx:tx>
        <cx:txData>
          <cx:v>Incremental increase in Emissions over the years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b="1">
              <a:solidFill>
                <a:schemeClr val="tx1"/>
              </a:solidFill>
              <a:latin typeface="Gotham"/>
              <a:ea typeface="Gotham"/>
              <a:cs typeface="Gotham"/>
            </a:defRPr>
          </a:pPr>
          <a:r>
            <a:rPr lang="en-US" sz="1400" b="1" i="0" u="none" strike="noStrike" baseline="0" dirty="0">
              <a:solidFill>
                <a:schemeClr val="tx1"/>
              </a:solidFill>
              <a:latin typeface="Gotham"/>
            </a:rPr>
            <a:t>Incremental increase in Emissions over the years</a:t>
          </a:r>
        </a:p>
      </cx:txPr>
    </cx:title>
    <cx:plotArea>
      <cx:plotAreaRegion>
        <cx:series layoutId="waterfall" uniqueId="{C60B9300-A68A-40B1-BFA4-C8B34DB3DEDC}" formatIdx="0">
          <cx:tx>
            <cx:txData>
              <cx:f>'Intra Unit'!$E$3</cx:f>
              <cx:v>Year</cx:v>
            </cx:txData>
          </cx:tx>
          <cx:spPr>
            <a:solidFill>
              <a:schemeClr val="bg1">
                <a:lumMod val="50000"/>
              </a:schemeClr>
            </a:solidFill>
          </cx:spPr>
          <cx:dataLabels pos="outEnd">
            <cx:visibility seriesName="0" categoryName="0" value="1"/>
          </cx:dataLabels>
          <cx:dataId val="0"/>
          <cx:layoutPr>
            <cx:subtotals/>
          </cx:layoutPr>
        </cx:series>
        <cx:series layoutId="waterfall" hidden="1" uniqueId="{E34B1D84-00C2-48F8-8EDC-54C98874DF1D}" formatIdx="1">
          <cx:tx>
            <cx:txData>
              <cx:f>'Intra Unit'!$G$3</cx:f>
              <cx:v>Emissions</cx:v>
            </cx:txData>
          </cx:tx>
          <cx:dataLabels pos="outEnd">
            <cx:visibility seriesName="0" categoryName="0" value="1"/>
          </cx:dataLabels>
          <cx:dataId val="1"/>
          <cx:layoutPr>
            <cx:subtotals/>
          </cx:layoutPr>
        </cx:series>
      </cx:plotAreaRegion>
      <cx:axis id="0" hidden="1">
        <cx:catScaling gapWidth="0.5"/>
        <cx:tickLabels/>
      </cx:axis>
      <cx:axis id="1" hidden="1">
        <cx:valScaling/>
        <cx:tickLabels/>
      </cx:axis>
    </cx:plotArea>
  </cx:chart>
  <cx:spPr>
    <a:ln>
      <a:solidFill>
        <a:schemeClr val="tx1"/>
      </a:solidFill>
    </a:ln>
  </cx:spPr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'Inter Unit'!$E$3:$E$11</cx:f>
        <cx:lvl ptCount="9" formatCode="General">
          <cx:pt idx="0">2022</cx:pt>
          <cx:pt idx="1">2023</cx:pt>
          <cx:pt idx="2">2024</cx:pt>
          <cx:pt idx="3">2025</cx:pt>
          <cx:pt idx="4">2026</cx:pt>
          <cx:pt idx="5">2027</cx:pt>
          <cx:pt idx="6">2028</cx:pt>
          <cx:pt idx="7">2029</cx:pt>
          <cx:pt idx="8">2030</cx:pt>
        </cx:lvl>
      </cx:numDim>
    </cx:data>
    <cx:data id="1">
      <cx:numDim type="val">
        <cx:f>'Inter Unit'!$G$3:$G$11</cx:f>
        <cx:lvl ptCount="9" formatCode="0.00">
          <cx:pt idx="0">256662.00000000003</cx:pt>
          <cx:pt idx="1">307994.40000000002</cx:pt>
          <cx:pt idx="2">369593.28000000003</cx:pt>
          <cx:pt idx="3">443511.93599999999</cx:pt>
          <cx:pt idx="4">532214.32319999998</cx:pt>
          <cx:pt idx="5">638657.18783999991</cx:pt>
          <cx:pt idx="6">766388.62540799985</cx:pt>
          <cx:pt idx="7">919666.35048959986</cx:pt>
          <cx:pt idx="8">1103599.6205875198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solidFill>
                  <a:schemeClr val="tx1"/>
                </a:solidFill>
                <a:latin typeface="Gotham"/>
                <a:ea typeface="Gotham"/>
                <a:cs typeface="Gotham"/>
              </a:defRPr>
            </a:pPr>
            <a:r>
              <a:rPr lang="en-US" sz="1400" b="1" i="0" u="none" strike="noStrike" baseline="0" dirty="0">
                <a:solidFill>
                  <a:schemeClr val="tx1"/>
                </a:solidFill>
                <a:latin typeface="Gotham"/>
              </a:rPr>
              <a:t>Emissions per trip (in kg </a:t>
            </a:r>
            <a:r>
              <a:rPr lang="en-IN" sz="1400" kern="1200" dirty="0">
                <a:solidFill>
                  <a:schemeClr val="tx1"/>
                </a:solidFill>
                <a:effectLst/>
                <a:latin typeface="Gotham"/>
                <a:ea typeface="+mn-ea"/>
                <a:cs typeface="+mn-cs"/>
              </a:rPr>
              <a:t>CO</a:t>
            </a:r>
            <a:r>
              <a:rPr lang="en-IN" sz="1400" kern="1200" baseline="-25000" dirty="0">
                <a:solidFill>
                  <a:schemeClr val="tx1"/>
                </a:solidFill>
                <a:effectLst/>
                <a:latin typeface="Gotham"/>
                <a:ea typeface="+mn-ea"/>
                <a:cs typeface="+mn-cs"/>
              </a:rPr>
              <a:t>2</a:t>
            </a:r>
            <a:r>
              <a:rPr lang="en-US" sz="1400" b="1" i="0" u="none" strike="noStrike" baseline="0" dirty="0">
                <a:solidFill>
                  <a:schemeClr val="tx1"/>
                </a:solidFill>
                <a:latin typeface="Gotham"/>
              </a:rPr>
              <a:t>)</a:t>
            </a:r>
          </a:p>
        </cx:rich>
      </cx:tx>
    </cx:title>
    <cx:plotArea>
      <cx:plotAreaRegion>
        <cx:series layoutId="waterfall" uniqueId="{C33CABC9-2678-4D51-8C0A-CB4B5F2EA6CE}" formatIdx="0">
          <cx:tx>
            <cx:txData>
              <cx:f>'Inter Unit'!$E$2</cx:f>
              <cx:v>Year</cx:v>
            </cx:txData>
          </cx:tx>
          <cx:spPr>
            <a:solidFill>
              <a:schemeClr val="bg1">
                <a:lumMod val="50000"/>
              </a:schemeClr>
            </a:solidFill>
          </cx:spPr>
          <cx:dataLabels pos="outEnd">
            <cx:visibility seriesName="0" categoryName="0" value="1"/>
          </cx:dataLabels>
          <cx:dataId val="0"/>
          <cx:layoutPr>
            <cx:subtotals/>
          </cx:layoutPr>
        </cx:series>
        <cx:series layoutId="waterfall" hidden="1" uniqueId="{21F3E5E8-8DAD-4E0F-99F2-1ECD0B771834}" formatIdx="1">
          <cx:tx>
            <cx:txData>
              <cx:f>'Inter Unit'!$G$2</cx:f>
              <cx:v> Emission</cx:v>
            </cx:txData>
          </cx:tx>
          <cx:dataLabels pos="outEnd">
            <cx:visibility seriesName="0" categoryName="0" value="1"/>
          </cx:dataLabels>
          <cx:dataId val="1"/>
          <cx:layoutPr>
            <cx:subtotals/>
          </cx:layoutPr>
        </cx:series>
      </cx:plotAreaRegion>
      <cx:axis id="0" hidden="1">
        <cx:catScaling gapWidth="0.5"/>
        <cx:tickLabels/>
      </cx:axis>
      <cx:axis id="1" hidden="1">
        <cx:valScaling/>
        <cx:tickLabels/>
      </cx:axis>
    </cx:plotArea>
  </cx:chart>
  <cx:spPr>
    <a:ln>
      <a:solidFill>
        <a:schemeClr val="tx1"/>
      </a:solidFill>
    </a:ln>
  </cx:spPr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'Customer Movement'!$E$3:$E$11</cx:f>
        <cx:lvl ptCount="9" formatCode="General">
          <cx:pt idx="0">2022</cx:pt>
          <cx:pt idx="1">2023</cx:pt>
          <cx:pt idx="2">2024</cx:pt>
          <cx:pt idx="3">2025</cx:pt>
          <cx:pt idx="4">2026</cx:pt>
          <cx:pt idx="5">2027</cx:pt>
          <cx:pt idx="6">2028</cx:pt>
          <cx:pt idx="7">2029</cx:pt>
          <cx:pt idx="8">2030</cx:pt>
        </cx:lvl>
      </cx:numDim>
    </cx:data>
    <cx:data id="1">
      <cx:numDim type="val">
        <cx:f>'Customer Movement'!$G$3:$G$11</cx:f>
        <cx:lvl ptCount="9" formatCode="General">
          <cx:pt idx="0">279840</cx:pt>
          <cx:pt idx="1">335808</cx:pt>
          <cx:pt idx="2">402969.60000000003</cx:pt>
          <cx:pt idx="3">483563.52000000002</cx:pt>
          <cx:pt idx="4">580276.22400000005</cx:pt>
          <cx:pt idx="5">696331.46879999992</cx:pt>
          <cx:pt idx="6">835597.76255999994</cx:pt>
          <cx:pt idx="7">1002717.3150719999</cx:pt>
          <cx:pt idx="8">1203260.7780863999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solidFill>
                  <a:schemeClr val="tx1"/>
                </a:solidFill>
                <a:latin typeface="Gotham"/>
                <a:ea typeface="Gotham"/>
                <a:cs typeface="Gotham"/>
              </a:defRPr>
            </a:pPr>
            <a:r>
              <a:rPr lang="en-US" sz="1400" b="1" i="0" u="none" strike="noStrike" baseline="0" dirty="0">
                <a:solidFill>
                  <a:schemeClr val="tx1"/>
                </a:solidFill>
                <a:latin typeface="Gotham"/>
              </a:rPr>
              <a:t>Emissions per trip (in kg </a:t>
            </a:r>
            <a:r>
              <a:rPr lang="en-IN" sz="1400" b="1" kern="1200" dirty="0">
                <a:solidFill>
                  <a:schemeClr val="tx1"/>
                </a:solidFill>
                <a:effectLst/>
                <a:latin typeface="Gotham"/>
                <a:ea typeface="+mn-ea"/>
                <a:cs typeface="+mn-cs"/>
              </a:rPr>
              <a:t>CO</a:t>
            </a:r>
            <a:r>
              <a:rPr lang="en-IN" sz="1400" b="1" kern="1200" baseline="-25000" dirty="0">
                <a:solidFill>
                  <a:schemeClr val="tx1"/>
                </a:solidFill>
                <a:effectLst/>
                <a:latin typeface="Gotham"/>
                <a:ea typeface="+mn-ea"/>
                <a:cs typeface="+mn-cs"/>
              </a:rPr>
              <a:t>2</a:t>
            </a:r>
            <a:r>
              <a:rPr lang="en-US" sz="1400" b="1" i="0" u="none" strike="noStrike" baseline="0" dirty="0">
                <a:solidFill>
                  <a:schemeClr val="tx1"/>
                </a:solidFill>
                <a:latin typeface="Gotham"/>
              </a:rPr>
              <a:t> )</a:t>
            </a:r>
          </a:p>
        </cx:rich>
      </cx:tx>
    </cx:title>
    <cx:plotArea>
      <cx:plotAreaRegion>
        <cx:series layoutId="waterfall" uniqueId="{23D74A83-EC2D-47F7-961A-58BDC38A8B11}" formatIdx="0">
          <cx:tx>
            <cx:txData>
              <cx:f>'Customer Movement'!$E$2</cx:f>
              <cx:v>Year</cx:v>
            </cx:txData>
          </cx:tx>
          <cx:spPr>
            <a:solidFill>
              <a:schemeClr val="bg1">
                <a:lumMod val="50000"/>
              </a:schemeClr>
            </a:solidFill>
          </cx:spPr>
          <cx:dataLabels pos="outEnd">
            <cx:visibility seriesName="0" categoryName="0" value="1"/>
          </cx:dataLabels>
          <cx:dataId val="0"/>
          <cx:layoutPr>
            <cx:subtotals/>
          </cx:layoutPr>
        </cx:series>
        <cx:series layoutId="waterfall" hidden="1" uniqueId="{755621B8-C65E-4716-9E65-369D4E44F278}" formatIdx="1">
          <cx:tx>
            <cx:txData>
              <cx:f>'Customer Movement'!$G$2</cx:f>
              <cx:v>Emission</cx:v>
            </cx:txData>
          </cx:tx>
          <cx:dataLabels pos="outEnd">
            <cx:visibility seriesName="0" categoryName="0" value="1"/>
          </cx:dataLabels>
          <cx:dataId val="1"/>
          <cx:layoutPr>
            <cx:subtotals/>
          </cx:layoutPr>
        </cx:series>
      </cx:plotAreaRegion>
      <cx:axis id="0" hidden="1">
        <cx:catScaling gapWidth="0.5"/>
        <cx:tickLabels/>
      </cx:axis>
      <cx:axis id="1" hidden="1">
        <cx:valScaling/>
        <cx:tickLabels/>
      </cx:axis>
    </cx:plotArea>
  </cx:chart>
  <cx:spPr>
    <a:ln>
      <a:solidFill>
        <a:schemeClr val="tx1"/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DAA18-D8C2-4F74-AA32-B571D9046FE9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8641F-0EDD-4610-A746-01DA7DD8E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320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2182-ADE3-0D06-1C9E-0E81ADF97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FAEFD-0339-412B-4577-5BF17ADE7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96431-46D7-51CA-0724-61A64953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1B226-1049-4CF8-4CE6-CC2C7CA0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B41D-C40C-2B94-913F-0FC9E44A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045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3416-7A99-C98D-A893-E13E3E5AF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710A-920A-2CC3-2ED9-6A4C62F7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A21E-D575-3F33-1A6E-22575EEEC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389B-22DB-70C2-4104-2F640BD1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25741-5389-BF23-B0B8-818FAFF9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72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B0B9F-8E20-D3C6-BA3A-0EFF9274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1FF2E-9390-EFF7-6D1D-F00A860A7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C00A4-8541-8AF7-8205-299DC645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4921C-83B0-AC0A-C190-8D39F297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A1FEE-FF55-7B2A-3FD2-EB5D94A9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83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EFEB-7DBD-E2C7-7948-7B352244B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038B-5C27-25A3-332A-9D943E38A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8FCA2-CD26-3E61-36E9-B262B238B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886B0-B7E8-237A-8F44-3FDD52CE6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80A39-18CF-AE43-8F67-2B75E0AA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93866-88CC-55E8-CDB6-0C514279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1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D23C-3452-DF28-D58C-43BC95DA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79D6E-6601-2738-F2FC-421B2C308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8986F-4F3F-3C89-8F66-A2C2081B8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74D74-E63A-BDC5-4A7F-6168457E0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0B8E9-1F0F-74E5-5219-76046B3F2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F56A6-52E5-5398-6840-548252FA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3AE5C-11F9-2565-EC65-5B7088108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33A63-1433-C4C4-0E38-50F1E2B93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348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1C11-451D-E53E-334F-81319540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2BABD-292E-AEDD-D4A0-9187BD36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0D925-1EB9-C3D2-202C-B094E247C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DA3AB-3968-25E7-DAD8-8A7A72F6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96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D906A0-A185-D37B-C0DF-C25308565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A0A3BA-E9E6-EB03-9DBC-E8645121B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F4AB9-6917-74D6-D916-EF39CCE3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821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1558-042B-0468-1C34-E1AA4DD4E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08729-C3D0-B1CC-8751-F495CABCA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C0333-2367-7313-F6BC-354CEEE0C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EDE30-F18B-9D99-0940-51FCE979F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6748D-0B6B-D52B-ABD7-4D8449D7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D75F0-B3F3-45F8-B8BA-90108B6C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289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765C-5F32-E586-E9E2-AA4C51DFE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40A316-66DE-EFE6-7217-FDA740C55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7F33A-A98A-5D24-F086-C2E549AA8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10441-899E-ED3E-016E-EAF78209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746BB-4EE2-2E55-343C-0215D94E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B4C82-5645-F7FE-4829-F489418C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7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CB35-305B-467A-A7A2-5591DD23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ED6A5-C3C6-EFFF-6655-2EB0B3271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8CE1B-AC41-1792-B8FF-E5DEE966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C8FF4-12C4-1748-52B8-D1CDDC9D9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28C49-EAFD-8CE5-AE0B-12E1ECFC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948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FBC57-C019-910E-993A-708C5448C3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11400-4B3A-20F9-59EC-34F8BF38C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585E0-B75C-2DDC-9E64-3D31BB32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EB16-AD7E-4129-7CAF-C04C97EC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9FB9C-BDE8-D692-D466-4FE22BD1A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44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>
            <a:alpha val="2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973449-786C-8203-6DE3-C849F723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65F7F-DC55-9EE8-1E1F-326626DD6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BB2EA-3C10-895F-EB47-3F4EDAEAE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E6C08-7204-484F-9E34-2E0617C92B25}" type="datetimeFigureOut">
              <a:rPr lang="en-IN" smtClean="0"/>
              <a:t>29-10-2022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93FC5-9734-EB36-B31C-12A1C612D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FB9D7-A0A6-2842-8A06-C981CB754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CED02-E4C7-4BC5-A607-8B721F02D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97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microsoft.com/office/2014/relationships/chartEx" Target="../charts/chartEx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14/relationships/chartEx" Target="../charts/chartEx2.xml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chart" Target="../charts/chart2.xml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8.png"/><Relationship Id="rId10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microsoft.com/office/2014/relationships/chartEx" Target="../charts/chartEx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hyperlink" Target="https://docs.google.com/spreadsheets/d/146ChVmDWerM-9iqMLAIy__397092vhuAOxZ8e5VrdSE/edit?usp=sharing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chart" Target="../charts/chart4.xml"/><Relationship Id="rId5" Type="http://schemas.openxmlformats.org/officeDocument/2006/relationships/image" Target="../media/image20.png"/><Relationship Id="rId10" Type="http://schemas.openxmlformats.org/officeDocument/2006/relationships/image" Target="../media/image25.emf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A4F412-A710-C228-1275-5EE61B1636B4}"/>
              </a:ext>
            </a:extLst>
          </p:cNvPr>
          <p:cNvSpPr/>
          <p:nvPr/>
        </p:nvSpPr>
        <p:spPr>
          <a:xfrm>
            <a:off x="2107893" y="1816958"/>
            <a:ext cx="7976206" cy="4438188"/>
          </a:xfrm>
          <a:prstGeom prst="round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A6A82C-B6FE-65A0-8E56-1DAE98A437D3}"/>
              </a:ext>
            </a:extLst>
          </p:cNvPr>
          <p:cNvGrpSpPr/>
          <p:nvPr/>
        </p:nvGrpSpPr>
        <p:grpSpPr>
          <a:xfrm>
            <a:off x="3714041" y="3759917"/>
            <a:ext cx="4763907" cy="1460084"/>
            <a:chOff x="3983420" y="3303309"/>
            <a:chExt cx="4225159" cy="1114106"/>
          </a:xfrm>
        </p:grpSpPr>
        <p:pic>
          <p:nvPicPr>
            <p:cNvPr id="12" name="Picture 11" descr="A person with long hair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70D9F2FD-B7E9-7368-6DE5-605433E80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7721" y="3303310"/>
              <a:ext cx="940858" cy="11141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 descr="A person in a suit and tie&#10;&#10;Description automatically generated">
              <a:extLst>
                <a:ext uri="{FF2B5EF4-FFF2-40B4-BE49-F238E27FC236}">
                  <a16:creationId xmlns:a16="http://schemas.microsoft.com/office/drawing/2014/main" id="{628B75E4-35E3-D867-9B0C-D71EE7196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3420" y="3303311"/>
              <a:ext cx="940859" cy="11141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 descr="A person wearing glasses and a suit&#10;&#10;Description automatically generated with medium confidence">
              <a:extLst>
                <a:ext uri="{FF2B5EF4-FFF2-40B4-BE49-F238E27FC236}">
                  <a16:creationId xmlns:a16="http://schemas.microsoft.com/office/drawing/2014/main" id="{9B3CBDB3-B1E4-C7B5-E47B-E3782D333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5571" y="3303309"/>
              <a:ext cx="940858" cy="111410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5" name="Subtitle 2">
            <a:extLst>
              <a:ext uri="{FF2B5EF4-FFF2-40B4-BE49-F238E27FC236}">
                <a16:creationId xmlns:a16="http://schemas.microsoft.com/office/drawing/2014/main" id="{91115779-A9C9-3D51-89E6-A9EC6C863068}"/>
              </a:ext>
            </a:extLst>
          </p:cNvPr>
          <p:cNvSpPr txBox="1">
            <a:spLocks/>
          </p:cNvSpPr>
          <p:nvPr/>
        </p:nvSpPr>
        <p:spPr>
          <a:xfrm>
            <a:off x="3594310" y="5398958"/>
            <a:ext cx="5070719" cy="293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dirty="0"/>
              <a:t>Devesh Sinha               Mohit Kiradoo                Kajal Gupta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2EF152B-AB93-B366-D6F6-C08C9F1E04F8}"/>
              </a:ext>
            </a:extLst>
          </p:cNvPr>
          <p:cNvSpPr txBox="1">
            <a:spLocks/>
          </p:cNvSpPr>
          <p:nvPr/>
        </p:nvSpPr>
        <p:spPr>
          <a:xfrm>
            <a:off x="3714042" y="5844324"/>
            <a:ext cx="4763907" cy="297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/>
              <a:t>T. A. Pai Management Institute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FB02B7C-4F97-0D17-071E-915AD48B82DF}"/>
              </a:ext>
            </a:extLst>
          </p:cNvPr>
          <p:cNvSpPr txBox="1">
            <a:spLocks/>
          </p:cNvSpPr>
          <p:nvPr/>
        </p:nvSpPr>
        <p:spPr>
          <a:xfrm>
            <a:off x="4337951" y="1637999"/>
            <a:ext cx="3516090" cy="3579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/>
              <a:t>Team SORTED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E6A2B-58F4-3BDD-7E8A-C64C526E1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9534" y="83975"/>
            <a:ext cx="1607959" cy="10440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C77BD6-5C16-ECED-F386-407DC1836A72}"/>
              </a:ext>
            </a:extLst>
          </p:cNvPr>
          <p:cNvSpPr txBox="1"/>
          <p:nvPr/>
        </p:nvSpPr>
        <p:spPr>
          <a:xfrm>
            <a:off x="9900783" y="1008653"/>
            <a:ext cx="2136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#ThirstForInnovation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7B8B2DC8-74C4-E434-A50B-C37D2F7A6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669" y="862516"/>
            <a:ext cx="9144000" cy="2387600"/>
          </a:xfrm>
        </p:spPr>
        <p:txBody>
          <a:bodyPr/>
          <a:lstStyle/>
          <a:p>
            <a:r>
              <a:rPr lang="en-IN" b="1" dirty="0"/>
              <a:t>HCCB Disrupt Season 1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9451759-BD5B-7736-3C97-D1C5DEB0E9D6}"/>
              </a:ext>
            </a:extLst>
          </p:cNvPr>
          <p:cNvCxnSpPr/>
          <p:nvPr/>
        </p:nvCxnSpPr>
        <p:spPr>
          <a:xfrm>
            <a:off x="0" y="4479356"/>
            <a:ext cx="12192000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B0BB34-593F-7BEF-18F0-596EAF5F706B}"/>
              </a:ext>
            </a:extLst>
          </p:cNvPr>
          <p:cNvSpPr/>
          <p:nvPr/>
        </p:nvSpPr>
        <p:spPr>
          <a:xfrm>
            <a:off x="91848" y="490557"/>
            <a:ext cx="5079067" cy="129656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Gotham"/>
              </a:rPr>
              <a:t>HCBL is facing problems in the transportation due to inflation in oil prices and high carbon emissions, as their logistics movement is primarily driven by diesel trucks.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Gotham"/>
              </a:rPr>
              <a:t>A thorough analysis of the present situation and feasible solutions to meet the short term and long-term objectives of the company is required.</a:t>
            </a:r>
            <a:endParaRPr lang="en-IN" sz="1200" dirty="0">
              <a:solidFill>
                <a:schemeClr val="tx1"/>
              </a:solidFill>
              <a:latin typeface="Gotha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265610-813B-5D3D-2E90-4FCA784FAE7B}"/>
              </a:ext>
            </a:extLst>
          </p:cNvPr>
          <p:cNvSpPr/>
          <p:nvPr/>
        </p:nvSpPr>
        <p:spPr>
          <a:xfrm>
            <a:off x="0" y="0"/>
            <a:ext cx="12192000" cy="2541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Gotham"/>
              </a:rPr>
              <a:t>RECAP – ROUND 1 SUBMISSION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9AFC5E-8C0D-CBD2-E381-6A9CD22909AD}"/>
              </a:ext>
            </a:extLst>
          </p:cNvPr>
          <p:cNvGrpSpPr/>
          <p:nvPr/>
        </p:nvGrpSpPr>
        <p:grpSpPr>
          <a:xfrm>
            <a:off x="5683871" y="744447"/>
            <a:ext cx="6056070" cy="1083110"/>
            <a:chOff x="5312061" y="274931"/>
            <a:chExt cx="6056070" cy="108311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3B749E6-D84C-5D24-08B5-24ED0A69B05E}"/>
                </a:ext>
              </a:extLst>
            </p:cNvPr>
            <p:cNvSpPr/>
            <p:nvPr/>
          </p:nvSpPr>
          <p:spPr>
            <a:xfrm>
              <a:off x="5312061" y="298810"/>
              <a:ext cx="1479764" cy="5318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latin typeface="Gotham"/>
                </a:rPr>
                <a:t>Dominated by diesel driven trucks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7E6AF07-F162-ACA5-FE89-BF8DDFCDA505}"/>
                </a:ext>
              </a:extLst>
            </p:cNvPr>
            <p:cNvSpPr/>
            <p:nvPr/>
          </p:nvSpPr>
          <p:spPr>
            <a:xfrm>
              <a:off x="7600214" y="826196"/>
              <a:ext cx="1479764" cy="5318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latin typeface="Gotham"/>
                </a:rPr>
                <a:t>High carbon emissions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52F72AC-6471-6C87-29F7-87F5ADEC7850}"/>
                </a:ext>
              </a:extLst>
            </p:cNvPr>
            <p:cNvSpPr/>
            <p:nvPr/>
          </p:nvSpPr>
          <p:spPr>
            <a:xfrm>
              <a:off x="7600214" y="280774"/>
              <a:ext cx="1479764" cy="5318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latin typeface="Gotham"/>
                </a:rPr>
                <a:t>High volatility in fuel prices 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A2DAC5-C0EB-9488-10CB-FAFA0F504094}"/>
                </a:ext>
              </a:extLst>
            </p:cNvPr>
            <p:cNvSpPr/>
            <p:nvPr/>
          </p:nvSpPr>
          <p:spPr>
            <a:xfrm>
              <a:off x="9888367" y="274931"/>
              <a:ext cx="1479764" cy="5318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latin typeface="Gotham"/>
                </a:rPr>
                <a:t>Rising transportation cost</a:t>
              </a: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359F0780-C758-B00A-9B40-298E1A5F2DBB}"/>
                </a:ext>
              </a:extLst>
            </p:cNvPr>
            <p:cNvSpPr/>
            <p:nvPr/>
          </p:nvSpPr>
          <p:spPr>
            <a:xfrm>
              <a:off x="6850895" y="467328"/>
              <a:ext cx="684150" cy="179688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>
                <a:latin typeface="Gotham"/>
              </a:endParaRP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CB83310A-9011-C458-D8C4-5C412499E551}"/>
                </a:ext>
              </a:extLst>
            </p:cNvPr>
            <p:cNvSpPr/>
            <p:nvPr/>
          </p:nvSpPr>
          <p:spPr>
            <a:xfrm>
              <a:off x="9145147" y="467328"/>
              <a:ext cx="684150" cy="179688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>
                <a:latin typeface="Gotham"/>
              </a:endParaRPr>
            </a:p>
          </p:txBody>
        </p:sp>
        <p:sp>
          <p:nvSpPr>
            <p:cNvPr id="22" name="Arrow: Bent-Up 21">
              <a:extLst>
                <a:ext uri="{FF2B5EF4-FFF2-40B4-BE49-F238E27FC236}">
                  <a16:creationId xmlns:a16="http://schemas.microsoft.com/office/drawing/2014/main" id="{C2012FCE-B1E9-8543-43C6-D390AA409A78}"/>
                </a:ext>
              </a:extLst>
            </p:cNvPr>
            <p:cNvSpPr/>
            <p:nvPr/>
          </p:nvSpPr>
          <p:spPr>
            <a:xfrm rot="5400000">
              <a:off x="6622670" y="312711"/>
              <a:ext cx="344986" cy="1479763"/>
            </a:xfrm>
            <a:prstGeom prst="bentUp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>
                <a:latin typeface="Gotham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F852C89-043B-5FA2-A614-C182C733E9E5}"/>
              </a:ext>
            </a:extLst>
          </p:cNvPr>
          <p:cNvSpPr/>
          <p:nvPr/>
        </p:nvSpPr>
        <p:spPr>
          <a:xfrm>
            <a:off x="210087" y="305845"/>
            <a:ext cx="4767943" cy="25758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Problem overview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0263F73-7C1A-FC83-15B4-14A0EFD497B5}"/>
              </a:ext>
            </a:extLst>
          </p:cNvPr>
          <p:cNvGrpSpPr/>
          <p:nvPr/>
        </p:nvGrpSpPr>
        <p:grpSpPr>
          <a:xfrm>
            <a:off x="5902683" y="2195170"/>
            <a:ext cx="1864636" cy="1939336"/>
            <a:chOff x="6395645" y="2145247"/>
            <a:chExt cx="1864636" cy="193933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67A2919-7793-BF14-D68A-EA2EEA40DADC}"/>
                </a:ext>
              </a:extLst>
            </p:cNvPr>
            <p:cNvGrpSpPr/>
            <p:nvPr/>
          </p:nvGrpSpPr>
          <p:grpSpPr>
            <a:xfrm>
              <a:off x="6628147" y="2145247"/>
              <a:ext cx="1399634" cy="1381722"/>
              <a:chOff x="970384" y="2202024"/>
              <a:chExt cx="1324947" cy="1226976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065FE63-A161-2348-B277-054D7B670157}"/>
                  </a:ext>
                </a:extLst>
              </p:cNvPr>
              <p:cNvSpPr/>
              <p:nvPr/>
            </p:nvSpPr>
            <p:spPr>
              <a:xfrm>
                <a:off x="970384" y="2202024"/>
                <a:ext cx="1324947" cy="1226976"/>
              </a:xfrm>
              <a:prstGeom prst="ellipse">
                <a:avLst/>
              </a:prstGeom>
              <a:solidFill>
                <a:srgbClr val="F400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Gotham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07BC8C8-0FEB-D1C9-B935-6C9D3486F41E}"/>
                  </a:ext>
                </a:extLst>
              </p:cNvPr>
              <p:cNvSpPr/>
              <p:nvPr/>
            </p:nvSpPr>
            <p:spPr>
              <a:xfrm>
                <a:off x="1152330" y="2370946"/>
                <a:ext cx="961054" cy="8891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solidFill>
                      <a:schemeClr val="tx1"/>
                    </a:solidFill>
                    <a:latin typeface="Gotham"/>
                  </a:rPr>
                  <a:t>3.68 cr litres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E6C7E27-BA26-AE2B-1AB2-800BDD53EA6E}"/>
                </a:ext>
              </a:extLst>
            </p:cNvPr>
            <p:cNvSpPr txBox="1"/>
            <p:nvPr/>
          </p:nvSpPr>
          <p:spPr>
            <a:xfrm>
              <a:off x="6395645" y="3561363"/>
              <a:ext cx="18646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latin typeface="Gotham"/>
                </a:rPr>
                <a:t>Annual diesel consumption</a:t>
              </a:r>
              <a:r>
                <a:rPr lang="en-IN" sz="1400" dirty="0">
                  <a:latin typeface="Gotham"/>
                </a:rPr>
                <a:t> 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C92C3FF-AAA7-4318-D3F0-8184DBEAECC4}"/>
              </a:ext>
            </a:extLst>
          </p:cNvPr>
          <p:cNvGrpSpPr/>
          <p:nvPr/>
        </p:nvGrpSpPr>
        <p:grpSpPr>
          <a:xfrm>
            <a:off x="7779588" y="2195173"/>
            <a:ext cx="1864636" cy="1939333"/>
            <a:chOff x="8211660" y="2145249"/>
            <a:chExt cx="1864636" cy="193933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11283BC-F5B8-3586-910B-F543539BF598}"/>
                </a:ext>
              </a:extLst>
            </p:cNvPr>
            <p:cNvGrpSpPr/>
            <p:nvPr/>
          </p:nvGrpSpPr>
          <p:grpSpPr>
            <a:xfrm>
              <a:off x="8444162" y="2145249"/>
              <a:ext cx="1399634" cy="1381722"/>
              <a:chOff x="970384" y="2202024"/>
              <a:chExt cx="1324947" cy="1226976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5FC1E14-2EE8-870A-0688-9296EE4BDDAB}"/>
                  </a:ext>
                </a:extLst>
              </p:cNvPr>
              <p:cNvSpPr/>
              <p:nvPr/>
            </p:nvSpPr>
            <p:spPr>
              <a:xfrm>
                <a:off x="970384" y="2202024"/>
                <a:ext cx="1324947" cy="1226976"/>
              </a:xfrm>
              <a:prstGeom prst="ellipse">
                <a:avLst/>
              </a:prstGeom>
              <a:solidFill>
                <a:srgbClr val="F400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Gotham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095AB4F-50E6-346A-D3A8-03F0919C3336}"/>
                  </a:ext>
                </a:extLst>
              </p:cNvPr>
              <p:cNvSpPr/>
              <p:nvPr/>
            </p:nvSpPr>
            <p:spPr>
              <a:xfrm>
                <a:off x="1152330" y="2370946"/>
                <a:ext cx="961054" cy="8891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solidFill>
                      <a:schemeClr val="tx1"/>
                    </a:solidFill>
                    <a:latin typeface="Gotham"/>
                  </a:rPr>
                  <a:t>₹331 cr 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0678B1D-B5ED-8B84-C5D5-925EFF173964}"/>
                </a:ext>
              </a:extLst>
            </p:cNvPr>
            <p:cNvSpPr txBox="1"/>
            <p:nvPr/>
          </p:nvSpPr>
          <p:spPr>
            <a:xfrm>
              <a:off x="8211660" y="3561362"/>
              <a:ext cx="18646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latin typeface="Gotham"/>
                </a:rPr>
                <a:t>Approx Cost incurred in fuel consumption</a:t>
              </a:r>
              <a:endParaRPr lang="en-IN" sz="1400" dirty="0">
                <a:latin typeface="Gotham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046AD35-487F-5F21-D945-A425B9900969}"/>
              </a:ext>
            </a:extLst>
          </p:cNvPr>
          <p:cNvGrpSpPr/>
          <p:nvPr/>
        </p:nvGrpSpPr>
        <p:grpSpPr>
          <a:xfrm>
            <a:off x="9875305" y="2195170"/>
            <a:ext cx="1864636" cy="1933002"/>
            <a:chOff x="10083473" y="2145248"/>
            <a:chExt cx="1864636" cy="1933002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F5ED866-1294-1E00-D001-17ECD8CFEA51}"/>
                </a:ext>
              </a:extLst>
            </p:cNvPr>
            <p:cNvGrpSpPr/>
            <p:nvPr/>
          </p:nvGrpSpPr>
          <p:grpSpPr>
            <a:xfrm>
              <a:off x="10260177" y="2145248"/>
              <a:ext cx="1399634" cy="1381722"/>
              <a:chOff x="970384" y="2202024"/>
              <a:chExt cx="1324947" cy="1226976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1138D48-F460-1553-C403-B0F76F266CC7}"/>
                  </a:ext>
                </a:extLst>
              </p:cNvPr>
              <p:cNvSpPr/>
              <p:nvPr/>
            </p:nvSpPr>
            <p:spPr>
              <a:xfrm>
                <a:off x="970384" y="2202024"/>
                <a:ext cx="1324947" cy="1226976"/>
              </a:xfrm>
              <a:prstGeom prst="ellipse">
                <a:avLst/>
              </a:prstGeom>
              <a:solidFill>
                <a:srgbClr val="F400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Gotham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1EE0701-CC4D-2C08-1809-455038A7684B}"/>
                  </a:ext>
                </a:extLst>
              </p:cNvPr>
              <p:cNvSpPr/>
              <p:nvPr/>
            </p:nvSpPr>
            <p:spPr>
              <a:xfrm>
                <a:off x="1152330" y="2370946"/>
                <a:ext cx="961054" cy="8891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solidFill>
                      <a:schemeClr val="tx1"/>
                    </a:solidFill>
                    <a:latin typeface="Gotham"/>
                  </a:rPr>
                  <a:t>39626 T 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1B09625-252B-B427-53C6-EAB24775BB64}"/>
                </a:ext>
              </a:extLst>
            </p:cNvPr>
            <p:cNvSpPr txBox="1"/>
            <p:nvPr/>
          </p:nvSpPr>
          <p:spPr>
            <a:xfrm>
              <a:off x="10083473" y="3555030"/>
              <a:ext cx="18646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latin typeface="Gotham"/>
                </a:rPr>
                <a:t>Annual approx. carbon emission</a:t>
              </a:r>
              <a:endParaRPr lang="en-IN" sz="1400" dirty="0">
                <a:latin typeface="Gotham"/>
              </a:endParaRPr>
            </a:p>
          </p:txBody>
        </p:sp>
      </p:grpSp>
      <p:graphicFrame>
        <p:nvGraphicFramePr>
          <p:cNvPr id="54" name="Table 7">
            <a:extLst>
              <a:ext uri="{FF2B5EF4-FFF2-40B4-BE49-F238E27FC236}">
                <a16:creationId xmlns:a16="http://schemas.microsoft.com/office/drawing/2014/main" id="{FDE15327-EE29-9842-4D4C-0063C244E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392452"/>
              </p:ext>
            </p:extLst>
          </p:nvPr>
        </p:nvGraphicFramePr>
        <p:xfrm>
          <a:off x="210087" y="2238934"/>
          <a:ext cx="5140378" cy="1793316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005277">
                  <a:extLst>
                    <a:ext uri="{9D8B030D-6E8A-4147-A177-3AD203B41FA5}">
                      <a16:colId xmlns:a16="http://schemas.microsoft.com/office/drawing/2014/main" val="4199169457"/>
                    </a:ext>
                  </a:extLst>
                </a:gridCol>
                <a:gridCol w="1074391">
                  <a:extLst>
                    <a:ext uri="{9D8B030D-6E8A-4147-A177-3AD203B41FA5}">
                      <a16:colId xmlns:a16="http://schemas.microsoft.com/office/drawing/2014/main" val="420219534"/>
                    </a:ext>
                  </a:extLst>
                </a:gridCol>
                <a:gridCol w="1050156">
                  <a:extLst>
                    <a:ext uri="{9D8B030D-6E8A-4147-A177-3AD203B41FA5}">
                      <a16:colId xmlns:a16="http://schemas.microsoft.com/office/drawing/2014/main" val="2332127809"/>
                    </a:ext>
                  </a:extLst>
                </a:gridCol>
                <a:gridCol w="1005277">
                  <a:extLst>
                    <a:ext uri="{9D8B030D-6E8A-4147-A177-3AD203B41FA5}">
                      <a16:colId xmlns:a16="http://schemas.microsoft.com/office/drawing/2014/main" val="2470558015"/>
                    </a:ext>
                  </a:extLst>
                </a:gridCol>
                <a:gridCol w="1005277">
                  <a:extLst>
                    <a:ext uri="{9D8B030D-6E8A-4147-A177-3AD203B41FA5}">
                      <a16:colId xmlns:a16="http://schemas.microsoft.com/office/drawing/2014/main" val="875252475"/>
                    </a:ext>
                  </a:extLst>
                </a:gridCol>
              </a:tblGrid>
              <a:tr h="59311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Transportation Movements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Fuel Consumption per trip(l)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Fuel Cost incurred per trip(₹)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freight cost(₹)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Carbon Emission per trip(kg)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677770"/>
                  </a:ext>
                </a:extLst>
              </a:tr>
              <a:tr h="35579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Intra unit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1467</a:t>
                      </a:r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1,32,000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3,77,143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3,960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50071"/>
                  </a:ext>
                </a:extLst>
              </a:tr>
              <a:tr h="36698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Inter unit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85260</a:t>
                      </a:r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76,73,400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1,70,52,000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2,30,202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582632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Customer movement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133424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1,20,08,160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2,66,84,800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3,60,245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Gotham"/>
                      </a:endParaRP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296212"/>
                  </a:ext>
                </a:extLst>
              </a:tr>
            </a:tbl>
          </a:graphicData>
        </a:graphic>
      </p:graphicFrame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D56C9A5-87A8-B6F8-7856-663C280A423C}"/>
              </a:ext>
            </a:extLst>
          </p:cNvPr>
          <p:cNvSpPr/>
          <p:nvPr/>
        </p:nvSpPr>
        <p:spPr>
          <a:xfrm>
            <a:off x="210087" y="4319674"/>
            <a:ext cx="3942035" cy="305882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Gotham"/>
              </a:rPr>
              <a:t>Assessment of feasibility of alternative fuels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9FA42C9-8905-C2ED-8602-AC9DB397F082}"/>
              </a:ext>
            </a:extLst>
          </p:cNvPr>
          <p:cNvSpPr/>
          <p:nvPr/>
        </p:nvSpPr>
        <p:spPr>
          <a:xfrm>
            <a:off x="210087" y="4882825"/>
            <a:ext cx="3942035" cy="30588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Gotham"/>
              </a:rPr>
              <a:t>Availability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F374838-EA34-0922-76CB-04EAD02281F9}"/>
              </a:ext>
            </a:extLst>
          </p:cNvPr>
          <p:cNvSpPr/>
          <p:nvPr/>
        </p:nvSpPr>
        <p:spPr>
          <a:xfrm>
            <a:off x="210087" y="5301108"/>
            <a:ext cx="3942035" cy="30588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Gotham"/>
              </a:rPr>
              <a:t>Cost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ADF9D09-1568-089C-98E5-B0448DD98B14}"/>
              </a:ext>
            </a:extLst>
          </p:cNvPr>
          <p:cNvSpPr/>
          <p:nvPr/>
        </p:nvSpPr>
        <p:spPr>
          <a:xfrm>
            <a:off x="210087" y="5710379"/>
            <a:ext cx="3942035" cy="30588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Gotham"/>
              </a:rPr>
              <a:t>Emissions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B2D1C14-E39F-A254-57C5-DE8AACE3383C}"/>
              </a:ext>
            </a:extLst>
          </p:cNvPr>
          <p:cNvSpPr/>
          <p:nvPr/>
        </p:nvSpPr>
        <p:spPr>
          <a:xfrm>
            <a:off x="210087" y="6119650"/>
            <a:ext cx="3942035" cy="30588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Gotham"/>
              </a:rPr>
              <a:t>Vehicle Compatibility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7289073-B14E-9B35-4BC6-88E425145735}"/>
              </a:ext>
            </a:extLst>
          </p:cNvPr>
          <p:cNvSpPr/>
          <p:nvPr/>
        </p:nvSpPr>
        <p:spPr>
          <a:xfrm>
            <a:off x="4575447" y="4314922"/>
            <a:ext cx="4074031" cy="30398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Gotham"/>
              </a:rPr>
              <a:t>Recommendations Suggested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F5B0236-7649-E88F-2C03-79A8D92442D5}"/>
              </a:ext>
            </a:extLst>
          </p:cNvPr>
          <p:cNvSpPr/>
          <p:nvPr/>
        </p:nvSpPr>
        <p:spPr>
          <a:xfrm>
            <a:off x="4510324" y="4894209"/>
            <a:ext cx="424704" cy="41828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Gotham"/>
              </a:rPr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8C29D0-C3B6-039D-6A22-E7019CB8C1C4}"/>
              </a:ext>
            </a:extLst>
          </p:cNvPr>
          <p:cNvSpPr txBox="1"/>
          <p:nvPr/>
        </p:nvSpPr>
        <p:spPr>
          <a:xfrm>
            <a:off x="4935027" y="4884208"/>
            <a:ext cx="3649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Gotham"/>
              </a:rPr>
              <a:t>Phased switching to EV for customer movement for vehicles &gt;8 yr old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43929BA-A0CB-01B6-6D4A-1779E570F29B}"/>
              </a:ext>
            </a:extLst>
          </p:cNvPr>
          <p:cNvSpPr/>
          <p:nvPr/>
        </p:nvSpPr>
        <p:spPr>
          <a:xfrm>
            <a:off x="4510324" y="5429489"/>
            <a:ext cx="424704" cy="41828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Gotham"/>
              </a:rPr>
              <a:t>2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C3CF4A0-E9FD-F336-3840-0EB16087508B}"/>
              </a:ext>
            </a:extLst>
          </p:cNvPr>
          <p:cNvSpPr/>
          <p:nvPr/>
        </p:nvSpPr>
        <p:spPr>
          <a:xfrm>
            <a:off x="4511556" y="5961230"/>
            <a:ext cx="424704" cy="41828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Gotham"/>
              </a:rPr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D649C1-2AB5-3F28-EBDC-3ADFCA8D542E}"/>
              </a:ext>
            </a:extLst>
          </p:cNvPr>
          <p:cNvSpPr txBox="1"/>
          <p:nvPr/>
        </p:nvSpPr>
        <p:spPr>
          <a:xfrm>
            <a:off x="4978030" y="5484741"/>
            <a:ext cx="1799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Gotham"/>
              </a:rPr>
              <a:t>E20 blend with diesel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D87C11E-AEBE-A9DA-2ED9-087501E60245}"/>
              </a:ext>
            </a:extLst>
          </p:cNvPr>
          <p:cNvSpPr txBox="1"/>
          <p:nvPr/>
        </p:nvSpPr>
        <p:spPr>
          <a:xfrm>
            <a:off x="4978030" y="6014131"/>
            <a:ext cx="39515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Gotham"/>
              </a:rPr>
              <a:t>Exploring the scope of Carry &amp; Forward (C&amp;F) Agent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3588A30-4364-C86D-3B47-5456145AE5C4}"/>
              </a:ext>
            </a:extLst>
          </p:cNvPr>
          <p:cNvCxnSpPr/>
          <p:nvPr/>
        </p:nvCxnSpPr>
        <p:spPr>
          <a:xfrm>
            <a:off x="0" y="1940767"/>
            <a:ext cx="12192000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CA3093C-8FE5-3C0B-491D-0BB39FC84F30}"/>
              </a:ext>
            </a:extLst>
          </p:cNvPr>
          <p:cNvSpPr/>
          <p:nvPr/>
        </p:nvSpPr>
        <p:spPr>
          <a:xfrm>
            <a:off x="8963043" y="4321568"/>
            <a:ext cx="3018870" cy="30398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Gotham"/>
              </a:rPr>
              <a:t>Expected Impact in 5 years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C4071D8-328C-EC78-5897-D314F15E3E77}"/>
              </a:ext>
            </a:extLst>
          </p:cNvPr>
          <p:cNvSpPr/>
          <p:nvPr/>
        </p:nvSpPr>
        <p:spPr>
          <a:xfrm>
            <a:off x="9010398" y="4808715"/>
            <a:ext cx="2924157" cy="75357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latin typeface="Gotham"/>
              </a:rPr>
              <a:t>52% </a:t>
            </a:r>
          </a:p>
          <a:p>
            <a:r>
              <a:rPr lang="en-IN" sz="1400" dirty="0">
                <a:latin typeface="Gotham"/>
              </a:rPr>
              <a:t>reduction in carbon emissions from current scenario (EV)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1C35E32-99AF-1B7B-32FC-DC768950BEA4}"/>
              </a:ext>
            </a:extLst>
          </p:cNvPr>
          <p:cNvSpPr/>
          <p:nvPr/>
        </p:nvSpPr>
        <p:spPr>
          <a:xfrm>
            <a:off x="9010398" y="5745447"/>
            <a:ext cx="2924157" cy="75357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latin typeface="Gotham"/>
              </a:rPr>
              <a:t>22% </a:t>
            </a:r>
          </a:p>
          <a:p>
            <a:r>
              <a:rPr lang="en-IN" sz="1400" dirty="0">
                <a:latin typeface="Gotham"/>
              </a:rPr>
              <a:t>increase in carbon emissions from current scenario (E20 blend)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CCC87A4-1067-3820-94C5-0CEB38120630}"/>
              </a:ext>
            </a:extLst>
          </p:cNvPr>
          <p:cNvSpPr/>
          <p:nvPr/>
        </p:nvSpPr>
        <p:spPr>
          <a:xfrm>
            <a:off x="210087" y="1845831"/>
            <a:ext cx="4960828" cy="2165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Current Situation Analysis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15CA940-7DA8-CDC7-CD1B-E5401CE0AACF}"/>
              </a:ext>
            </a:extLst>
          </p:cNvPr>
          <p:cNvSpPr/>
          <p:nvPr/>
        </p:nvSpPr>
        <p:spPr>
          <a:xfrm>
            <a:off x="6579071" y="305845"/>
            <a:ext cx="4767943" cy="25758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Gotham"/>
              </a:rPr>
              <a:t>Problems in logistics of HCBL</a:t>
            </a:r>
          </a:p>
        </p:txBody>
      </p:sp>
    </p:spTree>
    <p:extLst>
      <p:ext uri="{BB962C8B-B14F-4D97-AF65-F5344CB8AC3E}">
        <p14:creationId xmlns:p14="http://schemas.microsoft.com/office/powerpoint/2010/main" val="78227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BDDB2B3-44B2-BE1A-AAA7-A071B798F4DD}"/>
              </a:ext>
            </a:extLst>
          </p:cNvPr>
          <p:cNvSpPr/>
          <p:nvPr/>
        </p:nvSpPr>
        <p:spPr>
          <a:xfrm>
            <a:off x="83976" y="4044147"/>
            <a:ext cx="5122506" cy="229068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1400" dirty="0">
              <a:solidFill>
                <a:schemeClr val="tx1"/>
              </a:solidFill>
              <a:latin typeface="Gotha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Modify contract agreements to upgrade vehicles to BS6 norms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Explore the scope of C&amp;F agents or collaboration with agents doing similar line of business</a:t>
            </a:r>
          </a:p>
          <a:p>
            <a:endParaRPr lang="en-IN" sz="1400" dirty="0">
              <a:solidFill>
                <a:schemeClr val="tx1"/>
              </a:solidFill>
              <a:latin typeface="Gotham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Gotham"/>
              </a:rPr>
              <a:t>Cost:</a:t>
            </a:r>
            <a:r>
              <a:rPr lang="en-IN" sz="1400" dirty="0">
                <a:solidFill>
                  <a:schemeClr val="tx1"/>
                </a:solidFill>
                <a:latin typeface="Gotham"/>
              </a:rPr>
              <a:t> Contract price increase by 10-15%</a:t>
            </a:r>
          </a:p>
          <a:p>
            <a:r>
              <a:rPr lang="en-IN" sz="1400" b="1" dirty="0">
                <a:solidFill>
                  <a:schemeClr val="tx1"/>
                </a:solidFill>
                <a:latin typeface="Gotham"/>
              </a:rPr>
              <a:t>Benefits: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Low cost incurred due to no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Faster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25% lower emissions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88E0B1-D0BE-59C4-60AD-74919B77D61E}"/>
              </a:ext>
            </a:extLst>
          </p:cNvPr>
          <p:cNvSpPr/>
          <p:nvPr/>
        </p:nvSpPr>
        <p:spPr>
          <a:xfrm>
            <a:off x="83976" y="347579"/>
            <a:ext cx="11999167" cy="3521392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28BA78-C117-444B-CDA2-BF392211593E}"/>
              </a:ext>
            </a:extLst>
          </p:cNvPr>
          <p:cNvSpPr/>
          <p:nvPr/>
        </p:nvSpPr>
        <p:spPr>
          <a:xfrm>
            <a:off x="0" y="0"/>
            <a:ext cx="12192000" cy="2541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Gotham"/>
              </a:rPr>
              <a:t>Analyzing the current scenarios and suggesting implementations for Intra Unit Movement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AFE415E-E4C4-AFE9-8CA5-842A7856241B}"/>
              </a:ext>
            </a:extLst>
          </p:cNvPr>
          <p:cNvGrpSpPr/>
          <p:nvPr/>
        </p:nvGrpSpPr>
        <p:grpSpPr>
          <a:xfrm>
            <a:off x="437974" y="347578"/>
            <a:ext cx="11119518" cy="888697"/>
            <a:chOff x="92741" y="338248"/>
            <a:chExt cx="11119518" cy="104392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B4D248B-D363-C6CB-DC5F-C7BF385BCCA6}"/>
                </a:ext>
              </a:extLst>
            </p:cNvPr>
            <p:cNvGrpSpPr/>
            <p:nvPr/>
          </p:nvGrpSpPr>
          <p:grpSpPr>
            <a:xfrm>
              <a:off x="92741" y="391333"/>
              <a:ext cx="11119518" cy="990841"/>
              <a:chOff x="92741" y="391333"/>
              <a:chExt cx="11119518" cy="990841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4DF1ADB-414F-3A3A-A2E5-CC65A88C5A8C}"/>
                  </a:ext>
                </a:extLst>
              </p:cNvPr>
              <p:cNvSpPr/>
              <p:nvPr/>
            </p:nvSpPr>
            <p:spPr>
              <a:xfrm>
                <a:off x="6082995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1700</a:t>
                </a:r>
              </a:p>
              <a:p>
                <a:r>
                  <a:rPr lang="en-IN" sz="1400" dirty="0">
                    <a:latin typeface="Gotham"/>
                  </a:rPr>
                  <a:t>Litres of fuel consumption per day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7ACE570-E306-3622-0978-78FB67F3CBE8}"/>
                  </a:ext>
                </a:extLst>
              </p:cNvPr>
              <p:cNvSpPr/>
              <p:nvPr/>
            </p:nvSpPr>
            <p:spPr>
              <a:xfrm>
                <a:off x="9078122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4590</a:t>
                </a:r>
              </a:p>
              <a:p>
                <a:r>
                  <a:rPr lang="en-IN" sz="1400" dirty="0">
                    <a:latin typeface="Gotham"/>
                  </a:rPr>
                  <a:t>Kg CO</a:t>
                </a:r>
                <a:r>
                  <a:rPr lang="en-IN" sz="1400" baseline="-25000" dirty="0">
                    <a:latin typeface="Gotham"/>
                  </a:rPr>
                  <a:t>2</a:t>
                </a:r>
                <a:r>
                  <a:rPr lang="en-IN" sz="1400" dirty="0">
                    <a:latin typeface="Gotham"/>
                  </a:rPr>
                  <a:t> Emissions per trip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78CD64A-5A61-A574-D3B9-E49E5E475B1F}"/>
                  </a:ext>
                </a:extLst>
              </p:cNvPr>
              <p:cNvSpPr/>
              <p:nvPr/>
            </p:nvSpPr>
            <p:spPr>
              <a:xfrm>
                <a:off x="3087868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255</a:t>
                </a:r>
              </a:p>
              <a:p>
                <a:r>
                  <a:rPr lang="en-IN" sz="1400" dirty="0">
                    <a:latin typeface="Gotham"/>
                  </a:rPr>
                  <a:t>Dedicated units used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35D6A3-B8D1-1E35-4B49-B30B3101D027}"/>
                  </a:ext>
                </a:extLst>
              </p:cNvPr>
              <p:cNvSpPr/>
              <p:nvPr/>
            </p:nvSpPr>
            <p:spPr>
              <a:xfrm>
                <a:off x="92741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Road</a:t>
                </a:r>
              </a:p>
              <a:p>
                <a:r>
                  <a:rPr lang="en-IN" sz="1400" dirty="0">
                    <a:latin typeface="Gotham"/>
                  </a:rPr>
                  <a:t>Current mode of transport</a:t>
                </a:r>
              </a:p>
            </p:txBody>
          </p:sp>
          <p:pic>
            <p:nvPicPr>
              <p:cNvPr id="4" name="Graphic 3" descr="Dump truck with solid fill">
                <a:extLst>
                  <a:ext uri="{FF2B5EF4-FFF2-40B4-BE49-F238E27FC236}">
                    <a16:creationId xmlns:a16="http://schemas.microsoft.com/office/drawing/2014/main" id="{3E2C579B-6A85-951C-8094-3C3D1C32B6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41698" y="409996"/>
                <a:ext cx="662473" cy="662473"/>
              </a:xfrm>
              <a:prstGeom prst="rect">
                <a:avLst/>
              </a:prstGeom>
            </p:spPr>
          </p:pic>
          <p:pic>
            <p:nvPicPr>
              <p:cNvPr id="1026" name="Picture 2" descr="Road ">
                <a:extLst>
                  <a:ext uri="{FF2B5EF4-FFF2-40B4-BE49-F238E27FC236}">
                    <a16:creationId xmlns:a16="http://schemas.microsoft.com/office/drawing/2014/main" id="{685F62A8-E735-9D0B-B51D-3F42FEC7C9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42214" y="465993"/>
                <a:ext cx="550480" cy="5504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Air pollution ">
                <a:extLst>
                  <a:ext uri="{FF2B5EF4-FFF2-40B4-BE49-F238E27FC236}">
                    <a16:creationId xmlns:a16="http://schemas.microsoft.com/office/drawing/2014/main" id="{5EB8CB4E-32EA-235E-A4A1-C013BCF0EF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49786" y="391333"/>
                <a:ext cx="662473" cy="6624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" name="Graphic 6" descr="Fuel with solid fill">
              <a:extLst>
                <a:ext uri="{FF2B5EF4-FFF2-40B4-BE49-F238E27FC236}">
                  <a16:creationId xmlns:a16="http://schemas.microsoft.com/office/drawing/2014/main" id="{50F2AB91-194E-1C0E-8F02-41F334996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53175" y="338248"/>
              <a:ext cx="662473" cy="662473"/>
            </a:xfrm>
            <a:prstGeom prst="rect">
              <a:avLst/>
            </a:prstGeom>
          </p:spPr>
        </p:pic>
      </p:grp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216FCB97-7E5D-71D6-1432-12B9DA3F30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0522394"/>
              </p:ext>
            </p:extLst>
          </p:nvPr>
        </p:nvGraphicFramePr>
        <p:xfrm>
          <a:off x="186615" y="1479475"/>
          <a:ext cx="4109755" cy="2251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2" name="Chart 21">
                <a:extLst>
                  <a:ext uri="{FF2B5EF4-FFF2-40B4-BE49-F238E27FC236}">
                    <a16:creationId xmlns:a16="http://schemas.microsoft.com/office/drawing/2014/main" id="{BDDD4E58-3DFF-CE8B-F64A-D1543E2BB68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40247038"/>
                  </p:ext>
                </p:extLst>
              </p:nvPr>
            </p:nvGraphicFramePr>
            <p:xfrm>
              <a:off x="4467676" y="1479475"/>
              <a:ext cx="3684883" cy="225160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9"/>
              </a:graphicData>
            </a:graphic>
          </p:graphicFrame>
        </mc:Choice>
        <mc:Fallback>
          <p:pic>
            <p:nvPicPr>
              <p:cNvPr id="22" name="Chart 21">
                <a:extLst>
                  <a:ext uri="{FF2B5EF4-FFF2-40B4-BE49-F238E27FC236}">
                    <a16:creationId xmlns:a16="http://schemas.microsoft.com/office/drawing/2014/main" id="{BDDD4E58-3DFF-CE8B-F64A-D1543E2BB6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67676" y="1479475"/>
                <a:ext cx="3684883" cy="2251607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A6BCCB6F-5E5B-E387-79CA-AD33EB21D186}"/>
              </a:ext>
            </a:extLst>
          </p:cNvPr>
          <p:cNvSpPr/>
          <p:nvPr/>
        </p:nvSpPr>
        <p:spPr>
          <a:xfrm>
            <a:off x="8429644" y="2001411"/>
            <a:ext cx="1511559" cy="142758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Gotham"/>
              </a:rPr>
              <a:t>4.7x</a:t>
            </a:r>
          </a:p>
          <a:p>
            <a:pPr algn="ctr"/>
            <a:r>
              <a:rPr lang="en-IN" sz="1400" dirty="0">
                <a:latin typeface="Gotham"/>
              </a:rPr>
              <a:t>Increase in Freight cost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DBCEE0F-BB1E-57F6-94DE-7DFDE88D53A8}"/>
              </a:ext>
            </a:extLst>
          </p:cNvPr>
          <p:cNvSpPr/>
          <p:nvPr/>
        </p:nvSpPr>
        <p:spPr>
          <a:xfrm>
            <a:off x="10428513" y="2001411"/>
            <a:ext cx="1511559" cy="142758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Gotham"/>
              </a:rPr>
              <a:t>4.3x</a:t>
            </a:r>
          </a:p>
          <a:p>
            <a:pPr algn="ctr"/>
            <a:r>
              <a:rPr lang="en-IN" sz="1400" dirty="0">
                <a:latin typeface="Gotham"/>
              </a:rPr>
              <a:t>Increase in CO</a:t>
            </a:r>
            <a:r>
              <a:rPr lang="en-IN" sz="1400" baseline="-25000" dirty="0">
                <a:latin typeface="Gotham"/>
              </a:rPr>
              <a:t>2</a:t>
            </a:r>
            <a:r>
              <a:rPr lang="en-IN" sz="1400" dirty="0">
                <a:latin typeface="Gotham"/>
              </a:rPr>
              <a:t> emission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D84050-F101-48CE-EBC5-C4A5C318D4DE}"/>
              </a:ext>
            </a:extLst>
          </p:cNvPr>
          <p:cNvSpPr/>
          <p:nvPr/>
        </p:nvSpPr>
        <p:spPr>
          <a:xfrm>
            <a:off x="0" y="272417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Current Situation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DE70E0-B576-393C-15F2-073B55C9E248}"/>
              </a:ext>
            </a:extLst>
          </p:cNvPr>
          <p:cNvSpPr/>
          <p:nvPr/>
        </p:nvSpPr>
        <p:spPr>
          <a:xfrm>
            <a:off x="0" y="3999654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Recommendation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BF810-975B-A482-6424-085EF4AA5227}"/>
              </a:ext>
            </a:extLst>
          </p:cNvPr>
          <p:cNvSpPr txBox="1"/>
          <p:nvPr/>
        </p:nvSpPr>
        <p:spPr>
          <a:xfrm>
            <a:off x="83976" y="6426956"/>
            <a:ext cx="5122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Gotham"/>
              </a:rPr>
              <a:t>Note: </a:t>
            </a:r>
            <a:r>
              <a:rPr lang="en-IN" sz="1200" dirty="0">
                <a:latin typeface="Gotham"/>
              </a:rPr>
              <a:t>Shifting to EV will entail high cost, hence is not feasible in this type of movement. Moreover the payload capacity and the efficiency of EV is low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B50D87-2CDE-3C0B-ED7A-90B2D2D70961}"/>
              </a:ext>
            </a:extLst>
          </p:cNvPr>
          <p:cNvSpPr/>
          <p:nvPr/>
        </p:nvSpPr>
        <p:spPr>
          <a:xfrm>
            <a:off x="5533054" y="4044145"/>
            <a:ext cx="6550089" cy="251527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BE22A6-D533-AE88-D5DB-DE856B60C6DB}"/>
              </a:ext>
            </a:extLst>
          </p:cNvPr>
          <p:cNvSpPr/>
          <p:nvPr/>
        </p:nvSpPr>
        <p:spPr>
          <a:xfrm>
            <a:off x="5477017" y="4000757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Plan of action</a:t>
            </a:r>
          </a:p>
        </p:txBody>
      </p:sp>
      <p:pic>
        <p:nvPicPr>
          <p:cNvPr id="1030" name="Picture 6" descr="Free delivery ">
            <a:extLst>
              <a:ext uri="{FF2B5EF4-FFF2-40B4-BE49-F238E27FC236}">
                <a16:creationId xmlns:a16="http://schemas.microsoft.com/office/drawing/2014/main" id="{D7315D10-AD29-42A8-9678-08EC8340D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404" y="4301829"/>
            <a:ext cx="533681" cy="53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hipped ">
            <a:extLst>
              <a:ext uri="{FF2B5EF4-FFF2-40B4-BE49-F238E27FC236}">
                <a16:creationId xmlns:a16="http://schemas.microsoft.com/office/drawing/2014/main" id="{E3743328-B496-8885-9AA4-C54F13792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338" y="4302056"/>
            <a:ext cx="533681" cy="53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D178FFA-3477-FDDD-A06E-8A7ED751F08E}"/>
              </a:ext>
            </a:extLst>
          </p:cNvPr>
          <p:cNvSpPr/>
          <p:nvPr/>
        </p:nvSpPr>
        <p:spPr>
          <a:xfrm>
            <a:off x="7406951" y="4329073"/>
            <a:ext cx="1618297" cy="459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"/>
              </a:rPr>
              <a:t>Incentivize contractors to update the fleet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12D8A3DD-8ABD-828C-822F-DB0D693E9B6C}"/>
              </a:ext>
            </a:extLst>
          </p:cNvPr>
          <p:cNvSpPr/>
          <p:nvPr/>
        </p:nvSpPr>
        <p:spPr>
          <a:xfrm>
            <a:off x="6397202" y="4458549"/>
            <a:ext cx="846463" cy="200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72EE74EB-0FE6-0AC8-878A-A870031583EE}"/>
              </a:ext>
            </a:extLst>
          </p:cNvPr>
          <p:cNvSpPr/>
          <p:nvPr/>
        </p:nvSpPr>
        <p:spPr>
          <a:xfrm>
            <a:off x="9270061" y="4430377"/>
            <a:ext cx="846463" cy="200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5F080F-A1AB-3917-E724-65F357E64C15}"/>
              </a:ext>
            </a:extLst>
          </p:cNvPr>
          <p:cNvSpPr/>
          <p:nvPr/>
        </p:nvSpPr>
        <p:spPr>
          <a:xfrm>
            <a:off x="11058908" y="4270579"/>
            <a:ext cx="881164" cy="124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"/>
              </a:rPr>
              <a:t>Incentives in form of long term contracts, monetary rewards</a:t>
            </a:r>
          </a:p>
        </p:txBody>
      </p:sp>
      <p:pic>
        <p:nvPicPr>
          <p:cNvPr id="1034" name="Picture 10" descr="Electric truck ">
            <a:extLst>
              <a:ext uri="{FF2B5EF4-FFF2-40B4-BE49-F238E27FC236}">
                <a16:creationId xmlns:a16="http://schemas.microsoft.com/office/drawing/2014/main" id="{3B147A2A-ADF6-BD62-F761-4E4B9341C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338" y="4909122"/>
            <a:ext cx="533681" cy="53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3AC8695-BFD6-C992-9003-FEC982B7D309}"/>
              </a:ext>
            </a:extLst>
          </p:cNvPr>
          <p:cNvSpPr/>
          <p:nvPr/>
        </p:nvSpPr>
        <p:spPr>
          <a:xfrm>
            <a:off x="6588338" y="5004715"/>
            <a:ext cx="2835017" cy="641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"/>
              </a:rPr>
              <a:t>Phased incentivized EV implementation for contractors, on availability of vehicle as per specifications required</a:t>
            </a:r>
          </a:p>
        </p:txBody>
      </p:sp>
      <p:sp>
        <p:nvSpPr>
          <p:cNvPr id="50" name="Arrow: Bent-Up 49">
            <a:extLst>
              <a:ext uri="{FF2B5EF4-FFF2-40B4-BE49-F238E27FC236}">
                <a16:creationId xmlns:a16="http://schemas.microsoft.com/office/drawing/2014/main" id="{D6808162-17DE-035D-D5E9-E206B8792F4C}"/>
              </a:ext>
            </a:extLst>
          </p:cNvPr>
          <p:cNvSpPr/>
          <p:nvPr/>
        </p:nvSpPr>
        <p:spPr>
          <a:xfrm rot="5400000">
            <a:off x="5856240" y="4854198"/>
            <a:ext cx="509844" cy="63413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728BB212-349B-1B54-2666-254BDC87E669}"/>
              </a:ext>
            </a:extLst>
          </p:cNvPr>
          <p:cNvSpPr/>
          <p:nvPr/>
        </p:nvSpPr>
        <p:spPr>
          <a:xfrm>
            <a:off x="9554547" y="5329452"/>
            <a:ext cx="699796" cy="2366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972C8DB-59CE-3F00-0FAC-1C575D458D55}"/>
              </a:ext>
            </a:extLst>
          </p:cNvPr>
          <p:cNvSpPr/>
          <p:nvPr/>
        </p:nvSpPr>
        <p:spPr>
          <a:xfrm>
            <a:off x="5477017" y="5800020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Expected outcome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CE9376-0EC6-56AD-8B18-FFACD9E6735B}"/>
              </a:ext>
            </a:extLst>
          </p:cNvPr>
          <p:cNvSpPr txBox="1"/>
          <p:nvPr/>
        </p:nvSpPr>
        <p:spPr>
          <a:xfrm>
            <a:off x="5794095" y="6056004"/>
            <a:ext cx="6145977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Gotham"/>
              </a:rPr>
              <a:t>Estimated 25% reduction in CO</a:t>
            </a:r>
            <a:r>
              <a:rPr lang="en-IN" sz="1200" baseline="-25000" dirty="0">
                <a:latin typeface="Gotham"/>
              </a:rPr>
              <a:t>2 </a:t>
            </a:r>
            <a:r>
              <a:rPr lang="en-IN" sz="1200" dirty="0">
                <a:latin typeface="Gotham"/>
              </a:rPr>
              <a:t>emissions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Gotham"/>
              </a:rPr>
              <a:t>40% reduction in emissions by 2028 on EV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50486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F4F469E-D3A0-55AA-3AA7-76B2A4EA048F}"/>
              </a:ext>
            </a:extLst>
          </p:cNvPr>
          <p:cNvSpPr/>
          <p:nvPr/>
        </p:nvSpPr>
        <p:spPr>
          <a:xfrm>
            <a:off x="83976" y="4905606"/>
            <a:ext cx="4077477" cy="177868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400" dirty="0">
                <a:solidFill>
                  <a:schemeClr val="tx1"/>
                </a:solidFill>
                <a:latin typeface="Gotham"/>
              </a:rPr>
              <a:t>Use </a:t>
            </a:r>
            <a:r>
              <a:rPr lang="en-IN" sz="1400" b="1" dirty="0">
                <a:solidFill>
                  <a:schemeClr val="tx1"/>
                </a:solidFill>
                <a:latin typeface="Gotham"/>
              </a:rPr>
              <a:t>National Waterways </a:t>
            </a:r>
            <a:r>
              <a:rPr lang="en-IN" sz="1400" dirty="0">
                <a:solidFill>
                  <a:schemeClr val="tx1"/>
                </a:solidFill>
                <a:latin typeface="Gotham"/>
              </a:rPr>
              <a:t>to cater to markets where there is low road or rail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NW1(Allahabad - Patna – </a:t>
            </a:r>
            <a:r>
              <a:rPr lang="en-IN" sz="1400" dirty="0" err="1">
                <a:solidFill>
                  <a:schemeClr val="tx1"/>
                </a:solidFill>
                <a:latin typeface="Gotham"/>
              </a:rPr>
              <a:t>Farakka</a:t>
            </a:r>
            <a:r>
              <a:rPr lang="en-IN" sz="1400" dirty="0">
                <a:solidFill>
                  <a:schemeClr val="tx1"/>
                </a:solidFill>
                <a:latin typeface="Gotham"/>
              </a:rPr>
              <a:t> – Haldia)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NW2(</a:t>
            </a:r>
            <a:r>
              <a:rPr lang="en-IN" sz="1400" dirty="0" err="1">
                <a:solidFill>
                  <a:schemeClr val="tx1"/>
                </a:solidFill>
                <a:latin typeface="Gotham"/>
              </a:rPr>
              <a:t>Sadiya</a:t>
            </a:r>
            <a:r>
              <a:rPr lang="en-IN" sz="1400" dirty="0">
                <a:solidFill>
                  <a:schemeClr val="tx1"/>
                </a:solidFill>
                <a:latin typeface="Gotham"/>
              </a:rPr>
              <a:t> – Dhubri)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NW3(Kollam – </a:t>
            </a:r>
            <a:r>
              <a:rPr lang="en-IN" sz="1400" dirty="0" err="1">
                <a:solidFill>
                  <a:schemeClr val="tx1"/>
                </a:solidFill>
                <a:latin typeface="Gotham"/>
              </a:rPr>
              <a:t>Kottapuram</a:t>
            </a:r>
            <a:r>
              <a:rPr lang="en-IN" sz="1400" dirty="0">
                <a:solidFill>
                  <a:schemeClr val="tx1"/>
                </a:solidFill>
                <a:latin typeface="Gotham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NW4(Kakinada to Pondicherry)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NW5(Talcher – </a:t>
            </a:r>
            <a:r>
              <a:rPr lang="en-IN" sz="1400" dirty="0" err="1">
                <a:solidFill>
                  <a:schemeClr val="tx1"/>
                </a:solidFill>
                <a:latin typeface="Gotham"/>
              </a:rPr>
              <a:t>Paradeep</a:t>
            </a:r>
            <a:r>
              <a:rPr lang="en-IN" sz="1400" dirty="0">
                <a:solidFill>
                  <a:schemeClr val="tx1"/>
                </a:solidFill>
                <a:latin typeface="Gotham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NW6( </a:t>
            </a:r>
            <a:r>
              <a:rPr lang="en-IN" sz="1400" dirty="0" err="1">
                <a:solidFill>
                  <a:schemeClr val="tx1"/>
                </a:solidFill>
                <a:latin typeface="Gotham"/>
              </a:rPr>
              <a:t>Lakhipur</a:t>
            </a:r>
            <a:r>
              <a:rPr lang="en-IN" sz="1400" dirty="0">
                <a:solidFill>
                  <a:schemeClr val="tx1"/>
                </a:solidFill>
                <a:latin typeface="Gotham"/>
              </a:rPr>
              <a:t> - </a:t>
            </a:r>
            <a:r>
              <a:rPr lang="en-IN" sz="1400" dirty="0" err="1">
                <a:solidFill>
                  <a:schemeClr val="tx1"/>
                </a:solidFill>
                <a:latin typeface="Gotham"/>
              </a:rPr>
              <a:t>Bhanga</a:t>
            </a:r>
            <a:r>
              <a:rPr lang="en-IN" sz="1400" dirty="0">
                <a:solidFill>
                  <a:schemeClr val="tx1"/>
                </a:solidFill>
                <a:latin typeface="Gotham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  <a:latin typeface="Gotham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042BA-FA57-0EAD-A4F3-1A2ED6D42FA1}"/>
              </a:ext>
            </a:extLst>
          </p:cNvPr>
          <p:cNvSpPr/>
          <p:nvPr/>
        </p:nvSpPr>
        <p:spPr>
          <a:xfrm>
            <a:off x="83976" y="347579"/>
            <a:ext cx="11999167" cy="3421988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E9CA99-700F-A756-C3B8-ECC1C0F050D2}"/>
              </a:ext>
            </a:extLst>
          </p:cNvPr>
          <p:cNvSpPr/>
          <p:nvPr/>
        </p:nvSpPr>
        <p:spPr>
          <a:xfrm>
            <a:off x="0" y="0"/>
            <a:ext cx="12192000" cy="2541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Gotham"/>
              </a:rPr>
              <a:t>Analyzing the current scenarios and suggesting implementations for Inter Unit Movement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E51663-CC96-5C44-3C52-22392ADA66FE}"/>
              </a:ext>
            </a:extLst>
          </p:cNvPr>
          <p:cNvGrpSpPr/>
          <p:nvPr/>
        </p:nvGrpSpPr>
        <p:grpSpPr>
          <a:xfrm>
            <a:off x="437974" y="347578"/>
            <a:ext cx="11119518" cy="888697"/>
            <a:chOff x="92741" y="338248"/>
            <a:chExt cx="11119518" cy="104392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D4CEA71-A275-4C44-65BF-0F6FE5635FA4}"/>
                </a:ext>
              </a:extLst>
            </p:cNvPr>
            <p:cNvGrpSpPr/>
            <p:nvPr/>
          </p:nvGrpSpPr>
          <p:grpSpPr>
            <a:xfrm>
              <a:off x="92741" y="391333"/>
              <a:ext cx="11119518" cy="990841"/>
              <a:chOff x="92741" y="391333"/>
              <a:chExt cx="11119518" cy="99084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09C0D64-D433-CB5E-62D7-FDFC6C441148}"/>
                  </a:ext>
                </a:extLst>
              </p:cNvPr>
              <p:cNvSpPr/>
              <p:nvPr/>
            </p:nvSpPr>
            <p:spPr>
              <a:xfrm>
                <a:off x="6082995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95060</a:t>
                </a:r>
              </a:p>
              <a:p>
                <a:r>
                  <a:rPr lang="en-IN" sz="1400" dirty="0">
                    <a:latin typeface="Gotham"/>
                  </a:rPr>
                  <a:t>Litres of fuel consumption per day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B204290-1A50-90C7-839B-433D443E09D6}"/>
                  </a:ext>
                </a:extLst>
              </p:cNvPr>
              <p:cNvSpPr/>
              <p:nvPr/>
            </p:nvSpPr>
            <p:spPr>
              <a:xfrm>
                <a:off x="9078122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256662</a:t>
                </a:r>
              </a:p>
              <a:p>
                <a:r>
                  <a:rPr lang="en-IN" sz="1400" dirty="0">
                    <a:latin typeface="Gotham"/>
                  </a:rPr>
                  <a:t>Kg CO</a:t>
                </a:r>
                <a:r>
                  <a:rPr lang="en-IN" sz="1400" baseline="-25000" dirty="0">
                    <a:latin typeface="Gotham"/>
                  </a:rPr>
                  <a:t>2</a:t>
                </a:r>
                <a:r>
                  <a:rPr lang="en-IN" sz="1400" dirty="0">
                    <a:latin typeface="Gotham"/>
                  </a:rPr>
                  <a:t> Emissions per trip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7FE508-B111-BCB1-8D81-3AA47B90C45F}"/>
                  </a:ext>
                </a:extLst>
              </p:cNvPr>
              <p:cNvSpPr/>
              <p:nvPr/>
            </p:nvSpPr>
            <p:spPr>
              <a:xfrm>
                <a:off x="3087868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485</a:t>
                </a:r>
              </a:p>
              <a:p>
                <a:r>
                  <a:rPr lang="en-IN" sz="1400" dirty="0">
                    <a:latin typeface="Gotham"/>
                  </a:rPr>
                  <a:t>Dedicated units used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64A6331-2D08-C2F5-513C-CC3999F0A8CE}"/>
                  </a:ext>
                </a:extLst>
              </p:cNvPr>
              <p:cNvSpPr/>
              <p:nvPr/>
            </p:nvSpPr>
            <p:spPr>
              <a:xfrm>
                <a:off x="92741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Road</a:t>
                </a:r>
              </a:p>
              <a:p>
                <a:r>
                  <a:rPr lang="en-IN" sz="1400" dirty="0">
                    <a:latin typeface="Gotham"/>
                  </a:rPr>
                  <a:t>Current mode of transport</a:t>
                </a:r>
              </a:p>
            </p:txBody>
          </p:sp>
          <p:pic>
            <p:nvPicPr>
              <p:cNvPr id="12" name="Graphic 11" descr="Dump truck with solid fill">
                <a:extLst>
                  <a:ext uri="{FF2B5EF4-FFF2-40B4-BE49-F238E27FC236}">
                    <a16:creationId xmlns:a16="http://schemas.microsoft.com/office/drawing/2014/main" id="{A8655D36-183F-BDC9-4B18-42DBBDE0D4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41698" y="409996"/>
                <a:ext cx="662473" cy="662473"/>
              </a:xfrm>
              <a:prstGeom prst="rect">
                <a:avLst/>
              </a:prstGeom>
            </p:spPr>
          </p:pic>
          <p:pic>
            <p:nvPicPr>
              <p:cNvPr id="13" name="Picture 2" descr="Road ">
                <a:extLst>
                  <a:ext uri="{FF2B5EF4-FFF2-40B4-BE49-F238E27FC236}">
                    <a16:creationId xmlns:a16="http://schemas.microsoft.com/office/drawing/2014/main" id="{569DC358-CE9F-9718-404B-642226F6EC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42214" y="465993"/>
                <a:ext cx="550480" cy="5504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4" descr="Air pollution ">
                <a:extLst>
                  <a:ext uri="{FF2B5EF4-FFF2-40B4-BE49-F238E27FC236}">
                    <a16:creationId xmlns:a16="http://schemas.microsoft.com/office/drawing/2014/main" id="{CEC3E044-B6C3-7CB4-7EA3-330D6F286E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49786" y="391333"/>
                <a:ext cx="662473" cy="6624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" name="Graphic 6" descr="Fuel with solid fill">
              <a:extLst>
                <a:ext uri="{FF2B5EF4-FFF2-40B4-BE49-F238E27FC236}">
                  <a16:creationId xmlns:a16="http://schemas.microsoft.com/office/drawing/2014/main" id="{41B80141-69F7-E86B-951B-6780F917C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53175" y="338248"/>
              <a:ext cx="662473" cy="662473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8BFF1A0-3C26-CE6F-8B8B-3D9080CAC0FB}"/>
              </a:ext>
            </a:extLst>
          </p:cNvPr>
          <p:cNvSpPr/>
          <p:nvPr/>
        </p:nvSpPr>
        <p:spPr>
          <a:xfrm>
            <a:off x="0" y="272417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Current Situation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6" name="Chart 15">
                <a:extLst>
                  <a:ext uri="{FF2B5EF4-FFF2-40B4-BE49-F238E27FC236}">
                    <a16:creationId xmlns:a16="http://schemas.microsoft.com/office/drawing/2014/main" id="{1EF8B4A0-B8C1-F9BC-9F81-7C6AC9656C4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47362500"/>
                  </p:ext>
                </p:extLst>
              </p:nvPr>
            </p:nvGraphicFramePr>
            <p:xfrm>
              <a:off x="3892670" y="1422374"/>
              <a:ext cx="4382279" cy="222168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8"/>
              </a:graphicData>
            </a:graphic>
          </p:graphicFrame>
        </mc:Choice>
        <mc:Fallback>
          <p:pic>
            <p:nvPicPr>
              <p:cNvPr id="16" name="Chart 15">
                <a:extLst>
                  <a:ext uri="{FF2B5EF4-FFF2-40B4-BE49-F238E27FC236}">
                    <a16:creationId xmlns:a16="http://schemas.microsoft.com/office/drawing/2014/main" id="{1EF8B4A0-B8C1-F9BC-9F81-7C6AC9656C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92670" y="1422374"/>
                <a:ext cx="4382279" cy="2221683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010CE647-8DFB-9010-737D-50011CC3A2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0323304"/>
              </p:ext>
            </p:extLst>
          </p:nvPr>
        </p:nvGraphicFramePr>
        <p:xfrm>
          <a:off x="189914" y="1422374"/>
          <a:ext cx="3668678" cy="222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4D0AEC29-9CD9-2D19-B71C-B6F708149854}"/>
              </a:ext>
            </a:extLst>
          </p:cNvPr>
          <p:cNvSpPr/>
          <p:nvPr/>
        </p:nvSpPr>
        <p:spPr>
          <a:xfrm>
            <a:off x="10307215" y="1905338"/>
            <a:ext cx="1511559" cy="142758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Gotham"/>
              </a:rPr>
              <a:t>4.3x</a:t>
            </a:r>
          </a:p>
          <a:p>
            <a:pPr algn="ctr"/>
            <a:r>
              <a:rPr lang="en-IN" sz="1400" dirty="0">
                <a:latin typeface="Gotham"/>
              </a:rPr>
              <a:t>Increase in CO</a:t>
            </a:r>
            <a:r>
              <a:rPr lang="en-IN" sz="1400" baseline="-25000" dirty="0">
                <a:latin typeface="Gotham"/>
              </a:rPr>
              <a:t>2</a:t>
            </a:r>
            <a:r>
              <a:rPr lang="en-IN" sz="1400" dirty="0">
                <a:latin typeface="Gotham"/>
              </a:rPr>
              <a:t> emission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015A779-84BB-7E46-09E5-F3A8774030F1}"/>
              </a:ext>
            </a:extLst>
          </p:cNvPr>
          <p:cNvSpPr/>
          <p:nvPr/>
        </p:nvSpPr>
        <p:spPr>
          <a:xfrm>
            <a:off x="8429644" y="1905338"/>
            <a:ext cx="1511559" cy="142758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Gotham"/>
              </a:rPr>
              <a:t>6.7x</a:t>
            </a:r>
          </a:p>
          <a:p>
            <a:pPr algn="ctr"/>
            <a:r>
              <a:rPr lang="en-IN" sz="1400" dirty="0">
                <a:latin typeface="Gotham"/>
              </a:rPr>
              <a:t>Increase in Freight cost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C3B170-ED13-281B-DA4E-7A3AAEC3CD78}"/>
              </a:ext>
            </a:extLst>
          </p:cNvPr>
          <p:cNvSpPr/>
          <p:nvPr/>
        </p:nvSpPr>
        <p:spPr>
          <a:xfrm>
            <a:off x="83976" y="3994815"/>
            <a:ext cx="4077477" cy="72420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Optimize market truck units for freight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Use of multi-mode transport to cater to markets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Reduce cost per km per tonne incurred in logistics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D2BB0F-7686-9247-4519-EA3320DB3E55}"/>
              </a:ext>
            </a:extLst>
          </p:cNvPr>
          <p:cNvSpPr/>
          <p:nvPr/>
        </p:nvSpPr>
        <p:spPr>
          <a:xfrm>
            <a:off x="0" y="3830645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Recommendation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EBA6E8-2FD6-EDC2-BDB7-93D4713B8A97}"/>
              </a:ext>
            </a:extLst>
          </p:cNvPr>
          <p:cNvSpPr/>
          <p:nvPr/>
        </p:nvSpPr>
        <p:spPr>
          <a:xfrm>
            <a:off x="0" y="4744109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Plan of action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D10244-1012-8A40-CE2E-6B440F4964CA}"/>
              </a:ext>
            </a:extLst>
          </p:cNvPr>
          <p:cNvSpPr txBox="1"/>
          <p:nvPr/>
        </p:nvSpPr>
        <p:spPr>
          <a:xfrm>
            <a:off x="4445934" y="3994815"/>
            <a:ext cx="3652474" cy="267765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Gotham"/>
              </a:rPr>
              <a:t>Utilizing the intensive rail network to penetrate to locations with poor road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Gotham"/>
              </a:rPr>
              <a:t>Eastern Dedicated Freight Corridor: </a:t>
            </a:r>
            <a:r>
              <a:rPr lang="en-IN" sz="1400" dirty="0" err="1">
                <a:latin typeface="Gotham"/>
              </a:rPr>
              <a:t>Dankuni</a:t>
            </a:r>
            <a:r>
              <a:rPr lang="en-IN" sz="1400" dirty="0">
                <a:latin typeface="Gotham"/>
              </a:rPr>
              <a:t>(WB) – </a:t>
            </a:r>
            <a:r>
              <a:rPr lang="en-IN" sz="1400" dirty="0" err="1">
                <a:latin typeface="Gotham"/>
              </a:rPr>
              <a:t>Khurja</a:t>
            </a:r>
            <a:r>
              <a:rPr lang="en-IN" sz="1400" dirty="0">
                <a:latin typeface="Gotham"/>
              </a:rPr>
              <a:t>(UP)-Ludhiana(Punjab) (1839km)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Gotham"/>
              </a:rPr>
              <a:t>Western Dedicated Freight Corridor: </a:t>
            </a:r>
            <a:r>
              <a:rPr lang="en-IN" sz="1400" dirty="0">
                <a:latin typeface="Gotham"/>
              </a:rPr>
              <a:t>Dadri(UP)- Ajmer(Rajasthan) – Surat(Gujarat) – JNPT(Navi Mumbai)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Gotham"/>
              </a:rPr>
              <a:t>Existing Railway Network for transporting cargo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Gotham"/>
              </a:rPr>
              <a:t>Highly efficient locomotives (eg: WAG 12B)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9BECB5-C26D-9FA8-5A3F-04F9A39F558F}"/>
              </a:ext>
            </a:extLst>
          </p:cNvPr>
          <p:cNvSpPr/>
          <p:nvPr/>
        </p:nvSpPr>
        <p:spPr>
          <a:xfrm>
            <a:off x="4408177" y="3830644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Plan of action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856491-935E-5A2A-F8D9-8E35637660C1}"/>
              </a:ext>
            </a:extLst>
          </p:cNvPr>
          <p:cNvSpPr/>
          <p:nvPr/>
        </p:nvSpPr>
        <p:spPr>
          <a:xfrm>
            <a:off x="8201608" y="3970363"/>
            <a:ext cx="3906417" cy="271392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400" dirty="0">
                <a:solidFill>
                  <a:schemeClr val="tx1"/>
                </a:solidFill>
                <a:latin typeface="Gotham"/>
              </a:rPr>
              <a:t>Average cost per km per tonne through road = 18</a:t>
            </a:r>
          </a:p>
          <a:p>
            <a:r>
              <a:rPr lang="en-IN" sz="1400" dirty="0">
                <a:solidFill>
                  <a:schemeClr val="tx1"/>
                </a:solidFill>
                <a:latin typeface="Gotham"/>
              </a:rPr>
              <a:t>Average cost per km per tonne through water = 15</a:t>
            </a:r>
          </a:p>
          <a:p>
            <a:r>
              <a:rPr lang="en-IN" sz="1400" dirty="0">
                <a:solidFill>
                  <a:schemeClr val="tx1"/>
                </a:solidFill>
                <a:latin typeface="Gotham"/>
              </a:rPr>
              <a:t>Average cost per km per tonne through rail= 11</a:t>
            </a:r>
          </a:p>
          <a:p>
            <a:endParaRPr lang="en-IN" sz="1400" dirty="0">
              <a:solidFill>
                <a:schemeClr val="tx1"/>
              </a:solidFill>
              <a:latin typeface="Gotham"/>
            </a:endParaRPr>
          </a:p>
          <a:p>
            <a:r>
              <a:rPr lang="en-IN" sz="1400" dirty="0">
                <a:solidFill>
                  <a:schemeClr val="tx1"/>
                </a:solidFill>
                <a:latin typeface="Gotham"/>
              </a:rPr>
              <a:t>In states like </a:t>
            </a:r>
            <a:r>
              <a:rPr lang="en-IN" sz="1400" dirty="0" err="1">
                <a:solidFill>
                  <a:schemeClr val="tx1"/>
                </a:solidFill>
                <a:latin typeface="Gotham"/>
              </a:rPr>
              <a:t>Maharashra</a:t>
            </a:r>
            <a:r>
              <a:rPr lang="en-IN" sz="1400" dirty="0">
                <a:solidFill>
                  <a:schemeClr val="tx1"/>
                </a:solidFill>
                <a:latin typeface="Gotham"/>
              </a:rPr>
              <a:t>, where the road connectivity is superb, the preferred mode of movement should be road(cost drops to 12-13 per tonne per km), while Northern states do not have HCCB clusters, hence, the railway network and the National waterways can be used to cater. Hence, an </a:t>
            </a:r>
            <a:r>
              <a:rPr lang="en-IN" sz="1400" b="1" dirty="0">
                <a:solidFill>
                  <a:schemeClr val="tx1"/>
                </a:solidFill>
                <a:latin typeface="Gotham"/>
              </a:rPr>
              <a:t>intermodal transport network </a:t>
            </a:r>
            <a:r>
              <a:rPr lang="en-IN" sz="1400" dirty="0">
                <a:solidFill>
                  <a:schemeClr val="tx1"/>
                </a:solidFill>
                <a:latin typeface="Gotham"/>
              </a:rPr>
              <a:t>needs to be implemented to check on emissions as well as cost.</a:t>
            </a:r>
          </a:p>
          <a:p>
            <a:endParaRPr lang="en-IN" sz="1400" dirty="0">
              <a:solidFill>
                <a:schemeClr val="tx1"/>
              </a:solidFill>
              <a:latin typeface="Gotham"/>
            </a:endParaRPr>
          </a:p>
          <a:p>
            <a:endParaRPr lang="en-IN" sz="1400" dirty="0">
              <a:solidFill>
                <a:schemeClr val="tx1"/>
              </a:solidFill>
              <a:latin typeface="Gotham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DC3C5D-7AF2-6253-3FB7-CD64A1CD95B5}"/>
              </a:ext>
            </a:extLst>
          </p:cNvPr>
          <p:cNvSpPr/>
          <p:nvPr/>
        </p:nvSpPr>
        <p:spPr>
          <a:xfrm>
            <a:off x="8838379" y="3834882"/>
            <a:ext cx="2824885" cy="19626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Implementing Intermodal transport</a:t>
            </a:r>
          </a:p>
        </p:txBody>
      </p:sp>
    </p:spTree>
    <p:extLst>
      <p:ext uri="{BB962C8B-B14F-4D97-AF65-F5344CB8AC3E}">
        <p14:creationId xmlns:p14="http://schemas.microsoft.com/office/powerpoint/2010/main" val="147869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5E6518F-4610-94F6-0DE4-697F2BAB29E3}"/>
              </a:ext>
            </a:extLst>
          </p:cNvPr>
          <p:cNvSpPr/>
          <p:nvPr/>
        </p:nvSpPr>
        <p:spPr>
          <a:xfrm>
            <a:off x="8528181" y="4000791"/>
            <a:ext cx="3554962" cy="270791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400" dirty="0">
                <a:solidFill>
                  <a:schemeClr val="tx1"/>
                </a:solidFill>
              </a:rPr>
              <a:t>Choose </a:t>
            </a:r>
            <a:r>
              <a:rPr lang="en-IN" sz="1400" b="1" dirty="0">
                <a:solidFill>
                  <a:schemeClr val="tx1"/>
                </a:solidFill>
              </a:rPr>
              <a:t>500 C&amp;F Agents </a:t>
            </a:r>
            <a:r>
              <a:rPr lang="en-IN" sz="1400" dirty="0">
                <a:solidFill>
                  <a:schemeClr val="tx1"/>
                </a:solidFill>
              </a:rPr>
              <a:t>from 5000+ distributors based on specified selection criteria: history, reach, and financial strength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Benefits: </a:t>
            </a:r>
            <a:r>
              <a:rPr lang="en-IN" sz="1400" dirty="0">
                <a:solidFill>
                  <a:schemeClr val="tx1"/>
                </a:solidFill>
              </a:rPr>
              <a:t>Lower number of units required, lower cost incurred in distribution</a:t>
            </a:r>
          </a:p>
          <a:p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</a:rPr>
              <a:t>Phased introduction of EV for catering to NKA movement, as desired specifications are available. Currently, vehicles with payload </a:t>
            </a:r>
            <a:r>
              <a:rPr lang="en-IN" sz="1400" dirty="0" err="1">
                <a:solidFill>
                  <a:schemeClr val="tx1"/>
                </a:solidFill>
              </a:rPr>
              <a:t>upto</a:t>
            </a:r>
            <a:r>
              <a:rPr lang="en-IN" sz="1400" dirty="0">
                <a:solidFill>
                  <a:schemeClr val="tx1"/>
                </a:solidFill>
              </a:rPr>
              <a:t> 1 T are available (Tata Ace EV)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Benefits: </a:t>
            </a:r>
            <a:r>
              <a:rPr lang="en-IN" sz="1400" dirty="0">
                <a:solidFill>
                  <a:schemeClr val="tx1"/>
                </a:solidFill>
              </a:rPr>
              <a:t>Clean and sustainable transport to NKA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ADBD6F-7182-95A5-EAC3-68690CC9C967}"/>
              </a:ext>
            </a:extLst>
          </p:cNvPr>
          <p:cNvSpPr/>
          <p:nvPr/>
        </p:nvSpPr>
        <p:spPr>
          <a:xfrm>
            <a:off x="4655976" y="3998180"/>
            <a:ext cx="3590662" cy="27105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400" b="1" dirty="0">
                <a:solidFill>
                  <a:schemeClr val="tx1"/>
                </a:solidFill>
              </a:rPr>
              <a:t>Intermodal Transport </a:t>
            </a:r>
            <a:r>
              <a:rPr lang="en-IN" sz="1400" dirty="0">
                <a:solidFill>
                  <a:schemeClr val="tx1"/>
                </a:solidFill>
              </a:rPr>
              <a:t>to cater to customers:</a:t>
            </a:r>
          </a:p>
          <a:p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80A92E-A99E-30E2-0F50-D3DE950CEE46}"/>
              </a:ext>
            </a:extLst>
          </p:cNvPr>
          <p:cNvSpPr/>
          <p:nvPr/>
        </p:nvSpPr>
        <p:spPr>
          <a:xfrm>
            <a:off x="83976" y="3998180"/>
            <a:ext cx="4236097" cy="90048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Ethanol blended fuel for lower emissions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Intermodal Transport to reduce cost and emissions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Carry &amp; Forward Agents from 5500+ distributors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Phased introduction of EVs on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EFE1E-7CF0-853C-CD38-8A8C47A8E22A}"/>
              </a:ext>
            </a:extLst>
          </p:cNvPr>
          <p:cNvSpPr/>
          <p:nvPr/>
        </p:nvSpPr>
        <p:spPr>
          <a:xfrm>
            <a:off x="0" y="0"/>
            <a:ext cx="12192000" cy="2541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Analyzing the current scenarios and suggesting implementations for Customer Movement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3E3B0-FE6A-1309-8168-CF3A00355B48}"/>
              </a:ext>
            </a:extLst>
          </p:cNvPr>
          <p:cNvSpPr/>
          <p:nvPr/>
        </p:nvSpPr>
        <p:spPr>
          <a:xfrm>
            <a:off x="83976" y="347579"/>
            <a:ext cx="11999167" cy="3421988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7CE16D-D730-C3EE-04CD-4504CA313550}"/>
              </a:ext>
            </a:extLst>
          </p:cNvPr>
          <p:cNvSpPr/>
          <p:nvPr/>
        </p:nvSpPr>
        <p:spPr>
          <a:xfrm>
            <a:off x="0" y="272417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Current Situation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61BB2B-CE3E-4137-10F0-2C33FB0B2F1B}"/>
              </a:ext>
            </a:extLst>
          </p:cNvPr>
          <p:cNvGrpSpPr/>
          <p:nvPr/>
        </p:nvGrpSpPr>
        <p:grpSpPr>
          <a:xfrm>
            <a:off x="437974" y="347578"/>
            <a:ext cx="11119518" cy="888697"/>
            <a:chOff x="92741" y="338248"/>
            <a:chExt cx="11119518" cy="104392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139C2FA-E553-12DE-C2F8-5BE45D144BA1}"/>
                </a:ext>
              </a:extLst>
            </p:cNvPr>
            <p:cNvGrpSpPr/>
            <p:nvPr/>
          </p:nvGrpSpPr>
          <p:grpSpPr>
            <a:xfrm>
              <a:off x="92741" y="391333"/>
              <a:ext cx="11119518" cy="990841"/>
              <a:chOff x="92741" y="391333"/>
              <a:chExt cx="11119518" cy="99084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23010BD-BFDC-78C6-9AA7-3A772EBCA7B8}"/>
                  </a:ext>
                </a:extLst>
              </p:cNvPr>
              <p:cNvSpPr/>
              <p:nvPr/>
            </p:nvSpPr>
            <p:spPr>
              <a:xfrm>
                <a:off x="6082995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103645</a:t>
                </a:r>
              </a:p>
              <a:p>
                <a:r>
                  <a:rPr lang="en-IN" sz="1400" dirty="0">
                    <a:latin typeface="Gotham"/>
                  </a:rPr>
                  <a:t>Litres of fuel consumption per day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12E7BD5-973C-AA05-98C2-0A68A6C6B094}"/>
                  </a:ext>
                </a:extLst>
              </p:cNvPr>
              <p:cNvSpPr/>
              <p:nvPr/>
            </p:nvSpPr>
            <p:spPr>
              <a:xfrm>
                <a:off x="9078122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latin typeface="Gotham"/>
                  </a:rPr>
                  <a:t>279840</a:t>
                </a:r>
              </a:p>
              <a:p>
                <a:r>
                  <a:rPr lang="en-IN" sz="1400" dirty="0">
                    <a:latin typeface="Gotham"/>
                  </a:rPr>
                  <a:t>Kg </a:t>
                </a:r>
                <a:r>
                  <a:rPr lang="en-IN" sz="1400" dirty="0"/>
                  <a:t>CO</a:t>
                </a:r>
                <a:r>
                  <a:rPr lang="en-IN" sz="1400" baseline="-25000" dirty="0"/>
                  <a:t>2</a:t>
                </a:r>
                <a:r>
                  <a:rPr lang="en-IN" sz="1400" dirty="0">
                    <a:latin typeface="Gotham"/>
                  </a:rPr>
                  <a:t> Emissions per trip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4FE3DCE-B033-7056-9BF9-CAA72346FF01}"/>
                  </a:ext>
                </a:extLst>
              </p:cNvPr>
              <p:cNvSpPr/>
              <p:nvPr/>
            </p:nvSpPr>
            <p:spPr>
              <a:xfrm>
                <a:off x="3087868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1760</a:t>
                </a:r>
              </a:p>
              <a:p>
                <a:r>
                  <a:rPr lang="en-IN" sz="1400" dirty="0">
                    <a:latin typeface="Gotham"/>
                  </a:rPr>
                  <a:t>Dedicated units used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157EAB3-7F80-4ABD-7493-CFCEB557442C}"/>
                  </a:ext>
                </a:extLst>
              </p:cNvPr>
              <p:cNvSpPr/>
              <p:nvPr/>
            </p:nvSpPr>
            <p:spPr>
              <a:xfrm>
                <a:off x="92741" y="628601"/>
                <a:ext cx="2099953" cy="7535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latin typeface="Gotham"/>
                  </a:rPr>
                  <a:t>Road</a:t>
                </a:r>
              </a:p>
              <a:p>
                <a:r>
                  <a:rPr lang="en-IN" sz="1400" dirty="0">
                    <a:latin typeface="Gotham"/>
                  </a:rPr>
                  <a:t>Current mode of transport</a:t>
                </a:r>
              </a:p>
            </p:txBody>
          </p:sp>
          <p:pic>
            <p:nvPicPr>
              <p:cNvPr id="12" name="Graphic 11" descr="Dump truck with solid fill">
                <a:extLst>
                  <a:ext uri="{FF2B5EF4-FFF2-40B4-BE49-F238E27FC236}">
                    <a16:creationId xmlns:a16="http://schemas.microsoft.com/office/drawing/2014/main" id="{4305F480-A63F-F282-5398-ED9C3CCD5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41698" y="409996"/>
                <a:ext cx="662473" cy="662473"/>
              </a:xfrm>
              <a:prstGeom prst="rect">
                <a:avLst/>
              </a:prstGeom>
            </p:spPr>
          </p:pic>
          <p:pic>
            <p:nvPicPr>
              <p:cNvPr id="13" name="Picture 2" descr="Road ">
                <a:extLst>
                  <a:ext uri="{FF2B5EF4-FFF2-40B4-BE49-F238E27FC236}">
                    <a16:creationId xmlns:a16="http://schemas.microsoft.com/office/drawing/2014/main" id="{21767EFD-97EB-D6A2-BACE-3D18C200B7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42214" y="465993"/>
                <a:ext cx="550480" cy="5504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4" descr="Air pollution ">
                <a:extLst>
                  <a:ext uri="{FF2B5EF4-FFF2-40B4-BE49-F238E27FC236}">
                    <a16:creationId xmlns:a16="http://schemas.microsoft.com/office/drawing/2014/main" id="{E8F31B9A-54BB-E010-0115-7B5E9DB4DC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49786" y="391333"/>
                <a:ext cx="662473" cy="6624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" name="Graphic 6" descr="Fuel with solid fill">
              <a:extLst>
                <a:ext uri="{FF2B5EF4-FFF2-40B4-BE49-F238E27FC236}">
                  <a16:creationId xmlns:a16="http://schemas.microsoft.com/office/drawing/2014/main" id="{67365D1B-8B69-403F-7161-B3079536C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53175" y="338248"/>
              <a:ext cx="662473" cy="662473"/>
            </a:xfrm>
            <a:prstGeom prst="rect">
              <a:avLst/>
            </a:prstGeom>
          </p:spPr>
        </p:pic>
      </p:grp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FD74C2AF-2331-0398-8900-978B002625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7227377"/>
              </p:ext>
            </p:extLst>
          </p:nvPr>
        </p:nvGraphicFramePr>
        <p:xfrm>
          <a:off x="298581" y="1374704"/>
          <a:ext cx="3704253" cy="2173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6" name="Chart 15">
                <a:extLst>
                  <a:ext uri="{FF2B5EF4-FFF2-40B4-BE49-F238E27FC236}">
                    <a16:creationId xmlns:a16="http://schemas.microsoft.com/office/drawing/2014/main" id="{58035472-FE45-DA99-BA78-9DB674F4479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7774439"/>
                  </p:ext>
                </p:extLst>
              </p:nvPr>
            </p:nvGraphicFramePr>
            <p:xfrm>
              <a:off x="4131840" y="1374704"/>
              <a:ext cx="4114798" cy="217297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9"/>
              </a:graphicData>
            </a:graphic>
          </p:graphicFrame>
        </mc:Choice>
        <mc:Fallback>
          <p:pic>
            <p:nvPicPr>
              <p:cNvPr id="16" name="Chart 15">
                <a:extLst>
                  <a:ext uri="{FF2B5EF4-FFF2-40B4-BE49-F238E27FC236}">
                    <a16:creationId xmlns:a16="http://schemas.microsoft.com/office/drawing/2014/main" id="{58035472-FE45-DA99-BA78-9DB674F447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31840" y="1374704"/>
                <a:ext cx="4114798" cy="2172971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D6CD73BC-7DF7-67C0-D533-06F36E68C616}"/>
              </a:ext>
            </a:extLst>
          </p:cNvPr>
          <p:cNvSpPr/>
          <p:nvPr/>
        </p:nvSpPr>
        <p:spPr>
          <a:xfrm>
            <a:off x="10307215" y="1905338"/>
            <a:ext cx="1511559" cy="142758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4.3x</a:t>
            </a:r>
          </a:p>
          <a:p>
            <a:pPr algn="ctr"/>
            <a:r>
              <a:rPr lang="en-IN" sz="1400" dirty="0"/>
              <a:t>Increase in CO</a:t>
            </a:r>
            <a:r>
              <a:rPr lang="en-IN" sz="1400" baseline="-25000" dirty="0"/>
              <a:t>2</a:t>
            </a:r>
            <a:r>
              <a:rPr lang="en-IN" sz="1400" dirty="0"/>
              <a:t> emission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00FF93-AEE6-8AB3-F85D-884F757E4057}"/>
              </a:ext>
            </a:extLst>
          </p:cNvPr>
          <p:cNvSpPr/>
          <p:nvPr/>
        </p:nvSpPr>
        <p:spPr>
          <a:xfrm>
            <a:off x="8429644" y="1905338"/>
            <a:ext cx="1511559" cy="142758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6.5x</a:t>
            </a:r>
          </a:p>
          <a:p>
            <a:pPr algn="ctr"/>
            <a:r>
              <a:rPr lang="en-IN" sz="1400" dirty="0"/>
              <a:t>Increase in Freight cost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F15D66-6551-320C-59E9-77C533BEB39F}"/>
              </a:ext>
            </a:extLst>
          </p:cNvPr>
          <p:cNvSpPr/>
          <p:nvPr/>
        </p:nvSpPr>
        <p:spPr>
          <a:xfrm>
            <a:off x="0" y="3830645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Recommendations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278333-5A86-BB4B-D83A-635D8AF91846}"/>
              </a:ext>
            </a:extLst>
          </p:cNvPr>
          <p:cNvSpPr/>
          <p:nvPr/>
        </p:nvSpPr>
        <p:spPr>
          <a:xfrm>
            <a:off x="83976" y="5177408"/>
            <a:ext cx="4236097" cy="153130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400" b="1" dirty="0">
                <a:solidFill>
                  <a:schemeClr val="tx1"/>
                </a:solidFill>
              </a:rPr>
              <a:t>Ethanol blended fuel </a:t>
            </a:r>
            <a:r>
              <a:rPr lang="en-IN" sz="1400" dirty="0">
                <a:solidFill>
                  <a:schemeClr val="tx1"/>
                </a:solidFill>
              </a:rPr>
              <a:t>to reduce carbon emissions</a:t>
            </a:r>
          </a:p>
          <a:p>
            <a:r>
              <a:rPr lang="en-IN" sz="1400" dirty="0">
                <a:solidFill>
                  <a:schemeClr val="tx1"/>
                </a:solidFill>
              </a:rPr>
              <a:t>Currently, E5 and E10 blends are available, E20 to be available from April 2023</a:t>
            </a:r>
          </a:p>
          <a:p>
            <a:r>
              <a:rPr lang="en-IN" sz="1400" dirty="0">
                <a:solidFill>
                  <a:schemeClr val="tx1"/>
                </a:solidFill>
              </a:rPr>
              <a:t>Benefits: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10% reduction in fuel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chemeClr val="tx1"/>
                </a:solidFill>
              </a:rPr>
              <a:t>Upto</a:t>
            </a:r>
            <a:r>
              <a:rPr lang="en-IN" sz="1400" dirty="0">
                <a:solidFill>
                  <a:schemeClr val="tx1"/>
                </a:solidFill>
              </a:rPr>
              <a:t> 30% reduction in emissions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4CD72B-C6CF-2F36-E12E-ABC2D3A93156}"/>
              </a:ext>
            </a:extLst>
          </p:cNvPr>
          <p:cNvSpPr/>
          <p:nvPr/>
        </p:nvSpPr>
        <p:spPr>
          <a:xfrm>
            <a:off x="0" y="5027029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Plan of action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1E4E26-C86D-8809-7631-6B476128AE9B}"/>
              </a:ext>
            </a:extLst>
          </p:cNvPr>
          <p:cNvSpPr/>
          <p:nvPr/>
        </p:nvSpPr>
        <p:spPr>
          <a:xfrm>
            <a:off x="4568087" y="3830644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Plan of action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046FF16-384C-F66B-9C0B-D859017FDCFC}"/>
              </a:ext>
            </a:extLst>
          </p:cNvPr>
          <p:cNvGrpSpPr/>
          <p:nvPr/>
        </p:nvGrpSpPr>
        <p:grpSpPr>
          <a:xfrm>
            <a:off x="4691771" y="4314118"/>
            <a:ext cx="3472914" cy="1231641"/>
            <a:chOff x="4737973" y="4516016"/>
            <a:chExt cx="3472914" cy="1231641"/>
          </a:xfrm>
        </p:grpSpPr>
        <p:pic>
          <p:nvPicPr>
            <p:cNvPr id="2050" name="Picture 2" descr="Storage stacks ">
              <a:extLst>
                <a:ext uri="{FF2B5EF4-FFF2-40B4-BE49-F238E27FC236}">
                  <a16:creationId xmlns:a16="http://schemas.microsoft.com/office/drawing/2014/main" id="{70ECA000-3EE0-4B2C-1D18-47499E67CC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7973" y="4810450"/>
              <a:ext cx="497915" cy="497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Distribution center ">
              <a:extLst>
                <a:ext uri="{FF2B5EF4-FFF2-40B4-BE49-F238E27FC236}">
                  <a16:creationId xmlns:a16="http://schemas.microsoft.com/office/drawing/2014/main" id="{1E92EAAA-889D-2A0B-1306-82DAD2050E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2972" y="4812143"/>
              <a:ext cx="497915" cy="497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12BA9CC-BBF1-038C-F5B8-C2A708F27C9E}"/>
                </a:ext>
              </a:extLst>
            </p:cNvPr>
            <p:cNvSpPr/>
            <p:nvPr/>
          </p:nvSpPr>
          <p:spPr>
            <a:xfrm>
              <a:off x="5826693" y="4590661"/>
              <a:ext cx="1217927" cy="3080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Roadways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BF83925-9089-4091-E086-2D3E354A4422}"/>
                </a:ext>
              </a:extLst>
            </p:cNvPr>
            <p:cNvSpPr/>
            <p:nvPr/>
          </p:nvSpPr>
          <p:spPr>
            <a:xfrm>
              <a:off x="5826693" y="4973277"/>
              <a:ext cx="1217927" cy="3080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Railways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44B94D6-5810-B2F5-9E9C-BA1717D62F56}"/>
                </a:ext>
              </a:extLst>
            </p:cNvPr>
            <p:cNvSpPr/>
            <p:nvPr/>
          </p:nvSpPr>
          <p:spPr>
            <a:xfrm>
              <a:off x="5826693" y="5364967"/>
              <a:ext cx="1217927" cy="3080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Waterways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68DD54F-3592-5A00-BC4C-5D04358C8F2E}"/>
                </a:ext>
              </a:extLst>
            </p:cNvPr>
            <p:cNvSpPr/>
            <p:nvPr/>
          </p:nvSpPr>
          <p:spPr>
            <a:xfrm>
              <a:off x="5714721" y="4516016"/>
              <a:ext cx="1396711" cy="1231641"/>
            </a:xfrm>
            <a:prstGeom prst="rect">
              <a:avLst/>
            </a:pr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4EF6F983-8E0F-208C-993F-7095659140C6}"/>
                </a:ext>
              </a:extLst>
            </p:cNvPr>
            <p:cNvSpPr/>
            <p:nvPr/>
          </p:nvSpPr>
          <p:spPr>
            <a:xfrm>
              <a:off x="5282542" y="5073528"/>
              <a:ext cx="346704" cy="1038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1BE6CFF9-B128-2E8B-6B6F-B0B6C539DF7A}"/>
                </a:ext>
              </a:extLst>
            </p:cNvPr>
            <p:cNvSpPr/>
            <p:nvPr/>
          </p:nvSpPr>
          <p:spPr>
            <a:xfrm>
              <a:off x="7299456" y="5073528"/>
              <a:ext cx="346704" cy="1038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1A0F62A-80ED-1B3B-7BF2-A7FA8BCCD315}"/>
              </a:ext>
            </a:extLst>
          </p:cNvPr>
          <p:cNvSpPr txBox="1"/>
          <p:nvPr/>
        </p:nvSpPr>
        <p:spPr>
          <a:xfrm>
            <a:off x="4691771" y="5554759"/>
            <a:ext cx="34729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Assess the mode of transport to be used for each location based on the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Connectivity through each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Cost of servicing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Emissions in transport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C9E7CC-0C51-85F5-FBD6-57C471FAAE4A}"/>
              </a:ext>
            </a:extLst>
          </p:cNvPr>
          <p:cNvSpPr/>
          <p:nvPr/>
        </p:nvSpPr>
        <p:spPr>
          <a:xfrm>
            <a:off x="8489024" y="3836193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Plan of action</a:t>
            </a:r>
          </a:p>
        </p:txBody>
      </p:sp>
    </p:spTree>
    <p:extLst>
      <p:ext uri="{BB962C8B-B14F-4D97-AF65-F5344CB8AC3E}">
        <p14:creationId xmlns:p14="http://schemas.microsoft.com/office/powerpoint/2010/main" val="155870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D34F55-03B2-76EB-9883-EEACC34F0A50}"/>
              </a:ext>
            </a:extLst>
          </p:cNvPr>
          <p:cNvSpPr/>
          <p:nvPr/>
        </p:nvSpPr>
        <p:spPr>
          <a:xfrm>
            <a:off x="0" y="0"/>
            <a:ext cx="12192000" cy="2541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Gotham"/>
              </a:rPr>
              <a:t>Summarizing the 3 types of movement for catering to the customers</a:t>
            </a:r>
          </a:p>
        </p:txBody>
      </p:sp>
      <p:pic>
        <p:nvPicPr>
          <p:cNvPr id="3" name="Picture 2" descr="Storage stacks ">
            <a:extLst>
              <a:ext uri="{FF2B5EF4-FFF2-40B4-BE49-F238E27FC236}">
                <a16:creationId xmlns:a16="http://schemas.microsoft.com/office/drawing/2014/main" id="{E851DF35-2B8E-1E0B-AD08-A25EC359B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795" y="969596"/>
            <a:ext cx="497915" cy="4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Distribution center ">
            <a:extLst>
              <a:ext uri="{FF2B5EF4-FFF2-40B4-BE49-F238E27FC236}">
                <a16:creationId xmlns:a16="http://schemas.microsoft.com/office/drawing/2014/main" id="{935B2A1F-DB86-7658-CF21-BB54E789F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401" y="923357"/>
            <a:ext cx="497915" cy="4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AC6C4F1F-836F-9BF1-E564-D6BBD143C93C}"/>
              </a:ext>
            </a:extLst>
          </p:cNvPr>
          <p:cNvSpPr/>
          <p:nvPr/>
        </p:nvSpPr>
        <p:spPr>
          <a:xfrm>
            <a:off x="1604874" y="1213394"/>
            <a:ext cx="858416" cy="1679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EA1AC-74BD-FDFB-2371-55AB4DF917A1}"/>
              </a:ext>
            </a:extLst>
          </p:cNvPr>
          <p:cNvSpPr txBox="1"/>
          <p:nvPr/>
        </p:nvSpPr>
        <p:spPr>
          <a:xfrm>
            <a:off x="1604874" y="991641"/>
            <a:ext cx="858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Gotham"/>
              </a:rPr>
              <a:t>C&amp;F Agent</a:t>
            </a:r>
          </a:p>
        </p:txBody>
      </p:sp>
      <p:pic>
        <p:nvPicPr>
          <p:cNvPr id="4098" name="Picture 2" descr="Warehouse ">
            <a:extLst>
              <a:ext uri="{FF2B5EF4-FFF2-40B4-BE49-F238E27FC236}">
                <a16:creationId xmlns:a16="http://schemas.microsoft.com/office/drawing/2014/main" id="{5462F34F-A65F-07F9-2575-A39E279AC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970" y="889375"/>
            <a:ext cx="497915" cy="4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arehouse ">
            <a:extLst>
              <a:ext uri="{FF2B5EF4-FFF2-40B4-BE49-F238E27FC236}">
                <a16:creationId xmlns:a16="http://schemas.microsoft.com/office/drawing/2014/main" id="{E2D0544F-1BBE-632A-FC72-C16542CD5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941" y="970381"/>
            <a:ext cx="497915" cy="4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Truck ">
            <a:extLst>
              <a:ext uri="{FF2B5EF4-FFF2-40B4-BE49-F238E27FC236}">
                <a16:creationId xmlns:a16="http://schemas.microsoft.com/office/drawing/2014/main" id="{E0AEDB00-F5B9-E5E3-94EE-CEF5D3112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570" y="453542"/>
            <a:ext cx="578136" cy="57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Cargo train ">
            <a:extLst>
              <a:ext uri="{FF2B5EF4-FFF2-40B4-BE49-F238E27FC236}">
                <a16:creationId xmlns:a16="http://schemas.microsoft.com/office/drawing/2014/main" id="{BFD6A481-3F04-BDD4-9ECA-292441204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570" y="942021"/>
            <a:ext cx="578136" cy="57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Cargo ship ">
            <a:extLst>
              <a:ext uri="{FF2B5EF4-FFF2-40B4-BE49-F238E27FC236}">
                <a16:creationId xmlns:a16="http://schemas.microsoft.com/office/drawing/2014/main" id="{DF855630-10F9-F7B5-F0F8-47359789D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570" y="1637597"/>
            <a:ext cx="578136" cy="57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Distribution center ">
            <a:extLst>
              <a:ext uri="{FF2B5EF4-FFF2-40B4-BE49-F238E27FC236}">
                <a16:creationId xmlns:a16="http://schemas.microsoft.com/office/drawing/2014/main" id="{10097098-D742-CF99-6C4F-4BCE12272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001" y="889375"/>
            <a:ext cx="578136" cy="57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Truck ">
            <a:extLst>
              <a:ext uri="{FF2B5EF4-FFF2-40B4-BE49-F238E27FC236}">
                <a16:creationId xmlns:a16="http://schemas.microsoft.com/office/drawing/2014/main" id="{1A92EBF0-5D55-3224-3138-4688BC74C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750" y="453542"/>
            <a:ext cx="578136" cy="57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Cargo train ">
            <a:extLst>
              <a:ext uri="{FF2B5EF4-FFF2-40B4-BE49-F238E27FC236}">
                <a16:creationId xmlns:a16="http://schemas.microsoft.com/office/drawing/2014/main" id="{135693C9-7A03-6E1E-3750-0A3D96824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750" y="942021"/>
            <a:ext cx="578136" cy="57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Cargo ship ">
            <a:extLst>
              <a:ext uri="{FF2B5EF4-FFF2-40B4-BE49-F238E27FC236}">
                <a16:creationId xmlns:a16="http://schemas.microsoft.com/office/drawing/2014/main" id="{51084031-DD22-7703-03FC-0CEEE02E2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750" y="1637597"/>
            <a:ext cx="578136" cy="57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BAB61E59-5160-3267-DEB0-22292D2DDCCB}"/>
              </a:ext>
            </a:extLst>
          </p:cNvPr>
          <p:cNvSpPr/>
          <p:nvPr/>
        </p:nvSpPr>
        <p:spPr>
          <a:xfrm>
            <a:off x="3261480" y="1216366"/>
            <a:ext cx="858416" cy="1679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90C0531-0973-AE5C-9FF9-188473F6D0E7}"/>
              </a:ext>
            </a:extLst>
          </p:cNvPr>
          <p:cNvSpPr/>
          <p:nvPr/>
        </p:nvSpPr>
        <p:spPr>
          <a:xfrm>
            <a:off x="7594336" y="1241062"/>
            <a:ext cx="820347" cy="179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3BA23D1-5381-BF0C-DED1-B9D171E60840}"/>
              </a:ext>
            </a:extLst>
          </p:cNvPr>
          <p:cNvSpPr/>
          <p:nvPr/>
        </p:nvSpPr>
        <p:spPr>
          <a:xfrm>
            <a:off x="9574143" y="1231088"/>
            <a:ext cx="858416" cy="1679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8537A06-8FEC-B6F5-01BD-56617A86EDE2}"/>
              </a:ext>
            </a:extLst>
          </p:cNvPr>
          <p:cNvSpPr/>
          <p:nvPr/>
        </p:nvSpPr>
        <p:spPr>
          <a:xfrm>
            <a:off x="4883521" y="1219339"/>
            <a:ext cx="492607" cy="1679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9AE7A4C-B6DE-F7FB-AE94-3D2B7F82BA8D}"/>
              </a:ext>
            </a:extLst>
          </p:cNvPr>
          <p:cNvSpPr/>
          <p:nvPr/>
        </p:nvSpPr>
        <p:spPr>
          <a:xfrm>
            <a:off x="6332260" y="1231088"/>
            <a:ext cx="492607" cy="1679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BC3295-D597-52B2-F641-8A8333B220BC}"/>
              </a:ext>
            </a:extLst>
          </p:cNvPr>
          <p:cNvSpPr/>
          <p:nvPr/>
        </p:nvSpPr>
        <p:spPr>
          <a:xfrm>
            <a:off x="5428456" y="453542"/>
            <a:ext cx="839280" cy="1762191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2CA56D-9C33-9EA6-C2D6-407EAFAEDAAD}"/>
              </a:ext>
            </a:extLst>
          </p:cNvPr>
          <p:cNvSpPr/>
          <p:nvPr/>
        </p:nvSpPr>
        <p:spPr>
          <a:xfrm>
            <a:off x="8568125" y="506194"/>
            <a:ext cx="839280" cy="1709539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CC9AF9-40D0-8353-4B1F-FCCEE54E0599}"/>
              </a:ext>
            </a:extLst>
          </p:cNvPr>
          <p:cNvSpPr/>
          <p:nvPr/>
        </p:nvSpPr>
        <p:spPr>
          <a:xfrm>
            <a:off x="857040" y="453542"/>
            <a:ext cx="2302594" cy="181484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04024B-C6BC-8DCB-C9AB-3FDB8D74EFA8}"/>
              </a:ext>
            </a:extLst>
          </p:cNvPr>
          <p:cNvSpPr/>
          <p:nvPr/>
        </p:nvSpPr>
        <p:spPr>
          <a:xfrm>
            <a:off x="4200651" y="400890"/>
            <a:ext cx="3329161" cy="186749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809A0E-6AE3-E892-E5E7-4D1EF9B0E29B}"/>
              </a:ext>
            </a:extLst>
          </p:cNvPr>
          <p:cNvSpPr/>
          <p:nvPr/>
        </p:nvSpPr>
        <p:spPr>
          <a:xfrm>
            <a:off x="8441138" y="400890"/>
            <a:ext cx="2811587" cy="186749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638569-70E6-CC1C-25A0-6AE59EAE9704}"/>
              </a:ext>
            </a:extLst>
          </p:cNvPr>
          <p:cNvSpPr txBox="1"/>
          <p:nvPr/>
        </p:nvSpPr>
        <p:spPr>
          <a:xfrm>
            <a:off x="873215" y="2268385"/>
            <a:ext cx="215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Gotham"/>
              </a:rPr>
              <a:t>Intra Movement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D484B3-C475-D6B2-A665-A31463E7956C}"/>
              </a:ext>
            </a:extLst>
          </p:cNvPr>
          <p:cNvSpPr txBox="1"/>
          <p:nvPr/>
        </p:nvSpPr>
        <p:spPr>
          <a:xfrm>
            <a:off x="4776093" y="2268385"/>
            <a:ext cx="215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Gotham"/>
              </a:rPr>
              <a:t>Inter Movement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468F71-756A-6D10-E630-62A468B7BE33}"/>
              </a:ext>
            </a:extLst>
          </p:cNvPr>
          <p:cNvSpPr txBox="1"/>
          <p:nvPr/>
        </p:nvSpPr>
        <p:spPr>
          <a:xfrm>
            <a:off x="8720548" y="2269431"/>
            <a:ext cx="215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Gotham"/>
              </a:rPr>
              <a:t>Customer Movement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E2F455-2A1E-96E1-C5EB-52D0531967BD}"/>
              </a:ext>
            </a:extLst>
          </p:cNvPr>
          <p:cNvSpPr/>
          <p:nvPr/>
        </p:nvSpPr>
        <p:spPr>
          <a:xfrm>
            <a:off x="89435" y="3015245"/>
            <a:ext cx="4426581" cy="362815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1400" dirty="0">
              <a:latin typeface="Gotha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10% of the total transport to be done through Railways by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  <a:latin typeface="Gotha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5% of the total transport to be done through National Waterways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  <a:latin typeface="Gotha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Phased introduction of EV to cater to NKA movement. 25% of the fleet to be electrified by 2030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  <a:latin typeface="Gotha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Exploring the scope of the C&amp;F agent model of distribution to outsource operations requiring last mile 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  <a:latin typeface="Gotha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Gotham"/>
              </a:rPr>
              <a:t>Optimization of network design to allocate warehouses or resources at locations reducing cost</a:t>
            </a:r>
          </a:p>
          <a:p>
            <a:endParaRPr lang="en-IN" sz="1400" dirty="0">
              <a:solidFill>
                <a:schemeClr val="tx1"/>
              </a:solidFill>
              <a:latin typeface="Gotham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4C93A3-A767-EE0A-189C-5A30903451D0}"/>
              </a:ext>
            </a:extLst>
          </p:cNvPr>
          <p:cNvSpPr/>
          <p:nvPr/>
        </p:nvSpPr>
        <p:spPr>
          <a:xfrm>
            <a:off x="0" y="2830781"/>
            <a:ext cx="1929934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Goal Setting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7C7CCC9-6D48-9412-38B5-606186F507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039" y="3011241"/>
            <a:ext cx="7461875" cy="74676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7D74CBC-3CFB-7909-6117-F585092149FB}"/>
              </a:ext>
            </a:extLst>
          </p:cNvPr>
          <p:cNvSpPr txBox="1"/>
          <p:nvPr/>
        </p:nvSpPr>
        <p:spPr>
          <a:xfrm>
            <a:off x="9988665" y="4440719"/>
            <a:ext cx="2152249" cy="160043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Gotham"/>
              </a:rPr>
              <a:t>On successful implementation of the goals, 25% reductions in emissions are observed from 2027 and by 2030, emissions are expected to be reduced by 45%.</a:t>
            </a: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912295B5-26E7-33CC-2DA0-58710039A5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2668930"/>
              </p:ext>
            </p:extLst>
          </p:nvPr>
        </p:nvGraphicFramePr>
        <p:xfrm>
          <a:off x="4679039" y="4332439"/>
          <a:ext cx="4763542" cy="2310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2553F2-9DF2-987D-60B0-320AC3EEAEF8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8864082" y="5187820"/>
            <a:ext cx="1124583" cy="531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0A54D4E-B651-E4C5-C447-A4C5FBDB9CFD}"/>
              </a:ext>
            </a:extLst>
          </p:cNvPr>
          <p:cNvSpPr/>
          <p:nvPr/>
        </p:nvSpPr>
        <p:spPr>
          <a:xfrm>
            <a:off x="4679039" y="2792618"/>
            <a:ext cx="2486871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Implementation timeline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FEEAE2E-EAD2-4205-D80C-6FD2198317EC}"/>
              </a:ext>
            </a:extLst>
          </p:cNvPr>
          <p:cNvSpPr/>
          <p:nvPr/>
        </p:nvSpPr>
        <p:spPr>
          <a:xfrm>
            <a:off x="7784346" y="4471374"/>
            <a:ext cx="2003517" cy="1302226"/>
          </a:xfrm>
          <a:prstGeom prst="ellipse">
            <a:avLst/>
          </a:prstGeom>
          <a:noFill/>
          <a:ln>
            <a:solidFill>
              <a:srgbClr val="F4000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otham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351626E-AB76-676A-C5D4-768051E876AB}"/>
              </a:ext>
            </a:extLst>
          </p:cNvPr>
          <p:cNvSpPr/>
          <p:nvPr/>
        </p:nvSpPr>
        <p:spPr>
          <a:xfrm>
            <a:off x="4679038" y="4083228"/>
            <a:ext cx="2486871" cy="2005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Gotham"/>
              </a:rPr>
              <a:t>Expected Outcomes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BFF691-0BAE-92D6-33BB-7455532C2E54}"/>
              </a:ext>
            </a:extLst>
          </p:cNvPr>
          <p:cNvSpPr txBox="1"/>
          <p:nvPr/>
        </p:nvSpPr>
        <p:spPr>
          <a:xfrm>
            <a:off x="10438499" y="6581001"/>
            <a:ext cx="17024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Gotham"/>
              </a:rPr>
              <a:t>Click </a:t>
            </a:r>
            <a:r>
              <a:rPr lang="en-IN" sz="1200" dirty="0">
                <a:latin typeface="Gotham"/>
                <a:hlinkClick r:id="rId12"/>
              </a:rPr>
              <a:t>here</a:t>
            </a:r>
            <a:r>
              <a:rPr lang="en-IN" sz="1200" dirty="0">
                <a:latin typeface="Gotham"/>
              </a:rPr>
              <a:t> for Annexures</a:t>
            </a:r>
          </a:p>
        </p:txBody>
      </p:sp>
    </p:spTree>
    <p:extLst>
      <p:ext uri="{BB962C8B-B14F-4D97-AF65-F5344CB8AC3E}">
        <p14:creationId xmlns:p14="http://schemas.microsoft.com/office/powerpoint/2010/main" val="4054791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1801</TotalTime>
  <Words>1159</Words>
  <Application>Microsoft Office PowerPoint</Application>
  <PresentationFormat>Widescreen</PresentationFormat>
  <Paragraphs>195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Gotham</vt:lpstr>
      <vt:lpstr>Office Theme</vt:lpstr>
      <vt:lpstr>HCCB Disrupt Season 1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HCCB Disrupt Season 1</dc:title>
  <dc:creator>Devesh Sinha</dc:creator>
  <cp:lastModifiedBy>Devesh Sinha</cp:lastModifiedBy>
  <cp:revision>10</cp:revision>
  <dcterms:created xsi:type="dcterms:W3CDTF">2022-10-28T16:34:55Z</dcterms:created>
  <dcterms:modified xsi:type="dcterms:W3CDTF">2022-10-30T14:47:51Z</dcterms:modified>
</cp:coreProperties>
</file>