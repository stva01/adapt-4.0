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448"/>
    <a:srgbClr val="FFE991"/>
    <a:srgbClr val="FFFBAE"/>
    <a:srgbClr val="FFEFA4"/>
    <a:srgbClr val="DCF0C6"/>
    <a:srgbClr val="92D050"/>
    <a:srgbClr val="FD5B5B"/>
    <a:srgbClr val="FFA6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2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91987\AppData\Local\Temp\6e812ba0-6f72-4489-807e-d233ca6d67db_66bf4a7f18fa9_AP_ChainReaction_2024_Case__Template__Excel.zip.7db\AP%20ChainReaction%202024%20Case%20+%20Template%20+%20Excel\Chain%20Reacti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explosion val="7"/>
          <c:dPt>
            <c:idx val="0"/>
            <c:bubble3D val="0"/>
            <c:explosion val="16"/>
            <c:spPr>
              <a:solidFill>
                <a:srgbClr val="FD5B5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3B1-444E-8F71-304073DB7FF0}"/>
              </c:ext>
            </c:extLst>
          </c:dPt>
          <c:dPt>
            <c:idx val="1"/>
            <c:bubble3D val="0"/>
            <c:explosion val="0"/>
            <c:spPr>
              <a:solidFill>
                <a:srgbClr val="FFE44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93B1-444E-8F71-304073DB7FF0}"/>
              </c:ext>
            </c:extLst>
          </c:dPt>
          <c:dPt>
            <c:idx val="2"/>
            <c:bubble3D val="0"/>
            <c:explosion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3B1-444E-8F71-304073DB7FF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09F656D-2BB6-CC4E-B15D-58071A19EE4C}" type="PERCENTAGE">
                      <a:rPr lang="en-US" sz="1000" b="1" baseline="0" smtClean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pPr/>
                      <a:t>[PERCENTAGE]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3B1-444E-8F71-304073DB7FF0}"/>
                </c:ext>
              </c:extLst>
            </c:dLbl>
            <c:dLbl>
              <c:idx val="1"/>
              <c:layout>
                <c:manualLayout>
                  <c:x val="0.10518128903868497"/>
                  <c:y val="0.14363605841866708"/>
                </c:manualLayout>
              </c:layout>
              <c:tx>
                <c:rich>
                  <a:bodyPr/>
                  <a:lstStyle/>
                  <a:p>
                    <a:r>
                      <a:rPr lang="en-US" sz="1000" b="1" baseline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13.15%</a:t>
                    </a:r>
                    <a:endParaRPr lang="en-US" sz="10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3B1-444E-8F71-304073DB7FF0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3B1-444E-8F71-304073DB7FF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13.15</c:v>
                </c:pt>
                <c:pt idx="2">
                  <c:v>1.85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B1-444E-8F71-304073DB7FF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017237412720142"/>
          <c:y val="0.7961624979016283"/>
          <c:w val="0.53741473318532662"/>
          <c:h val="0.124650950862130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40%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A7B-7C4D-9AA3-EEA0C83F54A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24.56%</a:t>
                    </a:r>
                    <a:endParaRPr lang="en-US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281760005232917"/>
                      <c:h val="0.2171613969619650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8A7B-7C4D-9AA3-EEA0C83F54A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21816FB-D798-A644-8DBA-0A8EC2B3BFD4}" type="VALUE">
                      <a:rPr lang="en-US" b="1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pPr/>
                      <a:t>[VALUE]</a:t>
                    </a:fld>
                    <a:r>
                      <a:rPr lang="en-US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A7B-7C4D-9AA3-EEA0C83F54A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Mumbai</c:v>
                </c:pt>
                <c:pt idx="1">
                  <c:v>Delhi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 formatCode="0.00">
                  <c:v>40</c:v>
                </c:pt>
                <c:pt idx="1">
                  <c:v>24.56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7B-7C4D-9AA3-EEA0C83F54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16811456"/>
        <c:axId val="716813168"/>
      </c:barChart>
      <c:catAx>
        <c:axId val="716811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6813168"/>
        <c:crosses val="autoZero"/>
        <c:auto val="1"/>
        <c:lblAlgn val="ctr"/>
        <c:lblOffset val="100"/>
        <c:noMultiLvlLbl val="0"/>
      </c:catAx>
      <c:valAx>
        <c:axId val="716813168"/>
        <c:scaling>
          <c:orientation val="minMax"/>
          <c:max val="50"/>
        </c:scaling>
        <c:delete val="0"/>
        <c:axPos val="b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6811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Sheet4!$A$2:$A$7</cx:f>
        <cx:lvl ptCount="6">
          <cx:pt idx="0">Actors</cx:pt>
          <cx:pt idx="1">Changemakers</cx:pt>
          <cx:pt idx="2">Entertainment</cx:pt>
          <cx:pt idx="3">Fashion &amp; Beauty</cx:pt>
          <cx:pt idx="4">Food</cx:pt>
          <cx:pt idx="5">Wellness</cx:pt>
        </cx:lvl>
      </cx:strDim>
      <cx:numDim type="val">
        <cx:f>Sheet4!$B$2:$B$7</cx:f>
        <cx:lvl ptCount="6" formatCode="General">
          <cx:pt idx="0">23</cx:pt>
          <cx:pt idx="1">2.7000000000000002</cx:pt>
          <cx:pt idx="2">31.960000000000001</cx:pt>
          <cx:pt idx="3">28.899999999999999</cx:pt>
          <cx:pt idx="4">5.2000000000000002</cx:pt>
          <cx:pt idx="5">3.5</cx:pt>
        </cx:lvl>
      </cx:numDim>
    </cx:data>
  </cx:chartData>
  <cx:chart>
    <cx:plotArea>
      <cx:plotAreaRegion>
        <cx:series layoutId="funnel" uniqueId="{08A84220-BDF2-43E3-9600-BE5961AF3109}"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00" b="1">
                    <a:solidFill>
                      <a:schemeClr val="bg1"/>
                    </a:solidFill>
                  </a:defRPr>
                </a:pPr>
                <a:endParaRPr lang="en-US" sz="900" b="1" i="0" u="none" strike="noStrike" baseline="0">
                  <a:solidFill>
                    <a:schemeClr val="bg1"/>
                  </a:solidFill>
                  <a:latin typeface="Arial"/>
                  <a:cs typeface="Arial"/>
                </a:endParaRPr>
              </a:p>
            </cx:txPr>
            <cx:visibility seriesName="0" categoryName="0" value="1"/>
          </cx:dataLabels>
          <cx:dataId val="0"/>
        </cx:series>
      </cx:plotAreaRegion>
      <cx:axis id="0">
        <cx:catScaling gapWidth="0.0599999987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700" b="1"/>
            </a:pPr>
            <a:endParaRPr lang="en-US" sz="700" b="1" i="0" u="none" strike="noStrike" baseline="0">
              <a:solidFill>
                <a:srgbClr val="000000">
                  <a:lumMod val="65000"/>
                  <a:lumOff val="35000"/>
                </a:srgbClr>
              </a:solidFill>
              <a:latin typeface="Arial"/>
              <a:cs typeface="Arial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6965D-5728-814C-AA90-B4716110D71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8EFAE-E8B8-B245-AF6E-3E507CB18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20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8EFAE-E8B8-B245-AF6E-3E507CB182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38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8EFAE-E8B8-B245-AF6E-3E507CB182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60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1A68-501E-5DB8-5BA0-324D111C8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444B8-2938-6B39-4ACE-F8AB09975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6D11A-A599-6A28-22D8-4DC91285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B632A-3CEC-4A40-AF17-C1EBF37CA4D3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4E98B-3A71-7A78-7287-928D9F30E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BB9D6-69E0-B9E6-D54C-5488DA5C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907C-4605-CA47-90DF-07A5FA4A5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01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1958-A4CA-06BC-A245-4718C687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7E8CE-3931-1B64-C8FD-12FC92C37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C1E0F-1FD3-EE4E-7188-90F0C2F7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B632A-3CEC-4A40-AF17-C1EBF37CA4D3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6A8D7-F650-4D7A-09A3-B33A277F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B93E1-5BF5-1797-9ED1-1B7572191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907C-4605-CA47-90DF-07A5FA4A5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9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B78B1-02BF-A5FA-9FB1-A8090EC9D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C9965-A258-0857-CCC4-511AE2294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E8B8A-3DD5-0AE7-BCEB-E52BB0A93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B632A-3CEC-4A40-AF17-C1EBF37CA4D3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88049-78FD-A45D-96D3-7DAB85CD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CED23-6B76-F592-FCE0-0BC9299B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907C-4605-CA47-90DF-07A5FA4A5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8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64156-6248-16EE-87C0-E6F567134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E8EBC-8287-092B-36C5-6BAF81DD1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382BF-35AD-DC80-776E-0A143F8F5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5F13A-1C4A-830F-6161-DFC5F720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B632A-3CEC-4A40-AF17-C1EBF37CA4D3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8211-D6E0-0110-A056-DA43631C9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E1D90-7CA1-DC01-25F0-A1100100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907C-4605-CA47-90DF-07A5FA4A5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08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8366-02E3-5C4A-AB32-C98D049BD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8153C-AF67-2038-DED8-67182FF19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82C06-448D-B324-41E8-CADC39EAF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5A015B-AEDF-CF53-E70E-7BCD7344D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C436CE-CADD-65A4-63A3-6D0A19722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44171E-0CD9-206E-EDF5-EB1CD50C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B632A-3CEC-4A40-AF17-C1EBF37CA4D3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0DD98-33F9-D3F6-3466-BBA7999DC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70039E-76D9-D492-2F81-6CA81002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907C-4605-CA47-90DF-07A5FA4A5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05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B496-AC13-B06D-D9C6-6191F248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D1DEBF-1E91-5061-6D5A-F4155180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B632A-3CEC-4A40-AF17-C1EBF37CA4D3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2A116-30EC-499B-E13F-C5C0E3F0E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01ABE-86D2-E00F-A76A-FC11F2D58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907C-4605-CA47-90DF-07A5FA4A5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61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9A6E4-427F-5923-0228-66E5EF33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B632A-3CEC-4A40-AF17-C1EBF37CA4D3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C2D7F-AAC8-02C1-FB5D-6CCACDE4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ADE7F-99B3-EA4F-C2AF-BF6C50A8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907C-4605-CA47-90DF-07A5FA4A5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8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A895-4EFE-7720-3387-C08612AB2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C453-EDCA-8B4F-ADC5-55C736284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F4EF4-5351-5D8F-D7E5-C51B5B220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8FB44-AA4F-6378-E662-6794B9BA0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B632A-3CEC-4A40-AF17-C1EBF37CA4D3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E4E47-FAAD-BE55-A3B1-169FC548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2E6E4-660E-2E19-5878-38FA53418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907C-4605-CA47-90DF-07A5FA4A5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5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CA7F7-3E82-8983-7B07-CB58B9902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9AFDC0-2598-999F-8C8C-2B688A4BA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25856-DDBA-803A-2771-AFDAE0EEB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83E5F-242E-4C72-4F4A-B499A9B6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B632A-3CEC-4A40-AF17-C1EBF37CA4D3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EDAB3-77BA-408D-42D5-449FD9B5F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B5616-456A-C4A1-CD86-1B483D1C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907C-4605-CA47-90DF-07A5FA4A5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6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285DB-5CCC-0A32-B6E9-938E04A2E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D6AF9-595C-313F-811F-A9FEBC079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02203-7E04-71D2-CC76-C7856270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B632A-3CEC-4A40-AF17-C1EBF37CA4D3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FE8C8-676F-9ABE-2FED-06E4405D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11A61-F899-D7C0-B093-22714893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907C-4605-CA47-90DF-07A5FA4A5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4FD35-F570-3EF0-A6E1-33DD3CE03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36AD2-1C6F-617D-CCA5-32B394988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FBDDF-ECFE-D386-F1FC-5310FBFA1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B632A-3CEC-4A40-AF17-C1EBF37CA4D3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E279B-E071-439B-F7D1-ED7AFAD3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57982-B907-C9A9-C413-3685EF25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907C-4605-CA47-90DF-07A5FA4A5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55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57A6-7543-88F6-50E3-A58BDE68B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EDAC5-6B78-E5F7-1CE3-089D70400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2D966-6759-9CCC-297A-0E83D6783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B632A-3CEC-4A40-AF17-C1EBF37CA4D3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04692-D16C-AF4A-6D24-B59BC0DF0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0F4B1-F1AE-32C3-517D-47F8E8DD3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F907C-4605-CA47-90DF-07A5FA4A5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0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1.png"/><Relationship Id="rId39" Type="http://schemas.openxmlformats.org/officeDocument/2006/relationships/image" Target="../media/image33.png"/><Relationship Id="rId21" Type="http://schemas.openxmlformats.org/officeDocument/2006/relationships/image" Target="../media/image19.png"/><Relationship Id="rId34" Type="http://schemas.openxmlformats.org/officeDocument/2006/relationships/image" Target="../media/image28.png"/><Relationship Id="rId42" Type="http://schemas.openxmlformats.org/officeDocument/2006/relationships/image" Target="../media/image3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3.jpeg"/><Relationship Id="rId41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chart" Target="../charts/chart2.xml"/><Relationship Id="rId32" Type="http://schemas.openxmlformats.org/officeDocument/2006/relationships/image" Target="../media/image26.png"/><Relationship Id="rId37" Type="http://schemas.openxmlformats.org/officeDocument/2006/relationships/image" Target="../media/image31.png"/><Relationship Id="rId40" Type="http://schemas.openxmlformats.org/officeDocument/2006/relationships/image" Target="../media/image34.jpe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chart" Target="../charts/chart1.xml"/><Relationship Id="rId28" Type="http://schemas.openxmlformats.org/officeDocument/2006/relationships/image" Target="../media/image22.png"/><Relationship Id="rId36" Type="http://schemas.openxmlformats.org/officeDocument/2006/relationships/image" Target="../media/image30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1.jpeg"/><Relationship Id="rId30" Type="http://schemas.openxmlformats.org/officeDocument/2006/relationships/image" Target="../media/image24.jpeg"/><Relationship Id="rId35" Type="http://schemas.openxmlformats.org/officeDocument/2006/relationships/image" Target="../media/image29.jpeg"/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microsoft.com/office/2014/relationships/chartEx" Target="../charts/chartEx1.xml"/><Relationship Id="rId33" Type="http://schemas.openxmlformats.org/officeDocument/2006/relationships/image" Target="../media/image27.png"/><Relationship Id="rId38" Type="http://schemas.openxmlformats.org/officeDocument/2006/relationships/image" Target="../media/image3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aregama (@saregamaglobal) / X">
            <a:extLst>
              <a:ext uri="{FF2B5EF4-FFF2-40B4-BE49-F238E27FC236}">
                <a16:creationId xmlns:a16="http://schemas.microsoft.com/office/drawing/2014/main" id="{50672DD7-31AC-A2EB-493B-0DF264CAA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4772" y="6383666"/>
            <a:ext cx="366747" cy="366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464440-AC08-449F-E750-F3C6574DE890}"/>
              </a:ext>
            </a:extLst>
          </p:cNvPr>
          <p:cNvSpPr/>
          <p:nvPr/>
        </p:nvSpPr>
        <p:spPr>
          <a:xfrm>
            <a:off x="0" y="38063"/>
            <a:ext cx="12191999" cy="336884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646A0-D69A-28FC-965A-715FF8492488}"/>
              </a:ext>
            </a:extLst>
          </p:cNvPr>
          <p:cNvSpPr txBox="1"/>
          <p:nvPr/>
        </p:nvSpPr>
        <p:spPr>
          <a:xfrm>
            <a:off x="3708094" y="42749"/>
            <a:ext cx="5382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Expanding Creator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IN" sz="16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alent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IN" sz="16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ool of Clout (supply-side) 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E713F43-819D-8732-DB89-3123A2F40BEB}"/>
              </a:ext>
            </a:extLst>
          </p:cNvPr>
          <p:cNvSpPr/>
          <p:nvPr/>
        </p:nvSpPr>
        <p:spPr>
          <a:xfrm>
            <a:off x="43033" y="457609"/>
            <a:ext cx="6615952" cy="3122231"/>
          </a:xfrm>
          <a:prstGeom prst="roundRect">
            <a:avLst>
              <a:gd name="adj" fmla="val 294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A0FBAC-A716-66F8-67DA-C4C0E542FC8B}"/>
              </a:ext>
            </a:extLst>
          </p:cNvPr>
          <p:cNvSpPr/>
          <p:nvPr/>
        </p:nvSpPr>
        <p:spPr>
          <a:xfrm>
            <a:off x="32276" y="404261"/>
            <a:ext cx="6637468" cy="225472"/>
          </a:xfrm>
          <a:prstGeom prst="roundRect">
            <a:avLst/>
          </a:prstGeom>
          <a:solidFill>
            <a:srgbClr val="00AD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3066E5-0ADD-4430-F976-F73966A34A5D}"/>
              </a:ext>
            </a:extLst>
          </p:cNvPr>
          <p:cNvSpPr txBox="1"/>
          <p:nvPr/>
        </p:nvSpPr>
        <p:spPr>
          <a:xfrm>
            <a:off x="1359616" y="364189"/>
            <a:ext cx="3457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Influencer Market Growth Story So Far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7E4C553-03C7-AF56-D805-C2C099C23B5B}"/>
              </a:ext>
            </a:extLst>
          </p:cNvPr>
          <p:cNvSpPr/>
          <p:nvPr/>
        </p:nvSpPr>
        <p:spPr>
          <a:xfrm>
            <a:off x="6691255" y="468363"/>
            <a:ext cx="5468471" cy="3111477"/>
          </a:xfrm>
          <a:prstGeom prst="roundRect">
            <a:avLst>
              <a:gd name="adj" fmla="val 294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0F6BD2B-5E42-096C-8A53-2A754E8EB1AB}"/>
              </a:ext>
            </a:extLst>
          </p:cNvPr>
          <p:cNvSpPr/>
          <p:nvPr/>
        </p:nvSpPr>
        <p:spPr>
          <a:xfrm>
            <a:off x="6680497" y="404010"/>
            <a:ext cx="5468471" cy="228315"/>
          </a:xfrm>
          <a:prstGeom prst="roundRect">
            <a:avLst/>
          </a:prstGeom>
          <a:solidFill>
            <a:srgbClr val="00AD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C8FB90-61FD-B8BA-99A0-2C757B5603B8}"/>
              </a:ext>
            </a:extLst>
          </p:cNvPr>
          <p:cNvSpPr txBox="1"/>
          <p:nvPr/>
        </p:nvSpPr>
        <p:spPr>
          <a:xfrm>
            <a:off x="8398353" y="372499"/>
            <a:ext cx="2214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roaster of Clout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B7EE7F1-4BA4-3183-5263-798D619ABAE9}"/>
              </a:ext>
            </a:extLst>
          </p:cNvPr>
          <p:cNvSpPr/>
          <p:nvPr/>
        </p:nvSpPr>
        <p:spPr>
          <a:xfrm>
            <a:off x="43034" y="3671487"/>
            <a:ext cx="7379744" cy="3143894"/>
          </a:xfrm>
          <a:prstGeom prst="roundRect">
            <a:avLst>
              <a:gd name="adj" fmla="val 294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FB5B663-99BC-DF50-7DBF-2DF495A17919}"/>
              </a:ext>
            </a:extLst>
          </p:cNvPr>
          <p:cNvSpPr/>
          <p:nvPr/>
        </p:nvSpPr>
        <p:spPr>
          <a:xfrm>
            <a:off x="32275" y="3605906"/>
            <a:ext cx="7401261" cy="225473"/>
          </a:xfrm>
          <a:prstGeom prst="roundRect">
            <a:avLst/>
          </a:prstGeom>
          <a:solidFill>
            <a:srgbClr val="00AD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80AFC87-2825-3693-8FFD-27FB75A3ABD0}"/>
              </a:ext>
            </a:extLst>
          </p:cNvPr>
          <p:cNvSpPr/>
          <p:nvPr/>
        </p:nvSpPr>
        <p:spPr>
          <a:xfrm>
            <a:off x="7455687" y="3671487"/>
            <a:ext cx="4714798" cy="3148449"/>
          </a:xfrm>
          <a:prstGeom prst="roundRect">
            <a:avLst>
              <a:gd name="adj" fmla="val 294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73EF04B-6C7C-A662-4F34-C29C9BBAF079}"/>
              </a:ext>
            </a:extLst>
          </p:cNvPr>
          <p:cNvSpPr/>
          <p:nvPr/>
        </p:nvSpPr>
        <p:spPr>
          <a:xfrm>
            <a:off x="7450040" y="3599703"/>
            <a:ext cx="4714695" cy="231676"/>
          </a:xfrm>
          <a:prstGeom prst="roundRect">
            <a:avLst/>
          </a:prstGeom>
          <a:solidFill>
            <a:srgbClr val="00AD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95D3CA-DD13-DE41-601E-C09AC8117578}"/>
              </a:ext>
            </a:extLst>
          </p:cNvPr>
          <p:cNvSpPr txBox="1"/>
          <p:nvPr/>
        </p:nvSpPr>
        <p:spPr>
          <a:xfrm>
            <a:off x="2185067" y="3564753"/>
            <a:ext cx="3111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Rationale behind Targeting Niches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D26BBF-27DF-5533-A2C7-5FE392C6D18D}"/>
              </a:ext>
            </a:extLst>
          </p:cNvPr>
          <p:cNvSpPr txBox="1"/>
          <p:nvPr/>
        </p:nvSpPr>
        <p:spPr>
          <a:xfrm>
            <a:off x="7755596" y="3564753"/>
            <a:ext cx="4347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Synergy between niche influencers and brands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BFD4F3A-3709-C592-4291-ED63EC80ADFE}"/>
              </a:ext>
            </a:extLst>
          </p:cNvPr>
          <p:cNvSpPr/>
          <p:nvPr/>
        </p:nvSpPr>
        <p:spPr>
          <a:xfrm>
            <a:off x="81241" y="3857445"/>
            <a:ext cx="7305072" cy="2912949"/>
          </a:xfrm>
          <a:prstGeom prst="roundRect">
            <a:avLst>
              <a:gd name="adj" fmla="val 2366"/>
            </a:avLst>
          </a:prstGeom>
          <a:solidFill>
            <a:srgbClr val="92D05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5A6574C-0B91-B5D1-CD57-893E1C4C9D80}"/>
              </a:ext>
            </a:extLst>
          </p:cNvPr>
          <p:cNvCxnSpPr>
            <a:cxnSpLocks/>
          </p:cNvCxnSpPr>
          <p:nvPr/>
        </p:nvCxnSpPr>
        <p:spPr>
          <a:xfrm>
            <a:off x="102757" y="1425801"/>
            <a:ext cx="3124538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F364E9B-7603-059A-EC99-061CC383F955}"/>
              </a:ext>
            </a:extLst>
          </p:cNvPr>
          <p:cNvCxnSpPr/>
          <p:nvPr/>
        </p:nvCxnSpPr>
        <p:spPr>
          <a:xfrm>
            <a:off x="1645920" y="693482"/>
            <a:ext cx="0" cy="646257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A8F8A02-EACE-ABD4-C0FA-19F39B168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42" y="686480"/>
            <a:ext cx="237044" cy="2370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F6233BB-C3CA-001A-4AED-D7F8E4CF5316}"/>
              </a:ext>
            </a:extLst>
          </p:cNvPr>
          <p:cNvSpPr txBox="1"/>
          <p:nvPr/>
        </p:nvSpPr>
        <p:spPr>
          <a:xfrm>
            <a:off x="296800" y="622653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1875 Crore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360AEE-C177-EBD6-3494-3D074C5FE465}"/>
              </a:ext>
            </a:extLst>
          </p:cNvPr>
          <p:cNvSpPr txBox="1"/>
          <p:nvPr/>
        </p:nvSpPr>
        <p:spPr>
          <a:xfrm>
            <a:off x="484100" y="889776"/>
            <a:ext cx="13137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Size of influencer marketing industry in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C6171E2-D24C-AEC7-AD8E-14A9AF96A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78" y="958556"/>
            <a:ext cx="402697" cy="40269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57E9568-39DF-0EF5-E4C4-1A68E2CB239C}"/>
              </a:ext>
            </a:extLst>
          </p:cNvPr>
          <p:cNvSpPr txBox="1"/>
          <p:nvPr/>
        </p:nvSpPr>
        <p:spPr>
          <a:xfrm>
            <a:off x="1681346" y="63550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56%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2DB5F8A-6654-A17B-9457-1D685E56F2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0752" y="928314"/>
            <a:ext cx="452364" cy="45236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C6B2B0E-55C1-F8B3-2324-7C25FC610CBE}"/>
              </a:ext>
            </a:extLst>
          </p:cNvPr>
          <p:cNvSpPr txBox="1"/>
          <p:nvPr/>
        </p:nvSpPr>
        <p:spPr>
          <a:xfrm>
            <a:off x="2165130" y="658250"/>
            <a:ext cx="12503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Brands invest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&gt;2%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of media budget on influencer marketing.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5C457B-6ED6-7546-C690-77EB1C152361}"/>
              </a:ext>
            </a:extLst>
          </p:cNvPr>
          <p:cNvCxnSpPr>
            <a:cxnSpLocks/>
          </p:cNvCxnSpPr>
          <p:nvPr/>
        </p:nvCxnSpPr>
        <p:spPr>
          <a:xfrm>
            <a:off x="1645920" y="1504800"/>
            <a:ext cx="0" cy="70900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6E306E96-6960-7DB7-0101-4B45B589E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96" y="1464285"/>
            <a:ext cx="239142" cy="23914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6C457FC-EB7D-C22E-4417-01B772BA5456}"/>
              </a:ext>
            </a:extLst>
          </p:cNvPr>
          <p:cNvSpPr txBox="1"/>
          <p:nvPr/>
        </p:nvSpPr>
        <p:spPr>
          <a:xfrm>
            <a:off x="275103" y="1401562"/>
            <a:ext cx="1473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1lac - 10 lac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2CB54F-3107-F837-5622-2856F56D7CC8}"/>
              </a:ext>
            </a:extLst>
          </p:cNvPr>
          <p:cNvSpPr txBox="1"/>
          <p:nvPr/>
        </p:nvSpPr>
        <p:spPr>
          <a:xfrm>
            <a:off x="482201" y="1659804"/>
            <a:ext cx="11704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Monthly income range of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12%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content creators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559ACA-A95B-3F35-F67D-9D7C4A90B7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591" y="1758794"/>
            <a:ext cx="336882" cy="336882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21101AA-F1CF-9082-B4F7-2B3E14A34FC9}"/>
              </a:ext>
            </a:extLst>
          </p:cNvPr>
          <p:cNvCxnSpPr/>
          <p:nvPr/>
        </p:nvCxnSpPr>
        <p:spPr>
          <a:xfrm>
            <a:off x="3347509" y="672216"/>
            <a:ext cx="0" cy="286233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E4D48AA-491F-E210-E1E3-7CCB5C552140}"/>
              </a:ext>
            </a:extLst>
          </p:cNvPr>
          <p:cNvCxnSpPr>
            <a:cxnSpLocks/>
          </p:cNvCxnSpPr>
          <p:nvPr/>
        </p:nvCxnSpPr>
        <p:spPr>
          <a:xfrm>
            <a:off x="90410" y="2266689"/>
            <a:ext cx="3124538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4145BC3-B25B-6FBA-0F1A-261EFDB15F6F}"/>
              </a:ext>
            </a:extLst>
          </p:cNvPr>
          <p:cNvSpPr txBox="1"/>
          <p:nvPr/>
        </p:nvSpPr>
        <p:spPr>
          <a:xfrm>
            <a:off x="1683908" y="1445692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7%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3723C0-263C-D9E9-2600-74B706379565}"/>
              </a:ext>
            </a:extLst>
          </p:cNvPr>
          <p:cNvSpPr txBox="1"/>
          <p:nvPr/>
        </p:nvSpPr>
        <p:spPr>
          <a:xfrm>
            <a:off x="2038790" y="1498854"/>
            <a:ext cx="1352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Marketers rely on subscription-based models as influencer marketing strategy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E8DB7F9-9F07-E36D-8EFE-0951F834FF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5828" y="1778175"/>
            <a:ext cx="376010" cy="37601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D704240-E340-F296-66B4-1F2B788AF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525" y="1771703"/>
            <a:ext cx="247021" cy="247021"/>
          </a:xfrm>
          <a:prstGeom prst="rect">
            <a:avLst/>
          </a:prstGeom>
        </p:spPr>
      </p:pic>
      <p:grpSp>
        <p:nvGrpSpPr>
          <p:cNvPr id="201" name="Group 200">
            <a:extLst>
              <a:ext uri="{FF2B5EF4-FFF2-40B4-BE49-F238E27FC236}">
                <a16:creationId xmlns:a16="http://schemas.microsoft.com/office/drawing/2014/main" id="{3B085BA9-8338-6543-2CCA-71CE1D52D2A6}"/>
              </a:ext>
            </a:extLst>
          </p:cNvPr>
          <p:cNvGrpSpPr/>
          <p:nvPr/>
        </p:nvGrpSpPr>
        <p:grpSpPr>
          <a:xfrm>
            <a:off x="3409899" y="2838564"/>
            <a:ext cx="3484700" cy="727402"/>
            <a:chOff x="3427842" y="689563"/>
            <a:chExt cx="3484700" cy="72740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EA0CBB0-0062-6090-A8C0-8A090217F12D}"/>
                </a:ext>
              </a:extLst>
            </p:cNvPr>
            <p:cNvSpPr txBox="1"/>
            <p:nvPr/>
          </p:nvSpPr>
          <p:spPr>
            <a:xfrm>
              <a:off x="3780559" y="689563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86%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A39B5C8-FF23-8320-5069-C6C124E78687}"/>
                </a:ext>
              </a:extLst>
            </p:cNvPr>
            <p:cNvSpPr txBox="1"/>
            <p:nvPr/>
          </p:nvSpPr>
          <p:spPr>
            <a:xfrm>
              <a:off x="4245561" y="691338"/>
              <a:ext cx="25040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Creators expect over </a:t>
              </a:r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10%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hike in income over next 2 years.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7395553-0149-53B3-A30F-EF568410CA35}"/>
                </a:ext>
              </a:extLst>
            </p:cNvPr>
            <p:cNvSpPr txBox="1"/>
            <p:nvPr/>
          </p:nvSpPr>
          <p:spPr>
            <a:xfrm>
              <a:off x="3777025" y="1005954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77%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3834CC1-60EA-4EF5-31CD-8CFF40305E87}"/>
                </a:ext>
              </a:extLst>
            </p:cNvPr>
            <p:cNvSpPr txBox="1"/>
            <p:nvPr/>
          </p:nvSpPr>
          <p:spPr>
            <a:xfrm>
              <a:off x="4242594" y="1016855"/>
              <a:ext cx="26699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Creators reported unspecified income growth in the last two years.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EB76C727-572E-8188-9A30-A44129D3F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27842" y="826311"/>
              <a:ext cx="379670" cy="379670"/>
            </a:xfrm>
            <a:prstGeom prst="rect">
              <a:avLst/>
            </a:prstGeom>
          </p:spPr>
        </p:pic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4EED274-963E-40D9-34F2-ECD9DF2C9F50}"/>
              </a:ext>
            </a:extLst>
          </p:cNvPr>
          <p:cNvCxnSpPr>
            <a:cxnSpLocks/>
          </p:cNvCxnSpPr>
          <p:nvPr/>
        </p:nvCxnSpPr>
        <p:spPr>
          <a:xfrm>
            <a:off x="3444979" y="1448864"/>
            <a:ext cx="3138703" cy="883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82848C8-ADD3-65F0-16B3-9BC444D65887}"/>
              </a:ext>
            </a:extLst>
          </p:cNvPr>
          <p:cNvGrpSpPr/>
          <p:nvPr/>
        </p:nvGrpSpPr>
        <p:grpSpPr>
          <a:xfrm>
            <a:off x="3335759" y="610649"/>
            <a:ext cx="3410506" cy="2193045"/>
            <a:chOff x="3338407" y="1406187"/>
            <a:chExt cx="3410506" cy="2193045"/>
          </a:xfrm>
        </p:grpSpPr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4FDA7B01-C8E8-DFA5-6573-3BB980740361}"/>
                </a:ext>
              </a:extLst>
            </p:cNvPr>
            <p:cNvGrpSpPr/>
            <p:nvPr/>
          </p:nvGrpSpPr>
          <p:grpSpPr>
            <a:xfrm>
              <a:off x="3338407" y="2275126"/>
              <a:ext cx="3391189" cy="1324106"/>
              <a:chOff x="32274" y="2286147"/>
              <a:chExt cx="3391189" cy="1324106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5CA55EE-3D89-BB38-B571-4275262D1F5C}"/>
                  </a:ext>
                </a:extLst>
              </p:cNvPr>
              <p:cNvSpPr txBox="1"/>
              <p:nvPr/>
            </p:nvSpPr>
            <p:spPr>
              <a:xfrm>
                <a:off x="96002" y="2286147"/>
                <a:ext cx="14684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FFFF00"/>
                    </a:solidFill>
                    <a:highlight>
                      <a:srgbClr val="00000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Looking Ahead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7B5634-884F-AABA-4E52-E9DC39A733A6}"/>
                  </a:ext>
                </a:extLst>
              </p:cNvPr>
              <p:cNvSpPr txBox="1"/>
              <p:nvPr/>
            </p:nvSpPr>
            <p:spPr>
              <a:xfrm>
                <a:off x="265470" y="2553119"/>
                <a:ext cx="12442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3375 Crore</a:t>
                </a: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434503B-F90C-3AEF-4715-EBD4C1427A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44656" y="2364906"/>
                <a:ext cx="8023" cy="1176620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5870A83-C154-9846-1753-959C76B41BC1}"/>
                  </a:ext>
                </a:extLst>
              </p:cNvPr>
              <p:cNvSpPr txBox="1"/>
              <p:nvPr/>
            </p:nvSpPr>
            <p:spPr>
              <a:xfrm>
                <a:off x="389853" y="2849247"/>
                <a:ext cx="133316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Estimated size of influencer marketing industry by </a:t>
                </a: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2026</a:t>
                </a: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at </a:t>
                </a: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18% CAGR</a:t>
                </a:r>
              </a:p>
            </p:txBody>
          </p: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572F6BB8-5DF3-9FA3-5309-1E9EEDDEE9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274" y="2939655"/>
                <a:ext cx="413986" cy="413986"/>
              </a:xfrm>
              <a:prstGeom prst="rect">
                <a:avLst/>
              </a:prstGeom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8E9D3473-28CE-E2C7-D177-EFB0983A57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37304" y="2364073"/>
                <a:ext cx="346674" cy="346674"/>
              </a:xfrm>
              <a:prstGeom prst="rect">
                <a:avLst/>
              </a:prstGeom>
            </p:spPr>
          </p:pic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79B34DF0-9181-3E5F-661D-ECD665FDA0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65623" y="2370057"/>
                <a:ext cx="359784" cy="359784"/>
              </a:xfrm>
              <a:prstGeom prst="rect">
                <a:avLst/>
              </a:prstGeom>
            </p:spPr>
          </p:pic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2B93891F-2634-CFC9-074E-4AF8BC4736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80254" y="2317942"/>
                <a:ext cx="425226" cy="425226"/>
              </a:xfrm>
              <a:prstGeom prst="rect">
                <a:avLst/>
              </a:prstGeom>
            </p:spPr>
          </p:pic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963EC43-9D25-684A-6059-995B51F9C268}"/>
                  </a:ext>
                </a:extLst>
              </p:cNvPr>
              <p:cNvSpPr txBox="1"/>
              <p:nvPr/>
            </p:nvSpPr>
            <p:spPr>
              <a:xfrm>
                <a:off x="1613062" y="2726608"/>
                <a:ext cx="9615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FMCG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D6BA8EA-F320-2A25-8DB0-3C77371056E2}"/>
                  </a:ext>
                </a:extLst>
              </p:cNvPr>
              <p:cNvSpPr txBox="1"/>
              <p:nvPr/>
            </p:nvSpPr>
            <p:spPr>
              <a:xfrm>
                <a:off x="2087846" y="2726608"/>
                <a:ext cx="75533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E-COMM.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8F61615-B3AF-4C2B-DBF5-3A5F38EB8FF6}"/>
                  </a:ext>
                </a:extLst>
              </p:cNvPr>
              <p:cNvSpPr txBox="1"/>
              <p:nvPr/>
            </p:nvSpPr>
            <p:spPr>
              <a:xfrm>
                <a:off x="2744171" y="2725355"/>
                <a:ext cx="54854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AUTO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E31C1ADC-90B5-DEE0-9A46-C24D5BBA64AB}"/>
                  </a:ext>
                </a:extLst>
              </p:cNvPr>
              <p:cNvCxnSpPr/>
              <p:nvPr/>
            </p:nvCxnSpPr>
            <p:spPr>
              <a:xfrm>
                <a:off x="2744171" y="2357186"/>
                <a:ext cx="0" cy="36044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4EF48353-98A6-DF2C-27AC-57A00E16B02D}"/>
                  </a:ext>
                </a:extLst>
              </p:cNvPr>
              <p:cNvCxnSpPr/>
              <p:nvPr/>
            </p:nvCxnSpPr>
            <p:spPr>
              <a:xfrm>
                <a:off x="2177681" y="2364073"/>
                <a:ext cx="0" cy="36044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1D63184-1AD8-B40F-FE3A-B4914F731EAC}"/>
                  </a:ext>
                </a:extLst>
              </p:cNvPr>
              <p:cNvSpPr txBox="1"/>
              <p:nvPr/>
            </p:nvSpPr>
            <p:spPr>
              <a:xfrm>
                <a:off x="1645336" y="2902367"/>
                <a:ext cx="177812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Categories where </a:t>
                </a: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40%-57% </a:t>
                </a: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brands plan to increase spends on influencer marketing by </a:t>
                </a: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10%</a:t>
                </a: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by </a:t>
                </a: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2026</a:t>
                </a: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5C5805E-38A9-7C5D-3CE4-E24D5E191476}"/>
                </a:ext>
              </a:extLst>
            </p:cNvPr>
            <p:cNvSpPr txBox="1"/>
            <p:nvPr/>
          </p:nvSpPr>
          <p:spPr>
            <a:xfrm>
              <a:off x="3377570" y="1406187"/>
              <a:ext cx="19284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India’s Growth Story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B294D95-25C1-7A1A-B959-30A7D8CF3B32}"/>
                </a:ext>
              </a:extLst>
            </p:cNvPr>
            <p:cNvSpPr txBox="1"/>
            <p:nvPr/>
          </p:nvSpPr>
          <p:spPr>
            <a:xfrm>
              <a:off x="3391189" y="1633071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47%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8EA5E9E-5E63-3ABC-313A-7F3E640ABD5C}"/>
                </a:ext>
              </a:extLst>
            </p:cNvPr>
            <p:cNvSpPr txBox="1"/>
            <p:nvPr/>
          </p:nvSpPr>
          <p:spPr>
            <a:xfrm>
              <a:off x="3854487" y="1671143"/>
              <a:ext cx="28944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Brands prefer driving influencer campaigns with </a:t>
              </a:r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nano and micro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influencers who have </a:t>
              </a:r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100 to 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F30A94-9676-F34E-3D21-F2D62B227882}"/>
                </a:ext>
              </a:extLst>
            </p:cNvPr>
            <p:cNvSpPr txBox="1"/>
            <p:nvPr/>
          </p:nvSpPr>
          <p:spPr>
            <a:xfrm>
              <a:off x="3858160" y="2018035"/>
              <a:ext cx="26773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100,000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followers due to low cost per reach.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D60ED6EC-CD02-E899-5259-98634F8C2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493823" y="1925168"/>
              <a:ext cx="297880" cy="297880"/>
            </a:xfrm>
            <a:prstGeom prst="rect">
              <a:avLst/>
            </a:prstGeom>
          </p:spPr>
        </p:pic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3E7357B-B7CE-CDF0-0EF2-3F6B9C2F2FDE}"/>
              </a:ext>
            </a:extLst>
          </p:cNvPr>
          <p:cNvCxnSpPr>
            <a:cxnSpLocks/>
          </p:cNvCxnSpPr>
          <p:nvPr/>
        </p:nvCxnSpPr>
        <p:spPr>
          <a:xfrm>
            <a:off x="3386505" y="2820386"/>
            <a:ext cx="3138703" cy="883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77AD279-0DC9-1F8A-F3C2-759C6D5ED46C}"/>
              </a:ext>
            </a:extLst>
          </p:cNvPr>
          <p:cNvCxnSpPr>
            <a:cxnSpLocks/>
          </p:cNvCxnSpPr>
          <p:nvPr/>
        </p:nvCxnSpPr>
        <p:spPr>
          <a:xfrm flipH="1">
            <a:off x="1308317" y="2322490"/>
            <a:ext cx="8023" cy="117662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78" name="Picture 77">
            <a:extLst>
              <a:ext uri="{FF2B5EF4-FFF2-40B4-BE49-F238E27FC236}">
                <a16:creationId xmlns:a16="http://schemas.microsoft.com/office/drawing/2014/main" id="{C2D2C24C-1EDD-562A-A616-190A84CBEF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619" y="2890314"/>
            <a:ext cx="398200" cy="398200"/>
          </a:xfrm>
          <a:prstGeom prst="rect">
            <a:avLst/>
          </a:prstGeom>
        </p:spPr>
      </p:pic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CE4BA122-706D-48FE-32DE-C1C5C86A986C}"/>
              </a:ext>
            </a:extLst>
          </p:cNvPr>
          <p:cNvSpPr/>
          <p:nvPr/>
        </p:nvSpPr>
        <p:spPr>
          <a:xfrm>
            <a:off x="5564430" y="3854420"/>
            <a:ext cx="1804305" cy="491878"/>
          </a:xfrm>
          <a:prstGeom prst="roundRect">
            <a:avLst/>
          </a:prstGeom>
          <a:solidFill>
            <a:srgbClr val="FF9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84C6109A-E182-5B2B-9ED2-2F3CC82F3E76}"/>
              </a:ext>
            </a:extLst>
          </p:cNvPr>
          <p:cNvSpPr/>
          <p:nvPr/>
        </p:nvSpPr>
        <p:spPr>
          <a:xfrm>
            <a:off x="103257" y="4415766"/>
            <a:ext cx="1778780" cy="527019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51A152C-19E9-3055-8173-6B4ED72A95F9}"/>
              </a:ext>
            </a:extLst>
          </p:cNvPr>
          <p:cNvGrpSpPr/>
          <p:nvPr/>
        </p:nvGrpSpPr>
        <p:grpSpPr>
          <a:xfrm>
            <a:off x="62569" y="3873413"/>
            <a:ext cx="1826780" cy="491878"/>
            <a:chOff x="73353" y="3930506"/>
            <a:chExt cx="1826780" cy="491878"/>
          </a:xfrm>
        </p:grpSpPr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E05AF1AE-11F7-FAA5-B8A5-C7E131717E72}"/>
                </a:ext>
              </a:extLst>
            </p:cNvPr>
            <p:cNvSpPr/>
            <p:nvPr/>
          </p:nvSpPr>
          <p:spPr>
            <a:xfrm>
              <a:off x="101194" y="3930506"/>
              <a:ext cx="1798939" cy="491878"/>
            </a:xfrm>
            <a:prstGeom prst="roundRect">
              <a:avLst/>
            </a:prstGeom>
            <a:solidFill>
              <a:srgbClr val="FF98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8996AD7-2691-9A21-440E-90CC9E804FD2}"/>
                </a:ext>
              </a:extLst>
            </p:cNvPr>
            <p:cNvSpPr txBox="1"/>
            <p:nvPr/>
          </p:nvSpPr>
          <p:spPr>
            <a:xfrm>
              <a:off x="73353" y="3950957"/>
              <a:ext cx="144296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Nano and Micro Influencers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033D18B-A2F7-40A1-9E11-9733CC945D01}"/>
              </a:ext>
            </a:extLst>
          </p:cNvPr>
          <p:cNvGrpSpPr/>
          <p:nvPr/>
        </p:nvGrpSpPr>
        <p:grpSpPr>
          <a:xfrm>
            <a:off x="1917190" y="3870821"/>
            <a:ext cx="1798939" cy="491878"/>
            <a:chOff x="1918501" y="3936100"/>
            <a:chExt cx="1798939" cy="491878"/>
          </a:xfrm>
        </p:grpSpPr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B8C4803F-9AD1-D4C5-EE77-0F8CB8B96BC4}"/>
                </a:ext>
              </a:extLst>
            </p:cNvPr>
            <p:cNvSpPr/>
            <p:nvPr/>
          </p:nvSpPr>
          <p:spPr>
            <a:xfrm>
              <a:off x="1918501" y="3936100"/>
              <a:ext cx="1798939" cy="491878"/>
            </a:xfrm>
            <a:prstGeom prst="roundRect">
              <a:avLst/>
            </a:prstGeom>
            <a:solidFill>
              <a:srgbClr val="FF98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A9A2C2-4A78-D72A-F782-41D510B734D0}"/>
                </a:ext>
              </a:extLst>
            </p:cNvPr>
            <p:cNvSpPr txBox="1"/>
            <p:nvPr/>
          </p:nvSpPr>
          <p:spPr>
            <a:xfrm>
              <a:off x="1934852" y="3943503"/>
              <a:ext cx="126222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Regional Influencers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808ACC7-B2D3-70F9-C9B8-AFCE4F921011}"/>
              </a:ext>
            </a:extLst>
          </p:cNvPr>
          <p:cNvGrpSpPr/>
          <p:nvPr/>
        </p:nvGrpSpPr>
        <p:grpSpPr>
          <a:xfrm>
            <a:off x="3700418" y="3858001"/>
            <a:ext cx="1841133" cy="491878"/>
            <a:chOff x="3637345" y="3937271"/>
            <a:chExt cx="1841133" cy="491878"/>
          </a:xfrm>
        </p:grpSpPr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11A5398B-7A19-C91F-8E88-7128DF888811}"/>
                </a:ext>
              </a:extLst>
            </p:cNvPr>
            <p:cNvSpPr/>
            <p:nvPr/>
          </p:nvSpPr>
          <p:spPr>
            <a:xfrm>
              <a:off x="3674173" y="3937271"/>
              <a:ext cx="1804305" cy="491878"/>
            </a:xfrm>
            <a:prstGeom prst="roundRect">
              <a:avLst/>
            </a:prstGeom>
            <a:solidFill>
              <a:srgbClr val="FF98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DFA9B08-2D09-C854-B4AF-ED3C4FCFC244}"/>
                </a:ext>
              </a:extLst>
            </p:cNvPr>
            <p:cNvSpPr txBox="1"/>
            <p:nvPr/>
          </p:nvSpPr>
          <p:spPr>
            <a:xfrm>
              <a:off x="3637345" y="3957495"/>
              <a:ext cx="132716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Tech Review Influencers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7EA1371F-0FB6-CA78-5140-9226DCC4308D}"/>
              </a:ext>
            </a:extLst>
          </p:cNvPr>
          <p:cNvSpPr txBox="1"/>
          <p:nvPr/>
        </p:nvSpPr>
        <p:spPr>
          <a:xfrm>
            <a:off x="5649504" y="3883155"/>
            <a:ext cx="1103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Gaming Influencers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46C953A3-69F6-7753-A48C-25EAC9EED626}"/>
              </a:ext>
            </a:extLst>
          </p:cNvPr>
          <p:cNvSpPr/>
          <p:nvPr/>
        </p:nvSpPr>
        <p:spPr>
          <a:xfrm>
            <a:off x="103257" y="4999935"/>
            <a:ext cx="1778780" cy="529905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14BFAA71-1944-FACB-C394-27285CF43AB6}"/>
              </a:ext>
            </a:extLst>
          </p:cNvPr>
          <p:cNvSpPr/>
          <p:nvPr/>
        </p:nvSpPr>
        <p:spPr>
          <a:xfrm>
            <a:off x="95222" y="5584106"/>
            <a:ext cx="1778780" cy="534210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8E1AAE97-1B1E-782F-4FBC-8CE00AEC83BD}"/>
              </a:ext>
            </a:extLst>
          </p:cNvPr>
          <p:cNvSpPr/>
          <p:nvPr/>
        </p:nvSpPr>
        <p:spPr>
          <a:xfrm>
            <a:off x="97490" y="6170588"/>
            <a:ext cx="1778780" cy="534210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75AA6918-044A-016F-6294-B8C5A3B2A6E7}"/>
              </a:ext>
            </a:extLst>
          </p:cNvPr>
          <p:cNvSpPr/>
          <p:nvPr/>
        </p:nvSpPr>
        <p:spPr>
          <a:xfrm>
            <a:off x="1923908" y="4415766"/>
            <a:ext cx="1778780" cy="527019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BA0783C9-04CA-4D31-EA2E-A8F6767C489D}"/>
              </a:ext>
            </a:extLst>
          </p:cNvPr>
          <p:cNvSpPr/>
          <p:nvPr/>
        </p:nvSpPr>
        <p:spPr>
          <a:xfrm>
            <a:off x="3744559" y="4415766"/>
            <a:ext cx="1778780" cy="527019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6CF7E3E0-76A4-7012-4A3E-5BEC1FF565CE}"/>
              </a:ext>
            </a:extLst>
          </p:cNvPr>
          <p:cNvSpPr/>
          <p:nvPr/>
        </p:nvSpPr>
        <p:spPr>
          <a:xfrm>
            <a:off x="5564430" y="4418290"/>
            <a:ext cx="1778780" cy="527019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D82B57FB-5967-5449-82B4-52BC3F172B56}"/>
              </a:ext>
            </a:extLst>
          </p:cNvPr>
          <p:cNvSpPr/>
          <p:nvPr/>
        </p:nvSpPr>
        <p:spPr>
          <a:xfrm>
            <a:off x="1926010" y="5000444"/>
            <a:ext cx="1778780" cy="527019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844F4E28-EC93-26D4-DE63-63A115E0C9E0}"/>
              </a:ext>
            </a:extLst>
          </p:cNvPr>
          <p:cNvSpPr/>
          <p:nvPr/>
        </p:nvSpPr>
        <p:spPr>
          <a:xfrm>
            <a:off x="1923908" y="5591288"/>
            <a:ext cx="1778780" cy="527019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EFD77498-3AB8-D834-C140-F8FD778172D5}"/>
              </a:ext>
            </a:extLst>
          </p:cNvPr>
          <p:cNvSpPr/>
          <p:nvPr/>
        </p:nvSpPr>
        <p:spPr>
          <a:xfrm>
            <a:off x="1921806" y="6171374"/>
            <a:ext cx="1778780" cy="527019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3D1A43E2-02BB-9F7B-96AA-55EBDE1E0D49}"/>
              </a:ext>
            </a:extLst>
          </p:cNvPr>
          <p:cNvSpPr/>
          <p:nvPr/>
        </p:nvSpPr>
        <p:spPr>
          <a:xfrm>
            <a:off x="3744559" y="5000444"/>
            <a:ext cx="1778780" cy="527019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02C40257-AD33-93B8-8EA0-33333C714779}"/>
              </a:ext>
            </a:extLst>
          </p:cNvPr>
          <p:cNvSpPr/>
          <p:nvPr/>
        </p:nvSpPr>
        <p:spPr>
          <a:xfrm>
            <a:off x="5564430" y="5003444"/>
            <a:ext cx="1778780" cy="527019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08C13ACF-A800-0A26-3179-2476E36C8A4F}"/>
              </a:ext>
            </a:extLst>
          </p:cNvPr>
          <p:cNvSpPr/>
          <p:nvPr/>
        </p:nvSpPr>
        <p:spPr>
          <a:xfrm>
            <a:off x="3746849" y="5584106"/>
            <a:ext cx="1778780" cy="527019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DBD2129A-0523-D428-6119-97358AE0C340}"/>
              </a:ext>
            </a:extLst>
          </p:cNvPr>
          <p:cNvSpPr/>
          <p:nvPr/>
        </p:nvSpPr>
        <p:spPr>
          <a:xfrm>
            <a:off x="3746849" y="6167768"/>
            <a:ext cx="1778780" cy="527019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8297CA87-B552-ADF1-26C4-FC944E0065C5}"/>
              </a:ext>
            </a:extLst>
          </p:cNvPr>
          <p:cNvSpPr/>
          <p:nvPr/>
        </p:nvSpPr>
        <p:spPr>
          <a:xfrm>
            <a:off x="5566581" y="5584106"/>
            <a:ext cx="1778780" cy="527019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FA3C3756-5909-95B2-3562-A1E676CEF819}"/>
              </a:ext>
            </a:extLst>
          </p:cNvPr>
          <p:cNvSpPr/>
          <p:nvPr/>
        </p:nvSpPr>
        <p:spPr>
          <a:xfrm>
            <a:off x="5566631" y="6169975"/>
            <a:ext cx="1778780" cy="527019"/>
          </a:xfrm>
          <a:prstGeom prst="roundRect">
            <a:avLst>
              <a:gd name="adj" fmla="val 5853"/>
            </a:avLst>
          </a:prstGeom>
          <a:solidFill>
            <a:srgbClr val="FCF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047DA264-E61B-A50B-8F4D-A539A7B24DA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76168" y="3887480"/>
            <a:ext cx="421632" cy="421632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9F784804-D69A-78F9-A036-C29E2707FD0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13394" y="3929061"/>
            <a:ext cx="372020" cy="37202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D8A9B5AB-ED7F-E098-44E8-4225B5E3E48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08674" y="3843497"/>
            <a:ext cx="489560" cy="48956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996DEABA-82AD-EB41-A7AE-FCA30B079B6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0497" y="3878225"/>
            <a:ext cx="436585" cy="436585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E35249FF-2456-0476-ACB3-6248C0960810}"/>
              </a:ext>
            </a:extLst>
          </p:cNvPr>
          <p:cNvSpPr txBox="1"/>
          <p:nvPr/>
        </p:nvSpPr>
        <p:spPr>
          <a:xfrm>
            <a:off x="52330" y="4434954"/>
            <a:ext cx="19241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Cost-Effective:</a:t>
            </a:r>
            <a:r>
              <a:rPr lang="en-IN" sz="9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9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IN" sz="9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rands prefer micro/nano influencers for lower cost per reach.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E124600-1908-373A-593D-D2CEE1777E7F}"/>
              </a:ext>
            </a:extLst>
          </p:cNvPr>
          <p:cNvSpPr txBox="1"/>
          <p:nvPr/>
        </p:nvSpPr>
        <p:spPr>
          <a:xfrm>
            <a:off x="52330" y="5006039"/>
            <a:ext cx="174547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Engagement: 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Nano influencers have the highest engagement rates.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1C77BC3-A65F-8EF4-F28D-399E1084310E}"/>
              </a:ext>
            </a:extLst>
          </p:cNvPr>
          <p:cNvSpPr txBox="1"/>
          <p:nvPr/>
        </p:nvSpPr>
        <p:spPr>
          <a:xfrm>
            <a:off x="32661" y="5581514"/>
            <a:ext cx="183139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Growing Preference: 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53.8% of brands engage nano influencers (May 2024).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8D8ED08-BEE9-919B-71BD-D66A0CC897E4}"/>
              </a:ext>
            </a:extLst>
          </p:cNvPr>
          <p:cNvSpPr txBox="1"/>
          <p:nvPr/>
        </p:nvSpPr>
        <p:spPr>
          <a:xfrm>
            <a:off x="34901" y="6193587"/>
            <a:ext cx="192886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Budget Shift: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24.9% of marketers  reallocated budgets from macro to micro/nano influencers 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748E500-1965-F22A-3078-A22F56D6EC01}"/>
              </a:ext>
            </a:extLst>
          </p:cNvPr>
          <p:cNvSpPr txBox="1"/>
          <p:nvPr/>
        </p:nvSpPr>
        <p:spPr>
          <a:xfrm>
            <a:off x="1874002" y="4443595"/>
            <a:ext cx="18835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ROI: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$10.48 ROI for regional campaigns vs. $5.78 for global.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E9FC6FD-9349-A959-0295-46D272D8EA01}"/>
              </a:ext>
            </a:extLst>
          </p:cNvPr>
          <p:cNvSpPr txBox="1"/>
          <p:nvPr/>
        </p:nvSpPr>
        <p:spPr>
          <a:xfrm>
            <a:off x="1877428" y="5007957"/>
            <a:ext cx="19866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Localised Trust: 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70% of Indians find regional language content more reliable.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81D874A-254F-29F3-9C27-557033EF1A0A}"/>
              </a:ext>
            </a:extLst>
          </p:cNvPr>
          <p:cNvSpPr txBox="1"/>
          <p:nvPr/>
        </p:nvSpPr>
        <p:spPr>
          <a:xfrm>
            <a:off x="1865834" y="5614485"/>
            <a:ext cx="193849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Brand Preference: 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44% of brands prefer regional influencers in 2024.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18300FA-ED7E-9E38-91AC-6ACFC3310638}"/>
              </a:ext>
            </a:extLst>
          </p:cNvPr>
          <p:cNvSpPr txBox="1"/>
          <p:nvPr/>
        </p:nvSpPr>
        <p:spPr>
          <a:xfrm>
            <a:off x="1862929" y="6181912"/>
            <a:ext cx="193849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600"/>
              </a:spcBef>
              <a:spcAft>
                <a:spcPts val="600"/>
              </a:spcAft>
            </a:pPr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Leverage Music Catalogue: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IN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inc. 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their content with </a:t>
            </a:r>
            <a:r>
              <a:rPr lang="en-IN" sz="9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Saregama's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150,000+ songs (15 languages)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FFDC2D6-A6B0-9B3F-7954-DD40A1D81D27}"/>
              </a:ext>
            </a:extLst>
          </p:cNvPr>
          <p:cNvSpPr txBox="1"/>
          <p:nvPr/>
        </p:nvSpPr>
        <p:spPr>
          <a:xfrm>
            <a:off x="3707975" y="4438487"/>
            <a:ext cx="187765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Gap in Roster: 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Clout lacks tech review influencers . Can use as  a growth opportunity.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A13AF48-0371-1DE3-035D-B25142781780}"/>
              </a:ext>
            </a:extLst>
          </p:cNvPr>
          <p:cNvSpPr txBox="1"/>
          <p:nvPr/>
        </p:nvSpPr>
        <p:spPr>
          <a:xfrm>
            <a:off x="3706406" y="5017921"/>
            <a:ext cx="18132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Consumer Trust: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69% trust influencer recommendations over brand content.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309B9C6-4614-6BD0-37B1-2D9E87B36BE2}"/>
              </a:ext>
            </a:extLst>
          </p:cNvPr>
          <p:cNvSpPr txBox="1"/>
          <p:nvPr/>
        </p:nvSpPr>
        <p:spPr>
          <a:xfrm>
            <a:off x="3709900" y="5573908"/>
            <a:ext cx="180624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Engagement Rates: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Tech influencers achieve nearly 2x the median engagement rate.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9974150-8A68-0FB2-18DC-072B91B2CF2F}"/>
              </a:ext>
            </a:extLst>
          </p:cNvPr>
          <p:cNvSpPr txBox="1"/>
          <p:nvPr/>
        </p:nvSpPr>
        <p:spPr>
          <a:xfrm>
            <a:off x="3706406" y="6191281"/>
            <a:ext cx="17535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Targeted Reach: 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51% of Gen Z purchase gadgets based on tech reviews.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72DA98C-984C-0CDC-2907-A1E4F877EBDD}"/>
              </a:ext>
            </a:extLst>
          </p:cNvPr>
          <p:cNvSpPr txBox="1"/>
          <p:nvPr/>
        </p:nvSpPr>
        <p:spPr>
          <a:xfrm>
            <a:off x="5525629" y="4447626"/>
            <a:ext cx="19244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Audience Demographics: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900" dirty="0"/>
              <a:t>Gaming influencers reach a large 18-34 </a:t>
            </a:r>
            <a:r>
              <a:rPr lang="en-IN" sz="900" dirty="0" err="1"/>
              <a:t>yrs</a:t>
            </a:r>
            <a:r>
              <a:rPr lang="en-IN" sz="900" dirty="0"/>
              <a:t> old younger audiences.</a:t>
            </a:r>
            <a:endParaRPr lang="en-IN" sz="9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BB9B8F4-3AD3-FE6B-543C-6F8B4BBC1EA6}"/>
              </a:ext>
            </a:extLst>
          </p:cNvPr>
          <p:cNvSpPr txBox="1"/>
          <p:nvPr/>
        </p:nvSpPr>
        <p:spPr>
          <a:xfrm>
            <a:off x="5523934" y="5020083"/>
            <a:ext cx="190449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Reliability</a:t>
            </a:r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67% of gamers trust </a:t>
            </a:r>
            <a:r>
              <a:rPr lang="en-IN" sz="9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recomm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from gaming influencers over traditional advertising.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26B8DF4-6BE4-A136-89E4-66B223D99DAE}"/>
              </a:ext>
            </a:extLst>
          </p:cNvPr>
          <p:cNvSpPr txBox="1"/>
          <p:nvPr/>
        </p:nvSpPr>
        <p:spPr>
          <a:xfrm>
            <a:off x="5540611" y="5590109"/>
            <a:ext cx="192997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Engagement Rates: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Gaming influencers often achieve engagement rates of 2% to 10%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E841A98-7F52-5581-17A7-B37E8E7AFFCB}"/>
              </a:ext>
            </a:extLst>
          </p:cNvPr>
          <p:cNvSpPr txBox="1"/>
          <p:nvPr/>
        </p:nvSpPr>
        <p:spPr>
          <a:xfrm>
            <a:off x="5539310" y="6179102"/>
            <a:ext cx="178671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Massive Reach: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Influencers in the gaming industry can reach millions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A3B4D4E-F731-6739-706F-AA2E8757A1DD}"/>
              </a:ext>
            </a:extLst>
          </p:cNvPr>
          <p:cNvCxnSpPr/>
          <p:nvPr/>
        </p:nvCxnSpPr>
        <p:spPr>
          <a:xfrm>
            <a:off x="9730387" y="3926387"/>
            <a:ext cx="0" cy="280730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A0C58B6-3DE9-08F9-6F79-403A8B0B4DA5}"/>
              </a:ext>
            </a:extLst>
          </p:cNvPr>
          <p:cNvCxnSpPr>
            <a:cxnSpLocks/>
          </p:cNvCxnSpPr>
          <p:nvPr/>
        </p:nvCxnSpPr>
        <p:spPr>
          <a:xfrm flipH="1" flipV="1">
            <a:off x="7560046" y="5342425"/>
            <a:ext cx="4494681" cy="227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2DD78DAE-8A94-8649-2D2E-982084037A90}"/>
              </a:ext>
            </a:extLst>
          </p:cNvPr>
          <p:cNvGrpSpPr/>
          <p:nvPr/>
        </p:nvGrpSpPr>
        <p:grpSpPr>
          <a:xfrm>
            <a:off x="-13951" y="2311857"/>
            <a:ext cx="3478495" cy="1255943"/>
            <a:chOff x="3314787" y="2279606"/>
            <a:chExt cx="3478495" cy="125594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9F8D20B-5369-9BA8-3834-4F6E75B6AC16}"/>
                </a:ext>
              </a:extLst>
            </p:cNvPr>
            <p:cNvSpPr txBox="1"/>
            <p:nvPr/>
          </p:nvSpPr>
          <p:spPr>
            <a:xfrm>
              <a:off x="3382847" y="2279606"/>
              <a:ext cx="10005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Hot Picks</a:t>
              </a:r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67349957-1DCE-30B2-B542-84B70445F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703497" y="2333890"/>
              <a:ext cx="431347" cy="431347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DA22EA22-7901-E8AA-1182-3E8DBBF4C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300386" y="2320738"/>
              <a:ext cx="471841" cy="471841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E10B4B2C-6310-8E64-A670-854F4517F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950141" y="2328093"/>
              <a:ext cx="463818" cy="463818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A30842-094D-236D-792A-F8AD47D56A6B}"/>
                </a:ext>
              </a:extLst>
            </p:cNvPr>
            <p:cNvSpPr txBox="1"/>
            <p:nvPr/>
          </p:nvSpPr>
          <p:spPr>
            <a:xfrm>
              <a:off x="4597588" y="2791911"/>
              <a:ext cx="7024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Lifestyle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A2B7599-F839-4A5F-7F86-853E7F3C234B}"/>
                </a:ext>
              </a:extLst>
            </p:cNvPr>
            <p:cNvSpPr txBox="1"/>
            <p:nvPr/>
          </p:nvSpPr>
          <p:spPr>
            <a:xfrm>
              <a:off x="5249422" y="2794327"/>
              <a:ext cx="6751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Fashion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513EA1A-4579-B8E0-D299-F5CE90CC0D3F}"/>
                </a:ext>
              </a:extLst>
            </p:cNvPr>
            <p:cNvSpPr txBox="1"/>
            <p:nvPr/>
          </p:nvSpPr>
          <p:spPr>
            <a:xfrm>
              <a:off x="5933162" y="2799901"/>
              <a:ext cx="61106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Beauty</a:t>
              </a: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410AC95-CB54-5B7D-BCF5-1B8CC8B90707}"/>
                </a:ext>
              </a:extLst>
            </p:cNvPr>
            <p:cNvCxnSpPr/>
            <p:nvPr/>
          </p:nvCxnSpPr>
          <p:spPr>
            <a:xfrm>
              <a:off x="5206453" y="2421025"/>
              <a:ext cx="0" cy="3604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46587DA-4183-90C8-95DA-53989E5899E2}"/>
                </a:ext>
              </a:extLst>
            </p:cNvPr>
            <p:cNvCxnSpPr/>
            <p:nvPr/>
          </p:nvCxnSpPr>
          <p:spPr>
            <a:xfrm>
              <a:off x="5907832" y="2421025"/>
              <a:ext cx="0" cy="3604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EF701E4-EDC6-5F5E-749B-867FBB14F565}"/>
                </a:ext>
              </a:extLst>
            </p:cNvPr>
            <p:cNvSpPr txBox="1"/>
            <p:nvPr/>
          </p:nvSpPr>
          <p:spPr>
            <a:xfrm>
              <a:off x="4606082" y="2981551"/>
              <a:ext cx="21872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Categories creators think will be biggest growth drivers in influencer marketing over the years 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9C8D790-0315-32BA-E038-2322E6B294CC}"/>
                </a:ext>
              </a:extLst>
            </p:cNvPr>
            <p:cNvSpPr txBox="1"/>
            <p:nvPr/>
          </p:nvSpPr>
          <p:spPr>
            <a:xfrm>
              <a:off x="3314787" y="2568357"/>
              <a:ext cx="13789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Instagram, </a:t>
              </a:r>
              <a:r>
                <a:rPr lang="en-US" sz="10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Youtube</a:t>
              </a:r>
              <a:endParaRPr 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938FD47-DAAB-EB95-2AF7-3D3BB5187AE0}"/>
                </a:ext>
              </a:extLst>
            </p:cNvPr>
            <p:cNvSpPr txBox="1"/>
            <p:nvPr/>
          </p:nvSpPr>
          <p:spPr>
            <a:xfrm>
              <a:off x="3324522" y="2759297"/>
              <a:ext cx="118094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Top preferred platforms to consume influencer content</a:t>
              </a:r>
            </a:p>
          </p:txBody>
        </p:sp>
      </p:grpSp>
      <p:graphicFrame>
        <p:nvGraphicFramePr>
          <p:cNvPr id="137" name="Chart 136">
            <a:extLst>
              <a:ext uri="{FF2B5EF4-FFF2-40B4-BE49-F238E27FC236}">
                <a16:creationId xmlns:a16="http://schemas.microsoft.com/office/drawing/2014/main" id="{ACB7EBE5-8EFE-CCC7-DEDC-2421E6FB18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642885"/>
              </p:ext>
            </p:extLst>
          </p:nvPr>
        </p:nvGraphicFramePr>
        <p:xfrm>
          <a:off x="5684732" y="890244"/>
          <a:ext cx="3477320" cy="2084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sp>
        <p:nvSpPr>
          <p:cNvPr id="138" name="TextBox 137">
            <a:extLst>
              <a:ext uri="{FF2B5EF4-FFF2-40B4-BE49-F238E27FC236}">
                <a16:creationId xmlns:a16="http://schemas.microsoft.com/office/drawing/2014/main" id="{44D111E3-0BF1-B868-E0C4-2C141BD24134}"/>
              </a:ext>
            </a:extLst>
          </p:cNvPr>
          <p:cNvSpPr txBox="1"/>
          <p:nvPr/>
        </p:nvSpPr>
        <p:spPr>
          <a:xfrm>
            <a:off x="6778374" y="630148"/>
            <a:ext cx="1530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Tier wise Breakdown of Influencer Roster</a:t>
            </a:r>
          </a:p>
        </p:txBody>
      </p:sp>
      <p:cxnSp>
        <p:nvCxnSpPr>
          <p:cNvPr id="140" name="Curved Connector 139">
            <a:extLst>
              <a:ext uri="{FF2B5EF4-FFF2-40B4-BE49-F238E27FC236}">
                <a16:creationId xmlns:a16="http://schemas.microsoft.com/office/drawing/2014/main" id="{1830DC13-3855-94DB-1B70-14A84A18F8A3}"/>
              </a:ext>
            </a:extLst>
          </p:cNvPr>
          <p:cNvCxnSpPr>
            <a:cxnSpLocks/>
          </p:cNvCxnSpPr>
          <p:nvPr/>
        </p:nvCxnSpPr>
        <p:spPr>
          <a:xfrm flipV="1">
            <a:off x="7716358" y="1401562"/>
            <a:ext cx="619753" cy="34798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AA05229-673A-F734-A790-50ACB83B0117}"/>
              </a:ext>
            </a:extLst>
          </p:cNvPr>
          <p:cNvSpPr/>
          <p:nvPr/>
        </p:nvSpPr>
        <p:spPr>
          <a:xfrm>
            <a:off x="6730571" y="654067"/>
            <a:ext cx="1563537" cy="374272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4" name="Chart 143">
            <a:extLst>
              <a:ext uri="{FF2B5EF4-FFF2-40B4-BE49-F238E27FC236}">
                <a16:creationId xmlns:a16="http://schemas.microsoft.com/office/drawing/2014/main" id="{D4FCA075-09DB-E506-BF58-650994D4A2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7203439"/>
              </p:ext>
            </p:extLst>
          </p:nvPr>
        </p:nvGraphicFramePr>
        <p:xfrm>
          <a:off x="8219327" y="1166775"/>
          <a:ext cx="1834540" cy="1385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grpSp>
        <p:nvGrpSpPr>
          <p:cNvPr id="83" name="Group 82">
            <a:extLst>
              <a:ext uri="{FF2B5EF4-FFF2-40B4-BE49-F238E27FC236}">
                <a16:creationId xmlns:a16="http://schemas.microsoft.com/office/drawing/2014/main" id="{320F9EB6-79A3-1948-B5DE-7E85811D2DFE}"/>
              </a:ext>
            </a:extLst>
          </p:cNvPr>
          <p:cNvGrpSpPr/>
          <p:nvPr/>
        </p:nvGrpSpPr>
        <p:grpSpPr>
          <a:xfrm>
            <a:off x="8673789" y="638179"/>
            <a:ext cx="1290160" cy="400110"/>
            <a:chOff x="10397457" y="998941"/>
            <a:chExt cx="1290160" cy="40011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1BA1F0F8-1FD5-B8F9-78A8-D8E62D972B2C}"/>
                </a:ext>
              </a:extLst>
            </p:cNvPr>
            <p:cNvSpPr/>
            <p:nvPr/>
          </p:nvSpPr>
          <p:spPr>
            <a:xfrm>
              <a:off x="10397457" y="1019722"/>
              <a:ext cx="1278174" cy="374272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7AEC215-2D61-C54C-4361-DF988C44AD93}"/>
                </a:ext>
              </a:extLst>
            </p:cNvPr>
            <p:cNvSpPr txBox="1"/>
            <p:nvPr/>
          </p:nvSpPr>
          <p:spPr>
            <a:xfrm>
              <a:off x="10409443" y="998941"/>
              <a:ext cx="12781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Tier 1 Breakdown in Major Cities</a:t>
              </a:r>
            </a:p>
          </p:txBody>
        </p:sp>
      </p:grpSp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84" name="Chart 83">
                <a:extLst>
                  <a:ext uri="{FF2B5EF4-FFF2-40B4-BE49-F238E27FC236}">
                    <a16:creationId xmlns:a16="http://schemas.microsoft.com/office/drawing/2014/main" id="{18BC99C6-32A1-C340-ABEC-CE37A0884D0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65646403"/>
                  </p:ext>
                </p:extLst>
              </p:nvPr>
            </p:nvGraphicFramePr>
            <p:xfrm>
              <a:off x="9836691" y="1144926"/>
              <a:ext cx="2131214" cy="14478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5"/>
              </a:graphicData>
            </a:graphic>
          </p:graphicFrame>
        </mc:Choice>
        <mc:Fallback xmlns="">
          <p:pic>
            <p:nvPicPr>
              <p:cNvPr id="84" name="Chart 83">
                <a:extLst>
                  <a:ext uri="{FF2B5EF4-FFF2-40B4-BE49-F238E27FC236}">
                    <a16:creationId xmlns:a16="http://schemas.microsoft.com/office/drawing/2014/main" id="{18BC99C6-32A1-C340-ABEC-CE37A0884D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836691" y="1144926"/>
                <a:ext cx="2131214" cy="144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ECD8B20-D7BE-3205-105B-213CEFFA2BC4}"/>
              </a:ext>
            </a:extLst>
          </p:cNvPr>
          <p:cNvGrpSpPr/>
          <p:nvPr/>
        </p:nvGrpSpPr>
        <p:grpSpPr>
          <a:xfrm>
            <a:off x="10327007" y="637503"/>
            <a:ext cx="1290160" cy="400110"/>
            <a:chOff x="10397457" y="998941"/>
            <a:chExt cx="1290160" cy="400110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9D37C0A-AE77-5582-C30C-16D7F338AA52}"/>
                </a:ext>
              </a:extLst>
            </p:cNvPr>
            <p:cNvSpPr/>
            <p:nvPr/>
          </p:nvSpPr>
          <p:spPr>
            <a:xfrm>
              <a:off x="10397457" y="1019722"/>
              <a:ext cx="1278174" cy="374272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168C86B-A1A0-C3C4-16AD-87F92719E78E}"/>
                </a:ext>
              </a:extLst>
            </p:cNvPr>
            <p:cNvSpPr txBox="1"/>
            <p:nvPr/>
          </p:nvSpPr>
          <p:spPr>
            <a:xfrm>
              <a:off x="10409443" y="998941"/>
              <a:ext cx="12781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Category wise Breakdown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22F70984-7287-DCE7-E348-4B6D08AFEA2C}"/>
              </a:ext>
            </a:extLst>
          </p:cNvPr>
          <p:cNvGrpSpPr/>
          <p:nvPr/>
        </p:nvGrpSpPr>
        <p:grpSpPr>
          <a:xfrm>
            <a:off x="6814668" y="2859834"/>
            <a:ext cx="5269205" cy="625304"/>
            <a:chOff x="6834055" y="2812386"/>
            <a:chExt cx="5269205" cy="625304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865FF93-6219-D194-5BB8-8B14463D7B68}"/>
                </a:ext>
              </a:extLst>
            </p:cNvPr>
            <p:cNvSpPr/>
            <p:nvPr/>
          </p:nvSpPr>
          <p:spPr>
            <a:xfrm>
              <a:off x="6834055" y="2812386"/>
              <a:ext cx="5235911" cy="625304"/>
            </a:xfrm>
            <a:prstGeom prst="rect">
              <a:avLst/>
            </a:prstGeom>
            <a:solidFill>
              <a:srgbClr val="DCF0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FE50F6D-1D31-9456-9BDF-61B85EF091F5}"/>
                </a:ext>
              </a:extLst>
            </p:cNvPr>
            <p:cNvSpPr txBox="1"/>
            <p:nvPr/>
          </p:nvSpPr>
          <p:spPr>
            <a:xfrm>
              <a:off x="6940804" y="2849361"/>
              <a:ext cx="5162456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82%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of the current talent is driven by </a:t>
              </a:r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Actors, Entertainment and Fashion &amp; Beauty. Expanding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along those lines into </a:t>
              </a:r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South and North-East India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but with the twist of regional Language can auger well as a strategy</a:t>
              </a:r>
              <a:endParaRPr lang="en-IN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09FAA300-E729-D4A0-7875-7E8851BAA01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00081" y="3989561"/>
            <a:ext cx="421632" cy="421632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9BD3B02-36F8-F623-94F5-8156A36606A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46446" y="3955633"/>
            <a:ext cx="422262" cy="422262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77A85E53-5388-4545-6977-34203911669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11213" y="5419764"/>
            <a:ext cx="495180" cy="495180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B2EC1C28-A43D-243E-A427-0E3B12852B9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42208" y="5416638"/>
            <a:ext cx="498028" cy="498028"/>
          </a:xfrm>
          <a:prstGeom prst="rect">
            <a:avLst/>
          </a:prstGeom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018EBCBF-CC0A-F758-992A-79F258CE7CCE}"/>
              </a:ext>
            </a:extLst>
          </p:cNvPr>
          <p:cNvCxnSpPr>
            <a:cxnSpLocks/>
          </p:cNvCxnSpPr>
          <p:nvPr/>
        </p:nvCxnSpPr>
        <p:spPr>
          <a:xfrm flipV="1">
            <a:off x="7940388" y="3934101"/>
            <a:ext cx="214837" cy="174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2EE22595-D2EF-82F2-84CA-F7D3F249B312}"/>
              </a:ext>
            </a:extLst>
          </p:cNvPr>
          <p:cNvCxnSpPr>
            <a:cxnSpLocks/>
          </p:cNvCxnSpPr>
          <p:nvPr/>
        </p:nvCxnSpPr>
        <p:spPr>
          <a:xfrm flipV="1">
            <a:off x="10336196" y="3923885"/>
            <a:ext cx="244559" cy="180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4C665D2D-758B-7AC3-F116-526973D91752}"/>
              </a:ext>
            </a:extLst>
          </p:cNvPr>
          <p:cNvCxnSpPr>
            <a:cxnSpLocks/>
          </p:cNvCxnSpPr>
          <p:nvPr/>
        </p:nvCxnSpPr>
        <p:spPr>
          <a:xfrm>
            <a:off x="10336196" y="4261990"/>
            <a:ext cx="244559" cy="173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BF80F41F-3E2A-03A6-5940-2FEED83E2A33}"/>
              </a:ext>
            </a:extLst>
          </p:cNvPr>
          <p:cNvCxnSpPr>
            <a:cxnSpLocks/>
          </p:cNvCxnSpPr>
          <p:nvPr/>
        </p:nvCxnSpPr>
        <p:spPr>
          <a:xfrm flipV="1">
            <a:off x="10207153" y="5417450"/>
            <a:ext cx="214837" cy="174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A96F8E20-D587-47C4-46F5-4DB84482FCA4}"/>
              </a:ext>
            </a:extLst>
          </p:cNvPr>
          <p:cNvCxnSpPr>
            <a:cxnSpLocks/>
          </p:cNvCxnSpPr>
          <p:nvPr/>
        </p:nvCxnSpPr>
        <p:spPr>
          <a:xfrm>
            <a:off x="10213835" y="5758145"/>
            <a:ext cx="201042" cy="173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E500683E-7906-C0A5-A540-7D5228EDDA80}"/>
              </a:ext>
            </a:extLst>
          </p:cNvPr>
          <p:cNvCxnSpPr>
            <a:cxnSpLocks/>
          </p:cNvCxnSpPr>
          <p:nvPr/>
        </p:nvCxnSpPr>
        <p:spPr>
          <a:xfrm flipV="1">
            <a:off x="8069937" y="5434588"/>
            <a:ext cx="214837" cy="174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FA80A347-5FBE-9BE8-DF68-44EB3BF4B411}"/>
              </a:ext>
            </a:extLst>
          </p:cNvPr>
          <p:cNvCxnSpPr>
            <a:cxnSpLocks/>
          </p:cNvCxnSpPr>
          <p:nvPr/>
        </p:nvCxnSpPr>
        <p:spPr>
          <a:xfrm>
            <a:off x="8056299" y="5764257"/>
            <a:ext cx="246137" cy="163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Streax Professional - A Journey to ...">
            <a:extLst>
              <a:ext uri="{FF2B5EF4-FFF2-40B4-BE49-F238E27FC236}">
                <a16:creationId xmlns:a16="http://schemas.microsoft.com/office/drawing/2014/main" id="{C624B61C-F0F5-88DE-9EE6-DB4FE8C6A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451" y="3882772"/>
            <a:ext cx="569648" cy="319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F21BED92-0414-70C3-2369-270398BC6C64}"/>
              </a:ext>
            </a:extLst>
          </p:cNvPr>
          <p:cNvCxnSpPr>
            <a:cxnSpLocks/>
          </p:cNvCxnSpPr>
          <p:nvPr/>
        </p:nvCxnSpPr>
        <p:spPr>
          <a:xfrm>
            <a:off x="7945889" y="4349696"/>
            <a:ext cx="201042" cy="173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Mamaearth: A Comprehensive Case Study in Brand Building, Social  Entrepreneurship, and Global Expansion | by Dhananjay Mittal | Medium">
            <a:extLst>
              <a:ext uri="{FF2B5EF4-FFF2-40B4-BE49-F238E27FC236}">
                <a16:creationId xmlns:a16="http://schemas.microsoft.com/office/drawing/2014/main" id="{584844CC-C437-F110-568E-7D921F296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341" y="3953540"/>
            <a:ext cx="955653" cy="13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The Chumbak Business Model. How is ...">
            <a:extLst>
              <a:ext uri="{FF2B5EF4-FFF2-40B4-BE49-F238E27FC236}">
                <a16:creationId xmlns:a16="http://schemas.microsoft.com/office/drawing/2014/main" id="{665C0E6F-9754-130A-04BC-424F48D81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9119" y="4356313"/>
            <a:ext cx="656351" cy="29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Faasos Projects :: Photos, videos, logos, illustrations and branding ::  Behance">
            <a:extLst>
              <a:ext uri="{FF2B5EF4-FFF2-40B4-BE49-F238E27FC236}">
                <a16:creationId xmlns:a16="http://schemas.microsoft.com/office/drawing/2014/main" id="{E0D437E6-EF16-CAE5-1806-C31BBF333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071" y="4195117"/>
            <a:ext cx="745942" cy="460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" name="TextBox 205">
            <a:extLst>
              <a:ext uri="{FF2B5EF4-FFF2-40B4-BE49-F238E27FC236}">
                <a16:creationId xmlns:a16="http://schemas.microsoft.com/office/drawing/2014/main" id="{3FD73EE5-6F9A-7E03-7AEB-370A45CEC4D5}"/>
              </a:ext>
            </a:extLst>
          </p:cNvPr>
          <p:cNvSpPr txBox="1"/>
          <p:nvPr/>
        </p:nvSpPr>
        <p:spPr>
          <a:xfrm>
            <a:off x="7491516" y="4698235"/>
            <a:ext cx="22134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Brands can use nano and micro-influencers for cost-effective, highly engaging, and authentic marketing.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64" name="Picture 16">
            <a:extLst>
              <a:ext uri="{FF2B5EF4-FFF2-40B4-BE49-F238E27FC236}">
                <a16:creationId xmlns:a16="http://schemas.microsoft.com/office/drawing/2014/main" id="{FBAA96CD-7333-8D83-20DC-F1016B256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8786" y="3917135"/>
            <a:ext cx="747602" cy="22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Myntra Logo and symbol, meaning, history, PNG, brand">
            <a:extLst>
              <a:ext uri="{FF2B5EF4-FFF2-40B4-BE49-F238E27FC236}">
                <a16:creationId xmlns:a16="http://schemas.microsoft.com/office/drawing/2014/main" id="{4E1BB923-174B-EBB8-E352-3FD8DAE70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488" y="4239465"/>
            <a:ext cx="726147" cy="408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bigbasket-logo-png-300x200 - Pristine Organics">
            <a:extLst>
              <a:ext uri="{FF2B5EF4-FFF2-40B4-BE49-F238E27FC236}">
                <a16:creationId xmlns:a16="http://schemas.microsoft.com/office/drawing/2014/main" id="{2738CD0B-F127-38F3-1674-4B34C0B10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1868" y="3836058"/>
            <a:ext cx="565389" cy="37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>
            <a:extLst>
              <a:ext uri="{FF2B5EF4-FFF2-40B4-BE49-F238E27FC236}">
                <a16:creationId xmlns:a16="http://schemas.microsoft.com/office/drawing/2014/main" id="{A5AFD185-6BC0-78B1-6E5F-03D428758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988" y="4336763"/>
            <a:ext cx="561567" cy="18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" name="TextBox 208">
            <a:extLst>
              <a:ext uri="{FF2B5EF4-FFF2-40B4-BE49-F238E27FC236}">
                <a16:creationId xmlns:a16="http://schemas.microsoft.com/office/drawing/2014/main" id="{620C9890-A6DE-18A1-A1F1-4AA53AAC5920}"/>
              </a:ext>
            </a:extLst>
          </p:cNvPr>
          <p:cNvSpPr txBox="1"/>
          <p:nvPr/>
        </p:nvSpPr>
        <p:spPr>
          <a:xfrm>
            <a:off x="9791616" y="4621594"/>
            <a:ext cx="24482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Brands can use regional influencers to build local trust and connect with cultural preferences, boosting loyalty and engagement.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72" name="Picture 24" descr="Vivo Logo: Vivo unveils new 'Made in India' logo for devices, ET Telecom">
            <a:extLst>
              <a:ext uri="{FF2B5EF4-FFF2-40B4-BE49-F238E27FC236}">
                <a16:creationId xmlns:a16="http://schemas.microsoft.com/office/drawing/2014/main" id="{9596B680-30E4-A59C-6EDE-5588B8AA0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683" y="5383684"/>
            <a:ext cx="527787" cy="39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>
            <a:extLst>
              <a:ext uri="{FF2B5EF4-FFF2-40B4-BE49-F238E27FC236}">
                <a16:creationId xmlns:a16="http://schemas.microsoft.com/office/drawing/2014/main" id="{BBA6B986-CC62-06CB-9872-E9F0BDF4A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144" y="5919508"/>
            <a:ext cx="902220" cy="17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>
            <a:extLst>
              <a:ext uri="{FF2B5EF4-FFF2-40B4-BE49-F238E27FC236}">
                <a16:creationId xmlns:a16="http://schemas.microsoft.com/office/drawing/2014/main" id="{2FFCA232-9D4C-FD9E-E15A-9998214E2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1310" y="5447595"/>
            <a:ext cx="759595" cy="25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 descr="Huawei Logo, symbol, meaning, history ...">
            <a:extLst>
              <a:ext uri="{FF2B5EF4-FFF2-40B4-BE49-F238E27FC236}">
                <a16:creationId xmlns:a16="http://schemas.microsoft.com/office/drawing/2014/main" id="{96A5BDCB-FBE8-1946-2BB1-3F7506681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112" y="5792440"/>
            <a:ext cx="560945" cy="314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668FF1C5-0506-721C-5D52-4DC0C984807C}"/>
              </a:ext>
            </a:extLst>
          </p:cNvPr>
          <p:cNvSpPr txBox="1"/>
          <p:nvPr/>
        </p:nvSpPr>
        <p:spPr>
          <a:xfrm>
            <a:off x="7542317" y="6108259"/>
            <a:ext cx="2180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Tech brands can use influencer recommendations to build trust and highlight features, appealing to tech-savvy audiences.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80" name="Picture 32">
            <a:extLst>
              <a:ext uri="{FF2B5EF4-FFF2-40B4-BE49-F238E27FC236}">
                <a16:creationId xmlns:a16="http://schemas.microsoft.com/office/drawing/2014/main" id="{20BF5B6B-CBC3-8A66-E4CE-5879418EA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8884" y="5422387"/>
            <a:ext cx="873751" cy="24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2" name="Picture 34" descr="League of Legends Logo [LoL | 04] - PNG ...">
            <a:extLst>
              <a:ext uri="{FF2B5EF4-FFF2-40B4-BE49-F238E27FC236}">
                <a16:creationId xmlns:a16="http://schemas.microsoft.com/office/drawing/2014/main" id="{ADDADC47-17A9-0477-DAD4-D53D887B7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8475" y="5816638"/>
            <a:ext cx="817526" cy="317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4" name="Picture 36" descr="Apex Logo PNG Vectors Free Download">
            <a:extLst>
              <a:ext uri="{FF2B5EF4-FFF2-40B4-BE49-F238E27FC236}">
                <a16:creationId xmlns:a16="http://schemas.microsoft.com/office/drawing/2014/main" id="{8AE679A3-C8B1-F277-87E3-00C84D819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6504" y="5381339"/>
            <a:ext cx="417116" cy="39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6" name="Picture 38" descr="Valorant Logo PNG Vector (SVG) Free ...">
            <a:extLst>
              <a:ext uri="{FF2B5EF4-FFF2-40B4-BE49-F238E27FC236}">
                <a16:creationId xmlns:a16="http://schemas.microsoft.com/office/drawing/2014/main" id="{518420BD-710E-A686-40A7-A966B49AE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401" y="5835429"/>
            <a:ext cx="437144" cy="43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" name="TextBox 214">
            <a:extLst>
              <a:ext uri="{FF2B5EF4-FFF2-40B4-BE49-F238E27FC236}">
                <a16:creationId xmlns:a16="http://schemas.microsoft.com/office/drawing/2014/main" id="{181499A4-7519-52E4-8F90-1EF710521ED9}"/>
              </a:ext>
            </a:extLst>
          </p:cNvPr>
          <p:cNvSpPr txBox="1"/>
          <p:nvPr/>
        </p:nvSpPr>
        <p:spPr>
          <a:xfrm>
            <a:off x="9768593" y="6095752"/>
            <a:ext cx="21758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Gaming titles can engage influencers to boost community interaction and player acquisition, enhancing brand visibility.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96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24">
            <a:extLst>
              <a:ext uri="{FF2B5EF4-FFF2-40B4-BE49-F238E27FC236}">
                <a16:creationId xmlns:a16="http://schemas.microsoft.com/office/drawing/2014/main" id="{DC590FF1-0F54-31D0-2F7C-8BA87DF3D85A}"/>
              </a:ext>
            </a:extLst>
          </p:cNvPr>
          <p:cNvSpPr/>
          <p:nvPr/>
        </p:nvSpPr>
        <p:spPr>
          <a:xfrm>
            <a:off x="124087" y="3245197"/>
            <a:ext cx="1560378" cy="3509582"/>
          </a:xfrm>
          <a:prstGeom prst="roundRect">
            <a:avLst>
              <a:gd name="adj" fmla="val 3688"/>
            </a:avLst>
          </a:prstGeom>
          <a:solidFill>
            <a:schemeClr val="accent5">
              <a:lumMod val="20000"/>
              <a:lumOff val="80000"/>
              <a:alpha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81AA4A-CBA2-724B-765E-FAC7DB3EBB22}"/>
              </a:ext>
            </a:extLst>
          </p:cNvPr>
          <p:cNvSpPr/>
          <p:nvPr/>
        </p:nvSpPr>
        <p:spPr>
          <a:xfrm>
            <a:off x="34822" y="435816"/>
            <a:ext cx="6077860" cy="2455807"/>
          </a:xfrm>
          <a:prstGeom prst="roundRect">
            <a:avLst>
              <a:gd name="adj" fmla="val 3688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8FC6C68-EBD6-C550-446E-E53E1ACEDCBF}"/>
              </a:ext>
            </a:extLst>
          </p:cNvPr>
          <p:cNvSpPr/>
          <p:nvPr/>
        </p:nvSpPr>
        <p:spPr>
          <a:xfrm>
            <a:off x="0" y="0"/>
            <a:ext cx="12191999" cy="336884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CE0AA3E-1F8B-D07F-C388-AA31440134A9}"/>
              </a:ext>
            </a:extLst>
          </p:cNvPr>
          <p:cNvSpPr/>
          <p:nvPr/>
        </p:nvSpPr>
        <p:spPr>
          <a:xfrm>
            <a:off x="99145" y="3034665"/>
            <a:ext cx="6043883" cy="3772740"/>
          </a:xfrm>
          <a:prstGeom prst="roundRect">
            <a:avLst>
              <a:gd name="adj" fmla="val 3688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A37F8A8-090E-2846-F974-B2FCA273505A}"/>
              </a:ext>
            </a:extLst>
          </p:cNvPr>
          <p:cNvSpPr/>
          <p:nvPr/>
        </p:nvSpPr>
        <p:spPr>
          <a:xfrm>
            <a:off x="8403454" y="3012714"/>
            <a:ext cx="3753724" cy="3772740"/>
          </a:xfrm>
          <a:prstGeom prst="roundRect">
            <a:avLst>
              <a:gd name="adj" fmla="val 3688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7EC0FEC-5276-366F-D882-B8BF8290FD1E}"/>
              </a:ext>
            </a:extLst>
          </p:cNvPr>
          <p:cNvSpPr/>
          <p:nvPr/>
        </p:nvSpPr>
        <p:spPr>
          <a:xfrm>
            <a:off x="99146" y="2920553"/>
            <a:ext cx="6044084" cy="295984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89B4E87-B4A1-E0C3-85F5-E578AFD9C426}"/>
              </a:ext>
            </a:extLst>
          </p:cNvPr>
          <p:cNvSpPr/>
          <p:nvPr/>
        </p:nvSpPr>
        <p:spPr>
          <a:xfrm>
            <a:off x="8416398" y="2911913"/>
            <a:ext cx="3719008" cy="295984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04791D-860A-0202-F316-21A7CD88E990}"/>
              </a:ext>
            </a:extLst>
          </p:cNvPr>
          <p:cNvSpPr txBox="1"/>
          <p:nvPr/>
        </p:nvSpPr>
        <p:spPr>
          <a:xfrm>
            <a:off x="883833" y="2902133"/>
            <a:ext cx="3856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1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Business Model Analysis of Major Players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E75E94-B5E8-0662-EA42-7887F9F35A14}"/>
              </a:ext>
            </a:extLst>
          </p:cNvPr>
          <p:cNvSpPr txBox="1"/>
          <p:nvPr/>
        </p:nvSpPr>
        <p:spPr>
          <a:xfrm>
            <a:off x="9236649" y="2902264"/>
            <a:ext cx="19602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Takeaways for Clout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6F9A3D7B-099F-C896-D23C-8B19EBDF576F}"/>
              </a:ext>
            </a:extLst>
          </p:cNvPr>
          <p:cNvSpPr/>
          <p:nvPr/>
        </p:nvSpPr>
        <p:spPr>
          <a:xfrm>
            <a:off x="22157" y="358503"/>
            <a:ext cx="6100953" cy="295984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B5EE7F32-2A26-9C24-3EB9-E6E4A8D3BBC7}"/>
              </a:ext>
            </a:extLst>
          </p:cNvPr>
          <p:cNvSpPr/>
          <p:nvPr/>
        </p:nvSpPr>
        <p:spPr>
          <a:xfrm>
            <a:off x="6136176" y="427491"/>
            <a:ext cx="6021002" cy="2455807"/>
          </a:xfrm>
          <a:prstGeom prst="roundRect">
            <a:avLst>
              <a:gd name="adj" fmla="val 3688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356E7FE5-42CD-5674-A41E-69A589B43E65}"/>
              </a:ext>
            </a:extLst>
          </p:cNvPr>
          <p:cNvSpPr/>
          <p:nvPr/>
        </p:nvSpPr>
        <p:spPr>
          <a:xfrm>
            <a:off x="6135775" y="351009"/>
            <a:ext cx="6034068" cy="295984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52235DF-5ECD-4EEA-0E33-B221B2CA9740}"/>
              </a:ext>
            </a:extLst>
          </p:cNvPr>
          <p:cNvCxnSpPr>
            <a:cxnSpLocks/>
          </p:cNvCxnSpPr>
          <p:nvPr/>
        </p:nvCxnSpPr>
        <p:spPr>
          <a:xfrm>
            <a:off x="9125712" y="729240"/>
            <a:ext cx="15709" cy="199545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B3F8CA51-B7E8-F8F8-3256-7CDDD19D6B7C}"/>
              </a:ext>
            </a:extLst>
          </p:cNvPr>
          <p:cNvSpPr txBox="1"/>
          <p:nvPr/>
        </p:nvSpPr>
        <p:spPr>
          <a:xfrm>
            <a:off x="604554" y="364665"/>
            <a:ext cx="5145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Journey with Clout making Profits for brands and creators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49C32EE-EB50-7EC7-C386-73600C8645B4}"/>
              </a:ext>
            </a:extLst>
          </p:cNvPr>
          <p:cNvSpPr txBox="1"/>
          <p:nvPr/>
        </p:nvSpPr>
        <p:spPr>
          <a:xfrm>
            <a:off x="6869164" y="651618"/>
            <a:ext cx="1386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 Activities</a:t>
            </a:r>
          </a:p>
        </p:txBody>
      </p:sp>
      <p:sp>
        <p:nvSpPr>
          <p:cNvPr id="113" name="Rounded Rectangle 24">
            <a:extLst>
              <a:ext uri="{FF2B5EF4-FFF2-40B4-BE49-F238E27FC236}">
                <a16:creationId xmlns:a16="http://schemas.microsoft.com/office/drawing/2014/main" id="{16DE3058-0906-8AC9-BFBD-FD5A43310728}"/>
              </a:ext>
            </a:extLst>
          </p:cNvPr>
          <p:cNvSpPr/>
          <p:nvPr/>
        </p:nvSpPr>
        <p:spPr>
          <a:xfrm>
            <a:off x="1717179" y="3245197"/>
            <a:ext cx="2179028" cy="3509582"/>
          </a:xfrm>
          <a:prstGeom prst="roundRect">
            <a:avLst>
              <a:gd name="adj" fmla="val 3688"/>
            </a:avLst>
          </a:prstGeom>
          <a:noFill/>
        </p:spPr>
        <p:txBody>
          <a:bodyPr wrap="square" rtlCol="0">
            <a:spAutoFit/>
          </a:bodyPr>
          <a:lstStyle/>
          <a:p>
            <a:endParaRPr lang="en-US" sz="9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Rounded Rectangle 24">
            <a:extLst>
              <a:ext uri="{FF2B5EF4-FFF2-40B4-BE49-F238E27FC236}">
                <a16:creationId xmlns:a16="http://schemas.microsoft.com/office/drawing/2014/main" id="{92693980-F369-8E4A-00C7-E9F8FD2AE1EE}"/>
              </a:ext>
            </a:extLst>
          </p:cNvPr>
          <p:cNvSpPr/>
          <p:nvPr/>
        </p:nvSpPr>
        <p:spPr>
          <a:xfrm>
            <a:off x="3944806" y="3245197"/>
            <a:ext cx="2179028" cy="3509582"/>
          </a:xfrm>
          <a:prstGeom prst="roundRect">
            <a:avLst>
              <a:gd name="adj" fmla="val 3688"/>
            </a:avLst>
          </a:prstGeom>
          <a:solidFill>
            <a:srgbClr val="DCF0C6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A9625694-1FB2-AFC2-787A-FC002754D6C1}"/>
              </a:ext>
            </a:extLst>
          </p:cNvPr>
          <p:cNvSpPr/>
          <p:nvPr/>
        </p:nvSpPr>
        <p:spPr>
          <a:xfrm>
            <a:off x="125722" y="3274851"/>
            <a:ext cx="1536951" cy="418904"/>
          </a:xfrm>
          <a:prstGeom prst="roundRect">
            <a:avLst/>
          </a:prstGeom>
          <a:solidFill>
            <a:srgbClr val="FFA6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18741E32-DA9F-2089-3280-E920E5C3E298}"/>
              </a:ext>
            </a:extLst>
          </p:cNvPr>
          <p:cNvSpPr/>
          <p:nvPr/>
        </p:nvSpPr>
        <p:spPr>
          <a:xfrm>
            <a:off x="134162" y="4764405"/>
            <a:ext cx="1521761" cy="925821"/>
          </a:xfrm>
          <a:prstGeom prst="roundRect">
            <a:avLst>
              <a:gd name="adj" fmla="val 6692"/>
            </a:avLst>
          </a:prstGeom>
          <a:solidFill>
            <a:srgbClr val="FFA6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35184FF2-FF88-3A2B-C990-95D92A5AD7D5}"/>
              </a:ext>
            </a:extLst>
          </p:cNvPr>
          <p:cNvSpPr/>
          <p:nvPr/>
        </p:nvSpPr>
        <p:spPr>
          <a:xfrm>
            <a:off x="124087" y="5754153"/>
            <a:ext cx="1543782" cy="925821"/>
          </a:xfrm>
          <a:prstGeom prst="roundRect">
            <a:avLst>
              <a:gd name="adj" fmla="val 6342"/>
            </a:avLst>
          </a:prstGeom>
          <a:solidFill>
            <a:srgbClr val="FFA6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7B1B3A1C-6E49-B7C9-4EAA-2B91BA8F5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956" y="3300377"/>
            <a:ext cx="2088372" cy="363099"/>
          </a:xfrm>
          <a:prstGeom prst="rect">
            <a:avLst/>
          </a:prstGeom>
        </p:spPr>
      </p:pic>
      <p:sp>
        <p:nvSpPr>
          <p:cNvPr id="138" name="Rounded Rectangle 24">
            <a:extLst>
              <a:ext uri="{FF2B5EF4-FFF2-40B4-BE49-F238E27FC236}">
                <a16:creationId xmlns:a16="http://schemas.microsoft.com/office/drawing/2014/main" id="{06D622C2-20EB-82D0-F1EF-56C6F413B8E9}"/>
              </a:ext>
            </a:extLst>
          </p:cNvPr>
          <p:cNvSpPr/>
          <p:nvPr/>
        </p:nvSpPr>
        <p:spPr>
          <a:xfrm>
            <a:off x="6171707" y="2915476"/>
            <a:ext cx="2179028" cy="3891929"/>
          </a:xfrm>
          <a:prstGeom prst="roundRect">
            <a:avLst>
              <a:gd name="adj" fmla="val 3688"/>
            </a:avLst>
          </a:prstGeom>
          <a:solidFill>
            <a:srgbClr val="FFFBAE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ight Arrow Callout 142">
            <a:extLst>
              <a:ext uri="{FF2B5EF4-FFF2-40B4-BE49-F238E27FC236}">
                <a16:creationId xmlns:a16="http://schemas.microsoft.com/office/drawing/2014/main" id="{4B11B8E1-3CDC-A9D9-4BEB-F890ABEC7C99}"/>
              </a:ext>
            </a:extLst>
          </p:cNvPr>
          <p:cNvSpPr/>
          <p:nvPr/>
        </p:nvSpPr>
        <p:spPr>
          <a:xfrm>
            <a:off x="99145" y="689802"/>
            <a:ext cx="2274587" cy="1067186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9701"/>
            </a:avLst>
          </a:prstGeom>
          <a:solidFill>
            <a:srgbClr val="FFE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ight Arrow Callout 146">
            <a:extLst>
              <a:ext uri="{FF2B5EF4-FFF2-40B4-BE49-F238E27FC236}">
                <a16:creationId xmlns:a16="http://schemas.microsoft.com/office/drawing/2014/main" id="{6D5F8F10-9EA1-C187-0978-1B57E63046DD}"/>
              </a:ext>
            </a:extLst>
          </p:cNvPr>
          <p:cNvSpPr/>
          <p:nvPr/>
        </p:nvSpPr>
        <p:spPr>
          <a:xfrm>
            <a:off x="2216589" y="697696"/>
            <a:ext cx="2226607" cy="105293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9701"/>
            </a:avLst>
          </a:prstGeom>
          <a:solidFill>
            <a:srgbClr val="FFE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Right Arrow Callout 149">
            <a:extLst>
              <a:ext uri="{FF2B5EF4-FFF2-40B4-BE49-F238E27FC236}">
                <a16:creationId xmlns:a16="http://schemas.microsoft.com/office/drawing/2014/main" id="{4339CAEF-281C-2F18-E4FC-F91A8B362B18}"/>
              </a:ext>
            </a:extLst>
          </p:cNvPr>
          <p:cNvSpPr/>
          <p:nvPr/>
        </p:nvSpPr>
        <p:spPr>
          <a:xfrm rot="10800000">
            <a:off x="3825976" y="1807699"/>
            <a:ext cx="2226607" cy="104220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9701"/>
            </a:avLst>
          </a:prstGeom>
          <a:solidFill>
            <a:srgbClr val="FFE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Right Arrow Callout 150">
            <a:extLst>
              <a:ext uri="{FF2B5EF4-FFF2-40B4-BE49-F238E27FC236}">
                <a16:creationId xmlns:a16="http://schemas.microsoft.com/office/drawing/2014/main" id="{F8229B9B-A859-12DE-9617-C2426FAA6E72}"/>
              </a:ext>
            </a:extLst>
          </p:cNvPr>
          <p:cNvSpPr/>
          <p:nvPr/>
        </p:nvSpPr>
        <p:spPr>
          <a:xfrm rot="10800000">
            <a:off x="1804250" y="1801057"/>
            <a:ext cx="2176706" cy="1047327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9701"/>
            </a:avLst>
          </a:prstGeom>
          <a:solidFill>
            <a:srgbClr val="FFE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71A9B64-131A-9259-C6EA-38D302385CD8}"/>
              </a:ext>
            </a:extLst>
          </p:cNvPr>
          <p:cNvSpPr/>
          <p:nvPr/>
        </p:nvSpPr>
        <p:spPr>
          <a:xfrm>
            <a:off x="88635" y="1794322"/>
            <a:ext cx="1835397" cy="1037831"/>
          </a:xfrm>
          <a:prstGeom prst="rect">
            <a:avLst/>
          </a:prstGeom>
          <a:solidFill>
            <a:srgbClr val="FFE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Down Arrow Callout 152">
            <a:extLst>
              <a:ext uri="{FF2B5EF4-FFF2-40B4-BE49-F238E27FC236}">
                <a16:creationId xmlns:a16="http://schemas.microsoft.com/office/drawing/2014/main" id="{2815E6D4-1683-4D8A-CD30-D0B5AC57BA03}"/>
              </a:ext>
            </a:extLst>
          </p:cNvPr>
          <p:cNvSpPr/>
          <p:nvPr/>
        </p:nvSpPr>
        <p:spPr>
          <a:xfrm>
            <a:off x="4273908" y="700312"/>
            <a:ext cx="1782738" cy="1432936"/>
          </a:xfrm>
          <a:prstGeom prst="downArrowCallout">
            <a:avLst>
              <a:gd name="adj1" fmla="val 13350"/>
              <a:gd name="adj2" fmla="val 25000"/>
              <a:gd name="adj3" fmla="val 27600"/>
              <a:gd name="adj4" fmla="val 69052"/>
            </a:avLst>
          </a:prstGeom>
          <a:solidFill>
            <a:srgbClr val="FFE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FF3C014-E514-FB31-B5A3-A0ED132AB8F0}"/>
              </a:ext>
            </a:extLst>
          </p:cNvPr>
          <p:cNvSpPr txBox="1"/>
          <p:nvPr/>
        </p:nvSpPr>
        <p:spPr>
          <a:xfrm>
            <a:off x="80457" y="739571"/>
            <a:ext cx="12795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Initial Onboarding</a:t>
            </a:r>
          </a:p>
        </p:txBody>
      </p:sp>
      <p:pic>
        <p:nvPicPr>
          <p:cNvPr id="155" name="Picture 154">
            <a:extLst>
              <a:ext uri="{FF2B5EF4-FFF2-40B4-BE49-F238E27FC236}">
                <a16:creationId xmlns:a16="http://schemas.microsoft.com/office/drawing/2014/main" id="{DE892A05-B924-B4F2-C8C8-6EF9805E3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967" y="706544"/>
            <a:ext cx="320086" cy="328759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8AC569B2-0798-0A2D-789D-E4725E9F123D}"/>
              </a:ext>
            </a:extLst>
          </p:cNvPr>
          <p:cNvSpPr txBox="1"/>
          <p:nvPr/>
        </p:nvSpPr>
        <p:spPr>
          <a:xfrm>
            <a:off x="2242432" y="765355"/>
            <a:ext cx="13933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Brand Development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1407D91-9C73-8B61-B62B-3C2D91C4A298}"/>
              </a:ext>
            </a:extLst>
          </p:cNvPr>
          <p:cNvSpPr txBox="1"/>
          <p:nvPr/>
        </p:nvSpPr>
        <p:spPr>
          <a:xfrm>
            <a:off x="4224084" y="769426"/>
            <a:ext cx="1737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Strategic Collaborations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0E1A599-1E11-F15E-1573-9F47BAF91368}"/>
              </a:ext>
            </a:extLst>
          </p:cNvPr>
          <p:cNvSpPr txBox="1"/>
          <p:nvPr/>
        </p:nvSpPr>
        <p:spPr>
          <a:xfrm>
            <a:off x="4228854" y="1838528"/>
            <a:ext cx="15632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Audience Engagement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59DC839-E544-E85F-BCB7-C9832A34A0EF}"/>
              </a:ext>
            </a:extLst>
          </p:cNvPr>
          <p:cNvSpPr txBox="1"/>
          <p:nvPr/>
        </p:nvSpPr>
        <p:spPr>
          <a:xfrm>
            <a:off x="2214777" y="1859192"/>
            <a:ext cx="12827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Long-term growth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1065522-4DFE-8EC5-D59E-0DE9259AC0CC}"/>
              </a:ext>
            </a:extLst>
          </p:cNvPr>
          <p:cNvSpPr txBox="1"/>
          <p:nvPr/>
        </p:nvSpPr>
        <p:spPr>
          <a:xfrm>
            <a:off x="30930" y="1867457"/>
            <a:ext cx="1948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Performance Evaluation</a:t>
            </a:r>
          </a:p>
        </p:txBody>
      </p:sp>
      <p:pic>
        <p:nvPicPr>
          <p:cNvPr id="161" name="Picture 160">
            <a:extLst>
              <a:ext uri="{FF2B5EF4-FFF2-40B4-BE49-F238E27FC236}">
                <a16:creationId xmlns:a16="http://schemas.microsoft.com/office/drawing/2014/main" id="{E44177B8-C3FB-9B51-9D36-8193F0B76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0491" y="732494"/>
            <a:ext cx="306885" cy="306885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7BFD1691-FB7E-9A76-7E2B-26625E5059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9477" y="756685"/>
            <a:ext cx="306885" cy="306885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BF5EA159-ECA5-562F-8D31-D6F8D399D3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696860" y="1879300"/>
            <a:ext cx="348491" cy="348491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0C746EDD-54E6-151B-4B35-D75DFEB897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142" y="1745530"/>
            <a:ext cx="448603" cy="448603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B9E97CE4-92C3-B8B5-5231-0BFBDAD85A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7232" y="1846986"/>
            <a:ext cx="292805" cy="292805"/>
          </a:xfrm>
          <a:prstGeom prst="rect">
            <a:avLst/>
          </a:prstGeom>
        </p:spPr>
      </p:pic>
      <p:sp>
        <p:nvSpPr>
          <p:cNvPr id="166" name="TextBox 165">
            <a:extLst>
              <a:ext uri="{FF2B5EF4-FFF2-40B4-BE49-F238E27FC236}">
                <a16:creationId xmlns:a16="http://schemas.microsoft.com/office/drawing/2014/main" id="{87A5C31B-E83B-9B59-F12A-FC2B18734DF3}"/>
              </a:ext>
            </a:extLst>
          </p:cNvPr>
          <p:cNvSpPr txBox="1"/>
          <p:nvPr/>
        </p:nvSpPr>
        <p:spPr>
          <a:xfrm>
            <a:off x="7219" y="1249989"/>
            <a:ext cx="19979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F7E875A-955A-A403-6EA8-74D3EA83C2EF}"/>
              </a:ext>
            </a:extLst>
          </p:cNvPr>
          <p:cNvSpPr txBox="1"/>
          <p:nvPr/>
        </p:nvSpPr>
        <p:spPr>
          <a:xfrm>
            <a:off x="61560" y="1034670"/>
            <a:ext cx="19515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Enables brands to launch more effective campaigns. Early training and platform guidance help niche influencers </a:t>
            </a: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monetize faster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9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4D32D90-7A30-E82B-E309-CBCDDEB00DA6}"/>
              </a:ext>
            </a:extLst>
          </p:cNvPr>
          <p:cNvSpPr txBox="1"/>
          <p:nvPr/>
        </p:nvSpPr>
        <p:spPr>
          <a:xfrm>
            <a:off x="2320129" y="1061178"/>
            <a:ext cx="181230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A strong brand identity helps niche influencers earn more. Brands gain </a:t>
            </a: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higher engagement and ROI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900" dirty="0"/>
          </a:p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34032BF-CD2C-7869-F5E6-282ED3B30725}"/>
              </a:ext>
            </a:extLst>
          </p:cNvPr>
          <p:cNvGrpSpPr/>
          <p:nvPr/>
        </p:nvGrpSpPr>
        <p:grpSpPr>
          <a:xfrm>
            <a:off x="6202967" y="673255"/>
            <a:ext cx="2862149" cy="2142966"/>
            <a:chOff x="6202967" y="673255"/>
            <a:chExt cx="2862149" cy="2142966"/>
          </a:xfrm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A766E3DC-487E-0D0A-9788-7B6CE0D47B39}"/>
                </a:ext>
              </a:extLst>
            </p:cNvPr>
            <p:cNvSpPr/>
            <p:nvPr/>
          </p:nvSpPr>
          <p:spPr>
            <a:xfrm>
              <a:off x="6205195" y="682161"/>
              <a:ext cx="2859921" cy="2134060"/>
            </a:xfrm>
            <a:prstGeom prst="roundRect">
              <a:avLst>
                <a:gd name="adj" fmla="val 2934"/>
              </a:avLst>
            </a:prstGeom>
            <a:solidFill>
              <a:srgbClr val="DCF0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ounded Rectangle 108">
              <a:extLst>
                <a:ext uri="{FF2B5EF4-FFF2-40B4-BE49-F238E27FC236}">
                  <a16:creationId xmlns:a16="http://schemas.microsoft.com/office/drawing/2014/main" id="{65C9D316-A6E0-812D-B824-EF65B4892EF7}"/>
                </a:ext>
              </a:extLst>
            </p:cNvPr>
            <p:cNvSpPr/>
            <p:nvPr/>
          </p:nvSpPr>
          <p:spPr>
            <a:xfrm>
              <a:off x="6202967" y="673255"/>
              <a:ext cx="2860039" cy="216478"/>
            </a:xfrm>
            <a:prstGeom prst="roundRect">
              <a:avLst/>
            </a:prstGeom>
            <a:solidFill>
              <a:srgbClr val="FFA6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5E6E61D7-F203-3EBE-102D-9A79CC8D9DAA}"/>
                </a:ext>
              </a:extLst>
            </p:cNvPr>
            <p:cNvCxnSpPr/>
            <p:nvPr/>
          </p:nvCxnSpPr>
          <p:spPr>
            <a:xfrm>
              <a:off x="7318124" y="928617"/>
              <a:ext cx="0" cy="1796082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5EC8B729-C738-257E-7D16-B2E25C879E0D}"/>
              </a:ext>
            </a:extLst>
          </p:cNvPr>
          <p:cNvSpPr/>
          <p:nvPr/>
        </p:nvSpPr>
        <p:spPr>
          <a:xfrm>
            <a:off x="9190893" y="687257"/>
            <a:ext cx="2901961" cy="2134060"/>
          </a:xfrm>
          <a:prstGeom prst="roundRect">
            <a:avLst>
              <a:gd name="adj" fmla="val 2934"/>
            </a:avLst>
          </a:prstGeom>
          <a:solidFill>
            <a:srgbClr val="DCF0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A03BAE7C-879E-CE92-7E4A-CA122BECFAB1}"/>
              </a:ext>
            </a:extLst>
          </p:cNvPr>
          <p:cNvSpPr/>
          <p:nvPr/>
        </p:nvSpPr>
        <p:spPr>
          <a:xfrm>
            <a:off x="9188665" y="672823"/>
            <a:ext cx="2901544" cy="223635"/>
          </a:xfrm>
          <a:prstGeom prst="roundRect">
            <a:avLst/>
          </a:prstGeom>
          <a:solidFill>
            <a:srgbClr val="FFA6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59E6EE05-2E66-4774-E4D4-B51B5A103195}"/>
              </a:ext>
            </a:extLst>
          </p:cNvPr>
          <p:cNvCxnSpPr/>
          <p:nvPr/>
        </p:nvCxnSpPr>
        <p:spPr>
          <a:xfrm>
            <a:off x="10240771" y="933713"/>
            <a:ext cx="0" cy="179608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3D39EB67-BFF2-FCFA-2808-5C85DEC785EE}"/>
              </a:ext>
            </a:extLst>
          </p:cNvPr>
          <p:cNvSpPr txBox="1"/>
          <p:nvPr/>
        </p:nvSpPr>
        <p:spPr>
          <a:xfrm>
            <a:off x="6873813" y="639019"/>
            <a:ext cx="15318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 Activations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D3260FF-323A-D8DD-B0C2-78D42202564F}"/>
              </a:ext>
            </a:extLst>
          </p:cNvPr>
          <p:cNvSpPr txBox="1"/>
          <p:nvPr/>
        </p:nvSpPr>
        <p:spPr>
          <a:xfrm>
            <a:off x="9957660" y="64297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Offline Activations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6B25B749-12A4-214E-40F0-72A875490C7A}"/>
              </a:ext>
            </a:extLst>
          </p:cNvPr>
          <p:cNvCxnSpPr/>
          <p:nvPr/>
        </p:nvCxnSpPr>
        <p:spPr>
          <a:xfrm>
            <a:off x="6248494" y="1249989"/>
            <a:ext cx="278298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06914FE-FB9B-603D-E28F-D0ED97B3AE2F}"/>
              </a:ext>
            </a:extLst>
          </p:cNvPr>
          <p:cNvCxnSpPr/>
          <p:nvPr/>
        </p:nvCxnSpPr>
        <p:spPr>
          <a:xfrm>
            <a:off x="6259004" y="1655394"/>
            <a:ext cx="278298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BE165580-D9AA-9037-8824-E75FEECE6251}"/>
              </a:ext>
            </a:extLst>
          </p:cNvPr>
          <p:cNvCxnSpPr/>
          <p:nvPr/>
        </p:nvCxnSpPr>
        <p:spPr>
          <a:xfrm>
            <a:off x="6280024" y="2060799"/>
            <a:ext cx="278298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1532A456-6722-2C2E-5614-E7D19BD2B1A1}"/>
              </a:ext>
            </a:extLst>
          </p:cNvPr>
          <p:cNvCxnSpPr/>
          <p:nvPr/>
        </p:nvCxnSpPr>
        <p:spPr>
          <a:xfrm>
            <a:off x="6248494" y="2455694"/>
            <a:ext cx="278298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50CA300F-1382-C07B-8D75-EA81C29C1D69}"/>
              </a:ext>
            </a:extLst>
          </p:cNvPr>
          <p:cNvCxnSpPr/>
          <p:nvPr/>
        </p:nvCxnSpPr>
        <p:spPr>
          <a:xfrm>
            <a:off x="9259179" y="1266151"/>
            <a:ext cx="278298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2C3DA48D-DC5F-A401-8926-2D57CC3394FF}"/>
              </a:ext>
            </a:extLst>
          </p:cNvPr>
          <p:cNvCxnSpPr/>
          <p:nvPr/>
        </p:nvCxnSpPr>
        <p:spPr>
          <a:xfrm>
            <a:off x="9267596" y="1655394"/>
            <a:ext cx="278298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75515CF-C0C8-2EB6-3B60-4CB11CE538A5}"/>
              </a:ext>
            </a:extLst>
          </p:cNvPr>
          <p:cNvCxnSpPr/>
          <p:nvPr/>
        </p:nvCxnSpPr>
        <p:spPr>
          <a:xfrm>
            <a:off x="9276013" y="2065657"/>
            <a:ext cx="278298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A9ACB246-4F79-2E6D-F10F-FBB420186D03}"/>
              </a:ext>
            </a:extLst>
          </p:cNvPr>
          <p:cNvCxnSpPr/>
          <p:nvPr/>
        </p:nvCxnSpPr>
        <p:spPr>
          <a:xfrm>
            <a:off x="9284430" y="2454900"/>
            <a:ext cx="278298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59225D68-7212-12A3-CCCE-6FBB544CEE90}"/>
              </a:ext>
            </a:extLst>
          </p:cNvPr>
          <p:cNvSpPr txBox="1"/>
          <p:nvPr/>
        </p:nvSpPr>
        <p:spPr>
          <a:xfrm>
            <a:off x="7007336" y="341535"/>
            <a:ext cx="4426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Leveraging online and offline marketing Channels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37D9DF1-32B2-7ADE-7395-3F52B9B36287}"/>
              </a:ext>
            </a:extLst>
          </p:cNvPr>
          <p:cNvSpPr txBox="1"/>
          <p:nvPr/>
        </p:nvSpPr>
        <p:spPr>
          <a:xfrm>
            <a:off x="7281059" y="938204"/>
            <a:ext cx="1709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92D05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Goals and Addressal</a:t>
            </a: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ACBF20E7-6111-C6C5-6FD2-A4FCFBB57ED4}"/>
              </a:ext>
            </a:extLst>
          </p:cNvPr>
          <p:cNvSpPr txBox="1"/>
          <p:nvPr/>
        </p:nvSpPr>
        <p:spPr>
          <a:xfrm>
            <a:off x="6193692" y="931517"/>
            <a:ext cx="1013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92D05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Activations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44383B23-C3A1-3A12-256F-A6B4AB2FBBB9}"/>
              </a:ext>
            </a:extLst>
          </p:cNvPr>
          <p:cNvSpPr txBox="1"/>
          <p:nvPr/>
        </p:nvSpPr>
        <p:spPr>
          <a:xfrm>
            <a:off x="9162705" y="926337"/>
            <a:ext cx="1013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92D05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Activations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EB89E98E-5DDE-1EFF-B7FD-82358CB02EE9}"/>
              </a:ext>
            </a:extLst>
          </p:cNvPr>
          <p:cNvSpPr txBox="1"/>
          <p:nvPr/>
        </p:nvSpPr>
        <p:spPr>
          <a:xfrm>
            <a:off x="10292860" y="921402"/>
            <a:ext cx="1709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92D05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Goals and Addressal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B9D324F4-FC33-F864-DB2E-B6F7C189C37D}"/>
              </a:ext>
            </a:extLst>
          </p:cNvPr>
          <p:cNvSpPr txBox="1"/>
          <p:nvPr/>
        </p:nvSpPr>
        <p:spPr>
          <a:xfrm>
            <a:off x="6148127" y="1301035"/>
            <a:ext cx="13096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Creator Collaboration Challenges</a:t>
            </a:r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7AB110CA-3BE8-DDEF-D62A-92769C52F5D8}"/>
              </a:ext>
            </a:extLst>
          </p:cNvPr>
          <p:cNvSpPr txBox="1"/>
          <p:nvPr/>
        </p:nvSpPr>
        <p:spPr>
          <a:xfrm>
            <a:off x="7295766" y="1302591"/>
            <a:ext cx="1959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Expand reach through cross-promotion. Builds a loyal audience.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BA6D3B3E-0F5C-722D-4ACB-DF8150A33584}"/>
              </a:ext>
            </a:extLst>
          </p:cNvPr>
          <p:cNvSpPr txBox="1"/>
          <p:nvPr/>
        </p:nvSpPr>
        <p:spPr>
          <a:xfrm>
            <a:off x="6177415" y="1701143"/>
            <a:ext cx="1224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IN" sz="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Interactive Live Streams</a:t>
            </a:r>
            <a:endParaRPr lang="en-IN" sz="8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D528985D-204F-A9B7-E593-0D0B5D138FF8}"/>
              </a:ext>
            </a:extLst>
          </p:cNvPr>
          <p:cNvSpPr txBox="1"/>
          <p:nvPr/>
        </p:nvSpPr>
        <p:spPr>
          <a:xfrm>
            <a:off x="7283395" y="1627187"/>
            <a:ext cx="1835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Enhance engagement through direct interaction. Maintains authenticity and credibility.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282FEEBE-7DF6-4282-44EB-0C24E47B06AC}"/>
              </a:ext>
            </a:extLst>
          </p:cNvPr>
          <p:cNvSpPr txBox="1"/>
          <p:nvPr/>
        </p:nvSpPr>
        <p:spPr>
          <a:xfrm>
            <a:off x="6199636" y="2128774"/>
            <a:ext cx="6703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 Filters</a:t>
            </a:r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2DC11687-9A6E-6EDB-5C2F-70097DD9377B}"/>
              </a:ext>
            </a:extLst>
          </p:cNvPr>
          <p:cNvSpPr txBox="1"/>
          <p:nvPr/>
        </p:nvSpPr>
        <p:spPr>
          <a:xfrm>
            <a:off x="7265693" y="2073943"/>
            <a:ext cx="1956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Increase engagement with interactive tools. Keeps updated with the trends.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5AD96905-5196-522A-C7C4-6382CA502E80}"/>
              </a:ext>
            </a:extLst>
          </p:cNvPr>
          <p:cNvSpPr txBox="1"/>
          <p:nvPr/>
        </p:nvSpPr>
        <p:spPr>
          <a:xfrm>
            <a:off x="6199580" y="2466774"/>
            <a:ext cx="1071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Creator Spotlight Series</a:t>
            </a:r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18E8BA9-19FF-1CC9-62CF-071B9D6580F4}"/>
              </a:ext>
            </a:extLst>
          </p:cNvPr>
          <p:cNvSpPr txBox="1"/>
          <p:nvPr/>
        </p:nvSpPr>
        <p:spPr>
          <a:xfrm>
            <a:off x="7304926" y="2457271"/>
            <a:ext cx="1932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Boost visibility and relevance. Gives audience growth and credibility.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B1B118F6-AB73-E7A2-2495-8FE2BDFD4D2C}"/>
              </a:ext>
            </a:extLst>
          </p:cNvPr>
          <p:cNvSpPr txBox="1"/>
          <p:nvPr/>
        </p:nvSpPr>
        <p:spPr>
          <a:xfrm>
            <a:off x="9167203" y="1306605"/>
            <a:ext cx="13096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Creator Festivals</a:t>
            </a:r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514B80C2-3CA6-7A47-0BD4-FE5FF3D05FA1}"/>
              </a:ext>
            </a:extLst>
          </p:cNvPr>
          <p:cNvSpPr txBox="1"/>
          <p:nvPr/>
        </p:nvSpPr>
        <p:spPr>
          <a:xfrm>
            <a:off x="9163208" y="1651466"/>
            <a:ext cx="1224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IN" sz="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Pop-Up Experience Zone</a:t>
            </a:r>
            <a:endParaRPr lang="en-IN" sz="8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1F242AEF-D87C-7B6D-D164-5831DA25A1E4}"/>
              </a:ext>
            </a:extLst>
          </p:cNvPr>
          <p:cNvSpPr txBox="1"/>
          <p:nvPr/>
        </p:nvSpPr>
        <p:spPr>
          <a:xfrm>
            <a:off x="9171969" y="2075741"/>
            <a:ext cx="122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IN" sz="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Creator Retreats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endParaRPr lang="en-IN" sz="8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67720587-DDA9-3EE7-5146-292BEA963857}"/>
              </a:ext>
            </a:extLst>
          </p:cNvPr>
          <p:cNvSpPr txBox="1"/>
          <p:nvPr/>
        </p:nvSpPr>
        <p:spPr>
          <a:xfrm>
            <a:off x="9177048" y="2468546"/>
            <a:ext cx="1224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IN" sz="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Community Service Initiatives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endParaRPr lang="en-IN" sz="8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06256CA0-3F1E-D855-63E6-BA5C1F215EED}"/>
              </a:ext>
            </a:extLst>
          </p:cNvPr>
          <p:cNvSpPr txBox="1"/>
          <p:nvPr/>
        </p:nvSpPr>
        <p:spPr>
          <a:xfrm>
            <a:off x="10232983" y="1226374"/>
            <a:ext cx="1952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Strengthen community and brand partnerships. Building partnerships and staying relevant.</a:t>
            </a:r>
          </a:p>
          <a:p>
            <a:b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B0D9F737-FDD0-87AB-5FD9-097D82F998EB}"/>
              </a:ext>
            </a:extLst>
          </p:cNvPr>
          <p:cNvSpPr txBox="1"/>
          <p:nvPr/>
        </p:nvSpPr>
        <p:spPr>
          <a:xfrm>
            <a:off x="10226201" y="1686954"/>
            <a:ext cx="1959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Enhance brand loyalty through direct engagement. Audience connection.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A1452244-F470-6B6A-E3BE-A65EB7E353D8}"/>
              </a:ext>
            </a:extLst>
          </p:cNvPr>
          <p:cNvSpPr txBox="1"/>
          <p:nvPr/>
        </p:nvSpPr>
        <p:spPr>
          <a:xfrm>
            <a:off x="10222749" y="2076899"/>
            <a:ext cx="19591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IN" sz="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Improve skills and strategy. Time management and content balance.</a:t>
            </a:r>
            <a:endParaRPr lang="en-IN" sz="8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0EF300E7-67E3-D33B-F09A-C4AEBE4438EA}"/>
              </a:ext>
            </a:extLst>
          </p:cNvPr>
          <p:cNvSpPr txBox="1"/>
          <p:nvPr/>
        </p:nvSpPr>
        <p:spPr>
          <a:xfrm>
            <a:off x="10221397" y="2426285"/>
            <a:ext cx="19591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IN" sz="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Build a positive brand image. Authenticity and credibility.</a:t>
            </a:r>
            <a:endParaRPr lang="en-IN" sz="8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0" name="Rounded Rectangle 24">
            <a:extLst>
              <a:ext uri="{FF2B5EF4-FFF2-40B4-BE49-F238E27FC236}">
                <a16:creationId xmlns:a16="http://schemas.microsoft.com/office/drawing/2014/main" id="{7E28AC82-EE75-3FEA-6937-BF40054F8EA5}"/>
              </a:ext>
            </a:extLst>
          </p:cNvPr>
          <p:cNvSpPr/>
          <p:nvPr/>
        </p:nvSpPr>
        <p:spPr>
          <a:xfrm>
            <a:off x="1723617" y="3247657"/>
            <a:ext cx="2179028" cy="3509582"/>
          </a:xfrm>
          <a:prstGeom prst="roundRect">
            <a:avLst>
              <a:gd name="adj" fmla="val 3688"/>
            </a:avLst>
          </a:prstGeom>
          <a:solidFill>
            <a:srgbClr val="DCF0C6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51" name="Picture 1050">
            <a:extLst>
              <a:ext uri="{FF2B5EF4-FFF2-40B4-BE49-F238E27FC236}">
                <a16:creationId xmlns:a16="http://schemas.microsoft.com/office/drawing/2014/main" id="{28976CF4-5A1F-0735-DFED-5EF7087144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7326" y="3306436"/>
            <a:ext cx="2132974" cy="365632"/>
          </a:xfrm>
          <a:prstGeom prst="rect">
            <a:avLst/>
          </a:prstGeom>
        </p:spPr>
      </p:pic>
      <p:sp>
        <p:nvSpPr>
          <p:cNvPr id="1052" name="TextBox 1051">
            <a:extLst>
              <a:ext uri="{FF2B5EF4-FFF2-40B4-BE49-F238E27FC236}">
                <a16:creationId xmlns:a16="http://schemas.microsoft.com/office/drawing/2014/main" id="{1DEF60F2-B71F-1A8F-883F-8BEDD6E80154}"/>
              </a:ext>
            </a:extLst>
          </p:cNvPr>
          <p:cNvSpPr txBox="1"/>
          <p:nvPr/>
        </p:nvSpPr>
        <p:spPr>
          <a:xfrm>
            <a:off x="4248465" y="1015443"/>
            <a:ext cx="1795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latin typeface="Arial" panose="020B0604020202020204" pitchFamily="34" charset="0"/>
                <a:cs typeface="Arial" panose="020B0604020202020204" pitchFamily="34" charset="0"/>
              </a:rPr>
              <a:t>Influencer-brand collaborations expand reach, boost revenue,  increase conversions through trust and authenticity.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5AE82299-62AA-9796-D947-3F5FE82959A6}"/>
              </a:ext>
            </a:extLst>
          </p:cNvPr>
          <p:cNvSpPr txBox="1"/>
          <p:nvPr/>
        </p:nvSpPr>
        <p:spPr>
          <a:xfrm>
            <a:off x="4248465" y="2058951"/>
            <a:ext cx="189476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latin typeface="Arial" panose="020B0604020202020204" pitchFamily="34" charset="0"/>
                <a:cs typeface="Arial" panose="020B0604020202020204" pitchFamily="34" charset="0"/>
              </a:rPr>
              <a:t>Engagement with audience boosts follower loyalty, retention, &amp; revenue for influencers. Brands also benefit from increased </a:t>
            </a:r>
            <a:r>
              <a:rPr lang="en-IN" sz="900" b="1" dirty="0">
                <a:latin typeface="Arial" panose="020B0604020202020204" pitchFamily="34" charset="0"/>
                <a:cs typeface="Arial" panose="020B0604020202020204" pitchFamily="34" charset="0"/>
              </a:rPr>
              <a:t>customer lifetime value</a:t>
            </a:r>
            <a:r>
              <a:rPr lang="en-IN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900" dirty="0"/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9B7E1BCF-5255-6708-0BBD-8E61400EA38F}"/>
              </a:ext>
            </a:extLst>
          </p:cNvPr>
          <p:cNvSpPr txBox="1"/>
          <p:nvPr/>
        </p:nvSpPr>
        <p:spPr>
          <a:xfrm>
            <a:off x="2187635" y="2151627"/>
            <a:ext cx="1898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latin typeface="Arial" panose="020B0604020202020204" pitchFamily="34" charset="0"/>
                <a:cs typeface="Arial" panose="020B0604020202020204" pitchFamily="34" charset="0"/>
              </a:rPr>
              <a:t>Sustainable growth strategies help influencers diversify income .</a:t>
            </a:r>
          </a:p>
          <a:p>
            <a:r>
              <a:rPr lang="en-IN" sz="900" dirty="0">
                <a:latin typeface="Arial" panose="020B0604020202020204" pitchFamily="34" charset="0"/>
                <a:cs typeface="Arial" panose="020B0604020202020204" pitchFamily="34" charset="0"/>
              </a:rPr>
              <a:t>Build long-term partnerships with brands, benefiting both parties.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39F9779F-F470-62B1-5018-99D35CD03638}"/>
              </a:ext>
            </a:extLst>
          </p:cNvPr>
          <p:cNvSpPr txBox="1"/>
          <p:nvPr/>
        </p:nvSpPr>
        <p:spPr>
          <a:xfrm>
            <a:off x="27103" y="2127996"/>
            <a:ext cx="1978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latin typeface="Arial" panose="020B0604020202020204" pitchFamily="34" charset="0"/>
                <a:cs typeface="Arial" panose="020B0604020202020204" pitchFamily="34" charset="0"/>
              </a:rPr>
              <a:t>Regular performance assessment helps optimize campaigns and maximizes ROI for both brands and influencers.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9" name="Rounded Rectangle 1058">
            <a:extLst>
              <a:ext uri="{FF2B5EF4-FFF2-40B4-BE49-F238E27FC236}">
                <a16:creationId xmlns:a16="http://schemas.microsoft.com/office/drawing/2014/main" id="{2EBE2915-2EBE-DB19-4BB1-9FE07F78E428}"/>
              </a:ext>
            </a:extLst>
          </p:cNvPr>
          <p:cNvSpPr/>
          <p:nvPr/>
        </p:nvSpPr>
        <p:spPr>
          <a:xfrm>
            <a:off x="1745052" y="3749608"/>
            <a:ext cx="2123282" cy="932577"/>
          </a:xfrm>
          <a:prstGeom prst="roundRect">
            <a:avLst>
              <a:gd name="adj" fmla="val 10586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7E6533DA-2C86-33D5-4029-2D270FC5738B}"/>
              </a:ext>
            </a:extLst>
          </p:cNvPr>
          <p:cNvSpPr txBox="1"/>
          <p:nvPr/>
        </p:nvSpPr>
        <p:spPr>
          <a:xfrm>
            <a:off x="1780972" y="3759645"/>
            <a:ext cx="2144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Connects brands with 1,25,000+ niche influencers.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Manages campaigns, influencer discovery, provides analytics.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Drives authentic engagements and targeted marketing.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2" name="Rounded Rectangle 1061">
            <a:extLst>
              <a:ext uri="{FF2B5EF4-FFF2-40B4-BE49-F238E27FC236}">
                <a16:creationId xmlns:a16="http://schemas.microsoft.com/office/drawing/2014/main" id="{778025F7-28C9-8FBC-3304-13BD1E06ED58}"/>
              </a:ext>
            </a:extLst>
          </p:cNvPr>
          <p:cNvSpPr/>
          <p:nvPr/>
        </p:nvSpPr>
        <p:spPr>
          <a:xfrm>
            <a:off x="3966376" y="3758673"/>
            <a:ext cx="2123282" cy="932577"/>
          </a:xfrm>
          <a:prstGeom prst="roundRect">
            <a:avLst>
              <a:gd name="adj" fmla="val 10586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ounded Rectangle 1062">
            <a:extLst>
              <a:ext uri="{FF2B5EF4-FFF2-40B4-BE49-F238E27FC236}">
                <a16:creationId xmlns:a16="http://schemas.microsoft.com/office/drawing/2014/main" id="{91706C50-1B1D-BB32-60B2-86A75D28101E}"/>
              </a:ext>
            </a:extLst>
          </p:cNvPr>
          <p:cNvSpPr/>
          <p:nvPr/>
        </p:nvSpPr>
        <p:spPr>
          <a:xfrm>
            <a:off x="1732338" y="4743932"/>
            <a:ext cx="2123282" cy="932577"/>
          </a:xfrm>
          <a:prstGeom prst="roundRect">
            <a:avLst>
              <a:gd name="adj" fmla="val 10586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4" name="Rounded Rectangle 1063">
            <a:extLst>
              <a:ext uri="{FF2B5EF4-FFF2-40B4-BE49-F238E27FC236}">
                <a16:creationId xmlns:a16="http://schemas.microsoft.com/office/drawing/2014/main" id="{F7381EB5-A2A8-F85E-F9C2-96610D9AAB98}"/>
              </a:ext>
            </a:extLst>
          </p:cNvPr>
          <p:cNvSpPr/>
          <p:nvPr/>
        </p:nvSpPr>
        <p:spPr>
          <a:xfrm>
            <a:off x="1723616" y="5752576"/>
            <a:ext cx="2123282" cy="932577"/>
          </a:xfrm>
          <a:prstGeom prst="roundRect">
            <a:avLst>
              <a:gd name="adj" fmla="val 10586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750ED45F-CB2B-2659-DFDE-77034612A69E}"/>
              </a:ext>
            </a:extLst>
          </p:cNvPr>
          <p:cNvSpPr txBox="1"/>
          <p:nvPr/>
        </p:nvSpPr>
        <p:spPr>
          <a:xfrm>
            <a:off x="1773927" y="4762170"/>
            <a:ext cx="2207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Commission from brand and influencer campaigns.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Subscription fees for platform access.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Freemium model for training and consultancy.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FFB5562B-5472-68D7-ADA8-E21DAAD627A7}"/>
              </a:ext>
            </a:extLst>
          </p:cNvPr>
          <p:cNvSpPr txBox="1"/>
          <p:nvPr/>
        </p:nvSpPr>
        <p:spPr>
          <a:xfrm>
            <a:off x="1783081" y="5769455"/>
            <a:ext cx="2036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Extensive influencer network across categories.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Detailed campaign analytics and insights.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Tailored strategies for driving brand results.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7" name="Rounded Rectangle 1066">
            <a:extLst>
              <a:ext uri="{FF2B5EF4-FFF2-40B4-BE49-F238E27FC236}">
                <a16:creationId xmlns:a16="http://schemas.microsoft.com/office/drawing/2014/main" id="{B67B3063-5E71-817F-5811-72950ED21E98}"/>
              </a:ext>
            </a:extLst>
          </p:cNvPr>
          <p:cNvSpPr/>
          <p:nvPr/>
        </p:nvSpPr>
        <p:spPr>
          <a:xfrm>
            <a:off x="3970873" y="4746871"/>
            <a:ext cx="2123282" cy="932577"/>
          </a:xfrm>
          <a:prstGeom prst="roundRect">
            <a:avLst>
              <a:gd name="adj" fmla="val 10586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8" name="Rounded Rectangle 1067">
            <a:extLst>
              <a:ext uri="{FF2B5EF4-FFF2-40B4-BE49-F238E27FC236}">
                <a16:creationId xmlns:a16="http://schemas.microsoft.com/office/drawing/2014/main" id="{29EEAE9B-B8A0-CA3A-2B66-8DC9E97AC924}"/>
              </a:ext>
            </a:extLst>
          </p:cNvPr>
          <p:cNvSpPr/>
          <p:nvPr/>
        </p:nvSpPr>
        <p:spPr>
          <a:xfrm>
            <a:off x="3963013" y="5747426"/>
            <a:ext cx="2123282" cy="932577"/>
          </a:xfrm>
          <a:prstGeom prst="roundRect">
            <a:avLst>
              <a:gd name="adj" fmla="val 10586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7F74772A-0F5A-71C1-ADBF-98CAC526744C}"/>
              </a:ext>
            </a:extLst>
          </p:cNvPr>
          <p:cNvSpPr txBox="1"/>
          <p:nvPr/>
        </p:nvSpPr>
        <p:spPr>
          <a:xfrm>
            <a:off x="3978377" y="3920723"/>
            <a:ext cx="2373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Streamlines transactions and compensation.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Focuses on data insights and tech-enhanced services.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10FDB969-3DFC-BFC2-30BD-5066DCB0B0D9}"/>
              </a:ext>
            </a:extLst>
          </p:cNvPr>
          <p:cNvSpPr txBox="1"/>
          <p:nvPr/>
        </p:nvSpPr>
        <p:spPr>
          <a:xfrm>
            <a:off x="3978377" y="4805883"/>
            <a:ext cx="2370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Commission from influencer-brand collaborations.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Fees for advanced analytics and performance insights.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83576ACD-51CC-E490-91C2-F48018814605}"/>
              </a:ext>
            </a:extLst>
          </p:cNvPr>
          <p:cNvSpPr txBox="1"/>
          <p:nvPr/>
        </p:nvSpPr>
        <p:spPr>
          <a:xfrm>
            <a:off x="3988509" y="5773748"/>
            <a:ext cx="2149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Advanced algorithms for optimal influencer-brand fit.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Comprehensive analytics for campaign performance.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Streamlined payment and administrative processes.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2" name="Rounded Rectangle 1071">
            <a:extLst>
              <a:ext uri="{FF2B5EF4-FFF2-40B4-BE49-F238E27FC236}">
                <a16:creationId xmlns:a16="http://schemas.microsoft.com/office/drawing/2014/main" id="{97D1373C-E08E-E626-827C-683DCB516182}"/>
              </a:ext>
            </a:extLst>
          </p:cNvPr>
          <p:cNvSpPr/>
          <p:nvPr/>
        </p:nvSpPr>
        <p:spPr>
          <a:xfrm>
            <a:off x="6199908" y="3768268"/>
            <a:ext cx="2123282" cy="932577"/>
          </a:xfrm>
          <a:prstGeom prst="roundRect">
            <a:avLst>
              <a:gd name="adj" fmla="val 10586"/>
            </a:avLst>
          </a:prstGeom>
          <a:solidFill>
            <a:srgbClr val="FFE9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E4F51454-329E-3D5A-6F4C-60BE6414DD6B}"/>
              </a:ext>
            </a:extLst>
          </p:cNvPr>
          <p:cNvSpPr txBox="1"/>
          <p:nvPr/>
        </p:nvSpPr>
        <p:spPr>
          <a:xfrm>
            <a:off x="6231953" y="3902144"/>
            <a:ext cx="202323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Hybrid Model - Focused Talent Management &amp; Marketplace for brands</a:t>
            </a:r>
          </a:p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End to End Campaign Management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4" name="Rounded Rectangle 1073">
            <a:extLst>
              <a:ext uri="{FF2B5EF4-FFF2-40B4-BE49-F238E27FC236}">
                <a16:creationId xmlns:a16="http://schemas.microsoft.com/office/drawing/2014/main" id="{3A9F1AA4-4D72-28F8-1514-C6AF83271314}"/>
              </a:ext>
            </a:extLst>
          </p:cNvPr>
          <p:cNvSpPr/>
          <p:nvPr/>
        </p:nvSpPr>
        <p:spPr>
          <a:xfrm>
            <a:off x="6193216" y="4753520"/>
            <a:ext cx="2123282" cy="932577"/>
          </a:xfrm>
          <a:prstGeom prst="roundRect">
            <a:avLst>
              <a:gd name="adj" fmla="val 10586"/>
            </a:avLst>
          </a:prstGeom>
          <a:solidFill>
            <a:srgbClr val="FFE9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5" name="Rounded Rectangle 1074">
            <a:extLst>
              <a:ext uri="{FF2B5EF4-FFF2-40B4-BE49-F238E27FC236}">
                <a16:creationId xmlns:a16="http://schemas.microsoft.com/office/drawing/2014/main" id="{CB8AADF5-A668-C76C-C6F5-4D669D224C9E}"/>
              </a:ext>
            </a:extLst>
          </p:cNvPr>
          <p:cNvSpPr/>
          <p:nvPr/>
        </p:nvSpPr>
        <p:spPr>
          <a:xfrm>
            <a:off x="6199908" y="5754154"/>
            <a:ext cx="2123282" cy="932577"/>
          </a:xfrm>
          <a:prstGeom prst="roundRect">
            <a:avLst>
              <a:gd name="adj" fmla="val 10586"/>
            </a:avLst>
          </a:prstGeom>
          <a:solidFill>
            <a:srgbClr val="FFE9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E90FBBA2-13DC-D095-FD37-A567082CBE03}"/>
              </a:ext>
            </a:extLst>
          </p:cNvPr>
          <p:cNvSpPr txBox="1"/>
          <p:nvPr/>
        </p:nvSpPr>
        <p:spPr>
          <a:xfrm>
            <a:off x="6237195" y="4899084"/>
            <a:ext cx="2006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Subscription Fees, Brand Commission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Influencer Commission – Low value targeted at Tier 2, 3 cities 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A279F797-9569-4ED0-B6B1-88000DEE0C1D}"/>
              </a:ext>
            </a:extLst>
          </p:cNvPr>
          <p:cNvSpPr txBox="1"/>
          <p:nvPr/>
        </p:nvSpPr>
        <p:spPr>
          <a:xfrm>
            <a:off x="6259004" y="5852673"/>
            <a:ext cx="1996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Market Expansion – Focus of Regional Content; Tier 2,3 cities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Brand Spotlight for Niche Influencers</a:t>
            </a:r>
            <a:endParaRPr lang="en-IN" sz="9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80" name="Picture 1079">
            <a:extLst>
              <a:ext uri="{FF2B5EF4-FFF2-40B4-BE49-F238E27FC236}">
                <a16:creationId xmlns:a16="http://schemas.microsoft.com/office/drawing/2014/main" id="{09ED88D0-9EC8-C057-6964-C55163CD50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1329" y="3253585"/>
            <a:ext cx="1531564" cy="457016"/>
          </a:xfrm>
          <a:prstGeom prst="rect">
            <a:avLst/>
          </a:prstGeom>
        </p:spPr>
      </p:pic>
      <p:sp>
        <p:nvSpPr>
          <p:cNvPr id="1081" name="Rounded Rectangle 1080">
            <a:extLst>
              <a:ext uri="{FF2B5EF4-FFF2-40B4-BE49-F238E27FC236}">
                <a16:creationId xmlns:a16="http://schemas.microsoft.com/office/drawing/2014/main" id="{AA2DE0A8-4636-0799-8BA9-77CBD6227077}"/>
              </a:ext>
            </a:extLst>
          </p:cNvPr>
          <p:cNvSpPr/>
          <p:nvPr/>
        </p:nvSpPr>
        <p:spPr>
          <a:xfrm>
            <a:off x="6159655" y="2920985"/>
            <a:ext cx="2191080" cy="295984"/>
          </a:xfrm>
          <a:prstGeom prst="roundRect">
            <a:avLst/>
          </a:prstGeom>
          <a:solidFill>
            <a:srgbClr val="FFE4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9BC05442-9267-4832-33E2-CCDE37E5C83A}"/>
              </a:ext>
            </a:extLst>
          </p:cNvPr>
          <p:cNvSpPr txBox="1"/>
          <p:nvPr/>
        </p:nvSpPr>
        <p:spPr>
          <a:xfrm>
            <a:off x="6241223" y="2903847"/>
            <a:ext cx="2034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Recommended Model</a:t>
            </a:r>
          </a:p>
        </p:txBody>
      </p:sp>
      <p:sp>
        <p:nvSpPr>
          <p:cNvPr id="1083" name="Rounded Rectangle 1082">
            <a:extLst>
              <a:ext uri="{FF2B5EF4-FFF2-40B4-BE49-F238E27FC236}">
                <a16:creationId xmlns:a16="http://schemas.microsoft.com/office/drawing/2014/main" id="{4DF5D052-7ACE-0962-F8BD-86653E41F039}"/>
              </a:ext>
            </a:extLst>
          </p:cNvPr>
          <p:cNvSpPr/>
          <p:nvPr/>
        </p:nvSpPr>
        <p:spPr>
          <a:xfrm>
            <a:off x="123276" y="3762242"/>
            <a:ext cx="1521761" cy="925821"/>
          </a:xfrm>
          <a:prstGeom prst="roundRect">
            <a:avLst>
              <a:gd name="adj" fmla="val 6692"/>
            </a:avLst>
          </a:prstGeom>
          <a:solidFill>
            <a:srgbClr val="FFA6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C77785C6-8BF5-8D61-3CA3-F889F230EF5D}"/>
              </a:ext>
            </a:extLst>
          </p:cNvPr>
          <p:cNvSpPr txBox="1"/>
          <p:nvPr/>
        </p:nvSpPr>
        <p:spPr>
          <a:xfrm>
            <a:off x="595757" y="3330748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7908CD27-D681-42CA-3DFB-44651C216C95}"/>
              </a:ext>
            </a:extLst>
          </p:cNvPr>
          <p:cNvSpPr txBox="1"/>
          <p:nvPr/>
        </p:nvSpPr>
        <p:spPr>
          <a:xfrm>
            <a:off x="565871" y="3733832"/>
            <a:ext cx="11864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the platform provide?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05ED102F-815C-6175-A754-76901CBDDE7E}"/>
              </a:ext>
            </a:extLst>
          </p:cNvPr>
          <p:cNvSpPr txBox="1"/>
          <p:nvPr/>
        </p:nvSpPr>
        <p:spPr>
          <a:xfrm>
            <a:off x="552899" y="4869347"/>
            <a:ext cx="11907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they make money?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6A03B5AC-7BBD-856F-BC78-B5AA3BA96467}"/>
              </a:ext>
            </a:extLst>
          </p:cNvPr>
          <p:cNvSpPr txBox="1"/>
          <p:nvPr/>
        </p:nvSpPr>
        <p:spPr>
          <a:xfrm>
            <a:off x="531133" y="5900911"/>
            <a:ext cx="113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their USP?</a:t>
            </a:r>
          </a:p>
        </p:txBody>
      </p:sp>
      <p:grpSp>
        <p:nvGrpSpPr>
          <p:cNvPr id="1102" name="Group 1101">
            <a:extLst>
              <a:ext uri="{FF2B5EF4-FFF2-40B4-BE49-F238E27FC236}">
                <a16:creationId xmlns:a16="http://schemas.microsoft.com/office/drawing/2014/main" id="{78B7C6F3-439B-B55E-64CE-982E8C8CB030}"/>
              </a:ext>
            </a:extLst>
          </p:cNvPr>
          <p:cNvGrpSpPr/>
          <p:nvPr/>
        </p:nvGrpSpPr>
        <p:grpSpPr>
          <a:xfrm>
            <a:off x="8416398" y="3256833"/>
            <a:ext cx="3731952" cy="620346"/>
            <a:chOff x="8416398" y="3256833"/>
            <a:chExt cx="3731952" cy="620346"/>
          </a:xfrm>
        </p:grpSpPr>
        <p:sp>
          <p:nvSpPr>
            <p:cNvPr id="1088" name="Rounded Rectangle 1087">
              <a:extLst>
                <a:ext uri="{FF2B5EF4-FFF2-40B4-BE49-F238E27FC236}">
                  <a16:creationId xmlns:a16="http://schemas.microsoft.com/office/drawing/2014/main" id="{8DB6FF81-C862-1CC7-E650-9249FC2850A2}"/>
                </a:ext>
              </a:extLst>
            </p:cNvPr>
            <p:cNvSpPr/>
            <p:nvPr/>
          </p:nvSpPr>
          <p:spPr>
            <a:xfrm>
              <a:off x="8416398" y="3256833"/>
              <a:ext cx="3719008" cy="62034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47A23A38-C977-54E0-2A98-8B083BC4E755}"/>
                </a:ext>
              </a:extLst>
            </p:cNvPr>
            <p:cNvSpPr txBox="1"/>
            <p:nvPr/>
          </p:nvSpPr>
          <p:spPr>
            <a:xfrm>
              <a:off x="8485210" y="3308301"/>
              <a:ext cx="366314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en-IN" sz="1000" b="1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Special Focus on niche talents would help make a mark against competition. This would assist expansion in new geographies</a:t>
              </a:r>
              <a:endParaRPr lang="en-IN" sz="1000" b="1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F05B21D3-396C-01A6-F2BD-737624F339F8}"/>
              </a:ext>
            </a:extLst>
          </p:cNvPr>
          <p:cNvGrpSpPr/>
          <p:nvPr/>
        </p:nvGrpSpPr>
        <p:grpSpPr>
          <a:xfrm>
            <a:off x="8416398" y="3946740"/>
            <a:ext cx="3739312" cy="921629"/>
            <a:chOff x="8416398" y="3914082"/>
            <a:chExt cx="3739312" cy="921629"/>
          </a:xfrm>
        </p:grpSpPr>
        <p:sp>
          <p:nvSpPr>
            <p:cNvPr id="1089" name="Rounded Rectangle 1088">
              <a:extLst>
                <a:ext uri="{FF2B5EF4-FFF2-40B4-BE49-F238E27FC236}">
                  <a16:creationId xmlns:a16="http://schemas.microsoft.com/office/drawing/2014/main" id="{098091D6-DB66-1333-61D5-E5A9008E96C3}"/>
                </a:ext>
              </a:extLst>
            </p:cNvPr>
            <p:cNvSpPr/>
            <p:nvPr/>
          </p:nvSpPr>
          <p:spPr>
            <a:xfrm>
              <a:off x="8416398" y="3914082"/>
              <a:ext cx="3719008" cy="62034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4" name="TextBox 1093">
              <a:extLst>
                <a:ext uri="{FF2B5EF4-FFF2-40B4-BE49-F238E27FC236}">
                  <a16:creationId xmlns:a16="http://schemas.microsoft.com/office/drawing/2014/main" id="{932BD1A7-91DB-C400-8B07-49A0CFE1BA55}"/>
                </a:ext>
              </a:extLst>
            </p:cNvPr>
            <p:cNvSpPr txBox="1"/>
            <p:nvPr/>
          </p:nvSpPr>
          <p:spPr>
            <a:xfrm>
              <a:off x="8497224" y="3973937"/>
              <a:ext cx="3658486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en-IN" sz="1000" b="1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Detailed analytic insights to support creator growth across niches would add value to the existing talent relationship</a:t>
              </a:r>
              <a:endParaRPr lang="en-IN" sz="1000" b="1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br>
                <a:rPr lang="en-IN" sz="10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IN" sz="1000" b="1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DED4C989-412B-0EE5-4644-7698C0C08866}"/>
              </a:ext>
            </a:extLst>
          </p:cNvPr>
          <p:cNvGrpSpPr/>
          <p:nvPr/>
        </p:nvGrpSpPr>
        <p:grpSpPr>
          <a:xfrm>
            <a:off x="8416398" y="4636647"/>
            <a:ext cx="3719008" cy="620346"/>
            <a:chOff x="8416398" y="4603989"/>
            <a:chExt cx="3719008" cy="620346"/>
          </a:xfrm>
        </p:grpSpPr>
        <p:sp>
          <p:nvSpPr>
            <p:cNvPr id="1090" name="Rounded Rectangle 1089">
              <a:extLst>
                <a:ext uri="{FF2B5EF4-FFF2-40B4-BE49-F238E27FC236}">
                  <a16:creationId xmlns:a16="http://schemas.microsoft.com/office/drawing/2014/main" id="{3BE9A187-864E-7E5C-90E5-B402906819A3}"/>
                </a:ext>
              </a:extLst>
            </p:cNvPr>
            <p:cNvSpPr/>
            <p:nvPr/>
          </p:nvSpPr>
          <p:spPr>
            <a:xfrm>
              <a:off x="8416398" y="4603989"/>
              <a:ext cx="3719008" cy="62034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5" name="TextBox 1094">
              <a:extLst>
                <a:ext uri="{FF2B5EF4-FFF2-40B4-BE49-F238E27FC236}">
                  <a16:creationId xmlns:a16="http://schemas.microsoft.com/office/drawing/2014/main" id="{5D34DE98-B4D4-624E-31CF-47BA65C17DFC}"/>
                </a:ext>
              </a:extLst>
            </p:cNvPr>
            <p:cNvSpPr txBox="1"/>
            <p:nvPr/>
          </p:nvSpPr>
          <p:spPr>
            <a:xfrm>
              <a:off x="8524562" y="4627088"/>
              <a:ext cx="357818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en-IN" sz="1000" b="1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Regional language content consumption grew by 30% in 2023, with around 70% of internet users in Tier 2 and Tier 3 cities preferring regional content.</a:t>
              </a:r>
              <a:endParaRPr lang="en-IN" sz="1000" b="1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99" name="Group 1098">
            <a:extLst>
              <a:ext uri="{FF2B5EF4-FFF2-40B4-BE49-F238E27FC236}">
                <a16:creationId xmlns:a16="http://schemas.microsoft.com/office/drawing/2014/main" id="{D5436F7D-0FF5-7C96-5256-DEF0083C518F}"/>
              </a:ext>
            </a:extLst>
          </p:cNvPr>
          <p:cNvGrpSpPr/>
          <p:nvPr/>
        </p:nvGrpSpPr>
        <p:grpSpPr>
          <a:xfrm>
            <a:off x="8416398" y="5336426"/>
            <a:ext cx="3762551" cy="620346"/>
            <a:chOff x="8416398" y="5293896"/>
            <a:chExt cx="3762551" cy="620346"/>
          </a:xfrm>
        </p:grpSpPr>
        <p:sp>
          <p:nvSpPr>
            <p:cNvPr id="1091" name="Rounded Rectangle 1090">
              <a:extLst>
                <a:ext uri="{FF2B5EF4-FFF2-40B4-BE49-F238E27FC236}">
                  <a16:creationId xmlns:a16="http://schemas.microsoft.com/office/drawing/2014/main" id="{A0016C9B-CB98-A2CD-34FF-AD6474649BBA}"/>
                </a:ext>
              </a:extLst>
            </p:cNvPr>
            <p:cNvSpPr/>
            <p:nvPr/>
          </p:nvSpPr>
          <p:spPr>
            <a:xfrm>
              <a:off x="8416398" y="5293896"/>
              <a:ext cx="3719008" cy="62034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6" name="TextBox 1095">
              <a:extLst>
                <a:ext uri="{FF2B5EF4-FFF2-40B4-BE49-F238E27FC236}">
                  <a16:creationId xmlns:a16="http://schemas.microsoft.com/office/drawing/2014/main" id="{55A28FF1-DF11-F72E-AFA7-1CBD79D29F9A}"/>
                </a:ext>
              </a:extLst>
            </p:cNvPr>
            <p:cNvSpPr txBox="1"/>
            <p:nvPr/>
          </p:nvSpPr>
          <p:spPr>
            <a:xfrm>
              <a:off x="8507452" y="5304782"/>
              <a:ext cx="367149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en-IN" sz="1000" b="1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Spending on digital and influencer marketing in Tier 2 and Tier 3 cities grew by 50% in 2023, reaching an estimated $600 million</a:t>
              </a:r>
              <a:endParaRPr lang="en-IN" sz="1000" b="1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98" name="Group 1097">
            <a:extLst>
              <a:ext uri="{FF2B5EF4-FFF2-40B4-BE49-F238E27FC236}">
                <a16:creationId xmlns:a16="http://schemas.microsoft.com/office/drawing/2014/main" id="{36E28165-04C2-BB39-62EB-E81514C64520}"/>
              </a:ext>
            </a:extLst>
          </p:cNvPr>
          <p:cNvGrpSpPr/>
          <p:nvPr/>
        </p:nvGrpSpPr>
        <p:grpSpPr>
          <a:xfrm>
            <a:off x="8436702" y="6018814"/>
            <a:ext cx="3796822" cy="620346"/>
            <a:chOff x="8416398" y="5994689"/>
            <a:chExt cx="3796822" cy="620346"/>
          </a:xfrm>
        </p:grpSpPr>
        <p:sp>
          <p:nvSpPr>
            <p:cNvPr id="1092" name="Rounded Rectangle 1091">
              <a:extLst>
                <a:ext uri="{FF2B5EF4-FFF2-40B4-BE49-F238E27FC236}">
                  <a16:creationId xmlns:a16="http://schemas.microsoft.com/office/drawing/2014/main" id="{BC311761-1863-51C6-9B15-4985A3AB3816}"/>
                </a:ext>
              </a:extLst>
            </p:cNvPr>
            <p:cNvSpPr/>
            <p:nvPr/>
          </p:nvSpPr>
          <p:spPr>
            <a:xfrm>
              <a:off x="8416398" y="5994689"/>
              <a:ext cx="3719008" cy="62034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7" name="TextBox 1096">
              <a:extLst>
                <a:ext uri="{FF2B5EF4-FFF2-40B4-BE49-F238E27FC236}">
                  <a16:creationId xmlns:a16="http://schemas.microsoft.com/office/drawing/2014/main" id="{3ABD1A01-C3CB-9E77-2D75-22FFEEDF6DE0}"/>
                </a:ext>
              </a:extLst>
            </p:cNvPr>
            <p:cNvSpPr txBox="1"/>
            <p:nvPr/>
          </p:nvSpPr>
          <p:spPr>
            <a:xfrm>
              <a:off x="8494212" y="6096911"/>
              <a:ext cx="37190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en-IN" sz="1000" b="1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CAGR of 12% in the Gaming space for 4 years (2022-2026) makes the space prospective for further growth</a:t>
              </a:r>
              <a:endParaRPr lang="en-IN" sz="1000" b="1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103" name="Picture 1102">
            <a:extLst>
              <a:ext uri="{FF2B5EF4-FFF2-40B4-BE49-F238E27FC236}">
                <a16:creationId xmlns:a16="http://schemas.microsoft.com/office/drawing/2014/main" id="{581A3ABC-EBB8-AFB7-EB84-E170D5E4D9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208918" y="3274547"/>
            <a:ext cx="372967" cy="372967"/>
          </a:xfrm>
          <a:prstGeom prst="rect">
            <a:avLst/>
          </a:prstGeom>
        </p:spPr>
      </p:pic>
      <p:pic>
        <p:nvPicPr>
          <p:cNvPr id="1105" name="Picture 1104">
            <a:extLst>
              <a:ext uri="{FF2B5EF4-FFF2-40B4-BE49-F238E27FC236}">
                <a16:creationId xmlns:a16="http://schemas.microsoft.com/office/drawing/2014/main" id="{6350A6F7-D578-8E7C-AFB0-6556C1ED478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609" y="3957840"/>
            <a:ext cx="424148" cy="424148"/>
          </a:xfrm>
          <a:prstGeom prst="rect">
            <a:avLst/>
          </a:prstGeom>
        </p:spPr>
      </p:pic>
      <p:pic>
        <p:nvPicPr>
          <p:cNvPr id="1106" name="Picture 1105">
            <a:extLst>
              <a:ext uri="{FF2B5EF4-FFF2-40B4-BE49-F238E27FC236}">
                <a16:creationId xmlns:a16="http://schemas.microsoft.com/office/drawing/2014/main" id="{B57FE383-A4D6-ADF6-BE2C-9C6AAD3055A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2915" y="5013837"/>
            <a:ext cx="398643" cy="398643"/>
          </a:xfrm>
          <a:prstGeom prst="rect">
            <a:avLst/>
          </a:prstGeom>
        </p:spPr>
      </p:pic>
      <p:pic>
        <p:nvPicPr>
          <p:cNvPr id="1107" name="Picture 1106">
            <a:extLst>
              <a:ext uri="{FF2B5EF4-FFF2-40B4-BE49-F238E27FC236}">
                <a16:creationId xmlns:a16="http://schemas.microsoft.com/office/drawing/2014/main" id="{BED2894D-90BF-1225-5C1E-286539E0FD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985" y="5930012"/>
            <a:ext cx="523220" cy="523220"/>
          </a:xfrm>
          <a:prstGeom prst="rect">
            <a:avLst/>
          </a:prstGeom>
        </p:spPr>
      </p:pic>
      <p:sp>
        <p:nvSpPr>
          <p:cNvPr id="1108" name="TextBox 1107">
            <a:extLst>
              <a:ext uri="{FF2B5EF4-FFF2-40B4-BE49-F238E27FC236}">
                <a16:creationId xmlns:a16="http://schemas.microsoft.com/office/drawing/2014/main" id="{6E31604C-2472-9375-38E0-66036F2B1407}"/>
              </a:ext>
            </a:extLst>
          </p:cNvPr>
          <p:cNvSpPr txBox="1"/>
          <p:nvPr/>
        </p:nvSpPr>
        <p:spPr>
          <a:xfrm>
            <a:off x="3207177" y="0"/>
            <a:ext cx="6217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Maximizing Impact: Marketing Activation and Profit Strategies</a:t>
            </a:r>
          </a:p>
        </p:txBody>
      </p:sp>
      <p:pic>
        <p:nvPicPr>
          <p:cNvPr id="1109" name="Picture 2" descr="Saregama (@saregamaglobal) / X">
            <a:extLst>
              <a:ext uri="{FF2B5EF4-FFF2-40B4-BE49-F238E27FC236}">
                <a16:creationId xmlns:a16="http://schemas.microsoft.com/office/drawing/2014/main" id="{CEACEE01-0DE3-DFF1-98B7-4470BBA2E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1603" y="6364882"/>
            <a:ext cx="366747" cy="366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62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1145</Words>
  <Application>Microsoft Office PowerPoint</Application>
  <PresentationFormat>Widescreen</PresentationFormat>
  <Paragraphs>148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 Ror</dc:creator>
  <cp:lastModifiedBy>VISHAL PATIL</cp:lastModifiedBy>
  <cp:revision>6</cp:revision>
  <dcterms:created xsi:type="dcterms:W3CDTF">2024-08-27T20:52:37Z</dcterms:created>
  <dcterms:modified xsi:type="dcterms:W3CDTF">2024-08-28T16:23:19Z</dcterms:modified>
</cp:coreProperties>
</file>